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70" r:id="rId17"/>
    <p:sldId id="261" r:id="rId3"/>
    <p:sldId id="262" r:id="rId4"/>
    <p:sldId id="264" r:id="rId5"/>
    <p:sldId id="265" r:id="rId6"/>
    <p:sldId id="266" r:id="rId7"/>
    <p:sldId id="268" r:id="rId8"/>
    <p:sldId id="269" r:id="rId16"/>
    <p:sldId id="257" r:id="rId9"/>
    <p:sldId id="259"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p:restoredTop sz="94610"/>
  </p:normalViewPr>
  <p:slideViewPr>
    <p:cSldViewPr snapToGrid="0" snapToObjects="1">
      <p:cViewPr>
        <p:scale>
          <a:sx n="121" d="100"/>
          <a:sy n="121" d="100"/>
        </p:scale>
        <p:origin x="22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9.xml"/><Relationship Id="rId1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409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733"/>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FFD200"/>
          </a:solidFill>
          <a:ln/>
        </p:spPr>
        <p:txBody>
          <a:bodyPr/>
          <a:lstStyle/>
          <a:p>
            <a:endParaRPr lang="en-US"/>
          </a:p>
        </p:txBody>
      </p:sp>
      <p:sp>
        <p:nvSpPr>
          <p:cNvPr id="3" name="Text 1"/>
          <p:cNvSpPr/>
          <p:nvPr/>
        </p:nvSpPr>
        <p:spPr>
          <a:xfrm>
            <a:off x="566928" y="1828800"/>
            <a:ext cx="10058400" cy="274320"/>
          </a:xfrm>
          <a:prstGeom prst="rect">
            <a:avLst/>
          </a:prstGeom>
          <a:noFill/>
          <a:ln/>
        </p:spPr>
        <p:txBody>
          <a:bodyPr wrap="square" lIns="0" tIns="0" rIns="0" bIns="0" rtlCol="0" anchor="ctr"/>
          <a:lstStyle/>
          <a:p>
            <a:pPr marL="0" indent="0">
              <a:buNone/>
            </a:pPr>
            <a:r>
              <a:rPr lang="en-US" sz="1100" b="1" kern="0" spc="280" dirty="0">
                <a:solidFill>
                  <a:srgbClr val="FFD200"/>
                </a:solidFill>
                <a:latin typeface="Calibri" pitchFamily="34" charset="0"/>
                <a:ea typeface="Calibri" pitchFamily="34" charset="-122"/>
                <a:cs typeface="Calibri" pitchFamily="34" charset="-120"/>
              </a:rPr>
              <a:t>TECHNOLOGY INFRASTRUCTURE</a:t>
            </a:r>
            <a:endParaRPr lang="en-US" sz="1100" dirty="0"/>
          </a:p>
        </p:txBody>
      </p:sp>
      <p:sp>
        <p:nvSpPr>
          <p:cNvPr id="4" name="Text 2"/>
          <p:cNvSpPr/>
          <p:nvPr/>
        </p:nvSpPr>
        <p:spPr>
          <a:xfrm>
            <a:off x="566928" y="2212848"/>
            <a:ext cx="10789920" cy="91440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The RBC Cloud Operating Model</a:t>
            </a:r>
            <a:endParaRPr lang="en-US" sz="5000" dirty="0"/>
          </a:p>
        </p:txBody>
      </p:sp>
      <p:sp>
        <p:nvSpPr>
          <p:cNvPr id="5" name="Text 3"/>
          <p:cNvSpPr/>
          <p:nvPr/>
        </p:nvSpPr>
        <p:spPr>
          <a:xfrm>
            <a:off x="566928" y="3145536"/>
            <a:ext cx="10515600" cy="365760"/>
          </a:xfrm>
          <a:prstGeom prst="rect">
            <a:avLst/>
          </a:prstGeom>
          <a:noFill/>
          <a:ln/>
        </p:spPr>
        <p:txBody>
          <a:bodyPr wrap="square" lIns="0" tIns="0" rIns="0" bIns="0" rtlCol="0" anchor="ctr"/>
          <a:lstStyle/>
          <a:p>
            <a:pPr marL="0" indent="0">
              <a:buNone/>
            </a:pPr>
            <a:r>
              <a:rPr lang="en-US" sz="1900" dirty="0">
                <a:solidFill>
                  <a:srgbClr val="9FB6D6"/>
                </a:solidFill>
                <a:latin typeface="Cambria" pitchFamily="34" charset="0"/>
                <a:ea typeface="Cambria" pitchFamily="34" charset="-122"/>
                <a:cs typeface="Cambria" pitchFamily="34" charset="-120"/>
              </a:rPr>
              <a:t>SQL Server Pod — the first service through</a:t>
            </a:r>
            <a:endParaRPr lang="en-US" sz="1900" dirty="0"/>
          </a:p>
        </p:txBody>
      </p:sp>
      <p:sp>
        <p:nvSpPr>
          <p:cNvPr id="6" name="Shape 4"/>
          <p:cNvSpPr/>
          <p:nvPr/>
        </p:nvSpPr>
        <p:spPr>
          <a:xfrm>
            <a:off x="566928" y="3749040"/>
            <a:ext cx="2194560" cy="27432"/>
          </a:xfrm>
          <a:prstGeom prst="rect">
            <a:avLst/>
          </a:prstGeom>
          <a:solidFill>
            <a:srgbClr val="1B6FC4"/>
          </a:solidFill>
          <a:ln/>
        </p:spPr>
        <p:txBody>
          <a:bodyPr/>
          <a:lstStyle/>
          <a:p>
            <a:endParaRPr lang="en-US"/>
          </a:p>
        </p:txBody>
      </p:sp>
      <p:sp>
        <p:nvSpPr>
          <p:cNvPr id="7" name="Text 5"/>
          <p:cNvSpPr/>
          <p:nvPr/>
        </p:nvSpPr>
        <p:spPr>
          <a:xfrm>
            <a:off x="566928" y="4005072"/>
            <a:ext cx="8778240" cy="548640"/>
          </a:xfrm>
          <a:prstGeom prst="rect">
            <a:avLst/>
          </a:prstGeom>
          <a:noFill/>
          <a:ln/>
        </p:spPr>
        <p:txBody>
          <a:bodyPr wrap="square" lIns="0" tIns="0" rIns="0" bIns="0" rtlCol="0" anchor="ctr"/>
          <a:lstStyle/>
          <a:p>
            <a:pPr marL="0" indent="0">
              <a:lnSpc>
                <a:spcPts val="1900"/>
              </a:lnSpc>
              <a:buNone/>
            </a:pPr>
            <a:r>
              <a:rPr lang="en-US" sz="1300" i="1" dirty="0">
                <a:solidFill>
                  <a:srgbClr val="C9D8EE"/>
                </a:solidFill>
                <a:latin typeface="Calibri" pitchFamily="34" charset="0"/>
                <a:ea typeface="Calibri" pitchFamily="34" charset="-122"/>
                <a:cs typeface="Calibri" pitchFamily="34" charset="-120"/>
              </a:rPr>
              <a:t>What it is · why we need it · who's in it · what they'll do · how it operates and is governed · what good looks like</a:t>
            </a:r>
            <a:endParaRPr lang="en-US" sz="1300" dirty="0"/>
          </a:p>
        </p:txBody>
      </p:sp>
      <p:sp>
        <p:nvSpPr>
          <p:cNvPr id="8" name="Text 6"/>
          <p:cNvSpPr/>
          <p:nvPr/>
        </p:nvSpPr>
        <p:spPr>
          <a:xfrm>
            <a:off x="566928" y="6400800"/>
            <a:ext cx="5486400" cy="219456"/>
          </a:xfrm>
          <a:prstGeom prst="rect">
            <a:avLst/>
          </a:prstGeom>
          <a:noFill/>
          <a:ln/>
        </p:spPr>
        <p:txBody>
          <a:bodyPr wrap="square" lIns="0" tIns="0" rIns="0" bIns="0" rtlCol="0" anchor="ctr"/>
          <a:lstStyle/>
          <a:p>
            <a:pPr marL="0" indent="0">
              <a:buNone/>
            </a:pPr>
            <a:r>
              <a:rPr lang="en-US" sz="950" dirty="0">
                <a:solidFill>
                  <a:srgbClr val="5C7196"/>
                </a:solidFill>
                <a:latin typeface="Calibri" pitchFamily="34" charset="0"/>
                <a:ea typeface="Calibri" pitchFamily="34" charset="-122"/>
                <a:cs typeface="Calibri" pitchFamily="34" charset="-120"/>
              </a:rPr>
              <a:t>RBC Cloud Program</a:t>
            </a:r>
            <a:endParaRPr lang="en-US" sz="95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27664" cy="237744"/>
          </a:xfrm>
          <a:prstGeom prst="rect">
            <a:avLst/>
          </a:prstGeom>
          <a:noFill/>
        </p:spPr>
        <p:txBody>
          <a:bodyPr wrap="square" anchor="t" lIns="0" rIns="0" tIns="0" bIns="0">
            <a:spAutoFit/>
          </a:bodyPr>
          <a:lstStyle/>
          <a:p>
            <a:pPr algn="l"/>
            <a:r>
              <a:rPr sz="1050" b="1" i="0" spc="260">
                <a:solidFill>
                  <a:srgbClr val="5C6773"/>
                </a:solidFill>
                <a:latin typeface="Calibri"/>
              </a:rPr>
              <a:t>BACKGROUND  ·  WHY SQL ALWAYS ON</a:t>
            </a:r>
          </a:p>
        </p:txBody>
      </p:sp>
      <p:sp>
        <p:nvSpPr>
          <p:cNvPr id="3" name="TextBox 2"/>
          <p:cNvSpPr txBox="1"/>
          <p:nvPr/>
        </p:nvSpPr>
        <p:spPr>
          <a:xfrm>
            <a:off x="566928" y="603504"/>
            <a:ext cx="11027664" cy="658368"/>
          </a:xfrm>
          <a:prstGeom prst="rect">
            <a:avLst/>
          </a:prstGeom>
          <a:noFill/>
        </p:spPr>
        <p:txBody>
          <a:bodyPr wrap="square" anchor="t" lIns="0" rIns="0" tIns="0" bIns="0">
            <a:spAutoFit/>
          </a:bodyPr>
          <a:lstStyle/>
          <a:p>
            <a:pPr algn="l"/>
            <a:r>
              <a:rPr sz="3000" b="1" i="0">
                <a:solidFill>
                  <a:srgbClr val="0B2350"/>
                </a:solidFill>
                <a:latin typeface="Cambria"/>
              </a:rPr>
              <a:t>Why we're recommending SQL Server Always On</a:t>
            </a:r>
          </a:p>
        </p:txBody>
      </p:sp>
      <p:sp>
        <p:nvSpPr>
          <p:cNvPr id="4" name="TextBox 3"/>
          <p:cNvSpPr txBox="1"/>
          <p:nvPr/>
        </p:nvSpPr>
        <p:spPr>
          <a:xfrm>
            <a:off x="566928" y="1298448"/>
            <a:ext cx="11027664" cy="457200"/>
          </a:xfrm>
          <a:prstGeom prst="rect">
            <a:avLst/>
          </a:prstGeom>
          <a:noFill/>
        </p:spPr>
        <p:txBody>
          <a:bodyPr wrap="square" anchor="t" lIns="0" rIns="0" tIns="0" bIns="0">
            <a:spAutoFit/>
          </a:bodyPr>
          <a:lstStyle/>
          <a:p>
            <a:pPr algn="l">
              <a:lnSpc>
                <a:spcPts val="1600"/>
              </a:lnSpc>
            </a:pPr>
            <a:r>
              <a:rPr sz="1200" b="0" i="1">
                <a:solidFill>
                  <a:srgbClr val="5C6773"/>
                </a:solidFill>
                <a:latin typeface="Calibri"/>
              </a:rPr>
              <a:t>The current SCON stretched-cluster design shares a single fault domain and leans on manual, node-level operations. Always On moves protection to the database and shrinks the blast radius — which is also what makes it automatable.</a:t>
            </a:r>
          </a:p>
        </p:txBody>
      </p:sp>
      <p:sp>
        <p:nvSpPr>
          <p:cNvPr id="5" name="Rectangle 4"/>
          <p:cNvSpPr/>
          <p:nvPr/>
        </p:nvSpPr>
        <p:spPr>
          <a:xfrm>
            <a:off x="566928" y="1938528"/>
            <a:ext cx="5632704" cy="384048"/>
          </a:xfrm>
          <a:prstGeom prst="rect">
            <a:avLst/>
          </a:prstGeom>
          <a:solidFill>
            <a:srgbClr val="0B2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020824"/>
            <a:ext cx="5303520" cy="219456"/>
          </a:xfrm>
          <a:prstGeom prst="rect">
            <a:avLst/>
          </a:prstGeom>
          <a:noFill/>
        </p:spPr>
        <p:txBody>
          <a:bodyPr wrap="square" anchor="t" lIns="0" rIns="0" tIns="0" bIns="0">
            <a:spAutoFit/>
          </a:bodyPr>
          <a:lstStyle/>
          <a:p>
            <a:pPr algn="l"/>
            <a:r>
              <a:rPr sz="850" b="1" i="0" spc="120">
                <a:solidFill>
                  <a:srgbClr val="FFD200"/>
                </a:solidFill>
                <a:latin typeface="Calibri"/>
              </a:rPr>
              <a:t>THE PROBLEM WITH TODAY  —  SCON STRETCHED &amp; NON-STRETCHED</a:t>
            </a:r>
          </a:p>
        </p:txBody>
      </p:sp>
      <p:sp>
        <p:nvSpPr>
          <p:cNvPr id="7" name="Rectangle 6"/>
          <p:cNvSpPr/>
          <p:nvPr/>
        </p:nvSpPr>
        <p:spPr>
          <a:xfrm>
            <a:off x="566928" y="2322576"/>
            <a:ext cx="5632704" cy="2999232"/>
          </a:xfrm>
          <a:prstGeom prst="rect">
            <a:avLst/>
          </a:prstGeom>
          <a:solidFill>
            <a:srgbClr val="F4F7FB"/>
          </a:solidFill>
          <a:ln w="762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468880"/>
            <a:ext cx="5212080" cy="2743200"/>
          </a:xfrm>
          <a:prstGeom prst="rect">
            <a:avLst/>
          </a:prstGeom>
          <a:noFill/>
        </p:spPr>
        <p:txBody>
          <a:bodyPr wrap="square" lIns="0" rIns="0" tIns="0" bIns="0">
            <a:spAutoFit/>
          </a:bodyPr>
          <a:lstStyle/>
          <a:p>
            <a:pPr>
              <a:lnSpc>
                <a:spcPts val="1250"/>
              </a:lnSpc>
              <a:spcAft>
                <a:spcPts val="500"/>
              </a:spcAft>
            </a:pPr>
            <a:r>
              <a:rPr sz="940">
                <a:solidFill>
                  <a:srgbClr val="1E252E"/>
                </a:solidFill>
                <a:latin typeface="Calibri"/>
              </a:rPr>
              <a:t>•  Common fault domain across SCC/GCC — one subnet and one logical Windows cluster shared between sites</a:t>
            </a:r>
          </a:p>
          <a:p>
            <a:pPr>
              <a:lnSpc>
                <a:spcPts val="1250"/>
              </a:lnSpc>
              <a:spcAft>
                <a:spcPts val="500"/>
              </a:spcAft>
            </a:pPr>
            <a:r>
              <a:rPr sz="940">
                <a:solidFill>
                  <a:srgbClr val="1E252E"/>
                </a:solidFill>
                <a:latin typeface="Calibri"/>
              </a:rPr>
              <a:t>•  Instance-level, shared-storage failover: a fault moves the whole instance, not just the affected database</a:t>
            </a:r>
          </a:p>
          <a:p>
            <a:pPr>
              <a:lnSpc>
                <a:spcPts val="1250"/>
              </a:lnSpc>
              <a:spcAft>
                <a:spcPts val="500"/>
              </a:spcAft>
            </a:pPr>
            <a:r>
              <a:rPr sz="940">
                <a:solidFill>
                  <a:srgbClr val="1E252E"/>
                </a:solidFill>
                <a:latin typeface="Calibri"/>
              </a:rPr>
              <a:t>•  No per-database resource limits — balancing cluster resources is a manual, intensive task</a:t>
            </a:r>
          </a:p>
          <a:p>
            <a:pPr>
              <a:lnSpc>
                <a:spcPts val="1250"/>
              </a:lnSpc>
              <a:spcAft>
                <a:spcPts val="500"/>
              </a:spcAft>
            </a:pPr>
            <a:r>
              <a:rPr sz="940">
                <a:solidFill>
                  <a:srgbClr val="1E252E"/>
                </a:solidFill>
                <a:latin typeface="Calibri"/>
              </a:rPr>
              <a:t>•  Physical hardware deployment requires hands-on human effort</a:t>
            </a:r>
          </a:p>
          <a:p>
            <a:pPr>
              <a:lnSpc>
                <a:spcPts val="1250"/>
              </a:lnSpc>
              <a:spcAft>
                <a:spcPts val="500"/>
              </a:spcAft>
            </a:pPr>
            <a:r>
              <a:rPr sz="940">
                <a:solidFill>
                  <a:srgbClr val="1E252E"/>
                </a:solidFill>
                <a:latin typeface="Calibri"/>
              </a:rPr>
              <a:t>•  Non-stretched DR is uni-directional and heavily dependent on the operations team — RTO for a full datacentre loss is at risk</a:t>
            </a:r>
          </a:p>
          <a:p>
            <a:pPr>
              <a:lnSpc>
                <a:spcPts val="1250"/>
              </a:lnSpc>
              <a:spcAft>
                <a:spcPts val="500"/>
              </a:spcAft>
            </a:pPr>
            <a:r>
              <a:rPr sz="940">
                <a:solidFill>
                  <a:srgbClr val="1E252E"/>
                </a:solidFill>
                <a:latin typeface="Calibri"/>
              </a:rPr>
              <a:t>•  Patch and version management can't be isolated per application</a:t>
            </a:r>
          </a:p>
        </p:txBody>
      </p:sp>
      <p:sp>
        <p:nvSpPr>
          <p:cNvPr id="9" name="Rectangle 8"/>
          <p:cNvSpPr/>
          <p:nvPr/>
        </p:nvSpPr>
        <p:spPr>
          <a:xfrm>
            <a:off x="6528816" y="1938528"/>
            <a:ext cx="5632704" cy="384048"/>
          </a:xfrm>
          <a:prstGeom prst="rect">
            <a:avLst/>
          </a:prstGeom>
          <a:solidFill>
            <a:srgbClr val="4C9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11696" y="2020824"/>
            <a:ext cx="5303520" cy="219456"/>
          </a:xfrm>
          <a:prstGeom prst="rect">
            <a:avLst/>
          </a:prstGeom>
          <a:noFill/>
        </p:spPr>
        <p:txBody>
          <a:bodyPr wrap="square" anchor="t" lIns="0" rIns="0" tIns="0" bIns="0">
            <a:spAutoFit/>
          </a:bodyPr>
          <a:lstStyle/>
          <a:p>
            <a:pPr algn="l"/>
            <a:r>
              <a:rPr sz="850" b="1" i="0" spc="120">
                <a:solidFill>
                  <a:srgbClr val="FFFFFF"/>
                </a:solidFill>
                <a:latin typeface="Calibri"/>
              </a:rPr>
              <a:t>WHAT ALWAYS ON CHANGES</a:t>
            </a:r>
          </a:p>
        </p:txBody>
      </p:sp>
      <p:sp>
        <p:nvSpPr>
          <p:cNvPr id="11" name="Rectangle 10"/>
          <p:cNvSpPr/>
          <p:nvPr/>
        </p:nvSpPr>
        <p:spPr>
          <a:xfrm>
            <a:off x="6528816" y="2322576"/>
            <a:ext cx="5632704" cy="2999232"/>
          </a:xfrm>
          <a:prstGeom prst="rect">
            <a:avLst/>
          </a:prstGeom>
          <a:solidFill>
            <a:srgbClr val="0B2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9984" y="2468880"/>
            <a:ext cx="5212080" cy="2743200"/>
          </a:xfrm>
          <a:prstGeom prst="rect">
            <a:avLst/>
          </a:prstGeom>
          <a:noFill/>
        </p:spPr>
        <p:txBody>
          <a:bodyPr wrap="square" lIns="0" rIns="0" tIns="0" bIns="0">
            <a:spAutoFit/>
          </a:bodyPr>
          <a:lstStyle/>
          <a:p>
            <a:pPr>
              <a:lnSpc>
                <a:spcPts val="1250"/>
              </a:lnSpc>
              <a:spcAft>
                <a:spcPts val="500"/>
              </a:spcAft>
            </a:pPr>
            <a:r>
              <a:rPr sz="940">
                <a:solidFill>
                  <a:srgbClr val="E8EFF9"/>
                </a:solidFill>
                <a:latin typeface="Calibri"/>
              </a:rPr>
              <a:t>•  Protection at the database level — each app fails over independently, not the whole instance</a:t>
            </a:r>
          </a:p>
          <a:p>
            <a:pPr>
              <a:lnSpc>
                <a:spcPts val="1250"/>
              </a:lnSpc>
              <a:spcAft>
                <a:spcPts val="500"/>
              </a:spcAft>
            </a:pPr>
            <a:r>
              <a:rPr sz="940">
                <a:solidFill>
                  <a:srgbClr val="E8EFF9"/>
                </a:solidFill>
                <a:latin typeface="Calibri"/>
              </a:rPr>
              <a:t>•  Blast radius isolated per application instead of per cluster</a:t>
            </a:r>
          </a:p>
          <a:p>
            <a:pPr>
              <a:lnSpc>
                <a:spcPts val="1250"/>
              </a:lnSpc>
              <a:spcAft>
                <a:spcPts val="500"/>
              </a:spcAft>
            </a:pPr>
            <a:r>
              <a:rPr sz="940">
                <a:solidFill>
                  <a:srgbClr val="E8EFF9"/>
                </a:solidFill>
                <a:latin typeface="Calibri"/>
              </a:rPr>
              <a:t>•  Automatic, bi-directional failover across datacentres, with split-brain protection</a:t>
            </a:r>
          </a:p>
          <a:p>
            <a:pPr>
              <a:lnSpc>
                <a:spcPts val="1250"/>
              </a:lnSpc>
              <a:spcAft>
                <a:spcPts val="500"/>
              </a:spcAft>
            </a:pPr>
            <a:r>
              <a:rPr sz="940">
                <a:solidFill>
                  <a:srgbClr val="E8EFF9"/>
                </a:solidFill>
                <a:latin typeface="Calibri"/>
              </a:rPr>
              <a:t>•  Per-application patching and version management — far less manual effort with automation</a:t>
            </a:r>
          </a:p>
          <a:p>
            <a:pPr>
              <a:lnSpc>
                <a:spcPts val="1250"/>
              </a:lnSpc>
              <a:spcAft>
                <a:spcPts val="500"/>
              </a:spcAft>
            </a:pPr>
            <a:r>
              <a:rPr sz="940">
                <a:solidFill>
                  <a:srgbClr val="E8EFF9"/>
                </a:solidFill>
                <a:latin typeface="Calibri"/>
              </a:rPr>
              <a:t>•  Independent database copies replace shared storage as the single point of failure</a:t>
            </a:r>
          </a:p>
          <a:p>
            <a:pPr>
              <a:lnSpc>
                <a:spcPts val="1250"/>
              </a:lnSpc>
              <a:spcAft>
                <a:spcPts val="500"/>
              </a:spcAft>
            </a:pPr>
            <a:r>
              <a:rPr sz="940">
                <a:solidFill>
                  <a:srgbClr val="E8EFF9"/>
                </a:solidFill>
                <a:latin typeface="Calibri"/>
              </a:rPr>
              <a:t>•  Software-defined and API-driven — the foundation for self-service provisioning and lifecycle automation</a:t>
            </a:r>
          </a:p>
        </p:txBody>
      </p:sp>
      <p:sp>
        <p:nvSpPr>
          <p:cNvPr id="13" name="Rectangle 12"/>
          <p:cNvSpPr/>
          <p:nvPr/>
        </p:nvSpPr>
        <p:spPr>
          <a:xfrm>
            <a:off x="566928" y="5504688"/>
            <a:ext cx="11027664" cy="82296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5614416"/>
            <a:ext cx="10625328" cy="603504"/>
          </a:xfrm>
          <a:prstGeom prst="rect">
            <a:avLst/>
          </a:prstGeom>
          <a:noFill/>
        </p:spPr>
        <p:txBody>
          <a:bodyPr wrap="square" lIns="0" rIns="0" tIns="0" bIns="0">
            <a:spAutoFit/>
          </a:bodyPr>
          <a:lstStyle/>
          <a:p>
            <a:pPr>
              <a:lnSpc>
                <a:spcPts val="1350"/>
              </a:lnSpc>
            </a:pPr>
            <a:r>
              <a:rPr sz="1060" b="1" i="0">
                <a:solidFill>
                  <a:srgbClr val="0B2350"/>
                </a:solidFill>
                <a:latin typeface="Calibri"/>
              </a:rPr>
              <a:t>Why this is the pilot: </a:t>
            </a:r>
            <a:r>
              <a:rPr sz="1060" b="0" i="1">
                <a:solidFill>
                  <a:srgbClr val="1E252E"/>
                </a:solidFill>
                <a:latin typeface="Calibri"/>
              </a:rPr>
              <a:t>Always On isn't just better HA/DR — it's the pattern that makes provisioning, patching, scaling and DR automatable per database. That's precisely the toil the pod exists to eliminate, which is why standing up Always On is track one and every downstream automation is built on it.</a:t>
            </a:r>
          </a:p>
        </p:txBody>
      </p:sp>
      <p:sp>
        <p:nvSpPr>
          <p:cNvPr id="15" name="TextBox 14"/>
          <p:cNvSpPr txBox="1"/>
          <p:nvPr/>
        </p:nvSpPr>
        <p:spPr>
          <a:xfrm>
            <a:off x="566928" y="6473952"/>
            <a:ext cx="7315200" cy="219456"/>
          </a:xfrm>
          <a:prstGeom prst="rect">
            <a:avLst/>
          </a:prstGeom>
          <a:noFill/>
        </p:spPr>
        <p:txBody>
          <a:bodyPr wrap="square" anchor="t" lIns="0" rIns="0" tIns="0" bIns="0">
            <a:spAutoFit/>
          </a:bodyPr>
          <a:lstStyle/>
          <a:p>
            <a:pPr algn="l"/>
            <a:r>
              <a:rPr sz="900" b="0" i="0">
                <a:solidFill>
                  <a:srgbClr val="9AA5B1"/>
                </a:solidFill>
                <a:latin typeface="Calibri"/>
              </a:rPr>
              <a:t>SQL Server Pod  ·  RBC Cloud Program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WHO'S IN IT  ·  THE CORE</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Inside the pod</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Dedicated. Carrying the pager. This is the whole core — everyone else is a contract.</a:t>
            </a:r>
            <a:endParaRPr lang="en-US" sz="1200" dirty="0"/>
          </a:p>
        </p:txBody>
      </p:sp>
      <p:sp>
        <p:nvSpPr>
          <p:cNvPr id="37" name="Shape 35"/>
          <p:cNvSpPr/>
          <p:nvPr/>
        </p:nvSpPr>
        <p:spPr>
          <a:xfrm>
            <a:off x="566928" y="6071616"/>
            <a:ext cx="11027664" cy="402336"/>
          </a:xfrm>
          <a:prstGeom prst="rect">
            <a:avLst/>
          </a:prstGeom>
          <a:solidFill>
            <a:srgbClr val="0B2350"/>
          </a:solidFill>
          <a:ln/>
        </p:spPr>
        <p:txBody>
          <a:bodyPr/>
          <a:lstStyle/>
          <a:p>
            <a:endParaRPr lang="en-US"/>
          </a:p>
        </p:txBody>
      </p:sp>
      <p:sp>
        <p:nvSpPr>
          <p:cNvPr id="38" name="Text 36"/>
          <p:cNvSpPr/>
          <p:nvPr/>
        </p:nvSpPr>
        <p:spPr>
          <a:xfrm>
            <a:off x="768096" y="6144768"/>
            <a:ext cx="10625328" cy="365760"/>
          </a:xfrm>
          <a:prstGeom prst="rect">
            <a:avLst/>
          </a:prstGeom>
          <a:noFill/>
          <a:ln/>
        </p:spPr>
        <p:txBody>
          <a:bodyPr wrap="square" lIns="0" tIns="0" rIns="0" bIns="0" rtlCol="0" anchor="ctr"/>
          <a:lstStyle/>
          <a:p>
            <a:pPr marL="0" indent="0">
              <a:lnSpc>
                <a:spcPts val="1100"/>
              </a:lnSpc>
              <a:buNone/>
            </a:pPr>
            <a:r>
              <a:rPr lang="en-US" sz="930" b="1" dirty="0">
                <a:solidFill>
                  <a:srgbClr val="FFD200"/>
                </a:solidFill>
                <a:latin typeface="Calibri" pitchFamily="34" charset="0"/>
                <a:ea typeface="Calibri" pitchFamily="34" charset="-122"/>
                <a:cs typeface="Calibri" pitchFamily="34" charset="-120"/>
              </a:rPr>
              <a:t>Automation is what all of them do. </a:t>
            </a:r>
            <a:r>
              <a:rPr lang="en-US" sz="930" dirty="0">
                <a:solidFill>
                  <a:srgbClr val="E8EFF9"/>
                </a:solidFill>
                <a:latin typeface="Calibri" pitchFamily="34" charset="0"/>
                <a:ea typeface="Calibri" pitchFamily="34" charset="-122"/>
                <a:cs typeface="Calibri" pitchFamily="34" charset="-120"/>
              </a:rPr>
              <a:t>There is no automation team and no automation engineers on this list — anyone automates, the pod lead decides who, and agents lower the authoring bar so domain knowledge is the qualification rather than IaC fluency. A DBA who has patched by hand for ten years is the right person to automate patching.</a:t>
            </a:r>
            <a:endParaRPr lang="en-US" sz="1020" dirty="0"/>
          </a:p>
        </p:txBody>
      </p:sp>
      <p:sp>
        <p:nvSpPr>
          <p:cNvPr id="39" name="Text 37"/>
          <p:cNvSpPr/>
          <p:nvPr/>
        </p:nvSpPr>
        <p:spPr>
          <a:xfrm>
            <a:off x="566928" y="6583680"/>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
        <p:nvSpPr>
          <p:cNvPr id="40" name="Rectangle 39"/>
          <p:cNvSpPr/>
          <p:nvPr/>
        </p:nvSpPr>
        <p:spPr>
          <a:xfrm>
            <a:off x="566928" y="1810512"/>
            <a:ext cx="11027664" cy="310896"/>
          </a:xfrm>
          <a:prstGeom prst="rect">
            <a:avLst/>
          </a:prstGeom>
          <a:solidFill>
            <a:srgbClr val="0B2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6656" y="1828800"/>
            <a:ext cx="1920240" cy="274320"/>
          </a:xfrm>
          <a:prstGeom prst="rect">
            <a:avLst/>
          </a:prstGeom>
          <a:noFill/>
        </p:spPr>
        <p:txBody>
          <a:bodyPr wrap="square" lIns="0" rIns="0" tIns="0" bIns="0" anchor="ctr">
            <a:spAutoFit/>
          </a:bodyPr>
          <a:lstStyle/>
          <a:p>
            <a:pPr>
              <a:lnSpc>
                <a:spcPts val="950"/>
              </a:lnSpc>
            </a:pPr>
            <a:r>
              <a:rPr sz="800" b="1">
                <a:solidFill>
                  <a:srgbClr val="FFFFFF"/>
                </a:solidFill>
                <a:latin typeface="Calibri"/>
              </a:rPr>
              <a:t>ROLE</a:t>
            </a:r>
          </a:p>
        </p:txBody>
      </p:sp>
      <p:sp>
        <p:nvSpPr>
          <p:cNvPr id="42" name="TextBox 41"/>
          <p:cNvSpPr txBox="1"/>
          <p:nvPr/>
        </p:nvSpPr>
        <p:spPr>
          <a:xfrm>
            <a:off x="2779776" y="1828800"/>
            <a:ext cx="5303520" cy="274320"/>
          </a:xfrm>
          <a:prstGeom prst="rect">
            <a:avLst/>
          </a:prstGeom>
          <a:noFill/>
        </p:spPr>
        <p:txBody>
          <a:bodyPr wrap="square" lIns="0" rIns="0" tIns="0" bIns="0" anchor="ctr">
            <a:spAutoFit/>
          </a:bodyPr>
          <a:lstStyle/>
          <a:p>
            <a:pPr>
              <a:lnSpc>
                <a:spcPts val="950"/>
              </a:lnSpc>
            </a:pPr>
            <a:r>
              <a:rPr sz="800" b="1">
                <a:solidFill>
                  <a:srgbClr val="FFD200"/>
                </a:solidFill>
                <a:latin typeface="Calibri"/>
              </a:rPr>
              <a:t>WHAT THEY DO IN THE POD</a:t>
            </a:r>
          </a:p>
        </p:txBody>
      </p:sp>
      <p:sp>
        <p:nvSpPr>
          <p:cNvPr id="43" name="TextBox 42"/>
          <p:cNvSpPr txBox="1"/>
          <p:nvPr/>
        </p:nvSpPr>
        <p:spPr>
          <a:xfrm>
            <a:off x="8266175" y="1828800"/>
            <a:ext cx="3255264" cy="274320"/>
          </a:xfrm>
          <a:prstGeom prst="rect">
            <a:avLst/>
          </a:prstGeom>
          <a:noFill/>
        </p:spPr>
        <p:txBody>
          <a:bodyPr wrap="square" lIns="0" rIns="0" tIns="0" bIns="0" anchor="ctr">
            <a:spAutoFit/>
          </a:bodyPr>
          <a:lstStyle/>
          <a:p>
            <a:pPr>
              <a:lnSpc>
                <a:spcPts val="950"/>
              </a:lnSpc>
            </a:pPr>
            <a:r>
              <a:rPr sz="800" b="1">
                <a:solidFill>
                  <a:srgbClr val="8FC3F5"/>
                </a:solidFill>
                <a:latin typeface="Calibri"/>
              </a:rPr>
              <a:t>WHAT THEY OWN</a:t>
            </a:r>
          </a:p>
        </p:txBody>
      </p:sp>
      <p:sp>
        <p:nvSpPr>
          <p:cNvPr id="44" name="Rectangle 43"/>
          <p:cNvSpPr/>
          <p:nvPr/>
        </p:nvSpPr>
        <p:spPr>
          <a:xfrm>
            <a:off x="566928" y="2157984"/>
            <a:ext cx="11027664" cy="402336"/>
          </a:xfrm>
          <a:prstGeom prst="rect">
            <a:avLst/>
          </a:prstGeom>
          <a:solidFill>
            <a:srgbClr val="F4F7FB"/>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6656" y="2185415"/>
            <a:ext cx="1920240" cy="347472"/>
          </a:xfrm>
          <a:prstGeom prst="rect">
            <a:avLst/>
          </a:prstGeom>
          <a:noFill/>
        </p:spPr>
        <p:txBody>
          <a:bodyPr wrap="square" lIns="0" rIns="0" tIns="0" bIns="0" anchor="ctr">
            <a:spAutoFit/>
          </a:bodyPr>
          <a:lstStyle/>
          <a:p>
            <a:pPr>
              <a:lnSpc>
                <a:spcPts val="950"/>
              </a:lnSpc>
            </a:pPr>
            <a:r>
              <a:rPr sz="860" b="1">
                <a:solidFill>
                  <a:srgbClr val="0B2350"/>
                </a:solidFill>
                <a:latin typeface="Cambria"/>
              </a:rPr>
              <a:t>Pod Lead</a:t>
            </a:r>
          </a:p>
        </p:txBody>
      </p:sp>
      <p:sp>
        <p:nvSpPr>
          <p:cNvPr id="46" name="TextBox 45"/>
          <p:cNvSpPr txBox="1"/>
          <p:nvPr/>
        </p:nvSpPr>
        <p:spPr>
          <a:xfrm>
            <a:off x="2779776" y="2185415"/>
            <a:ext cx="5303520"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Owns the roadmap and the outcome. Decides who burns toil, week to week. Presents the BAU breakdown at day 15 and carries/tracks the story to the program</a:t>
            </a:r>
          </a:p>
        </p:txBody>
      </p:sp>
      <p:sp>
        <p:nvSpPr>
          <p:cNvPr id="47" name="TextBox 46"/>
          <p:cNvSpPr txBox="1"/>
          <p:nvPr/>
        </p:nvSpPr>
        <p:spPr>
          <a:xfrm>
            <a:off x="8266175" y="2185415"/>
            <a:ext cx="3255264"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Own toil reduction · escalation · KPIs · Outcomes</a:t>
            </a:r>
          </a:p>
        </p:txBody>
      </p:sp>
      <p:sp>
        <p:nvSpPr>
          <p:cNvPr id="48" name="Rectangle 47"/>
          <p:cNvSpPr/>
          <p:nvPr/>
        </p:nvSpPr>
        <p:spPr>
          <a:xfrm>
            <a:off x="566928" y="2587752"/>
            <a:ext cx="11027664" cy="402336"/>
          </a:xfrm>
          <a:prstGeom prst="rect">
            <a:avLst/>
          </a:prstGeom>
          <a:solidFill>
            <a:srgbClr val="FFFFFF"/>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6656" y="2615184"/>
            <a:ext cx="1920240" cy="347472"/>
          </a:xfrm>
          <a:prstGeom prst="rect">
            <a:avLst/>
          </a:prstGeom>
          <a:noFill/>
        </p:spPr>
        <p:txBody>
          <a:bodyPr wrap="square" lIns="0" rIns="0" tIns="0" bIns="0" anchor="ctr">
            <a:spAutoFit/>
          </a:bodyPr>
          <a:lstStyle/>
          <a:p>
            <a:pPr>
              <a:lnSpc>
                <a:spcPts val="950"/>
              </a:lnSpc>
            </a:pPr>
            <a:r>
              <a:rPr sz="860" b="1">
                <a:solidFill>
                  <a:srgbClr val="0B2350"/>
                </a:solidFill>
                <a:latin typeface="Cambria"/>
              </a:rPr>
              <a:t>Engineering &amp; Architecture</a:t>
            </a:r>
          </a:p>
        </p:txBody>
      </p:sp>
      <p:sp>
        <p:nvSpPr>
          <p:cNvPr id="50" name="TextBox 49"/>
          <p:cNvSpPr txBox="1"/>
          <p:nvPr/>
        </p:nvSpPr>
        <p:spPr>
          <a:xfrm>
            <a:off x="2779776" y="2615184"/>
            <a:ext cx="5303520"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Authors the golden modules, the IaC and the SQL-specific policy-as-code. Publishes to the registry, SQL Server Engineering, Architecture Pattern</a:t>
            </a:r>
          </a:p>
        </p:txBody>
      </p:sp>
      <p:sp>
        <p:nvSpPr>
          <p:cNvPr id="51" name="TextBox 50"/>
          <p:cNvSpPr txBox="1"/>
          <p:nvPr/>
        </p:nvSpPr>
        <p:spPr>
          <a:xfrm>
            <a:off x="8266175" y="2615184"/>
            <a:ext cx="3255264"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APIs· offering spec · policy rules · Pattern · IaC Modules</a:t>
            </a:r>
          </a:p>
        </p:txBody>
      </p:sp>
      <p:sp>
        <p:nvSpPr>
          <p:cNvPr id="52" name="Rectangle 51"/>
          <p:cNvSpPr/>
          <p:nvPr/>
        </p:nvSpPr>
        <p:spPr>
          <a:xfrm>
            <a:off x="566928" y="3017520"/>
            <a:ext cx="11027664" cy="402336"/>
          </a:xfrm>
          <a:prstGeom prst="rect">
            <a:avLst/>
          </a:prstGeom>
          <a:solidFill>
            <a:srgbClr val="F4F7FB"/>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76656" y="3044951"/>
            <a:ext cx="1920240" cy="347472"/>
          </a:xfrm>
          <a:prstGeom prst="rect">
            <a:avLst/>
          </a:prstGeom>
          <a:noFill/>
        </p:spPr>
        <p:txBody>
          <a:bodyPr wrap="square" lIns="0" rIns="0" tIns="0" bIns="0" anchor="ctr">
            <a:spAutoFit/>
          </a:bodyPr>
          <a:lstStyle/>
          <a:p>
            <a:pPr>
              <a:lnSpc>
                <a:spcPts val="950"/>
              </a:lnSpc>
            </a:pPr>
            <a:r>
              <a:rPr sz="860" b="1">
                <a:solidFill>
                  <a:srgbClr val="0B2350"/>
                </a:solidFill>
                <a:latin typeface="Cambria"/>
              </a:rPr>
              <a:t>SQL Ops</a:t>
            </a:r>
          </a:p>
        </p:txBody>
      </p:sp>
      <p:sp>
        <p:nvSpPr>
          <p:cNvPr id="54" name="TextBox 53"/>
          <p:cNvSpPr txBox="1"/>
          <p:nvPr/>
        </p:nvSpPr>
        <p:spPr>
          <a:xfrm>
            <a:off x="2779776" y="3044951"/>
            <a:ext cx="5303520"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Runs it. Day-2, on-call, manual tasks , the actual incidents. Knows what hurts because they feel it — which is why the toil list starts here</a:t>
            </a:r>
          </a:p>
        </p:txBody>
      </p:sp>
      <p:sp>
        <p:nvSpPr>
          <p:cNvPr id="55" name="TextBox 54"/>
          <p:cNvSpPr txBox="1"/>
          <p:nvPr/>
        </p:nvSpPr>
        <p:spPr>
          <a:xfrm>
            <a:off x="8266175" y="3044951"/>
            <a:ext cx="3255264"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Run · day-2 actions · the pager</a:t>
            </a:r>
          </a:p>
        </p:txBody>
      </p:sp>
      <p:sp>
        <p:nvSpPr>
          <p:cNvPr id="56" name="Rectangle 55"/>
          <p:cNvSpPr/>
          <p:nvPr/>
        </p:nvSpPr>
        <p:spPr>
          <a:xfrm>
            <a:off x="566928" y="3447287"/>
            <a:ext cx="11027664" cy="402336"/>
          </a:xfrm>
          <a:prstGeom prst="rect">
            <a:avLst/>
          </a:prstGeom>
          <a:solidFill>
            <a:srgbClr val="FFFFFF"/>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76656" y="3474719"/>
            <a:ext cx="1920240" cy="347472"/>
          </a:xfrm>
          <a:prstGeom prst="rect">
            <a:avLst/>
          </a:prstGeom>
          <a:noFill/>
        </p:spPr>
        <p:txBody>
          <a:bodyPr wrap="square" lIns="0" rIns="0" tIns="0" bIns="0" anchor="ctr">
            <a:spAutoFit/>
          </a:bodyPr>
          <a:lstStyle/>
          <a:p>
            <a:pPr>
              <a:lnSpc>
                <a:spcPts val="950"/>
              </a:lnSpc>
            </a:pPr>
            <a:r>
              <a:rPr sz="860" b="1">
                <a:solidFill>
                  <a:srgbClr val="0B2350"/>
                </a:solidFill>
                <a:latin typeface="Cambria"/>
              </a:rPr>
              <a:t>SQL SMEs</a:t>
            </a:r>
          </a:p>
        </p:txBody>
      </p:sp>
      <p:sp>
        <p:nvSpPr>
          <p:cNvPr id="58" name="TextBox 57"/>
          <p:cNvSpPr txBox="1"/>
          <p:nvPr/>
        </p:nvSpPr>
        <p:spPr>
          <a:xfrm>
            <a:off x="2779776" y="3474719"/>
            <a:ext cx="5303520"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Operational Expertise and SCON Experience: HA/DR topology, tuning, upgrade paths. Evolving into platform engineers — authoring the automation for work they've done by hand for years</a:t>
            </a:r>
          </a:p>
        </p:txBody>
      </p:sp>
      <p:sp>
        <p:nvSpPr>
          <p:cNvPr id="59" name="TextBox 58"/>
          <p:cNvSpPr txBox="1"/>
          <p:nvPr/>
        </p:nvSpPr>
        <p:spPr>
          <a:xfrm>
            <a:off x="8266175" y="3474719"/>
            <a:ext cx="3255264"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Engine standards · versions · HA/DR tiers</a:t>
            </a:r>
          </a:p>
        </p:txBody>
      </p:sp>
      <p:sp>
        <p:nvSpPr>
          <p:cNvPr id="60" name="Rectangle 59"/>
          <p:cNvSpPr/>
          <p:nvPr/>
        </p:nvSpPr>
        <p:spPr>
          <a:xfrm>
            <a:off x="566928" y="3877055"/>
            <a:ext cx="11027664" cy="402336"/>
          </a:xfrm>
          <a:prstGeom prst="rect">
            <a:avLst/>
          </a:prstGeom>
          <a:solidFill>
            <a:srgbClr val="F4F7FB"/>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76656" y="3904487"/>
            <a:ext cx="1920240" cy="347472"/>
          </a:xfrm>
          <a:prstGeom prst="rect">
            <a:avLst/>
          </a:prstGeom>
          <a:noFill/>
        </p:spPr>
        <p:txBody>
          <a:bodyPr wrap="square" lIns="0" rIns="0" tIns="0" bIns="0" anchor="ctr">
            <a:spAutoFit/>
          </a:bodyPr>
          <a:lstStyle/>
          <a:p>
            <a:pPr>
              <a:lnSpc>
                <a:spcPts val="950"/>
              </a:lnSpc>
            </a:pPr>
            <a:r>
              <a:rPr sz="860" b="1">
                <a:solidFill>
                  <a:srgbClr val="0B2350"/>
                </a:solidFill>
                <a:latin typeface="Cambria"/>
              </a:rPr>
              <a:t>SQL DBAs</a:t>
            </a:r>
          </a:p>
        </p:txBody>
      </p:sp>
      <p:sp>
        <p:nvSpPr>
          <p:cNvPr id="62" name="TextBox 61"/>
          <p:cNvSpPr txBox="1"/>
          <p:nvPr/>
        </p:nvSpPr>
        <p:spPr>
          <a:xfrm>
            <a:off x="2779776" y="3904487"/>
            <a:ext cx="5303520"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Performs DBA tasks and Operations such as database restores, application schema management, performance turning</a:t>
            </a:r>
          </a:p>
        </p:txBody>
      </p:sp>
      <p:sp>
        <p:nvSpPr>
          <p:cNvPr id="63" name="TextBox 62"/>
          <p:cNvSpPr txBox="1"/>
          <p:nvPr/>
        </p:nvSpPr>
        <p:spPr>
          <a:xfrm>
            <a:off x="8266175" y="3904487"/>
            <a:ext cx="3255264"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SLOs · error budgets · incident command</a:t>
            </a:r>
          </a:p>
        </p:txBody>
      </p:sp>
      <p:sp>
        <p:nvSpPr>
          <p:cNvPr id="64" name="Rectangle 63"/>
          <p:cNvSpPr/>
          <p:nvPr/>
        </p:nvSpPr>
        <p:spPr>
          <a:xfrm>
            <a:off x="566928" y="4306823"/>
            <a:ext cx="11027664" cy="402336"/>
          </a:xfrm>
          <a:prstGeom prst="rect">
            <a:avLst/>
          </a:prstGeom>
          <a:solidFill>
            <a:srgbClr val="FFFFFF"/>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76656" y="4334255"/>
            <a:ext cx="1920240" cy="347472"/>
          </a:xfrm>
          <a:prstGeom prst="rect">
            <a:avLst/>
          </a:prstGeom>
          <a:noFill/>
        </p:spPr>
        <p:txBody>
          <a:bodyPr wrap="square" lIns="0" rIns="0" tIns="0" bIns="0" anchor="ctr">
            <a:spAutoFit/>
          </a:bodyPr>
          <a:lstStyle/>
          <a:p>
            <a:pPr>
              <a:lnSpc>
                <a:spcPts val="950"/>
              </a:lnSpc>
            </a:pPr>
            <a:r>
              <a:rPr sz="860" b="1">
                <a:solidFill>
                  <a:srgbClr val="0B2350"/>
                </a:solidFill>
                <a:latin typeface="Cambria"/>
              </a:rPr>
              <a:t>SQL Agents</a:t>
            </a:r>
          </a:p>
        </p:txBody>
      </p:sp>
      <p:sp>
        <p:nvSpPr>
          <p:cNvPr id="66" name="TextBox 65"/>
          <p:cNvSpPr txBox="1"/>
          <p:nvPr/>
        </p:nvSpPr>
        <p:spPr>
          <a:xfrm>
            <a:off x="2779776" y="4334255"/>
            <a:ext cx="5303520"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Builds the agents that predict, prevent and auto-remediate incidents, and the triage that kills alert noise and enhance/summarize the alert/incident. Rides existing AIOps (IntOps_ platform; does not rebuild it</a:t>
            </a:r>
          </a:p>
        </p:txBody>
      </p:sp>
      <p:sp>
        <p:nvSpPr>
          <p:cNvPr id="67" name="TextBox 66"/>
          <p:cNvSpPr txBox="1"/>
          <p:nvPr/>
        </p:nvSpPr>
        <p:spPr>
          <a:xfrm>
            <a:off x="8266175" y="4334255"/>
            <a:ext cx="3255264"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SQL prevention agents · alert triage</a:t>
            </a:r>
          </a:p>
        </p:txBody>
      </p:sp>
      <p:sp>
        <p:nvSpPr>
          <p:cNvPr id="68" name="Rectangle 67"/>
          <p:cNvSpPr/>
          <p:nvPr/>
        </p:nvSpPr>
        <p:spPr>
          <a:xfrm>
            <a:off x="566928" y="4736591"/>
            <a:ext cx="11027664" cy="402336"/>
          </a:xfrm>
          <a:prstGeom prst="rect">
            <a:avLst/>
          </a:prstGeom>
          <a:solidFill>
            <a:srgbClr val="F4F7FB"/>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6656" y="4764023"/>
            <a:ext cx="1920240" cy="347472"/>
          </a:xfrm>
          <a:prstGeom prst="rect">
            <a:avLst/>
          </a:prstGeom>
          <a:noFill/>
        </p:spPr>
        <p:txBody>
          <a:bodyPr wrap="square" lIns="0" rIns="0" tIns="0" bIns="0" anchor="ctr">
            <a:spAutoFit/>
          </a:bodyPr>
          <a:lstStyle/>
          <a:p>
            <a:pPr>
              <a:lnSpc>
                <a:spcPts val="950"/>
              </a:lnSpc>
            </a:pPr>
            <a:r>
              <a:rPr sz="860" b="1">
                <a:solidFill>
                  <a:srgbClr val="0B2350"/>
                </a:solidFill>
                <a:latin typeface="Cambria"/>
              </a:rPr>
              <a:t>Tigers — Risk &amp; Compliance</a:t>
            </a:r>
          </a:p>
        </p:txBody>
      </p:sp>
      <p:sp>
        <p:nvSpPr>
          <p:cNvPr id="70" name="TextBox 69"/>
          <p:cNvSpPr txBox="1"/>
          <p:nvPr/>
        </p:nvSpPr>
        <p:spPr>
          <a:xfrm>
            <a:off x="2779776" y="4764023"/>
            <a:ext cx="5303520"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Builds evidence into the work instead of assembling it afterwards. Runs the evidence drill. Independent enough to call rubber-stamping when it sees it</a:t>
            </a:r>
          </a:p>
        </p:txBody>
      </p:sp>
      <p:sp>
        <p:nvSpPr>
          <p:cNvPr id="71" name="TextBox 70"/>
          <p:cNvSpPr txBox="1"/>
          <p:nvPr/>
        </p:nvSpPr>
        <p:spPr>
          <a:xfrm>
            <a:off x="8266175" y="4764023"/>
            <a:ext cx="3255264"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Controls · evidence · the rejection-rate KRI</a:t>
            </a:r>
          </a:p>
        </p:txBody>
      </p:sp>
      <p:sp>
        <p:nvSpPr>
          <p:cNvPr id="72" name="Rectangle 71"/>
          <p:cNvSpPr/>
          <p:nvPr/>
        </p:nvSpPr>
        <p:spPr>
          <a:xfrm>
            <a:off x="566928" y="5166359"/>
            <a:ext cx="11027664" cy="402336"/>
          </a:xfrm>
          <a:prstGeom prst="rect">
            <a:avLst/>
          </a:prstGeom>
          <a:solidFill>
            <a:srgbClr val="FFFFFF"/>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76656" y="5193791"/>
            <a:ext cx="1920240" cy="347472"/>
          </a:xfrm>
          <a:prstGeom prst="rect">
            <a:avLst/>
          </a:prstGeom>
          <a:noFill/>
        </p:spPr>
        <p:txBody>
          <a:bodyPr wrap="square" lIns="0" rIns="0" tIns="0" bIns="0" anchor="ctr">
            <a:spAutoFit/>
          </a:bodyPr>
          <a:lstStyle/>
          <a:p>
            <a:pPr>
              <a:lnSpc>
                <a:spcPts val="950"/>
              </a:lnSpc>
            </a:pPr>
            <a:r>
              <a:rPr sz="860" b="1">
                <a:solidFill>
                  <a:srgbClr val="0B2350"/>
                </a:solidFill>
                <a:latin typeface="Cambria"/>
              </a:rPr>
              <a:t>Contracts — Licensing</a:t>
            </a:r>
          </a:p>
        </p:txBody>
      </p:sp>
      <p:sp>
        <p:nvSpPr>
          <p:cNvPr id="74" name="TextBox 73"/>
          <p:cNvSpPr txBox="1"/>
          <p:nvPr/>
        </p:nvSpPr>
        <p:spPr>
          <a:xfrm>
            <a:off x="2779776" y="5193791"/>
            <a:ext cx="5303520"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Owns the SQL Server licensing position for the pod. Confirms Always On edition entitlements (Enterprise vs. Standard), tracks core counts as the estate migrates, and keeps the pod compliant as instances are added or reshaped.</a:t>
            </a:r>
          </a:p>
        </p:txBody>
      </p:sp>
      <p:sp>
        <p:nvSpPr>
          <p:cNvPr id="75" name="TextBox 74"/>
          <p:cNvSpPr txBox="1"/>
          <p:nvPr/>
        </p:nvSpPr>
        <p:spPr>
          <a:xfrm>
            <a:off x="8266175" y="5193791"/>
            <a:ext cx="3255264"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Licence entitlements · edition compliance · core-count position</a:t>
            </a:r>
          </a:p>
        </p:txBody>
      </p:sp>
      <p:sp>
        <p:nvSpPr>
          <p:cNvPr id="76" name="Rectangle 75"/>
          <p:cNvSpPr/>
          <p:nvPr/>
        </p:nvSpPr>
        <p:spPr>
          <a:xfrm>
            <a:off x="566928" y="5596127"/>
            <a:ext cx="11027664" cy="402336"/>
          </a:xfrm>
          <a:prstGeom prst="rect">
            <a:avLst/>
          </a:prstGeom>
          <a:solidFill>
            <a:srgbClr val="F4F7FB"/>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76656" y="5623559"/>
            <a:ext cx="1920240" cy="347472"/>
          </a:xfrm>
          <a:prstGeom prst="rect">
            <a:avLst/>
          </a:prstGeom>
          <a:noFill/>
        </p:spPr>
        <p:txBody>
          <a:bodyPr wrap="square" lIns="0" rIns="0" tIns="0" bIns="0" anchor="ctr">
            <a:spAutoFit/>
          </a:bodyPr>
          <a:lstStyle/>
          <a:p>
            <a:pPr>
              <a:lnSpc>
                <a:spcPts val="950"/>
              </a:lnSpc>
            </a:pPr>
            <a:r>
              <a:rPr sz="860" b="1">
                <a:solidFill>
                  <a:srgbClr val="0B2350"/>
                </a:solidFill>
                <a:latin typeface="Cambria"/>
              </a:rPr>
              <a:t>Finance — Chargeback</a:t>
            </a:r>
          </a:p>
        </p:txBody>
      </p:sp>
      <p:sp>
        <p:nvSpPr>
          <p:cNvPr id="78" name="TextBox 77"/>
          <p:cNvSpPr txBox="1"/>
          <p:nvPr/>
        </p:nvSpPr>
        <p:spPr>
          <a:xfrm>
            <a:off x="2779776" y="5623559"/>
            <a:ext cx="5303520"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Owns the cost-attribution model. Maps pod consumption back to the lines of business, so provisioning, capacity and reclaimed toil show up as real numbers the business can see and plan against.</a:t>
            </a:r>
          </a:p>
        </p:txBody>
      </p:sp>
      <p:sp>
        <p:nvSpPr>
          <p:cNvPr id="79" name="TextBox 78"/>
          <p:cNvSpPr txBox="1"/>
          <p:nvPr/>
        </p:nvSpPr>
        <p:spPr>
          <a:xfrm>
            <a:off x="8266175" y="5623559"/>
            <a:ext cx="3255264" cy="347472"/>
          </a:xfrm>
          <a:prstGeom prst="rect">
            <a:avLst/>
          </a:prstGeom>
          <a:noFill/>
        </p:spPr>
        <p:txBody>
          <a:bodyPr wrap="square" lIns="0" rIns="0" tIns="0" bIns="0" anchor="ctr">
            <a:spAutoFit/>
          </a:bodyPr>
          <a:lstStyle/>
          <a:p>
            <a:pPr>
              <a:lnSpc>
                <a:spcPts val="950"/>
              </a:lnSpc>
            </a:pPr>
            <a:r>
              <a:rPr sz="770" b="0">
                <a:solidFill>
                  <a:srgbClr val="1E252E"/>
                </a:solidFill>
                <a:latin typeface="Calibri"/>
              </a:rPr>
              <a:t>Chargeback model · cost attribution · consumption reporting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WHAT THEY'LL DO</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Reduce the toil of running SQL Server</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In operations, compliance and incidents — by owning the engine end-to-end and automating our own toil. The person who feels the toil is the person who eliminates it.</a:t>
            </a:r>
            <a:endParaRPr lang="en-US" sz="1200" dirty="0"/>
          </a:p>
        </p:txBody>
      </p:sp>
      <p:sp>
        <p:nvSpPr>
          <p:cNvPr id="5" name="Shape 3"/>
          <p:cNvSpPr/>
          <p:nvPr/>
        </p:nvSpPr>
        <p:spPr>
          <a:xfrm>
            <a:off x="566928" y="1847088"/>
            <a:ext cx="3520440" cy="384048"/>
          </a:xfrm>
          <a:prstGeom prst="rect">
            <a:avLst/>
          </a:prstGeom>
          <a:solidFill>
            <a:srgbClr val="005DAA"/>
          </a:solidFill>
          <a:ln/>
        </p:spPr>
        <p:txBody>
          <a:bodyPr/>
          <a:lstStyle/>
          <a:p>
            <a:endParaRPr lang="en-US"/>
          </a:p>
        </p:txBody>
      </p:sp>
      <p:sp>
        <p:nvSpPr>
          <p:cNvPr id="6" name="Text 4"/>
          <p:cNvSpPr/>
          <p:nvPr/>
        </p:nvSpPr>
        <p:spPr>
          <a:xfrm>
            <a:off x="713232" y="1929384"/>
            <a:ext cx="3200400" cy="219456"/>
          </a:xfrm>
          <a:prstGeom prst="rect">
            <a:avLst/>
          </a:prstGeom>
          <a:noFill/>
          <a:ln/>
        </p:spPr>
        <p:txBody>
          <a:bodyPr wrap="square" lIns="0" tIns="0" rIns="0" bIns="0" rtlCol="0" anchor="ctr"/>
          <a:lstStyle/>
          <a:p>
            <a:pPr marL="0" indent="0">
              <a:buNone/>
            </a:pPr>
            <a:r>
              <a:rPr lang="en-US" sz="900" b="1" kern="0" spc="140" dirty="0">
                <a:solidFill>
                  <a:srgbClr val="FFFFFF"/>
                </a:solidFill>
                <a:latin typeface="Calibri" pitchFamily="34" charset="0"/>
                <a:ea typeface="Calibri" pitchFamily="34" charset="-122"/>
                <a:cs typeface="Calibri" pitchFamily="34" charset="-120"/>
              </a:rPr>
              <a:t>OPERATIONS TOIL</a:t>
            </a:r>
            <a:endParaRPr lang="en-US" sz="900" dirty="0"/>
          </a:p>
        </p:txBody>
      </p:sp>
      <p:sp>
        <p:nvSpPr>
          <p:cNvPr id="7" name="Shape 5"/>
          <p:cNvSpPr/>
          <p:nvPr/>
        </p:nvSpPr>
        <p:spPr>
          <a:xfrm>
            <a:off x="566928" y="2231136"/>
            <a:ext cx="3520440" cy="1060704"/>
          </a:xfrm>
          <a:prstGeom prst="rect">
            <a:avLst/>
          </a:prstGeom>
          <a:solidFill>
            <a:srgbClr val="F4F7FB"/>
          </a:solidFill>
          <a:ln w="6350">
            <a:solidFill>
              <a:srgbClr val="D7DDE5"/>
            </a:solidFill>
            <a:prstDash val="solid"/>
          </a:ln>
        </p:spPr>
        <p:txBody>
          <a:bodyPr/>
          <a:lstStyle/>
          <a:p>
            <a:endParaRPr lang="en-US"/>
          </a:p>
        </p:txBody>
      </p:sp>
      <p:sp>
        <p:nvSpPr>
          <p:cNvPr id="8" name="Text 6"/>
          <p:cNvSpPr/>
          <p:nvPr/>
        </p:nvSpPr>
        <p:spPr>
          <a:xfrm>
            <a:off x="713232" y="2340864"/>
            <a:ext cx="3200400" cy="402336"/>
          </a:xfrm>
          <a:prstGeom prst="rect">
            <a:avLst/>
          </a:prstGeom>
          <a:noFill/>
          <a:ln/>
        </p:spPr>
        <p:txBody>
          <a:bodyPr wrap="square" lIns="0" tIns="0" rIns="0" bIns="0" rtlCol="0" anchor="ctr"/>
          <a:lstStyle/>
          <a:p>
            <a:pPr marL="0" indent="0">
              <a:lnSpc>
                <a:spcPts val="1200"/>
              </a:lnSpc>
              <a:buNone/>
            </a:pPr>
            <a:r>
              <a:rPr lang="en-US" sz="920" dirty="0">
                <a:solidFill>
                  <a:srgbClr val="1E252E"/>
                </a:solidFill>
                <a:latin typeface="Calibri" pitchFamily="34" charset="0"/>
                <a:ea typeface="Calibri" pitchFamily="34" charset="-122"/>
                <a:cs typeface="Calibri" pitchFamily="34" charset="-120"/>
              </a:rPr>
              <a:t>Provisioning · Patching · Access · Restores</a:t>
            </a:r>
            <a:endParaRPr lang="en-US" sz="920" dirty="0"/>
          </a:p>
        </p:txBody>
      </p:sp>
      <p:sp>
        <p:nvSpPr>
          <p:cNvPr id="9" name="Shape 7"/>
          <p:cNvSpPr/>
          <p:nvPr/>
        </p:nvSpPr>
        <p:spPr>
          <a:xfrm>
            <a:off x="713232" y="2798064"/>
            <a:ext cx="3200400" cy="18288"/>
          </a:xfrm>
          <a:prstGeom prst="rect">
            <a:avLst/>
          </a:prstGeom>
          <a:solidFill>
            <a:srgbClr val="D7DDE5"/>
          </a:solidFill>
          <a:ln/>
        </p:spPr>
        <p:txBody>
          <a:bodyPr/>
          <a:lstStyle/>
          <a:p>
            <a:endParaRPr lang="en-US"/>
          </a:p>
        </p:txBody>
      </p:sp>
      <p:sp>
        <p:nvSpPr>
          <p:cNvPr id="10" name="Text 8"/>
          <p:cNvSpPr/>
          <p:nvPr/>
        </p:nvSpPr>
        <p:spPr>
          <a:xfrm>
            <a:off x="713232" y="2871216"/>
            <a:ext cx="3200400" cy="365760"/>
          </a:xfrm>
          <a:prstGeom prst="rect">
            <a:avLst/>
          </a:prstGeom>
          <a:noFill/>
          <a:ln/>
        </p:spPr>
        <p:txBody>
          <a:bodyPr wrap="square" lIns="0" tIns="0" rIns="0" bIns="0" rtlCol="0" anchor="ctr"/>
          <a:lstStyle/>
          <a:p>
            <a:pPr marL="0" indent="0">
              <a:lnSpc>
                <a:spcPts val="1140"/>
              </a:lnSpc>
              <a:buNone/>
            </a:pPr>
            <a:r>
              <a:rPr lang="en-US" sz="880" i="1" dirty="0">
                <a:solidFill>
                  <a:srgbClr val="005DAA"/>
                </a:solidFill>
                <a:latin typeface="Calibri" pitchFamily="34" charset="0"/>
                <a:ea typeface="Calibri" pitchFamily="34" charset="-122"/>
                <a:cs typeface="Calibri" pitchFamily="34" charset="-120"/>
              </a:rPr>
              <a:t>APIs· self-service · policy-as-code</a:t>
            </a:r>
            <a:endParaRPr lang="en-US" sz="880" dirty="0"/>
          </a:p>
        </p:txBody>
      </p:sp>
      <p:sp>
        <p:nvSpPr>
          <p:cNvPr id="11" name="Shape 9"/>
          <p:cNvSpPr/>
          <p:nvPr/>
        </p:nvSpPr>
        <p:spPr>
          <a:xfrm>
            <a:off x="4297680" y="1847088"/>
            <a:ext cx="3520440" cy="384048"/>
          </a:xfrm>
          <a:prstGeom prst="rect">
            <a:avLst/>
          </a:prstGeom>
          <a:solidFill>
            <a:srgbClr val="1B6FC4"/>
          </a:solidFill>
          <a:ln/>
        </p:spPr>
        <p:txBody>
          <a:bodyPr/>
          <a:lstStyle/>
          <a:p>
            <a:endParaRPr lang="en-US"/>
          </a:p>
        </p:txBody>
      </p:sp>
      <p:sp>
        <p:nvSpPr>
          <p:cNvPr id="12" name="Text 10"/>
          <p:cNvSpPr/>
          <p:nvPr/>
        </p:nvSpPr>
        <p:spPr>
          <a:xfrm>
            <a:off x="4443984" y="1929384"/>
            <a:ext cx="3200400" cy="219456"/>
          </a:xfrm>
          <a:prstGeom prst="rect">
            <a:avLst/>
          </a:prstGeom>
          <a:noFill/>
          <a:ln/>
        </p:spPr>
        <p:txBody>
          <a:bodyPr wrap="square" lIns="0" tIns="0" rIns="0" bIns="0" rtlCol="0" anchor="ctr"/>
          <a:lstStyle/>
          <a:p>
            <a:pPr marL="0" indent="0">
              <a:buNone/>
            </a:pPr>
            <a:r>
              <a:rPr lang="en-US" sz="900" b="1" kern="0" spc="140" dirty="0">
                <a:solidFill>
                  <a:srgbClr val="FFFFFF"/>
                </a:solidFill>
                <a:latin typeface="Calibri" pitchFamily="34" charset="0"/>
                <a:ea typeface="Calibri" pitchFamily="34" charset="-122"/>
                <a:cs typeface="Calibri" pitchFamily="34" charset="-120"/>
              </a:rPr>
              <a:t>COMPLIANCE TOIL</a:t>
            </a:r>
            <a:endParaRPr lang="en-US" sz="900" dirty="0"/>
          </a:p>
        </p:txBody>
      </p:sp>
      <p:sp>
        <p:nvSpPr>
          <p:cNvPr id="13" name="Shape 11"/>
          <p:cNvSpPr/>
          <p:nvPr/>
        </p:nvSpPr>
        <p:spPr>
          <a:xfrm>
            <a:off x="4297680" y="2231136"/>
            <a:ext cx="3520440" cy="1060704"/>
          </a:xfrm>
          <a:prstGeom prst="rect">
            <a:avLst/>
          </a:prstGeom>
          <a:solidFill>
            <a:srgbClr val="F4F7FB"/>
          </a:solidFill>
          <a:ln w="6350">
            <a:solidFill>
              <a:srgbClr val="D7DDE5"/>
            </a:solidFill>
            <a:prstDash val="solid"/>
          </a:ln>
        </p:spPr>
        <p:txBody>
          <a:bodyPr/>
          <a:lstStyle/>
          <a:p>
            <a:endParaRPr lang="en-US"/>
          </a:p>
        </p:txBody>
      </p:sp>
      <p:sp>
        <p:nvSpPr>
          <p:cNvPr id="14" name="Text 12"/>
          <p:cNvSpPr/>
          <p:nvPr/>
        </p:nvSpPr>
        <p:spPr>
          <a:xfrm>
            <a:off x="4443984" y="2340864"/>
            <a:ext cx="3200400" cy="402336"/>
          </a:xfrm>
          <a:prstGeom prst="rect">
            <a:avLst/>
          </a:prstGeom>
          <a:noFill/>
          <a:ln/>
        </p:spPr>
        <p:txBody>
          <a:bodyPr wrap="square" lIns="0" tIns="0" rIns="0" bIns="0" rtlCol="0" anchor="ctr"/>
          <a:lstStyle/>
          <a:p>
            <a:pPr marL="0" indent="0">
              <a:lnSpc>
                <a:spcPts val="1200"/>
              </a:lnSpc>
              <a:buNone/>
            </a:pPr>
            <a:r>
              <a:rPr lang="en-US" sz="920" dirty="0">
                <a:solidFill>
                  <a:srgbClr val="1E252E"/>
                </a:solidFill>
                <a:latin typeface="Calibri" pitchFamily="34" charset="0"/>
                <a:ea typeface="Calibri" pitchFamily="34" charset="-122"/>
                <a:cs typeface="Calibri" pitchFamily="34" charset="-120"/>
              </a:rPr>
              <a:t>Evidence assembly · audit prep · drift · exceptions</a:t>
            </a:r>
            <a:endParaRPr lang="en-US" sz="920" dirty="0"/>
          </a:p>
        </p:txBody>
      </p:sp>
      <p:sp>
        <p:nvSpPr>
          <p:cNvPr id="15" name="Shape 13"/>
          <p:cNvSpPr/>
          <p:nvPr/>
        </p:nvSpPr>
        <p:spPr>
          <a:xfrm>
            <a:off x="4443984" y="2798064"/>
            <a:ext cx="3200400" cy="18288"/>
          </a:xfrm>
          <a:prstGeom prst="rect">
            <a:avLst/>
          </a:prstGeom>
          <a:solidFill>
            <a:srgbClr val="D7DDE5"/>
          </a:solidFill>
          <a:ln/>
        </p:spPr>
        <p:txBody>
          <a:bodyPr/>
          <a:lstStyle/>
          <a:p>
            <a:endParaRPr lang="en-US"/>
          </a:p>
        </p:txBody>
      </p:sp>
      <p:sp>
        <p:nvSpPr>
          <p:cNvPr id="16" name="Text 14"/>
          <p:cNvSpPr/>
          <p:nvPr/>
        </p:nvSpPr>
        <p:spPr>
          <a:xfrm>
            <a:off x="4443984" y="2871216"/>
            <a:ext cx="3200400" cy="365760"/>
          </a:xfrm>
          <a:prstGeom prst="rect">
            <a:avLst/>
          </a:prstGeom>
          <a:noFill/>
          <a:ln/>
        </p:spPr>
        <p:txBody>
          <a:bodyPr wrap="square" lIns="0" tIns="0" rIns="0" bIns="0" rtlCol="0" anchor="ctr"/>
          <a:lstStyle/>
          <a:p>
            <a:pPr marL="0" indent="0">
              <a:lnSpc>
                <a:spcPts val="1140"/>
              </a:lnSpc>
              <a:buNone/>
            </a:pPr>
            <a:r>
              <a:rPr lang="en-US" sz="880" i="1" dirty="0">
                <a:solidFill>
                  <a:srgbClr val="005DAA"/>
                </a:solidFill>
                <a:latin typeface="Calibri" pitchFamily="34" charset="0"/>
                <a:ea typeface="Calibri" pitchFamily="34" charset="-122"/>
                <a:cs typeface="Calibri" pitchFamily="34" charset="-120"/>
              </a:rPr>
              <a:t>Evidence automation · compliant by construction</a:t>
            </a:r>
            <a:endParaRPr lang="en-US" sz="880" dirty="0"/>
          </a:p>
        </p:txBody>
      </p:sp>
      <p:sp>
        <p:nvSpPr>
          <p:cNvPr id="17" name="Shape 15"/>
          <p:cNvSpPr/>
          <p:nvPr/>
        </p:nvSpPr>
        <p:spPr>
          <a:xfrm>
            <a:off x="8028432" y="1847088"/>
            <a:ext cx="3520440" cy="384048"/>
          </a:xfrm>
          <a:prstGeom prst="rect">
            <a:avLst/>
          </a:prstGeom>
          <a:solidFill>
            <a:srgbClr val="4C9A2A"/>
          </a:solidFill>
          <a:ln/>
        </p:spPr>
        <p:txBody>
          <a:bodyPr/>
          <a:lstStyle/>
          <a:p>
            <a:endParaRPr lang="en-US"/>
          </a:p>
        </p:txBody>
      </p:sp>
      <p:sp>
        <p:nvSpPr>
          <p:cNvPr id="18" name="Text 16"/>
          <p:cNvSpPr/>
          <p:nvPr/>
        </p:nvSpPr>
        <p:spPr>
          <a:xfrm>
            <a:off x="8174736" y="1929384"/>
            <a:ext cx="3200400" cy="219456"/>
          </a:xfrm>
          <a:prstGeom prst="rect">
            <a:avLst/>
          </a:prstGeom>
          <a:noFill/>
          <a:ln/>
        </p:spPr>
        <p:txBody>
          <a:bodyPr wrap="square" lIns="0" tIns="0" rIns="0" bIns="0" rtlCol="0" anchor="ctr"/>
          <a:lstStyle/>
          <a:p>
            <a:pPr marL="0" indent="0">
              <a:buNone/>
            </a:pPr>
            <a:r>
              <a:rPr lang="en-US" sz="900" b="1" kern="0" spc="140" dirty="0">
                <a:solidFill>
                  <a:srgbClr val="FFFFFF"/>
                </a:solidFill>
                <a:latin typeface="Calibri" pitchFamily="34" charset="0"/>
                <a:ea typeface="Calibri" pitchFamily="34" charset="-122"/>
                <a:cs typeface="Calibri" pitchFamily="34" charset="-120"/>
              </a:rPr>
              <a:t>INCIDENT TOIL</a:t>
            </a:r>
            <a:endParaRPr lang="en-US" sz="900" dirty="0"/>
          </a:p>
        </p:txBody>
      </p:sp>
      <p:sp>
        <p:nvSpPr>
          <p:cNvPr id="19" name="Shape 17"/>
          <p:cNvSpPr/>
          <p:nvPr/>
        </p:nvSpPr>
        <p:spPr>
          <a:xfrm>
            <a:off x="8028432" y="2231136"/>
            <a:ext cx="3520440" cy="1060704"/>
          </a:xfrm>
          <a:prstGeom prst="rect">
            <a:avLst/>
          </a:prstGeom>
          <a:solidFill>
            <a:srgbClr val="F4F7FB"/>
          </a:solidFill>
          <a:ln w="6350">
            <a:solidFill>
              <a:srgbClr val="D7DDE5"/>
            </a:solidFill>
            <a:prstDash val="solid"/>
          </a:ln>
        </p:spPr>
        <p:txBody>
          <a:bodyPr/>
          <a:lstStyle/>
          <a:p>
            <a:endParaRPr lang="en-US"/>
          </a:p>
        </p:txBody>
      </p:sp>
      <p:sp>
        <p:nvSpPr>
          <p:cNvPr id="20" name="Text 18"/>
          <p:cNvSpPr/>
          <p:nvPr/>
        </p:nvSpPr>
        <p:spPr>
          <a:xfrm>
            <a:off x="8174736" y="2340864"/>
            <a:ext cx="3200400" cy="402336"/>
          </a:xfrm>
          <a:prstGeom prst="rect">
            <a:avLst/>
          </a:prstGeom>
          <a:noFill/>
          <a:ln/>
        </p:spPr>
        <p:txBody>
          <a:bodyPr wrap="square" lIns="0" tIns="0" rIns="0" bIns="0" rtlCol="0" anchor="ctr"/>
          <a:lstStyle/>
          <a:p>
            <a:pPr marL="0" indent="0">
              <a:lnSpc>
                <a:spcPts val="1200"/>
              </a:lnSpc>
              <a:buNone/>
            </a:pPr>
            <a:r>
              <a:rPr lang="en-US" sz="920" dirty="0">
                <a:solidFill>
                  <a:srgbClr val="1E252E"/>
                </a:solidFill>
                <a:latin typeface="Calibri" pitchFamily="34" charset="0"/>
                <a:ea typeface="Calibri" pitchFamily="34" charset="-122"/>
                <a:cs typeface="Calibri" pitchFamily="34" charset="-120"/>
              </a:rPr>
              <a:t>Alert triage · repetitive response · known-error firefighting</a:t>
            </a:r>
            <a:endParaRPr lang="en-US" sz="920" dirty="0"/>
          </a:p>
        </p:txBody>
      </p:sp>
      <p:sp>
        <p:nvSpPr>
          <p:cNvPr id="21" name="Shape 19"/>
          <p:cNvSpPr/>
          <p:nvPr/>
        </p:nvSpPr>
        <p:spPr>
          <a:xfrm>
            <a:off x="8174736" y="2798064"/>
            <a:ext cx="3200400" cy="18288"/>
          </a:xfrm>
          <a:prstGeom prst="rect">
            <a:avLst/>
          </a:prstGeom>
          <a:solidFill>
            <a:srgbClr val="D7DDE5"/>
          </a:solidFill>
          <a:ln/>
        </p:spPr>
        <p:txBody>
          <a:bodyPr/>
          <a:lstStyle/>
          <a:p>
            <a:endParaRPr lang="en-US"/>
          </a:p>
        </p:txBody>
      </p:sp>
      <p:sp>
        <p:nvSpPr>
          <p:cNvPr id="22" name="Text 20"/>
          <p:cNvSpPr/>
          <p:nvPr/>
        </p:nvSpPr>
        <p:spPr>
          <a:xfrm>
            <a:off x="8174736" y="2871216"/>
            <a:ext cx="3200400" cy="365760"/>
          </a:xfrm>
          <a:prstGeom prst="rect">
            <a:avLst/>
          </a:prstGeom>
          <a:noFill/>
          <a:ln/>
        </p:spPr>
        <p:txBody>
          <a:bodyPr wrap="square" lIns="0" tIns="0" rIns="0" bIns="0" rtlCol="0" anchor="ctr"/>
          <a:lstStyle/>
          <a:p>
            <a:pPr marL="0" indent="0">
              <a:lnSpc>
                <a:spcPts val="1140"/>
              </a:lnSpc>
              <a:buNone/>
            </a:pPr>
            <a:r>
              <a:rPr lang="en-US" sz="880" i="1" dirty="0">
                <a:solidFill>
                  <a:srgbClr val="005DAA"/>
                </a:solidFill>
                <a:latin typeface="Calibri" pitchFamily="34" charset="0"/>
                <a:ea typeface="Calibri" pitchFamily="34" charset="-122"/>
                <a:cs typeface="Calibri" pitchFamily="34" charset="-120"/>
              </a:rPr>
              <a:t>Prevention agents · alert triage · SRE practice</a:t>
            </a:r>
            <a:endParaRPr lang="en-US" sz="880" dirty="0"/>
          </a:p>
        </p:txBody>
      </p:sp>
      <p:sp>
        <p:nvSpPr>
          <p:cNvPr id="23" name="Shape 21"/>
          <p:cNvSpPr/>
          <p:nvPr/>
        </p:nvSpPr>
        <p:spPr>
          <a:xfrm>
            <a:off x="566928" y="3419856"/>
            <a:ext cx="11027664" cy="310896"/>
          </a:xfrm>
          <a:prstGeom prst="rect">
            <a:avLst/>
          </a:prstGeom>
          <a:solidFill>
            <a:srgbClr val="FFD200"/>
          </a:solidFill>
          <a:ln/>
        </p:spPr>
        <p:txBody>
          <a:bodyPr/>
          <a:lstStyle/>
          <a:p>
            <a:endParaRPr lang="en-US"/>
          </a:p>
        </p:txBody>
      </p:sp>
      <p:sp>
        <p:nvSpPr>
          <p:cNvPr id="24" name="Text 22"/>
          <p:cNvSpPr/>
          <p:nvPr/>
        </p:nvSpPr>
        <p:spPr>
          <a:xfrm>
            <a:off x="566928" y="3474720"/>
            <a:ext cx="11027664" cy="201168"/>
          </a:xfrm>
          <a:prstGeom prst="rect">
            <a:avLst/>
          </a:prstGeom>
          <a:noFill/>
          <a:ln/>
        </p:spPr>
        <p:txBody>
          <a:bodyPr wrap="square" lIns="0" tIns="0" rIns="0" bIns="0" rtlCol="0" anchor="ctr"/>
          <a:lstStyle/>
          <a:p>
            <a:pPr marL="0" indent="0" algn="ctr">
              <a:buNone/>
            </a:pPr>
            <a:r>
              <a:rPr lang="en-US" sz="850" b="1" kern="0" spc="130" dirty="0">
                <a:solidFill>
                  <a:srgbClr val="0B2350"/>
                </a:solidFill>
                <a:latin typeface="Calibri" pitchFamily="34" charset="0"/>
                <a:ea typeface="Calibri" pitchFamily="34" charset="-122"/>
                <a:cs typeface="Calibri" pitchFamily="34" charset="-120"/>
              </a:rPr>
              <a:t>NORTH STAR  —  TOIL %  ·  THE SHARE OF POD CAPACITY SPENT ON MANUAL, REPETITIVE, AUTOMATABLE, REACTIVE WORK</a:t>
            </a:r>
            <a:endParaRPr lang="en-US" sz="850" dirty="0"/>
          </a:p>
        </p:txBody>
      </p:sp>
      <p:sp>
        <p:nvSpPr>
          <p:cNvPr id="25" name="Text 23"/>
          <p:cNvSpPr/>
          <p:nvPr/>
        </p:nvSpPr>
        <p:spPr>
          <a:xfrm>
            <a:off x="566928" y="3877056"/>
            <a:ext cx="11027664" cy="182880"/>
          </a:xfrm>
          <a:prstGeom prst="rect">
            <a:avLst/>
          </a:prstGeom>
          <a:noFill/>
          <a:ln/>
        </p:spPr>
        <p:txBody>
          <a:bodyPr wrap="square" lIns="0" tIns="0" rIns="0" bIns="0" rtlCol="0" anchor="ctr"/>
          <a:lstStyle/>
          <a:p>
            <a:pPr marL="0" indent="0">
              <a:buNone/>
            </a:pPr>
            <a:r>
              <a:rPr lang="en-US" sz="850" b="1" kern="0" spc="160" dirty="0">
                <a:solidFill>
                  <a:srgbClr val="C9A227"/>
                </a:solidFill>
                <a:latin typeface="Calibri" pitchFamily="34" charset="0"/>
                <a:ea typeface="Calibri" pitchFamily="34" charset="-122"/>
                <a:cs typeface="Calibri" pitchFamily="34" charset="-120"/>
              </a:rPr>
              <a:t>AND FOUR BUILD TRACKS RUN ALONGSIDE IT</a:t>
            </a:r>
            <a:endParaRPr lang="en-US" sz="850" dirty="0"/>
          </a:p>
        </p:txBody>
      </p:sp>
      <p:sp>
        <p:nvSpPr>
          <p:cNvPr id="26" name="Shape 24"/>
          <p:cNvSpPr/>
          <p:nvPr/>
        </p:nvSpPr>
        <p:spPr>
          <a:xfrm>
            <a:off x="56692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27" name="Shape 25"/>
          <p:cNvSpPr/>
          <p:nvPr/>
        </p:nvSpPr>
        <p:spPr>
          <a:xfrm>
            <a:off x="566928" y="4133088"/>
            <a:ext cx="36576" cy="713232"/>
          </a:xfrm>
          <a:prstGeom prst="rect">
            <a:avLst/>
          </a:prstGeom>
          <a:solidFill>
            <a:srgbClr val="005DAA"/>
          </a:solidFill>
          <a:ln/>
        </p:spPr>
        <p:txBody>
          <a:bodyPr/>
          <a:lstStyle/>
          <a:p>
            <a:endParaRPr lang="en-US"/>
          </a:p>
        </p:txBody>
      </p:sp>
      <p:sp>
        <p:nvSpPr>
          <p:cNvPr id="28" name="Text 26"/>
          <p:cNvSpPr/>
          <p:nvPr/>
        </p:nvSpPr>
        <p:spPr>
          <a:xfrm>
            <a:off x="71323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01   SQL Always On build-out</a:t>
            </a:r>
            <a:endParaRPr lang="en-US" sz="1150" dirty="0"/>
          </a:p>
        </p:txBody>
      </p:sp>
      <p:sp>
        <p:nvSpPr>
          <p:cNvPr id="29" name="Text 27"/>
          <p:cNvSpPr/>
          <p:nvPr/>
        </p:nvSpPr>
        <p:spPr>
          <a:xfrm>
            <a:off x="71323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Automate  target deployment pattern</a:t>
            </a:r>
            <a:endParaRPr lang="en-US" sz="840" dirty="0"/>
          </a:p>
        </p:txBody>
      </p:sp>
      <p:sp>
        <p:nvSpPr>
          <p:cNvPr id="30" name="Text 28"/>
          <p:cNvSpPr/>
          <p:nvPr/>
        </p:nvSpPr>
        <p:spPr>
          <a:xfrm>
            <a:off x="3177540" y="4370832"/>
            <a:ext cx="182880" cy="219456"/>
          </a:xfrm>
          <a:prstGeom prst="rect">
            <a:avLst/>
          </a:prstGeom>
          <a:noFill/>
          <a:ln/>
        </p:spPr>
        <p:txBody>
          <a:bodyPr wrap="square" lIns="0" tIns="0" rIns="0" bIns="0" rtlCol="0" anchor="ctr"/>
          <a:lstStyle/>
          <a:p>
            <a:pPr marL="0" indent="0" algn="ctr">
              <a:buNone/>
            </a:pPr>
            <a:r>
              <a:rPr lang="en-US" sz="1100" dirty="0">
                <a:solidFill>
                  <a:srgbClr val="9AA5B1"/>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337870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32" name="Shape 30"/>
          <p:cNvSpPr/>
          <p:nvPr/>
        </p:nvSpPr>
        <p:spPr>
          <a:xfrm>
            <a:off x="3378708" y="4133088"/>
            <a:ext cx="36576" cy="713232"/>
          </a:xfrm>
          <a:prstGeom prst="rect">
            <a:avLst/>
          </a:prstGeom>
          <a:solidFill>
            <a:srgbClr val="005DAA"/>
          </a:solidFill>
          <a:ln/>
        </p:spPr>
        <p:txBody>
          <a:bodyPr/>
          <a:lstStyle/>
          <a:p>
            <a:endParaRPr lang="en-US"/>
          </a:p>
        </p:txBody>
      </p:sp>
      <p:sp>
        <p:nvSpPr>
          <p:cNvPr id="33" name="Text 31"/>
          <p:cNvSpPr/>
          <p:nvPr/>
        </p:nvSpPr>
        <p:spPr>
          <a:xfrm>
            <a:off x="352501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02   Operationalize it</a:t>
            </a:r>
            <a:endParaRPr lang="en-US" sz="1150" dirty="0"/>
          </a:p>
        </p:txBody>
      </p:sp>
      <p:sp>
        <p:nvSpPr>
          <p:cNvPr id="34" name="Text 32"/>
          <p:cNvSpPr/>
          <p:nvPr/>
        </p:nvSpPr>
        <p:spPr>
          <a:xfrm>
            <a:off x="352501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Runbooks, monitoring, day-2, support, Training</a:t>
            </a:r>
            <a:endParaRPr lang="en-US" sz="840" dirty="0"/>
          </a:p>
        </p:txBody>
      </p:sp>
      <p:sp>
        <p:nvSpPr>
          <p:cNvPr id="35" name="Text 33"/>
          <p:cNvSpPr/>
          <p:nvPr/>
        </p:nvSpPr>
        <p:spPr>
          <a:xfrm>
            <a:off x="5989320" y="4370832"/>
            <a:ext cx="182880" cy="219456"/>
          </a:xfrm>
          <a:prstGeom prst="rect">
            <a:avLst/>
          </a:prstGeom>
          <a:noFill/>
          <a:ln/>
        </p:spPr>
        <p:txBody>
          <a:bodyPr wrap="square" lIns="0" tIns="0" rIns="0" bIns="0" rtlCol="0" anchor="ctr"/>
          <a:lstStyle/>
          <a:p>
            <a:pPr marL="0" indent="0" algn="ctr">
              <a:buNone/>
            </a:pPr>
            <a:r>
              <a:rPr lang="en-US" sz="1100" dirty="0">
                <a:solidFill>
                  <a:srgbClr val="9AA5B1"/>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619048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37" name="Shape 35"/>
          <p:cNvSpPr/>
          <p:nvPr/>
        </p:nvSpPr>
        <p:spPr>
          <a:xfrm>
            <a:off x="6190488" y="4133088"/>
            <a:ext cx="36576" cy="713232"/>
          </a:xfrm>
          <a:prstGeom prst="rect">
            <a:avLst/>
          </a:prstGeom>
          <a:solidFill>
            <a:srgbClr val="005DAA"/>
          </a:solidFill>
          <a:ln/>
        </p:spPr>
        <p:txBody>
          <a:bodyPr/>
          <a:lstStyle/>
          <a:p>
            <a:endParaRPr lang="en-US"/>
          </a:p>
        </p:txBody>
      </p:sp>
      <p:sp>
        <p:nvSpPr>
          <p:cNvPr id="38" name="Text 36"/>
          <p:cNvSpPr/>
          <p:nvPr/>
        </p:nvSpPr>
        <p:spPr>
          <a:xfrm>
            <a:off x="633679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03   Migration tooling</a:t>
            </a:r>
            <a:endParaRPr lang="en-US" sz="1150" dirty="0"/>
          </a:p>
        </p:txBody>
      </p:sp>
      <p:sp>
        <p:nvSpPr>
          <p:cNvPr id="39" name="Text 37"/>
          <p:cNvSpPr/>
          <p:nvPr/>
        </p:nvSpPr>
        <p:spPr>
          <a:xfrm>
            <a:off x="633679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The means to move at volume</a:t>
            </a:r>
            <a:endParaRPr lang="en-US" sz="840" dirty="0"/>
          </a:p>
        </p:txBody>
      </p:sp>
      <p:sp>
        <p:nvSpPr>
          <p:cNvPr id="40" name="Text 38"/>
          <p:cNvSpPr/>
          <p:nvPr/>
        </p:nvSpPr>
        <p:spPr>
          <a:xfrm>
            <a:off x="8801100" y="4370832"/>
            <a:ext cx="182880" cy="219456"/>
          </a:xfrm>
          <a:prstGeom prst="rect">
            <a:avLst/>
          </a:prstGeom>
          <a:noFill/>
          <a:ln/>
        </p:spPr>
        <p:txBody>
          <a:bodyPr wrap="square" lIns="0" tIns="0" rIns="0" bIns="0" rtlCol="0" anchor="ctr"/>
          <a:lstStyle/>
          <a:p>
            <a:pPr marL="0" indent="0" algn="ctr">
              <a:buNone/>
            </a:pPr>
            <a:r>
              <a:rPr lang="en-US" sz="1100" dirty="0">
                <a:solidFill>
                  <a:srgbClr val="9AA5B1"/>
                </a:solidFill>
                <a:latin typeface="Calibri" pitchFamily="34" charset="0"/>
                <a:ea typeface="Calibri" pitchFamily="34" charset="-122"/>
                <a:cs typeface="Calibri" pitchFamily="34" charset="-120"/>
              </a:rPr>
              <a:t>→</a:t>
            </a:r>
            <a:endParaRPr lang="en-US" sz="1100" dirty="0"/>
          </a:p>
        </p:txBody>
      </p:sp>
      <p:sp>
        <p:nvSpPr>
          <p:cNvPr id="41" name="Shape 39"/>
          <p:cNvSpPr/>
          <p:nvPr/>
        </p:nvSpPr>
        <p:spPr>
          <a:xfrm>
            <a:off x="900226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42" name="Shape 40"/>
          <p:cNvSpPr/>
          <p:nvPr/>
        </p:nvSpPr>
        <p:spPr>
          <a:xfrm>
            <a:off x="9002268" y="4133088"/>
            <a:ext cx="36576" cy="713232"/>
          </a:xfrm>
          <a:prstGeom prst="rect">
            <a:avLst/>
          </a:prstGeom>
          <a:solidFill>
            <a:srgbClr val="005DAA"/>
          </a:solidFill>
          <a:ln/>
        </p:spPr>
        <p:txBody>
          <a:bodyPr/>
          <a:lstStyle/>
          <a:p>
            <a:endParaRPr lang="en-US"/>
          </a:p>
        </p:txBody>
      </p:sp>
      <p:sp>
        <p:nvSpPr>
          <p:cNvPr id="43" name="Text 41"/>
          <p:cNvSpPr/>
          <p:nvPr/>
        </p:nvSpPr>
        <p:spPr>
          <a:xfrm>
            <a:off x="914857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04   Actual migration</a:t>
            </a:r>
            <a:endParaRPr lang="en-US" sz="1150" dirty="0"/>
          </a:p>
        </p:txBody>
      </p:sp>
      <p:sp>
        <p:nvSpPr>
          <p:cNvPr id="44" name="Text 42"/>
          <p:cNvSpPr/>
          <p:nvPr/>
        </p:nvSpPr>
        <p:spPr>
          <a:xfrm>
            <a:off x="914857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Where the toil number comes from</a:t>
            </a:r>
            <a:endParaRPr lang="en-US" sz="840" dirty="0"/>
          </a:p>
        </p:txBody>
      </p:sp>
      <p:sp>
        <p:nvSpPr>
          <p:cNvPr id="45" name="Shape 43"/>
          <p:cNvSpPr/>
          <p:nvPr/>
        </p:nvSpPr>
        <p:spPr>
          <a:xfrm>
            <a:off x="566928" y="5029200"/>
            <a:ext cx="11027664" cy="932688"/>
          </a:xfrm>
          <a:prstGeom prst="rect">
            <a:avLst/>
          </a:prstGeom>
          <a:solidFill>
            <a:srgbClr val="0B2350"/>
          </a:solidFill>
          <a:ln/>
        </p:spPr>
        <p:txBody>
          <a:bodyPr/>
          <a:lstStyle/>
          <a:p>
            <a:endParaRPr lang="en-US"/>
          </a:p>
        </p:txBody>
      </p:sp>
      <p:sp>
        <p:nvSpPr>
          <p:cNvPr id="46" name="Text 44"/>
          <p:cNvSpPr/>
          <p:nvPr/>
        </p:nvSpPr>
        <p:spPr>
          <a:xfrm>
            <a:off x="768096" y="5148072"/>
            <a:ext cx="7315200" cy="182880"/>
          </a:xfrm>
          <a:prstGeom prst="rect">
            <a:avLst/>
          </a:prstGeom>
          <a:noFill/>
          <a:ln/>
        </p:spPr>
        <p:txBody>
          <a:bodyPr wrap="square" lIns="0" tIns="0" rIns="0" bIns="0" rtlCol="0" anchor="ctr"/>
          <a:lstStyle/>
          <a:p>
            <a:pPr marL="0" indent="0">
              <a:buNone/>
            </a:pPr>
            <a:r>
              <a:rPr lang="en-US" sz="850" b="1" kern="0" spc="170" dirty="0">
                <a:solidFill>
                  <a:srgbClr val="FFD200"/>
                </a:solidFill>
                <a:latin typeface="Calibri" pitchFamily="34" charset="0"/>
                <a:ea typeface="Calibri" pitchFamily="34" charset="-122"/>
                <a:cs typeface="Calibri" pitchFamily="34" charset="-120"/>
              </a:rPr>
              <a:t>HOW WE CHOOSE WHAT TO KILL FIRST</a:t>
            </a:r>
            <a:endParaRPr lang="en-US" sz="850" dirty="0"/>
          </a:p>
        </p:txBody>
      </p:sp>
      <p:sp>
        <p:nvSpPr>
          <p:cNvPr id="47" name="Text 45"/>
          <p:cNvSpPr/>
          <p:nvPr/>
        </p:nvSpPr>
        <p:spPr>
          <a:xfrm>
            <a:off x="768096" y="5358384"/>
            <a:ext cx="10625328" cy="512064"/>
          </a:xfrm>
          <a:prstGeom prst="rect">
            <a:avLst/>
          </a:prstGeom>
          <a:noFill/>
          <a:ln/>
        </p:spPr>
        <p:txBody>
          <a:bodyPr wrap="square" lIns="0" tIns="0" rIns="0" bIns="0" rtlCol="0" anchor="ctr"/>
          <a:lstStyle/>
          <a:p>
            <a:pPr marL="0" indent="0">
              <a:lnSpc>
                <a:spcPts val="1450"/>
              </a:lnSpc>
              <a:buNone/>
            </a:pPr>
            <a:r>
              <a:rPr lang="en-US" sz="1040" b="1" dirty="0">
                <a:solidFill>
                  <a:srgbClr val="FFD200"/>
                </a:solidFill>
                <a:latin typeface="Calibri" pitchFamily="34" charset="0"/>
                <a:ea typeface="Calibri" pitchFamily="34" charset="-122"/>
                <a:cs typeface="Calibri" pitchFamily="34" charset="-120"/>
              </a:rPr>
              <a:t>Volume × time × does it survive. </a:t>
            </a:r>
            <a:r>
              <a:rPr lang="en-US" sz="1040" dirty="0">
                <a:solidFill>
                  <a:srgbClr val="E8EFF9"/>
                </a:solidFill>
                <a:latin typeface="Calibri" pitchFamily="34" charset="0"/>
                <a:ea typeface="Calibri" pitchFamily="34" charset="-122"/>
                <a:cs typeface="Calibri" pitchFamily="34" charset="-120"/>
              </a:rPr>
              <a:t>We measure BAU, rank it by what it actually costs us, and filter for what carries into Always On — compliance automation, incident patterns and evidence all survive the migration; automating the legacy pattern does not. Don't automate what you're about to delete. Then review weekly until the category is at zero, because shipping the automation is not the same as eliminating the toil.</a:t>
            </a:r>
            <a:endParaRPr lang="en-US" sz="1040" dirty="0"/>
          </a:p>
        </p:txBody>
      </p:sp>
      <p:sp>
        <p:nvSpPr>
          <p:cNvPr id="48" name="Text 46"/>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HOW IT OPERATES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One board, one front door, one loop</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u="sng" dirty="0">
                <a:solidFill>
                  <a:srgbClr val="5C6773"/>
                </a:solidFill>
                <a:latin typeface="Calibri" pitchFamily="34" charset="0"/>
                <a:ea typeface="Calibri" pitchFamily="34" charset="-122"/>
                <a:cs typeface="Calibri" pitchFamily="34" charset="-120"/>
              </a:rPr>
              <a:t>If work reaches the pod any other way, none of it is measurable — and unmeasurable is how a pilot fails ambiguously. </a:t>
            </a:r>
            <a:r>
              <a:rPr lang="en-US" sz="1200" b="1" i="1" u="sng" dirty="0">
                <a:solidFill>
                  <a:srgbClr val="5C6773"/>
                </a:solidFill>
                <a:latin typeface="Calibri" pitchFamily="34" charset="0"/>
                <a:ea typeface="Calibri" pitchFamily="34" charset="-122"/>
                <a:cs typeface="Calibri" pitchFamily="34" charset="-120"/>
              </a:rPr>
              <a:t>Bring everything to Pod, don’t pick and choose.</a:t>
            </a:r>
            <a:endParaRPr lang="en-US" sz="1200" b="1" u="sng" dirty="0"/>
          </a:p>
        </p:txBody>
      </p:sp>
      <p:sp>
        <p:nvSpPr>
          <p:cNvPr id="5" name="Shape 3"/>
          <p:cNvSpPr/>
          <p:nvPr/>
        </p:nvSpPr>
        <p:spPr>
          <a:xfrm>
            <a:off x="566928" y="1847088"/>
            <a:ext cx="2040941" cy="493776"/>
          </a:xfrm>
          <a:prstGeom prst="rect">
            <a:avLst/>
          </a:prstGeom>
          <a:solidFill>
            <a:srgbClr val="005DAA"/>
          </a:solidFill>
          <a:ln/>
        </p:spPr>
        <p:txBody>
          <a:bodyPr/>
          <a:lstStyle/>
          <a:p>
            <a:endParaRPr lang="en-US"/>
          </a:p>
        </p:txBody>
      </p:sp>
      <p:sp>
        <p:nvSpPr>
          <p:cNvPr id="6" name="Text 4"/>
          <p:cNvSpPr/>
          <p:nvPr/>
        </p:nvSpPr>
        <p:spPr>
          <a:xfrm>
            <a:off x="694944"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01</a:t>
            </a:r>
            <a:endParaRPr lang="en-US" sz="750" dirty="0"/>
          </a:p>
        </p:txBody>
      </p:sp>
      <p:sp>
        <p:nvSpPr>
          <p:cNvPr id="7" name="Text 5"/>
          <p:cNvSpPr/>
          <p:nvPr/>
        </p:nvSpPr>
        <p:spPr>
          <a:xfrm>
            <a:off x="694944"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CAPTURE</a:t>
            </a:r>
            <a:endParaRPr lang="en-US" sz="1400" dirty="0"/>
          </a:p>
        </p:txBody>
      </p:sp>
      <p:sp>
        <p:nvSpPr>
          <p:cNvPr id="8" name="Shape 6"/>
          <p:cNvSpPr/>
          <p:nvPr/>
        </p:nvSpPr>
        <p:spPr>
          <a:xfrm>
            <a:off x="566928"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9" name="Text 7"/>
          <p:cNvSpPr/>
          <p:nvPr/>
        </p:nvSpPr>
        <p:spPr>
          <a:xfrm>
            <a:off x="713232"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BAU split into three categories — manual tasks, compliance, incident response. Pod lead presents it at day 15</a:t>
            </a:r>
            <a:endParaRPr lang="en-US" sz="840" dirty="0"/>
          </a:p>
        </p:txBody>
      </p:sp>
      <p:sp>
        <p:nvSpPr>
          <p:cNvPr id="10" name="Text 8"/>
          <p:cNvSpPr/>
          <p:nvPr/>
        </p:nvSpPr>
        <p:spPr>
          <a:xfrm>
            <a:off x="2607869"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2699309" y="1847088"/>
            <a:ext cx="2040941" cy="493776"/>
          </a:xfrm>
          <a:prstGeom prst="rect">
            <a:avLst/>
          </a:prstGeom>
          <a:solidFill>
            <a:srgbClr val="1B6FC4"/>
          </a:solidFill>
          <a:ln/>
        </p:spPr>
        <p:txBody>
          <a:bodyPr/>
          <a:lstStyle/>
          <a:p>
            <a:endParaRPr lang="en-US"/>
          </a:p>
        </p:txBody>
      </p:sp>
      <p:sp>
        <p:nvSpPr>
          <p:cNvPr id="12" name="Text 10"/>
          <p:cNvSpPr/>
          <p:nvPr/>
        </p:nvSpPr>
        <p:spPr>
          <a:xfrm>
            <a:off x="2827325"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02</a:t>
            </a:r>
            <a:endParaRPr lang="en-US" sz="750" dirty="0"/>
          </a:p>
        </p:txBody>
      </p:sp>
      <p:sp>
        <p:nvSpPr>
          <p:cNvPr id="13" name="Text 11"/>
          <p:cNvSpPr/>
          <p:nvPr/>
        </p:nvSpPr>
        <p:spPr>
          <a:xfrm>
            <a:off x="2827325"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RANK</a:t>
            </a:r>
            <a:endParaRPr lang="en-US" sz="1400" dirty="0"/>
          </a:p>
        </p:txBody>
      </p:sp>
      <p:sp>
        <p:nvSpPr>
          <p:cNvPr id="14" name="Shape 12"/>
          <p:cNvSpPr/>
          <p:nvPr/>
        </p:nvSpPr>
        <p:spPr>
          <a:xfrm>
            <a:off x="2699309"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15" name="Text 13"/>
          <p:cNvSpPr/>
          <p:nvPr/>
        </p:nvSpPr>
        <p:spPr>
          <a:xfrm>
            <a:off x="2845613"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Volume × time × does it survive. Computed, not argued</a:t>
            </a:r>
            <a:endParaRPr lang="en-US" sz="840" dirty="0"/>
          </a:p>
        </p:txBody>
      </p:sp>
      <p:sp>
        <p:nvSpPr>
          <p:cNvPr id="16" name="Text 14"/>
          <p:cNvSpPr/>
          <p:nvPr/>
        </p:nvSpPr>
        <p:spPr>
          <a:xfrm>
            <a:off x="4740250"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4831690" y="1847088"/>
            <a:ext cx="2040941" cy="493776"/>
          </a:xfrm>
          <a:prstGeom prst="rect">
            <a:avLst/>
          </a:prstGeom>
          <a:solidFill>
            <a:srgbClr val="FFD200"/>
          </a:solidFill>
          <a:ln/>
        </p:spPr>
        <p:txBody>
          <a:bodyPr/>
          <a:lstStyle/>
          <a:p>
            <a:endParaRPr lang="en-US"/>
          </a:p>
        </p:txBody>
      </p:sp>
      <p:sp>
        <p:nvSpPr>
          <p:cNvPr id="18" name="Text 16"/>
          <p:cNvSpPr/>
          <p:nvPr/>
        </p:nvSpPr>
        <p:spPr>
          <a:xfrm>
            <a:off x="4959706" y="1901952"/>
            <a:ext cx="457200" cy="164592"/>
          </a:xfrm>
          <a:prstGeom prst="rect">
            <a:avLst/>
          </a:prstGeom>
          <a:noFill/>
          <a:ln/>
        </p:spPr>
        <p:txBody>
          <a:bodyPr wrap="square" lIns="0" tIns="0" rIns="0" bIns="0" rtlCol="0" anchor="ctr"/>
          <a:lstStyle/>
          <a:p>
            <a:pPr marL="0" indent="0">
              <a:buNone/>
            </a:pPr>
            <a:r>
              <a:rPr lang="en-US" sz="750" b="1" dirty="0">
                <a:solidFill>
                  <a:srgbClr val="0B2350"/>
                </a:solidFill>
                <a:latin typeface="Calibri" pitchFamily="34" charset="0"/>
                <a:ea typeface="Calibri" pitchFamily="34" charset="-122"/>
                <a:cs typeface="Calibri" pitchFamily="34" charset="-120"/>
              </a:rPr>
              <a:t>03</a:t>
            </a:r>
            <a:endParaRPr lang="en-US" sz="750" dirty="0"/>
          </a:p>
        </p:txBody>
      </p:sp>
      <p:sp>
        <p:nvSpPr>
          <p:cNvPr id="19" name="Text 17"/>
          <p:cNvSpPr/>
          <p:nvPr/>
        </p:nvSpPr>
        <p:spPr>
          <a:xfrm>
            <a:off x="4959706" y="2057400"/>
            <a:ext cx="1784909" cy="237744"/>
          </a:xfrm>
          <a:prstGeom prst="rect">
            <a:avLst/>
          </a:prstGeom>
          <a:noFill/>
          <a:ln/>
        </p:spPr>
        <p:txBody>
          <a:bodyPr wrap="square" lIns="0" tIns="0" rIns="0" bIns="0" rtlCol="0" anchor="ctr"/>
          <a:lstStyle/>
          <a:p>
            <a:pPr marL="0" indent="0">
              <a:buNone/>
            </a:pPr>
            <a:r>
              <a:rPr lang="en-US" sz="1400" b="1" dirty="0">
                <a:solidFill>
                  <a:srgbClr val="0B2350"/>
                </a:solidFill>
                <a:latin typeface="Cambria" pitchFamily="34" charset="0"/>
                <a:ea typeface="Cambria" pitchFamily="34" charset="-122"/>
                <a:cs typeface="Cambria" pitchFamily="34" charset="-120"/>
              </a:rPr>
              <a:t>ELIMINATE</a:t>
            </a:r>
            <a:endParaRPr lang="en-US" sz="1400" dirty="0"/>
          </a:p>
        </p:txBody>
      </p:sp>
      <p:sp>
        <p:nvSpPr>
          <p:cNvPr id="20" name="Shape 18"/>
          <p:cNvSpPr/>
          <p:nvPr/>
        </p:nvSpPr>
        <p:spPr>
          <a:xfrm>
            <a:off x="4831690"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21" name="Text 19"/>
          <p:cNvSpPr/>
          <p:nvPr/>
        </p:nvSpPr>
        <p:spPr>
          <a:xfrm>
            <a:off x="4977994"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Automate the top of the list. Agents propose, a human decides</a:t>
            </a:r>
            <a:endParaRPr lang="en-US" sz="840" dirty="0"/>
          </a:p>
        </p:txBody>
      </p:sp>
      <p:sp>
        <p:nvSpPr>
          <p:cNvPr id="22" name="Text 20"/>
          <p:cNvSpPr/>
          <p:nvPr/>
        </p:nvSpPr>
        <p:spPr>
          <a:xfrm>
            <a:off x="6872630"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6964070" y="1847088"/>
            <a:ext cx="2040941" cy="493776"/>
          </a:xfrm>
          <a:prstGeom prst="rect">
            <a:avLst/>
          </a:prstGeom>
          <a:solidFill>
            <a:srgbClr val="4C9A2A"/>
          </a:solidFill>
          <a:ln/>
        </p:spPr>
        <p:txBody>
          <a:bodyPr/>
          <a:lstStyle/>
          <a:p>
            <a:endParaRPr lang="en-US"/>
          </a:p>
        </p:txBody>
      </p:sp>
      <p:sp>
        <p:nvSpPr>
          <p:cNvPr id="24" name="Text 22"/>
          <p:cNvSpPr/>
          <p:nvPr/>
        </p:nvSpPr>
        <p:spPr>
          <a:xfrm>
            <a:off x="7092086"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04</a:t>
            </a:r>
            <a:endParaRPr lang="en-US" sz="750" dirty="0"/>
          </a:p>
        </p:txBody>
      </p:sp>
      <p:sp>
        <p:nvSpPr>
          <p:cNvPr id="25" name="Text 23"/>
          <p:cNvSpPr/>
          <p:nvPr/>
        </p:nvSpPr>
        <p:spPr>
          <a:xfrm>
            <a:off x="7092086"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VERIFY</a:t>
            </a:r>
            <a:endParaRPr lang="en-US" sz="1400" dirty="0"/>
          </a:p>
        </p:txBody>
      </p:sp>
      <p:sp>
        <p:nvSpPr>
          <p:cNvPr id="26" name="Shape 24"/>
          <p:cNvSpPr/>
          <p:nvPr/>
        </p:nvSpPr>
        <p:spPr>
          <a:xfrm>
            <a:off x="6964070"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27" name="Text 25"/>
          <p:cNvSpPr/>
          <p:nvPr/>
        </p:nvSpPr>
        <p:spPr>
          <a:xfrm>
            <a:off x="7110374"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Weekly, on Mission Control, against baseline. Did the volume actually drop?</a:t>
            </a:r>
            <a:endParaRPr lang="en-US" sz="840" dirty="0"/>
          </a:p>
        </p:txBody>
      </p:sp>
      <p:sp>
        <p:nvSpPr>
          <p:cNvPr id="28" name="Text 26"/>
          <p:cNvSpPr/>
          <p:nvPr/>
        </p:nvSpPr>
        <p:spPr>
          <a:xfrm>
            <a:off x="9005011"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29" name="Shape 27"/>
          <p:cNvSpPr/>
          <p:nvPr/>
        </p:nvSpPr>
        <p:spPr>
          <a:xfrm>
            <a:off x="9096451" y="1847088"/>
            <a:ext cx="2040941" cy="493776"/>
          </a:xfrm>
          <a:prstGeom prst="rect">
            <a:avLst/>
          </a:prstGeom>
          <a:solidFill>
            <a:srgbClr val="0B2350"/>
          </a:solidFill>
          <a:ln/>
        </p:spPr>
        <p:txBody>
          <a:bodyPr/>
          <a:lstStyle/>
          <a:p>
            <a:endParaRPr lang="en-US"/>
          </a:p>
        </p:txBody>
      </p:sp>
      <p:sp>
        <p:nvSpPr>
          <p:cNvPr id="30" name="Text 28"/>
          <p:cNvSpPr/>
          <p:nvPr/>
        </p:nvSpPr>
        <p:spPr>
          <a:xfrm>
            <a:off x="9224467"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05</a:t>
            </a:r>
            <a:endParaRPr lang="en-US" sz="750" dirty="0"/>
          </a:p>
        </p:txBody>
      </p:sp>
      <p:sp>
        <p:nvSpPr>
          <p:cNvPr id="31" name="Text 29"/>
          <p:cNvSpPr/>
          <p:nvPr/>
        </p:nvSpPr>
        <p:spPr>
          <a:xfrm>
            <a:off x="9224467"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CLOSE</a:t>
            </a:r>
            <a:endParaRPr lang="en-US" sz="1400" dirty="0"/>
          </a:p>
        </p:txBody>
      </p:sp>
      <p:sp>
        <p:nvSpPr>
          <p:cNvPr id="32" name="Shape 30"/>
          <p:cNvSpPr/>
          <p:nvPr/>
        </p:nvSpPr>
        <p:spPr>
          <a:xfrm>
            <a:off x="9096451"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33" name="Text 31"/>
          <p:cNvSpPr/>
          <p:nvPr/>
        </p:nvSpPr>
        <p:spPr>
          <a:xfrm>
            <a:off x="9242755"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Only at zero. Then the next category rises</a:t>
            </a:r>
            <a:endParaRPr lang="en-US" sz="840" dirty="0"/>
          </a:p>
        </p:txBody>
      </p:sp>
      <p:sp>
        <p:nvSpPr>
          <p:cNvPr id="34" name="Shape 32"/>
          <p:cNvSpPr/>
          <p:nvPr/>
        </p:nvSpPr>
        <p:spPr>
          <a:xfrm>
            <a:off x="566928" y="3511296"/>
            <a:ext cx="11027664" cy="274320"/>
          </a:xfrm>
          <a:prstGeom prst="rect">
            <a:avLst/>
          </a:prstGeom>
          <a:solidFill>
            <a:srgbClr val="0B2350"/>
          </a:solidFill>
          <a:ln/>
        </p:spPr>
        <p:txBody>
          <a:bodyPr/>
          <a:lstStyle/>
          <a:p>
            <a:endParaRPr lang="en-US"/>
          </a:p>
        </p:txBody>
      </p:sp>
      <p:sp>
        <p:nvSpPr>
          <p:cNvPr id="35" name="Text 33"/>
          <p:cNvSpPr/>
          <p:nvPr/>
        </p:nvSpPr>
        <p:spPr>
          <a:xfrm>
            <a:off x="566928" y="3557016"/>
            <a:ext cx="11027664" cy="182880"/>
          </a:xfrm>
          <a:prstGeom prst="rect">
            <a:avLst/>
          </a:prstGeom>
          <a:noFill/>
          <a:ln/>
        </p:spPr>
        <p:txBody>
          <a:bodyPr wrap="square" lIns="0" tIns="0" rIns="0" bIns="0" rtlCol="0" anchor="ctr"/>
          <a:lstStyle/>
          <a:p>
            <a:pPr marL="0" indent="0" algn="ctr">
              <a:buNone/>
            </a:pPr>
            <a:r>
              <a:rPr lang="en-US" sz="850" b="1" kern="0" spc="160" dirty="0">
                <a:solidFill>
                  <a:srgbClr val="FFD200"/>
                </a:solidFill>
                <a:latin typeface="Calibri" pitchFamily="34" charset="0"/>
                <a:ea typeface="Calibri" pitchFamily="34" charset="-122"/>
                <a:cs typeface="Calibri" pitchFamily="34" charset="-120"/>
              </a:rPr>
              <a:t>↺   WEEKLY, UNTIL THE CATEGORY IS AT ZERO  —  THEN THE NEXT ONE</a:t>
            </a:r>
            <a:endParaRPr lang="en-US" sz="850" dirty="0"/>
          </a:p>
        </p:txBody>
      </p:sp>
      <p:sp>
        <p:nvSpPr>
          <p:cNvPr id="36" name="Shape 34"/>
          <p:cNvSpPr/>
          <p:nvPr/>
        </p:nvSpPr>
        <p:spPr>
          <a:xfrm>
            <a:off x="566928" y="3968496"/>
            <a:ext cx="3703320" cy="1956816"/>
          </a:xfrm>
          <a:prstGeom prst="rect">
            <a:avLst/>
          </a:prstGeom>
          <a:solidFill>
            <a:srgbClr val="F4F7FB"/>
          </a:solidFill>
          <a:ln w="7620">
            <a:solidFill>
              <a:srgbClr val="D7DDE5"/>
            </a:solidFill>
            <a:prstDash val="solid"/>
          </a:ln>
        </p:spPr>
        <p:txBody>
          <a:bodyPr/>
          <a:lstStyle/>
          <a:p>
            <a:endParaRPr lang="en-US"/>
          </a:p>
        </p:txBody>
      </p:sp>
      <p:sp>
        <p:nvSpPr>
          <p:cNvPr id="37" name="Text 35"/>
          <p:cNvSpPr/>
          <p:nvPr/>
        </p:nvSpPr>
        <p:spPr>
          <a:xfrm>
            <a:off x="731520" y="4105656"/>
            <a:ext cx="3374136" cy="164592"/>
          </a:xfrm>
          <a:prstGeom prst="rect">
            <a:avLst/>
          </a:prstGeom>
          <a:noFill/>
          <a:ln/>
        </p:spPr>
        <p:txBody>
          <a:bodyPr wrap="square" lIns="0" tIns="0" rIns="0" bIns="0" rtlCol="0" anchor="ctr"/>
          <a:lstStyle/>
          <a:p>
            <a:pPr marL="0" indent="0">
              <a:buNone/>
            </a:pPr>
            <a:r>
              <a:rPr lang="en-US" sz="820" b="1" kern="0" spc="150" dirty="0">
                <a:solidFill>
                  <a:srgbClr val="C9A227"/>
                </a:solidFill>
                <a:latin typeface="Calibri" pitchFamily="34" charset="0"/>
                <a:ea typeface="Calibri" pitchFamily="34" charset="-122"/>
                <a:cs typeface="Calibri" pitchFamily="34" charset="-120"/>
              </a:rPr>
              <a:t>THE BOARD</a:t>
            </a:r>
            <a:endParaRPr lang="en-US" sz="820" dirty="0"/>
          </a:p>
        </p:txBody>
      </p:sp>
      <p:sp>
        <p:nvSpPr>
          <p:cNvPr id="38" name="Text 36"/>
          <p:cNvSpPr/>
          <p:nvPr/>
        </p:nvSpPr>
        <p:spPr>
          <a:xfrm>
            <a:off x="731520" y="4297680"/>
            <a:ext cx="3374136" cy="256032"/>
          </a:xfrm>
          <a:prstGeom prst="rect">
            <a:avLst/>
          </a:prstGeom>
          <a:noFill/>
          <a:ln/>
        </p:spPr>
        <p:txBody>
          <a:bodyPr wrap="square" lIns="0" tIns="0" rIns="0" bIns="0" rtlCol="0" anchor="ctr"/>
          <a:lstStyle/>
          <a:p>
            <a:pPr marL="0" indent="0">
              <a:buNone/>
            </a:pPr>
            <a:r>
              <a:rPr lang="en-US" sz="1350" b="1" dirty="0">
                <a:solidFill>
                  <a:srgbClr val="0B2350"/>
                </a:solidFill>
                <a:latin typeface="Cambria" pitchFamily="34" charset="0"/>
                <a:ea typeface="Cambria" pitchFamily="34" charset="-122"/>
                <a:cs typeface="Cambria" pitchFamily="34" charset="-120"/>
              </a:rPr>
              <a:t>Where work lives</a:t>
            </a:r>
            <a:endParaRPr lang="en-US" sz="1350" dirty="0"/>
          </a:p>
        </p:txBody>
      </p:sp>
      <p:sp>
        <p:nvSpPr>
          <p:cNvPr id="39" name="Text 37"/>
          <p:cNvSpPr/>
          <p:nvPr/>
        </p:nvSpPr>
        <p:spPr>
          <a:xfrm>
            <a:off x="768096" y="4599432"/>
            <a:ext cx="3319272"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Single front door, triaged by the pod lead</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Five work types; toil elimination is protected</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Every item tagged toil-vs-value — that tagging is what makes the north star possible</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The board is the status. No parallel status decks</a:t>
            </a:r>
            <a:endParaRPr lang="en-US" sz="920" dirty="0"/>
          </a:p>
        </p:txBody>
      </p:sp>
      <p:sp>
        <p:nvSpPr>
          <p:cNvPr id="40" name="Shape 38"/>
          <p:cNvSpPr/>
          <p:nvPr/>
        </p:nvSpPr>
        <p:spPr>
          <a:xfrm>
            <a:off x="4498848" y="3968496"/>
            <a:ext cx="3703320" cy="1956816"/>
          </a:xfrm>
          <a:prstGeom prst="rect">
            <a:avLst/>
          </a:prstGeom>
          <a:solidFill>
            <a:srgbClr val="F4F7FB"/>
          </a:solidFill>
          <a:ln w="7620">
            <a:solidFill>
              <a:srgbClr val="D7DDE5"/>
            </a:solidFill>
            <a:prstDash val="solid"/>
          </a:ln>
        </p:spPr>
        <p:txBody>
          <a:bodyPr/>
          <a:lstStyle/>
          <a:p>
            <a:endParaRPr lang="en-US"/>
          </a:p>
        </p:txBody>
      </p:sp>
      <p:sp>
        <p:nvSpPr>
          <p:cNvPr id="41" name="Text 39"/>
          <p:cNvSpPr/>
          <p:nvPr/>
        </p:nvSpPr>
        <p:spPr>
          <a:xfrm>
            <a:off x="4663440" y="4105656"/>
            <a:ext cx="3374136" cy="164592"/>
          </a:xfrm>
          <a:prstGeom prst="rect">
            <a:avLst/>
          </a:prstGeom>
          <a:noFill/>
          <a:ln/>
        </p:spPr>
        <p:txBody>
          <a:bodyPr wrap="square" lIns="0" tIns="0" rIns="0" bIns="0" rtlCol="0" anchor="ctr"/>
          <a:lstStyle/>
          <a:p>
            <a:pPr marL="0" indent="0">
              <a:buNone/>
            </a:pPr>
            <a:r>
              <a:rPr lang="en-US" sz="820" b="1" kern="0" spc="150" dirty="0">
                <a:solidFill>
                  <a:srgbClr val="C9A227"/>
                </a:solidFill>
                <a:latin typeface="Calibri" pitchFamily="34" charset="0"/>
                <a:ea typeface="Calibri" pitchFamily="34" charset="-122"/>
                <a:cs typeface="Calibri" pitchFamily="34" charset="-120"/>
              </a:rPr>
              <a:t>MISSION CONTROL</a:t>
            </a:r>
            <a:endParaRPr lang="en-US" sz="820" dirty="0"/>
          </a:p>
        </p:txBody>
      </p:sp>
      <p:sp>
        <p:nvSpPr>
          <p:cNvPr id="42" name="Text 40"/>
          <p:cNvSpPr/>
          <p:nvPr/>
        </p:nvSpPr>
        <p:spPr>
          <a:xfrm>
            <a:off x="4663440" y="4297680"/>
            <a:ext cx="3374136" cy="256032"/>
          </a:xfrm>
          <a:prstGeom prst="rect">
            <a:avLst/>
          </a:prstGeom>
          <a:noFill/>
          <a:ln/>
        </p:spPr>
        <p:txBody>
          <a:bodyPr wrap="square" lIns="0" tIns="0" rIns="0" bIns="0" rtlCol="0" anchor="ctr"/>
          <a:lstStyle/>
          <a:p>
            <a:pPr marL="0" indent="0">
              <a:buNone/>
            </a:pPr>
            <a:r>
              <a:rPr lang="en-US" sz="1350" b="1" dirty="0">
                <a:solidFill>
                  <a:srgbClr val="0B2350"/>
                </a:solidFill>
                <a:latin typeface="Cambria" pitchFamily="34" charset="0"/>
                <a:ea typeface="Cambria" pitchFamily="34" charset="-122"/>
                <a:cs typeface="Cambria" pitchFamily="34" charset="-120"/>
              </a:rPr>
              <a:t>Where the truth shows up</a:t>
            </a:r>
            <a:endParaRPr lang="en-US" sz="1350" dirty="0"/>
          </a:p>
        </p:txBody>
      </p:sp>
      <p:sp>
        <p:nvSpPr>
          <p:cNvPr id="43" name="Text 41"/>
          <p:cNvSpPr/>
          <p:nvPr/>
        </p:nvSpPr>
        <p:spPr>
          <a:xfrm>
            <a:off x="4700016" y="4599432"/>
            <a:ext cx="3319272"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Toil reduction · incident reduction · KRI triggers</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One view, three audiences: pod, contract review, program</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Only as honest as the board beneath it</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The exec report is a Mission Control view, not a deck</a:t>
            </a:r>
            <a:endParaRPr lang="en-US" sz="920" dirty="0"/>
          </a:p>
        </p:txBody>
      </p:sp>
      <p:sp>
        <p:nvSpPr>
          <p:cNvPr id="44" name="Shape 42"/>
          <p:cNvSpPr/>
          <p:nvPr/>
        </p:nvSpPr>
        <p:spPr>
          <a:xfrm>
            <a:off x="8430768" y="3968496"/>
            <a:ext cx="3730752" cy="1956816"/>
          </a:xfrm>
          <a:prstGeom prst="rect">
            <a:avLst/>
          </a:prstGeom>
          <a:solidFill>
            <a:srgbClr val="0B2350"/>
          </a:solidFill>
          <a:ln w="7620">
            <a:solidFill>
              <a:srgbClr val="D7DDE5"/>
            </a:solidFill>
            <a:prstDash val="solid"/>
          </a:ln>
        </p:spPr>
        <p:txBody>
          <a:bodyPr/>
          <a:lstStyle/>
          <a:p>
            <a:endParaRPr lang="en-US"/>
          </a:p>
        </p:txBody>
      </p:sp>
      <p:sp>
        <p:nvSpPr>
          <p:cNvPr id="45" name="Text 43"/>
          <p:cNvSpPr/>
          <p:nvPr/>
        </p:nvSpPr>
        <p:spPr>
          <a:xfrm>
            <a:off x="8595360" y="4105656"/>
            <a:ext cx="3401568" cy="164592"/>
          </a:xfrm>
          <a:prstGeom prst="rect">
            <a:avLst/>
          </a:prstGeom>
          <a:noFill/>
          <a:ln/>
        </p:spPr>
        <p:txBody>
          <a:bodyPr wrap="square" lIns="0" tIns="0" rIns="0" bIns="0" rtlCol="0" anchor="ctr"/>
          <a:lstStyle/>
          <a:p>
            <a:pPr marL="0" indent="0">
              <a:buNone/>
            </a:pPr>
            <a:r>
              <a:rPr lang="en-US" sz="820" b="1" kern="0" spc="150" dirty="0">
                <a:solidFill>
                  <a:srgbClr val="FFD200"/>
                </a:solidFill>
                <a:latin typeface="Calibri" pitchFamily="34" charset="0"/>
                <a:ea typeface="Calibri" pitchFamily="34" charset="-122"/>
                <a:cs typeface="Calibri" pitchFamily="34" charset="-120"/>
              </a:rPr>
              <a:t>SIDE-CHANNEL WORK</a:t>
            </a:r>
            <a:endParaRPr lang="en-US" sz="820" dirty="0"/>
          </a:p>
        </p:txBody>
      </p:sp>
      <p:sp>
        <p:nvSpPr>
          <p:cNvPr id="46" name="Text 44"/>
          <p:cNvSpPr/>
          <p:nvPr/>
        </p:nvSpPr>
        <p:spPr>
          <a:xfrm>
            <a:off x="8595360" y="4297680"/>
            <a:ext cx="3401568" cy="256032"/>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The canary</a:t>
            </a:r>
            <a:endParaRPr lang="en-US" sz="1350" dirty="0"/>
          </a:p>
        </p:txBody>
      </p:sp>
      <p:sp>
        <p:nvSpPr>
          <p:cNvPr id="47" name="Text 45"/>
          <p:cNvSpPr/>
          <p:nvPr/>
        </p:nvSpPr>
        <p:spPr>
          <a:xfrm>
            <a:off x="8631936" y="4599432"/>
            <a:ext cx="3346704"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Work that bypassed the front door — we measure it deliberately</a:t>
            </a:r>
            <a:endParaRPr lang="en-US" sz="920" dirty="0"/>
          </a:p>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A Teams DM to a DBA, a hallway ask, a favour</a:t>
            </a:r>
            <a:endParaRPr lang="en-US" sz="920" dirty="0"/>
          </a:p>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Rising side-channel % is the leading indicator that the org is rejecting the model</a:t>
            </a:r>
            <a:endParaRPr lang="en-US" sz="920" dirty="0"/>
          </a:p>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It is the first KRI to fire and the cheapest to act on</a:t>
            </a:r>
            <a:endParaRPr lang="en-US" sz="920" dirty="0"/>
          </a:p>
        </p:txBody>
      </p:sp>
      <p:sp>
        <p:nvSpPr>
          <p:cNvPr id="48" name="Text 46"/>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HOW IT'S GOVERNED</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Pod · contract · program</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Three tiers. No new governance apparatus — the program tier is the RBC Cloud Program that already exists.</a:t>
            </a:r>
            <a:endParaRPr lang="en-US" sz="1200" dirty="0"/>
          </a:p>
        </p:txBody>
      </p:sp>
      <p:sp>
        <p:nvSpPr>
          <p:cNvPr id="5" name="Shape 3"/>
          <p:cNvSpPr/>
          <p:nvPr/>
        </p:nvSpPr>
        <p:spPr>
          <a:xfrm>
            <a:off x="566928" y="1828800"/>
            <a:ext cx="2926080" cy="1188720"/>
          </a:xfrm>
          <a:prstGeom prst="rect">
            <a:avLst/>
          </a:prstGeom>
          <a:solidFill>
            <a:srgbClr val="0B2350"/>
          </a:solidFill>
          <a:ln/>
        </p:spPr>
        <p:txBody>
          <a:bodyPr/>
          <a:lstStyle/>
          <a:p>
            <a:endParaRPr lang="en-US"/>
          </a:p>
        </p:txBody>
      </p:sp>
      <p:sp>
        <p:nvSpPr>
          <p:cNvPr id="6" name="Text 4"/>
          <p:cNvSpPr/>
          <p:nvPr/>
        </p:nvSpPr>
        <p:spPr>
          <a:xfrm>
            <a:off x="731520" y="2084832"/>
            <a:ext cx="2615184"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POD</a:t>
            </a:r>
            <a:endParaRPr lang="en-US" sz="1700" dirty="0"/>
          </a:p>
        </p:txBody>
      </p:sp>
      <p:sp>
        <p:nvSpPr>
          <p:cNvPr id="7" name="Text 5"/>
          <p:cNvSpPr/>
          <p:nvPr/>
        </p:nvSpPr>
        <p:spPr>
          <a:xfrm>
            <a:off x="731520" y="2414016"/>
            <a:ext cx="2615184" cy="182880"/>
          </a:xfrm>
          <a:prstGeom prst="rect">
            <a:avLst/>
          </a:prstGeom>
          <a:noFill/>
          <a:ln/>
        </p:spPr>
        <p:txBody>
          <a:bodyPr wrap="square" lIns="0" tIns="0" rIns="0" bIns="0" rtlCol="0" anchor="ctr"/>
          <a:lstStyle/>
          <a:p>
            <a:pPr marL="0" indent="0">
              <a:buNone/>
            </a:pPr>
            <a:r>
              <a:rPr lang="en-US" sz="900" i="1" dirty="0">
                <a:solidFill>
                  <a:srgbClr val="AEC3E0"/>
                </a:solidFill>
                <a:latin typeface="Calibri" pitchFamily="34" charset="0"/>
                <a:ea typeface="Calibri" pitchFamily="34" charset="-122"/>
                <a:cs typeface="Calibri" pitchFamily="34" charset="-120"/>
              </a:rPr>
              <a:t>Daily → bi-weekly</a:t>
            </a:r>
            <a:endParaRPr lang="en-US" sz="900" dirty="0"/>
          </a:p>
        </p:txBody>
      </p:sp>
      <p:sp>
        <p:nvSpPr>
          <p:cNvPr id="8" name="Text 6"/>
          <p:cNvSpPr/>
          <p:nvPr/>
        </p:nvSpPr>
        <p:spPr>
          <a:xfrm>
            <a:off x="731520" y="2688336"/>
            <a:ext cx="2615184" cy="201168"/>
          </a:xfrm>
          <a:prstGeom prst="rect">
            <a:avLst/>
          </a:prstGeom>
          <a:noFill/>
          <a:ln/>
        </p:spPr>
        <p:txBody>
          <a:bodyPr wrap="square" lIns="0" tIns="0" rIns="0" bIns="0" rtlCol="0" anchor="ctr"/>
          <a:lstStyle/>
          <a:p>
            <a:pPr marL="0" indent="0">
              <a:buNone/>
            </a:pPr>
            <a:r>
              <a:rPr lang="en-US" sz="860" b="1" i="1" dirty="0">
                <a:solidFill>
                  <a:srgbClr val="FFD200"/>
                </a:solidFill>
                <a:latin typeface="Calibri" pitchFamily="34" charset="0"/>
                <a:ea typeface="Calibri" pitchFamily="34" charset="-122"/>
                <a:cs typeface="Calibri" pitchFamily="34" charset="-120"/>
              </a:rPr>
              <a:t>Owns: the work</a:t>
            </a:r>
            <a:endParaRPr lang="en-US" sz="860" dirty="0"/>
          </a:p>
        </p:txBody>
      </p:sp>
      <p:sp>
        <p:nvSpPr>
          <p:cNvPr id="9" name="Shape 7"/>
          <p:cNvSpPr/>
          <p:nvPr/>
        </p:nvSpPr>
        <p:spPr>
          <a:xfrm>
            <a:off x="3621024" y="1828800"/>
            <a:ext cx="8540496" cy="1188720"/>
          </a:xfrm>
          <a:prstGeom prst="rect">
            <a:avLst/>
          </a:prstGeom>
          <a:solidFill>
            <a:srgbClr val="F4F7FB"/>
          </a:solidFill>
          <a:ln w="6350">
            <a:solidFill>
              <a:srgbClr val="D7DDE5"/>
            </a:solidFill>
            <a:prstDash val="solid"/>
          </a:ln>
        </p:spPr>
        <p:txBody>
          <a:bodyPr/>
          <a:lstStyle/>
          <a:p>
            <a:endParaRPr lang="en-US"/>
          </a:p>
        </p:txBody>
      </p:sp>
      <p:sp>
        <p:nvSpPr>
          <p:cNvPr id="10" name="Text 8"/>
          <p:cNvSpPr/>
          <p:nvPr/>
        </p:nvSpPr>
        <p:spPr>
          <a:xfrm>
            <a:off x="3803904" y="1938528"/>
            <a:ext cx="8229600" cy="969264"/>
          </a:xfrm>
          <a:prstGeom prst="rect">
            <a:avLst/>
          </a:prstGeom>
          <a:noFill/>
          <a:ln/>
        </p:spPr>
        <p:txBody>
          <a:bodyPr wrap="square" lIns="0" tIns="0" rIns="0" bIns="0" rtlCol="0" anchor="ctr"/>
          <a:lstStyle/>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Daily standup — 15 min, the board only</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Weekly backlog refinement · weekly ops review — SLOs, incidents, drift</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Bi-weekly planning · demo · retro — the demo is a working catalog request, not slides</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Pod lead owns the roadmap, the outcome, and who burns toil</a:t>
            </a:r>
            <a:endParaRPr lang="en-US" sz="920" dirty="0"/>
          </a:p>
        </p:txBody>
      </p:sp>
      <p:sp>
        <p:nvSpPr>
          <p:cNvPr id="11" name="Text 9"/>
          <p:cNvSpPr/>
          <p:nvPr/>
        </p:nvSpPr>
        <p:spPr>
          <a:xfrm>
            <a:off x="1938528" y="3008376"/>
            <a:ext cx="274320" cy="146304"/>
          </a:xfrm>
          <a:prstGeom prst="rect">
            <a:avLst/>
          </a:prstGeom>
          <a:noFill/>
          <a:ln/>
        </p:spPr>
        <p:txBody>
          <a:bodyPr wrap="square" lIns="0" tIns="0" rIns="0" bIns="0" rtlCol="0" anchor="ctr"/>
          <a:lstStyle/>
          <a:p>
            <a:pPr marL="0" indent="0" algn="ctr">
              <a:buNone/>
            </a:pPr>
            <a:r>
              <a:rPr lang="en-US" sz="1000" dirty="0">
                <a:solidFill>
                  <a:srgbClr val="5C6773"/>
                </a:solidFill>
                <a:latin typeface="Calibri" pitchFamily="34" charset="0"/>
                <a:ea typeface="Calibri" pitchFamily="34" charset="-122"/>
                <a:cs typeface="Calibri" pitchFamily="34" charset="-120"/>
              </a:rPr>
              <a:t>↓</a:t>
            </a:r>
            <a:endParaRPr lang="en-US" sz="1000" dirty="0"/>
          </a:p>
        </p:txBody>
      </p:sp>
      <p:sp>
        <p:nvSpPr>
          <p:cNvPr id="12" name="Shape 10"/>
          <p:cNvSpPr/>
          <p:nvPr/>
        </p:nvSpPr>
        <p:spPr>
          <a:xfrm>
            <a:off x="566928" y="3145536"/>
            <a:ext cx="2926080" cy="1188720"/>
          </a:xfrm>
          <a:prstGeom prst="rect">
            <a:avLst/>
          </a:prstGeom>
          <a:solidFill>
            <a:srgbClr val="005DAA"/>
          </a:solidFill>
          <a:ln/>
        </p:spPr>
        <p:txBody>
          <a:bodyPr/>
          <a:lstStyle/>
          <a:p>
            <a:endParaRPr lang="en-US"/>
          </a:p>
        </p:txBody>
      </p:sp>
      <p:sp>
        <p:nvSpPr>
          <p:cNvPr id="13" name="Text 11"/>
          <p:cNvSpPr/>
          <p:nvPr/>
        </p:nvSpPr>
        <p:spPr>
          <a:xfrm>
            <a:off x="731520" y="3401568"/>
            <a:ext cx="2615184"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CONTRACT</a:t>
            </a:r>
            <a:endParaRPr lang="en-US" sz="1700" dirty="0"/>
          </a:p>
        </p:txBody>
      </p:sp>
      <p:sp>
        <p:nvSpPr>
          <p:cNvPr id="14" name="Text 12"/>
          <p:cNvSpPr/>
          <p:nvPr/>
        </p:nvSpPr>
        <p:spPr>
          <a:xfrm>
            <a:off x="731520" y="3730752"/>
            <a:ext cx="2615184" cy="182880"/>
          </a:xfrm>
          <a:prstGeom prst="rect">
            <a:avLst/>
          </a:prstGeom>
          <a:noFill/>
          <a:ln/>
        </p:spPr>
        <p:txBody>
          <a:bodyPr wrap="square" lIns="0" tIns="0" rIns="0" bIns="0" rtlCol="0" anchor="ctr"/>
          <a:lstStyle/>
          <a:p>
            <a:pPr marL="0" indent="0">
              <a:buNone/>
            </a:pPr>
            <a:r>
              <a:rPr lang="en-US" sz="900" i="1" dirty="0">
                <a:solidFill>
                  <a:srgbClr val="F0F6FF"/>
                </a:solidFill>
                <a:latin typeface="Calibri" pitchFamily="34" charset="0"/>
                <a:ea typeface="Calibri" pitchFamily="34" charset="-122"/>
                <a:cs typeface="Calibri" pitchFamily="34" charset="-120"/>
              </a:rPr>
              <a:t>Monthly</a:t>
            </a:r>
            <a:endParaRPr lang="en-US" sz="900" dirty="0"/>
          </a:p>
        </p:txBody>
      </p:sp>
      <p:sp>
        <p:nvSpPr>
          <p:cNvPr id="15" name="Text 13"/>
          <p:cNvSpPr/>
          <p:nvPr/>
        </p:nvSpPr>
        <p:spPr>
          <a:xfrm>
            <a:off x="731520" y="4005072"/>
            <a:ext cx="2615184" cy="201168"/>
          </a:xfrm>
          <a:prstGeom prst="rect">
            <a:avLst/>
          </a:prstGeom>
          <a:noFill/>
          <a:ln/>
        </p:spPr>
        <p:txBody>
          <a:bodyPr wrap="square" lIns="0" tIns="0" rIns="0" bIns="0" rtlCol="0" anchor="ctr"/>
          <a:lstStyle/>
          <a:p>
            <a:pPr marL="0" indent="0">
              <a:buNone/>
            </a:pPr>
            <a:r>
              <a:rPr lang="en-US" sz="860" b="1" i="1" dirty="0">
                <a:solidFill>
                  <a:srgbClr val="FFD200"/>
                </a:solidFill>
                <a:latin typeface="Calibri" pitchFamily="34" charset="0"/>
                <a:ea typeface="Calibri" pitchFamily="34" charset="-122"/>
                <a:cs typeface="Calibri" pitchFamily="34" charset="-120"/>
              </a:rPr>
              <a:t>Owns: the seams</a:t>
            </a:r>
            <a:endParaRPr lang="en-US" sz="860" dirty="0"/>
          </a:p>
        </p:txBody>
      </p:sp>
      <p:sp>
        <p:nvSpPr>
          <p:cNvPr id="16" name="Shape 14"/>
          <p:cNvSpPr/>
          <p:nvPr/>
        </p:nvSpPr>
        <p:spPr>
          <a:xfrm>
            <a:off x="3621024" y="3145536"/>
            <a:ext cx="8540496" cy="1188720"/>
          </a:xfrm>
          <a:prstGeom prst="rect">
            <a:avLst/>
          </a:prstGeom>
          <a:solidFill>
            <a:srgbClr val="FFFFFF"/>
          </a:solidFill>
          <a:ln w="6350">
            <a:solidFill>
              <a:srgbClr val="D7DDE5"/>
            </a:solidFill>
            <a:prstDash val="solid"/>
          </a:ln>
        </p:spPr>
        <p:txBody>
          <a:bodyPr/>
          <a:lstStyle/>
          <a:p>
            <a:endParaRPr lang="en-US"/>
          </a:p>
        </p:txBody>
      </p:sp>
      <p:sp>
        <p:nvSpPr>
          <p:cNvPr id="17" name="Text 15"/>
          <p:cNvSpPr/>
          <p:nvPr/>
        </p:nvSpPr>
        <p:spPr>
          <a:xfrm>
            <a:off x="3803904" y="3255264"/>
            <a:ext cx="8229600" cy="969264"/>
          </a:xfrm>
          <a:prstGeom prst="rect">
            <a:avLst/>
          </a:prstGeom>
          <a:noFill/>
          <a:ln/>
        </p:spPr>
        <p:txBody>
          <a:bodyPr wrap="square" lIns="0" tIns="0" rIns="0" bIns="0" rtlCol="0" anchor="ctr"/>
          <a:lstStyle/>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Pod ↔ Zephyr / IntOps / Capacity liaisons</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Are the contracts actually delivering?</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Gaps reviewed, prioritized, dated — they live in Zephyr's backlog, not a pod spreadsheet</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The meeting nobody schedules and everybody needs</a:t>
            </a:r>
            <a:endParaRPr lang="en-US" sz="920" dirty="0"/>
          </a:p>
        </p:txBody>
      </p:sp>
      <p:sp>
        <p:nvSpPr>
          <p:cNvPr id="18" name="Text 16"/>
          <p:cNvSpPr/>
          <p:nvPr/>
        </p:nvSpPr>
        <p:spPr>
          <a:xfrm>
            <a:off x="1938528" y="4325112"/>
            <a:ext cx="274320" cy="146304"/>
          </a:xfrm>
          <a:prstGeom prst="rect">
            <a:avLst/>
          </a:prstGeom>
          <a:noFill/>
          <a:ln/>
        </p:spPr>
        <p:txBody>
          <a:bodyPr wrap="square" lIns="0" tIns="0" rIns="0" bIns="0" rtlCol="0" anchor="ctr"/>
          <a:lstStyle/>
          <a:p>
            <a:pPr marL="0" indent="0" algn="ctr">
              <a:buNone/>
            </a:pPr>
            <a:r>
              <a:rPr lang="en-US" sz="1000" dirty="0">
                <a:solidFill>
                  <a:srgbClr val="5C6773"/>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566928" y="4462272"/>
            <a:ext cx="2926080" cy="1188720"/>
          </a:xfrm>
          <a:prstGeom prst="rect">
            <a:avLst/>
          </a:prstGeom>
          <a:solidFill>
            <a:srgbClr val="4C9A2A"/>
          </a:solidFill>
          <a:ln/>
        </p:spPr>
        <p:txBody>
          <a:bodyPr/>
          <a:lstStyle/>
          <a:p>
            <a:endParaRPr lang="en-US"/>
          </a:p>
        </p:txBody>
      </p:sp>
      <p:sp>
        <p:nvSpPr>
          <p:cNvPr id="20" name="Text 18"/>
          <p:cNvSpPr/>
          <p:nvPr/>
        </p:nvSpPr>
        <p:spPr>
          <a:xfrm>
            <a:off x="731520" y="4718304"/>
            <a:ext cx="2615184" cy="29260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RBC CLOUD PROGRAM</a:t>
            </a:r>
            <a:endParaRPr lang="en-US" sz="1300" dirty="0"/>
          </a:p>
        </p:txBody>
      </p:sp>
      <p:sp>
        <p:nvSpPr>
          <p:cNvPr id="21" name="Text 19"/>
          <p:cNvSpPr/>
          <p:nvPr/>
        </p:nvSpPr>
        <p:spPr>
          <a:xfrm>
            <a:off x="731520" y="5047488"/>
            <a:ext cx="2615184" cy="182880"/>
          </a:xfrm>
          <a:prstGeom prst="rect">
            <a:avLst/>
          </a:prstGeom>
          <a:noFill/>
          <a:ln/>
        </p:spPr>
        <p:txBody>
          <a:bodyPr wrap="square" lIns="0" tIns="0" rIns="0" bIns="0" rtlCol="0" anchor="ctr"/>
          <a:lstStyle/>
          <a:p>
            <a:pPr marL="0" indent="0">
              <a:buNone/>
            </a:pPr>
            <a:r>
              <a:rPr lang="en-US" sz="900" i="1" dirty="0">
                <a:solidFill>
                  <a:srgbClr val="F0F6FF"/>
                </a:solidFill>
                <a:latin typeface="Calibri" pitchFamily="34" charset="0"/>
                <a:ea typeface="Calibri" pitchFamily="34" charset="-122"/>
                <a:cs typeface="Calibri" pitchFamily="34" charset="-120"/>
              </a:rPr>
              <a:t>Monthly</a:t>
            </a:r>
            <a:endParaRPr lang="en-US" sz="900" dirty="0"/>
          </a:p>
        </p:txBody>
      </p:sp>
      <p:sp>
        <p:nvSpPr>
          <p:cNvPr id="22" name="Text 20"/>
          <p:cNvSpPr/>
          <p:nvPr/>
        </p:nvSpPr>
        <p:spPr>
          <a:xfrm>
            <a:off x="731520" y="5321808"/>
            <a:ext cx="2615184" cy="201168"/>
          </a:xfrm>
          <a:prstGeom prst="rect">
            <a:avLst/>
          </a:prstGeom>
          <a:noFill/>
          <a:ln/>
        </p:spPr>
        <p:txBody>
          <a:bodyPr wrap="square" lIns="0" tIns="0" rIns="0" bIns="0" rtlCol="0" anchor="ctr"/>
          <a:lstStyle/>
          <a:p>
            <a:pPr marL="0" indent="0">
              <a:buNone/>
            </a:pPr>
            <a:r>
              <a:rPr lang="en-US" sz="860" b="1" i="1" dirty="0">
                <a:solidFill>
                  <a:srgbClr val="FFD200"/>
                </a:solidFill>
                <a:latin typeface="Calibri" pitchFamily="34" charset="0"/>
                <a:ea typeface="Calibri" pitchFamily="34" charset="-122"/>
                <a:cs typeface="Calibri" pitchFamily="34" charset="-120"/>
              </a:rPr>
              <a:t>Owns: the verdict</a:t>
            </a:r>
            <a:endParaRPr lang="en-US" sz="860" dirty="0"/>
          </a:p>
        </p:txBody>
      </p:sp>
      <p:sp>
        <p:nvSpPr>
          <p:cNvPr id="23" name="Shape 21"/>
          <p:cNvSpPr/>
          <p:nvPr/>
        </p:nvSpPr>
        <p:spPr>
          <a:xfrm>
            <a:off x="3621024" y="4462272"/>
            <a:ext cx="8540496" cy="1188720"/>
          </a:xfrm>
          <a:prstGeom prst="rect">
            <a:avLst/>
          </a:prstGeom>
          <a:solidFill>
            <a:srgbClr val="F4F7FB"/>
          </a:solidFill>
          <a:ln w="6350">
            <a:solidFill>
              <a:srgbClr val="D7DDE5"/>
            </a:solidFill>
            <a:prstDash val="solid"/>
          </a:ln>
        </p:spPr>
        <p:txBody>
          <a:bodyPr/>
          <a:lstStyle/>
          <a:p>
            <a:endParaRPr lang="en-US"/>
          </a:p>
        </p:txBody>
      </p:sp>
      <p:sp>
        <p:nvSpPr>
          <p:cNvPr id="24" name="Text 22"/>
          <p:cNvSpPr/>
          <p:nvPr/>
        </p:nvSpPr>
        <p:spPr>
          <a:xfrm>
            <a:off x="3803904" y="4572000"/>
            <a:ext cx="8229600" cy="969264"/>
          </a:xfrm>
          <a:prstGeom prst="rect">
            <a:avLst/>
          </a:prstGeom>
          <a:noFill/>
          <a:ln/>
        </p:spPr>
        <p:txBody>
          <a:bodyPr wrap="square" lIns="0" tIns="0" rIns="0" bIns="0" rtlCol="0" anchor="ctr"/>
          <a:lstStyle/>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Monthly status on the horizontal pod — standing agenda item, own RAG</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KRI escalations land here</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Cross-pod dependencies and gap prioritization</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The 30/60/90 gates and the GO / ADJUST / STOP verdict</a:t>
            </a:r>
            <a:endParaRPr lang="en-US" sz="920" dirty="0"/>
          </a:p>
        </p:txBody>
      </p:sp>
      <p:sp>
        <p:nvSpPr>
          <p:cNvPr id="25" name="Shape 23"/>
          <p:cNvSpPr/>
          <p:nvPr/>
        </p:nvSpPr>
        <p:spPr>
          <a:xfrm>
            <a:off x="566928" y="5815584"/>
            <a:ext cx="5632704" cy="566928"/>
          </a:xfrm>
          <a:prstGeom prst="rect">
            <a:avLst/>
          </a:prstGeom>
          <a:solidFill>
            <a:srgbClr val="EEF2F8"/>
          </a:solidFill>
          <a:ln/>
        </p:spPr>
        <p:txBody>
          <a:bodyPr/>
          <a:lstStyle/>
          <a:p>
            <a:endParaRPr lang="en-US"/>
          </a:p>
        </p:txBody>
      </p:sp>
      <p:sp>
        <p:nvSpPr>
          <p:cNvPr id="26" name="Text 24"/>
          <p:cNvSpPr/>
          <p:nvPr/>
        </p:nvSpPr>
        <p:spPr>
          <a:xfrm>
            <a:off x="731520" y="5952744"/>
            <a:ext cx="5303520" cy="320040"/>
          </a:xfrm>
          <a:prstGeom prst="rect">
            <a:avLst/>
          </a:prstGeom>
          <a:noFill/>
          <a:ln/>
        </p:spPr>
        <p:txBody>
          <a:bodyPr wrap="square" lIns="0" tIns="0" rIns="0" bIns="0" rtlCol="0" anchor="ctr"/>
          <a:lstStyle/>
          <a:p>
            <a:pPr marL="0" indent="0">
              <a:lnSpc>
                <a:spcPts val="1220"/>
              </a:lnSpc>
              <a:buNone/>
            </a:pPr>
            <a:r>
              <a:rPr lang="en-US" sz="940" dirty="0">
                <a:solidFill>
                  <a:srgbClr val="1E252E"/>
                </a:solidFill>
                <a:latin typeface="Calibri" pitchFamily="34" charset="0"/>
                <a:ea typeface="Calibri" pitchFamily="34" charset="-122"/>
                <a:cs typeface="Calibri" pitchFamily="34" charset="-120"/>
              </a:rPr>
              <a:t>One pipe, not three. The monthly program report is the same Mission Control view the pod reads daily. If anyone assembles a program pack by hand, the pod has generated exactly the toil it exists to eliminate.</a:t>
            </a:r>
            <a:endParaRPr lang="en-US" sz="940" dirty="0"/>
          </a:p>
        </p:txBody>
      </p:sp>
      <p:sp>
        <p:nvSpPr>
          <p:cNvPr id="27" name="Shape 25"/>
          <p:cNvSpPr/>
          <p:nvPr/>
        </p:nvSpPr>
        <p:spPr>
          <a:xfrm>
            <a:off x="6528816" y="5815584"/>
            <a:ext cx="5632704" cy="566928"/>
          </a:xfrm>
          <a:prstGeom prst="rect">
            <a:avLst/>
          </a:prstGeom>
          <a:solidFill>
            <a:srgbClr val="0B2350"/>
          </a:solidFill>
          <a:ln/>
        </p:spPr>
        <p:txBody>
          <a:bodyPr/>
          <a:lstStyle/>
          <a:p>
            <a:endParaRPr lang="en-US"/>
          </a:p>
        </p:txBody>
      </p:sp>
      <p:sp>
        <p:nvSpPr>
          <p:cNvPr id="28" name="Text 26"/>
          <p:cNvSpPr/>
          <p:nvPr/>
        </p:nvSpPr>
        <p:spPr>
          <a:xfrm>
            <a:off x="6693408" y="5952744"/>
            <a:ext cx="5303520" cy="320040"/>
          </a:xfrm>
          <a:prstGeom prst="rect">
            <a:avLst/>
          </a:prstGeom>
          <a:noFill/>
          <a:ln/>
        </p:spPr>
        <p:txBody>
          <a:bodyPr wrap="square" lIns="0" tIns="0" rIns="0" bIns="0" rtlCol="0" anchor="ctr"/>
          <a:lstStyle/>
          <a:p>
            <a:pPr marL="0" indent="0">
              <a:lnSpc>
                <a:spcPts val="1220"/>
              </a:lnSpc>
              <a:buNone/>
            </a:pPr>
            <a:r>
              <a:rPr lang="en-US" sz="940" dirty="0">
                <a:solidFill>
                  <a:srgbClr val="E8EFF9"/>
                </a:solidFill>
                <a:latin typeface="Calibri" pitchFamily="34" charset="0"/>
                <a:ea typeface="Calibri" pitchFamily="34" charset="-122"/>
                <a:cs typeface="Calibri" pitchFamily="34" charset="-120"/>
              </a:rPr>
              <a:t>The pod doesn't own the verdict. A pod grading its own pilot is worthless — the verdict sits with program governance, against criteria agreed on day 0.</a:t>
            </a:r>
            <a:endParaRPr lang="en-US" sz="940" dirty="0"/>
          </a:p>
        </p:txBody>
      </p:sp>
      <p:sp>
        <p:nvSpPr>
          <p:cNvPr id="29" name="Text 27"/>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EXPECTED OUTCOME  ·  KPIS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What good looks like</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The rule: if it can't be pulled automatically from Jira, Git, the registry, Mission Control or telemetry — it isn't on the list. Hand-collected metrics die in week three.</a:t>
            </a:r>
            <a:endParaRPr lang="en-US" sz="1200" dirty="0"/>
          </a:p>
        </p:txBody>
      </p:sp>
      <p:sp>
        <p:nvSpPr>
          <p:cNvPr id="5" name="Shape 3"/>
          <p:cNvSpPr/>
          <p:nvPr/>
        </p:nvSpPr>
        <p:spPr>
          <a:xfrm>
            <a:off x="566928" y="1792224"/>
            <a:ext cx="11027664" cy="475488"/>
          </a:xfrm>
          <a:prstGeom prst="rect">
            <a:avLst/>
          </a:prstGeom>
          <a:solidFill>
            <a:srgbClr val="FFD200"/>
          </a:solidFill>
          <a:ln/>
        </p:spPr>
        <p:txBody>
          <a:bodyPr/>
          <a:lstStyle/>
          <a:p>
            <a:endParaRPr lang="en-US"/>
          </a:p>
        </p:txBody>
      </p:sp>
      <p:sp>
        <p:nvSpPr>
          <p:cNvPr id="6" name="Text 4"/>
          <p:cNvSpPr/>
          <p:nvPr/>
        </p:nvSpPr>
        <p:spPr>
          <a:xfrm>
            <a:off x="768096" y="1883664"/>
            <a:ext cx="1463040" cy="182880"/>
          </a:xfrm>
          <a:prstGeom prst="rect">
            <a:avLst/>
          </a:prstGeom>
          <a:noFill/>
          <a:ln/>
        </p:spPr>
        <p:txBody>
          <a:bodyPr wrap="square" lIns="0" tIns="0" rIns="0" bIns="0" rtlCol="0" anchor="ctr"/>
          <a:lstStyle/>
          <a:p>
            <a:pPr marL="0" indent="0">
              <a:buNone/>
            </a:pPr>
            <a:r>
              <a:rPr lang="en-US" sz="800" b="1" kern="0" spc="160" dirty="0">
                <a:solidFill>
                  <a:srgbClr val="0B2350"/>
                </a:solidFill>
                <a:latin typeface="Calibri" pitchFamily="34" charset="0"/>
                <a:ea typeface="Calibri" pitchFamily="34" charset="-122"/>
                <a:cs typeface="Calibri" pitchFamily="34" charset="-120"/>
              </a:rPr>
              <a:t>NORTH STAR</a:t>
            </a:r>
            <a:endParaRPr lang="en-US" sz="800" dirty="0"/>
          </a:p>
        </p:txBody>
      </p:sp>
      <p:sp>
        <p:nvSpPr>
          <p:cNvPr id="7" name="Text 5"/>
          <p:cNvSpPr/>
          <p:nvPr/>
        </p:nvSpPr>
        <p:spPr>
          <a:xfrm>
            <a:off x="2304288" y="1865376"/>
            <a:ext cx="9052560" cy="274320"/>
          </a:xfrm>
          <a:prstGeom prst="rect">
            <a:avLst/>
          </a:prstGeom>
          <a:noFill/>
          <a:ln/>
        </p:spPr>
        <p:txBody>
          <a:bodyPr wrap="square" lIns="0" tIns="0" rIns="0" bIns="0" rtlCol="0" anchor="ctr"/>
          <a:lstStyle/>
          <a:p>
            <a:pPr marL="0" indent="0">
              <a:buNone/>
            </a:pPr>
            <a:r>
              <a:rPr lang="en-US" sz="1350" b="1" dirty="0">
                <a:solidFill>
                  <a:srgbClr val="0B2350"/>
                </a:solidFill>
                <a:latin typeface="Cambria" pitchFamily="34" charset="0"/>
                <a:ea typeface="Cambria" pitchFamily="34" charset="-122"/>
                <a:cs typeface="Cambria" pitchFamily="34" charset="-120"/>
              </a:rPr>
              <a:t>Toil %  —  the share of pod capacity spent on manual, repetitive, automatable, reactive work</a:t>
            </a:r>
            <a:endParaRPr lang="en-US" sz="1350" dirty="0"/>
          </a:p>
        </p:txBody>
      </p:sp>
      <p:sp>
        <p:nvSpPr>
          <p:cNvPr id="8" name="Shape 6"/>
          <p:cNvSpPr/>
          <p:nvPr/>
        </p:nvSpPr>
        <p:spPr>
          <a:xfrm>
            <a:off x="566928" y="2414016"/>
            <a:ext cx="11027664" cy="365760"/>
          </a:xfrm>
          <a:prstGeom prst="rect">
            <a:avLst/>
          </a:prstGeom>
          <a:solidFill>
            <a:srgbClr val="0B2350"/>
          </a:solidFill>
          <a:ln/>
        </p:spPr>
        <p:txBody>
          <a:bodyPr/>
          <a:lstStyle/>
          <a:p>
            <a:endParaRPr lang="en-US"/>
          </a:p>
        </p:txBody>
      </p:sp>
      <p:sp>
        <p:nvSpPr>
          <p:cNvPr id="9" name="Text 7"/>
          <p:cNvSpPr/>
          <p:nvPr/>
        </p:nvSpPr>
        <p:spPr>
          <a:xfrm>
            <a:off x="676656" y="2505456"/>
            <a:ext cx="4754880"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KPI</a:t>
            </a:r>
            <a:endParaRPr lang="en-US" sz="800" dirty="0"/>
          </a:p>
        </p:txBody>
      </p:sp>
      <p:sp>
        <p:nvSpPr>
          <p:cNvPr id="10" name="Text 8"/>
          <p:cNvSpPr/>
          <p:nvPr/>
        </p:nvSpPr>
        <p:spPr>
          <a:xfrm>
            <a:off x="5614416" y="2505456"/>
            <a:ext cx="2560320"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POOL</a:t>
            </a:r>
            <a:endParaRPr lang="en-US" sz="800" dirty="0"/>
          </a:p>
        </p:txBody>
      </p:sp>
      <p:sp>
        <p:nvSpPr>
          <p:cNvPr id="11" name="Text 9"/>
          <p:cNvSpPr/>
          <p:nvPr/>
        </p:nvSpPr>
        <p:spPr>
          <a:xfrm>
            <a:off x="8357616" y="2505456"/>
            <a:ext cx="3163824"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SOURCE</a:t>
            </a:r>
            <a:endParaRPr lang="en-US" sz="800" dirty="0"/>
          </a:p>
        </p:txBody>
      </p:sp>
      <p:sp>
        <p:nvSpPr>
          <p:cNvPr id="12" name="Shape 10"/>
          <p:cNvSpPr/>
          <p:nvPr/>
        </p:nvSpPr>
        <p:spPr>
          <a:xfrm>
            <a:off x="566928" y="2798064"/>
            <a:ext cx="11027664" cy="329184"/>
          </a:xfrm>
          <a:prstGeom prst="rect">
            <a:avLst/>
          </a:prstGeom>
          <a:solidFill>
            <a:srgbClr val="F4F7FB"/>
          </a:solidFill>
          <a:ln w="5080">
            <a:solidFill>
              <a:srgbClr val="D7DDE5"/>
            </a:solidFill>
            <a:prstDash val="solid"/>
          </a:ln>
        </p:spPr>
        <p:txBody>
          <a:bodyPr/>
          <a:lstStyle/>
          <a:p>
            <a:endParaRPr lang="en-US"/>
          </a:p>
        </p:txBody>
      </p:sp>
      <p:sp>
        <p:nvSpPr>
          <p:cNvPr id="13" name="Text 11"/>
          <p:cNvSpPr/>
          <p:nvPr/>
        </p:nvSpPr>
        <p:spPr>
          <a:xfrm>
            <a:off x="676656" y="286207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 estate migrated · % codified — the multiplier on every other number</a:t>
            </a:r>
            <a:endParaRPr lang="en-US" sz="880" dirty="0"/>
          </a:p>
        </p:txBody>
      </p:sp>
      <p:sp>
        <p:nvSpPr>
          <p:cNvPr id="14" name="Text 12"/>
          <p:cNvSpPr/>
          <p:nvPr/>
        </p:nvSpPr>
        <p:spPr>
          <a:xfrm>
            <a:off x="5614416" y="286207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Coverage</a:t>
            </a:r>
            <a:endParaRPr lang="en-US" sz="880" dirty="0"/>
          </a:p>
        </p:txBody>
      </p:sp>
      <p:sp>
        <p:nvSpPr>
          <p:cNvPr id="15" name="Text 13"/>
          <p:cNvSpPr/>
          <p:nvPr/>
        </p:nvSpPr>
        <p:spPr>
          <a:xfrm>
            <a:off x="8357616" y="286207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Mission Control · registry</a:t>
            </a:r>
            <a:endParaRPr lang="en-US" sz="880" dirty="0"/>
          </a:p>
        </p:txBody>
      </p:sp>
      <p:sp>
        <p:nvSpPr>
          <p:cNvPr id="16" name="Shape 14"/>
          <p:cNvSpPr/>
          <p:nvPr/>
        </p:nvSpPr>
        <p:spPr>
          <a:xfrm>
            <a:off x="566928" y="3163824"/>
            <a:ext cx="11027664" cy="329184"/>
          </a:xfrm>
          <a:prstGeom prst="rect">
            <a:avLst/>
          </a:prstGeom>
          <a:solidFill>
            <a:srgbClr val="FFFFFF"/>
          </a:solidFill>
          <a:ln w="5080">
            <a:solidFill>
              <a:srgbClr val="D7DDE5"/>
            </a:solidFill>
            <a:prstDash val="solid"/>
          </a:ln>
        </p:spPr>
        <p:txBody>
          <a:bodyPr/>
          <a:lstStyle/>
          <a:p>
            <a:endParaRPr lang="en-US"/>
          </a:p>
        </p:txBody>
      </p:sp>
      <p:sp>
        <p:nvSpPr>
          <p:cNvPr id="17" name="Text 15"/>
          <p:cNvSpPr/>
          <p:nvPr/>
        </p:nvSpPr>
        <p:spPr>
          <a:xfrm>
            <a:off x="676656" y="322783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Provisioning lead time · self-service rate</a:t>
            </a:r>
            <a:endParaRPr lang="en-US" sz="880" dirty="0"/>
          </a:p>
        </p:txBody>
      </p:sp>
      <p:sp>
        <p:nvSpPr>
          <p:cNvPr id="18" name="Text 16"/>
          <p:cNvSpPr/>
          <p:nvPr/>
        </p:nvSpPr>
        <p:spPr>
          <a:xfrm>
            <a:off x="5614416" y="322783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Operations</a:t>
            </a:r>
            <a:endParaRPr lang="en-US" sz="880" dirty="0"/>
          </a:p>
        </p:txBody>
      </p:sp>
      <p:sp>
        <p:nvSpPr>
          <p:cNvPr id="19" name="Text 17"/>
          <p:cNvSpPr/>
          <p:nvPr/>
        </p:nvSpPr>
        <p:spPr>
          <a:xfrm>
            <a:off x="8357616" y="322783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 Jira</a:t>
            </a:r>
            <a:endParaRPr lang="en-US" sz="880" dirty="0"/>
          </a:p>
        </p:txBody>
      </p:sp>
      <p:sp>
        <p:nvSpPr>
          <p:cNvPr id="20" name="Shape 18"/>
          <p:cNvSpPr/>
          <p:nvPr/>
        </p:nvSpPr>
        <p:spPr>
          <a:xfrm>
            <a:off x="566928" y="3529584"/>
            <a:ext cx="11027664" cy="329184"/>
          </a:xfrm>
          <a:prstGeom prst="rect">
            <a:avLst/>
          </a:prstGeom>
          <a:solidFill>
            <a:srgbClr val="F4F7FB"/>
          </a:solidFill>
          <a:ln w="5080">
            <a:solidFill>
              <a:srgbClr val="D7DDE5"/>
            </a:solidFill>
            <a:prstDash val="solid"/>
          </a:ln>
        </p:spPr>
        <p:txBody>
          <a:bodyPr/>
          <a:lstStyle/>
          <a:p>
            <a:endParaRPr lang="en-US"/>
          </a:p>
        </p:txBody>
      </p:sp>
      <p:sp>
        <p:nvSpPr>
          <p:cNvPr id="21" name="Text 19"/>
          <p:cNvSpPr/>
          <p:nvPr/>
        </p:nvSpPr>
        <p:spPr>
          <a:xfrm>
            <a:off x="676656" y="359359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Patch cycle time · SLA compliance</a:t>
            </a:r>
            <a:endParaRPr lang="en-US" sz="880" dirty="0"/>
          </a:p>
        </p:txBody>
      </p:sp>
      <p:sp>
        <p:nvSpPr>
          <p:cNvPr id="22" name="Text 20"/>
          <p:cNvSpPr/>
          <p:nvPr/>
        </p:nvSpPr>
        <p:spPr>
          <a:xfrm>
            <a:off x="5614416" y="359359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Operations</a:t>
            </a:r>
            <a:endParaRPr lang="en-US" sz="880" dirty="0"/>
          </a:p>
        </p:txBody>
      </p:sp>
      <p:sp>
        <p:nvSpPr>
          <p:cNvPr id="23" name="Text 21"/>
          <p:cNvSpPr/>
          <p:nvPr/>
        </p:nvSpPr>
        <p:spPr>
          <a:xfrm>
            <a:off x="8357616" y="359359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Assurance</a:t>
            </a:r>
            <a:endParaRPr lang="en-US" sz="880" dirty="0"/>
          </a:p>
        </p:txBody>
      </p:sp>
      <p:sp>
        <p:nvSpPr>
          <p:cNvPr id="24" name="Shape 22"/>
          <p:cNvSpPr/>
          <p:nvPr/>
        </p:nvSpPr>
        <p:spPr>
          <a:xfrm>
            <a:off x="566928" y="3895344"/>
            <a:ext cx="11027664" cy="329184"/>
          </a:xfrm>
          <a:prstGeom prst="rect">
            <a:avLst/>
          </a:prstGeom>
          <a:solidFill>
            <a:srgbClr val="FFFFFF"/>
          </a:solidFill>
          <a:ln w="5080">
            <a:solidFill>
              <a:srgbClr val="D7DDE5"/>
            </a:solidFill>
            <a:prstDash val="solid"/>
          </a:ln>
        </p:spPr>
        <p:txBody>
          <a:bodyPr/>
          <a:lstStyle/>
          <a:p>
            <a:endParaRPr lang="en-US"/>
          </a:p>
        </p:txBody>
      </p:sp>
      <p:sp>
        <p:nvSpPr>
          <p:cNvPr id="25" name="Text 23"/>
          <p:cNvSpPr/>
          <p:nvPr/>
        </p:nvSpPr>
        <p:spPr>
          <a:xfrm>
            <a:off x="676656" y="395935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Golden module reuse — provisions through it, not modules published</a:t>
            </a:r>
            <a:endParaRPr lang="en-US" sz="880" dirty="0"/>
          </a:p>
        </p:txBody>
      </p:sp>
      <p:sp>
        <p:nvSpPr>
          <p:cNvPr id="26" name="Text 24"/>
          <p:cNvSpPr/>
          <p:nvPr/>
        </p:nvSpPr>
        <p:spPr>
          <a:xfrm>
            <a:off x="5614416" y="395935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Operations</a:t>
            </a:r>
            <a:endParaRPr lang="en-US" sz="880" dirty="0"/>
          </a:p>
        </p:txBody>
      </p:sp>
      <p:sp>
        <p:nvSpPr>
          <p:cNvPr id="27" name="Text 25"/>
          <p:cNvSpPr/>
          <p:nvPr/>
        </p:nvSpPr>
        <p:spPr>
          <a:xfrm>
            <a:off x="8357616" y="395935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registry</a:t>
            </a:r>
            <a:endParaRPr lang="en-US" sz="880" dirty="0"/>
          </a:p>
        </p:txBody>
      </p:sp>
      <p:sp>
        <p:nvSpPr>
          <p:cNvPr id="28" name="Shape 26"/>
          <p:cNvSpPr/>
          <p:nvPr/>
        </p:nvSpPr>
        <p:spPr>
          <a:xfrm>
            <a:off x="566928" y="4261104"/>
            <a:ext cx="11027664" cy="329184"/>
          </a:xfrm>
          <a:prstGeom prst="rect">
            <a:avLst/>
          </a:prstGeom>
          <a:solidFill>
            <a:srgbClr val="F4F7FB"/>
          </a:solidFill>
          <a:ln w="5080">
            <a:solidFill>
              <a:srgbClr val="D7DDE5"/>
            </a:solidFill>
            <a:prstDash val="solid"/>
          </a:ln>
        </p:spPr>
        <p:txBody>
          <a:bodyPr/>
          <a:lstStyle/>
          <a:p>
            <a:endParaRPr lang="en-US"/>
          </a:p>
        </p:txBody>
      </p:sp>
      <p:sp>
        <p:nvSpPr>
          <p:cNvPr id="29" name="Text 27"/>
          <p:cNvSpPr/>
          <p:nvPr/>
        </p:nvSpPr>
        <p:spPr>
          <a:xfrm>
            <a:off x="676656" y="432511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Evidence person-hours per audit cycle</a:t>
            </a:r>
            <a:endParaRPr lang="en-US" sz="880" dirty="0"/>
          </a:p>
        </p:txBody>
      </p:sp>
      <p:sp>
        <p:nvSpPr>
          <p:cNvPr id="30" name="Text 28"/>
          <p:cNvSpPr/>
          <p:nvPr/>
        </p:nvSpPr>
        <p:spPr>
          <a:xfrm>
            <a:off x="5614416" y="432511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Compliance</a:t>
            </a:r>
            <a:endParaRPr lang="en-US" sz="880" dirty="0"/>
          </a:p>
        </p:txBody>
      </p:sp>
      <p:sp>
        <p:nvSpPr>
          <p:cNvPr id="31" name="Text 29"/>
          <p:cNvSpPr/>
          <p:nvPr/>
        </p:nvSpPr>
        <p:spPr>
          <a:xfrm>
            <a:off x="8357616" y="432511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Tigers + Jira</a:t>
            </a:r>
            <a:endParaRPr lang="en-US" sz="880" dirty="0"/>
          </a:p>
        </p:txBody>
      </p:sp>
      <p:sp>
        <p:nvSpPr>
          <p:cNvPr id="32" name="Shape 30"/>
          <p:cNvSpPr/>
          <p:nvPr/>
        </p:nvSpPr>
        <p:spPr>
          <a:xfrm>
            <a:off x="566928" y="4626864"/>
            <a:ext cx="11027664" cy="329184"/>
          </a:xfrm>
          <a:prstGeom prst="rect">
            <a:avLst/>
          </a:prstGeom>
          <a:solidFill>
            <a:srgbClr val="FFFFFF"/>
          </a:solidFill>
          <a:ln w="5080">
            <a:solidFill>
              <a:srgbClr val="D7DDE5"/>
            </a:solidFill>
            <a:prstDash val="solid"/>
          </a:ln>
        </p:spPr>
        <p:txBody>
          <a:bodyPr/>
          <a:lstStyle/>
          <a:p>
            <a:endParaRPr lang="en-US"/>
          </a:p>
        </p:txBody>
      </p:sp>
      <p:sp>
        <p:nvSpPr>
          <p:cNvPr id="33" name="Text 31"/>
          <p:cNvSpPr/>
          <p:nvPr/>
        </p:nvSpPr>
        <p:spPr>
          <a:xfrm>
            <a:off x="676656" y="469087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Evidence auto-assembly % · drift remediation time</a:t>
            </a:r>
            <a:endParaRPr lang="en-US" sz="880" dirty="0"/>
          </a:p>
        </p:txBody>
      </p:sp>
      <p:sp>
        <p:nvSpPr>
          <p:cNvPr id="34" name="Text 32"/>
          <p:cNvSpPr/>
          <p:nvPr/>
        </p:nvSpPr>
        <p:spPr>
          <a:xfrm>
            <a:off x="5614416" y="469087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Compliance</a:t>
            </a:r>
            <a:endParaRPr lang="en-US" sz="880" dirty="0"/>
          </a:p>
        </p:txBody>
      </p:sp>
      <p:sp>
        <p:nvSpPr>
          <p:cNvPr id="35" name="Text 33"/>
          <p:cNvSpPr/>
          <p:nvPr/>
        </p:nvSpPr>
        <p:spPr>
          <a:xfrm>
            <a:off x="8357616" y="469087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Assurance</a:t>
            </a:r>
            <a:endParaRPr lang="en-US" sz="880" dirty="0"/>
          </a:p>
        </p:txBody>
      </p:sp>
      <p:sp>
        <p:nvSpPr>
          <p:cNvPr id="36" name="Shape 34"/>
          <p:cNvSpPr/>
          <p:nvPr/>
        </p:nvSpPr>
        <p:spPr>
          <a:xfrm>
            <a:off x="566928" y="4992624"/>
            <a:ext cx="11027664" cy="329184"/>
          </a:xfrm>
          <a:prstGeom prst="rect">
            <a:avLst/>
          </a:prstGeom>
          <a:solidFill>
            <a:srgbClr val="F4F7FB"/>
          </a:solidFill>
          <a:ln w="5080">
            <a:solidFill>
              <a:srgbClr val="D7DDE5"/>
            </a:solidFill>
            <a:prstDash val="solid"/>
          </a:ln>
        </p:spPr>
        <p:txBody>
          <a:bodyPr/>
          <a:lstStyle/>
          <a:p>
            <a:endParaRPr lang="en-US"/>
          </a:p>
        </p:txBody>
      </p:sp>
      <p:sp>
        <p:nvSpPr>
          <p:cNvPr id="37" name="Text 35"/>
          <p:cNvSpPr/>
          <p:nvPr/>
        </p:nvSpPr>
        <p:spPr>
          <a:xfrm>
            <a:off x="676656" y="505663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Alert-to-incident ratio · incidents · MTTR · repeat-incident %</a:t>
            </a:r>
            <a:endParaRPr lang="en-US" sz="880" dirty="0"/>
          </a:p>
        </p:txBody>
      </p:sp>
      <p:sp>
        <p:nvSpPr>
          <p:cNvPr id="38" name="Text 36"/>
          <p:cNvSpPr/>
          <p:nvPr/>
        </p:nvSpPr>
        <p:spPr>
          <a:xfrm>
            <a:off x="5614416" y="505663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Incidents</a:t>
            </a:r>
            <a:endParaRPr lang="en-US" sz="880" dirty="0"/>
          </a:p>
        </p:txBody>
      </p:sp>
      <p:sp>
        <p:nvSpPr>
          <p:cNvPr id="39" name="Text 37"/>
          <p:cNvSpPr/>
          <p:nvPr/>
        </p:nvSpPr>
        <p:spPr>
          <a:xfrm>
            <a:off x="8357616" y="505663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IntOps</a:t>
            </a:r>
            <a:endParaRPr lang="en-US" sz="880" dirty="0"/>
          </a:p>
        </p:txBody>
      </p:sp>
      <p:sp>
        <p:nvSpPr>
          <p:cNvPr id="40" name="Shape 38"/>
          <p:cNvSpPr/>
          <p:nvPr/>
        </p:nvSpPr>
        <p:spPr>
          <a:xfrm>
            <a:off x="566928" y="5358384"/>
            <a:ext cx="11027664" cy="329184"/>
          </a:xfrm>
          <a:prstGeom prst="rect">
            <a:avLst/>
          </a:prstGeom>
          <a:solidFill>
            <a:srgbClr val="FFFFFF"/>
          </a:solidFill>
          <a:ln w="5080">
            <a:solidFill>
              <a:srgbClr val="D7DDE5"/>
            </a:solidFill>
            <a:prstDash val="solid"/>
          </a:ln>
        </p:spPr>
        <p:txBody>
          <a:bodyPr/>
          <a:lstStyle/>
          <a:p>
            <a:endParaRPr lang="en-US"/>
          </a:p>
        </p:txBody>
      </p:sp>
      <p:sp>
        <p:nvSpPr>
          <p:cNvPr id="41" name="Text 39"/>
          <p:cNvSpPr/>
          <p:nvPr/>
        </p:nvSpPr>
        <p:spPr>
          <a:xfrm>
            <a:off x="676656" y="542239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Agent PRs proposed / approved / rejected</a:t>
            </a:r>
            <a:endParaRPr lang="en-US" sz="880" dirty="0"/>
          </a:p>
        </p:txBody>
      </p:sp>
      <p:sp>
        <p:nvSpPr>
          <p:cNvPr id="42" name="Text 40"/>
          <p:cNvSpPr/>
          <p:nvPr/>
        </p:nvSpPr>
        <p:spPr>
          <a:xfrm>
            <a:off x="5614416" y="542239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Agentic leverage</a:t>
            </a:r>
            <a:endParaRPr lang="en-US" sz="880" dirty="0"/>
          </a:p>
        </p:txBody>
      </p:sp>
      <p:sp>
        <p:nvSpPr>
          <p:cNvPr id="43" name="Text 41"/>
          <p:cNvSpPr/>
          <p:nvPr/>
        </p:nvSpPr>
        <p:spPr>
          <a:xfrm>
            <a:off x="8357616" y="542239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GitHub</a:t>
            </a:r>
            <a:endParaRPr lang="en-US" sz="880" dirty="0"/>
          </a:p>
        </p:txBody>
      </p:sp>
      <p:sp>
        <p:nvSpPr>
          <p:cNvPr id="44" name="Shape 42"/>
          <p:cNvSpPr/>
          <p:nvPr/>
        </p:nvSpPr>
        <p:spPr>
          <a:xfrm>
            <a:off x="566928" y="5724144"/>
            <a:ext cx="11027664" cy="329184"/>
          </a:xfrm>
          <a:prstGeom prst="rect">
            <a:avLst/>
          </a:prstGeom>
          <a:solidFill>
            <a:srgbClr val="F4F7FB"/>
          </a:solidFill>
          <a:ln w="5080">
            <a:solidFill>
              <a:srgbClr val="D7DDE5"/>
            </a:solidFill>
            <a:prstDash val="solid"/>
          </a:ln>
        </p:spPr>
        <p:txBody>
          <a:bodyPr/>
          <a:lstStyle/>
          <a:p>
            <a:endParaRPr lang="en-US"/>
          </a:p>
        </p:txBody>
      </p:sp>
      <p:sp>
        <p:nvSpPr>
          <p:cNvPr id="45" name="Text 43"/>
          <p:cNvSpPr/>
          <p:nvPr/>
        </p:nvSpPr>
        <p:spPr>
          <a:xfrm>
            <a:off x="676656" y="578815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 work through the front door · Zephyr pull-ins per week</a:t>
            </a:r>
            <a:endParaRPr lang="en-US" sz="880" dirty="0"/>
          </a:p>
        </p:txBody>
      </p:sp>
      <p:sp>
        <p:nvSpPr>
          <p:cNvPr id="46" name="Text 44"/>
          <p:cNvSpPr/>
          <p:nvPr/>
        </p:nvSpPr>
        <p:spPr>
          <a:xfrm>
            <a:off x="5614416" y="578815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Model health</a:t>
            </a:r>
            <a:endParaRPr lang="en-US" sz="880" dirty="0"/>
          </a:p>
        </p:txBody>
      </p:sp>
      <p:sp>
        <p:nvSpPr>
          <p:cNvPr id="47" name="Text 45"/>
          <p:cNvSpPr/>
          <p:nvPr/>
        </p:nvSpPr>
        <p:spPr>
          <a:xfrm>
            <a:off x="8357616" y="578815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Jira · pod board</a:t>
            </a:r>
            <a:endParaRPr lang="en-US" sz="880" dirty="0"/>
          </a:p>
        </p:txBody>
      </p:sp>
      <p:sp>
        <p:nvSpPr>
          <p:cNvPr id="48" name="Shape 46"/>
          <p:cNvSpPr/>
          <p:nvPr/>
        </p:nvSpPr>
        <p:spPr>
          <a:xfrm>
            <a:off x="566928" y="5742432"/>
            <a:ext cx="11027664" cy="457200"/>
          </a:xfrm>
          <a:prstGeom prst="rect">
            <a:avLst/>
          </a:prstGeom>
          <a:solidFill>
            <a:srgbClr val="EEF2F8"/>
          </a:solidFill>
          <a:ln/>
        </p:spPr>
        <p:txBody>
          <a:bodyPr/>
          <a:lstStyle/>
          <a:p>
            <a:endParaRPr lang="en-US"/>
          </a:p>
        </p:txBody>
      </p:sp>
      <p:sp>
        <p:nvSpPr>
          <p:cNvPr id="49" name="Text 47"/>
          <p:cNvSpPr/>
          <p:nvPr/>
        </p:nvSpPr>
        <p:spPr>
          <a:xfrm>
            <a:off x="768096" y="5870448"/>
            <a:ext cx="10625328" cy="237744"/>
          </a:xfrm>
          <a:prstGeom prst="rect">
            <a:avLst/>
          </a:prstGeom>
          <a:noFill/>
          <a:ln/>
        </p:spPr>
        <p:txBody>
          <a:bodyPr wrap="square" lIns="0" tIns="0" rIns="0" bIns="0" rtlCol="0" anchor="ctr"/>
          <a:lstStyle/>
          <a:p>
            <a:pPr marL="0" indent="0">
              <a:lnSpc>
                <a:spcPts val="1450"/>
              </a:lnSpc>
              <a:buNone/>
            </a:pPr>
            <a:r>
              <a:rPr lang="en-US" sz="1000" b="1" dirty="0">
                <a:solidFill>
                  <a:srgbClr val="0B2350"/>
                </a:solidFill>
                <a:latin typeface="Calibri" pitchFamily="34" charset="0"/>
                <a:ea typeface="Calibri" pitchFamily="34" charset="-122"/>
                <a:cs typeface="Calibri" pitchFamily="34" charset="-120"/>
              </a:rPr>
              <a:t>Consumption, not production. </a:t>
            </a:r>
            <a:r>
              <a:rPr lang="en-US" sz="1000" dirty="0">
                <a:solidFill>
                  <a:srgbClr val="1E252E"/>
                </a:solidFill>
                <a:latin typeface="Calibri" pitchFamily="34" charset="0"/>
                <a:ea typeface="Calibri" pitchFamily="34" charset="-122"/>
                <a:cs typeface="Calibri" pitchFamily="34" charset="-120"/>
              </a:rPr>
              <a:t>"Modules published" is vanity — it measures our effort. "Provisions through the module" is real — it measures whether anyone consumed what we built. The model's whole claim is that things get consumed, not built twice.</a:t>
            </a:r>
            <a:endParaRPr lang="en-US" sz="1000" dirty="0"/>
          </a:p>
        </p:txBody>
      </p:sp>
      <p:sp>
        <p:nvSpPr>
          <p:cNvPr id="50" name="Text 48"/>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061733"/>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FFD200"/>
          </a:solidFill>
          <a:ln/>
        </p:spPr>
        <p:txBody>
          <a:bodyPr/>
          <a:lstStyle/>
          <a:p>
            <a:endParaRPr lang="en-US"/>
          </a:p>
        </p:txBody>
      </p:sp>
      <p:sp>
        <p:nvSpPr>
          <p:cNvPr id="3" name="Text 1"/>
          <p:cNvSpPr/>
          <p:nvPr/>
        </p:nvSpPr>
        <p:spPr>
          <a:xfrm>
            <a:off x="566928" y="1463040"/>
            <a:ext cx="9144000" cy="274320"/>
          </a:xfrm>
          <a:prstGeom prst="rect">
            <a:avLst/>
          </a:prstGeom>
          <a:noFill/>
          <a:ln/>
        </p:spPr>
        <p:txBody>
          <a:bodyPr wrap="square" lIns="0" tIns="0" rIns="0" bIns="0" rtlCol="0" anchor="ctr"/>
          <a:lstStyle/>
          <a:p>
            <a:pPr marL="0" indent="0">
              <a:buNone/>
            </a:pPr>
            <a:r>
              <a:rPr lang="en-US" sz="1050" b="1" kern="0" spc="300" dirty="0">
                <a:solidFill>
                  <a:srgbClr val="FFD200"/>
                </a:solidFill>
                <a:latin typeface="Calibri" pitchFamily="34" charset="0"/>
                <a:ea typeface="Calibri" pitchFamily="34" charset="-122"/>
                <a:cs typeface="Calibri" pitchFamily="34" charset="-120"/>
              </a:rPr>
              <a:t>WHAT WE'RE ACTUALLY DOING</a:t>
            </a:r>
            <a:endParaRPr lang="en-US" sz="1050" dirty="0"/>
          </a:p>
        </p:txBody>
      </p:sp>
      <p:sp>
        <p:nvSpPr>
          <p:cNvPr id="4" name="Text 2"/>
          <p:cNvSpPr/>
          <p:nvPr/>
        </p:nvSpPr>
        <p:spPr>
          <a:xfrm>
            <a:off x="566928" y="1865376"/>
            <a:ext cx="10424160" cy="1280160"/>
          </a:xfrm>
          <a:prstGeom prst="rect">
            <a:avLst/>
          </a:prstGeom>
          <a:noFill/>
          <a:ln/>
        </p:spPr>
        <p:txBody>
          <a:bodyPr wrap="square" lIns="0" tIns="0" rIns="0" bIns="0" rtlCol="0" anchor="ctr"/>
          <a:lstStyle/>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One engine, owned end-to-end,</a:t>
            </a:r>
            <a:endParaRPr lang="en-US" sz="3600" dirty="0"/>
          </a:p>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automating its own toil.</a:t>
            </a:r>
            <a:endParaRPr lang="en-US" sz="3600" dirty="0"/>
          </a:p>
        </p:txBody>
      </p:sp>
      <p:sp>
        <p:nvSpPr>
          <p:cNvPr id="5" name="Shape 3"/>
          <p:cNvSpPr/>
          <p:nvPr/>
        </p:nvSpPr>
        <p:spPr>
          <a:xfrm>
            <a:off x="566928" y="3291840"/>
            <a:ext cx="2194560" cy="27432"/>
          </a:xfrm>
          <a:prstGeom prst="rect">
            <a:avLst/>
          </a:prstGeom>
          <a:solidFill>
            <a:srgbClr val="1B6FC4"/>
          </a:solidFill>
          <a:ln/>
        </p:spPr>
        <p:txBody>
          <a:bodyPr/>
          <a:lstStyle/>
          <a:p>
            <a:endParaRPr lang="en-US"/>
          </a:p>
        </p:txBody>
      </p:sp>
      <p:sp>
        <p:nvSpPr>
          <p:cNvPr id="6" name="Text 4"/>
          <p:cNvSpPr/>
          <p:nvPr/>
        </p:nvSpPr>
        <p:spPr>
          <a:xfrm>
            <a:off x="566928" y="3547872"/>
            <a:ext cx="8595360" cy="1097280"/>
          </a:xfrm>
          <a:prstGeom prst="rect">
            <a:avLst/>
          </a:prstGeom>
          <a:noFill/>
          <a:ln/>
        </p:spPr>
        <p:txBody>
          <a:bodyPr wrap="square" lIns="0" tIns="0" rIns="0" bIns="0" rtlCol="0" anchor="ctr"/>
          <a:lstStyle/>
          <a:p>
            <a:pPr marL="0" indent="0">
              <a:lnSpc>
                <a:spcPts val="1900"/>
              </a:lnSpc>
              <a:buNone/>
            </a:pPr>
            <a:r>
              <a:rPr lang="en-US" sz="1250" i="1" dirty="0">
                <a:solidFill>
                  <a:srgbClr val="C9D8EE"/>
                </a:solidFill>
                <a:latin typeface="Calibri" pitchFamily="34" charset="0"/>
                <a:ea typeface="Calibri" pitchFamily="34" charset="-122"/>
                <a:cs typeface="Calibri" pitchFamily="34" charset="-120"/>
              </a:rPr>
              <a:t>We're not creating a gatekeeper and we're not taking ownership away from anyone. We're standing up RBC Cloud so every service team moves faster on the things they'd otherwise each rebuild — and gets leverage, consistency, and one voice to the regulator in return. SQL Server goes first. The pattern is what the next engine inherits.</a:t>
            </a:r>
            <a:endParaRPr lang="en-US" sz="1250" dirty="0"/>
          </a:p>
        </p:txBody>
      </p:sp>
      <p:sp>
        <p:nvSpPr>
          <p:cNvPr id="7" name="Text 5"/>
          <p:cNvSpPr/>
          <p:nvPr/>
        </p:nvSpPr>
        <p:spPr>
          <a:xfrm>
            <a:off x="566928"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NORTH STAR</a:t>
            </a:r>
            <a:endParaRPr lang="en-US" sz="800" dirty="0"/>
          </a:p>
        </p:txBody>
      </p:sp>
      <p:sp>
        <p:nvSpPr>
          <p:cNvPr id="8" name="Text 6"/>
          <p:cNvSpPr/>
          <p:nvPr/>
        </p:nvSpPr>
        <p:spPr>
          <a:xfrm>
            <a:off x="566928"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Toil %</a:t>
            </a:r>
            <a:endParaRPr lang="en-US" sz="1400" dirty="0"/>
          </a:p>
        </p:txBody>
      </p:sp>
      <p:sp>
        <p:nvSpPr>
          <p:cNvPr id="9" name="Text 7"/>
          <p:cNvSpPr/>
          <p:nvPr/>
        </p:nvSpPr>
        <p:spPr>
          <a:xfrm>
            <a:off x="3364992"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MEMBERS</a:t>
            </a:r>
            <a:endParaRPr lang="en-US" sz="800" dirty="0"/>
          </a:p>
        </p:txBody>
      </p:sp>
      <p:sp>
        <p:nvSpPr>
          <p:cNvPr id="10" name="Text 8"/>
          <p:cNvSpPr/>
          <p:nvPr/>
        </p:nvSpPr>
        <p:spPr>
          <a:xfrm>
            <a:off x="3364992"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Dedicated pod, named liaisons</a:t>
            </a:r>
            <a:endParaRPr lang="en-US" sz="1400" dirty="0"/>
          </a:p>
        </p:txBody>
      </p:sp>
      <p:sp>
        <p:nvSpPr>
          <p:cNvPr id="11" name="Text 9"/>
          <p:cNvSpPr/>
          <p:nvPr/>
        </p:nvSpPr>
        <p:spPr>
          <a:xfrm>
            <a:off x="6163056"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GOVERNANCE</a:t>
            </a:r>
            <a:endParaRPr lang="en-US" sz="800" dirty="0"/>
          </a:p>
        </p:txBody>
      </p:sp>
      <p:sp>
        <p:nvSpPr>
          <p:cNvPr id="12" name="Text 10"/>
          <p:cNvSpPr/>
          <p:nvPr/>
        </p:nvSpPr>
        <p:spPr>
          <a:xfrm>
            <a:off x="6163056"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RBC Cloud  Program</a:t>
            </a:r>
            <a:endParaRPr lang="en-US" sz="1400" dirty="0"/>
          </a:p>
        </p:txBody>
      </p:sp>
      <p:sp>
        <p:nvSpPr>
          <p:cNvPr id="13" name="Text 11"/>
          <p:cNvSpPr/>
          <p:nvPr/>
        </p:nvSpPr>
        <p:spPr>
          <a:xfrm>
            <a:off x="8961120"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FIRST DELIVERABLE</a:t>
            </a:r>
            <a:endParaRPr lang="en-US" sz="800" dirty="0"/>
          </a:p>
        </p:txBody>
      </p:sp>
      <p:sp>
        <p:nvSpPr>
          <p:cNvPr id="14" name="Text 12"/>
          <p:cNvSpPr/>
          <p:nvPr/>
        </p:nvSpPr>
        <p:spPr>
          <a:xfrm>
            <a:off x="8961120"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BAU breakdown, day 15</a:t>
            </a:r>
            <a:endParaRPr lang="en-US" sz="1400" dirty="0"/>
          </a:p>
        </p:txBody>
      </p:sp>
      <p:sp>
        <p:nvSpPr>
          <p:cNvPr id="15" name="Text 13"/>
          <p:cNvSpPr/>
          <p:nvPr/>
        </p:nvSpPr>
        <p:spPr>
          <a:xfrm>
            <a:off x="566928" y="6400800"/>
            <a:ext cx="5486400" cy="219456"/>
          </a:xfrm>
          <a:prstGeom prst="rect">
            <a:avLst/>
          </a:prstGeom>
          <a:noFill/>
          <a:ln/>
        </p:spPr>
        <p:txBody>
          <a:bodyPr wrap="square" lIns="0" tIns="0" rIns="0" bIns="0" rtlCol="0" anchor="ctr"/>
          <a:lstStyle/>
          <a:p>
            <a:pPr marL="0" indent="0">
              <a:buNone/>
            </a:pPr>
            <a:r>
              <a:rPr lang="en-US" sz="950" dirty="0">
                <a:solidFill>
                  <a:srgbClr val="5C7196"/>
                </a:solidFill>
                <a:latin typeface="Calibri" pitchFamily="34" charset="0"/>
                <a:ea typeface="Calibri" pitchFamily="34" charset="-122"/>
                <a:cs typeface="Calibri" pitchFamily="34" charset="-120"/>
              </a:rPr>
              <a:t>RBC Cloud Program  |  Technology Infrastructure</a:t>
            </a:r>
            <a:endParaRPr lang="en-US" sz="95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1733"/>
        </a:solidFill>
        <a:effectLst/>
      </p:bgPr>
    </p:bg>
    <p:spTree>
      <p:nvGrpSpPr>
        <p:cNvPr id="1" name=""/>
        <p:cNvGrpSpPr/>
        <p:nvPr/>
      </p:nvGrpSpPr>
      <p:grpSpPr/>
      <p:sp>
        <p:nvSpPr>
          <p:cNvPr id="3" name="Rectangle 2"/>
          <p:cNvSpPr/>
          <p:nvPr/>
        </p:nvSpPr>
        <p:spPr>
          <a:xfrm>
            <a:off x="0" y="0"/>
            <a:ext cx="12161520" cy="82296"/>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743200"/>
            <a:ext cx="9144000" cy="365760"/>
          </a:xfrm>
          <a:prstGeom prst="rect">
            <a:avLst/>
          </a:prstGeom>
          <a:noFill/>
        </p:spPr>
        <p:txBody>
          <a:bodyPr wrap="square">
            <a:spAutoFit/>
          </a:bodyPr>
          <a:lstStyle/>
          <a:p>
            <a:r>
              <a:rPr sz="1300" b="1" i="0">
                <a:solidFill>
                  <a:srgbClr val="FFD200"/>
                </a:solidFill>
                <a:latin typeface="Calibri"/>
              </a:rPr>
              <a:t>APPENDIX</a:t>
            </a:r>
          </a:p>
        </p:txBody>
      </p:sp>
      <p:sp>
        <p:nvSpPr>
          <p:cNvPr id="5" name="TextBox 4"/>
          <p:cNvSpPr txBox="1"/>
          <p:nvPr/>
        </p:nvSpPr>
        <p:spPr>
          <a:xfrm>
            <a:off x="566928" y="3200400"/>
            <a:ext cx="10515600" cy="914400"/>
          </a:xfrm>
          <a:prstGeom prst="rect">
            <a:avLst/>
          </a:prstGeom>
          <a:noFill/>
        </p:spPr>
        <p:txBody>
          <a:bodyPr wrap="square">
            <a:spAutoFit/>
          </a:bodyPr>
          <a:lstStyle/>
          <a:p>
            <a:r>
              <a:rPr sz="4000" b="1" i="0">
                <a:solidFill>
                  <a:srgbClr val="FFFFFF"/>
                </a:solidFill>
                <a:latin typeface="Cambria"/>
              </a:rPr>
              <a:t>Supporting detail</a:t>
            </a:r>
          </a:p>
        </p:txBody>
      </p:sp>
      <p:sp>
        <p:nvSpPr>
          <p:cNvPr id="6" name="TextBox 5"/>
          <p:cNvSpPr txBox="1"/>
          <p:nvPr/>
        </p:nvSpPr>
        <p:spPr>
          <a:xfrm>
            <a:off x="566928" y="4206240"/>
            <a:ext cx="8778240" cy="457200"/>
          </a:xfrm>
          <a:prstGeom prst="rect">
            <a:avLst/>
          </a:prstGeom>
          <a:noFill/>
        </p:spPr>
        <p:txBody>
          <a:bodyPr wrap="square">
            <a:spAutoFit/>
          </a:bodyPr>
          <a:lstStyle/>
          <a:p>
            <a:r>
              <a:rPr sz="1300" b="0" i="1">
                <a:solidFill>
                  <a:srgbClr val="9FB6D6"/>
                </a:solidFill>
                <a:latin typeface="Calibri"/>
              </a:rPr>
              <a:t>What RBC Cloud is · how the pod works with other TI programs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WHAT IT IS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What RBC Cloud is</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Not a reorg with new labels. The RBC Cloud way of working: shared capability underneath every service, consumed as a product, instead of every tower solving the same problem alone.</a:t>
            </a:r>
            <a:endParaRPr lang="en-US" sz="1200" dirty="0"/>
          </a:p>
        </p:txBody>
      </p:sp>
      <p:sp>
        <p:nvSpPr>
          <p:cNvPr id="5" name="Shape 3"/>
          <p:cNvSpPr/>
          <p:nvPr/>
        </p:nvSpPr>
        <p:spPr>
          <a:xfrm>
            <a:off x="566928" y="1865376"/>
            <a:ext cx="5029200" cy="2651760"/>
          </a:xfrm>
          <a:prstGeom prst="rect">
            <a:avLst/>
          </a:prstGeom>
          <a:solidFill>
            <a:srgbClr val="FFFFFF"/>
          </a:solidFill>
          <a:ln w="7620">
            <a:solidFill>
              <a:srgbClr val="D7DDE5"/>
            </a:solidFill>
            <a:prstDash val="solid"/>
          </a:ln>
        </p:spPr>
        <p:txBody>
          <a:bodyPr/>
          <a:lstStyle/>
          <a:p>
            <a:endParaRPr lang="en-US"/>
          </a:p>
        </p:txBody>
      </p:sp>
      <p:sp>
        <p:nvSpPr>
          <p:cNvPr id="6" name="Text 4"/>
          <p:cNvSpPr/>
          <p:nvPr/>
        </p:nvSpPr>
        <p:spPr>
          <a:xfrm>
            <a:off x="749808" y="1993392"/>
            <a:ext cx="4206240" cy="182880"/>
          </a:xfrm>
          <a:prstGeom prst="rect">
            <a:avLst/>
          </a:prstGeom>
          <a:noFill/>
          <a:ln/>
        </p:spPr>
        <p:txBody>
          <a:bodyPr wrap="square" lIns="0" tIns="0" rIns="0" bIns="0" rtlCol="0" anchor="ctr"/>
          <a:lstStyle/>
          <a:p>
            <a:pPr marL="0" indent="0">
              <a:buNone/>
            </a:pPr>
            <a:r>
              <a:rPr lang="en-US" sz="820" b="1" kern="0" spc="150" dirty="0">
                <a:solidFill>
                  <a:srgbClr val="C0392B"/>
                </a:solidFill>
                <a:latin typeface="Calibri" pitchFamily="34" charset="0"/>
                <a:ea typeface="Calibri" pitchFamily="34" charset="-122"/>
                <a:cs typeface="Calibri" pitchFamily="34" charset="-120"/>
              </a:rPr>
              <a:t>TODAY  ·  VERTICAL TOWERS</a:t>
            </a:r>
            <a:endParaRPr lang="en-US" sz="820" dirty="0"/>
          </a:p>
        </p:txBody>
      </p:sp>
      <p:sp>
        <p:nvSpPr>
          <p:cNvPr id="7" name="Text 5"/>
          <p:cNvSpPr/>
          <p:nvPr/>
        </p:nvSpPr>
        <p:spPr>
          <a:xfrm>
            <a:off x="749808" y="2212848"/>
            <a:ext cx="4663440" cy="274320"/>
          </a:xfrm>
          <a:prstGeom prst="rect">
            <a:avLst/>
          </a:prstGeom>
          <a:noFill/>
          <a:ln/>
        </p:spPr>
        <p:txBody>
          <a:bodyPr wrap="square" lIns="0" tIns="0" rIns="0" bIns="0" rtlCol="0" anchor="ctr"/>
          <a:lstStyle/>
          <a:p>
            <a:pPr marL="0" indent="0">
              <a:buNone/>
            </a:pPr>
            <a:r>
              <a:rPr lang="en-US" sz="1500" b="1" dirty="0">
                <a:solidFill>
                  <a:srgbClr val="0B2350"/>
                </a:solidFill>
                <a:latin typeface="Cambria" pitchFamily="34" charset="0"/>
                <a:ea typeface="Cambria" pitchFamily="34" charset="-122"/>
                <a:cs typeface="Cambria" pitchFamily="34" charset="-120"/>
              </a:rPr>
              <a:t>Every engine solves it alone</a:t>
            </a:r>
            <a:endParaRPr lang="en-US" sz="1500" dirty="0"/>
          </a:p>
        </p:txBody>
      </p:sp>
      <p:sp>
        <p:nvSpPr>
          <p:cNvPr id="8" name="Text 6"/>
          <p:cNvSpPr/>
          <p:nvPr/>
        </p:nvSpPr>
        <p:spPr>
          <a:xfrm>
            <a:off x="786384" y="2578608"/>
            <a:ext cx="4590288" cy="182880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Provisioning, patching, backup and compliance rebuilt per engine</a:t>
            </a:r>
            <a:endParaRPr lang="en-US" sz="980" dirty="0"/>
          </a:p>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Different standards, different evidence, different answers to the same audit question</a:t>
            </a:r>
            <a:endParaRPr lang="en-US" sz="980" dirty="0"/>
          </a:p>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Build and run sit in different teams — the seam is where things break</a:t>
            </a:r>
            <a:endParaRPr lang="en-US" sz="980" dirty="0"/>
          </a:p>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Effort scales with engine count, not with value</a:t>
            </a:r>
            <a:endParaRPr lang="en-US" sz="980" dirty="0"/>
          </a:p>
        </p:txBody>
      </p:sp>
      <p:sp>
        <p:nvSpPr>
          <p:cNvPr id="9" name="Text 7"/>
          <p:cNvSpPr/>
          <p:nvPr/>
        </p:nvSpPr>
        <p:spPr>
          <a:xfrm>
            <a:off x="5797296" y="2962656"/>
            <a:ext cx="640080" cy="365760"/>
          </a:xfrm>
          <a:prstGeom prst="rect">
            <a:avLst/>
          </a:prstGeom>
          <a:noFill/>
          <a:ln/>
        </p:spPr>
        <p:txBody>
          <a:bodyPr wrap="square" lIns="0" tIns="0" rIns="0" bIns="0" rtlCol="0" anchor="ctr"/>
          <a:lstStyle/>
          <a:p>
            <a:pPr marL="0" indent="0" algn="ctr">
              <a:buNone/>
            </a:pPr>
            <a:r>
              <a:rPr lang="en-US" sz="2400" b="1" dirty="0">
                <a:solidFill>
                  <a:srgbClr val="C9A227"/>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565392" y="1865376"/>
            <a:ext cx="5596128" cy="2651760"/>
          </a:xfrm>
          <a:prstGeom prst="rect">
            <a:avLst/>
          </a:prstGeom>
          <a:solidFill>
            <a:srgbClr val="0B2350"/>
          </a:solidFill>
          <a:ln/>
        </p:spPr>
        <p:txBody>
          <a:bodyPr/>
          <a:lstStyle/>
          <a:p>
            <a:endParaRPr lang="en-US"/>
          </a:p>
        </p:txBody>
      </p:sp>
      <p:sp>
        <p:nvSpPr>
          <p:cNvPr id="11" name="Text 9"/>
          <p:cNvSpPr/>
          <p:nvPr/>
        </p:nvSpPr>
        <p:spPr>
          <a:xfrm>
            <a:off x="6748272" y="1993392"/>
            <a:ext cx="4206240" cy="182880"/>
          </a:xfrm>
          <a:prstGeom prst="rect">
            <a:avLst/>
          </a:prstGeom>
          <a:noFill/>
          <a:ln/>
        </p:spPr>
        <p:txBody>
          <a:bodyPr wrap="square" lIns="0" tIns="0" rIns="0" bIns="0" rtlCol="0" anchor="ctr"/>
          <a:lstStyle/>
          <a:p>
            <a:pPr marL="0" indent="0">
              <a:buNone/>
            </a:pPr>
            <a:r>
              <a:rPr lang="en-US" sz="820" b="1" kern="0" spc="150" dirty="0">
                <a:solidFill>
                  <a:srgbClr val="4C9A2A"/>
                </a:solidFill>
                <a:latin typeface="Calibri" pitchFamily="34" charset="0"/>
                <a:ea typeface="Calibri" pitchFamily="34" charset="-122"/>
                <a:cs typeface="Calibri" pitchFamily="34" charset="-120"/>
              </a:rPr>
              <a:t>TARGET  ·  RBC CLOUD</a:t>
            </a:r>
            <a:endParaRPr lang="en-US" sz="820" dirty="0"/>
          </a:p>
        </p:txBody>
      </p:sp>
      <p:sp>
        <p:nvSpPr>
          <p:cNvPr id="12" name="Text 10"/>
          <p:cNvSpPr/>
          <p:nvPr/>
        </p:nvSpPr>
        <p:spPr>
          <a:xfrm>
            <a:off x="6748272" y="2212848"/>
            <a:ext cx="5212080"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One RBC Cloud layer, many services</a:t>
            </a:r>
            <a:endParaRPr lang="en-US" sz="1500" dirty="0"/>
          </a:p>
        </p:txBody>
      </p:sp>
      <p:sp>
        <p:nvSpPr>
          <p:cNvPr id="13" name="Text 11"/>
          <p:cNvSpPr/>
          <p:nvPr/>
        </p:nvSpPr>
        <p:spPr>
          <a:xfrm>
            <a:off x="6784848" y="2578608"/>
            <a:ext cx="5157216" cy="182880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RBC Cloud shared services — control plane, compliance, optimization — built once, consumed by all</a:t>
            </a:r>
            <a:endParaRPr lang="en-US" sz="980" dirty="0"/>
          </a:p>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A pod owns its service end-to-end: build and run, one backlog, one pager</a:t>
            </a:r>
            <a:endParaRPr lang="en-US" sz="980" dirty="0"/>
          </a:p>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Horizontal defines the standard and aggregates the signal; the pod implements and remediates</a:t>
            </a:r>
            <a:endParaRPr lang="en-US" sz="980" dirty="0"/>
          </a:p>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Consume the RBC Cloud paved road; don't rebuild it</a:t>
            </a:r>
            <a:endParaRPr lang="en-US" sz="980" dirty="0"/>
          </a:p>
        </p:txBody>
      </p:sp>
      <p:sp>
        <p:nvSpPr>
          <p:cNvPr id="14" name="Shape 12"/>
          <p:cNvSpPr/>
          <p:nvPr/>
        </p:nvSpPr>
        <p:spPr>
          <a:xfrm>
            <a:off x="566928" y="4718304"/>
            <a:ext cx="11027664" cy="1060704"/>
          </a:xfrm>
          <a:prstGeom prst="rect">
            <a:avLst/>
          </a:prstGeom>
          <a:solidFill>
            <a:srgbClr val="EEF2F8"/>
          </a:solidFill>
          <a:ln/>
        </p:spPr>
        <p:txBody>
          <a:bodyPr/>
          <a:lstStyle/>
          <a:p>
            <a:endParaRPr lang="en-US"/>
          </a:p>
        </p:txBody>
      </p:sp>
      <p:sp>
        <p:nvSpPr>
          <p:cNvPr id="15" name="Text 13"/>
          <p:cNvSpPr/>
          <p:nvPr/>
        </p:nvSpPr>
        <p:spPr>
          <a:xfrm>
            <a:off x="768096" y="4837176"/>
            <a:ext cx="7315200" cy="182880"/>
          </a:xfrm>
          <a:prstGeom prst="rect">
            <a:avLst/>
          </a:prstGeom>
          <a:noFill/>
          <a:ln/>
        </p:spPr>
        <p:txBody>
          <a:bodyPr wrap="square" lIns="0" tIns="0" rIns="0" bIns="0" rtlCol="0" anchor="ctr"/>
          <a:lstStyle/>
          <a:p>
            <a:pPr marL="0" indent="0">
              <a:buNone/>
            </a:pPr>
            <a:r>
              <a:rPr lang="en-US" sz="850" b="1" kern="0" spc="170" dirty="0">
                <a:solidFill>
                  <a:srgbClr val="C9A227"/>
                </a:solidFill>
                <a:latin typeface="Calibri" pitchFamily="34" charset="0"/>
                <a:ea typeface="Calibri" pitchFamily="34" charset="-122"/>
                <a:cs typeface="Calibri" pitchFamily="34" charset="-120"/>
              </a:rPr>
              <a:t>THE DISTINCTION THAT GETS MISSED</a:t>
            </a:r>
            <a:endParaRPr lang="en-US" sz="850" dirty="0"/>
          </a:p>
        </p:txBody>
      </p:sp>
      <p:sp>
        <p:nvSpPr>
          <p:cNvPr id="16" name="Text 14"/>
          <p:cNvSpPr/>
          <p:nvPr/>
        </p:nvSpPr>
        <p:spPr>
          <a:xfrm>
            <a:off x="768096" y="5047488"/>
            <a:ext cx="10625328" cy="640080"/>
          </a:xfrm>
          <a:prstGeom prst="rect">
            <a:avLst/>
          </a:prstGeom>
          <a:noFill/>
          <a:ln/>
        </p:spPr>
        <p:txBody>
          <a:bodyPr wrap="square" lIns="0" tIns="0" rIns="0" bIns="0" rtlCol="0" anchor="ctr"/>
          <a:lstStyle/>
          <a:p>
            <a:pPr marL="0" indent="0">
              <a:lnSpc>
                <a:spcPts val="1450"/>
              </a:lnSpc>
              <a:buNone/>
            </a:pPr>
            <a:r>
              <a:rPr lang="en-US" sz="1060" b="1" dirty="0">
                <a:solidFill>
                  <a:srgbClr val="0B2350"/>
                </a:solidFill>
                <a:latin typeface="Calibri" pitchFamily="34" charset="0"/>
                <a:ea typeface="Calibri" pitchFamily="34" charset="-122"/>
                <a:cs typeface="Calibri" pitchFamily="34" charset="-120"/>
              </a:rPr>
              <a:t>Different axis, not competition. </a:t>
            </a:r>
            <a:r>
              <a:rPr lang="en-US" sz="1060" dirty="0">
                <a:solidFill>
                  <a:srgbClr val="1E252E"/>
                </a:solidFill>
                <a:latin typeface="Calibri" pitchFamily="34" charset="0"/>
                <a:ea typeface="Calibri" pitchFamily="34" charset="-122"/>
                <a:cs typeface="Calibri" pitchFamily="34" charset="-120"/>
              </a:rPr>
              <a:t>A product team owns one service vertically, top to bottom, and keeps owning it. RBC Cloud is the substrate every service builds on — it doesn't run anyone's product, it makes them faster and consistent with each other by removing the infrastructure, compliance and tooling each team would otherwise rebuild. They're tenants; this is the building. Routing everything through one team is the tower we're dismantling — the opposite of how RBC Cloud works.</a:t>
            </a:r>
            <a:endParaRPr lang="en-US" sz="1060" dirty="0"/>
          </a:p>
        </p:txBody>
      </p:sp>
      <p:sp>
        <p:nvSpPr>
          <p:cNvPr id="17" name="Text 15"/>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HOW IT WORKS WITH OTHER TI PRODUCTS</a:t>
            </a:r>
            <a:endParaRPr lang="en-US" sz="1050" dirty="0"/>
          </a:p>
        </p:txBody>
      </p:sp>
      <p:sp>
        <p:nvSpPr>
          <p:cNvPr id="3" name="Text 1"/>
          <p:cNvSpPr/>
          <p:nvPr/>
        </p:nvSpPr>
        <p:spPr>
          <a:xfrm>
            <a:off x="566928" y="603504"/>
            <a:ext cx="11027664" cy="548640"/>
          </a:xfrm>
          <a:prstGeom prst="rect">
            <a:avLst/>
          </a:prstGeom>
          <a:noFill/>
          <a:ln/>
        </p:spPr>
        <p:txBody>
          <a:bodyPr wrap="square" lIns="0" tIns="0" rIns="0" bIns="0" rtlCol="0" anchor="ctr"/>
          <a:lstStyle/>
          <a:p>
            <a:pPr marL="0" indent="0">
              <a:buNone/>
            </a:pPr>
            <a:r>
              <a:rPr lang="en-US" sz="2900" b="1" dirty="0">
                <a:solidFill>
                  <a:srgbClr val="0B2350"/>
                </a:solidFill>
                <a:latin typeface="Cambria" pitchFamily="34" charset="0"/>
                <a:ea typeface="Cambria" pitchFamily="34" charset="-122"/>
                <a:cs typeface="Cambria" pitchFamily="34" charset="-120"/>
              </a:rPr>
              <a:t>SQL Server Pod </a:t>
            </a:r>
            <a:r>
              <a:rPr lang="en-US" sz="2900" b="1" dirty="0">
                <a:solidFill>
                  <a:srgbClr val="005DAA"/>
                </a:solidFill>
                <a:latin typeface="Cambria" pitchFamily="34" charset="0"/>
                <a:ea typeface="Cambria" pitchFamily="34" charset="-122"/>
                <a:cs typeface="Cambria" pitchFamily="34" charset="-120"/>
              </a:rPr>
              <a:t>↔ </a:t>
            </a:r>
            <a:r>
              <a:rPr lang="en-US" sz="2900" b="1" dirty="0">
                <a:solidFill>
                  <a:srgbClr val="0B2350"/>
                </a:solidFill>
                <a:latin typeface="Cambria" pitchFamily="34" charset="0"/>
                <a:ea typeface="Cambria" pitchFamily="34" charset="-122"/>
                <a:cs typeface="Cambria" pitchFamily="34" charset="-120"/>
              </a:rPr>
              <a:t>Zephyr · CMP · Intelligent Ops</a:t>
            </a:r>
            <a:endParaRPr lang="en-US" sz="2900" dirty="0"/>
          </a:p>
        </p:txBody>
      </p:sp>
      <p:sp>
        <p:nvSpPr>
          <p:cNvPr id="4" name="Text 2"/>
          <p:cNvSpPr/>
          <p:nvPr/>
        </p:nvSpPr>
        <p:spPr>
          <a:xfrm>
            <a:off x="566928" y="1188720"/>
            <a:ext cx="11027664" cy="402336"/>
          </a:xfrm>
          <a:prstGeom prst="rect">
            <a:avLst/>
          </a:prstGeom>
          <a:noFill/>
          <a:ln/>
        </p:spPr>
        <p:txBody>
          <a:bodyPr wrap="square" lIns="0" tIns="0" rIns="0" bIns="0" rtlCol="0" anchor="ctr"/>
          <a:lstStyle/>
          <a:p>
            <a:pPr marL="0" indent="0">
              <a:lnSpc>
                <a:spcPts val="1450"/>
              </a:lnSpc>
              <a:buNone/>
            </a:pPr>
            <a:r>
              <a:rPr lang="en-US" sz="1100" i="1" dirty="0">
                <a:solidFill>
                  <a:srgbClr val="5C6773"/>
                </a:solidFill>
                <a:latin typeface="Calibri" pitchFamily="34" charset="0"/>
                <a:ea typeface="Calibri" pitchFamily="34" charset="-122"/>
                <a:cs typeface="Calibri" pitchFamily="34" charset="-120"/>
              </a:rPr>
              <a:t>Three cross-cutting squads. Three two-way contracts. Each ships a product the pod consumes; the pod emits signals — and gaps — the cross-cutting squad turns into next-gen automation. No tickets, no gates.</a:t>
            </a:r>
            <a:endParaRPr lang="en-US" sz="1100" dirty="0"/>
          </a:p>
        </p:txBody>
      </p:sp>
      <p:sp>
        <p:nvSpPr>
          <p:cNvPr id="5" name="Shape 3"/>
          <p:cNvSpPr/>
          <p:nvPr/>
        </p:nvSpPr>
        <p:spPr>
          <a:xfrm>
            <a:off x="566928" y="1664208"/>
            <a:ext cx="3200400" cy="45720"/>
          </a:xfrm>
          <a:prstGeom prst="rect">
            <a:avLst/>
          </a:prstGeom>
          <a:solidFill>
            <a:srgbClr val="FFD200"/>
          </a:solidFill>
          <a:ln/>
        </p:spPr>
        <p:txBody>
          <a:bodyPr/>
          <a:lstStyle/>
          <a:p>
            <a:endParaRPr lang="en-US"/>
          </a:p>
        </p:txBody>
      </p:sp>
      <p:sp>
        <p:nvSpPr>
          <p:cNvPr id="6" name="Shape 4"/>
          <p:cNvSpPr/>
          <p:nvPr/>
        </p:nvSpPr>
        <p:spPr>
          <a:xfrm>
            <a:off x="566928" y="1709928"/>
            <a:ext cx="3200400" cy="1307592"/>
          </a:xfrm>
          <a:prstGeom prst="rect">
            <a:avLst/>
          </a:prstGeom>
          <a:solidFill>
            <a:srgbClr val="0B2350"/>
          </a:solidFill>
          <a:ln/>
        </p:spPr>
        <p:txBody>
          <a:bodyPr/>
          <a:lstStyle/>
          <a:p>
            <a:endParaRPr lang="en-US"/>
          </a:p>
        </p:txBody>
      </p:sp>
      <p:sp>
        <p:nvSpPr>
          <p:cNvPr id="7" name="Text 5"/>
          <p:cNvSpPr/>
          <p:nvPr/>
        </p:nvSpPr>
        <p:spPr>
          <a:xfrm>
            <a:off x="694944" y="1746504"/>
            <a:ext cx="2944368" cy="128016"/>
          </a:xfrm>
          <a:prstGeom prst="rect">
            <a:avLst/>
          </a:prstGeom>
          <a:noFill/>
          <a:ln/>
        </p:spPr>
        <p:txBody>
          <a:bodyPr wrap="square" lIns="0" tIns="0" rIns="0" bIns="0" rtlCol="0" anchor="ctr"/>
          <a:lstStyle/>
          <a:p>
            <a:pPr marL="0" indent="0">
              <a:buNone/>
            </a:pPr>
            <a:r>
              <a:rPr lang="en-US" sz="700" b="1" kern="0" spc="140" dirty="0">
                <a:solidFill>
                  <a:srgbClr val="FFD200"/>
                </a:solidFill>
                <a:latin typeface="Calibri" pitchFamily="34" charset="0"/>
                <a:ea typeface="Calibri" pitchFamily="34" charset="-122"/>
                <a:cs typeface="Calibri" pitchFamily="34" charset="-120"/>
              </a:rPr>
              <a:t>ZEPHYR HYBRID CLOUD</a:t>
            </a:r>
            <a:endParaRPr lang="en-US" sz="700" dirty="0"/>
          </a:p>
        </p:txBody>
      </p:sp>
      <p:sp>
        <p:nvSpPr>
          <p:cNvPr id="8" name="Text 6"/>
          <p:cNvSpPr/>
          <p:nvPr/>
        </p:nvSpPr>
        <p:spPr>
          <a:xfrm>
            <a:off x="694944" y="1883664"/>
            <a:ext cx="2944368" cy="21945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Zephyr Control Plane</a:t>
            </a:r>
            <a:endParaRPr lang="en-US" sz="1200" dirty="0"/>
          </a:p>
        </p:txBody>
      </p:sp>
      <p:sp>
        <p:nvSpPr>
          <p:cNvPr id="9" name="Text 7"/>
          <p:cNvSpPr/>
          <p:nvPr/>
        </p:nvSpPr>
        <p:spPr>
          <a:xfrm>
            <a:off x="694944" y="2093976"/>
            <a:ext cx="2944368" cy="128016"/>
          </a:xfrm>
          <a:prstGeom prst="rect">
            <a:avLst/>
          </a:prstGeom>
          <a:noFill/>
          <a:ln/>
        </p:spPr>
        <p:txBody>
          <a:bodyPr wrap="square" lIns="0" tIns="0" rIns="0" bIns="0" rtlCol="0" anchor="ctr"/>
          <a:lstStyle/>
          <a:p>
            <a:pPr marL="0" indent="0">
              <a:buNone/>
            </a:pPr>
            <a:r>
              <a:rPr lang="en-US" sz="680" i="1" dirty="0">
                <a:solidFill>
                  <a:srgbClr val="AEC3E0"/>
                </a:solidFill>
                <a:latin typeface="Calibri" pitchFamily="34" charset="0"/>
                <a:ea typeface="Calibri" pitchFamily="34" charset="-122"/>
                <a:cs typeface="Calibri" pitchFamily="34" charset="-120"/>
              </a:rPr>
              <a:t>Substrate · APIs · UX · Policy</a:t>
            </a:r>
            <a:endParaRPr lang="en-US" sz="680" dirty="0"/>
          </a:p>
        </p:txBody>
      </p:sp>
      <p:sp>
        <p:nvSpPr>
          <p:cNvPr id="10" name="Text 8"/>
          <p:cNvSpPr/>
          <p:nvPr/>
        </p:nvSpPr>
        <p:spPr>
          <a:xfrm>
            <a:off x="694944" y="2240280"/>
            <a:ext cx="2944368" cy="109728"/>
          </a:xfrm>
          <a:prstGeom prst="rect">
            <a:avLst/>
          </a:prstGeom>
          <a:noFill/>
          <a:ln/>
        </p:spPr>
        <p:txBody>
          <a:bodyPr wrap="square" lIns="0" tIns="0" rIns="0" bIns="0" rtlCol="0" anchor="ctr"/>
          <a:lstStyle/>
          <a:p>
            <a:pPr marL="0" indent="0">
              <a:buNone/>
            </a:pPr>
            <a:r>
              <a:rPr lang="en-US" sz="650" b="1" kern="0" spc="140" dirty="0">
                <a:solidFill>
                  <a:srgbClr val="FFD200"/>
                </a:solidFill>
                <a:latin typeface="Calibri" pitchFamily="34" charset="0"/>
                <a:ea typeface="Calibri" pitchFamily="34" charset="-122"/>
                <a:cs typeface="Calibri" pitchFamily="34" charset="-120"/>
              </a:rPr>
              <a:t>OWNS</a:t>
            </a:r>
            <a:endParaRPr lang="en-US" sz="650" dirty="0"/>
          </a:p>
        </p:txBody>
      </p:sp>
      <p:sp>
        <p:nvSpPr>
          <p:cNvPr id="11" name="Text 9"/>
          <p:cNvSpPr/>
          <p:nvPr/>
        </p:nvSpPr>
        <p:spPr>
          <a:xfrm>
            <a:off x="731520" y="2368296"/>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Module registry &amp; control plane</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Self-service developer portal</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Policy engine · lifecycle · evidence</a:t>
            </a:r>
            <a:endParaRPr lang="en-US" sz="740" dirty="0"/>
          </a:p>
        </p:txBody>
      </p:sp>
      <p:sp>
        <p:nvSpPr>
          <p:cNvPr id="12" name="Shape 10"/>
          <p:cNvSpPr/>
          <p:nvPr/>
        </p:nvSpPr>
        <p:spPr>
          <a:xfrm>
            <a:off x="566928" y="3145536"/>
            <a:ext cx="3200400" cy="45720"/>
          </a:xfrm>
          <a:prstGeom prst="rect">
            <a:avLst/>
          </a:prstGeom>
          <a:solidFill>
            <a:srgbClr val="FFD200"/>
          </a:solidFill>
          <a:ln/>
        </p:spPr>
        <p:txBody>
          <a:bodyPr/>
          <a:lstStyle/>
          <a:p>
            <a:endParaRPr lang="en-US"/>
          </a:p>
        </p:txBody>
      </p:sp>
      <p:sp>
        <p:nvSpPr>
          <p:cNvPr id="13" name="Shape 11"/>
          <p:cNvSpPr/>
          <p:nvPr/>
        </p:nvSpPr>
        <p:spPr>
          <a:xfrm>
            <a:off x="566928" y="3191256"/>
            <a:ext cx="3200400" cy="1307592"/>
          </a:xfrm>
          <a:prstGeom prst="rect">
            <a:avLst/>
          </a:prstGeom>
          <a:solidFill>
            <a:srgbClr val="0B2350"/>
          </a:solidFill>
          <a:ln/>
        </p:spPr>
        <p:txBody>
          <a:bodyPr/>
          <a:lstStyle/>
          <a:p>
            <a:endParaRPr lang="en-US"/>
          </a:p>
        </p:txBody>
      </p:sp>
      <p:sp>
        <p:nvSpPr>
          <p:cNvPr id="14" name="Text 12"/>
          <p:cNvSpPr/>
          <p:nvPr/>
        </p:nvSpPr>
        <p:spPr>
          <a:xfrm>
            <a:off x="694944" y="3227832"/>
            <a:ext cx="2944368" cy="128016"/>
          </a:xfrm>
          <a:prstGeom prst="rect">
            <a:avLst/>
          </a:prstGeom>
          <a:noFill/>
          <a:ln/>
        </p:spPr>
        <p:txBody>
          <a:bodyPr wrap="square" lIns="0" tIns="0" rIns="0" bIns="0" rtlCol="0" anchor="ctr"/>
          <a:lstStyle/>
          <a:p>
            <a:pPr marL="0" indent="0">
              <a:buNone/>
            </a:pPr>
            <a:r>
              <a:rPr lang="en-US" sz="700" b="1" kern="0" spc="140" dirty="0">
                <a:solidFill>
                  <a:srgbClr val="FFD200"/>
                </a:solidFill>
                <a:latin typeface="Calibri" pitchFamily="34" charset="0"/>
                <a:ea typeface="Calibri" pitchFamily="34" charset="-122"/>
                <a:cs typeface="Calibri" pitchFamily="34" charset="-120"/>
              </a:rPr>
              <a:t>OPTIMIZATION</a:t>
            </a:r>
            <a:endParaRPr lang="en-US" sz="700" dirty="0"/>
          </a:p>
        </p:txBody>
      </p:sp>
      <p:sp>
        <p:nvSpPr>
          <p:cNvPr id="15" name="Text 13"/>
          <p:cNvSpPr/>
          <p:nvPr/>
        </p:nvSpPr>
        <p:spPr>
          <a:xfrm>
            <a:off x="694944" y="3364992"/>
            <a:ext cx="2944368" cy="21945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Capacity Management</a:t>
            </a:r>
            <a:endParaRPr lang="en-US" sz="1200" dirty="0"/>
          </a:p>
        </p:txBody>
      </p:sp>
      <p:sp>
        <p:nvSpPr>
          <p:cNvPr id="16" name="Text 14"/>
          <p:cNvSpPr/>
          <p:nvPr/>
        </p:nvSpPr>
        <p:spPr>
          <a:xfrm>
            <a:off x="694944" y="3575304"/>
            <a:ext cx="2944368" cy="128016"/>
          </a:xfrm>
          <a:prstGeom prst="rect">
            <a:avLst/>
          </a:prstGeom>
          <a:noFill/>
          <a:ln/>
        </p:spPr>
        <p:txBody>
          <a:bodyPr wrap="square" lIns="0" tIns="0" rIns="0" bIns="0" rtlCol="0" anchor="ctr"/>
          <a:lstStyle/>
          <a:p>
            <a:pPr marL="0" indent="0">
              <a:buNone/>
            </a:pPr>
            <a:r>
              <a:rPr lang="en-US" sz="680" i="1" dirty="0">
                <a:solidFill>
                  <a:srgbClr val="AEC3E0"/>
                </a:solidFill>
                <a:latin typeface="Calibri" pitchFamily="34" charset="0"/>
                <a:ea typeface="Calibri" pitchFamily="34" charset="-122"/>
                <a:cs typeface="Calibri" pitchFamily="34" charset="-120"/>
              </a:rPr>
              <a:t>Capacity · forecasting · rightsizing</a:t>
            </a:r>
            <a:endParaRPr lang="en-US" sz="680" dirty="0"/>
          </a:p>
        </p:txBody>
      </p:sp>
      <p:sp>
        <p:nvSpPr>
          <p:cNvPr id="17" name="Text 15"/>
          <p:cNvSpPr/>
          <p:nvPr/>
        </p:nvSpPr>
        <p:spPr>
          <a:xfrm>
            <a:off x="694944" y="3721608"/>
            <a:ext cx="2944368" cy="109728"/>
          </a:xfrm>
          <a:prstGeom prst="rect">
            <a:avLst/>
          </a:prstGeom>
          <a:noFill/>
          <a:ln/>
        </p:spPr>
        <p:txBody>
          <a:bodyPr wrap="square" lIns="0" tIns="0" rIns="0" bIns="0" rtlCol="0" anchor="ctr"/>
          <a:lstStyle/>
          <a:p>
            <a:pPr marL="0" indent="0">
              <a:buNone/>
            </a:pPr>
            <a:r>
              <a:rPr lang="en-US" sz="650" b="1" kern="0" spc="140" dirty="0">
                <a:solidFill>
                  <a:srgbClr val="FFD200"/>
                </a:solidFill>
                <a:latin typeface="Calibri" pitchFamily="34" charset="0"/>
                <a:ea typeface="Calibri" pitchFamily="34" charset="-122"/>
                <a:cs typeface="Calibri" pitchFamily="34" charset="-120"/>
              </a:rPr>
              <a:t>OWNS</a:t>
            </a:r>
            <a:endParaRPr lang="en-US" sz="650" dirty="0"/>
          </a:p>
        </p:txBody>
      </p:sp>
      <p:sp>
        <p:nvSpPr>
          <p:cNvPr id="18" name="Text 16"/>
          <p:cNvSpPr/>
          <p:nvPr/>
        </p:nvSpPr>
        <p:spPr>
          <a:xfrm>
            <a:off x="731520" y="3849624"/>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Rightsizing agents</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Capacity forecast</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Home-of-Best-Fit advisor</a:t>
            </a:r>
            <a:endParaRPr lang="en-US" sz="740" dirty="0"/>
          </a:p>
        </p:txBody>
      </p:sp>
      <p:sp>
        <p:nvSpPr>
          <p:cNvPr id="19" name="Shape 17"/>
          <p:cNvSpPr/>
          <p:nvPr/>
        </p:nvSpPr>
        <p:spPr>
          <a:xfrm>
            <a:off x="566928" y="4626864"/>
            <a:ext cx="3200400" cy="45720"/>
          </a:xfrm>
          <a:prstGeom prst="rect">
            <a:avLst/>
          </a:prstGeom>
          <a:solidFill>
            <a:srgbClr val="FFD200"/>
          </a:solidFill>
          <a:ln/>
        </p:spPr>
        <p:txBody>
          <a:bodyPr/>
          <a:lstStyle/>
          <a:p>
            <a:endParaRPr lang="en-US"/>
          </a:p>
        </p:txBody>
      </p:sp>
      <p:sp>
        <p:nvSpPr>
          <p:cNvPr id="20" name="Shape 18"/>
          <p:cNvSpPr/>
          <p:nvPr/>
        </p:nvSpPr>
        <p:spPr>
          <a:xfrm>
            <a:off x="566928" y="4672584"/>
            <a:ext cx="3200400" cy="1307592"/>
          </a:xfrm>
          <a:prstGeom prst="rect">
            <a:avLst/>
          </a:prstGeom>
          <a:solidFill>
            <a:srgbClr val="0B2350"/>
          </a:solidFill>
          <a:ln/>
        </p:spPr>
        <p:txBody>
          <a:bodyPr/>
          <a:lstStyle/>
          <a:p>
            <a:endParaRPr lang="en-US"/>
          </a:p>
        </p:txBody>
      </p:sp>
      <p:sp>
        <p:nvSpPr>
          <p:cNvPr id="21" name="Text 19"/>
          <p:cNvSpPr/>
          <p:nvPr/>
        </p:nvSpPr>
        <p:spPr>
          <a:xfrm>
            <a:off x="694944" y="4709160"/>
            <a:ext cx="2944368" cy="128016"/>
          </a:xfrm>
          <a:prstGeom prst="rect">
            <a:avLst/>
          </a:prstGeom>
          <a:noFill/>
          <a:ln/>
        </p:spPr>
        <p:txBody>
          <a:bodyPr wrap="square" lIns="0" tIns="0" rIns="0" bIns="0" rtlCol="0" anchor="ctr"/>
          <a:lstStyle/>
          <a:p>
            <a:pPr marL="0" indent="0">
              <a:buNone/>
            </a:pPr>
            <a:r>
              <a:rPr lang="en-US" sz="700" b="1" kern="0" spc="140" dirty="0">
                <a:solidFill>
                  <a:srgbClr val="FFD200"/>
                </a:solidFill>
                <a:latin typeface="Calibri" pitchFamily="34" charset="0"/>
                <a:ea typeface="Calibri" pitchFamily="34" charset="-122"/>
                <a:cs typeface="Calibri" pitchFamily="34" charset="-120"/>
              </a:rPr>
              <a:t>INTELLIGENT OPS</a:t>
            </a:r>
            <a:endParaRPr lang="en-US" sz="700" dirty="0"/>
          </a:p>
        </p:txBody>
      </p:sp>
      <p:sp>
        <p:nvSpPr>
          <p:cNvPr id="22" name="Text 20"/>
          <p:cNvSpPr/>
          <p:nvPr/>
        </p:nvSpPr>
        <p:spPr>
          <a:xfrm>
            <a:off x="694944" y="4846320"/>
            <a:ext cx="2944368" cy="21945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AIOps Platform</a:t>
            </a:r>
            <a:endParaRPr lang="en-US" sz="1200" dirty="0"/>
          </a:p>
        </p:txBody>
      </p:sp>
      <p:sp>
        <p:nvSpPr>
          <p:cNvPr id="23" name="Text 21"/>
          <p:cNvSpPr/>
          <p:nvPr/>
        </p:nvSpPr>
        <p:spPr>
          <a:xfrm>
            <a:off x="694944" y="5056632"/>
            <a:ext cx="2944368" cy="128016"/>
          </a:xfrm>
          <a:prstGeom prst="rect">
            <a:avLst/>
          </a:prstGeom>
          <a:noFill/>
          <a:ln/>
        </p:spPr>
        <p:txBody>
          <a:bodyPr wrap="square" lIns="0" tIns="0" rIns="0" bIns="0" rtlCol="0" anchor="ctr"/>
          <a:lstStyle/>
          <a:p>
            <a:pPr marL="0" indent="0">
              <a:buNone/>
            </a:pPr>
            <a:r>
              <a:rPr lang="en-US" sz="680" i="1" dirty="0">
                <a:solidFill>
                  <a:srgbClr val="AEC3E0"/>
                </a:solidFill>
                <a:latin typeface="Calibri" pitchFamily="34" charset="0"/>
                <a:ea typeface="Calibri" pitchFamily="34" charset="-122"/>
                <a:cs typeface="Calibri" pitchFamily="34" charset="-120"/>
              </a:rPr>
              <a:t>The substrate — not the people</a:t>
            </a:r>
            <a:endParaRPr lang="en-US" sz="680" dirty="0"/>
          </a:p>
        </p:txBody>
      </p:sp>
      <p:sp>
        <p:nvSpPr>
          <p:cNvPr id="24" name="Text 22"/>
          <p:cNvSpPr/>
          <p:nvPr/>
        </p:nvSpPr>
        <p:spPr>
          <a:xfrm>
            <a:off x="694944" y="5202936"/>
            <a:ext cx="2944368" cy="109728"/>
          </a:xfrm>
          <a:prstGeom prst="rect">
            <a:avLst/>
          </a:prstGeom>
          <a:noFill/>
          <a:ln/>
        </p:spPr>
        <p:txBody>
          <a:bodyPr wrap="square" lIns="0" tIns="0" rIns="0" bIns="0" rtlCol="0" anchor="ctr"/>
          <a:lstStyle/>
          <a:p>
            <a:pPr marL="0" indent="0">
              <a:buNone/>
            </a:pPr>
            <a:r>
              <a:rPr lang="en-US" sz="650" b="1" kern="0" spc="140" dirty="0">
                <a:solidFill>
                  <a:srgbClr val="FFD200"/>
                </a:solidFill>
                <a:latin typeface="Calibri" pitchFamily="34" charset="0"/>
                <a:ea typeface="Calibri" pitchFamily="34" charset="-122"/>
                <a:cs typeface="Calibri" pitchFamily="34" charset="-120"/>
              </a:rPr>
              <a:t>OWNS</a:t>
            </a:r>
            <a:endParaRPr lang="en-US" sz="650" dirty="0"/>
          </a:p>
        </p:txBody>
      </p:sp>
      <p:sp>
        <p:nvSpPr>
          <p:cNvPr id="25" name="Text 23"/>
          <p:cNvSpPr/>
          <p:nvPr/>
        </p:nvSpPr>
        <p:spPr>
          <a:xfrm>
            <a:off x="731520" y="5330952"/>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Telemetry backplane · data · chatbot</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Agent framework &amp; runtime</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IntOps engineers sit in the pod core</a:t>
            </a:r>
            <a:endParaRPr lang="en-US" sz="740" dirty="0"/>
          </a:p>
        </p:txBody>
      </p:sp>
      <p:sp>
        <p:nvSpPr>
          <p:cNvPr id="26" name="Text 24"/>
          <p:cNvSpPr/>
          <p:nvPr/>
        </p:nvSpPr>
        <p:spPr>
          <a:xfrm>
            <a:off x="3858768" y="1810512"/>
            <a:ext cx="2011680" cy="182880"/>
          </a:xfrm>
          <a:prstGeom prst="rect">
            <a:avLst/>
          </a:prstGeom>
          <a:noFill/>
          <a:ln/>
        </p:spPr>
        <p:txBody>
          <a:bodyPr wrap="square" lIns="0" tIns="0" rIns="0" bIns="0" rtlCol="0" anchor="ctr"/>
          <a:lstStyle/>
          <a:p>
            <a:pPr marL="0" indent="0" algn="ctr">
              <a:buNone/>
            </a:pPr>
            <a:r>
              <a:rPr lang="en-US" sz="800" b="1" kern="0" spc="140" dirty="0">
                <a:solidFill>
                  <a:srgbClr val="5C6773"/>
                </a:solidFill>
                <a:latin typeface="Calibri" pitchFamily="34" charset="0"/>
                <a:ea typeface="Calibri" pitchFamily="34" charset="-122"/>
                <a:cs typeface="Calibri" pitchFamily="34" charset="-120"/>
              </a:rPr>
              <a:t>PROVIDES →</a:t>
            </a:r>
            <a:endParaRPr lang="en-US" sz="800" dirty="0"/>
          </a:p>
        </p:txBody>
      </p:sp>
      <p:sp>
        <p:nvSpPr>
          <p:cNvPr id="27" name="Shape 25"/>
          <p:cNvSpPr/>
          <p:nvPr/>
        </p:nvSpPr>
        <p:spPr>
          <a:xfrm>
            <a:off x="3877056" y="2011680"/>
            <a:ext cx="1975104" cy="32004"/>
          </a:xfrm>
          <a:prstGeom prst="rect">
            <a:avLst/>
          </a:prstGeom>
          <a:solidFill>
            <a:srgbClr val="FFD200"/>
          </a:solidFill>
          <a:ln/>
        </p:spPr>
        <p:txBody>
          <a:bodyPr/>
          <a:lstStyle/>
          <a:p>
            <a:endParaRPr lang="en-US"/>
          </a:p>
        </p:txBody>
      </p:sp>
      <p:sp>
        <p:nvSpPr>
          <p:cNvPr id="28" name="Text 26"/>
          <p:cNvSpPr/>
          <p:nvPr/>
        </p:nvSpPr>
        <p:spPr>
          <a:xfrm>
            <a:off x="3858768" y="2084832"/>
            <a:ext cx="2011680" cy="18288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APIs · Portal · Primitives</a:t>
            </a:r>
            <a:endParaRPr lang="en-US" sz="740" dirty="0"/>
          </a:p>
        </p:txBody>
      </p:sp>
      <p:sp>
        <p:nvSpPr>
          <p:cNvPr id="29" name="Text 27"/>
          <p:cNvSpPr/>
          <p:nvPr/>
        </p:nvSpPr>
        <p:spPr>
          <a:xfrm>
            <a:off x="3858768" y="2322576"/>
            <a:ext cx="2011680" cy="182880"/>
          </a:xfrm>
          <a:prstGeom prst="rect">
            <a:avLst/>
          </a:prstGeom>
          <a:noFill/>
          <a:ln/>
        </p:spPr>
        <p:txBody>
          <a:bodyPr wrap="square" lIns="0" tIns="0" rIns="0" bIns="0" rtlCol="0" anchor="ctr"/>
          <a:lstStyle/>
          <a:p>
            <a:pPr marL="0" indent="0" algn="ctr">
              <a:buNone/>
            </a:pPr>
            <a:r>
              <a:rPr lang="en-US" sz="800" b="1" kern="0" spc="12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30" name="Shape 28"/>
          <p:cNvSpPr/>
          <p:nvPr/>
        </p:nvSpPr>
        <p:spPr>
          <a:xfrm>
            <a:off x="3877056" y="2523744"/>
            <a:ext cx="1975104" cy="32004"/>
          </a:xfrm>
          <a:prstGeom prst="rect">
            <a:avLst/>
          </a:prstGeom>
          <a:solidFill>
            <a:srgbClr val="4C9A2A"/>
          </a:solidFill>
          <a:ln/>
        </p:spPr>
        <p:txBody>
          <a:bodyPr/>
          <a:lstStyle/>
          <a:p>
            <a:endParaRPr lang="en-US"/>
          </a:p>
        </p:txBody>
      </p:sp>
      <p:sp>
        <p:nvSpPr>
          <p:cNvPr id="31" name="Text 29"/>
          <p:cNvSpPr/>
          <p:nvPr/>
        </p:nvSpPr>
        <p:spPr>
          <a:xfrm>
            <a:off x="3858768" y="2596896"/>
            <a:ext cx="2011680" cy="27432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IaC modules · Offering spec · Gaps</a:t>
            </a:r>
            <a:endParaRPr lang="en-US" sz="740" dirty="0"/>
          </a:p>
        </p:txBody>
      </p:sp>
      <p:sp>
        <p:nvSpPr>
          <p:cNvPr id="32" name="Text 30"/>
          <p:cNvSpPr/>
          <p:nvPr/>
        </p:nvSpPr>
        <p:spPr>
          <a:xfrm>
            <a:off x="3858768" y="3291840"/>
            <a:ext cx="2011680" cy="182880"/>
          </a:xfrm>
          <a:prstGeom prst="rect">
            <a:avLst/>
          </a:prstGeom>
          <a:noFill/>
          <a:ln/>
        </p:spPr>
        <p:txBody>
          <a:bodyPr wrap="square" lIns="0" tIns="0" rIns="0" bIns="0" rtlCol="0" anchor="ctr"/>
          <a:lstStyle/>
          <a:p>
            <a:pPr marL="0" indent="0" algn="ctr">
              <a:buNone/>
            </a:pPr>
            <a:r>
              <a:rPr lang="en-US" sz="800" b="1" kern="0" spc="140" dirty="0">
                <a:solidFill>
                  <a:srgbClr val="5C6773"/>
                </a:solidFill>
                <a:latin typeface="Calibri" pitchFamily="34" charset="0"/>
                <a:ea typeface="Calibri" pitchFamily="34" charset="-122"/>
                <a:cs typeface="Calibri" pitchFamily="34" charset="-120"/>
              </a:rPr>
              <a:t>PROVIDES →</a:t>
            </a:r>
            <a:endParaRPr lang="en-US" sz="800" dirty="0"/>
          </a:p>
        </p:txBody>
      </p:sp>
      <p:sp>
        <p:nvSpPr>
          <p:cNvPr id="33" name="Shape 31"/>
          <p:cNvSpPr/>
          <p:nvPr/>
        </p:nvSpPr>
        <p:spPr>
          <a:xfrm>
            <a:off x="3877056" y="3493008"/>
            <a:ext cx="1975104" cy="32004"/>
          </a:xfrm>
          <a:prstGeom prst="rect">
            <a:avLst/>
          </a:prstGeom>
          <a:solidFill>
            <a:srgbClr val="FFD200"/>
          </a:solidFill>
          <a:ln/>
        </p:spPr>
        <p:txBody>
          <a:bodyPr/>
          <a:lstStyle/>
          <a:p>
            <a:endParaRPr lang="en-US"/>
          </a:p>
        </p:txBody>
      </p:sp>
      <p:sp>
        <p:nvSpPr>
          <p:cNvPr id="34" name="Text 32"/>
          <p:cNvSpPr/>
          <p:nvPr/>
        </p:nvSpPr>
        <p:spPr>
          <a:xfrm>
            <a:off x="3858768" y="3566160"/>
            <a:ext cx="2011680" cy="18288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Forecasts · Rightsizing PRs</a:t>
            </a:r>
            <a:endParaRPr lang="en-US" sz="740" dirty="0"/>
          </a:p>
        </p:txBody>
      </p:sp>
      <p:sp>
        <p:nvSpPr>
          <p:cNvPr id="35" name="Text 33"/>
          <p:cNvSpPr/>
          <p:nvPr/>
        </p:nvSpPr>
        <p:spPr>
          <a:xfrm>
            <a:off x="3858768" y="3803904"/>
            <a:ext cx="2011680" cy="182880"/>
          </a:xfrm>
          <a:prstGeom prst="rect">
            <a:avLst/>
          </a:prstGeom>
          <a:noFill/>
          <a:ln/>
        </p:spPr>
        <p:txBody>
          <a:bodyPr wrap="square" lIns="0" tIns="0" rIns="0" bIns="0" rtlCol="0" anchor="ctr"/>
          <a:lstStyle/>
          <a:p>
            <a:pPr marL="0" indent="0" algn="ctr">
              <a:buNone/>
            </a:pPr>
            <a:r>
              <a:rPr lang="en-US" sz="800" b="1" kern="0" spc="12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36" name="Shape 34"/>
          <p:cNvSpPr/>
          <p:nvPr/>
        </p:nvSpPr>
        <p:spPr>
          <a:xfrm>
            <a:off x="3877056" y="4005072"/>
            <a:ext cx="1975104" cy="32004"/>
          </a:xfrm>
          <a:prstGeom prst="rect">
            <a:avLst/>
          </a:prstGeom>
          <a:solidFill>
            <a:srgbClr val="4C9A2A"/>
          </a:solidFill>
          <a:ln/>
        </p:spPr>
        <p:txBody>
          <a:bodyPr/>
          <a:lstStyle/>
          <a:p>
            <a:endParaRPr lang="en-US"/>
          </a:p>
        </p:txBody>
      </p:sp>
      <p:sp>
        <p:nvSpPr>
          <p:cNvPr id="37" name="Text 35"/>
          <p:cNvSpPr/>
          <p:nvPr/>
        </p:nvSpPr>
        <p:spPr>
          <a:xfrm>
            <a:off x="3858768" y="4078224"/>
            <a:ext cx="2011680" cy="27432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Telemetry · Cost · Workload patterns</a:t>
            </a:r>
            <a:endParaRPr lang="en-US" sz="740" dirty="0"/>
          </a:p>
        </p:txBody>
      </p:sp>
      <p:sp>
        <p:nvSpPr>
          <p:cNvPr id="38" name="Text 36"/>
          <p:cNvSpPr/>
          <p:nvPr/>
        </p:nvSpPr>
        <p:spPr>
          <a:xfrm>
            <a:off x="3858768" y="4773168"/>
            <a:ext cx="2011680" cy="182880"/>
          </a:xfrm>
          <a:prstGeom prst="rect">
            <a:avLst/>
          </a:prstGeom>
          <a:noFill/>
          <a:ln/>
        </p:spPr>
        <p:txBody>
          <a:bodyPr wrap="square" lIns="0" tIns="0" rIns="0" bIns="0" rtlCol="0" anchor="ctr"/>
          <a:lstStyle/>
          <a:p>
            <a:pPr marL="0" indent="0" algn="ctr">
              <a:buNone/>
            </a:pPr>
            <a:r>
              <a:rPr lang="en-US" sz="800" b="1" kern="0" spc="140" dirty="0">
                <a:solidFill>
                  <a:srgbClr val="5C6773"/>
                </a:solidFill>
                <a:latin typeface="Calibri" pitchFamily="34" charset="0"/>
                <a:ea typeface="Calibri" pitchFamily="34" charset="-122"/>
                <a:cs typeface="Calibri" pitchFamily="34" charset="-120"/>
              </a:rPr>
              <a:t>PROVIDES →</a:t>
            </a:r>
            <a:endParaRPr lang="en-US" sz="800" dirty="0"/>
          </a:p>
        </p:txBody>
      </p:sp>
      <p:sp>
        <p:nvSpPr>
          <p:cNvPr id="39" name="Shape 37"/>
          <p:cNvSpPr/>
          <p:nvPr/>
        </p:nvSpPr>
        <p:spPr>
          <a:xfrm>
            <a:off x="3877056" y="4974336"/>
            <a:ext cx="1975104" cy="32004"/>
          </a:xfrm>
          <a:prstGeom prst="rect">
            <a:avLst/>
          </a:prstGeom>
          <a:solidFill>
            <a:srgbClr val="FFD200"/>
          </a:solidFill>
          <a:ln/>
        </p:spPr>
        <p:txBody>
          <a:bodyPr/>
          <a:lstStyle/>
          <a:p>
            <a:endParaRPr lang="en-US"/>
          </a:p>
        </p:txBody>
      </p:sp>
      <p:sp>
        <p:nvSpPr>
          <p:cNvPr id="40" name="Text 38"/>
          <p:cNvSpPr/>
          <p:nvPr/>
        </p:nvSpPr>
        <p:spPr>
          <a:xfrm>
            <a:off x="3858768" y="5047488"/>
            <a:ext cx="2011680" cy="18288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Tooling · Prevention signals</a:t>
            </a:r>
            <a:endParaRPr lang="en-US" sz="740" dirty="0"/>
          </a:p>
        </p:txBody>
      </p:sp>
      <p:sp>
        <p:nvSpPr>
          <p:cNvPr id="41" name="Text 39"/>
          <p:cNvSpPr/>
          <p:nvPr/>
        </p:nvSpPr>
        <p:spPr>
          <a:xfrm>
            <a:off x="3858768" y="5285232"/>
            <a:ext cx="2011680" cy="182880"/>
          </a:xfrm>
          <a:prstGeom prst="rect">
            <a:avLst/>
          </a:prstGeom>
          <a:noFill/>
          <a:ln/>
        </p:spPr>
        <p:txBody>
          <a:bodyPr wrap="square" lIns="0" tIns="0" rIns="0" bIns="0" rtlCol="0" anchor="ctr"/>
          <a:lstStyle/>
          <a:p>
            <a:pPr marL="0" indent="0" algn="ctr">
              <a:buNone/>
            </a:pPr>
            <a:r>
              <a:rPr lang="en-US" sz="800" b="1" kern="0" spc="12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42" name="Shape 40"/>
          <p:cNvSpPr/>
          <p:nvPr/>
        </p:nvSpPr>
        <p:spPr>
          <a:xfrm>
            <a:off x="3877056" y="5486400"/>
            <a:ext cx="1975104" cy="32004"/>
          </a:xfrm>
          <a:prstGeom prst="rect">
            <a:avLst/>
          </a:prstGeom>
          <a:solidFill>
            <a:srgbClr val="4C9A2A"/>
          </a:solidFill>
          <a:ln/>
        </p:spPr>
        <p:txBody>
          <a:bodyPr/>
          <a:lstStyle/>
          <a:p>
            <a:endParaRPr lang="en-US"/>
          </a:p>
        </p:txBody>
      </p:sp>
      <p:sp>
        <p:nvSpPr>
          <p:cNvPr id="43" name="Text 41"/>
          <p:cNvSpPr/>
          <p:nvPr/>
        </p:nvSpPr>
        <p:spPr>
          <a:xfrm>
            <a:off x="3858768" y="5559552"/>
            <a:ext cx="2011680" cy="27432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Telemetry · Platform agent · Gaps</a:t>
            </a:r>
            <a:endParaRPr lang="en-US" sz="740" dirty="0"/>
          </a:p>
        </p:txBody>
      </p:sp>
      <p:sp>
        <p:nvSpPr>
          <p:cNvPr id="44" name="Shape 42"/>
          <p:cNvSpPr/>
          <p:nvPr/>
        </p:nvSpPr>
        <p:spPr>
          <a:xfrm>
            <a:off x="5998464" y="1664208"/>
            <a:ext cx="2286000" cy="4315968"/>
          </a:xfrm>
          <a:prstGeom prst="rect">
            <a:avLst/>
          </a:prstGeom>
          <a:solidFill>
            <a:srgbClr val="FFD200"/>
          </a:solidFill>
          <a:ln/>
        </p:spPr>
        <p:txBody>
          <a:bodyPr/>
          <a:lstStyle/>
          <a:p>
            <a:endParaRPr lang="en-US"/>
          </a:p>
        </p:txBody>
      </p:sp>
      <p:sp>
        <p:nvSpPr>
          <p:cNvPr id="45" name="Shape 43"/>
          <p:cNvSpPr/>
          <p:nvPr/>
        </p:nvSpPr>
        <p:spPr>
          <a:xfrm>
            <a:off x="6044184" y="1709928"/>
            <a:ext cx="2194560" cy="4224528"/>
          </a:xfrm>
          <a:prstGeom prst="rect">
            <a:avLst/>
          </a:prstGeom>
          <a:solidFill>
            <a:srgbClr val="005DAA"/>
          </a:solidFill>
          <a:ln/>
        </p:spPr>
        <p:txBody>
          <a:bodyPr/>
          <a:lstStyle/>
          <a:p>
            <a:endParaRPr lang="en-US"/>
          </a:p>
        </p:txBody>
      </p:sp>
      <p:sp>
        <p:nvSpPr>
          <p:cNvPr id="46" name="Text 44"/>
          <p:cNvSpPr/>
          <p:nvPr/>
        </p:nvSpPr>
        <p:spPr>
          <a:xfrm>
            <a:off x="6089904" y="1810512"/>
            <a:ext cx="2103120" cy="219456"/>
          </a:xfrm>
          <a:prstGeom prst="rect">
            <a:avLst/>
          </a:prstGeom>
          <a:noFill/>
          <a:ln/>
        </p:spPr>
        <p:txBody>
          <a:bodyPr wrap="square" lIns="0" tIns="0" rIns="0" bIns="0" rtlCol="0" anchor="ctr"/>
          <a:lstStyle/>
          <a:p>
            <a:pPr marL="0" indent="0" algn="ctr">
              <a:buNone/>
            </a:pPr>
            <a:r>
              <a:rPr lang="en-US" sz="950" b="1" kern="0" spc="140" dirty="0">
                <a:solidFill>
                  <a:srgbClr val="FFD200"/>
                </a:solidFill>
                <a:latin typeface="Calibri" pitchFamily="34" charset="0"/>
                <a:ea typeface="Calibri" pitchFamily="34" charset="-122"/>
                <a:cs typeface="Calibri" pitchFamily="34" charset="-120"/>
              </a:rPr>
              <a:t>SQL SERVER POD</a:t>
            </a:r>
            <a:endParaRPr lang="en-US" sz="950" dirty="0"/>
          </a:p>
        </p:txBody>
      </p:sp>
      <p:sp>
        <p:nvSpPr>
          <p:cNvPr id="47" name="Text 45"/>
          <p:cNvSpPr/>
          <p:nvPr/>
        </p:nvSpPr>
        <p:spPr>
          <a:xfrm>
            <a:off x="6089904" y="2011680"/>
            <a:ext cx="2103120" cy="182880"/>
          </a:xfrm>
          <a:prstGeom prst="rect">
            <a:avLst/>
          </a:prstGeom>
          <a:noFill/>
          <a:ln/>
        </p:spPr>
        <p:txBody>
          <a:bodyPr wrap="square" lIns="0" tIns="0" rIns="0" bIns="0" rtlCol="0" anchor="ctr"/>
          <a:lstStyle/>
          <a:p>
            <a:pPr marL="0" indent="0" algn="ctr">
              <a:buNone/>
            </a:pPr>
            <a:r>
              <a:rPr lang="en-US" sz="740" i="1" dirty="0">
                <a:solidFill>
                  <a:srgbClr val="CFE0F5"/>
                </a:solidFill>
                <a:latin typeface="Calibri" pitchFamily="34" charset="0"/>
                <a:ea typeface="Calibri" pitchFamily="34" charset="-122"/>
                <a:cs typeface="Calibri" pitchFamily="34" charset="-120"/>
              </a:rPr>
              <a:t>Fully dedicated · carries the pager</a:t>
            </a:r>
            <a:endParaRPr lang="en-US" sz="740" dirty="0"/>
          </a:p>
        </p:txBody>
      </p:sp>
      <p:sp>
        <p:nvSpPr>
          <p:cNvPr id="48" name="Shape 46"/>
          <p:cNvSpPr/>
          <p:nvPr/>
        </p:nvSpPr>
        <p:spPr>
          <a:xfrm>
            <a:off x="6163056" y="2286000"/>
            <a:ext cx="1956816" cy="402336"/>
          </a:xfrm>
          <a:prstGeom prst="rect">
            <a:avLst/>
          </a:prstGeom>
          <a:solidFill>
            <a:srgbClr val="0B2350"/>
          </a:solidFill>
          <a:ln/>
        </p:spPr>
        <p:txBody>
          <a:bodyPr/>
          <a:lstStyle/>
          <a:p>
            <a:endParaRPr lang="en-US"/>
          </a:p>
        </p:txBody>
      </p:sp>
      <p:sp>
        <p:nvSpPr>
          <p:cNvPr id="49" name="Text 47"/>
          <p:cNvSpPr/>
          <p:nvPr/>
        </p:nvSpPr>
        <p:spPr>
          <a:xfrm>
            <a:off x="6163056" y="2386584"/>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Pod Lead</a:t>
            </a:r>
            <a:endParaRPr lang="en-US" sz="1050" dirty="0"/>
          </a:p>
        </p:txBody>
      </p:sp>
      <p:sp>
        <p:nvSpPr>
          <p:cNvPr id="50" name="Shape 48"/>
          <p:cNvSpPr/>
          <p:nvPr/>
        </p:nvSpPr>
        <p:spPr>
          <a:xfrm>
            <a:off x="6163056" y="2770632"/>
            <a:ext cx="1956816" cy="402336"/>
          </a:xfrm>
          <a:prstGeom prst="rect">
            <a:avLst/>
          </a:prstGeom>
          <a:solidFill>
            <a:srgbClr val="0B2350"/>
          </a:solidFill>
          <a:ln/>
        </p:spPr>
        <p:txBody>
          <a:bodyPr/>
          <a:lstStyle/>
          <a:p>
            <a:endParaRPr lang="en-US"/>
          </a:p>
        </p:txBody>
      </p:sp>
      <p:sp>
        <p:nvSpPr>
          <p:cNvPr id="51" name="Text 49"/>
          <p:cNvSpPr/>
          <p:nvPr/>
        </p:nvSpPr>
        <p:spPr>
          <a:xfrm>
            <a:off x="6163056" y="2871216"/>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Engineering</a:t>
            </a:r>
            <a:endParaRPr lang="en-US" sz="1050" dirty="0"/>
          </a:p>
        </p:txBody>
      </p:sp>
      <p:sp>
        <p:nvSpPr>
          <p:cNvPr id="52" name="Shape 50"/>
          <p:cNvSpPr/>
          <p:nvPr/>
        </p:nvSpPr>
        <p:spPr>
          <a:xfrm>
            <a:off x="6163056" y="3255264"/>
            <a:ext cx="1956816" cy="402336"/>
          </a:xfrm>
          <a:prstGeom prst="rect">
            <a:avLst/>
          </a:prstGeom>
          <a:solidFill>
            <a:srgbClr val="0B2350"/>
          </a:solidFill>
          <a:ln/>
        </p:spPr>
        <p:txBody>
          <a:bodyPr/>
          <a:lstStyle/>
          <a:p>
            <a:endParaRPr lang="en-US"/>
          </a:p>
        </p:txBody>
      </p:sp>
      <p:sp>
        <p:nvSpPr>
          <p:cNvPr id="53" name="Text 51"/>
          <p:cNvSpPr/>
          <p:nvPr/>
        </p:nvSpPr>
        <p:spPr>
          <a:xfrm>
            <a:off x="6163056" y="3355848"/>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Ops</a:t>
            </a:r>
            <a:endParaRPr lang="en-US" sz="1050" dirty="0"/>
          </a:p>
        </p:txBody>
      </p:sp>
      <p:sp>
        <p:nvSpPr>
          <p:cNvPr id="54" name="Shape 52"/>
          <p:cNvSpPr/>
          <p:nvPr/>
        </p:nvSpPr>
        <p:spPr>
          <a:xfrm>
            <a:off x="6163056" y="3739896"/>
            <a:ext cx="1956816" cy="402336"/>
          </a:xfrm>
          <a:prstGeom prst="rect">
            <a:avLst/>
          </a:prstGeom>
          <a:solidFill>
            <a:srgbClr val="0B2350"/>
          </a:solidFill>
          <a:ln/>
        </p:spPr>
        <p:txBody>
          <a:bodyPr/>
          <a:lstStyle/>
          <a:p>
            <a:endParaRPr lang="en-US"/>
          </a:p>
        </p:txBody>
      </p:sp>
      <p:sp>
        <p:nvSpPr>
          <p:cNvPr id="55" name="Text 53"/>
          <p:cNvSpPr/>
          <p:nvPr/>
        </p:nvSpPr>
        <p:spPr>
          <a:xfrm>
            <a:off x="6163056" y="3840480"/>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SQL SMEs</a:t>
            </a:r>
            <a:endParaRPr lang="en-US" sz="1050" dirty="0"/>
          </a:p>
        </p:txBody>
      </p:sp>
      <p:sp>
        <p:nvSpPr>
          <p:cNvPr id="56" name="Shape 54"/>
          <p:cNvSpPr/>
          <p:nvPr/>
        </p:nvSpPr>
        <p:spPr>
          <a:xfrm>
            <a:off x="6163056" y="4224528"/>
            <a:ext cx="1956816" cy="402336"/>
          </a:xfrm>
          <a:prstGeom prst="rect">
            <a:avLst/>
          </a:prstGeom>
          <a:solidFill>
            <a:srgbClr val="0B2350"/>
          </a:solidFill>
          <a:ln/>
        </p:spPr>
        <p:txBody>
          <a:bodyPr/>
          <a:lstStyle/>
          <a:p>
            <a:endParaRPr lang="en-US"/>
          </a:p>
        </p:txBody>
      </p:sp>
      <p:sp>
        <p:nvSpPr>
          <p:cNvPr id="57" name="Text 55"/>
          <p:cNvSpPr/>
          <p:nvPr/>
        </p:nvSpPr>
        <p:spPr>
          <a:xfrm>
            <a:off x="6163056" y="4325112"/>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SRE</a:t>
            </a:r>
            <a:endParaRPr lang="en-US" sz="1050" dirty="0"/>
          </a:p>
        </p:txBody>
      </p:sp>
      <p:sp>
        <p:nvSpPr>
          <p:cNvPr id="58" name="Shape 56"/>
          <p:cNvSpPr/>
          <p:nvPr/>
        </p:nvSpPr>
        <p:spPr>
          <a:xfrm>
            <a:off x="6163056" y="4709160"/>
            <a:ext cx="1956816" cy="402336"/>
          </a:xfrm>
          <a:prstGeom prst="rect">
            <a:avLst/>
          </a:prstGeom>
          <a:solidFill>
            <a:srgbClr val="0B2350"/>
          </a:solidFill>
          <a:ln/>
        </p:spPr>
        <p:txBody>
          <a:bodyPr/>
          <a:lstStyle/>
          <a:p>
            <a:endParaRPr lang="en-US"/>
          </a:p>
        </p:txBody>
      </p:sp>
      <p:sp>
        <p:nvSpPr>
          <p:cNvPr id="59" name="Text 57"/>
          <p:cNvSpPr/>
          <p:nvPr/>
        </p:nvSpPr>
        <p:spPr>
          <a:xfrm>
            <a:off x="6163056" y="4809744"/>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Intelligent Ops</a:t>
            </a:r>
            <a:endParaRPr lang="en-US" sz="1050" dirty="0"/>
          </a:p>
        </p:txBody>
      </p:sp>
      <p:sp>
        <p:nvSpPr>
          <p:cNvPr id="60" name="Shape 58"/>
          <p:cNvSpPr/>
          <p:nvPr/>
        </p:nvSpPr>
        <p:spPr>
          <a:xfrm>
            <a:off x="6163056" y="5193792"/>
            <a:ext cx="1956816" cy="402336"/>
          </a:xfrm>
          <a:prstGeom prst="rect">
            <a:avLst/>
          </a:prstGeom>
          <a:solidFill>
            <a:srgbClr val="0B2350"/>
          </a:solidFill>
          <a:ln/>
        </p:spPr>
        <p:txBody>
          <a:bodyPr/>
          <a:lstStyle/>
          <a:p>
            <a:endParaRPr lang="en-US"/>
          </a:p>
        </p:txBody>
      </p:sp>
      <p:sp>
        <p:nvSpPr>
          <p:cNvPr id="61" name="Text 59"/>
          <p:cNvSpPr/>
          <p:nvPr/>
        </p:nvSpPr>
        <p:spPr>
          <a:xfrm>
            <a:off x="6163056" y="5294376"/>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Tigers — R&amp;C</a:t>
            </a:r>
            <a:endParaRPr lang="en-US" sz="1050" dirty="0"/>
          </a:p>
        </p:txBody>
      </p:sp>
      <p:sp>
        <p:nvSpPr>
          <p:cNvPr id="62" name="Text 60"/>
          <p:cNvSpPr/>
          <p:nvPr/>
        </p:nvSpPr>
        <p:spPr>
          <a:xfrm>
            <a:off x="6089904" y="5705856"/>
            <a:ext cx="2103120" cy="182880"/>
          </a:xfrm>
          <a:prstGeom prst="rect">
            <a:avLst/>
          </a:prstGeom>
          <a:noFill/>
          <a:ln/>
        </p:spPr>
        <p:txBody>
          <a:bodyPr wrap="square" lIns="0" tIns="0" rIns="0" bIns="0" rtlCol="0" anchor="ctr"/>
          <a:lstStyle/>
          <a:p>
            <a:pPr marL="0" indent="0" algn="ctr">
              <a:buNone/>
            </a:pPr>
            <a:r>
              <a:rPr lang="en-US" sz="740" b="1" i="1" dirty="0">
                <a:solidFill>
                  <a:srgbClr val="FFD200"/>
                </a:solidFill>
                <a:latin typeface="Calibri" pitchFamily="34" charset="0"/>
                <a:ea typeface="Calibri" pitchFamily="34" charset="-122"/>
                <a:cs typeface="Calibri" pitchFamily="34" charset="-120"/>
              </a:rPr>
              <a:t>Automation is what all of them do</a:t>
            </a:r>
            <a:endParaRPr lang="en-US" sz="740" dirty="0"/>
          </a:p>
        </p:txBody>
      </p:sp>
      <p:sp>
        <p:nvSpPr>
          <p:cNvPr id="63" name="Shape 61"/>
          <p:cNvSpPr/>
          <p:nvPr/>
        </p:nvSpPr>
        <p:spPr>
          <a:xfrm>
            <a:off x="8705088" y="1664208"/>
            <a:ext cx="3456432" cy="45720"/>
          </a:xfrm>
          <a:prstGeom prst="rect">
            <a:avLst/>
          </a:prstGeom>
          <a:solidFill>
            <a:srgbClr val="4C9A2A"/>
          </a:solidFill>
          <a:ln/>
        </p:spPr>
        <p:txBody>
          <a:bodyPr/>
          <a:lstStyle/>
          <a:p>
            <a:endParaRPr lang="en-US"/>
          </a:p>
        </p:txBody>
      </p:sp>
      <p:sp>
        <p:nvSpPr>
          <p:cNvPr id="64" name="Shape 62"/>
          <p:cNvSpPr/>
          <p:nvPr/>
        </p:nvSpPr>
        <p:spPr>
          <a:xfrm>
            <a:off x="8705088" y="1709928"/>
            <a:ext cx="3456432" cy="1307592"/>
          </a:xfrm>
          <a:prstGeom prst="rect">
            <a:avLst/>
          </a:prstGeom>
          <a:solidFill>
            <a:srgbClr val="FFFFFF"/>
          </a:solidFill>
          <a:ln w="7620">
            <a:solidFill>
              <a:srgbClr val="D7DDE5"/>
            </a:solidFill>
            <a:prstDash val="solid"/>
          </a:ln>
        </p:spPr>
        <p:txBody>
          <a:bodyPr/>
          <a:lstStyle/>
          <a:p>
            <a:endParaRPr lang="en-US"/>
          </a:p>
        </p:txBody>
      </p:sp>
      <p:sp>
        <p:nvSpPr>
          <p:cNvPr id="65" name="Text 63"/>
          <p:cNvSpPr/>
          <p:nvPr/>
        </p:nvSpPr>
        <p:spPr>
          <a:xfrm>
            <a:off x="8833104" y="1755648"/>
            <a:ext cx="3200400" cy="128016"/>
          </a:xfrm>
          <a:prstGeom prst="rect">
            <a:avLst/>
          </a:prstGeom>
          <a:noFill/>
          <a:ln/>
        </p:spPr>
        <p:txBody>
          <a:bodyPr wrap="square" lIns="0" tIns="0" rIns="0" bIns="0" rtlCol="0" anchor="ctr"/>
          <a:lstStyle/>
          <a:p>
            <a:pPr marL="0" indent="0">
              <a:buNone/>
            </a:pPr>
            <a:r>
              <a:rPr lang="en-US" sz="700" b="1" kern="0" spc="140" dirty="0">
                <a:solidFill>
                  <a:srgbClr val="5C6773"/>
                </a:solidFill>
                <a:latin typeface="Calibri" pitchFamily="34" charset="0"/>
                <a:ea typeface="Calibri" pitchFamily="34" charset="-122"/>
                <a:cs typeface="Calibri" pitchFamily="34" charset="-120"/>
              </a:rPr>
              <a:t>POD — ZEPHYR CONTROL PLANE</a:t>
            </a:r>
            <a:endParaRPr lang="en-US" sz="700" dirty="0"/>
          </a:p>
        </p:txBody>
      </p:sp>
      <p:sp>
        <p:nvSpPr>
          <p:cNvPr id="66" name="Text 64"/>
          <p:cNvSpPr/>
          <p:nvPr/>
        </p:nvSpPr>
        <p:spPr>
          <a:xfrm>
            <a:off x="8833104" y="1901952"/>
            <a:ext cx="3200400" cy="219456"/>
          </a:xfrm>
          <a:prstGeom prst="rect">
            <a:avLst/>
          </a:prstGeom>
          <a:noFill/>
          <a:ln/>
        </p:spPr>
        <p:txBody>
          <a:bodyPr wrap="square" lIns="0" tIns="0" rIns="0" bIns="0" rtlCol="0" anchor="ctr"/>
          <a:lstStyle/>
          <a:p>
            <a:pPr marL="0" indent="0">
              <a:buNone/>
            </a:pPr>
            <a:r>
              <a:rPr lang="en-US" sz="1250" b="1" dirty="0">
                <a:solidFill>
                  <a:srgbClr val="0B2350"/>
                </a:solidFill>
                <a:latin typeface="Cambria" pitchFamily="34" charset="0"/>
                <a:ea typeface="Cambria" pitchFamily="34" charset="-122"/>
                <a:cs typeface="Cambria" pitchFamily="34" charset="-120"/>
              </a:rPr>
              <a:t>Self-serve by default</a:t>
            </a:r>
            <a:endParaRPr lang="en-US" sz="1250" dirty="0"/>
          </a:p>
        </p:txBody>
      </p:sp>
      <p:sp>
        <p:nvSpPr>
          <p:cNvPr id="67" name="Text 65"/>
          <p:cNvSpPr/>
          <p:nvPr/>
        </p:nvSpPr>
        <p:spPr>
          <a:xfrm>
            <a:off x="8869680" y="2148840"/>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Pod publishes IaC modules &amp; offerings</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Self-service via control plane</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Policy gates as code · controls inherited</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Evidence auto-generated</a:t>
            </a:r>
            <a:endParaRPr lang="en-US" sz="760" dirty="0"/>
          </a:p>
        </p:txBody>
      </p:sp>
      <p:sp>
        <p:nvSpPr>
          <p:cNvPr id="68" name="Shape 66"/>
          <p:cNvSpPr/>
          <p:nvPr/>
        </p:nvSpPr>
        <p:spPr>
          <a:xfrm>
            <a:off x="8705088" y="3145536"/>
            <a:ext cx="3456432" cy="45720"/>
          </a:xfrm>
          <a:prstGeom prst="rect">
            <a:avLst/>
          </a:prstGeom>
          <a:solidFill>
            <a:srgbClr val="4C9A2A"/>
          </a:solidFill>
          <a:ln/>
        </p:spPr>
        <p:txBody>
          <a:bodyPr/>
          <a:lstStyle/>
          <a:p>
            <a:endParaRPr lang="en-US"/>
          </a:p>
        </p:txBody>
      </p:sp>
      <p:sp>
        <p:nvSpPr>
          <p:cNvPr id="69" name="Shape 67"/>
          <p:cNvSpPr/>
          <p:nvPr/>
        </p:nvSpPr>
        <p:spPr>
          <a:xfrm>
            <a:off x="8705088" y="3191256"/>
            <a:ext cx="3456432" cy="1307592"/>
          </a:xfrm>
          <a:prstGeom prst="rect">
            <a:avLst/>
          </a:prstGeom>
          <a:solidFill>
            <a:srgbClr val="FFFFFF"/>
          </a:solidFill>
          <a:ln w="7620">
            <a:solidFill>
              <a:srgbClr val="D7DDE5"/>
            </a:solidFill>
            <a:prstDash val="solid"/>
          </a:ln>
        </p:spPr>
        <p:txBody>
          <a:bodyPr/>
          <a:lstStyle/>
          <a:p>
            <a:endParaRPr lang="en-US"/>
          </a:p>
        </p:txBody>
      </p:sp>
      <p:sp>
        <p:nvSpPr>
          <p:cNvPr id="70" name="Text 68"/>
          <p:cNvSpPr/>
          <p:nvPr/>
        </p:nvSpPr>
        <p:spPr>
          <a:xfrm>
            <a:off x="8833104" y="3236976"/>
            <a:ext cx="3200400" cy="128016"/>
          </a:xfrm>
          <a:prstGeom prst="rect">
            <a:avLst/>
          </a:prstGeom>
          <a:noFill/>
          <a:ln/>
        </p:spPr>
        <p:txBody>
          <a:bodyPr wrap="square" lIns="0" tIns="0" rIns="0" bIns="0" rtlCol="0" anchor="ctr"/>
          <a:lstStyle/>
          <a:p>
            <a:pPr marL="0" indent="0">
              <a:buNone/>
            </a:pPr>
            <a:r>
              <a:rPr lang="en-US" sz="700" b="1" kern="0" spc="140" dirty="0">
                <a:solidFill>
                  <a:srgbClr val="5C6773"/>
                </a:solidFill>
                <a:latin typeface="Calibri" pitchFamily="34" charset="0"/>
                <a:ea typeface="Calibri" pitchFamily="34" charset="-122"/>
                <a:cs typeface="Calibri" pitchFamily="34" charset="-120"/>
              </a:rPr>
              <a:t>POD — OPTIMIZATION</a:t>
            </a:r>
            <a:endParaRPr lang="en-US" sz="700" dirty="0"/>
          </a:p>
        </p:txBody>
      </p:sp>
      <p:sp>
        <p:nvSpPr>
          <p:cNvPr id="71" name="Text 69"/>
          <p:cNvSpPr/>
          <p:nvPr/>
        </p:nvSpPr>
        <p:spPr>
          <a:xfrm>
            <a:off x="8833104" y="3383280"/>
            <a:ext cx="3200400" cy="219456"/>
          </a:xfrm>
          <a:prstGeom prst="rect">
            <a:avLst/>
          </a:prstGeom>
          <a:noFill/>
          <a:ln/>
        </p:spPr>
        <p:txBody>
          <a:bodyPr wrap="square" lIns="0" tIns="0" rIns="0" bIns="0" rtlCol="0" anchor="ctr"/>
          <a:lstStyle/>
          <a:p>
            <a:pPr marL="0" indent="0">
              <a:buNone/>
            </a:pPr>
            <a:r>
              <a:rPr lang="en-US" sz="1250" b="1" dirty="0">
                <a:solidFill>
                  <a:srgbClr val="0B2350"/>
                </a:solidFill>
                <a:latin typeface="Cambria" pitchFamily="34" charset="0"/>
                <a:ea typeface="Cambria" pitchFamily="34" charset="-122"/>
                <a:cs typeface="Cambria" pitchFamily="34" charset="-120"/>
              </a:rPr>
              <a:t>Rightsized by default</a:t>
            </a:r>
            <a:endParaRPr lang="en-US" sz="1250" dirty="0"/>
          </a:p>
        </p:txBody>
      </p:sp>
      <p:sp>
        <p:nvSpPr>
          <p:cNvPr id="72" name="Text 70"/>
          <p:cNvSpPr/>
          <p:nvPr/>
        </p:nvSpPr>
        <p:spPr>
          <a:xfrm>
            <a:off x="8869680" y="3630168"/>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Capacity headroom visible</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Rightsizing PRs in repo</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Real-time usage visibility</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Migration tooling on demand</a:t>
            </a:r>
            <a:endParaRPr lang="en-US" sz="760" dirty="0"/>
          </a:p>
        </p:txBody>
      </p:sp>
      <p:sp>
        <p:nvSpPr>
          <p:cNvPr id="73" name="Shape 71"/>
          <p:cNvSpPr/>
          <p:nvPr/>
        </p:nvSpPr>
        <p:spPr>
          <a:xfrm>
            <a:off x="8705088" y="4626864"/>
            <a:ext cx="3456432" cy="45720"/>
          </a:xfrm>
          <a:prstGeom prst="rect">
            <a:avLst/>
          </a:prstGeom>
          <a:solidFill>
            <a:srgbClr val="4C9A2A"/>
          </a:solidFill>
          <a:ln/>
        </p:spPr>
        <p:txBody>
          <a:bodyPr/>
          <a:lstStyle/>
          <a:p>
            <a:endParaRPr lang="en-US"/>
          </a:p>
        </p:txBody>
      </p:sp>
      <p:sp>
        <p:nvSpPr>
          <p:cNvPr id="74" name="Shape 72"/>
          <p:cNvSpPr/>
          <p:nvPr/>
        </p:nvSpPr>
        <p:spPr>
          <a:xfrm>
            <a:off x="8705088" y="4672584"/>
            <a:ext cx="3456432" cy="1307592"/>
          </a:xfrm>
          <a:prstGeom prst="rect">
            <a:avLst/>
          </a:prstGeom>
          <a:solidFill>
            <a:srgbClr val="FFFFFF"/>
          </a:solidFill>
          <a:ln w="7620">
            <a:solidFill>
              <a:srgbClr val="D7DDE5"/>
            </a:solidFill>
            <a:prstDash val="solid"/>
          </a:ln>
        </p:spPr>
        <p:txBody>
          <a:bodyPr/>
          <a:lstStyle/>
          <a:p>
            <a:endParaRPr lang="en-US"/>
          </a:p>
        </p:txBody>
      </p:sp>
      <p:sp>
        <p:nvSpPr>
          <p:cNvPr id="75" name="Text 73"/>
          <p:cNvSpPr/>
          <p:nvPr/>
        </p:nvSpPr>
        <p:spPr>
          <a:xfrm>
            <a:off x="8833104" y="4718304"/>
            <a:ext cx="3200400" cy="128016"/>
          </a:xfrm>
          <a:prstGeom prst="rect">
            <a:avLst/>
          </a:prstGeom>
          <a:noFill/>
          <a:ln/>
        </p:spPr>
        <p:txBody>
          <a:bodyPr wrap="square" lIns="0" tIns="0" rIns="0" bIns="0" rtlCol="0" anchor="ctr"/>
          <a:lstStyle/>
          <a:p>
            <a:pPr marL="0" indent="0">
              <a:buNone/>
            </a:pPr>
            <a:r>
              <a:rPr lang="en-US" sz="700" b="1" kern="0" spc="140" dirty="0">
                <a:solidFill>
                  <a:srgbClr val="5C6773"/>
                </a:solidFill>
                <a:latin typeface="Calibri" pitchFamily="34" charset="0"/>
                <a:ea typeface="Calibri" pitchFamily="34" charset="-122"/>
                <a:cs typeface="Calibri" pitchFamily="34" charset="-120"/>
              </a:rPr>
              <a:t>POD — INCIDENT PREVENTION</a:t>
            </a:r>
            <a:endParaRPr lang="en-US" sz="700" dirty="0"/>
          </a:p>
        </p:txBody>
      </p:sp>
      <p:sp>
        <p:nvSpPr>
          <p:cNvPr id="76" name="Text 74"/>
          <p:cNvSpPr/>
          <p:nvPr/>
        </p:nvSpPr>
        <p:spPr>
          <a:xfrm>
            <a:off x="8833104" y="4864608"/>
            <a:ext cx="3200400" cy="219456"/>
          </a:xfrm>
          <a:prstGeom prst="rect">
            <a:avLst/>
          </a:prstGeom>
          <a:noFill/>
          <a:ln/>
        </p:spPr>
        <p:txBody>
          <a:bodyPr wrap="square" lIns="0" tIns="0" rIns="0" bIns="0" rtlCol="0" anchor="ctr"/>
          <a:lstStyle/>
          <a:p>
            <a:pPr marL="0" indent="0">
              <a:buNone/>
            </a:pPr>
            <a:r>
              <a:rPr lang="en-US" sz="1250" b="1" dirty="0">
                <a:solidFill>
                  <a:srgbClr val="0B2350"/>
                </a:solidFill>
                <a:latin typeface="Cambria" pitchFamily="34" charset="0"/>
                <a:ea typeface="Cambria" pitchFamily="34" charset="-122"/>
                <a:cs typeface="Cambria" pitchFamily="34" charset="-120"/>
              </a:rPr>
              <a:t>Resilient by default</a:t>
            </a:r>
            <a:endParaRPr lang="en-US" sz="1250" dirty="0"/>
          </a:p>
        </p:txBody>
      </p:sp>
      <p:sp>
        <p:nvSpPr>
          <p:cNvPr id="77" name="Text 75"/>
          <p:cNvSpPr/>
          <p:nvPr/>
        </p:nvSpPr>
        <p:spPr>
          <a:xfrm>
            <a:off x="8869680" y="5111496"/>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Anomalies surfaced before impact</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Remediation proposed as PRs</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Alert noise auto-triaged</a:t>
            </a:r>
            <a:endParaRPr lang="en-US" sz="760" dirty="0"/>
          </a:p>
        </p:txBody>
      </p:sp>
      <p:sp>
        <p:nvSpPr>
          <p:cNvPr id="78" name="Text 76"/>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2147</Words>
  <Application>Microsoft Macintosh PowerPoint</Application>
  <PresentationFormat>Widescreen</PresentationFormat>
  <Paragraphs>275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RBC Cloud Operating Model — SQL Server Pod</dc:title>
  <dc:subject>PptxGenJS Presentation</dc:subject>
  <dc:creator>Technology Infrastructure</dc:creator>
  <cp:lastModifiedBy>Dhwanil Raval</cp:lastModifiedBy>
  <cp:revision>8</cp:revision>
  <dcterms:created xsi:type="dcterms:W3CDTF">2026-07-19T17:12:30Z</dcterms:created>
  <dcterms:modified xsi:type="dcterms:W3CDTF">2026-07-19T20:41:11Z</dcterms:modified>
</cp:coreProperties>
</file>