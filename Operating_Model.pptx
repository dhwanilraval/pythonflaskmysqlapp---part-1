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3DA5"/>
                </a:solidFill>
                <a:latin typeface="Calibri"/>
              </a:defRPr>
            </a:pPr>
            <a:r>
              <a:rPr lang="en-US" sz="1300" b="0" i="0" u="none" strike="noStrike">
                <a:solidFill>
                  <a:srgbClr val="003DA5"/>
                </a:solidFill>
                <a:latin typeface="Calibri"/>
              </a:rPr>
              <a:t>Targeted Improvement vs. Today (%)</a:t>
            </a:r>
          </a:p>
        </c:rich>
      </c:tx>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FTE reclaimed from toil</c:v>
                </c:pt>
                <c:pt idx="1">
                  <c:v>MTTR reduction</c:v>
                </c:pt>
                <c:pt idx="2">
                  <c:v>Provisioning lead time</c:v>
                </c:pt>
                <c:pt idx="3">
                  <c:v>Deployment frequency</c:v>
                </c:pt>
                <c:pt idx="4">
                  <c:v>Time-to-onboard team</c:v>
                </c:pt>
                <c:pt idx="5">
                  <c:v>DevEx NPS lift</c:v>
                </c:pt>
              </c:strCache>
            </c:strRef>
          </c:cat>
          <c:val>
            <c:numRef>
              <c:f>Sheet1!$B$2:$B$7</c:f>
              <c:numCache>
                <c:formatCode>General</c:formatCode>
                <c:ptCount val="6"/>
                <c:pt idx="0">
                  <c:v>20</c:v>
                </c:pt>
                <c:pt idx="1">
                  <c:v>40</c:v>
                </c:pt>
                <c:pt idx="2">
                  <c:v>75</c:v>
                </c:pt>
                <c:pt idx="3">
                  <c:v>75</c:v>
                </c:pt>
                <c:pt idx="4">
                  <c:v>70</c:v>
                </c:pt>
                <c:pt idx="5">
                  <c:v>50</c:v>
                </c:pt>
              </c:numCache>
            </c:numRef>
          </c:val>
          <c:extLst>
            <c:ext xmlns:c16="http://schemas.microsoft.com/office/drawing/2014/chart" uri="{C3380CC4-5D6E-409C-BE32-E72D297353CC}">
              <c16:uniqueId val="{00000000-9A63-1445-B9E5-0EEAA4179EF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971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marL="0" indent="0">
              <a:buNone/>
            </a:pPr>
            <a:r>
              <a:rPr lang="en-US" sz="1400" b="1" kern="0" spc="60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marL="0" indent="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989320"/>
            <a:ext cx="100584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for:</a:t>
            </a:r>
            <a:r>
              <a:rPr lang="en-US" sz="1200" dirty="0">
                <a:solidFill>
                  <a:srgbClr val="C9D6EE"/>
                </a:solidFill>
                <a:latin typeface="Calibri" pitchFamily="34" charset="0"/>
                <a:ea typeface="Calibri" pitchFamily="34" charset="-122"/>
                <a:cs typeface="Calibri" pitchFamily="34" charset="-120"/>
              </a:rPr>
              <a:t>  Executive Stakeholders   |   </a:t>
            </a: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txBody>
          <a:bodyPr/>
          <a:lstStyle/>
          <a:p>
            <a:endParaRPr lang="en-US"/>
          </a:p>
        </p:txBody>
      </p:sp>
      <p:sp>
        <p:nvSpPr>
          <p:cNvPr id="34" name="Text 27"/>
          <p:cNvSpPr/>
          <p:nvPr/>
        </p:nvSpPr>
        <p:spPr>
          <a:xfrm>
            <a:off x="685800"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txBody>
          <a:bodyPr/>
          <a:lstStyle/>
          <a:p>
            <a:endParaRPr lang="en-US"/>
          </a:p>
        </p:txBody>
      </p:sp>
      <p:sp>
        <p:nvSpPr>
          <p:cNvPr id="38" name="Text 31"/>
          <p:cNvSpPr/>
          <p:nvPr/>
        </p:nvSpPr>
        <p:spPr>
          <a:xfrm>
            <a:off x="6428232"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marL="0" indent="0" algn="ctr">
              <a:buNone/>
            </a:pPr>
            <a:r>
              <a:rPr lang="en-US" sz="1100" b="1" kern="0" spc="40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4974336" y="1874520"/>
            <a:ext cx="457200" cy="457200"/>
          </a:xfrm>
          <a:prstGeom prst="rect">
            <a:avLst/>
          </a:prstGeom>
        </p:spPr>
      </p:pic>
      <p:pic>
        <p:nvPicPr>
          <p:cNvPr id="20" name="Image 5" descr="preencoded.png"/>
          <p:cNvPicPr>
            <a:picLocks noChangeAspect="1"/>
          </p:cNvPicPr>
          <p:nvPr/>
        </p:nvPicPr>
        <p:blipFill>
          <a:blip r:embed="rId8"/>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txBody>
          <a:bodyPr/>
          <a:lstStyle/>
          <a:p>
            <a:endParaRPr lang="en-US"/>
          </a:p>
        </p:txBody>
      </p:sp>
      <p:sp>
        <p:nvSpPr>
          <p:cNvPr id="23" name="Shape 15"/>
          <p:cNvSpPr/>
          <p:nvPr/>
        </p:nvSpPr>
        <p:spPr>
          <a:xfrm>
            <a:off x="685800" y="3520440"/>
            <a:ext cx="914400" cy="0"/>
          </a:xfrm>
          <a:prstGeom prst="line">
            <a:avLst/>
          </a:prstGeom>
          <a:noFill/>
          <a:ln w="9525">
            <a:solidFill>
              <a:srgbClr val="335FB8"/>
            </a:solidFill>
            <a:prstDash val="dash"/>
          </a:ln>
        </p:spPr>
        <p:txBody>
          <a:bodyPr/>
          <a:lstStyle/>
          <a:p>
            <a:endParaRPr lang="en-US"/>
          </a:p>
        </p:txBody>
      </p:sp>
      <p:sp>
        <p:nvSpPr>
          <p:cNvPr id="24" name="Shape 16"/>
          <p:cNvSpPr/>
          <p:nvPr/>
        </p:nvSpPr>
        <p:spPr>
          <a:xfrm>
            <a:off x="685800" y="4023360"/>
            <a:ext cx="914400" cy="0"/>
          </a:xfrm>
          <a:prstGeom prst="line">
            <a:avLst/>
          </a:prstGeom>
          <a:noFill/>
          <a:ln w="9525">
            <a:solidFill>
              <a:srgbClr val="335FB8"/>
            </a:solidFill>
            <a:prstDash val="dash"/>
          </a:ln>
        </p:spPr>
        <p:txBody>
          <a:bodyPr/>
          <a:lstStyle/>
          <a:p>
            <a:endParaRPr lang="en-US"/>
          </a:p>
        </p:txBody>
      </p:sp>
      <p:sp>
        <p:nvSpPr>
          <p:cNvPr id="25" name="Shape 17"/>
          <p:cNvSpPr/>
          <p:nvPr/>
        </p:nvSpPr>
        <p:spPr>
          <a:xfrm>
            <a:off x="685800" y="4526280"/>
            <a:ext cx="914400" cy="0"/>
          </a:xfrm>
          <a:prstGeom prst="line">
            <a:avLst/>
          </a:prstGeom>
          <a:noFill/>
          <a:ln w="9525">
            <a:solidFill>
              <a:srgbClr val="335FB8"/>
            </a:solidFill>
            <a:prstDash val="dash"/>
          </a:ln>
        </p:spPr>
        <p:txBody>
          <a:bodyPr/>
          <a:lstStyle/>
          <a:p>
            <a:endParaRPr lang="en-US"/>
          </a:p>
        </p:txBody>
      </p:sp>
      <p:sp>
        <p:nvSpPr>
          <p:cNvPr id="26" name="Shape 18"/>
          <p:cNvSpPr/>
          <p:nvPr/>
        </p:nvSpPr>
        <p:spPr>
          <a:xfrm>
            <a:off x="685800" y="5029200"/>
            <a:ext cx="914400" cy="0"/>
          </a:xfrm>
          <a:prstGeom prst="line">
            <a:avLst/>
          </a:prstGeom>
          <a:noFill/>
          <a:ln w="9525">
            <a:solidFill>
              <a:srgbClr val="335FB8"/>
            </a:solidFill>
            <a:prstDash val="dash"/>
          </a:ln>
        </p:spPr>
        <p:txBody>
          <a:bodyPr/>
          <a:lstStyle/>
          <a:p>
            <a:endParaRPr lang="en-US"/>
          </a:p>
        </p:txBody>
      </p:sp>
      <p:pic>
        <p:nvPicPr>
          <p:cNvPr id="27" name="Image 6" descr="preencoded.png"/>
          <p:cNvPicPr>
            <a:picLocks noChangeAspect="1"/>
          </p:cNvPicPr>
          <p:nvPr/>
        </p:nvPicPr>
        <p:blipFill>
          <a:blip r:embed="rId5"/>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txBody>
          <a:bodyPr/>
          <a:lstStyle/>
          <a:p>
            <a:endParaRPr lang="en-US"/>
          </a:p>
        </p:txBody>
      </p:sp>
      <p:sp>
        <p:nvSpPr>
          <p:cNvPr id="30" name="Shape 21"/>
          <p:cNvSpPr/>
          <p:nvPr/>
        </p:nvSpPr>
        <p:spPr>
          <a:xfrm>
            <a:off x="2039112" y="3520440"/>
            <a:ext cx="914400" cy="0"/>
          </a:xfrm>
          <a:prstGeom prst="line">
            <a:avLst/>
          </a:prstGeom>
          <a:noFill/>
          <a:ln w="9525">
            <a:solidFill>
              <a:srgbClr val="335FB8"/>
            </a:solidFill>
            <a:prstDash val="dash"/>
          </a:ln>
        </p:spPr>
        <p:txBody>
          <a:bodyPr/>
          <a:lstStyle/>
          <a:p>
            <a:endParaRPr lang="en-US"/>
          </a:p>
        </p:txBody>
      </p:sp>
      <p:sp>
        <p:nvSpPr>
          <p:cNvPr id="31" name="Shape 22"/>
          <p:cNvSpPr/>
          <p:nvPr/>
        </p:nvSpPr>
        <p:spPr>
          <a:xfrm>
            <a:off x="2039112" y="4023360"/>
            <a:ext cx="914400" cy="0"/>
          </a:xfrm>
          <a:prstGeom prst="line">
            <a:avLst/>
          </a:prstGeom>
          <a:noFill/>
          <a:ln w="9525">
            <a:solidFill>
              <a:srgbClr val="335FB8"/>
            </a:solidFill>
            <a:prstDash val="dash"/>
          </a:ln>
        </p:spPr>
        <p:txBody>
          <a:bodyPr/>
          <a:lstStyle/>
          <a:p>
            <a:endParaRPr lang="en-US"/>
          </a:p>
        </p:txBody>
      </p:sp>
      <p:sp>
        <p:nvSpPr>
          <p:cNvPr id="32" name="Shape 23"/>
          <p:cNvSpPr/>
          <p:nvPr/>
        </p:nvSpPr>
        <p:spPr>
          <a:xfrm>
            <a:off x="2039112" y="4526280"/>
            <a:ext cx="914400" cy="0"/>
          </a:xfrm>
          <a:prstGeom prst="line">
            <a:avLst/>
          </a:prstGeom>
          <a:noFill/>
          <a:ln w="9525">
            <a:solidFill>
              <a:srgbClr val="335FB8"/>
            </a:solidFill>
            <a:prstDash val="dash"/>
          </a:ln>
        </p:spPr>
        <p:txBody>
          <a:bodyPr/>
          <a:lstStyle/>
          <a:p>
            <a:endParaRPr lang="en-US"/>
          </a:p>
        </p:txBody>
      </p:sp>
      <p:sp>
        <p:nvSpPr>
          <p:cNvPr id="33" name="Shape 24"/>
          <p:cNvSpPr/>
          <p:nvPr/>
        </p:nvSpPr>
        <p:spPr>
          <a:xfrm>
            <a:off x="2039112" y="5029200"/>
            <a:ext cx="914400" cy="0"/>
          </a:xfrm>
          <a:prstGeom prst="line">
            <a:avLst/>
          </a:prstGeom>
          <a:noFill/>
          <a:ln w="9525">
            <a:solidFill>
              <a:srgbClr val="335FB8"/>
            </a:solidFill>
            <a:prstDash val="dash"/>
          </a:ln>
        </p:spPr>
        <p:txBody>
          <a:bodyPr/>
          <a:lstStyle/>
          <a:p>
            <a:endParaRPr lang="en-US"/>
          </a:p>
        </p:txBody>
      </p:sp>
      <p:pic>
        <p:nvPicPr>
          <p:cNvPr id="34" name="Image 7" descr="preencoded.png"/>
          <p:cNvPicPr>
            <a:picLocks noChangeAspect="1"/>
          </p:cNvPicPr>
          <p:nvPr/>
        </p:nvPicPr>
        <p:blipFill>
          <a:blip r:embed="rId6"/>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txBody>
          <a:bodyPr/>
          <a:lstStyle/>
          <a:p>
            <a:endParaRPr lang="en-US"/>
          </a:p>
        </p:txBody>
      </p:sp>
      <p:sp>
        <p:nvSpPr>
          <p:cNvPr id="37" name="Shape 27"/>
          <p:cNvSpPr/>
          <p:nvPr/>
        </p:nvSpPr>
        <p:spPr>
          <a:xfrm>
            <a:off x="3392424" y="3520440"/>
            <a:ext cx="914400" cy="0"/>
          </a:xfrm>
          <a:prstGeom prst="line">
            <a:avLst/>
          </a:prstGeom>
          <a:noFill/>
          <a:ln w="9525">
            <a:solidFill>
              <a:srgbClr val="335FB8"/>
            </a:solidFill>
            <a:prstDash val="dash"/>
          </a:ln>
        </p:spPr>
        <p:txBody>
          <a:bodyPr/>
          <a:lstStyle/>
          <a:p>
            <a:endParaRPr lang="en-US"/>
          </a:p>
        </p:txBody>
      </p:sp>
      <p:sp>
        <p:nvSpPr>
          <p:cNvPr id="38" name="Shape 28"/>
          <p:cNvSpPr/>
          <p:nvPr/>
        </p:nvSpPr>
        <p:spPr>
          <a:xfrm>
            <a:off x="3392424" y="4023360"/>
            <a:ext cx="914400" cy="0"/>
          </a:xfrm>
          <a:prstGeom prst="line">
            <a:avLst/>
          </a:prstGeom>
          <a:noFill/>
          <a:ln w="9525">
            <a:solidFill>
              <a:srgbClr val="335FB8"/>
            </a:solidFill>
            <a:prstDash val="dash"/>
          </a:ln>
        </p:spPr>
        <p:txBody>
          <a:bodyPr/>
          <a:lstStyle/>
          <a:p>
            <a:endParaRPr lang="en-US"/>
          </a:p>
        </p:txBody>
      </p:sp>
      <p:sp>
        <p:nvSpPr>
          <p:cNvPr id="39" name="Shape 29"/>
          <p:cNvSpPr/>
          <p:nvPr/>
        </p:nvSpPr>
        <p:spPr>
          <a:xfrm>
            <a:off x="3392424" y="4526280"/>
            <a:ext cx="914400" cy="0"/>
          </a:xfrm>
          <a:prstGeom prst="line">
            <a:avLst/>
          </a:prstGeom>
          <a:noFill/>
          <a:ln w="9525">
            <a:solidFill>
              <a:srgbClr val="335FB8"/>
            </a:solidFill>
            <a:prstDash val="dash"/>
          </a:ln>
        </p:spPr>
        <p:txBody>
          <a:bodyPr/>
          <a:lstStyle/>
          <a:p>
            <a:endParaRPr lang="en-US"/>
          </a:p>
        </p:txBody>
      </p:sp>
      <p:sp>
        <p:nvSpPr>
          <p:cNvPr id="40" name="Shape 30"/>
          <p:cNvSpPr/>
          <p:nvPr/>
        </p:nvSpPr>
        <p:spPr>
          <a:xfrm>
            <a:off x="3392424" y="5029200"/>
            <a:ext cx="914400" cy="0"/>
          </a:xfrm>
          <a:prstGeom prst="line">
            <a:avLst/>
          </a:prstGeom>
          <a:noFill/>
          <a:ln w="9525">
            <a:solidFill>
              <a:srgbClr val="335FB8"/>
            </a:solidFill>
            <a:prstDash val="dash"/>
          </a:ln>
        </p:spPr>
        <p:txBody>
          <a:bodyPr/>
          <a:lstStyle/>
          <a:p>
            <a:endParaRPr lang="en-US"/>
          </a:p>
        </p:txBody>
      </p:sp>
      <p:pic>
        <p:nvPicPr>
          <p:cNvPr id="41" name="Image 8" descr="preencoded.png"/>
          <p:cNvPicPr>
            <a:picLocks noChangeAspect="1"/>
          </p:cNvPicPr>
          <p:nvPr/>
        </p:nvPicPr>
        <p:blipFill>
          <a:blip r:embed="rId7"/>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txBody>
          <a:bodyPr/>
          <a:lstStyle/>
          <a:p>
            <a:endParaRPr lang="en-US"/>
          </a:p>
        </p:txBody>
      </p:sp>
      <p:sp>
        <p:nvSpPr>
          <p:cNvPr id="44" name="Shape 33"/>
          <p:cNvSpPr/>
          <p:nvPr/>
        </p:nvSpPr>
        <p:spPr>
          <a:xfrm>
            <a:off x="4745736" y="3520440"/>
            <a:ext cx="914400" cy="0"/>
          </a:xfrm>
          <a:prstGeom prst="line">
            <a:avLst/>
          </a:prstGeom>
          <a:noFill/>
          <a:ln w="9525">
            <a:solidFill>
              <a:srgbClr val="335FB8"/>
            </a:solidFill>
            <a:prstDash val="dash"/>
          </a:ln>
        </p:spPr>
        <p:txBody>
          <a:bodyPr/>
          <a:lstStyle/>
          <a:p>
            <a:endParaRPr lang="en-US"/>
          </a:p>
        </p:txBody>
      </p:sp>
      <p:sp>
        <p:nvSpPr>
          <p:cNvPr id="45" name="Shape 34"/>
          <p:cNvSpPr/>
          <p:nvPr/>
        </p:nvSpPr>
        <p:spPr>
          <a:xfrm>
            <a:off x="4745736" y="4023360"/>
            <a:ext cx="914400" cy="0"/>
          </a:xfrm>
          <a:prstGeom prst="line">
            <a:avLst/>
          </a:prstGeom>
          <a:noFill/>
          <a:ln w="9525">
            <a:solidFill>
              <a:srgbClr val="335FB8"/>
            </a:solidFill>
            <a:prstDash val="dash"/>
          </a:ln>
        </p:spPr>
        <p:txBody>
          <a:bodyPr/>
          <a:lstStyle/>
          <a:p>
            <a:endParaRPr lang="en-US"/>
          </a:p>
        </p:txBody>
      </p:sp>
      <p:sp>
        <p:nvSpPr>
          <p:cNvPr id="46" name="Shape 35"/>
          <p:cNvSpPr/>
          <p:nvPr/>
        </p:nvSpPr>
        <p:spPr>
          <a:xfrm>
            <a:off x="4745736" y="4526280"/>
            <a:ext cx="914400" cy="0"/>
          </a:xfrm>
          <a:prstGeom prst="line">
            <a:avLst/>
          </a:prstGeom>
          <a:noFill/>
          <a:ln w="9525">
            <a:solidFill>
              <a:srgbClr val="335FB8"/>
            </a:solidFill>
            <a:prstDash val="dash"/>
          </a:ln>
        </p:spPr>
        <p:txBody>
          <a:bodyPr/>
          <a:lstStyle/>
          <a:p>
            <a:endParaRPr lang="en-US"/>
          </a:p>
        </p:txBody>
      </p:sp>
      <p:sp>
        <p:nvSpPr>
          <p:cNvPr id="47" name="Shape 36"/>
          <p:cNvSpPr/>
          <p:nvPr/>
        </p:nvSpPr>
        <p:spPr>
          <a:xfrm>
            <a:off x="4745736" y="5029200"/>
            <a:ext cx="914400" cy="0"/>
          </a:xfrm>
          <a:prstGeom prst="line">
            <a:avLst/>
          </a:prstGeom>
          <a:noFill/>
          <a:ln w="9525">
            <a:solidFill>
              <a:srgbClr val="335FB8"/>
            </a:solidFill>
            <a:prstDash val="dash"/>
          </a:ln>
        </p:spPr>
        <p:txBody>
          <a:bodyPr/>
          <a:lstStyle/>
          <a:p>
            <a:endParaRPr lang="en-US"/>
          </a:p>
        </p:txBody>
      </p:sp>
      <p:sp>
        <p:nvSpPr>
          <p:cNvPr id="48" name="Text 37"/>
          <p:cNvSpPr/>
          <p:nvPr/>
        </p:nvSpPr>
        <p:spPr>
          <a:xfrm>
            <a:off x="548640" y="5806440"/>
            <a:ext cx="5248656"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txBody>
          <a:bodyPr/>
          <a:lstStyle/>
          <a:p>
            <a:endParaRPr lang="en-US"/>
          </a:p>
        </p:txBody>
      </p:sp>
      <p:sp>
        <p:nvSpPr>
          <p:cNvPr id="51" name="Text 40"/>
          <p:cNvSpPr/>
          <p:nvPr/>
        </p:nvSpPr>
        <p:spPr>
          <a:xfrm>
            <a:off x="6309360" y="1828800"/>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txBody>
          <a:bodyPr/>
          <a:lstStyle/>
          <a:p>
            <a:endParaRPr lang="en-US"/>
          </a:p>
        </p:txBody>
      </p:sp>
      <p:sp>
        <p:nvSpPr>
          <p:cNvPr id="54" name="Text 43"/>
          <p:cNvSpPr/>
          <p:nvPr/>
        </p:nvSpPr>
        <p:spPr>
          <a:xfrm>
            <a:off x="6309360" y="2670048"/>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txBody>
          <a:bodyPr/>
          <a:lstStyle/>
          <a:p>
            <a:endParaRPr lang="en-US"/>
          </a:p>
        </p:txBody>
      </p:sp>
      <p:sp>
        <p:nvSpPr>
          <p:cNvPr id="57" name="Text 46"/>
          <p:cNvSpPr/>
          <p:nvPr/>
        </p:nvSpPr>
        <p:spPr>
          <a:xfrm>
            <a:off x="6309360" y="3511296"/>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txBody>
          <a:bodyPr/>
          <a:lstStyle/>
          <a:p>
            <a:endParaRPr lang="en-US"/>
          </a:p>
        </p:txBody>
      </p:sp>
      <p:sp>
        <p:nvSpPr>
          <p:cNvPr id="60" name="Text 49"/>
          <p:cNvSpPr/>
          <p:nvPr/>
        </p:nvSpPr>
        <p:spPr>
          <a:xfrm>
            <a:off x="6309360" y="4352544"/>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txBody>
          <a:bodyPr/>
          <a:lstStyle/>
          <a:p>
            <a:endParaRPr lang="en-US"/>
          </a:p>
        </p:txBody>
      </p:sp>
      <p:sp>
        <p:nvSpPr>
          <p:cNvPr id="63" name="Text 52"/>
          <p:cNvSpPr/>
          <p:nvPr/>
        </p:nvSpPr>
        <p:spPr>
          <a:xfrm>
            <a:off x="6309360" y="5193792"/>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268833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3639312" y="1417320"/>
            <a:ext cx="396849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txBody>
          <a:bodyPr/>
          <a:lstStyle/>
          <a:p>
            <a:endParaRPr lang="en-US"/>
          </a:p>
        </p:txBody>
      </p:sp>
      <p:sp>
        <p:nvSpPr>
          <p:cNvPr id="12" name="Text 9"/>
          <p:cNvSpPr/>
          <p:nvPr/>
        </p:nvSpPr>
        <p:spPr>
          <a:xfrm>
            <a:off x="7936992" y="1417320"/>
            <a:ext cx="4087368"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txBody>
          <a:bodyPr/>
          <a:lstStyle/>
          <a:p>
            <a:endParaRPr lang="en-US"/>
          </a:p>
        </p:txBody>
      </p:sp>
      <p:sp>
        <p:nvSpPr>
          <p:cNvPr id="19" name="Text 16"/>
          <p:cNvSpPr/>
          <p:nvPr/>
        </p:nvSpPr>
        <p:spPr>
          <a:xfrm>
            <a:off x="621792" y="2331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txBody>
          <a:bodyPr/>
          <a:lstStyle/>
          <a:p>
            <a:endParaRPr lang="en-US"/>
          </a:p>
        </p:txBody>
      </p:sp>
      <p:sp>
        <p:nvSpPr>
          <p:cNvPr id="23" name="Text 20"/>
          <p:cNvSpPr/>
          <p:nvPr/>
        </p:nvSpPr>
        <p:spPr>
          <a:xfrm>
            <a:off x="621792" y="2788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621792" y="3246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txBody>
          <a:bodyPr/>
          <a:lstStyle/>
          <a:p>
            <a:endParaRPr lang="en-US"/>
          </a:p>
        </p:txBody>
      </p:sp>
      <p:sp>
        <p:nvSpPr>
          <p:cNvPr id="31" name="Text 28"/>
          <p:cNvSpPr/>
          <p:nvPr/>
        </p:nvSpPr>
        <p:spPr>
          <a:xfrm>
            <a:off x="621792" y="37033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txBody>
          <a:bodyPr/>
          <a:lstStyle/>
          <a:p>
            <a:endParaRPr lang="en-US"/>
          </a:p>
        </p:txBody>
      </p:sp>
      <p:sp>
        <p:nvSpPr>
          <p:cNvPr id="35" name="Text 32"/>
          <p:cNvSpPr/>
          <p:nvPr/>
        </p:nvSpPr>
        <p:spPr>
          <a:xfrm>
            <a:off x="621792" y="4160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txBody>
          <a:bodyPr/>
          <a:lstStyle/>
          <a:p>
            <a:endParaRPr lang="en-US"/>
          </a:p>
        </p:txBody>
      </p:sp>
      <p:sp>
        <p:nvSpPr>
          <p:cNvPr id="39" name="Text 36"/>
          <p:cNvSpPr/>
          <p:nvPr/>
        </p:nvSpPr>
        <p:spPr>
          <a:xfrm>
            <a:off x="621792" y="4617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txBody>
          <a:bodyPr/>
          <a:lstStyle/>
          <a:p>
            <a:endParaRPr lang="en-US"/>
          </a:p>
        </p:txBody>
      </p:sp>
      <p:sp>
        <p:nvSpPr>
          <p:cNvPr id="43" name="Text 40"/>
          <p:cNvSpPr/>
          <p:nvPr/>
        </p:nvSpPr>
        <p:spPr>
          <a:xfrm>
            <a:off x="621792" y="5074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txBody>
          <a:bodyPr/>
          <a:lstStyle/>
          <a:p>
            <a:endParaRPr lang="en-US"/>
          </a:p>
        </p:txBody>
      </p:sp>
      <p:sp>
        <p:nvSpPr>
          <p:cNvPr id="47" name="Text 44"/>
          <p:cNvSpPr/>
          <p:nvPr/>
        </p:nvSpPr>
        <p:spPr>
          <a:xfrm>
            <a:off x="621792" y="5532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1554480" y="2130552"/>
            <a:ext cx="5486400" cy="274320"/>
          </a:xfrm>
          <a:prstGeom prst="rect">
            <a:avLst/>
          </a:prstGeom>
          <a:noFill/>
          <a:ln/>
        </p:spPr>
        <p:txBody>
          <a:bodyPr wrap="square" lIns="0" tIns="0" rIns="0" bIns="0" rtlCol="0" anchor="ctr"/>
          <a:lstStyle/>
          <a:p>
            <a:pPr marL="0" indent="0">
              <a:buNone/>
            </a:pPr>
            <a:r>
              <a:rPr lang="en-US" sz="1100" b="1" kern="0" spc="30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marL="0" indent="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txBody>
          <a:bodyPr/>
          <a:lstStyle/>
          <a:p>
            <a:endParaRPr lang="en-US"/>
          </a:p>
        </p:txBody>
      </p:sp>
      <p:sp>
        <p:nvSpPr>
          <p:cNvPr id="14" name="Text 11"/>
          <p:cNvSpPr/>
          <p:nvPr/>
        </p:nvSpPr>
        <p:spPr>
          <a:xfrm>
            <a:off x="1554480" y="2633472"/>
            <a:ext cx="1737360" cy="219456"/>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6" name="Text 13"/>
          <p:cNvSpPr/>
          <p:nvPr/>
        </p:nvSpPr>
        <p:spPr>
          <a:xfrm>
            <a:off x="33832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8" name="Text 15"/>
          <p:cNvSpPr/>
          <p:nvPr/>
        </p:nvSpPr>
        <p:spPr>
          <a:xfrm>
            <a:off x="52120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0" name="Text 17"/>
          <p:cNvSpPr/>
          <p:nvPr/>
        </p:nvSpPr>
        <p:spPr>
          <a:xfrm>
            <a:off x="70408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2" name="Text 19"/>
          <p:cNvSpPr/>
          <p:nvPr/>
        </p:nvSpPr>
        <p:spPr>
          <a:xfrm>
            <a:off x="88696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txBody>
          <a:bodyPr/>
          <a:lstStyle/>
          <a:p>
            <a:endParaRPr lang="en-US"/>
          </a:p>
        </p:txBody>
      </p:sp>
      <p:sp>
        <p:nvSpPr>
          <p:cNvPr id="24" name="Shape 21"/>
          <p:cNvSpPr/>
          <p:nvPr/>
        </p:nvSpPr>
        <p:spPr>
          <a:xfrm>
            <a:off x="4160520" y="2926080"/>
            <a:ext cx="0" cy="365760"/>
          </a:xfrm>
          <a:prstGeom prst="line">
            <a:avLst/>
          </a:prstGeom>
          <a:noFill/>
          <a:ln w="12700">
            <a:solidFill>
              <a:srgbClr val="94A3B8"/>
            </a:solidFill>
            <a:prstDash val="dash"/>
            <a:tailEnd type="triangle"/>
          </a:ln>
        </p:spPr>
        <p:txBody>
          <a:bodyPr/>
          <a:lstStyle/>
          <a:p>
            <a:endParaRPr lang="en-US"/>
          </a:p>
        </p:txBody>
      </p:sp>
      <p:sp>
        <p:nvSpPr>
          <p:cNvPr id="25" name="Shape 22"/>
          <p:cNvSpPr/>
          <p:nvPr/>
        </p:nvSpPr>
        <p:spPr>
          <a:xfrm>
            <a:off x="6080760" y="2926080"/>
            <a:ext cx="0" cy="365760"/>
          </a:xfrm>
          <a:prstGeom prst="line">
            <a:avLst/>
          </a:prstGeom>
          <a:noFill/>
          <a:ln w="12700">
            <a:solidFill>
              <a:srgbClr val="94A3B8"/>
            </a:solidFill>
            <a:prstDash val="dash"/>
            <a:tailEnd type="triangle"/>
          </a:ln>
        </p:spPr>
        <p:txBody>
          <a:bodyPr/>
          <a:lstStyle/>
          <a:p>
            <a:endParaRPr lang="en-US"/>
          </a:p>
        </p:txBody>
      </p:sp>
      <p:sp>
        <p:nvSpPr>
          <p:cNvPr id="26" name="Shape 23"/>
          <p:cNvSpPr/>
          <p:nvPr/>
        </p:nvSpPr>
        <p:spPr>
          <a:xfrm>
            <a:off x="8001000" y="2926080"/>
            <a:ext cx="0" cy="365760"/>
          </a:xfrm>
          <a:prstGeom prst="line">
            <a:avLst/>
          </a:prstGeom>
          <a:noFill/>
          <a:ln w="12700">
            <a:solidFill>
              <a:srgbClr val="94A3B8"/>
            </a:solidFill>
            <a:prstDash val="dash"/>
            <a:tailEnd type="triangle"/>
          </a:ln>
        </p:spPr>
        <p:txBody>
          <a:bodyPr/>
          <a:lstStyle/>
          <a:p>
            <a:endParaRPr lang="en-US"/>
          </a:p>
        </p:txBody>
      </p:sp>
      <p:sp>
        <p:nvSpPr>
          <p:cNvPr id="27" name="Shape 24"/>
          <p:cNvSpPr/>
          <p:nvPr/>
        </p:nvSpPr>
        <p:spPr>
          <a:xfrm>
            <a:off x="9921240" y="2926080"/>
            <a:ext cx="0" cy="365760"/>
          </a:xfrm>
          <a:prstGeom prst="line">
            <a:avLst/>
          </a:prstGeom>
          <a:noFill/>
          <a:ln w="12700">
            <a:solidFill>
              <a:srgbClr val="94A3B8"/>
            </a:solidFill>
            <a:prstDash val="dash"/>
            <a:tailEnd type="triangle"/>
          </a:ln>
        </p:spPr>
        <p:txBody>
          <a:bodyPr/>
          <a:lstStyle/>
          <a:p>
            <a:endParaRPr lang="en-US"/>
          </a:p>
        </p:txBody>
      </p:sp>
      <p:sp>
        <p:nvSpPr>
          <p:cNvPr id="28" name="Text 25"/>
          <p:cNvSpPr/>
          <p:nvPr/>
        </p:nvSpPr>
        <p:spPr>
          <a:xfrm>
            <a:off x="1280160" y="2971800"/>
            <a:ext cx="96012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1" name="Text 28"/>
          <p:cNvSpPr/>
          <p:nvPr/>
        </p:nvSpPr>
        <p:spPr>
          <a:xfrm>
            <a:off x="128016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34" name="Text 31"/>
          <p:cNvSpPr/>
          <p:nvPr/>
        </p:nvSpPr>
        <p:spPr>
          <a:xfrm>
            <a:off x="135331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7" name="Text 34"/>
          <p:cNvSpPr/>
          <p:nvPr/>
        </p:nvSpPr>
        <p:spPr>
          <a:xfrm>
            <a:off x="249402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0" name="Text 37"/>
          <p:cNvSpPr/>
          <p:nvPr/>
        </p:nvSpPr>
        <p:spPr>
          <a:xfrm>
            <a:off x="256717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3" name="Text 40"/>
          <p:cNvSpPr/>
          <p:nvPr/>
        </p:nvSpPr>
        <p:spPr>
          <a:xfrm>
            <a:off x="370789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6" name="Text 43"/>
          <p:cNvSpPr/>
          <p:nvPr/>
        </p:nvSpPr>
        <p:spPr>
          <a:xfrm>
            <a:off x="378104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9" name="Text 46"/>
          <p:cNvSpPr/>
          <p:nvPr/>
        </p:nvSpPr>
        <p:spPr>
          <a:xfrm>
            <a:off x="4921758"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2" name="Text 49"/>
          <p:cNvSpPr/>
          <p:nvPr/>
        </p:nvSpPr>
        <p:spPr>
          <a:xfrm>
            <a:off x="4994910"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55" name="Text 52"/>
          <p:cNvSpPr/>
          <p:nvPr/>
        </p:nvSpPr>
        <p:spPr>
          <a:xfrm>
            <a:off x="6135624"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8" name="Text 55"/>
          <p:cNvSpPr/>
          <p:nvPr/>
        </p:nvSpPr>
        <p:spPr>
          <a:xfrm>
            <a:off x="6208776"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1" name="Text 58"/>
          <p:cNvSpPr/>
          <p:nvPr/>
        </p:nvSpPr>
        <p:spPr>
          <a:xfrm>
            <a:off x="734949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64" name="Text 61"/>
          <p:cNvSpPr/>
          <p:nvPr/>
        </p:nvSpPr>
        <p:spPr>
          <a:xfrm>
            <a:off x="742264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7" name="Text 64"/>
          <p:cNvSpPr/>
          <p:nvPr/>
        </p:nvSpPr>
        <p:spPr>
          <a:xfrm>
            <a:off x="856335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0" name="Text 67"/>
          <p:cNvSpPr/>
          <p:nvPr/>
        </p:nvSpPr>
        <p:spPr>
          <a:xfrm>
            <a:off x="863650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73" name="Text 70"/>
          <p:cNvSpPr/>
          <p:nvPr/>
        </p:nvSpPr>
        <p:spPr>
          <a:xfrm>
            <a:off x="977722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6" name="Text 73"/>
          <p:cNvSpPr/>
          <p:nvPr/>
        </p:nvSpPr>
        <p:spPr>
          <a:xfrm>
            <a:off x="985037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txBody>
          <a:bodyPr/>
          <a:lstStyle/>
          <a:p>
            <a:endParaRPr lang="en-US"/>
          </a:p>
        </p:txBody>
      </p:sp>
      <p:sp>
        <p:nvSpPr>
          <p:cNvPr id="78" name="Shape 75"/>
          <p:cNvSpPr/>
          <p:nvPr/>
        </p:nvSpPr>
        <p:spPr>
          <a:xfrm>
            <a:off x="3598164" y="4000500"/>
            <a:ext cx="109728" cy="0"/>
          </a:xfrm>
          <a:prstGeom prst="line">
            <a:avLst/>
          </a:prstGeom>
          <a:noFill/>
          <a:ln w="12700">
            <a:solidFill>
              <a:srgbClr val="FEDF01"/>
            </a:solidFill>
            <a:prstDash val="solid"/>
          </a:ln>
        </p:spPr>
        <p:txBody>
          <a:bodyPr/>
          <a:lstStyle/>
          <a:p>
            <a:endParaRPr lang="en-US"/>
          </a:p>
        </p:txBody>
      </p:sp>
      <p:sp>
        <p:nvSpPr>
          <p:cNvPr id="79" name="Shape 76"/>
          <p:cNvSpPr/>
          <p:nvPr/>
        </p:nvSpPr>
        <p:spPr>
          <a:xfrm>
            <a:off x="4812030" y="4000500"/>
            <a:ext cx="109728" cy="0"/>
          </a:xfrm>
          <a:prstGeom prst="line">
            <a:avLst/>
          </a:prstGeom>
          <a:noFill/>
          <a:ln w="12700">
            <a:solidFill>
              <a:srgbClr val="FEDF01"/>
            </a:solidFill>
            <a:prstDash val="solid"/>
          </a:ln>
        </p:spPr>
        <p:txBody>
          <a:bodyPr/>
          <a:lstStyle/>
          <a:p>
            <a:endParaRPr lang="en-US"/>
          </a:p>
        </p:txBody>
      </p:sp>
      <p:sp>
        <p:nvSpPr>
          <p:cNvPr id="80" name="Shape 77"/>
          <p:cNvSpPr/>
          <p:nvPr/>
        </p:nvSpPr>
        <p:spPr>
          <a:xfrm>
            <a:off x="6025896" y="4000500"/>
            <a:ext cx="109728" cy="0"/>
          </a:xfrm>
          <a:prstGeom prst="line">
            <a:avLst/>
          </a:prstGeom>
          <a:noFill/>
          <a:ln w="12700">
            <a:solidFill>
              <a:srgbClr val="FEDF01"/>
            </a:solidFill>
            <a:prstDash val="solid"/>
          </a:ln>
        </p:spPr>
        <p:txBody>
          <a:bodyPr/>
          <a:lstStyle/>
          <a:p>
            <a:endParaRPr lang="en-US"/>
          </a:p>
        </p:txBody>
      </p:sp>
      <p:sp>
        <p:nvSpPr>
          <p:cNvPr id="81" name="Shape 78"/>
          <p:cNvSpPr/>
          <p:nvPr/>
        </p:nvSpPr>
        <p:spPr>
          <a:xfrm>
            <a:off x="7239762" y="4000500"/>
            <a:ext cx="109728" cy="0"/>
          </a:xfrm>
          <a:prstGeom prst="line">
            <a:avLst/>
          </a:prstGeom>
          <a:noFill/>
          <a:ln w="12700">
            <a:solidFill>
              <a:srgbClr val="FEDF01"/>
            </a:solidFill>
            <a:prstDash val="solid"/>
          </a:ln>
        </p:spPr>
        <p:txBody>
          <a:bodyPr/>
          <a:lstStyle/>
          <a:p>
            <a:endParaRPr lang="en-US"/>
          </a:p>
        </p:txBody>
      </p:sp>
      <p:sp>
        <p:nvSpPr>
          <p:cNvPr id="82" name="Shape 79"/>
          <p:cNvSpPr/>
          <p:nvPr/>
        </p:nvSpPr>
        <p:spPr>
          <a:xfrm>
            <a:off x="8453628" y="4000500"/>
            <a:ext cx="109728" cy="0"/>
          </a:xfrm>
          <a:prstGeom prst="line">
            <a:avLst/>
          </a:prstGeom>
          <a:noFill/>
          <a:ln w="12700">
            <a:solidFill>
              <a:srgbClr val="FEDF01"/>
            </a:solidFill>
            <a:prstDash val="solid"/>
          </a:ln>
        </p:spPr>
        <p:txBody>
          <a:bodyPr/>
          <a:lstStyle/>
          <a:p>
            <a:endParaRPr lang="en-US"/>
          </a:p>
        </p:txBody>
      </p:sp>
      <p:sp>
        <p:nvSpPr>
          <p:cNvPr id="83" name="Shape 80"/>
          <p:cNvSpPr/>
          <p:nvPr/>
        </p:nvSpPr>
        <p:spPr>
          <a:xfrm>
            <a:off x="9667494" y="4000500"/>
            <a:ext cx="109728" cy="0"/>
          </a:xfrm>
          <a:prstGeom prst="line">
            <a:avLst/>
          </a:prstGeom>
          <a:noFill/>
          <a:ln w="12700">
            <a:solidFill>
              <a:srgbClr val="FEDF01"/>
            </a:solidFill>
            <a:prstDash val="solid"/>
          </a:ln>
        </p:spPr>
        <p:txBody>
          <a:bodyPr/>
          <a:lstStyle/>
          <a:p>
            <a:endParaRPr lang="en-US"/>
          </a:p>
        </p:txBody>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txBody>
          <a:bodyPr/>
          <a:lstStyle/>
          <a:p>
            <a:endParaRPr lang="en-US"/>
          </a:p>
        </p:txBody>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txBody>
          <a:bodyPr/>
          <a:lstStyle/>
          <a:p>
            <a:endParaRPr lang="en-US"/>
          </a:p>
        </p:txBody>
      </p:sp>
      <p:sp>
        <p:nvSpPr>
          <p:cNvPr id="86" name="Text 83"/>
          <p:cNvSpPr/>
          <p:nvPr/>
        </p:nvSpPr>
        <p:spPr>
          <a:xfrm>
            <a:off x="1508760" y="4873752"/>
            <a:ext cx="2286000" cy="640080"/>
          </a:xfrm>
          <a:prstGeom prst="rect">
            <a:avLst/>
          </a:prstGeom>
          <a:noFill/>
          <a:ln/>
        </p:spPr>
        <p:txBody>
          <a:bodyPr wrap="square" lIns="0" tIns="0" rIns="0" bIns="0" rtlCol="0" anchor="ctr"/>
          <a:lstStyle/>
          <a:p>
            <a:pPr marL="0" indent="0">
              <a:buNone/>
            </a:pPr>
            <a:r>
              <a:rPr lang="en-US" sz="1000" b="1" kern="0" spc="20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98" name="Text 95"/>
          <p:cNvSpPr/>
          <p:nvPr/>
        </p:nvSpPr>
        <p:spPr>
          <a:xfrm>
            <a:off x="457200"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103" name="Text 100"/>
          <p:cNvSpPr/>
          <p:nvPr/>
        </p:nvSpPr>
        <p:spPr>
          <a:xfrm>
            <a:off x="10984687"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777240" y="2130552"/>
            <a:ext cx="10634472"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txBody>
          <a:bodyPr/>
          <a:lstStyle/>
          <a:p>
            <a:endParaRPr lang="en-US"/>
          </a:p>
        </p:txBody>
      </p:sp>
      <p:sp>
        <p:nvSpPr>
          <p:cNvPr id="12" name="Text 9"/>
          <p:cNvSpPr/>
          <p:nvPr/>
        </p:nvSpPr>
        <p:spPr>
          <a:xfrm>
            <a:off x="777240" y="2386584"/>
            <a:ext cx="2039112" cy="256032"/>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4" name="Text 11"/>
          <p:cNvSpPr/>
          <p:nvPr/>
        </p:nvSpPr>
        <p:spPr>
          <a:xfrm>
            <a:off x="292608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6" name="Text 13"/>
          <p:cNvSpPr/>
          <p:nvPr/>
        </p:nvSpPr>
        <p:spPr>
          <a:xfrm>
            <a:off x="507492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8" name="Text 15"/>
          <p:cNvSpPr/>
          <p:nvPr/>
        </p:nvSpPr>
        <p:spPr>
          <a:xfrm>
            <a:off x="722376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20" name="Text 17"/>
          <p:cNvSpPr/>
          <p:nvPr/>
        </p:nvSpPr>
        <p:spPr>
          <a:xfrm>
            <a:off x="937260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txBody>
          <a:bodyPr/>
          <a:lstStyle/>
          <a:p>
            <a:endParaRPr lang="en-US"/>
          </a:p>
        </p:txBody>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marL="0" indent="0" algn="ctr">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30" name="Text 26"/>
          <p:cNvSpPr/>
          <p:nvPr/>
        </p:nvSpPr>
        <p:spPr>
          <a:xfrm>
            <a:off x="685800"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35" name="Text 31"/>
          <p:cNvSpPr/>
          <p:nvPr/>
        </p:nvSpPr>
        <p:spPr>
          <a:xfrm>
            <a:off x="685800"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40" name="Text 36"/>
          <p:cNvSpPr/>
          <p:nvPr/>
        </p:nvSpPr>
        <p:spPr>
          <a:xfrm>
            <a:off x="685800"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45" name="Text 41"/>
          <p:cNvSpPr/>
          <p:nvPr/>
        </p:nvSpPr>
        <p:spPr>
          <a:xfrm>
            <a:off x="9997135"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50" name="Text 46"/>
          <p:cNvSpPr/>
          <p:nvPr/>
        </p:nvSpPr>
        <p:spPr>
          <a:xfrm>
            <a:off x="9997135"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55" name="Text 51"/>
          <p:cNvSpPr/>
          <p:nvPr/>
        </p:nvSpPr>
        <p:spPr>
          <a:xfrm>
            <a:off x="9997135"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txBody>
          <a:bodyPr/>
          <a:lstStyle/>
          <a:p>
            <a:endParaRPr lang="en-US"/>
          </a:p>
        </p:txBody>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txBody>
          <a:bodyPr/>
          <a:lstStyle/>
          <a:p>
            <a:endParaRPr lang="en-US"/>
          </a:p>
        </p:txBody>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txBody>
          <a:bodyPr/>
          <a:lstStyle/>
          <a:p>
            <a:endParaRPr lang="en-US"/>
          </a:p>
        </p:txBody>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txBody>
          <a:bodyPr/>
          <a:lstStyle/>
          <a:p>
            <a:endParaRPr lang="en-US"/>
          </a:p>
        </p:txBody>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txBody>
          <a:bodyPr/>
          <a:lstStyle/>
          <a:p>
            <a:endParaRPr lang="en-US"/>
          </a:p>
        </p:txBody>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txBody>
          <a:bodyPr/>
          <a:lstStyle/>
          <a:p>
            <a:endParaRPr lang="en-US"/>
          </a:p>
        </p:txBody>
      </p:sp>
      <p:sp>
        <p:nvSpPr>
          <p:cNvPr id="64" name="Text 60"/>
          <p:cNvSpPr/>
          <p:nvPr/>
        </p:nvSpPr>
        <p:spPr>
          <a:xfrm>
            <a:off x="548640" y="5623560"/>
            <a:ext cx="11094415"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66" name="Image 2" descr="preencoded.png"/>
          <p:cNvPicPr>
            <a:picLocks noChangeAspect="1"/>
          </p:cNvPicPr>
          <p:nvPr/>
        </p:nvPicPr>
        <p:blipFill>
          <a:blip r:embed="rId5"/>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39" name="Text 32"/>
          <p:cNvSpPr/>
          <p:nvPr/>
        </p:nvSpPr>
        <p:spPr>
          <a:xfrm>
            <a:off x="68580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3" name="Text 36"/>
          <p:cNvSpPr/>
          <p:nvPr/>
        </p:nvSpPr>
        <p:spPr>
          <a:xfrm>
            <a:off x="452628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7" name="Text 40"/>
          <p:cNvSpPr/>
          <p:nvPr/>
        </p:nvSpPr>
        <p:spPr>
          <a:xfrm>
            <a:off x="836676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14" name="Text 10"/>
          <p:cNvSpPr/>
          <p:nvPr/>
        </p:nvSpPr>
        <p:spPr>
          <a:xfrm>
            <a:off x="2081632"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1" name="Text 16"/>
          <p:cNvSpPr/>
          <p:nvPr/>
        </p:nvSpPr>
        <p:spPr>
          <a:xfrm>
            <a:off x="4971136"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8" name="Text 22"/>
          <p:cNvSpPr/>
          <p:nvPr/>
        </p:nvSpPr>
        <p:spPr>
          <a:xfrm>
            <a:off x="7860640"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35" name="Text 28"/>
          <p:cNvSpPr/>
          <p:nvPr/>
        </p:nvSpPr>
        <p:spPr>
          <a:xfrm>
            <a:off x="10750144"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2" name="Text 34"/>
          <p:cNvSpPr/>
          <p:nvPr/>
        </p:nvSpPr>
        <p:spPr>
          <a:xfrm>
            <a:off x="3526384"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45" name="Image 6" descr="preencoded.png"/>
          <p:cNvPicPr>
            <a:picLocks noChangeAspect="1"/>
          </p:cNvPicPr>
          <p:nvPr/>
        </p:nvPicPr>
        <p:blipFill>
          <a:blip r:embed="rId9"/>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9" name="Text 40"/>
          <p:cNvSpPr/>
          <p:nvPr/>
        </p:nvSpPr>
        <p:spPr>
          <a:xfrm>
            <a:off x="6415888"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56" name="Text 46"/>
          <p:cNvSpPr/>
          <p:nvPr/>
        </p:nvSpPr>
        <p:spPr>
          <a:xfrm>
            <a:off x="9305392"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txBody>
          <a:bodyPr/>
          <a:lstStyle/>
          <a:p>
            <a:endParaRPr lang="en-US"/>
          </a:p>
        </p:txBody>
      </p:sp>
      <p:sp>
        <p:nvSpPr>
          <p:cNvPr id="58" name="Text 48"/>
          <p:cNvSpPr/>
          <p:nvPr/>
        </p:nvSpPr>
        <p:spPr>
          <a:xfrm>
            <a:off x="457200" y="5952744"/>
            <a:ext cx="112745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~2,300 FTE allocated to tribes  </a:t>
            </a:r>
            <a:r>
              <a:rPr lang="en-US" sz="1200" dirty="0">
                <a:solidFill>
                  <a:srgbClr val="FEDF01"/>
                </a:solidFill>
                <a:latin typeface="Calibri" pitchFamily="34" charset="0"/>
                <a:ea typeface="Calibri" pitchFamily="34" charset="-122"/>
                <a:cs typeface="Calibri" pitchFamily="34" charset="-120"/>
              </a:rPr>
              <a:t>·  </a:t>
            </a: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0944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txBody>
          <a:bodyPr/>
          <a:lstStyle/>
          <a:p>
            <a:endParaRPr lang="en-US"/>
          </a:p>
        </p:txBody>
      </p:sp>
      <p:sp>
        <p:nvSpPr>
          <p:cNvPr id="15" name="Text 12"/>
          <p:cNvSpPr/>
          <p:nvPr/>
        </p:nvSpPr>
        <p:spPr>
          <a:xfrm>
            <a:off x="60944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60944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22" name="Text 19"/>
          <p:cNvSpPr/>
          <p:nvPr/>
        </p:nvSpPr>
        <p:spPr>
          <a:xfrm>
            <a:off x="348980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txBody>
          <a:bodyPr/>
          <a:lstStyle/>
          <a:p>
            <a:endParaRPr lang="en-US"/>
          </a:p>
        </p:txBody>
      </p:sp>
      <p:sp>
        <p:nvSpPr>
          <p:cNvPr id="27" name="Text 24"/>
          <p:cNvSpPr/>
          <p:nvPr/>
        </p:nvSpPr>
        <p:spPr>
          <a:xfrm>
            <a:off x="348980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348980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34" name="Text 31"/>
          <p:cNvSpPr/>
          <p:nvPr/>
        </p:nvSpPr>
        <p:spPr>
          <a:xfrm>
            <a:off x="637016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txBody>
          <a:bodyPr/>
          <a:lstStyle/>
          <a:p>
            <a:endParaRPr lang="en-US"/>
          </a:p>
        </p:txBody>
      </p:sp>
      <p:sp>
        <p:nvSpPr>
          <p:cNvPr id="39" name="Text 36"/>
          <p:cNvSpPr/>
          <p:nvPr/>
        </p:nvSpPr>
        <p:spPr>
          <a:xfrm>
            <a:off x="637016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42" name="Text 39"/>
          <p:cNvSpPr/>
          <p:nvPr/>
        </p:nvSpPr>
        <p:spPr>
          <a:xfrm>
            <a:off x="637016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925052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txBody>
          <a:bodyPr/>
          <a:lstStyle/>
          <a:p>
            <a:endParaRPr lang="en-US"/>
          </a:p>
        </p:txBody>
      </p:sp>
      <p:sp>
        <p:nvSpPr>
          <p:cNvPr id="51" name="Text 48"/>
          <p:cNvSpPr/>
          <p:nvPr/>
        </p:nvSpPr>
        <p:spPr>
          <a:xfrm>
            <a:off x="925052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54" name="Text 51"/>
          <p:cNvSpPr/>
          <p:nvPr/>
        </p:nvSpPr>
        <p:spPr>
          <a:xfrm>
            <a:off x="925052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15" name="Text 11"/>
          <p:cNvSpPr/>
          <p:nvPr/>
        </p:nvSpPr>
        <p:spPr>
          <a:xfrm>
            <a:off x="710032"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txBody>
          <a:bodyPr/>
          <a:lstStyle/>
          <a:p>
            <a:endParaRPr lang="en-US"/>
          </a:p>
        </p:txBody>
      </p:sp>
      <p:sp>
        <p:nvSpPr>
          <p:cNvPr id="20" name="Text 16"/>
          <p:cNvSpPr/>
          <p:nvPr/>
        </p:nvSpPr>
        <p:spPr>
          <a:xfrm>
            <a:off x="682600"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23" name="Text 19"/>
          <p:cNvSpPr/>
          <p:nvPr/>
        </p:nvSpPr>
        <p:spPr>
          <a:xfrm>
            <a:off x="618592"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31" name="Text 26"/>
          <p:cNvSpPr/>
          <p:nvPr/>
        </p:nvSpPr>
        <p:spPr>
          <a:xfrm>
            <a:off x="3572104"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txBody>
          <a:bodyPr/>
          <a:lstStyle/>
          <a:p>
            <a:endParaRPr lang="en-US"/>
          </a:p>
        </p:txBody>
      </p:sp>
      <p:sp>
        <p:nvSpPr>
          <p:cNvPr id="36" name="Text 31"/>
          <p:cNvSpPr/>
          <p:nvPr/>
        </p:nvSpPr>
        <p:spPr>
          <a:xfrm>
            <a:off x="3544672"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39" name="Text 34"/>
          <p:cNvSpPr/>
          <p:nvPr/>
        </p:nvSpPr>
        <p:spPr>
          <a:xfrm>
            <a:off x="3480664"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44" name="Image 3" descr="preencoded.png"/>
          <p:cNvPicPr>
            <a:picLocks noChangeAspect="1"/>
          </p:cNvPicPr>
          <p:nvPr/>
        </p:nvPicPr>
        <p:blipFill>
          <a:blip r:embed="rId6"/>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47" name="Text 41"/>
          <p:cNvSpPr/>
          <p:nvPr/>
        </p:nvSpPr>
        <p:spPr>
          <a:xfrm>
            <a:off x="6434176"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txBody>
          <a:bodyPr/>
          <a:lstStyle/>
          <a:p>
            <a:endParaRPr lang="en-US"/>
          </a:p>
        </p:txBody>
      </p:sp>
      <p:sp>
        <p:nvSpPr>
          <p:cNvPr id="52" name="Text 46"/>
          <p:cNvSpPr/>
          <p:nvPr/>
        </p:nvSpPr>
        <p:spPr>
          <a:xfrm>
            <a:off x="6406744"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55" name="Text 49"/>
          <p:cNvSpPr/>
          <p:nvPr/>
        </p:nvSpPr>
        <p:spPr>
          <a:xfrm>
            <a:off x="6342736"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60" name="Image 4" descr="preencoded.png"/>
          <p:cNvPicPr>
            <a:picLocks noChangeAspect="1"/>
          </p:cNvPicPr>
          <p:nvPr/>
        </p:nvPicPr>
        <p:blipFill>
          <a:blip r:embed="rId7"/>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63" name="Text 56"/>
          <p:cNvSpPr/>
          <p:nvPr/>
        </p:nvSpPr>
        <p:spPr>
          <a:xfrm>
            <a:off x="9296248"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txBody>
          <a:bodyPr/>
          <a:lstStyle/>
          <a:p>
            <a:endParaRPr lang="en-US"/>
          </a:p>
        </p:txBody>
      </p:sp>
      <p:sp>
        <p:nvSpPr>
          <p:cNvPr id="68" name="Text 61"/>
          <p:cNvSpPr/>
          <p:nvPr/>
        </p:nvSpPr>
        <p:spPr>
          <a:xfrm>
            <a:off x="9268816"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71" name="Text 64"/>
          <p:cNvSpPr/>
          <p:nvPr/>
        </p:nvSpPr>
        <p:spPr>
          <a:xfrm>
            <a:off x="9204808"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txBody>
          <a:bodyPr/>
          <a:lstStyle/>
          <a:p>
            <a:endParaRPr lang="en-US"/>
          </a:p>
        </p:txBody>
      </p:sp>
      <p:pic>
        <p:nvPicPr>
          <p:cNvPr id="73" name="Image 5" descr="preencoded.png"/>
          <p:cNvPicPr>
            <a:picLocks noChangeAspect="1"/>
          </p:cNvPicPr>
          <p:nvPr/>
        </p:nvPicPr>
        <p:blipFill>
          <a:blip r:embed="rId8"/>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marL="0" indent="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txBody>
          <a:bodyPr/>
          <a:lstStyle/>
          <a:p>
            <a:endParaRPr lang="en-US"/>
          </a:p>
        </p:txBody>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txBody>
          <a:bodyPr/>
          <a:lstStyle/>
          <a:p>
            <a:endParaRPr lang="en-US"/>
          </a:p>
        </p:txBody>
      </p:sp>
      <p:sp>
        <p:nvSpPr>
          <p:cNvPr id="12" name="Text 9"/>
          <p:cNvSpPr/>
          <p:nvPr/>
        </p:nvSpPr>
        <p:spPr>
          <a:xfrm>
            <a:off x="640080" y="5440680"/>
            <a:ext cx="393192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PROVEN AT SCALE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Who Is Already Running This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flat peer-squad model isn't theoretical. The largest engineering organizations in the world have operated this way for over a decade — at scale, in regulated environments, and through massive growth.</a:t>
            </a:r>
            <a:endParaRPr lang="en-US" sz="1300" dirty="0"/>
          </a:p>
        </p:txBody>
      </p:sp>
      <p:sp>
        <p:nvSpPr>
          <p:cNvPr id="8" name="Shape 5"/>
          <p:cNvSpPr/>
          <p:nvPr/>
        </p:nvSpPr>
        <p:spPr>
          <a:xfrm>
            <a:off x="376276"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76276" y="1920240"/>
            <a:ext cx="3703320" cy="59436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376276"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04876"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Amazon / AWS</a:t>
            </a:r>
            <a:endParaRPr lang="en-US" sz="1500" dirty="0"/>
          </a:p>
        </p:txBody>
      </p:sp>
      <p:sp>
        <p:nvSpPr>
          <p:cNvPr id="12" name="Text 9"/>
          <p:cNvSpPr/>
          <p:nvPr/>
        </p:nvSpPr>
        <p:spPr>
          <a:xfrm>
            <a:off x="604876"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2002</a:t>
            </a:r>
            <a:endParaRPr lang="en-US" sz="1000" dirty="0"/>
          </a:p>
        </p:txBody>
      </p:sp>
      <p:sp>
        <p:nvSpPr>
          <p:cNvPr id="13" name="Text 10"/>
          <p:cNvSpPr/>
          <p:nvPr/>
        </p:nvSpPr>
        <p:spPr>
          <a:xfrm>
            <a:off x="604876"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“Two-pizza teams”</a:t>
            </a:r>
            <a:endParaRPr lang="en-US" sz="1600" dirty="0"/>
          </a:p>
        </p:txBody>
      </p:sp>
      <p:sp>
        <p:nvSpPr>
          <p:cNvPr id="14" name="Text 11"/>
          <p:cNvSpPr/>
          <p:nvPr/>
        </p:nvSpPr>
        <p:spPr>
          <a:xfrm>
            <a:off x="604876"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Each service owned by 6–10 people who build it, run it, on-call it. The original "you build it, you run it."</a:t>
            </a:r>
            <a:endParaRPr lang="en-US" sz="1050" dirty="0"/>
          </a:p>
        </p:txBody>
      </p:sp>
      <p:sp>
        <p:nvSpPr>
          <p:cNvPr id="15" name="Shape 12"/>
          <p:cNvSpPr/>
          <p:nvPr/>
        </p:nvSpPr>
        <p:spPr>
          <a:xfrm>
            <a:off x="4244188"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3"/>
          <p:cNvSpPr/>
          <p:nvPr/>
        </p:nvSpPr>
        <p:spPr>
          <a:xfrm>
            <a:off x="4244188" y="1920240"/>
            <a:ext cx="3703320" cy="594360"/>
          </a:xfrm>
          <a:prstGeom prst="rect">
            <a:avLst/>
          </a:prstGeom>
          <a:solidFill>
            <a:srgbClr val="003DA5"/>
          </a:solidFill>
          <a:ln w="12700">
            <a:solidFill>
              <a:srgbClr val="003DA5"/>
            </a:solidFill>
            <a:prstDash val="solid"/>
          </a:ln>
        </p:spPr>
        <p:txBody>
          <a:bodyPr/>
          <a:lstStyle/>
          <a:p>
            <a:endParaRPr lang="en-US"/>
          </a:p>
        </p:txBody>
      </p:sp>
      <p:sp>
        <p:nvSpPr>
          <p:cNvPr id="17" name="Shape 14"/>
          <p:cNvSpPr/>
          <p:nvPr/>
        </p:nvSpPr>
        <p:spPr>
          <a:xfrm>
            <a:off x="4244188"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8" name="Text 15"/>
          <p:cNvSpPr/>
          <p:nvPr/>
        </p:nvSpPr>
        <p:spPr>
          <a:xfrm>
            <a:off x="4472788"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Netflix</a:t>
            </a:r>
            <a:endParaRPr lang="en-US" sz="1500" dirty="0"/>
          </a:p>
        </p:txBody>
      </p:sp>
      <p:sp>
        <p:nvSpPr>
          <p:cNvPr id="19" name="Text 16"/>
          <p:cNvSpPr/>
          <p:nvPr/>
        </p:nvSpPr>
        <p:spPr>
          <a:xfrm>
            <a:off x="4472788"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2011</a:t>
            </a:r>
            <a:endParaRPr lang="en-US" sz="1000" dirty="0"/>
          </a:p>
        </p:txBody>
      </p:sp>
      <p:sp>
        <p:nvSpPr>
          <p:cNvPr id="20" name="Text 17"/>
          <p:cNvSpPr/>
          <p:nvPr/>
        </p:nvSpPr>
        <p:spPr>
          <a:xfrm>
            <a:off x="4472788"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“Full-cycle developers”</a:t>
            </a:r>
            <a:endParaRPr lang="en-US" sz="1600" dirty="0"/>
          </a:p>
        </p:txBody>
      </p:sp>
      <p:sp>
        <p:nvSpPr>
          <p:cNvPr id="21" name="Text 18"/>
          <p:cNvSpPr/>
          <p:nvPr/>
        </p:nvSpPr>
        <p:spPr>
          <a:xfrm>
            <a:off x="4472788"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Every team owns design, build, deploy, operate, support. Paved-road platform makes it possible at scale.</a:t>
            </a:r>
            <a:endParaRPr lang="en-US" sz="1050" dirty="0"/>
          </a:p>
        </p:txBody>
      </p:sp>
      <p:sp>
        <p:nvSpPr>
          <p:cNvPr id="22" name="Shape 19"/>
          <p:cNvSpPr/>
          <p:nvPr/>
        </p:nvSpPr>
        <p:spPr>
          <a:xfrm>
            <a:off x="8112100"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20"/>
          <p:cNvSpPr/>
          <p:nvPr/>
        </p:nvSpPr>
        <p:spPr>
          <a:xfrm>
            <a:off x="8112100" y="1920240"/>
            <a:ext cx="3703320" cy="594360"/>
          </a:xfrm>
          <a:prstGeom prst="rect">
            <a:avLst/>
          </a:prstGeom>
          <a:solidFill>
            <a:srgbClr val="002B7F"/>
          </a:solidFill>
          <a:ln w="12700">
            <a:solidFill>
              <a:srgbClr val="002B7F"/>
            </a:solidFill>
            <a:prstDash val="solid"/>
          </a:ln>
        </p:spPr>
        <p:txBody>
          <a:bodyPr/>
          <a:lstStyle/>
          <a:p>
            <a:endParaRPr lang="en-US"/>
          </a:p>
        </p:txBody>
      </p:sp>
      <p:sp>
        <p:nvSpPr>
          <p:cNvPr id="24" name="Shape 21"/>
          <p:cNvSpPr/>
          <p:nvPr/>
        </p:nvSpPr>
        <p:spPr>
          <a:xfrm>
            <a:off x="8112100"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25" name="Text 22"/>
          <p:cNvSpPr/>
          <p:nvPr/>
        </p:nvSpPr>
        <p:spPr>
          <a:xfrm>
            <a:off x="8340700"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Google SRE</a:t>
            </a:r>
            <a:endParaRPr lang="en-US" sz="1500" dirty="0"/>
          </a:p>
        </p:txBody>
      </p:sp>
      <p:sp>
        <p:nvSpPr>
          <p:cNvPr id="26" name="Text 23"/>
          <p:cNvSpPr/>
          <p:nvPr/>
        </p:nvSpPr>
        <p:spPr>
          <a:xfrm>
            <a:off x="8340700"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2003</a:t>
            </a:r>
            <a:endParaRPr lang="en-US" sz="1000" dirty="0"/>
          </a:p>
        </p:txBody>
      </p:sp>
      <p:sp>
        <p:nvSpPr>
          <p:cNvPr id="27" name="Text 24"/>
          <p:cNvSpPr/>
          <p:nvPr/>
        </p:nvSpPr>
        <p:spPr>
          <a:xfrm>
            <a:off x="8340700"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“Embedded SRE pods”</a:t>
            </a:r>
            <a:endParaRPr lang="en-US" sz="1600" dirty="0"/>
          </a:p>
        </p:txBody>
      </p:sp>
      <p:sp>
        <p:nvSpPr>
          <p:cNvPr id="28" name="Text 25"/>
          <p:cNvSpPr/>
          <p:nvPr/>
        </p:nvSpPr>
        <p:spPr>
          <a:xfrm>
            <a:off x="8340700"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Site Reliability Engineers embedded with product teams; 50% engineering, 50% reliability. Toil is capped, not centralized.</a:t>
            </a:r>
            <a:endParaRPr lang="en-US" sz="1050" dirty="0"/>
          </a:p>
        </p:txBody>
      </p:sp>
      <p:sp>
        <p:nvSpPr>
          <p:cNvPr id="29" name="Shape 26"/>
          <p:cNvSpPr/>
          <p:nvPr/>
        </p:nvSpPr>
        <p:spPr>
          <a:xfrm>
            <a:off x="376276"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376276" y="4187952"/>
            <a:ext cx="3703320" cy="594360"/>
          </a:xfrm>
          <a:prstGeom prst="rect">
            <a:avLst/>
          </a:prstGeom>
          <a:solidFill>
            <a:srgbClr val="003DA5"/>
          </a:solidFill>
          <a:ln w="12700">
            <a:solidFill>
              <a:srgbClr val="003DA5"/>
            </a:solidFill>
            <a:prstDash val="solid"/>
          </a:ln>
        </p:spPr>
        <p:txBody>
          <a:bodyPr/>
          <a:lstStyle/>
          <a:p>
            <a:endParaRPr lang="en-US"/>
          </a:p>
        </p:txBody>
      </p:sp>
      <p:sp>
        <p:nvSpPr>
          <p:cNvPr id="31" name="Shape 28"/>
          <p:cNvSpPr/>
          <p:nvPr/>
        </p:nvSpPr>
        <p:spPr>
          <a:xfrm>
            <a:off x="376276"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2" name="Text 29"/>
          <p:cNvSpPr/>
          <p:nvPr/>
        </p:nvSpPr>
        <p:spPr>
          <a:xfrm>
            <a:off x="604876"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Capital One</a:t>
            </a:r>
            <a:endParaRPr lang="en-US" sz="1500" dirty="0"/>
          </a:p>
        </p:txBody>
      </p:sp>
      <p:sp>
        <p:nvSpPr>
          <p:cNvPr id="33" name="Text 30"/>
          <p:cNvSpPr/>
          <p:nvPr/>
        </p:nvSpPr>
        <p:spPr>
          <a:xfrm>
            <a:off x="604876"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2015</a:t>
            </a:r>
            <a:endParaRPr lang="en-US" sz="1000" dirty="0"/>
          </a:p>
        </p:txBody>
      </p:sp>
      <p:sp>
        <p:nvSpPr>
          <p:cNvPr id="34" name="Text 31"/>
          <p:cNvSpPr/>
          <p:nvPr/>
        </p:nvSpPr>
        <p:spPr>
          <a:xfrm>
            <a:off x="604876"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“Cross-functional pods”</a:t>
            </a:r>
            <a:endParaRPr lang="en-US" sz="1600" dirty="0"/>
          </a:p>
        </p:txBody>
      </p:sp>
      <p:sp>
        <p:nvSpPr>
          <p:cNvPr id="35" name="Text 32"/>
          <p:cNvSpPr/>
          <p:nvPr/>
        </p:nvSpPr>
        <p:spPr>
          <a:xfrm>
            <a:off x="604876"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14,000+ technologists organized as product teams. Distinguished Engineers federated across squads. Heavily regulated — like RBC.</a:t>
            </a:r>
            <a:endParaRPr lang="en-US" sz="1050" dirty="0"/>
          </a:p>
        </p:txBody>
      </p:sp>
      <p:sp>
        <p:nvSpPr>
          <p:cNvPr id="36" name="Shape 33"/>
          <p:cNvSpPr/>
          <p:nvPr/>
        </p:nvSpPr>
        <p:spPr>
          <a:xfrm>
            <a:off x="4244188"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4"/>
          <p:cNvSpPr/>
          <p:nvPr/>
        </p:nvSpPr>
        <p:spPr>
          <a:xfrm>
            <a:off x="4244188" y="4187952"/>
            <a:ext cx="3703320" cy="594360"/>
          </a:xfrm>
          <a:prstGeom prst="rect">
            <a:avLst/>
          </a:prstGeom>
          <a:solidFill>
            <a:srgbClr val="001F5C"/>
          </a:solidFill>
          <a:ln w="12700">
            <a:solidFill>
              <a:srgbClr val="001F5C"/>
            </a:solidFill>
            <a:prstDash val="solid"/>
          </a:ln>
        </p:spPr>
        <p:txBody>
          <a:bodyPr/>
          <a:lstStyle/>
          <a:p>
            <a:endParaRPr lang="en-US"/>
          </a:p>
        </p:txBody>
      </p:sp>
      <p:sp>
        <p:nvSpPr>
          <p:cNvPr id="38" name="Shape 35"/>
          <p:cNvSpPr/>
          <p:nvPr/>
        </p:nvSpPr>
        <p:spPr>
          <a:xfrm>
            <a:off x="4244188"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9" name="Text 36"/>
          <p:cNvSpPr/>
          <p:nvPr/>
        </p:nvSpPr>
        <p:spPr>
          <a:xfrm>
            <a:off x="4472788"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JPMorgan Chase</a:t>
            </a:r>
            <a:endParaRPr lang="en-US" sz="1500" dirty="0"/>
          </a:p>
        </p:txBody>
      </p:sp>
      <p:sp>
        <p:nvSpPr>
          <p:cNvPr id="40" name="Text 37"/>
          <p:cNvSpPr/>
          <p:nvPr/>
        </p:nvSpPr>
        <p:spPr>
          <a:xfrm>
            <a:off x="4472788"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2019</a:t>
            </a:r>
            <a:endParaRPr lang="en-US" sz="1000" dirty="0"/>
          </a:p>
        </p:txBody>
      </p:sp>
      <p:sp>
        <p:nvSpPr>
          <p:cNvPr id="41" name="Text 38"/>
          <p:cNvSpPr/>
          <p:nvPr/>
        </p:nvSpPr>
        <p:spPr>
          <a:xfrm>
            <a:off x="4472788"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“Platform-as-product”</a:t>
            </a:r>
            <a:endParaRPr lang="en-US" sz="1600" dirty="0"/>
          </a:p>
        </p:txBody>
      </p:sp>
      <p:sp>
        <p:nvSpPr>
          <p:cNvPr id="42" name="Text 39"/>
          <p:cNvSpPr/>
          <p:nvPr/>
        </p:nvSpPr>
        <p:spPr>
          <a:xfrm>
            <a:off x="4472788"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55,000 technologists under a CIO of Infrastructure Platforms. Flat infra cost despite +50% compute growth.</a:t>
            </a:r>
            <a:endParaRPr lang="en-US" sz="1050" dirty="0"/>
          </a:p>
        </p:txBody>
      </p:sp>
      <p:sp>
        <p:nvSpPr>
          <p:cNvPr id="43" name="Shape 40"/>
          <p:cNvSpPr/>
          <p:nvPr/>
        </p:nvSpPr>
        <p:spPr>
          <a:xfrm>
            <a:off x="8112100"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8112100" y="4187952"/>
            <a:ext cx="3703320" cy="594360"/>
          </a:xfrm>
          <a:prstGeom prst="rect">
            <a:avLst/>
          </a:prstGeom>
          <a:solidFill>
            <a:srgbClr val="002B7F"/>
          </a:solidFill>
          <a:ln w="12700">
            <a:solidFill>
              <a:srgbClr val="002B7F"/>
            </a:solidFill>
            <a:prstDash val="solid"/>
          </a:ln>
        </p:spPr>
        <p:txBody>
          <a:bodyPr/>
          <a:lstStyle/>
          <a:p>
            <a:endParaRPr lang="en-US"/>
          </a:p>
        </p:txBody>
      </p:sp>
      <p:sp>
        <p:nvSpPr>
          <p:cNvPr id="45" name="Shape 42"/>
          <p:cNvSpPr/>
          <p:nvPr/>
        </p:nvSpPr>
        <p:spPr>
          <a:xfrm>
            <a:off x="8112100"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8340700"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DBS Bank (ADA)</a:t>
            </a:r>
            <a:endParaRPr lang="en-US" sz="1500" dirty="0"/>
          </a:p>
        </p:txBody>
      </p:sp>
      <p:sp>
        <p:nvSpPr>
          <p:cNvPr id="47" name="Text 44"/>
          <p:cNvSpPr/>
          <p:nvPr/>
        </p:nvSpPr>
        <p:spPr>
          <a:xfrm>
            <a:off x="8340700"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2017</a:t>
            </a:r>
            <a:endParaRPr lang="en-US" sz="1000" dirty="0"/>
          </a:p>
        </p:txBody>
      </p:sp>
      <p:sp>
        <p:nvSpPr>
          <p:cNvPr id="48" name="Text 45"/>
          <p:cNvSpPr/>
          <p:nvPr/>
        </p:nvSpPr>
        <p:spPr>
          <a:xfrm>
            <a:off x="8340700"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“Federated platform”</a:t>
            </a:r>
            <a:endParaRPr lang="en-US" sz="1600" dirty="0"/>
          </a:p>
        </p:txBody>
      </p:sp>
      <p:sp>
        <p:nvSpPr>
          <p:cNvPr id="49" name="Text 46"/>
          <p:cNvSpPr/>
          <p:nvPr/>
        </p:nvSpPr>
        <p:spPr>
          <a:xfrm>
            <a:off x="8340700"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Asian banking giant running an enterprise platform team with federated business-aligned squads. Most directly comparable to RBC.</a:t>
            </a:r>
            <a:endParaRPr lang="en-US" sz="1050" dirty="0"/>
          </a:p>
        </p:txBody>
      </p:sp>
      <p:sp>
        <p:nvSpPr>
          <p:cNvPr id="50" name="Shape 47"/>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245352"/>
            <a:ext cx="219456" cy="219456"/>
          </a:xfrm>
          <a:prstGeom prst="rect">
            <a:avLst/>
          </a:prstGeom>
        </p:spPr>
      </p:pic>
      <p:sp>
        <p:nvSpPr>
          <p:cNvPr id="52" name="Text 48"/>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Next three slides take a closer look at AWS, Netflix, and JPMorgan Chase — the most directly relevant patterns for RBC's scale and regulatory posture.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1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Amazon / AWS  —  Two-Pizza Teams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“You build it, you run it.”</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Werner Vogels, CTO Amazon  ·  ACM Queue, 2006</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Two-pizza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sized so two pizzas can feed them — typically 6–10 engineers. Each team owns one service end-to-end.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Full ownership of the lifecycle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Build, deploy, monitor, on-call, customer support. No separate ops team to throw work over to.</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Service-oriented architecture as the wedge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team exposes its capability as a service consumed by other teams via API. Teams are peers — no hierarchy.</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API-first contracts between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Jeff Bezos’ famous 2002 mandate: “All teams will expose their data and functionality through service interfaces.”</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AWS services, each owned by a two-pizza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deploys per day across AWS</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 yrs</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operating this model continuously</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AWS is the canonical reference. SQL Server Squad, Compute Squad, Storage Squad — every name in our model maps directly to a two-pizza team pattern. Their API-first contracts between teams are exactly what the Zephyr Control Plane formalizes for us.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2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Netflix  —  Full-Cycle Developers + Paved Road</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“Operate what you build.”</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Netflix Engineering Blog, 2018  ·  Full-cycle developers + paved-road platform</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Full-cycle developers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engineer owns design, build, test, deploy, operate, support, retire. “Developers feel the pain when their code breaks at 2 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Centralized paved-road tooling</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Spinnaker (CD), Titus (containers), Atlas (telemetry), chaos engineering — built and maintained by a small platform team for everyone else.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Freedom + responsibility culture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are autonomous within paved-road guardrails. Step off the paved road, you own the consequences.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Resilience engineered in, not added on</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Chaos Monkey embedded in production. Each team is expected to make its service resilient — not pass that work to a separate SRE org.</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microservices, each owned by one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270M</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subscribers served — global scale</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&lt;1 hr</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median deploy time from commit to prod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Netflix is the blueprint for the “paved road + autonomy” pattern. Zephyr Control Plane plays the role of Spinnaker + Atlas combined — the central thing teams build on, while keeping squad-level ownership of the service.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3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JPMorgan Chase  —  Platform-as-Product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000" b="1" i="1" dirty="0">
                <a:solidFill>
                  <a:srgbClr val="FEDF01"/>
                </a:solidFill>
                <a:latin typeface="Georgia" pitchFamily="34" charset="0"/>
                <a:ea typeface="Georgia" pitchFamily="34" charset="-122"/>
                <a:cs typeface="Georgia" pitchFamily="34" charset="-120"/>
              </a:rPr>
              <a:t>“We run infrastructure as a product, not as projects.”</a:t>
            </a:r>
            <a:endParaRPr lang="en-US" sz="20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Darrin Alves, CIO of Infrastructure Platforms, JPMorgan Chase</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Infrastructure organized as platforms, not as ops silos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Dedicated CIO of Infrastructure Platforms reporting line. Each platform (compute, network, storage, data) is a product with a PM, roadmap, internal customers.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AI embedded across the infra estate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“20–30 use cases where AI augments anomaly detection.” AI is a horizontal capability shipped inside every platform — not a separate AI team.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Regulated environment, same model</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Fed-supervised, OCC-supervised, global G-SIB. Compliance built into the platforms as paved-road controls — same Assurance-as-Code pattern we propose.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Persistent funding, not project budgets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Platform teams funded continuously against OKRs. No annual project recompetition that breaks team continuity.</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55,000+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technologists working in platform/product orgs</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Flat</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infrastructure cost despite +50% compute growth since 2019</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year-over-year improvement in feature delivery speed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Most directly comparable to RBC: regulated G-SIB, similar scale, same constraints (OSFI / Fed). They proved the model works in a heavily-supervised environment — without compromising regulatory posture.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p:cNvGraphicFramePr/>
          <p:nvPr/>
        </p:nvGraphicFramePr>
        <p:xfrm>
          <a:off x="457200" y="1920240"/>
          <a:ext cx="6217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txBody>
          <a:bodyPr/>
          <a:lstStyle/>
          <a:p>
            <a:endParaRPr lang="en-US"/>
          </a:p>
        </p:txBody>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txBody>
          <a:bodyPr/>
          <a:lstStyle/>
          <a:p>
            <a:endParaRPr lang="en-US"/>
          </a:p>
        </p:txBody>
      </p:sp>
      <p:sp>
        <p:nvSpPr>
          <p:cNvPr id="12" name="Text 8"/>
          <p:cNvSpPr/>
          <p:nvPr/>
        </p:nvSpPr>
        <p:spPr>
          <a:xfrm>
            <a:off x="7114032" y="246888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txBody>
          <a:bodyPr/>
          <a:lstStyle/>
          <a:p>
            <a:endParaRPr lang="en-US"/>
          </a:p>
        </p:txBody>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txBody>
          <a:bodyPr/>
          <a:lstStyle/>
          <a:p>
            <a:endParaRPr lang="en-US"/>
          </a:p>
        </p:txBody>
      </p:sp>
      <p:sp>
        <p:nvSpPr>
          <p:cNvPr id="16" name="Text 12"/>
          <p:cNvSpPr/>
          <p:nvPr/>
        </p:nvSpPr>
        <p:spPr>
          <a:xfrm>
            <a:off x="7114032" y="293522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txBody>
          <a:bodyPr/>
          <a:lstStyle/>
          <a:p>
            <a:endParaRPr lang="en-US"/>
          </a:p>
        </p:txBody>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txBody>
          <a:bodyPr/>
          <a:lstStyle/>
          <a:p>
            <a:endParaRPr lang="en-US"/>
          </a:p>
        </p:txBody>
      </p:sp>
      <p:sp>
        <p:nvSpPr>
          <p:cNvPr id="20" name="Text 16"/>
          <p:cNvSpPr/>
          <p:nvPr/>
        </p:nvSpPr>
        <p:spPr>
          <a:xfrm>
            <a:off x="7114032" y="3401568"/>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txBody>
          <a:bodyPr/>
          <a:lstStyle/>
          <a:p>
            <a:endParaRPr lang="en-US"/>
          </a:p>
        </p:txBody>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txBody>
          <a:bodyPr/>
          <a:lstStyle/>
          <a:p>
            <a:endParaRPr lang="en-US"/>
          </a:p>
        </p:txBody>
      </p:sp>
      <p:sp>
        <p:nvSpPr>
          <p:cNvPr id="24" name="Text 20"/>
          <p:cNvSpPr/>
          <p:nvPr/>
        </p:nvSpPr>
        <p:spPr>
          <a:xfrm>
            <a:off x="7114032" y="3867912"/>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txBody>
          <a:bodyPr/>
          <a:lstStyle/>
          <a:p>
            <a:endParaRPr lang="en-US"/>
          </a:p>
        </p:txBody>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txBody>
          <a:bodyPr/>
          <a:lstStyle/>
          <a:p>
            <a:endParaRPr lang="en-US"/>
          </a:p>
        </p:txBody>
      </p:sp>
      <p:sp>
        <p:nvSpPr>
          <p:cNvPr id="28" name="Text 24"/>
          <p:cNvSpPr/>
          <p:nvPr/>
        </p:nvSpPr>
        <p:spPr>
          <a:xfrm>
            <a:off x="7114032" y="4334256"/>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txBody>
          <a:bodyPr/>
          <a:lstStyle/>
          <a:p>
            <a:endParaRPr lang="en-US"/>
          </a:p>
        </p:txBody>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txBody>
          <a:bodyPr/>
          <a:lstStyle/>
          <a:p>
            <a:endParaRPr lang="en-US"/>
          </a:p>
        </p:txBody>
      </p:sp>
      <p:sp>
        <p:nvSpPr>
          <p:cNvPr id="32" name="Text 28"/>
          <p:cNvSpPr/>
          <p:nvPr/>
        </p:nvSpPr>
        <p:spPr>
          <a:xfrm>
            <a:off x="7114032" y="480060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txBody>
          <a:bodyPr/>
          <a:lstStyle/>
          <a:p>
            <a:endParaRPr lang="en-US"/>
          </a:p>
        </p:txBody>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txBody>
          <a:bodyPr/>
          <a:lstStyle/>
          <a:p>
            <a:endParaRPr lang="en-US"/>
          </a:p>
        </p:txBody>
      </p:sp>
      <p:sp>
        <p:nvSpPr>
          <p:cNvPr id="36" name="Text 32"/>
          <p:cNvSpPr/>
          <p:nvPr/>
        </p:nvSpPr>
        <p:spPr>
          <a:xfrm>
            <a:off x="7114032" y="526694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25" name="Image 4" descr="preencoded.png"/>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30" name="Image 5" descr="preencoded.png"/>
          <p:cNvPicPr>
            <a:picLocks noChangeAspect="1"/>
          </p:cNvPicPr>
          <p:nvPr/>
        </p:nvPicPr>
        <p:blipFill>
          <a:blip r:embed="rId7"/>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35" name="Image 6" descr="preencoded.png"/>
          <p:cNvPicPr>
            <a:picLocks noChangeAspect="1"/>
          </p:cNvPicPr>
          <p:nvPr/>
        </p:nvPicPr>
        <p:blipFill>
          <a:blip r:embed="rId5"/>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40" name="Image 7" descr="preencoded.png"/>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45" name="Image 8" descr="preencoded.png"/>
          <p:cNvPicPr>
            <a:picLocks noChangeAspect="1"/>
          </p:cNvPicPr>
          <p:nvPr/>
        </p:nvPicPr>
        <p:blipFill>
          <a:blip r:embed="rId5"/>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txBody>
          <a:bodyPr/>
          <a:lstStyle/>
          <a:p>
            <a:endParaRPr lang="en-US"/>
          </a:p>
        </p:txBody>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txBody>
          <a:bodyPr/>
          <a:lstStyle/>
          <a:p>
            <a:endParaRPr lang="en-US"/>
          </a:p>
        </p:txBody>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txBody>
          <a:bodyPr/>
          <a:lstStyle/>
          <a:p>
            <a:endParaRPr lang="en-US"/>
          </a:p>
        </p:txBody>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txBody>
          <a:bodyPr/>
          <a:lstStyle/>
          <a:p>
            <a:endParaRPr lang="en-US"/>
          </a:p>
        </p:txBody>
      </p:sp>
      <p:sp>
        <p:nvSpPr>
          <p:cNvPr id="11" name="Text 8"/>
          <p:cNvSpPr/>
          <p:nvPr/>
        </p:nvSpPr>
        <p:spPr>
          <a:xfrm>
            <a:off x="457200" y="1554480"/>
            <a:ext cx="30175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marL="0" indent="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txBody>
          <a:bodyPr/>
          <a:lstStyle/>
          <a:p>
            <a:endParaRPr lang="en-US"/>
          </a:p>
        </p:txBody>
      </p:sp>
      <p:sp>
        <p:nvSpPr>
          <p:cNvPr id="17" name="Text 14"/>
          <p:cNvSpPr/>
          <p:nvPr/>
        </p:nvSpPr>
        <p:spPr>
          <a:xfrm>
            <a:off x="457200" y="5897880"/>
            <a:ext cx="2971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txBody>
          <a:bodyPr/>
          <a:lstStyle/>
          <a:p>
            <a:endParaRPr lang="en-US"/>
          </a:p>
        </p:txBody>
      </p:sp>
      <p:sp>
        <p:nvSpPr>
          <p:cNvPr id="21" name="Text 18"/>
          <p:cNvSpPr/>
          <p:nvPr/>
        </p:nvSpPr>
        <p:spPr>
          <a:xfrm>
            <a:off x="3520440" y="5897880"/>
            <a:ext cx="37490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marL="0" indent="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txBody>
          <a:bodyPr/>
          <a:lstStyle/>
          <a:p>
            <a:endParaRPr lang="en-US"/>
          </a:p>
        </p:txBody>
      </p:sp>
      <p:sp>
        <p:nvSpPr>
          <p:cNvPr id="25" name="Text 22"/>
          <p:cNvSpPr/>
          <p:nvPr/>
        </p:nvSpPr>
        <p:spPr>
          <a:xfrm>
            <a:off x="7406640" y="5897880"/>
            <a:ext cx="4325112"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3383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txBody>
          <a:bodyPr/>
          <a:lstStyle/>
          <a:p>
            <a:endParaRPr lang="en-US"/>
          </a:p>
        </p:txBody>
      </p:sp>
      <p:sp>
        <p:nvSpPr>
          <p:cNvPr id="10" name="Text 7"/>
          <p:cNvSpPr/>
          <p:nvPr/>
        </p:nvSpPr>
        <p:spPr>
          <a:xfrm>
            <a:off x="4279392" y="1417320"/>
            <a:ext cx="1097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txBody>
          <a:bodyPr/>
          <a:lstStyle/>
          <a:p>
            <a:endParaRPr lang="en-US"/>
          </a:p>
        </p:txBody>
      </p:sp>
      <p:sp>
        <p:nvSpPr>
          <p:cNvPr id="12" name="Text 9"/>
          <p:cNvSpPr/>
          <p:nvPr/>
        </p:nvSpPr>
        <p:spPr>
          <a:xfrm>
            <a:off x="5650992" y="1417320"/>
            <a:ext cx="5973775"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4297680" y="19659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txBody>
          <a:bodyPr/>
          <a:lstStyle/>
          <a:p>
            <a:endParaRPr lang="en-US"/>
          </a:p>
        </p:txBody>
      </p:sp>
      <p:sp>
        <p:nvSpPr>
          <p:cNvPr id="20" name="Text 17"/>
          <p:cNvSpPr/>
          <p:nvPr/>
        </p:nvSpPr>
        <p:spPr>
          <a:xfrm>
            <a:off x="621792" y="23774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txBody>
          <a:bodyPr/>
          <a:lstStyle/>
          <a:p>
            <a:endParaRPr lang="en-US"/>
          </a:p>
        </p:txBody>
      </p:sp>
      <p:sp>
        <p:nvSpPr>
          <p:cNvPr id="22" name="Text 19"/>
          <p:cNvSpPr/>
          <p:nvPr/>
        </p:nvSpPr>
        <p:spPr>
          <a:xfrm>
            <a:off x="4297680" y="24688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txBody>
          <a:bodyPr/>
          <a:lstStyle/>
          <a:p>
            <a:endParaRPr lang="en-US"/>
          </a:p>
        </p:txBody>
      </p:sp>
      <p:sp>
        <p:nvSpPr>
          <p:cNvPr id="25" name="Text 22"/>
          <p:cNvSpPr/>
          <p:nvPr/>
        </p:nvSpPr>
        <p:spPr>
          <a:xfrm>
            <a:off x="621792" y="28803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txBody>
          <a:bodyPr/>
          <a:lstStyle/>
          <a:p>
            <a:endParaRPr lang="en-US"/>
          </a:p>
        </p:txBody>
      </p:sp>
      <p:sp>
        <p:nvSpPr>
          <p:cNvPr id="27" name="Text 24"/>
          <p:cNvSpPr/>
          <p:nvPr/>
        </p:nvSpPr>
        <p:spPr>
          <a:xfrm>
            <a:off x="4297680" y="29718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txBody>
          <a:bodyPr/>
          <a:lstStyle/>
          <a:p>
            <a:endParaRPr lang="en-US"/>
          </a:p>
        </p:txBody>
      </p:sp>
      <p:sp>
        <p:nvSpPr>
          <p:cNvPr id="30" name="Text 27"/>
          <p:cNvSpPr/>
          <p:nvPr/>
        </p:nvSpPr>
        <p:spPr>
          <a:xfrm>
            <a:off x="621792" y="338328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4297680" y="34747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txBody>
          <a:bodyPr/>
          <a:lstStyle/>
          <a:p>
            <a:endParaRPr lang="en-US"/>
          </a:p>
        </p:txBody>
      </p:sp>
      <p:sp>
        <p:nvSpPr>
          <p:cNvPr id="35" name="Text 32"/>
          <p:cNvSpPr/>
          <p:nvPr/>
        </p:nvSpPr>
        <p:spPr>
          <a:xfrm>
            <a:off x="621792" y="388620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txBody>
          <a:bodyPr/>
          <a:lstStyle/>
          <a:p>
            <a:endParaRPr lang="en-US"/>
          </a:p>
        </p:txBody>
      </p:sp>
      <p:sp>
        <p:nvSpPr>
          <p:cNvPr id="37" name="Text 34"/>
          <p:cNvSpPr/>
          <p:nvPr/>
        </p:nvSpPr>
        <p:spPr>
          <a:xfrm>
            <a:off x="4297680" y="397764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21792" y="43891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4297680" y="44805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txBody>
          <a:bodyPr/>
          <a:lstStyle/>
          <a:p>
            <a:endParaRPr lang="en-US"/>
          </a:p>
        </p:txBody>
      </p:sp>
      <p:sp>
        <p:nvSpPr>
          <p:cNvPr id="45" name="Text 42"/>
          <p:cNvSpPr/>
          <p:nvPr/>
        </p:nvSpPr>
        <p:spPr>
          <a:xfrm>
            <a:off x="621792" y="48920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txBody>
          <a:bodyPr/>
          <a:lstStyle/>
          <a:p>
            <a:endParaRPr lang="en-US"/>
          </a:p>
        </p:txBody>
      </p:sp>
      <p:sp>
        <p:nvSpPr>
          <p:cNvPr id="47" name="Text 44"/>
          <p:cNvSpPr/>
          <p:nvPr/>
        </p:nvSpPr>
        <p:spPr>
          <a:xfrm>
            <a:off x="4297680" y="49834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txBody>
          <a:bodyPr/>
          <a:lstStyle/>
          <a:p>
            <a:endParaRPr lang="en-US"/>
          </a:p>
        </p:txBody>
      </p:sp>
      <p:sp>
        <p:nvSpPr>
          <p:cNvPr id="50" name="Text 47"/>
          <p:cNvSpPr/>
          <p:nvPr/>
        </p:nvSpPr>
        <p:spPr>
          <a:xfrm>
            <a:off x="621792" y="53949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4297680" y="54864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40080"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12" name="Text 9"/>
          <p:cNvSpPr/>
          <p:nvPr/>
        </p:nvSpPr>
        <p:spPr>
          <a:xfrm>
            <a:off x="777240" y="21031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15" name="Text 12"/>
          <p:cNvSpPr/>
          <p:nvPr/>
        </p:nvSpPr>
        <p:spPr>
          <a:xfrm>
            <a:off x="777240" y="26517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777240" y="320040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21" name="Text 18"/>
          <p:cNvSpPr/>
          <p:nvPr/>
        </p:nvSpPr>
        <p:spPr>
          <a:xfrm>
            <a:off x="777240" y="374904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24" name="Text 21"/>
          <p:cNvSpPr/>
          <p:nvPr/>
        </p:nvSpPr>
        <p:spPr>
          <a:xfrm>
            <a:off x="777240" y="429768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777240" y="48463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777240" y="53949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txBody>
          <a:bodyPr/>
          <a:lstStyle/>
          <a:p>
            <a:endParaRPr lang="en-US"/>
          </a:p>
        </p:txBody>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6382512"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37" name="Text 34"/>
          <p:cNvSpPr/>
          <p:nvPr/>
        </p:nvSpPr>
        <p:spPr>
          <a:xfrm>
            <a:off x="6519672" y="21031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519672" y="26517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43" name="Text 40"/>
          <p:cNvSpPr/>
          <p:nvPr/>
        </p:nvSpPr>
        <p:spPr>
          <a:xfrm>
            <a:off x="6519672" y="320040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46" name="Text 43"/>
          <p:cNvSpPr/>
          <p:nvPr/>
        </p:nvSpPr>
        <p:spPr>
          <a:xfrm>
            <a:off x="6519672" y="374904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49" name="Text 46"/>
          <p:cNvSpPr/>
          <p:nvPr/>
        </p:nvSpPr>
        <p:spPr>
          <a:xfrm>
            <a:off x="6519672" y="429768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52" name="Text 49"/>
          <p:cNvSpPr/>
          <p:nvPr/>
        </p:nvSpPr>
        <p:spPr>
          <a:xfrm>
            <a:off x="6519672" y="48463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55" name="Text 52"/>
          <p:cNvSpPr/>
          <p:nvPr/>
        </p:nvSpPr>
        <p:spPr>
          <a:xfrm>
            <a:off x="6519672" y="53949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Infrastructure &amp; Technology</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82600"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15" name="Text 12"/>
          <p:cNvSpPr/>
          <p:nvPr/>
        </p:nvSpPr>
        <p:spPr>
          <a:xfrm>
            <a:off x="636880"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9" name="Text 16"/>
          <p:cNvSpPr/>
          <p:nvPr/>
        </p:nvSpPr>
        <p:spPr>
          <a:xfrm>
            <a:off x="3544672"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23" name="Text 20"/>
          <p:cNvSpPr/>
          <p:nvPr/>
        </p:nvSpPr>
        <p:spPr>
          <a:xfrm>
            <a:off x="3498952"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Text 24"/>
          <p:cNvSpPr/>
          <p:nvPr/>
        </p:nvSpPr>
        <p:spPr>
          <a:xfrm>
            <a:off x="6406744"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1" name="Text 28"/>
          <p:cNvSpPr/>
          <p:nvPr/>
        </p:nvSpPr>
        <p:spPr>
          <a:xfrm>
            <a:off x="6361024"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9268816"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9" name="Text 36"/>
          <p:cNvSpPr/>
          <p:nvPr/>
        </p:nvSpPr>
        <p:spPr>
          <a:xfrm>
            <a:off x="9223096"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marL="0" indent="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marL="0" indent="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806440"/>
            <a:ext cx="10058400" cy="457200"/>
          </a:xfrm>
          <a:prstGeom prst="rect">
            <a:avLst/>
          </a:prstGeom>
          <a:noFill/>
          <a:ln/>
        </p:spPr>
        <p:txBody>
          <a:bodyPr wrap="square" lIns="0" tIns="0" rIns="0" bIns="0" rtlCol="0" anchor="ctr"/>
          <a:lstStyle/>
          <a:p>
            <a:pPr marL="0" indent="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4154</Words>
  <Application>Microsoft Macintosh PowerPoint</Application>
  <PresentationFormat>Widescreen</PresentationFormat>
  <Paragraphs>644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Infrastructure &amp; Technology</dc:creator>
  <cp:lastModifiedBy>Dhwanil Raval</cp:lastModifiedBy>
  <cp:revision>1</cp:revision>
  <dcterms:created xsi:type="dcterms:W3CDTF">2026-05-12T20:03:07Z</dcterms:created>
  <dcterms:modified xsi:type="dcterms:W3CDTF">2026-05-12T20:46:20Z</dcterms:modified>
</cp:coreProperties>
</file>