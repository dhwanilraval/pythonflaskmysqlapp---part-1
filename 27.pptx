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6" r:id="rId2"/>
    <p:sldId id="257" r:id="rId3"/>
    <p:sldId id="307" r:id="rId4"/>
    <p:sldId id="258" r:id="rId5"/>
    <p:sldId id="259" r:id="rId6"/>
    <p:sldId id="306" r:id="rId7"/>
    <p:sldId id="260" r:id="rId8"/>
    <p:sldId id="308" r:id="rId9"/>
    <p:sldId id="279" r:id="rId10"/>
    <p:sldId id="280" r:id="rId11"/>
    <p:sldId id="281" r:id="rId12"/>
    <p:sldId id="283" r:id="rId13"/>
    <p:sldId id="287" r:id="rId14"/>
    <p:sldId id="288" r:id="rId15"/>
    <p:sldId id="310" r:id="rId16"/>
    <p:sldId id="311" r:id="rId17"/>
    <p:sldId id="312" r:id="rId18"/>
    <p:sldId id="290" r:id="rId19"/>
    <p:sldId id="309" r:id="rId20"/>
    <p:sldId id="292" r:id="rId21"/>
    <p:sldId id="284" r:id="rId22"/>
    <p:sldId id="285" r:id="rId23"/>
    <p:sldId id="286" r:id="rId24"/>
    <p:sldId id="291" r:id="rId25"/>
    <p:sldId id="305" r:id="rId26"/>
    <p:sldId id="261" r:id="rId27"/>
    <p:sldId id="262" r:id="rId28"/>
    <p:sldId id="263" r:id="rId29"/>
    <p:sldId id="264" r:id="rId30"/>
    <p:sldId id="265" r:id="rId31"/>
    <p:sldId id="266" r:id="rId32"/>
    <p:sldId id="267" r:id="rId33"/>
    <p:sldId id="304" r:id="rId34"/>
    <p:sldId id="268" r:id="rId35"/>
    <p:sldId id="293" r:id="rId36"/>
    <p:sldId id="294" r:id="rId37"/>
    <p:sldId id="295" r:id="rId38"/>
    <p:sldId id="296" r:id="rId39"/>
    <p:sldId id="269" r:id="rId40"/>
    <p:sldId id="270" r:id="rId41"/>
    <p:sldId id="271" r:id="rId42"/>
    <p:sldId id="272" r:id="rId43"/>
    <p:sldId id="273" r:id="rId44"/>
    <p:sldId id="274" r:id="rId45"/>
    <p:sldId id="275" r:id="rId46"/>
    <p:sldId id="276" r:id="rId47"/>
    <p:sldId id="277" r:id="rId48"/>
    <p:sldId id="278" r:id="rId49"/>
    <p:sldId id="303" r:id="rId50"/>
    <p:sldId id="297" r:id="rId51"/>
    <p:sldId id="298" r:id="rId52"/>
    <p:sldId id="299" r:id="rId53"/>
    <p:sldId id="300" r:id="rId54"/>
    <p:sldId id="301" r:id="rId55"/>
    <p:sldId id="302" r:id="rId5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3DA5"/>
                </a:solidFill>
                <a:latin typeface="Calibri"/>
              </a:defRPr>
            </a:pPr>
            <a:r>
              <a:rPr sz="1300" b="0" i="0" u="none" strike="noStrike">
                <a:solidFill>
                  <a:srgbClr val="003DA5"/>
                </a:solidFill>
                <a:latin typeface="Calibri"/>
              </a:rPr>
              <a:t>Targeted Improvement vs. Today (%)</a:t>
            </a:r>
          </a:p>
        </c:rich>
      </c:tx>
      <c:overlay val="0"/>
    </c:title>
    <c:autoTitleDeleted val="0"/>
    <c:plotArea>
      <c:layout/>
      <c:barChart>
        <c:barDir val="bar"/>
        <c:grouping val="clustered"/>
        <c:varyColors val="0"/>
        <c:ser>
          <c:idx val="0"/>
          <c:order val="0"/>
          <c:tx>
            <c:strRef>
              <c:f>Sheet1!$B$1</c:f>
              <c:strCache>
                <c:ptCount val="1"/>
                <c:pt idx="0">
                  <c:v>Improvement</c:v>
                </c:pt>
              </c:strCache>
            </c:strRef>
          </c:tx>
          <c:spPr>
            <a:solidFill>
              <a:srgbClr val="003DA5"/>
            </a:solidFill>
            <a:effectLst/>
          </c:spPr>
          <c:invertIfNegative val="0"/>
          <c:dLbls>
            <c:numFmt formatCode="0&quot;%&quot;"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FTE reclaimed from toil</c:v>
                </c:pt>
                <c:pt idx="1">
                  <c:v>MTTR reduction</c:v>
                </c:pt>
                <c:pt idx="2">
                  <c:v>Provisioning lead time</c:v>
                </c:pt>
                <c:pt idx="3">
                  <c:v>Deployment frequency</c:v>
                </c:pt>
                <c:pt idx="4">
                  <c:v>Time-to-onboard team</c:v>
                </c:pt>
                <c:pt idx="5">
                  <c:v>DevEx NPS lift</c:v>
                </c:pt>
              </c:strCache>
            </c:strRef>
          </c:cat>
          <c:val>
            <c:numRef>
              <c:f>Sheet1!$B$2:$B$7</c:f>
              <c:numCache>
                <c:formatCode>General</c:formatCode>
                <c:ptCount val="6"/>
                <c:pt idx="0">
                  <c:v>20</c:v>
                </c:pt>
                <c:pt idx="1">
                  <c:v>40</c:v>
                </c:pt>
                <c:pt idx="2">
                  <c:v>75</c:v>
                </c:pt>
                <c:pt idx="3">
                  <c:v>75</c:v>
                </c:pt>
                <c:pt idx="4">
                  <c:v>70</c:v>
                </c:pt>
                <c:pt idx="5">
                  <c:v>50</c:v>
                </c:pt>
              </c:numCache>
            </c:numRef>
          </c:val>
          <c:extLst>
            <c:ext xmlns:c16="http://schemas.microsoft.com/office/drawing/2014/chart" uri="{C3380CC4-5D6E-409C-BE32-E72D297353CC}">
              <c16:uniqueId val="{00000000-115E-6240-9759-93A691F9660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270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6.png"/><Relationship Id="rId4" Type="http://schemas.openxmlformats.org/officeDocument/2006/relationships/image" Target="../media/image6.png"/><Relationship Id="rId9"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777240" y="548640"/>
            <a:ext cx="700226" cy="914400"/>
          </a:xfrm>
          <a:prstGeom prst="rect">
            <a:avLst/>
          </a:prstGeom>
        </p:spPr>
      </p:pic>
      <p:sp>
        <p:nvSpPr>
          <p:cNvPr id="4" name="Text 1"/>
          <p:cNvSpPr/>
          <p:nvPr/>
        </p:nvSpPr>
        <p:spPr>
          <a:xfrm>
            <a:off x="777240" y="2194560"/>
            <a:ext cx="10058400" cy="365760"/>
          </a:xfrm>
          <a:prstGeom prst="rect">
            <a:avLst/>
          </a:prstGeom>
          <a:noFill/>
          <a:ln/>
        </p:spPr>
        <p:txBody>
          <a:bodyPr wrap="square" lIns="0" tIns="0" rIns="0" bIns="0" rtlCol="0" anchor="ctr"/>
          <a:lstStyle/>
          <a:p>
            <a:pPr marL="0" indent="0">
              <a:buNone/>
            </a:pPr>
            <a:r>
              <a:rPr lang="en-US" sz="1400" b="1" kern="0" spc="600" dirty="0">
                <a:solidFill>
                  <a:srgbClr val="FEDF01"/>
                </a:solidFill>
                <a:latin typeface="Calibri" pitchFamily="34" charset="0"/>
                <a:ea typeface="Calibri" pitchFamily="34" charset="-122"/>
                <a:cs typeface="Calibri" pitchFamily="34" charset="-120"/>
              </a:rPr>
              <a:t>OPERATING MODEL TRANSFORMATION</a:t>
            </a:r>
            <a:endParaRPr lang="en-US" sz="1400" dirty="0"/>
          </a:p>
        </p:txBody>
      </p:sp>
      <p:sp>
        <p:nvSpPr>
          <p:cNvPr id="5" name="Text 2"/>
          <p:cNvSpPr/>
          <p:nvPr/>
        </p:nvSpPr>
        <p:spPr>
          <a:xfrm>
            <a:off x="777240" y="2606040"/>
            <a:ext cx="10515600" cy="1828800"/>
          </a:xfrm>
          <a:prstGeom prst="rect">
            <a:avLst/>
          </a:prstGeom>
          <a:noFill/>
          <a:ln/>
        </p:spPr>
        <p:txBody>
          <a:bodyPr wrap="square" lIns="0" tIns="0" rIns="0" bIns="0" rtlCol="0" anchor="ctr"/>
          <a:lstStyle/>
          <a:p>
            <a:pPr marL="0" indent="0">
              <a:buNone/>
            </a:pPr>
            <a:r>
              <a:rPr lang="en-US" sz="5600" b="1" dirty="0">
                <a:solidFill>
                  <a:srgbClr val="FFFFFF"/>
                </a:solidFill>
                <a:latin typeface="Georgia" pitchFamily="34" charset="0"/>
                <a:ea typeface="Georgia" pitchFamily="34" charset="-122"/>
                <a:cs typeface="Georgia" pitchFamily="34" charset="-120"/>
              </a:rPr>
              <a:t>From Vertical Silos</a:t>
            </a:r>
            <a:endParaRPr lang="en-US" sz="5600" dirty="0"/>
          </a:p>
          <a:p>
            <a:pPr marL="0" indent="0">
              <a:buNone/>
            </a:pPr>
            <a:r>
              <a:rPr lang="en-US" sz="5600" b="1" dirty="0">
                <a:solidFill>
                  <a:srgbClr val="FFFFFF"/>
                </a:solidFill>
                <a:latin typeface="Georgia" pitchFamily="34" charset="0"/>
                <a:ea typeface="Georgia" pitchFamily="34" charset="-122"/>
                <a:cs typeface="Georgia" pitchFamily="34" charset="-120"/>
              </a:rPr>
              <a:t>to Horizontal Flow</a:t>
            </a:r>
            <a:endParaRPr lang="en-US" sz="5600" dirty="0"/>
          </a:p>
        </p:txBody>
      </p:sp>
      <p:sp>
        <p:nvSpPr>
          <p:cNvPr id="6" name="Text 3"/>
          <p:cNvSpPr/>
          <p:nvPr/>
        </p:nvSpPr>
        <p:spPr>
          <a:xfrm>
            <a:off x="777240" y="4617720"/>
            <a:ext cx="10515600" cy="457200"/>
          </a:xfrm>
          <a:prstGeom prst="rect">
            <a:avLst/>
          </a:prstGeom>
          <a:noFill/>
          <a:ln/>
        </p:spPr>
        <p:txBody>
          <a:bodyPr wrap="square" lIns="0" tIns="0" rIns="0" bIns="0" rtlCol="0" anchor="ctr"/>
          <a:lstStyle/>
          <a:p>
            <a:pPr marL="0" indent="0">
              <a:buNone/>
            </a:pPr>
            <a:r>
              <a:rPr lang="en-US" sz="1800" i="1" dirty="0">
                <a:solidFill>
                  <a:srgbClr val="C9D6EE"/>
                </a:solidFill>
                <a:latin typeface="Calibri" pitchFamily="34" charset="0"/>
                <a:ea typeface="Calibri" pitchFamily="34" charset="-122"/>
                <a:cs typeface="Calibri" pitchFamily="34" charset="-120"/>
              </a:rPr>
              <a:t>A Proposed Horizontal Operating Model for a 2,500-Person Infrastructure Organization</a:t>
            </a:r>
            <a:endParaRPr lang="en-US" sz="1800" dirty="0"/>
          </a:p>
        </p:txBody>
      </p:sp>
      <p:sp>
        <p:nvSpPr>
          <p:cNvPr id="7" name="Shape 4"/>
          <p:cNvSpPr/>
          <p:nvPr/>
        </p:nvSpPr>
        <p:spPr>
          <a:xfrm>
            <a:off x="777240" y="5852160"/>
            <a:ext cx="2743200" cy="0"/>
          </a:xfrm>
          <a:prstGeom prst="line">
            <a:avLst/>
          </a:prstGeom>
          <a:noFill/>
          <a:ln w="25400">
            <a:solidFill>
              <a:srgbClr val="FEDF01"/>
            </a:solidFill>
            <a:prstDash val="solid"/>
          </a:ln>
        </p:spPr>
        <p:txBody>
          <a:bodyPr/>
          <a:lstStyle/>
          <a:p>
            <a:endParaRPr lang="en-US"/>
          </a:p>
        </p:txBody>
      </p:sp>
      <p:sp>
        <p:nvSpPr>
          <p:cNvPr id="8" name="Text 5"/>
          <p:cNvSpPr/>
          <p:nvPr/>
        </p:nvSpPr>
        <p:spPr>
          <a:xfrm>
            <a:off x="777240" y="5989320"/>
            <a:ext cx="100584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Prepared for:</a:t>
            </a:r>
            <a:r>
              <a:rPr lang="en-US" sz="1200" dirty="0">
                <a:solidFill>
                  <a:srgbClr val="C9D6EE"/>
                </a:solidFill>
                <a:latin typeface="Calibri" pitchFamily="34" charset="0"/>
                <a:ea typeface="Calibri" pitchFamily="34" charset="-122"/>
                <a:cs typeface="Calibri" pitchFamily="34" charset="-120"/>
              </a:rPr>
              <a:t>  Executive Stakeholders   |   </a:t>
            </a:r>
            <a:r>
              <a:rPr lang="en-US" sz="1200" b="1" dirty="0">
                <a:solidFill>
                  <a:srgbClr val="FEDF01"/>
                </a:solidFill>
                <a:latin typeface="Calibri" pitchFamily="34" charset="0"/>
                <a:ea typeface="Calibri" pitchFamily="34" charset="-122"/>
                <a:cs typeface="Calibri" pitchFamily="34" charset="-120"/>
              </a:rPr>
              <a:t>Discussion Document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EXECUTIVE SUMMARY</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The Case for a Horizontal Operating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7315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Today's vertical structure — Architecture, Engineering, Operations, AI/IM as separate towers — creates handoffs, queues, and conflicting priorities. A horizontal, platform-as-a-product model embeds these capabilities into outcome-owning teams.</a:t>
            </a:r>
            <a:endParaRPr lang="en-US" sz="1400" dirty="0"/>
          </a:p>
        </p:txBody>
      </p:sp>
      <p:sp>
        <p:nvSpPr>
          <p:cNvPr id="8" name="Shape 5"/>
          <p:cNvSpPr/>
          <p:nvPr/>
        </p:nvSpPr>
        <p:spPr>
          <a:xfrm>
            <a:off x="426568" y="2286000"/>
            <a:ext cx="2697480" cy="182880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2656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55168" y="2514600"/>
            <a:ext cx="365760" cy="365760"/>
          </a:xfrm>
          <a:prstGeom prst="rect">
            <a:avLst/>
          </a:prstGeom>
        </p:spPr>
      </p:pic>
      <p:sp>
        <p:nvSpPr>
          <p:cNvPr id="11" name="Text 7"/>
          <p:cNvSpPr/>
          <p:nvPr/>
        </p:nvSpPr>
        <p:spPr>
          <a:xfrm>
            <a:off x="60944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15–25%</a:t>
            </a:r>
            <a:endParaRPr lang="en-US" sz="3600" dirty="0"/>
          </a:p>
        </p:txBody>
      </p:sp>
      <p:sp>
        <p:nvSpPr>
          <p:cNvPr id="12" name="Text 8"/>
          <p:cNvSpPr/>
          <p:nvPr/>
        </p:nvSpPr>
        <p:spPr>
          <a:xfrm>
            <a:off x="60944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FTE capacity reclaimed</a:t>
            </a:r>
            <a:endParaRPr lang="en-US" sz="1200" dirty="0"/>
          </a:p>
        </p:txBody>
      </p:sp>
      <p:sp>
        <p:nvSpPr>
          <p:cNvPr id="13" name="Text 9"/>
          <p:cNvSpPr/>
          <p:nvPr/>
        </p:nvSpPr>
        <p:spPr>
          <a:xfrm>
            <a:off x="60944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from automated toil &amp; self-service</a:t>
            </a:r>
            <a:endParaRPr lang="en-US" sz="1000" dirty="0"/>
          </a:p>
        </p:txBody>
      </p:sp>
      <p:sp>
        <p:nvSpPr>
          <p:cNvPr id="14" name="Shape 10"/>
          <p:cNvSpPr/>
          <p:nvPr/>
        </p:nvSpPr>
        <p:spPr>
          <a:xfrm>
            <a:off x="3306928" y="2286000"/>
            <a:ext cx="2697480" cy="182880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15" name="Shape 11"/>
          <p:cNvSpPr/>
          <p:nvPr/>
        </p:nvSpPr>
        <p:spPr>
          <a:xfrm>
            <a:off x="330692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535528" y="2514600"/>
            <a:ext cx="365760" cy="365760"/>
          </a:xfrm>
          <a:prstGeom prst="rect">
            <a:avLst/>
          </a:prstGeom>
        </p:spPr>
      </p:pic>
      <p:sp>
        <p:nvSpPr>
          <p:cNvPr id="17" name="Text 12"/>
          <p:cNvSpPr/>
          <p:nvPr/>
        </p:nvSpPr>
        <p:spPr>
          <a:xfrm>
            <a:off x="348980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30–50%</a:t>
            </a:r>
            <a:endParaRPr lang="en-US" sz="3600" dirty="0"/>
          </a:p>
        </p:txBody>
      </p:sp>
      <p:sp>
        <p:nvSpPr>
          <p:cNvPr id="18" name="Text 13"/>
          <p:cNvSpPr/>
          <p:nvPr/>
        </p:nvSpPr>
        <p:spPr>
          <a:xfrm>
            <a:off x="348980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MTTR reduction</a:t>
            </a:r>
            <a:endParaRPr lang="en-US" sz="1200" dirty="0"/>
          </a:p>
        </p:txBody>
      </p:sp>
      <p:sp>
        <p:nvSpPr>
          <p:cNvPr id="19" name="Text 14"/>
          <p:cNvSpPr/>
          <p:nvPr/>
        </p:nvSpPr>
        <p:spPr>
          <a:xfrm>
            <a:off x="348980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via embedded SRE + AIOps</a:t>
            </a:r>
            <a:endParaRPr lang="en-US" sz="1000" dirty="0"/>
          </a:p>
        </p:txBody>
      </p:sp>
      <p:sp>
        <p:nvSpPr>
          <p:cNvPr id="20" name="Shape 15"/>
          <p:cNvSpPr/>
          <p:nvPr/>
        </p:nvSpPr>
        <p:spPr>
          <a:xfrm>
            <a:off x="6187288" y="2286000"/>
            <a:ext cx="2697480" cy="182880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21" name="Shape 16"/>
          <p:cNvSpPr/>
          <p:nvPr/>
        </p:nvSpPr>
        <p:spPr>
          <a:xfrm>
            <a:off x="618728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6415888" y="2514600"/>
            <a:ext cx="365760" cy="365760"/>
          </a:xfrm>
          <a:prstGeom prst="rect">
            <a:avLst/>
          </a:prstGeom>
        </p:spPr>
      </p:pic>
      <p:sp>
        <p:nvSpPr>
          <p:cNvPr id="23" name="Text 17"/>
          <p:cNvSpPr/>
          <p:nvPr/>
        </p:nvSpPr>
        <p:spPr>
          <a:xfrm>
            <a:off x="637016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2–5×</a:t>
            </a:r>
            <a:endParaRPr lang="en-US" sz="3600" dirty="0"/>
          </a:p>
        </p:txBody>
      </p:sp>
      <p:sp>
        <p:nvSpPr>
          <p:cNvPr id="24" name="Text 18"/>
          <p:cNvSpPr/>
          <p:nvPr/>
        </p:nvSpPr>
        <p:spPr>
          <a:xfrm>
            <a:off x="637016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Faster provisioning</a:t>
            </a:r>
            <a:endParaRPr lang="en-US" sz="1200" dirty="0"/>
          </a:p>
        </p:txBody>
      </p:sp>
      <p:sp>
        <p:nvSpPr>
          <p:cNvPr id="25" name="Text 19"/>
          <p:cNvSpPr/>
          <p:nvPr/>
        </p:nvSpPr>
        <p:spPr>
          <a:xfrm>
            <a:off x="637016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self-service paved roads</a:t>
            </a:r>
            <a:endParaRPr lang="en-US" sz="1000" dirty="0"/>
          </a:p>
        </p:txBody>
      </p:sp>
      <p:sp>
        <p:nvSpPr>
          <p:cNvPr id="26" name="Shape 20"/>
          <p:cNvSpPr/>
          <p:nvPr/>
        </p:nvSpPr>
        <p:spPr>
          <a:xfrm>
            <a:off x="9067648" y="2286000"/>
            <a:ext cx="2697480" cy="182880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27" name="Shape 21"/>
          <p:cNvSpPr/>
          <p:nvPr/>
        </p:nvSpPr>
        <p:spPr>
          <a:xfrm>
            <a:off x="906764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9296248" y="2514600"/>
            <a:ext cx="365760" cy="365760"/>
          </a:xfrm>
          <a:prstGeom prst="rect">
            <a:avLst/>
          </a:prstGeom>
        </p:spPr>
      </p:pic>
      <p:sp>
        <p:nvSpPr>
          <p:cNvPr id="29" name="Text 22"/>
          <p:cNvSpPr/>
          <p:nvPr/>
        </p:nvSpPr>
        <p:spPr>
          <a:xfrm>
            <a:off x="925052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18–24</a:t>
            </a:r>
            <a:endParaRPr lang="en-US" sz="3600" dirty="0"/>
          </a:p>
        </p:txBody>
      </p:sp>
      <p:sp>
        <p:nvSpPr>
          <p:cNvPr id="30" name="Text 23"/>
          <p:cNvSpPr/>
          <p:nvPr/>
        </p:nvSpPr>
        <p:spPr>
          <a:xfrm>
            <a:off x="925052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Months to scale</a:t>
            </a:r>
            <a:endParaRPr lang="en-US" sz="1200" dirty="0"/>
          </a:p>
        </p:txBody>
      </p:sp>
      <p:sp>
        <p:nvSpPr>
          <p:cNvPr id="31" name="Text 24"/>
          <p:cNvSpPr/>
          <p:nvPr/>
        </p:nvSpPr>
        <p:spPr>
          <a:xfrm>
            <a:off x="925052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phased: pilot → expand → scale</a:t>
            </a:r>
            <a:endParaRPr lang="en-US" sz="1000" dirty="0"/>
          </a:p>
        </p:txBody>
      </p:sp>
      <p:sp>
        <p:nvSpPr>
          <p:cNvPr id="32" name="Shape 25"/>
          <p:cNvSpPr/>
          <p:nvPr/>
        </p:nvSpPr>
        <p:spPr>
          <a:xfrm>
            <a:off x="457200" y="4434840"/>
            <a:ext cx="5532120" cy="1828800"/>
          </a:xfrm>
          <a:prstGeom prst="rect">
            <a:avLst/>
          </a:prstGeom>
          <a:solidFill>
            <a:srgbClr val="F4F6F9"/>
          </a:solidFill>
          <a:ln w="12700">
            <a:solidFill>
              <a:srgbClr val="E2E8F0"/>
            </a:solidFill>
            <a:prstDash val="solid"/>
          </a:ln>
        </p:spPr>
        <p:txBody>
          <a:bodyPr/>
          <a:lstStyle/>
          <a:p>
            <a:endParaRPr lang="en-US"/>
          </a:p>
        </p:txBody>
      </p:sp>
      <p:sp>
        <p:nvSpPr>
          <p:cNvPr id="33" name="Shape 26"/>
          <p:cNvSpPr/>
          <p:nvPr/>
        </p:nvSpPr>
        <p:spPr>
          <a:xfrm>
            <a:off x="457200" y="4434840"/>
            <a:ext cx="73152" cy="1828800"/>
          </a:xfrm>
          <a:prstGeom prst="rect">
            <a:avLst/>
          </a:prstGeom>
          <a:solidFill>
            <a:srgbClr val="003DA5"/>
          </a:solidFill>
          <a:ln w="12700">
            <a:solidFill>
              <a:srgbClr val="003DA5"/>
            </a:solidFill>
            <a:prstDash val="solid"/>
          </a:ln>
        </p:spPr>
        <p:txBody>
          <a:bodyPr/>
          <a:lstStyle/>
          <a:p>
            <a:endParaRPr lang="en-US"/>
          </a:p>
        </p:txBody>
      </p:sp>
      <p:sp>
        <p:nvSpPr>
          <p:cNvPr id="34" name="Text 27"/>
          <p:cNvSpPr/>
          <p:nvPr/>
        </p:nvSpPr>
        <p:spPr>
          <a:xfrm>
            <a:off x="685800" y="4572000"/>
            <a:ext cx="516636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WHAT CHANGES</a:t>
            </a:r>
            <a:endParaRPr lang="en-US" sz="1100" dirty="0"/>
          </a:p>
        </p:txBody>
      </p:sp>
      <p:sp>
        <p:nvSpPr>
          <p:cNvPr id="35" name="Text 28"/>
          <p:cNvSpPr/>
          <p:nvPr/>
        </p:nvSpPr>
        <p:spPr>
          <a:xfrm>
            <a:off x="777240"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Architecture, Operations &amp; AI become embedded capabilities, not departments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Persistent stream-aligned squads own platforms end-to-end (build + run)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Funding shifts from project-by-project to persistent platform teams</a:t>
            </a:r>
            <a:endParaRPr lang="en-US" sz="1200" dirty="0"/>
          </a:p>
        </p:txBody>
      </p:sp>
      <p:sp>
        <p:nvSpPr>
          <p:cNvPr id="36" name="Shape 29"/>
          <p:cNvSpPr/>
          <p:nvPr/>
        </p:nvSpPr>
        <p:spPr>
          <a:xfrm>
            <a:off x="6199632" y="4434840"/>
            <a:ext cx="5532120" cy="1828800"/>
          </a:xfrm>
          <a:prstGeom prst="rect">
            <a:avLst/>
          </a:prstGeom>
          <a:solidFill>
            <a:srgbClr val="F4F6F9"/>
          </a:solidFill>
          <a:ln w="12700">
            <a:solidFill>
              <a:srgbClr val="E2E8F0"/>
            </a:solidFill>
            <a:prstDash val="solid"/>
          </a:ln>
        </p:spPr>
        <p:txBody>
          <a:bodyPr/>
          <a:lstStyle/>
          <a:p>
            <a:endParaRPr lang="en-US"/>
          </a:p>
        </p:txBody>
      </p:sp>
      <p:sp>
        <p:nvSpPr>
          <p:cNvPr id="37" name="Shape 30"/>
          <p:cNvSpPr/>
          <p:nvPr/>
        </p:nvSpPr>
        <p:spPr>
          <a:xfrm>
            <a:off x="6199632" y="4434840"/>
            <a:ext cx="73152" cy="1828800"/>
          </a:xfrm>
          <a:prstGeom prst="rect">
            <a:avLst/>
          </a:prstGeom>
          <a:solidFill>
            <a:srgbClr val="FEDF01"/>
          </a:solidFill>
          <a:ln w="12700">
            <a:solidFill>
              <a:srgbClr val="FEDF01"/>
            </a:solidFill>
            <a:prstDash val="solid"/>
          </a:ln>
        </p:spPr>
        <p:txBody>
          <a:bodyPr/>
          <a:lstStyle/>
          <a:p>
            <a:endParaRPr lang="en-US"/>
          </a:p>
        </p:txBody>
      </p:sp>
      <p:sp>
        <p:nvSpPr>
          <p:cNvPr id="38" name="Text 31"/>
          <p:cNvSpPr/>
          <p:nvPr/>
        </p:nvSpPr>
        <p:spPr>
          <a:xfrm>
            <a:off x="6428232" y="4572000"/>
            <a:ext cx="516636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WHAT WE KEEP</a:t>
            </a:r>
            <a:endParaRPr lang="en-US" sz="1100" dirty="0"/>
          </a:p>
        </p:txBody>
      </p:sp>
      <p:sp>
        <p:nvSpPr>
          <p:cNvPr id="39" name="Text 32"/>
          <p:cNvSpPr/>
          <p:nvPr/>
        </p:nvSpPr>
        <p:spPr>
          <a:xfrm>
            <a:off x="6519672"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Functional depth, via Communities of Practice &amp; Guilds (Architecture, SRE, AI/ML, Security)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Senior IC ladder — Principal Engineers, Distinguished Architects retain career path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Regulatory rigor — strengthened via Assurance-as-Code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1  ·  THE PROBLEM</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Four towers,</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one bottleneck.</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Today's vertical structure creates friction at every handoff. AI and IaC teams build automation without seeing the toil. Ops fights fires without the authority to fix root causes.</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We can do better.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THE CHALLENGE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Today's Vertical Model Creates Friction</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548640" y="1051560"/>
            <a:ext cx="5248656" cy="274320"/>
          </a:xfrm>
          <a:prstGeom prst="rect">
            <a:avLst/>
          </a:prstGeom>
          <a:noFill/>
          <a:ln/>
        </p:spPr>
        <p:txBody>
          <a:bodyPr wrap="square" lIns="0" tIns="0" rIns="0" bIns="0" rtlCol="0" anchor="ctr"/>
          <a:lstStyle/>
          <a:p>
            <a:pPr marL="0" indent="0" algn="ctr">
              <a:buNone/>
            </a:pPr>
            <a:r>
              <a:rPr lang="en-US" sz="1100" b="1" kern="0" spc="400" dirty="0">
                <a:solidFill>
                  <a:srgbClr val="003DA5"/>
                </a:solidFill>
                <a:latin typeface="Calibri" pitchFamily="34" charset="0"/>
                <a:ea typeface="Calibri" pitchFamily="34" charset="-122"/>
                <a:cs typeface="Calibri" pitchFamily="34" charset="-120"/>
              </a:rPr>
              <a:t>TODAY</a:t>
            </a:r>
            <a:endParaRPr lang="en-US" sz="1100" dirty="0"/>
          </a:p>
        </p:txBody>
      </p:sp>
      <p:sp>
        <p:nvSpPr>
          <p:cNvPr id="8" name="Shape 5"/>
          <p:cNvSpPr/>
          <p:nvPr/>
        </p:nvSpPr>
        <p:spPr>
          <a:xfrm>
            <a:off x="548640"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548640"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14400" y="1874520"/>
            <a:ext cx="457200" cy="457200"/>
          </a:xfrm>
          <a:prstGeom prst="rect">
            <a:avLst/>
          </a:prstGeom>
        </p:spPr>
      </p:pic>
      <p:sp>
        <p:nvSpPr>
          <p:cNvPr id="11" name="Shape 7"/>
          <p:cNvSpPr/>
          <p:nvPr/>
        </p:nvSpPr>
        <p:spPr>
          <a:xfrm>
            <a:off x="1901952"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8"/>
          <p:cNvSpPr/>
          <p:nvPr/>
        </p:nvSpPr>
        <p:spPr>
          <a:xfrm>
            <a:off x="1901952"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2267712" y="1874520"/>
            <a:ext cx="457200" cy="457200"/>
          </a:xfrm>
          <a:prstGeom prst="rect">
            <a:avLst/>
          </a:prstGeom>
        </p:spPr>
      </p:pic>
      <p:sp>
        <p:nvSpPr>
          <p:cNvPr id="14" name="Shape 9"/>
          <p:cNvSpPr/>
          <p:nvPr/>
        </p:nvSpPr>
        <p:spPr>
          <a:xfrm>
            <a:off x="3255264"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5" name="Shape 10"/>
          <p:cNvSpPr/>
          <p:nvPr/>
        </p:nvSpPr>
        <p:spPr>
          <a:xfrm>
            <a:off x="3255264"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3621024" y="1874520"/>
            <a:ext cx="457200" cy="457200"/>
          </a:xfrm>
          <a:prstGeom prst="rect">
            <a:avLst/>
          </a:prstGeom>
        </p:spPr>
      </p:pic>
      <p:sp>
        <p:nvSpPr>
          <p:cNvPr id="17" name="Shape 11"/>
          <p:cNvSpPr/>
          <p:nvPr/>
        </p:nvSpPr>
        <p:spPr>
          <a:xfrm>
            <a:off x="4608576"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2"/>
          <p:cNvSpPr/>
          <p:nvPr/>
        </p:nvSpPr>
        <p:spPr>
          <a:xfrm>
            <a:off x="4608576"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9" name="Image 4" descr="preencoded.png"/>
          <p:cNvPicPr>
            <a:picLocks noChangeAspect="1"/>
          </p:cNvPicPr>
          <p:nvPr/>
        </p:nvPicPr>
        <p:blipFill>
          <a:blip r:embed="rId7"/>
          <a:stretch>
            <a:fillRect/>
          </a:stretch>
        </p:blipFill>
        <p:spPr>
          <a:xfrm>
            <a:off x="4974336" y="1874520"/>
            <a:ext cx="457200" cy="457200"/>
          </a:xfrm>
          <a:prstGeom prst="rect">
            <a:avLst/>
          </a:prstGeom>
        </p:spPr>
      </p:pic>
      <p:pic>
        <p:nvPicPr>
          <p:cNvPr id="20" name="Image 5" descr="preencoded.png"/>
          <p:cNvPicPr>
            <a:picLocks noChangeAspect="1"/>
          </p:cNvPicPr>
          <p:nvPr/>
        </p:nvPicPr>
        <p:blipFill>
          <a:blip r:embed="rId8"/>
          <a:stretch>
            <a:fillRect/>
          </a:stretch>
        </p:blipFill>
        <p:spPr>
          <a:xfrm>
            <a:off x="914400" y="1874520"/>
            <a:ext cx="457200" cy="457200"/>
          </a:xfrm>
          <a:prstGeom prst="rect">
            <a:avLst/>
          </a:prstGeom>
        </p:spPr>
      </p:pic>
      <p:sp>
        <p:nvSpPr>
          <p:cNvPr id="21" name="Text 13"/>
          <p:cNvSpPr/>
          <p:nvPr/>
        </p:nvSpPr>
        <p:spPr>
          <a:xfrm>
            <a:off x="594360"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p>
        </p:txBody>
      </p:sp>
      <p:sp>
        <p:nvSpPr>
          <p:cNvPr id="22" name="Shape 14"/>
          <p:cNvSpPr/>
          <p:nvPr/>
        </p:nvSpPr>
        <p:spPr>
          <a:xfrm>
            <a:off x="685800" y="3017520"/>
            <a:ext cx="914400" cy="0"/>
          </a:xfrm>
          <a:prstGeom prst="line">
            <a:avLst/>
          </a:prstGeom>
          <a:noFill/>
          <a:ln w="9525">
            <a:solidFill>
              <a:srgbClr val="335FB8"/>
            </a:solidFill>
            <a:prstDash val="dash"/>
          </a:ln>
        </p:spPr>
        <p:txBody>
          <a:bodyPr/>
          <a:lstStyle/>
          <a:p>
            <a:endParaRPr lang="en-US"/>
          </a:p>
        </p:txBody>
      </p:sp>
      <p:sp>
        <p:nvSpPr>
          <p:cNvPr id="23" name="Shape 15"/>
          <p:cNvSpPr/>
          <p:nvPr/>
        </p:nvSpPr>
        <p:spPr>
          <a:xfrm>
            <a:off x="685800" y="3520440"/>
            <a:ext cx="914400" cy="0"/>
          </a:xfrm>
          <a:prstGeom prst="line">
            <a:avLst/>
          </a:prstGeom>
          <a:noFill/>
          <a:ln w="9525">
            <a:solidFill>
              <a:srgbClr val="335FB8"/>
            </a:solidFill>
            <a:prstDash val="dash"/>
          </a:ln>
        </p:spPr>
        <p:txBody>
          <a:bodyPr/>
          <a:lstStyle/>
          <a:p>
            <a:endParaRPr lang="en-US"/>
          </a:p>
        </p:txBody>
      </p:sp>
      <p:sp>
        <p:nvSpPr>
          <p:cNvPr id="24" name="Shape 16"/>
          <p:cNvSpPr/>
          <p:nvPr/>
        </p:nvSpPr>
        <p:spPr>
          <a:xfrm>
            <a:off x="685800" y="4023360"/>
            <a:ext cx="914400" cy="0"/>
          </a:xfrm>
          <a:prstGeom prst="line">
            <a:avLst/>
          </a:prstGeom>
          <a:noFill/>
          <a:ln w="9525">
            <a:solidFill>
              <a:srgbClr val="335FB8"/>
            </a:solidFill>
            <a:prstDash val="dash"/>
          </a:ln>
        </p:spPr>
        <p:txBody>
          <a:bodyPr/>
          <a:lstStyle/>
          <a:p>
            <a:endParaRPr lang="en-US"/>
          </a:p>
        </p:txBody>
      </p:sp>
      <p:sp>
        <p:nvSpPr>
          <p:cNvPr id="25" name="Shape 17"/>
          <p:cNvSpPr/>
          <p:nvPr/>
        </p:nvSpPr>
        <p:spPr>
          <a:xfrm>
            <a:off x="685800" y="4526280"/>
            <a:ext cx="914400" cy="0"/>
          </a:xfrm>
          <a:prstGeom prst="line">
            <a:avLst/>
          </a:prstGeom>
          <a:noFill/>
          <a:ln w="9525">
            <a:solidFill>
              <a:srgbClr val="335FB8"/>
            </a:solidFill>
            <a:prstDash val="dash"/>
          </a:ln>
        </p:spPr>
        <p:txBody>
          <a:bodyPr/>
          <a:lstStyle/>
          <a:p>
            <a:endParaRPr lang="en-US"/>
          </a:p>
        </p:txBody>
      </p:sp>
      <p:sp>
        <p:nvSpPr>
          <p:cNvPr id="26" name="Shape 18"/>
          <p:cNvSpPr/>
          <p:nvPr/>
        </p:nvSpPr>
        <p:spPr>
          <a:xfrm>
            <a:off x="685800" y="5029200"/>
            <a:ext cx="914400" cy="0"/>
          </a:xfrm>
          <a:prstGeom prst="line">
            <a:avLst/>
          </a:prstGeom>
          <a:noFill/>
          <a:ln w="9525">
            <a:solidFill>
              <a:srgbClr val="335FB8"/>
            </a:solidFill>
            <a:prstDash val="dash"/>
          </a:ln>
        </p:spPr>
        <p:txBody>
          <a:bodyPr/>
          <a:lstStyle/>
          <a:p>
            <a:endParaRPr lang="en-US"/>
          </a:p>
        </p:txBody>
      </p:sp>
      <p:pic>
        <p:nvPicPr>
          <p:cNvPr id="27" name="Image 6" descr="preencoded.png"/>
          <p:cNvPicPr>
            <a:picLocks noChangeAspect="1"/>
          </p:cNvPicPr>
          <p:nvPr/>
        </p:nvPicPr>
        <p:blipFill>
          <a:blip r:embed="rId5"/>
          <a:stretch>
            <a:fillRect/>
          </a:stretch>
        </p:blipFill>
        <p:spPr>
          <a:xfrm>
            <a:off x="2267712" y="1874520"/>
            <a:ext cx="457200" cy="457200"/>
          </a:xfrm>
          <a:prstGeom prst="rect">
            <a:avLst/>
          </a:prstGeom>
        </p:spPr>
      </p:pic>
      <p:sp>
        <p:nvSpPr>
          <p:cNvPr id="28" name="Text 19"/>
          <p:cNvSpPr/>
          <p:nvPr/>
        </p:nvSpPr>
        <p:spPr>
          <a:xfrm>
            <a:off x="1947672"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Engineering</a:t>
            </a:r>
            <a:endParaRPr lang="en-US" sz="1300" dirty="0"/>
          </a:p>
        </p:txBody>
      </p:sp>
      <p:sp>
        <p:nvSpPr>
          <p:cNvPr id="29" name="Shape 20"/>
          <p:cNvSpPr/>
          <p:nvPr/>
        </p:nvSpPr>
        <p:spPr>
          <a:xfrm>
            <a:off x="2039112" y="3017520"/>
            <a:ext cx="914400" cy="0"/>
          </a:xfrm>
          <a:prstGeom prst="line">
            <a:avLst/>
          </a:prstGeom>
          <a:noFill/>
          <a:ln w="9525">
            <a:solidFill>
              <a:srgbClr val="335FB8"/>
            </a:solidFill>
            <a:prstDash val="dash"/>
          </a:ln>
        </p:spPr>
        <p:txBody>
          <a:bodyPr/>
          <a:lstStyle/>
          <a:p>
            <a:endParaRPr lang="en-US"/>
          </a:p>
        </p:txBody>
      </p:sp>
      <p:sp>
        <p:nvSpPr>
          <p:cNvPr id="30" name="Shape 21"/>
          <p:cNvSpPr/>
          <p:nvPr/>
        </p:nvSpPr>
        <p:spPr>
          <a:xfrm>
            <a:off x="2039112" y="3520440"/>
            <a:ext cx="914400" cy="0"/>
          </a:xfrm>
          <a:prstGeom prst="line">
            <a:avLst/>
          </a:prstGeom>
          <a:noFill/>
          <a:ln w="9525">
            <a:solidFill>
              <a:srgbClr val="335FB8"/>
            </a:solidFill>
            <a:prstDash val="dash"/>
          </a:ln>
        </p:spPr>
        <p:txBody>
          <a:bodyPr/>
          <a:lstStyle/>
          <a:p>
            <a:endParaRPr lang="en-US"/>
          </a:p>
        </p:txBody>
      </p:sp>
      <p:sp>
        <p:nvSpPr>
          <p:cNvPr id="31" name="Shape 22"/>
          <p:cNvSpPr/>
          <p:nvPr/>
        </p:nvSpPr>
        <p:spPr>
          <a:xfrm>
            <a:off x="2039112" y="4023360"/>
            <a:ext cx="914400" cy="0"/>
          </a:xfrm>
          <a:prstGeom prst="line">
            <a:avLst/>
          </a:prstGeom>
          <a:noFill/>
          <a:ln w="9525">
            <a:solidFill>
              <a:srgbClr val="335FB8"/>
            </a:solidFill>
            <a:prstDash val="dash"/>
          </a:ln>
        </p:spPr>
        <p:txBody>
          <a:bodyPr/>
          <a:lstStyle/>
          <a:p>
            <a:endParaRPr lang="en-US"/>
          </a:p>
        </p:txBody>
      </p:sp>
      <p:sp>
        <p:nvSpPr>
          <p:cNvPr id="32" name="Shape 23"/>
          <p:cNvSpPr/>
          <p:nvPr/>
        </p:nvSpPr>
        <p:spPr>
          <a:xfrm>
            <a:off x="2039112" y="4526280"/>
            <a:ext cx="914400" cy="0"/>
          </a:xfrm>
          <a:prstGeom prst="line">
            <a:avLst/>
          </a:prstGeom>
          <a:noFill/>
          <a:ln w="9525">
            <a:solidFill>
              <a:srgbClr val="335FB8"/>
            </a:solidFill>
            <a:prstDash val="dash"/>
          </a:ln>
        </p:spPr>
        <p:txBody>
          <a:bodyPr/>
          <a:lstStyle/>
          <a:p>
            <a:endParaRPr lang="en-US"/>
          </a:p>
        </p:txBody>
      </p:sp>
      <p:sp>
        <p:nvSpPr>
          <p:cNvPr id="33" name="Shape 24"/>
          <p:cNvSpPr/>
          <p:nvPr/>
        </p:nvSpPr>
        <p:spPr>
          <a:xfrm>
            <a:off x="2039112" y="5029200"/>
            <a:ext cx="914400" cy="0"/>
          </a:xfrm>
          <a:prstGeom prst="line">
            <a:avLst/>
          </a:prstGeom>
          <a:noFill/>
          <a:ln w="9525">
            <a:solidFill>
              <a:srgbClr val="335FB8"/>
            </a:solidFill>
            <a:prstDash val="dash"/>
          </a:ln>
        </p:spPr>
        <p:txBody>
          <a:bodyPr/>
          <a:lstStyle/>
          <a:p>
            <a:endParaRPr lang="en-US"/>
          </a:p>
        </p:txBody>
      </p:sp>
      <p:pic>
        <p:nvPicPr>
          <p:cNvPr id="34" name="Image 7" descr="preencoded.png"/>
          <p:cNvPicPr>
            <a:picLocks noChangeAspect="1"/>
          </p:cNvPicPr>
          <p:nvPr/>
        </p:nvPicPr>
        <p:blipFill>
          <a:blip r:embed="rId6"/>
          <a:stretch>
            <a:fillRect/>
          </a:stretch>
        </p:blipFill>
        <p:spPr>
          <a:xfrm>
            <a:off x="3621024" y="1874520"/>
            <a:ext cx="457200" cy="457200"/>
          </a:xfrm>
          <a:prstGeom prst="rect">
            <a:avLst/>
          </a:prstGeom>
        </p:spPr>
      </p:pic>
      <p:sp>
        <p:nvSpPr>
          <p:cNvPr id="35" name="Text 25"/>
          <p:cNvSpPr/>
          <p:nvPr/>
        </p:nvSpPr>
        <p:spPr>
          <a:xfrm>
            <a:off x="3300984"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Operations</a:t>
            </a:r>
            <a:endParaRPr lang="en-US" sz="1300" dirty="0"/>
          </a:p>
        </p:txBody>
      </p:sp>
      <p:sp>
        <p:nvSpPr>
          <p:cNvPr id="36" name="Shape 26"/>
          <p:cNvSpPr/>
          <p:nvPr/>
        </p:nvSpPr>
        <p:spPr>
          <a:xfrm>
            <a:off x="3392424" y="3017520"/>
            <a:ext cx="914400" cy="0"/>
          </a:xfrm>
          <a:prstGeom prst="line">
            <a:avLst/>
          </a:prstGeom>
          <a:noFill/>
          <a:ln w="9525">
            <a:solidFill>
              <a:srgbClr val="335FB8"/>
            </a:solidFill>
            <a:prstDash val="dash"/>
          </a:ln>
        </p:spPr>
        <p:txBody>
          <a:bodyPr/>
          <a:lstStyle/>
          <a:p>
            <a:endParaRPr lang="en-US"/>
          </a:p>
        </p:txBody>
      </p:sp>
      <p:sp>
        <p:nvSpPr>
          <p:cNvPr id="37" name="Shape 27"/>
          <p:cNvSpPr/>
          <p:nvPr/>
        </p:nvSpPr>
        <p:spPr>
          <a:xfrm>
            <a:off x="3392424" y="3520440"/>
            <a:ext cx="914400" cy="0"/>
          </a:xfrm>
          <a:prstGeom prst="line">
            <a:avLst/>
          </a:prstGeom>
          <a:noFill/>
          <a:ln w="9525">
            <a:solidFill>
              <a:srgbClr val="335FB8"/>
            </a:solidFill>
            <a:prstDash val="dash"/>
          </a:ln>
        </p:spPr>
        <p:txBody>
          <a:bodyPr/>
          <a:lstStyle/>
          <a:p>
            <a:endParaRPr lang="en-US"/>
          </a:p>
        </p:txBody>
      </p:sp>
      <p:sp>
        <p:nvSpPr>
          <p:cNvPr id="38" name="Shape 28"/>
          <p:cNvSpPr/>
          <p:nvPr/>
        </p:nvSpPr>
        <p:spPr>
          <a:xfrm>
            <a:off x="3392424" y="4023360"/>
            <a:ext cx="914400" cy="0"/>
          </a:xfrm>
          <a:prstGeom prst="line">
            <a:avLst/>
          </a:prstGeom>
          <a:noFill/>
          <a:ln w="9525">
            <a:solidFill>
              <a:srgbClr val="335FB8"/>
            </a:solidFill>
            <a:prstDash val="dash"/>
          </a:ln>
        </p:spPr>
        <p:txBody>
          <a:bodyPr/>
          <a:lstStyle/>
          <a:p>
            <a:endParaRPr lang="en-US"/>
          </a:p>
        </p:txBody>
      </p:sp>
      <p:sp>
        <p:nvSpPr>
          <p:cNvPr id="39" name="Shape 29"/>
          <p:cNvSpPr/>
          <p:nvPr/>
        </p:nvSpPr>
        <p:spPr>
          <a:xfrm>
            <a:off x="3392424" y="4526280"/>
            <a:ext cx="914400" cy="0"/>
          </a:xfrm>
          <a:prstGeom prst="line">
            <a:avLst/>
          </a:prstGeom>
          <a:noFill/>
          <a:ln w="9525">
            <a:solidFill>
              <a:srgbClr val="335FB8"/>
            </a:solidFill>
            <a:prstDash val="dash"/>
          </a:ln>
        </p:spPr>
        <p:txBody>
          <a:bodyPr/>
          <a:lstStyle/>
          <a:p>
            <a:endParaRPr lang="en-US"/>
          </a:p>
        </p:txBody>
      </p:sp>
      <p:sp>
        <p:nvSpPr>
          <p:cNvPr id="40" name="Shape 30"/>
          <p:cNvSpPr/>
          <p:nvPr/>
        </p:nvSpPr>
        <p:spPr>
          <a:xfrm>
            <a:off x="3392424" y="5029200"/>
            <a:ext cx="914400" cy="0"/>
          </a:xfrm>
          <a:prstGeom prst="line">
            <a:avLst/>
          </a:prstGeom>
          <a:noFill/>
          <a:ln w="9525">
            <a:solidFill>
              <a:srgbClr val="335FB8"/>
            </a:solidFill>
            <a:prstDash val="dash"/>
          </a:ln>
        </p:spPr>
        <p:txBody>
          <a:bodyPr/>
          <a:lstStyle/>
          <a:p>
            <a:endParaRPr lang="en-US"/>
          </a:p>
        </p:txBody>
      </p:sp>
      <p:pic>
        <p:nvPicPr>
          <p:cNvPr id="41" name="Image 8" descr="preencoded.png"/>
          <p:cNvPicPr>
            <a:picLocks noChangeAspect="1"/>
          </p:cNvPicPr>
          <p:nvPr/>
        </p:nvPicPr>
        <p:blipFill>
          <a:blip r:embed="rId7"/>
          <a:stretch>
            <a:fillRect/>
          </a:stretch>
        </p:blipFill>
        <p:spPr>
          <a:xfrm>
            <a:off x="4974336" y="1874520"/>
            <a:ext cx="457200" cy="457200"/>
          </a:xfrm>
          <a:prstGeom prst="rect">
            <a:avLst/>
          </a:prstGeom>
        </p:spPr>
      </p:pic>
      <p:sp>
        <p:nvSpPr>
          <p:cNvPr id="42" name="Text 31"/>
          <p:cNvSpPr/>
          <p:nvPr/>
        </p:nvSpPr>
        <p:spPr>
          <a:xfrm>
            <a:off x="4654296"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 / IM</a:t>
            </a:r>
            <a:endParaRPr lang="en-US" sz="1300" dirty="0"/>
          </a:p>
        </p:txBody>
      </p:sp>
      <p:sp>
        <p:nvSpPr>
          <p:cNvPr id="43" name="Shape 32"/>
          <p:cNvSpPr/>
          <p:nvPr/>
        </p:nvSpPr>
        <p:spPr>
          <a:xfrm>
            <a:off x="4745736" y="3017520"/>
            <a:ext cx="914400" cy="0"/>
          </a:xfrm>
          <a:prstGeom prst="line">
            <a:avLst/>
          </a:prstGeom>
          <a:noFill/>
          <a:ln w="9525">
            <a:solidFill>
              <a:srgbClr val="335FB8"/>
            </a:solidFill>
            <a:prstDash val="dash"/>
          </a:ln>
        </p:spPr>
        <p:txBody>
          <a:bodyPr/>
          <a:lstStyle/>
          <a:p>
            <a:endParaRPr lang="en-US"/>
          </a:p>
        </p:txBody>
      </p:sp>
      <p:sp>
        <p:nvSpPr>
          <p:cNvPr id="44" name="Shape 33"/>
          <p:cNvSpPr/>
          <p:nvPr/>
        </p:nvSpPr>
        <p:spPr>
          <a:xfrm>
            <a:off x="4745736" y="3520440"/>
            <a:ext cx="914400" cy="0"/>
          </a:xfrm>
          <a:prstGeom prst="line">
            <a:avLst/>
          </a:prstGeom>
          <a:noFill/>
          <a:ln w="9525">
            <a:solidFill>
              <a:srgbClr val="335FB8"/>
            </a:solidFill>
            <a:prstDash val="dash"/>
          </a:ln>
        </p:spPr>
        <p:txBody>
          <a:bodyPr/>
          <a:lstStyle/>
          <a:p>
            <a:endParaRPr lang="en-US"/>
          </a:p>
        </p:txBody>
      </p:sp>
      <p:sp>
        <p:nvSpPr>
          <p:cNvPr id="45" name="Shape 34"/>
          <p:cNvSpPr/>
          <p:nvPr/>
        </p:nvSpPr>
        <p:spPr>
          <a:xfrm>
            <a:off x="4745736" y="4023360"/>
            <a:ext cx="914400" cy="0"/>
          </a:xfrm>
          <a:prstGeom prst="line">
            <a:avLst/>
          </a:prstGeom>
          <a:noFill/>
          <a:ln w="9525">
            <a:solidFill>
              <a:srgbClr val="335FB8"/>
            </a:solidFill>
            <a:prstDash val="dash"/>
          </a:ln>
        </p:spPr>
        <p:txBody>
          <a:bodyPr/>
          <a:lstStyle/>
          <a:p>
            <a:endParaRPr lang="en-US"/>
          </a:p>
        </p:txBody>
      </p:sp>
      <p:sp>
        <p:nvSpPr>
          <p:cNvPr id="46" name="Shape 35"/>
          <p:cNvSpPr/>
          <p:nvPr/>
        </p:nvSpPr>
        <p:spPr>
          <a:xfrm>
            <a:off x="4745736" y="4526280"/>
            <a:ext cx="914400" cy="0"/>
          </a:xfrm>
          <a:prstGeom prst="line">
            <a:avLst/>
          </a:prstGeom>
          <a:noFill/>
          <a:ln w="9525">
            <a:solidFill>
              <a:srgbClr val="335FB8"/>
            </a:solidFill>
            <a:prstDash val="dash"/>
          </a:ln>
        </p:spPr>
        <p:txBody>
          <a:bodyPr/>
          <a:lstStyle/>
          <a:p>
            <a:endParaRPr lang="en-US"/>
          </a:p>
        </p:txBody>
      </p:sp>
      <p:sp>
        <p:nvSpPr>
          <p:cNvPr id="47" name="Shape 36"/>
          <p:cNvSpPr/>
          <p:nvPr/>
        </p:nvSpPr>
        <p:spPr>
          <a:xfrm>
            <a:off x="4745736" y="5029200"/>
            <a:ext cx="914400" cy="0"/>
          </a:xfrm>
          <a:prstGeom prst="line">
            <a:avLst/>
          </a:prstGeom>
          <a:noFill/>
          <a:ln w="9525">
            <a:solidFill>
              <a:srgbClr val="335FB8"/>
            </a:solidFill>
            <a:prstDash val="dash"/>
          </a:ln>
        </p:spPr>
        <p:txBody>
          <a:bodyPr/>
          <a:lstStyle/>
          <a:p>
            <a:endParaRPr lang="en-US"/>
          </a:p>
        </p:txBody>
      </p:sp>
      <p:sp>
        <p:nvSpPr>
          <p:cNvPr id="48" name="Text 37"/>
          <p:cNvSpPr/>
          <p:nvPr/>
        </p:nvSpPr>
        <p:spPr>
          <a:xfrm>
            <a:off x="548640" y="5806440"/>
            <a:ext cx="5248656" cy="36576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Four functional towers — dotted lines = ticket queues, RFC handoffs, knowledge silos</a:t>
            </a:r>
            <a:endParaRPr lang="en-US" sz="1000" dirty="0"/>
          </a:p>
        </p:txBody>
      </p:sp>
      <p:sp>
        <p:nvSpPr>
          <p:cNvPr id="49" name="Text 38"/>
          <p:cNvSpPr/>
          <p:nvPr/>
        </p:nvSpPr>
        <p:spPr>
          <a:xfrm>
            <a:off x="6035040" y="1371600"/>
            <a:ext cx="576072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Where this model leaks time and capacity</a:t>
            </a:r>
            <a:endParaRPr lang="en-US" sz="1600" dirty="0"/>
          </a:p>
        </p:txBody>
      </p:sp>
      <p:sp>
        <p:nvSpPr>
          <p:cNvPr id="50" name="Shape 39"/>
          <p:cNvSpPr/>
          <p:nvPr/>
        </p:nvSpPr>
        <p:spPr>
          <a:xfrm>
            <a:off x="6035040" y="1892808"/>
            <a:ext cx="164592" cy="164592"/>
          </a:xfrm>
          <a:prstGeom prst="ellipse">
            <a:avLst/>
          </a:prstGeom>
          <a:solidFill>
            <a:srgbClr val="FEDF01"/>
          </a:solidFill>
          <a:ln w="12700">
            <a:solidFill>
              <a:srgbClr val="FEDF01"/>
            </a:solidFill>
            <a:prstDash val="solid"/>
          </a:ln>
        </p:spPr>
        <p:txBody>
          <a:bodyPr/>
          <a:lstStyle/>
          <a:p>
            <a:endParaRPr lang="en-US"/>
          </a:p>
        </p:txBody>
      </p:sp>
      <p:sp>
        <p:nvSpPr>
          <p:cNvPr id="51" name="Text 40"/>
          <p:cNvSpPr/>
          <p:nvPr/>
        </p:nvSpPr>
        <p:spPr>
          <a:xfrm>
            <a:off x="6309360" y="1828800"/>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Approval &amp; ticket queues</a:t>
            </a:r>
            <a:endParaRPr lang="en-US" sz="1300" dirty="0"/>
          </a:p>
        </p:txBody>
      </p:sp>
      <p:sp>
        <p:nvSpPr>
          <p:cNvPr id="52" name="Text 41"/>
          <p:cNvSpPr/>
          <p:nvPr/>
        </p:nvSpPr>
        <p:spPr>
          <a:xfrm>
            <a:off x="6309360" y="2121408"/>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4–6 handoffs between idea and production. "Ticket ops" is the canonical anti-pattern.</a:t>
            </a:r>
            <a:endParaRPr lang="en-US" sz="1100" dirty="0"/>
          </a:p>
        </p:txBody>
      </p:sp>
      <p:sp>
        <p:nvSpPr>
          <p:cNvPr id="53" name="Shape 42"/>
          <p:cNvSpPr/>
          <p:nvPr/>
        </p:nvSpPr>
        <p:spPr>
          <a:xfrm>
            <a:off x="6035040" y="2734056"/>
            <a:ext cx="164592" cy="164592"/>
          </a:xfrm>
          <a:prstGeom prst="ellipse">
            <a:avLst/>
          </a:prstGeom>
          <a:solidFill>
            <a:srgbClr val="FEDF01"/>
          </a:solidFill>
          <a:ln w="12700">
            <a:solidFill>
              <a:srgbClr val="FEDF01"/>
            </a:solidFill>
            <a:prstDash val="solid"/>
          </a:ln>
        </p:spPr>
        <p:txBody>
          <a:bodyPr/>
          <a:lstStyle/>
          <a:p>
            <a:endParaRPr lang="en-US"/>
          </a:p>
        </p:txBody>
      </p:sp>
      <p:sp>
        <p:nvSpPr>
          <p:cNvPr id="54" name="Text 43"/>
          <p:cNvSpPr/>
          <p:nvPr/>
        </p:nvSpPr>
        <p:spPr>
          <a:xfrm>
            <a:off x="6309360" y="2670048"/>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Conflicting priorities</a:t>
            </a:r>
            <a:endParaRPr lang="en-US" sz="1300" dirty="0"/>
          </a:p>
        </p:txBody>
      </p:sp>
      <p:sp>
        <p:nvSpPr>
          <p:cNvPr id="55" name="Text 44"/>
          <p:cNvSpPr/>
          <p:nvPr/>
        </p:nvSpPr>
        <p:spPr>
          <a:xfrm>
            <a:off x="6309360" y="2962656"/>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Each tower optimizes its own KPI — uptime vs. velocity vs. compliance vs. cost — with no joint owner.</a:t>
            </a:r>
            <a:endParaRPr lang="en-US" sz="1100" dirty="0"/>
          </a:p>
        </p:txBody>
      </p:sp>
      <p:sp>
        <p:nvSpPr>
          <p:cNvPr id="56" name="Shape 45"/>
          <p:cNvSpPr/>
          <p:nvPr/>
        </p:nvSpPr>
        <p:spPr>
          <a:xfrm>
            <a:off x="6035040" y="3575304"/>
            <a:ext cx="164592" cy="164592"/>
          </a:xfrm>
          <a:prstGeom prst="ellipse">
            <a:avLst/>
          </a:prstGeom>
          <a:solidFill>
            <a:srgbClr val="FEDF01"/>
          </a:solidFill>
          <a:ln w="12700">
            <a:solidFill>
              <a:srgbClr val="FEDF01"/>
            </a:solidFill>
            <a:prstDash val="solid"/>
          </a:ln>
        </p:spPr>
        <p:txBody>
          <a:bodyPr/>
          <a:lstStyle/>
          <a:p>
            <a:endParaRPr lang="en-US"/>
          </a:p>
        </p:txBody>
      </p:sp>
      <p:sp>
        <p:nvSpPr>
          <p:cNvPr id="57" name="Text 46"/>
          <p:cNvSpPr/>
          <p:nvPr/>
        </p:nvSpPr>
        <p:spPr>
          <a:xfrm>
            <a:off x="6309360" y="3511296"/>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Wait time dominates</a:t>
            </a:r>
            <a:endParaRPr lang="en-US" sz="1300" dirty="0"/>
          </a:p>
        </p:txBody>
      </p:sp>
      <p:sp>
        <p:nvSpPr>
          <p:cNvPr id="58" name="Text 47"/>
          <p:cNvSpPr/>
          <p:nvPr/>
        </p:nvSpPr>
        <p:spPr>
          <a:xfrm>
            <a:off x="6309360" y="3803904"/>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Value-stream maps in regulated IaC environments routinely show 70%+ of lead time is queueing, not work.</a:t>
            </a:r>
            <a:endParaRPr lang="en-US" sz="1100" dirty="0"/>
          </a:p>
        </p:txBody>
      </p:sp>
      <p:sp>
        <p:nvSpPr>
          <p:cNvPr id="59" name="Shape 48"/>
          <p:cNvSpPr/>
          <p:nvPr/>
        </p:nvSpPr>
        <p:spPr>
          <a:xfrm>
            <a:off x="6035040" y="4416552"/>
            <a:ext cx="164592" cy="164592"/>
          </a:xfrm>
          <a:prstGeom prst="ellipse">
            <a:avLst/>
          </a:prstGeom>
          <a:solidFill>
            <a:srgbClr val="FEDF01"/>
          </a:solidFill>
          <a:ln w="12700">
            <a:solidFill>
              <a:srgbClr val="FEDF01"/>
            </a:solidFill>
            <a:prstDash val="solid"/>
          </a:ln>
        </p:spPr>
        <p:txBody>
          <a:bodyPr/>
          <a:lstStyle/>
          <a:p>
            <a:endParaRPr lang="en-US"/>
          </a:p>
        </p:txBody>
      </p:sp>
      <p:sp>
        <p:nvSpPr>
          <p:cNvPr id="60" name="Text 49"/>
          <p:cNvSpPr/>
          <p:nvPr/>
        </p:nvSpPr>
        <p:spPr>
          <a:xfrm>
            <a:off x="6309360" y="4352544"/>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Knowledge silos</a:t>
            </a:r>
            <a:endParaRPr lang="en-US" sz="1300" dirty="0"/>
          </a:p>
        </p:txBody>
      </p:sp>
      <p:sp>
        <p:nvSpPr>
          <p:cNvPr id="61" name="Text 50"/>
          <p:cNvSpPr/>
          <p:nvPr/>
        </p:nvSpPr>
        <p:spPr>
          <a:xfrm>
            <a:off x="6309360" y="4645152"/>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Operators learn things developers never see; architects design without operational feedback.</a:t>
            </a:r>
            <a:endParaRPr lang="en-US" sz="1100" dirty="0"/>
          </a:p>
        </p:txBody>
      </p:sp>
      <p:sp>
        <p:nvSpPr>
          <p:cNvPr id="62" name="Shape 51"/>
          <p:cNvSpPr/>
          <p:nvPr/>
        </p:nvSpPr>
        <p:spPr>
          <a:xfrm>
            <a:off x="6035040" y="5257800"/>
            <a:ext cx="164592" cy="164592"/>
          </a:xfrm>
          <a:prstGeom prst="ellipse">
            <a:avLst/>
          </a:prstGeom>
          <a:solidFill>
            <a:srgbClr val="FEDF01"/>
          </a:solidFill>
          <a:ln w="12700">
            <a:solidFill>
              <a:srgbClr val="FEDF01"/>
            </a:solidFill>
            <a:prstDash val="solid"/>
          </a:ln>
        </p:spPr>
        <p:txBody>
          <a:bodyPr/>
          <a:lstStyle/>
          <a:p>
            <a:endParaRPr lang="en-US"/>
          </a:p>
        </p:txBody>
      </p:sp>
      <p:sp>
        <p:nvSpPr>
          <p:cNvPr id="63" name="Text 52"/>
          <p:cNvSpPr/>
          <p:nvPr/>
        </p:nvSpPr>
        <p:spPr>
          <a:xfrm>
            <a:off x="6309360" y="5193792"/>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Reverse Conway</a:t>
            </a:r>
            <a:endParaRPr lang="en-US" sz="1300" dirty="0"/>
          </a:p>
        </p:txBody>
      </p:sp>
      <p:sp>
        <p:nvSpPr>
          <p:cNvPr id="64" name="Text 53"/>
          <p:cNvSpPr/>
          <p:nvPr/>
        </p:nvSpPr>
        <p:spPr>
          <a:xfrm>
            <a:off x="6309360" y="5486400"/>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Four towers produce a four-layer monolith with brittle interfaces — code, runbooks, ML models drift apart.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THE SHIFT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Vertical vs. Horizontal — At a Glance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3017520" cy="45720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21792" y="1417320"/>
            <a:ext cx="2688336"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DIMENSION</a:t>
            </a:r>
            <a:endParaRPr lang="en-US" sz="1200" dirty="0"/>
          </a:p>
        </p:txBody>
      </p:sp>
      <p:sp>
        <p:nvSpPr>
          <p:cNvPr id="9" name="Shape 6"/>
          <p:cNvSpPr/>
          <p:nvPr/>
        </p:nvSpPr>
        <p:spPr>
          <a:xfrm>
            <a:off x="3474720" y="1417320"/>
            <a:ext cx="4297680" cy="457200"/>
          </a:xfrm>
          <a:prstGeom prst="rect">
            <a:avLst/>
          </a:prstGeom>
          <a:solidFill>
            <a:srgbClr val="64748B"/>
          </a:solidFill>
          <a:ln w="12700">
            <a:solidFill>
              <a:srgbClr val="64748B"/>
            </a:solidFill>
            <a:prstDash val="solid"/>
          </a:ln>
        </p:spPr>
        <p:txBody>
          <a:bodyPr/>
          <a:lstStyle/>
          <a:p>
            <a:endParaRPr lang="en-US"/>
          </a:p>
        </p:txBody>
      </p:sp>
      <p:sp>
        <p:nvSpPr>
          <p:cNvPr id="10" name="Text 7"/>
          <p:cNvSpPr/>
          <p:nvPr/>
        </p:nvSpPr>
        <p:spPr>
          <a:xfrm>
            <a:off x="3639312" y="1417320"/>
            <a:ext cx="3968496"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TODAY  ·  VERTICAL</a:t>
            </a:r>
            <a:endParaRPr lang="en-US" sz="1200" dirty="0"/>
          </a:p>
        </p:txBody>
      </p:sp>
      <p:sp>
        <p:nvSpPr>
          <p:cNvPr id="11" name="Shape 8"/>
          <p:cNvSpPr/>
          <p:nvPr/>
        </p:nvSpPr>
        <p:spPr>
          <a:xfrm>
            <a:off x="7772400" y="1417320"/>
            <a:ext cx="4416552" cy="457200"/>
          </a:xfrm>
          <a:prstGeom prst="rect">
            <a:avLst/>
          </a:prstGeom>
          <a:solidFill>
            <a:srgbClr val="003DA5"/>
          </a:solidFill>
          <a:ln w="12700">
            <a:solidFill>
              <a:srgbClr val="003DA5"/>
            </a:solidFill>
            <a:prstDash val="solid"/>
          </a:ln>
        </p:spPr>
        <p:txBody>
          <a:bodyPr/>
          <a:lstStyle/>
          <a:p>
            <a:endParaRPr lang="en-US"/>
          </a:p>
        </p:txBody>
      </p:sp>
      <p:sp>
        <p:nvSpPr>
          <p:cNvPr id="12" name="Text 9"/>
          <p:cNvSpPr/>
          <p:nvPr/>
        </p:nvSpPr>
        <p:spPr>
          <a:xfrm>
            <a:off x="7936992" y="1417320"/>
            <a:ext cx="4087368"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TARGET  ·  HORIZONTAL</a:t>
            </a:r>
            <a:endParaRPr lang="en-US" sz="1200" dirty="0"/>
          </a:p>
        </p:txBody>
      </p:sp>
      <p:sp>
        <p:nvSpPr>
          <p:cNvPr id="13" name="Shape 10"/>
          <p:cNvSpPr/>
          <p:nvPr/>
        </p:nvSpPr>
        <p:spPr>
          <a:xfrm>
            <a:off x="7772400" y="1417320"/>
            <a:ext cx="4416552" cy="54864"/>
          </a:xfrm>
          <a:prstGeom prst="rect">
            <a:avLst/>
          </a:prstGeom>
          <a:solidFill>
            <a:srgbClr val="FEDF01"/>
          </a:solidFill>
          <a:ln w="12700">
            <a:solidFill>
              <a:srgbClr val="FEDF01"/>
            </a:solidFill>
            <a:prstDash val="solid"/>
          </a:ln>
        </p:spPr>
        <p:txBody>
          <a:bodyPr/>
          <a:lstStyle/>
          <a:p>
            <a:endParaRPr lang="en-US"/>
          </a:p>
        </p:txBody>
      </p:sp>
      <p:sp>
        <p:nvSpPr>
          <p:cNvPr id="14" name="Shape 11"/>
          <p:cNvSpPr/>
          <p:nvPr/>
        </p:nvSpPr>
        <p:spPr>
          <a:xfrm>
            <a:off x="457200" y="1874520"/>
            <a:ext cx="11731752" cy="457200"/>
          </a:xfrm>
          <a:prstGeom prst="rect">
            <a:avLst/>
          </a:prstGeom>
          <a:solidFill>
            <a:srgbClr val="F4F6F9"/>
          </a:solidFill>
          <a:ln w="6350">
            <a:solidFill>
              <a:srgbClr val="E2E8F0"/>
            </a:solidFill>
            <a:prstDash val="solid"/>
          </a:ln>
        </p:spPr>
        <p:txBody>
          <a:bodyPr/>
          <a:lstStyle/>
          <a:p>
            <a:endParaRPr lang="en-US"/>
          </a:p>
        </p:txBody>
      </p:sp>
      <p:sp>
        <p:nvSpPr>
          <p:cNvPr id="15" name="Text 12"/>
          <p:cNvSpPr/>
          <p:nvPr/>
        </p:nvSpPr>
        <p:spPr>
          <a:xfrm>
            <a:off x="621792" y="18745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Primary unit</a:t>
            </a:r>
            <a:endParaRPr lang="en-US" sz="1150" dirty="0"/>
          </a:p>
        </p:txBody>
      </p:sp>
      <p:sp>
        <p:nvSpPr>
          <p:cNvPr id="16" name="Text 13"/>
          <p:cNvSpPr/>
          <p:nvPr/>
        </p:nvSpPr>
        <p:spPr>
          <a:xfrm>
            <a:off x="3639312" y="18745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Function (Arch / Eng / Ops / AI)</a:t>
            </a:r>
            <a:endParaRPr lang="en-US" sz="1150" dirty="0"/>
          </a:p>
        </p:txBody>
      </p:sp>
      <p:sp>
        <p:nvSpPr>
          <p:cNvPr id="17" name="Text 14"/>
          <p:cNvSpPr/>
          <p:nvPr/>
        </p:nvSpPr>
        <p:spPr>
          <a:xfrm>
            <a:off x="7936992" y="18745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Persistent team owning a platform end-to-end</a:t>
            </a:r>
            <a:endParaRPr lang="en-US" sz="1150" dirty="0"/>
          </a:p>
        </p:txBody>
      </p:sp>
      <p:sp>
        <p:nvSpPr>
          <p:cNvPr id="18" name="Shape 15"/>
          <p:cNvSpPr/>
          <p:nvPr/>
        </p:nvSpPr>
        <p:spPr>
          <a:xfrm>
            <a:off x="457200" y="2331720"/>
            <a:ext cx="11731752" cy="457200"/>
          </a:xfrm>
          <a:prstGeom prst="rect">
            <a:avLst/>
          </a:prstGeom>
          <a:solidFill>
            <a:srgbClr val="FFFFFF"/>
          </a:solidFill>
          <a:ln w="6350">
            <a:solidFill>
              <a:srgbClr val="E2E8F0"/>
            </a:solidFill>
            <a:prstDash val="solid"/>
          </a:ln>
        </p:spPr>
        <p:txBody>
          <a:bodyPr/>
          <a:lstStyle/>
          <a:p>
            <a:endParaRPr lang="en-US"/>
          </a:p>
        </p:txBody>
      </p:sp>
      <p:sp>
        <p:nvSpPr>
          <p:cNvPr id="19" name="Text 16"/>
          <p:cNvSpPr/>
          <p:nvPr/>
        </p:nvSpPr>
        <p:spPr>
          <a:xfrm>
            <a:off x="621792" y="23317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Architecture</a:t>
            </a:r>
            <a:endParaRPr lang="en-US" sz="1150" dirty="0"/>
          </a:p>
        </p:txBody>
      </p:sp>
      <p:sp>
        <p:nvSpPr>
          <p:cNvPr id="20" name="Text 17"/>
          <p:cNvSpPr/>
          <p:nvPr/>
        </p:nvSpPr>
        <p:spPr>
          <a:xfrm>
            <a:off x="3639312" y="23317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Standalone group, design approval queue</a:t>
            </a:r>
            <a:endParaRPr lang="en-US" sz="1150" dirty="0"/>
          </a:p>
        </p:txBody>
      </p:sp>
      <p:sp>
        <p:nvSpPr>
          <p:cNvPr id="21" name="Text 18"/>
          <p:cNvSpPr/>
          <p:nvPr/>
        </p:nvSpPr>
        <p:spPr>
          <a:xfrm>
            <a:off x="7936992" y="23317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Embedded principals + part-time Architecture Guild</a:t>
            </a:r>
            <a:endParaRPr lang="en-US" sz="1150" dirty="0"/>
          </a:p>
        </p:txBody>
      </p:sp>
      <p:sp>
        <p:nvSpPr>
          <p:cNvPr id="22" name="Shape 19"/>
          <p:cNvSpPr/>
          <p:nvPr/>
        </p:nvSpPr>
        <p:spPr>
          <a:xfrm>
            <a:off x="457200" y="2788920"/>
            <a:ext cx="11731752" cy="457200"/>
          </a:xfrm>
          <a:prstGeom prst="rect">
            <a:avLst/>
          </a:prstGeom>
          <a:solidFill>
            <a:srgbClr val="F4F6F9"/>
          </a:solidFill>
          <a:ln w="6350">
            <a:solidFill>
              <a:srgbClr val="E2E8F0"/>
            </a:solidFill>
            <a:prstDash val="solid"/>
          </a:ln>
        </p:spPr>
        <p:txBody>
          <a:bodyPr/>
          <a:lstStyle/>
          <a:p>
            <a:endParaRPr lang="en-US"/>
          </a:p>
        </p:txBody>
      </p:sp>
      <p:sp>
        <p:nvSpPr>
          <p:cNvPr id="23" name="Text 20"/>
          <p:cNvSpPr/>
          <p:nvPr/>
        </p:nvSpPr>
        <p:spPr>
          <a:xfrm>
            <a:off x="621792" y="27889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Operations</a:t>
            </a:r>
            <a:endParaRPr lang="en-US" sz="1150" dirty="0"/>
          </a:p>
        </p:txBody>
      </p:sp>
      <p:sp>
        <p:nvSpPr>
          <p:cNvPr id="24" name="Text 21"/>
          <p:cNvSpPr/>
          <p:nvPr/>
        </p:nvSpPr>
        <p:spPr>
          <a:xfrm>
            <a:off x="3639312" y="27889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Separate run team taking handoffs</a:t>
            </a:r>
            <a:endParaRPr lang="en-US" sz="1150" dirty="0"/>
          </a:p>
        </p:txBody>
      </p:sp>
      <p:sp>
        <p:nvSpPr>
          <p:cNvPr id="25" name="Text 22"/>
          <p:cNvSpPr/>
          <p:nvPr/>
        </p:nvSpPr>
        <p:spPr>
          <a:xfrm>
            <a:off x="7936992" y="27889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Embedded SRE pods · "You build it, you run it"</a:t>
            </a:r>
            <a:endParaRPr lang="en-US" sz="1150" dirty="0"/>
          </a:p>
        </p:txBody>
      </p:sp>
      <p:sp>
        <p:nvSpPr>
          <p:cNvPr id="26" name="Shape 23"/>
          <p:cNvSpPr/>
          <p:nvPr/>
        </p:nvSpPr>
        <p:spPr>
          <a:xfrm>
            <a:off x="457200" y="3246120"/>
            <a:ext cx="11731752" cy="457200"/>
          </a:xfrm>
          <a:prstGeom prst="rect">
            <a:avLst/>
          </a:prstGeom>
          <a:solidFill>
            <a:srgbClr val="FFFFFF"/>
          </a:solidFill>
          <a:ln w="6350">
            <a:solidFill>
              <a:srgbClr val="E2E8F0"/>
            </a:solidFill>
            <a:prstDash val="solid"/>
          </a:ln>
        </p:spPr>
        <p:txBody>
          <a:bodyPr/>
          <a:lstStyle/>
          <a:p>
            <a:endParaRPr lang="en-US"/>
          </a:p>
        </p:txBody>
      </p:sp>
      <p:sp>
        <p:nvSpPr>
          <p:cNvPr id="27" name="Text 24"/>
          <p:cNvSpPr/>
          <p:nvPr/>
        </p:nvSpPr>
        <p:spPr>
          <a:xfrm>
            <a:off x="621792" y="32461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AI / Incident Mgmt</a:t>
            </a:r>
            <a:endParaRPr lang="en-US" sz="1150" dirty="0"/>
          </a:p>
        </p:txBody>
      </p:sp>
      <p:sp>
        <p:nvSpPr>
          <p:cNvPr id="28" name="Text 25"/>
          <p:cNvSpPr/>
          <p:nvPr/>
        </p:nvSpPr>
        <p:spPr>
          <a:xfrm>
            <a:off x="3639312" y="32461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Standalone vertical</a:t>
            </a:r>
            <a:endParaRPr lang="en-US" sz="1150" dirty="0"/>
          </a:p>
        </p:txBody>
      </p:sp>
      <p:sp>
        <p:nvSpPr>
          <p:cNvPr id="29" name="Text 26"/>
          <p:cNvSpPr/>
          <p:nvPr/>
        </p:nvSpPr>
        <p:spPr>
          <a:xfrm>
            <a:off x="7936992" y="32461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ML platform + embedded MLEs + AIOps as paved-road feature</a:t>
            </a:r>
            <a:endParaRPr lang="en-US" sz="1150" dirty="0"/>
          </a:p>
        </p:txBody>
      </p:sp>
      <p:sp>
        <p:nvSpPr>
          <p:cNvPr id="30" name="Shape 27"/>
          <p:cNvSpPr/>
          <p:nvPr/>
        </p:nvSpPr>
        <p:spPr>
          <a:xfrm>
            <a:off x="457200" y="3703320"/>
            <a:ext cx="11731752" cy="457200"/>
          </a:xfrm>
          <a:prstGeom prst="rect">
            <a:avLst/>
          </a:prstGeom>
          <a:solidFill>
            <a:srgbClr val="F4F6F9"/>
          </a:solidFill>
          <a:ln w="6350">
            <a:solidFill>
              <a:srgbClr val="E2E8F0"/>
            </a:solidFill>
            <a:prstDash val="solid"/>
          </a:ln>
        </p:spPr>
        <p:txBody>
          <a:bodyPr/>
          <a:lstStyle/>
          <a:p>
            <a:endParaRPr lang="en-US"/>
          </a:p>
        </p:txBody>
      </p:sp>
      <p:sp>
        <p:nvSpPr>
          <p:cNvPr id="31" name="Text 28"/>
          <p:cNvSpPr/>
          <p:nvPr/>
        </p:nvSpPr>
        <p:spPr>
          <a:xfrm>
            <a:off x="621792" y="37033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Funding model</a:t>
            </a:r>
            <a:endParaRPr lang="en-US" sz="1150" dirty="0"/>
          </a:p>
        </p:txBody>
      </p:sp>
      <p:sp>
        <p:nvSpPr>
          <p:cNvPr id="32" name="Text 29"/>
          <p:cNvSpPr/>
          <p:nvPr/>
        </p:nvSpPr>
        <p:spPr>
          <a:xfrm>
            <a:off x="3639312" y="37033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Project budgets, per function</a:t>
            </a:r>
            <a:endParaRPr lang="en-US" sz="1150" dirty="0"/>
          </a:p>
        </p:txBody>
      </p:sp>
      <p:sp>
        <p:nvSpPr>
          <p:cNvPr id="33" name="Text 30"/>
          <p:cNvSpPr/>
          <p:nvPr/>
        </p:nvSpPr>
        <p:spPr>
          <a:xfrm>
            <a:off x="7936992" y="37033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Persistent platform funding tied to OKRs</a:t>
            </a:r>
            <a:endParaRPr lang="en-US" sz="1150" dirty="0"/>
          </a:p>
        </p:txBody>
      </p:sp>
      <p:sp>
        <p:nvSpPr>
          <p:cNvPr id="34" name="Shape 31"/>
          <p:cNvSpPr/>
          <p:nvPr/>
        </p:nvSpPr>
        <p:spPr>
          <a:xfrm>
            <a:off x="457200" y="4160520"/>
            <a:ext cx="11731752" cy="457200"/>
          </a:xfrm>
          <a:prstGeom prst="rect">
            <a:avLst/>
          </a:prstGeom>
          <a:solidFill>
            <a:srgbClr val="FFFFFF"/>
          </a:solidFill>
          <a:ln w="6350">
            <a:solidFill>
              <a:srgbClr val="E2E8F0"/>
            </a:solidFill>
            <a:prstDash val="solid"/>
          </a:ln>
        </p:spPr>
        <p:txBody>
          <a:bodyPr/>
          <a:lstStyle/>
          <a:p>
            <a:endParaRPr lang="en-US"/>
          </a:p>
        </p:txBody>
      </p:sp>
      <p:sp>
        <p:nvSpPr>
          <p:cNvPr id="35" name="Text 32"/>
          <p:cNvSpPr/>
          <p:nvPr/>
        </p:nvSpPr>
        <p:spPr>
          <a:xfrm>
            <a:off x="621792" y="41605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Handoffs (idea → prod)</a:t>
            </a:r>
            <a:endParaRPr lang="en-US" sz="1150" dirty="0"/>
          </a:p>
        </p:txBody>
      </p:sp>
      <p:sp>
        <p:nvSpPr>
          <p:cNvPr id="36" name="Text 33"/>
          <p:cNvSpPr/>
          <p:nvPr/>
        </p:nvSpPr>
        <p:spPr>
          <a:xfrm>
            <a:off x="3639312" y="41605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4–6 queue stops</a:t>
            </a:r>
            <a:endParaRPr lang="en-US" sz="1150" dirty="0"/>
          </a:p>
        </p:txBody>
      </p:sp>
      <p:sp>
        <p:nvSpPr>
          <p:cNvPr id="37" name="Text 34"/>
          <p:cNvSpPr/>
          <p:nvPr/>
        </p:nvSpPr>
        <p:spPr>
          <a:xfrm>
            <a:off x="7936992" y="41605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0–1 (self-service via the platform)</a:t>
            </a:r>
            <a:endParaRPr lang="en-US" sz="1150" dirty="0"/>
          </a:p>
        </p:txBody>
      </p:sp>
      <p:sp>
        <p:nvSpPr>
          <p:cNvPr id="38" name="Shape 35"/>
          <p:cNvSpPr/>
          <p:nvPr/>
        </p:nvSpPr>
        <p:spPr>
          <a:xfrm>
            <a:off x="457200" y="4617720"/>
            <a:ext cx="11731752" cy="457200"/>
          </a:xfrm>
          <a:prstGeom prst="rect">
            <a:avLst/>
          </a:prstGeom>
          <a:solidFill>
            <a:srgbClr val="F4F6F9"/>
          </a:solidFill>
          <a:ln w="6350">
            <a:solidFill>
              <a:srgbClr val="E2E8F0"/>
            </a:solidFill>
            <a:prstDash val="solid"/>
          </a:ln>
        </p:spPr>
        <p:txBody>
          <a:bodyPr/>
          <a:lstStyle/>
          <a:p>
            <a:endParaRPr lang="en-US"/>
          </a:p>
        </p:txBody>
      </p:sp>
      <p:sp>
        <p:nvSpPr>
          <p:cNvPr id="39" name="Text 36"/>
          <p:cNvSpPr/>
          <p:nvPr/>
        </p:nvSpPr>
        <p:spPr>
          <a:xfrm>
            <a:off x="621792" y="46177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Lead time for infra</a:t>
            </a:r>
            <a:endParaRPr lang="en-US" sz="1150" dirty="0"/>
          </a:p>
        </p:txBody>
      </p:sp>
      <p:sp>
        <p:nvSpPr>
          <p:cNvPr id="40" name="Text 37"/>
          <p:cNvSpPr/>
          <p:nvPr/>
        </p:nvSpPr>
        <p:spPr>
          <a:xfrm>
            <a:off x="3639312" y="46177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Days to weeks (ticket ops)</a:t>
            </a:r>
            <a:endParaRPr lang="en-US" sz="1150" dirty="0"/>
          </a:p>
        </p:txBody>
      </p:sp>
      <p:sp>
        <p:nvSpPr>
          <p:cNvPr id="41" name="Text 38"/>
          <p:cNvSpPr/>
          <p:nvPr/>
        </p:nvSpPr>
        <p:spPr>
          <a:xfrm>
            <a:off x="7936992" y="46177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Minutes to hours (golden paths)</a:t>
            </a:r>
            <a:endParaRPr lang="en-US" sz="1150" dirty="0"/>
          </a:p>
        </p:txBody>
      </p:sp>
      <p:sp>
        <p:nvSpPr>
          <p:cNvPr id="42" name="Shape 39"/>
          <p:cNvSpPr/>
          <p:nvPr/>
        </p:nvSpPr>
        <p:spPr>
          <a:xfrm>
            <a:off x="457200" y="5074920"/>
            <a:ext cx="11731752" cy="457200"/>
          </a:xfrm>
          <a:prstGeom prst="rect">
            <a:avLst/>
          </a:prstGeom>
          <a:solidFill>
            <a:srgbClr val="FFFFFF"/>
          </a:solidFill>
          <a:ln w="6350">
            <a:solidFill>
              <a:srgbClr val="E2E8F0"/>
            </a:solidFill>
            <a:prstDash val="solid"/>
          </a:ln>
        </p:spPr>
        <p:txBody>
          <a:bodyPr/>
          <a:lstStyle/>
          <a:p>
            <a:endParaRPr lang="en-US"/>
          </a:p>
        </p:txBody>
      </p:sp>
      <p:sp>
        <p:nvSpPr>
          <p:cNvPr id="43" name="Text 40"/>
          <p:cNvSpPr/>
          <p:nvPr/>
        </p:nvSpPr>
        <p:spPr>
          <a:xfrm>
            <a:off x="621792" y="50749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Accountability</a:t>
            </a:r>
            <a:endParaRPr lang="en-US" sz="1150" dirty="0"/>
          </a:p>
        </p:txBody>
      </p:sp>
      <p:sp>
        <p:nvSpPr>
          <p:cNvPr id="44" name="Text 41"/>
          <p:cNvSpPr/>
          <p:nvPr/>
        </p:nvSpPr>
        <p:spPr>
          <a:xfrm>
            <a:off x="3639312" y="50749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Diffuse across functions</a:t>
            </a:r>
            <a:endParaRPr lang="en-US" sz="1150" dirty="0"/>
          </a:p>
        </p:txBody>
      </p:sp>
      <p:sp>
        <p:nvSpPr>
          <p:cNvPr id="45" name="Text 42"/>
          <p:cNvSpPr/>
          <p:nvPr/>
        </p:nvSpPr>
        <p:spPr>
          <a:xfrm>
            <a:off x="7936992" y="50749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Single team, single delivery lead, clear SLOs</a:t>
            </a:r>
            <a:endParaRPr lang="en-US" sz="1150" dirty="0"/>
          </a:p>
        </p:txBody>
      </p:sp>
      <p:sp>
        <p:nvSpPr>
          <p:cNvPr id="46" name="Shape 43"/>
          <p:cNvSpPr/>
          <p:nvPr/>
        </p:nvSpPr>
        <p:spPr>
          <a:xfrm>
            <a:off x="457200" y="5532120"/>
            <a:ext cx="11731752" cy="457200"/>
          </a:xfrm>
          <a:prstGeom prst="rect">
            <a:avLst/>
          </a:prstGeom>
          <a:solidFill>
            <a:srgbClr val="F4F6F9"/>
          </a:solidFill>
          <a:ln w="6350">
            <a:solidFill>
              <a:srgbClr val="E2E8F0"/>
            </a:solidFill>
            <a:prstDash val="solid"/>
          </a:ln>
        </p:spPr>
        <p:txBody>
          <a:bodyPr/>
          <a:lstStyle/>
          <a:p>
            <a:endParaRPr lang="en-US"/>
          </a:p>
        </p:txBody>
      </p:sp>
      <p:sp>
        <p:nvSpPr>
          <p:cNvPr id="47" name="Text 44"/>
          <p:cNvSpPr/>
          <p:nvPr/>
        </p:nvSpPr>
        <p:spPr>
          <a:xfrm>
            <a:off x="621792" y="55321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Knowledge sharing</a:t>
            </a:r>
            <a:endParaRPr lang="en-US" sz="1150" dirty="0"/>
          </a:p>
        </p:txBody>
      </p:sp>
      <p:sp>
        <p:nvSpPr>
          <p:cNvPr id="48" name="Text 45"/>
          <p:cNvSpPr/>
          <p:nvPr/>
        </p:nvSpPr>
        <p:spPr>
          <a:xfrm>
            <a:off x="3639312" y="55321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Trapped in functional managers</a:t>
            </a:r>
            <a:endParaRPr lang="en-US" sz="1150" dirty="0"/>
          </a:p>
        </p:txBody>
      </p:sp>
      <p:sp>
        <p:nvSpPr>
          <p:cNvPr id="49" name="Text 46"/>
          <p:cNvSpPr/>
          <p:nvPr/>
        </p:nvSpPr>
        <p:spPr>
          <a:xfrm>
            <a:off x="7936992" y="55321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Communities of Practice / Guilds (horizontal)</a:t>
            </a:r>
            <a:endParaRPr lang="en-US" sz="1150" dirty="0"/>
          </a:p>
        </p:txBody>
      </p:sp>
      <p:sp>
        <p:nvSpPr>
          <p:cNvPr id="50" name="Shape 47"/>
          <p:cNvSpPr/>
          <p:nvPr/>
        </p:nvSpPr>
        <p:spPr>
          <a:xfrm>
            <a:off x="457200" y="6080760"/>
            <a:ext cx="11274552" cy="457200"/>
          </a:xfrm>
          <a:prstGeom prst="rect">
            <a:avLst/>
          </a:prstGeom>
          <a:solidFill>
            <a:srgbClr val="FFF1A8"/>
          </a:solidFill>
          <a:ln w="12700">
            <a:solidFill>
              <a:srgbClr val="FEDF01"/>
            </a:solidFill>
            <a:prstDash val="solid"/>
          </a:ln>
        </p:spPr>
        <p:txBody>
          <a:bodyPr/>
          <a:lstStyle/>
          <a:p>
            <a:endParaRPr lang="en-US"/>
          </a:p>
        </p:txBody>
      </p:sp>
      <p:pic>
        <p:nvPicPr>
          <p:cNvPr id="51" name="Image 1" descr="preencoded.png"/>
          <p:cNvPicPr>
            <a:picLocks noChangeAspect="1"/>
          </p:cNvPicPr>
          <p:nvPr/>
        </p:nvPicPr>
        <p:blipFill>
          <a:blip r:embed="rId4"/>
          <a:stretch>
            <a:fillRect/>
          </a:stretch>
        </p:blipFill>
        <p:spPr>
          <a:xfrm>
            <a:off x="640080" y="6172200"/>
            <a:ext cx="274320" cy="274320"/>
          </a:xfrm>
          <a:prstGeom prst="rect">
            <a:avLst/>
          </a:prstGeom>
        </p:spPr>
      </p:pic>
      <p:sp>
        <p:nvSpPr>
          <p:cNvPr id="52" name="Text 48"/>
          <p:cNvSpPr/>
          <p:nvPr/>
        </p:nvSpPr>
        <p:spPr>
          <a:xfrm>
            <a:off x="1005840" y="6080760"/>
            <a:ext cx="10515600" cy="457200"/>
          </a:xfrm>
          <a:prstGeom prst="rect">
            <a:avLst/>
          </a:prstGeom>
          <a:noFill/>
          <a:ln/>
        </p:spPr>
        <p:txBody>
          <a:bodyPr wrap="square" lIns="0" tIns="0" rIns="0" bIns="0" rtlCol="0" anchor="ctr"/>
          <a:lstStyle/>
          <a:p>
            <a:pPr marL="0" indent="0">
              <a:buNone/>
            </a:pPr>
            <a:r>
              <a:rPr lang="en-US" sz="1300" b="1" i="1" dirty="0">
                <a:solidFill>
                  <a:srgbClr val="1E293B"/>
                </a:solidFill>
                <a:latin typeface="Calibri" pitchFamily="34" charset="0"/>
                <a:ea typeface="Calibri" pitchFamily="34" charset="-122"/>
                <a:cs typeface="Calibri" pitchFamily="34" charset="-120"/>
              </a:rPr>
              <a:t>The horizontal model doesn't remove specialists — it removes the queues between them.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PARTS 2 &amp; 3  ·  THE MODEL &amp; THE BRIDGE</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The model,</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and the bridge.</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Five stages of operating-model maturity, the squad/pod structure, how on-call transforms, and a 90-day virtual cross-squad pilot that lets us start without an org change.</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Walk the bridge before we commit to the destination.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OPERATING MODEL EVOLUTION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Where the Handoffs Happen — and What Breaks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Shipping a Zephyr platform capability passes through 4 teams. Between each pair sits a handoff seam — and that's where the real cost shows up: lost context, queued tickets, agents bolted on late.</a:t>
            </a:r>
          </a:p>
        </p:txBody>
      </p:sp>
      <p:sp>
        <p:nvSpPr>
          <p:cNvPr id="8" name="Rectangle 7"/>
          <p:cNvSpPr/>
          <p:nvPr/>
        </p:nvSpPr>
        <p:spPr>
          <a:xfrm>
            <a:off x="457200" y="1920240"/>
            <a:ext cx="2442133" cy="10515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44213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103120"/>
            <a:ext cx="2350693" cy="365760"/>
          </a:xfrm>
          <a:prstGeom prst="rect">
            <a:avLst/>
          </a:prstGeom>
          <a:noFill/>
        </p:spPr>
        <p:txBody>
          <a:bodyPr wrap="square" lIns="0" tIns="0" rIns="0" bIns="0" anchor="t">
            <a:spAutoFit/>
          </a:bodyPr>
          <a:lstStyle/>
          <a:p>
            <a:pPr algn="ctr"/>
            <a:r>
              <a:rPr sz="1100" b="1" i="0">
                <a:solidFill>
                  <a:srgbClr val="FFFFFF"/>
                </a:solidFill>
                <a:latin typeface="Calibri"/>
              </a:rPr>
              <a:t>Architecture</a:t>
            </a:r>
          </a:p>
        </p:txBody>
      </p:sp>
      <p:sp>
        <p:nvSpPr>
          <p:cNvPr id="11" name="TextBox 10"/>
          <p:cNvSpPr txBox="1"/>
          <p:nvPr/>
        </p:nvSpPr>
        <p:spPr>
          <a:xfrm>
            <a:off x="502920" y="2514600"/>
            <a:ext cx="2350693" cy="365760"/>
          </a:xfrm>
          <a:prstGeom prst="rect">
            <a:avLst/>
          </a:prstGeom>
          <a:noFill/>
        </p:spPr>
        <p:txBody>
          <a:bodyPr wrap="square" lIns="0" tIns="0" rIns="0" bIns="0" anchor="t">
            <a:spAutoFit/>
          </a:bodyPr>
          <a:lstStyle/>
          <a:p>
            <a:pPr algn="ctr"/>
            <a:r>
              <a:rPr sz="900" b="0" i="1">
                <a:solidFill>
                  <a:srgbClr val="C9D6EE"/>
                </a:solidFill>
                <a:latin typeface="Calibri"/>
              </a:rPr>
              <a:t>designs pattern</a:t>
            </a:r>
          </a:p>
        </p:txBody>
      </p:sp>
      <p:sp>
        <p:nvSpPr>
          <p:cNvPr id="12" name="Rectangle 11"/>
          <p:cNvSpPr/>
          <p:nvPr/>
        </p:nvSpPr>
        <p:spPr>
          <a:xfrm>
            <a:off x="3402253" y="1920240"/>
            <a:ext cx="2442133" cy="10515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2253" y="1920240"/>
            <a:ext cx="244213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47973" y="2103120"/>
            <a:ext cx="2350693" cy="365760"/>
          </a:xfrm>
          <a:prstGeom prst="rect">
            <a:avLst/>
          </a:prstGeom>
          <a:noFill/>
        </p:spPr>
        <p:txBody>
          <a:bodyPr wrap="square" lIns="0" tIns="0" rIns="0" bIns="0" anchor="t">
            <a:spAutoFit/>
          </a:bodyPr>
          <a:lstStyle/>
          <a:p>
            <a:pPr algn="ctr"/>
            <a:r>
              <a:rPr sz="1100" b="1" i="0">
                <a:solidFill>
                  <a:srgbClr val="FFFFFF"/>
                </a:solidFill>
                <a:latin typeface="Calibri"/>
              </a:rPr>
              <a:t>Engineering</a:t>
            </a:r>
          </a:p>
        </p:txBody>
      </p:sp>
      <p:sp>
        <p:nvSpPr>
          <p:cNvPr id="15" name="TextBox 14"/>
          <p:cNvSpPr txBox="1"/>
          <p:nvPr/>
        </p:nvSpPr>
        <p:spPr>
          <a:xfrm>
            <a:off x="3447973" y="2514600"/>
            <a:ext cx="2350693" cy="365760"/>
          </a:xfrm>
          <a:prstGeom prst="rect">
            <a:avLst/>
          </a:prstGeom>
          <a:noFill/>
        </p:spPr>
        <p:txBody>
          <a:bodyPr wrap="square" lIns="0" tIns="0" rIns="0" bIns="0" anchor="t">
            <a:spAutoFit/>
          </a:bodyPr>
          <a:lstStyle/>
          <a:p>
            <a:pPr algn="ctr"/>
            <a:r>
              <a:rPr sz="900" b="0" i="1">
                <a:solidFill>
                  <a:srgbClr val="C9D6EE"/>
                </a:solidFill>
                <a:latin typeface="Calibri"/>
              </a:rPr>
              <a:t>builds IaC modules</a:t>
            </a:r>
          </a:p>
        </p:txBody>
      </p:sp>
      <p:sp>
        <p:nvSpPr>
          <p:cNvPr id="16" name="Rectangle 15"/>
          <p:cNvSpPr/>
          <p:nvPr/>
        </p:nvSpPr>
        <p:spPr>
          <a:xfrm>
            <a:off x="6347307" y="1920240"/>
            <a:ext cx="2442133" cy="10515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47307" y="1920240"/>
            <a:ext cx="244213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93027" y="2103120"/>
            <a:ext cx="2350693" cy="365760"/>
          </a:xfrm>
          <a:prstGeom prst="rect">
            <a:avLst/>
          </a:prstGeom>
          <a:noFill/>
        </p:spPr>
        <p:txBody>
          <a:bodyPr wrap="square" lIns="0" tIns="0" rIns="0" bIns="0" anchor="t">
            <a:spAutoFit/>
          </a:bodyPr>
          <a:lstStyle/>
          <a:p>
            <a:pPr algn="ctr"/>
            <a:r>
              <a:rPr sz="1100" b="1" i="0">
                <a:solidFill>
                  <a:srgbClr val="FFFFFF"/>
                </a:solidFill>
                <a:latin typeface="Calibri"/>
              </a:rPr>
              <a:t>Ops</a:t>
            </a:r>
          </a:p>
        </p:txBody>
      </p:sp>
      <p:sp>
        <p:nvSpPr>
          <p:cNvPr id="19" name="TextBox 18"/>
          <p:cNvSpPr txBox="1"/>
          <p:nvPr/>
        </p:nvSpPr>
        <p:spPr>
          <a:xfrm>
            <a:off x="6393027" y="2514600"/>
            <a:ext cx="2350693" cy="365760"/>
          </a:xfrm>
          <a:prstGeom prst="rect">
            <a:avLst/>
          </a:prstGeom>
          <a:noFill/>
        </p:spPr>
        <p:txBody>
          <a:bodyPr wrap="square" lIns="0" tIns="0" rIns="0" bIns="0" anchor="t">
            <a:spAutoFit/>
          </a:bodyPr>
          <a:lstStyle/>
          <a:p>
            <a:pPr algn="ctr"/>
            <a:r>
              <a:rPr sz="900" b="0" i="1">
                <a:solidFill>
                  <a:srgbClr val="C9D6EE"/>
                </a:solidFill>
                <a:latin typeface="Calibri"/>
              </a:rPr>
              <a:t>runbooks · monitoring</a:t>
            </a:r>
          </a:p>
        </p:txBody>
      </p:sp>
      <p:sp>
        <p:nvSpPr>
          <p:cNvPr id="20" name="Rectangle 19"/>
          <p:cNvSpPr/>
          <p:nvPr/>
        </p:nvSpPr>
        <p:spPr>
          <a:xfrm>
            <a:off x="9292361" y="1920240"/>
            <a:ext cx="2442133" cy="10515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292361" y="1920240"/>
            <a:ext cx="244213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38081" y="2103120"/>
            <a:ext cx="2350693" cy="365760"/>
          </a:xfrm>
          <a:prstGeom prst="rect">
            <a:avLst/>
          </a:prstGeom>
          <a:noFill/>
        </p:spPr>
        <p:txBody>
          <a:bodyPr wrap="square" lIns="0" tIns="0" rIns="0" bIns="0" anchor="t">
            <a:spAutoFit/>
          </a:bodyPr>
          <a:lstStyle/>
          <a:p>
            <a:pPr algn="ctr"/>
            <a:r>
              <a:rPr sz="1100" b="1" i="0">
                <a:solidFill>
                  <a:srgbClr val="FFFFFF"/>
                </a:solidFill>
                <a:latin typeface="Calibri"/>
              </a:rPr>
              <a:t>Intelligent Ops</a:t>
            </a:r>
          </a:p>
        </p:txBody>
      </p:sp>
      <p:sp>
        <p:nvSpPr>
          <p:cNvPr id="23" name="TextBox 22"/>
          <p:cNvSpPr txBox="1"/>
          <p:nvPr/>
        </p:nvSpPr>
        <p:spPr>
          <a:xfrm>
            <a:off x="9338081" y="2514600"/>
            <a:ext cx="2350693" cy="365760"/>
          </a:xfrm>
          <a:prstGeom prst="rect">
            <a:avLst/>
          </a:prstGeom>
          <a:noFill/>
        </p:spPr>
        <p:txBody>
          <a:bodyPr wrap="square" lIns="0" tIns="0" rIns="0" bIns="0" anchor="t">
            <a:spAutoFit/>
          </a:bodyPr>
          <a:lstStyle/>
          <a:p>
            <a:pPr algn="ctr"/>
            <a:r>
              <a:rPr sz="900" b="0" i="1">
                <a:solidFill>
                  <a:srgbClr val="C9D6EE"/>
                </a:solidFill>
                <a:latin typeface="Calibri"/>
              </a:rPr>
              <a:t>bolts on agents</a:t>
            </a:r>
          </a:p>
        </p:txBody>
      </p:sp>
      <p:sp>
        <p:nvSpPr>
          <p:cNvPr id="24" name="Oval 23"/>
          <p:cNvSpPr/>
          <p:nvPr/>
        </p:nvSpPr>
        <p:spPr>
          <a:xfrm>
            <a:off x="2967913" y="2263139"/>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67913" y="2263139"/>
            <a:ext cx="365760" cy="365760"/>
          </a:xfrm>
          <a:prstGeom prst="rect">
            <a:avLst/>
          </a:prstGeom>
          <a:noFill/>
        </p:spPr>
        <p:txBody>
          <a:bodyPr wrap="square" lIns="0" tIns="0" rIns="0" bIns="0" anchor="ctr">
            <a:spAutoFit/>
          </a:bodyPr>
          <a:lstStyle/>
          <a:p>
            <a:pPr algn="ctr"/>
            <a:r>
              <a:rPr sz="1400" b="1" i="0">
                <a:solidFill>
                  <a:srgbClr val="FFFFFF"/>
                </a:solidFill>
                <a:latin typeface="Calibri"/>
              </a:rPr>
              <a:t>1</a:t>
            </a:r>
          </a:p>
        </p:txBody>
      </p:sp>
      <p:sp>
        <p:nvSpPr>
          <p:cNvPr id="26" name="Oval 25"/>
          <p:cNvSpPr/>
          <p:nvPr/>
        </p:nvSpPr>
        <p:spPr>
          <a:xfrm>
            <a:off x="5912967" y="2263139"/>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12967" y="2263139"/>
            <a:ext cx="365760" cy="365760"/>
          </a:xfrm>
          <a:prstGeom prst="rect">
            <a:avLst/>
          </a:prstGeom>
          <a:noFill/>
        </p:spPr>
        <p:txBody>
          <a:bodyPr wrap="square" lIns="0" tIns="0" rIns="0" bIns="0" anchor="ctr">
            <a:spAutoFit/>
          </a:bodyPr>
          <a:lstStyle/>
          <a:p>
            <a:pPr algn="ctr"/>
            <a:r>
              <a:rPr sz="1400" b="1" i="0">
                <a:solidFill>
                  <a:srgbClr val="FFFFFF"/>
                </a:solidFill>
                <a:latin typeface="Calibri"/>
              </a:rPr>
              <a:t>2</a:t>
            </a:r>
          </a:p>
        </p:txBody>
      </p:sp>
      <p:sp>
        <p:nvSpPr>
          <p:cNvPr id="28" name="Oval 27"/>
          <p:cNvSpPr/>
          <p:nvPr/>
        </p:nvSpPr>
        <p:spPr>
          <a:xfrm>
            <a:off x="8858021" y="2263139"/>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858021" y="2263139"/>
            <a:ext cx="365760" cy="365760"/>
          </a:xfrm>
          <a:prstGeom prst="rect">
            <a:avLst/>
          </a:prstGeom>
          <a:noFill/>
        </p:spPr>
        <p:txBody>
          <a:bodyPr wrap="square" lIns="0" tIns="0" rIns="0" bIns="0" anchor="ctr">
            <a:spAutoFit/>
          </a:bodyPr>
          <a:lstStyle/>
          <a:p>
            <a:pPr algn="ctr"/>
            <a:r>
              <a:rPr sz="1400" b="1" i="0">
                <a:solidFill>
                  <a:srgbClr val="FFFFFF"/>
                </a:solidFill>
                <a:latin typeface="Calibri"/>
              </a:rPr>
              <a:t>3</a:t>
            </a:r>
          </a:p>
        </p:txBody>
      </p:sp>
      <p:cxnSp>
        <p:nvCxnSpPr>
          <p:cNvPr id="30" name="Connector 29"/>
          <p:cNvCxnSpPr/>
          <p:nvPr/>
        </p:nvCxnSpPr>
        <p:spPr>
          <a:xfrm>
            <a:off x="3150793" y="2628900"/>
            <a:ext cx="0"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281885" y="2960370"/>
            <a:ext cx="868908"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457200" y="3337560"/>
            <a:ext cx="3649370" cy="3108960"/>
          </a:xfrm>
          <a:prstGeom prst="rect">
            <a:avLst/>
          </a:prstGeom>
          <a:solidFill>
            <a:srgbClr val="FFFFFF"/>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3337560"/>
            <a:ext cx="3649370"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94360" y="3502152"/>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4360" y="3502152"/>
            <a:ext cx="365760" cy="365760"/>
          </a:xfrm>
          <a:prstGeom prst="rect">
            <a:avLst/>
          </a:prstGeom>
          <a:noFill/>
        </p:spPr>
        <p:txBody>
          <a:bodyPr wrap="square" lIns="0" tIns="0" rIns="0" bIns="0" anchor="ctr">
            <a:spAutoFit/>
          </a:bodyPr>
          <a:lstStyle/>
          <a:p>
            <a:pPr algn="ctr"/>
            <a:r>
              <a:rPr sz="1400" b="1" i="0">
                <a:solidFill>
                  <a:srgbClr val="FFFFFF"/>
                </a:solidFill>
                <a:latin typeface="Calibri"/>
              </a:rPr>
              <a:t>1</a:t>
            </a:r>
          </a:p>
        </p:txBody>
      </p:sp>
      <p:sp>
        <p:nvSpPr>
          <p:cNvPr id="36" name="TextBox 35"/>
          <p:cNvSpPr txBox="1"/>
          <p:nvPr/>
        </p:nvSpPr>
        <p:spPr>
          <a:xfrm>
            <a:off x="1024128" y="3502152"/>
            <a:ext cx="2963570" cy="182880"/>
          </a:xfrm>
          <a:prstGeom prst="rect">
            <a:avLst/>
          </a:prstGeom>
          <a:noFill/>
        </p:spPr>
        <p:txBody>
          <a:bodyPr wrap="square" lIns="0" tIns="0" rIns="0" bIns="0" anchor="t">
            <a:spAutoFit/>
          </a:bodyPr>
          <a:lstStyle/>
          <a:p>
            <a:pPr algn="l"/>
            <a:r>
              <a:rPr sz="800" b="1" i="0" spc="200">
                <a:solidFill>
                  <a:srgbClr val="DC2626"/>
                </a:solidFill>
                <a:latin typeface="Calibri"/>
              </a:rPr>
              <a:t>HANDOFF</a:t>
            </a:r>
          </a:p>
        </p:txBody>
      </p:sp>
      <p:sp>
        <p:nvSpPr>
          <p:cNvPr id="37" name="TextBox 36"/>
          <p:cNvSpPr txBox="1"/>
          <p:nvPr/>
        </p:nvSpPr>
        <p:spPr>
          <a:xfrm>
            <a:off x="1024128" y="3685032"/>
            <a:ext cx="2963570" cy="365760"/>
          </a:xfrm>
          <a:prstGeom prst="rect">
            <a:avLst/>
          </a:prstGeom>
          <a:noFill/>
        </p:spPr>
        <p:txBody>
          <a:bodyPr wrap="square" lIns="0" tIns="0" rIns="0" bIns="0" anchor="t">
            <a:spAutoFit/>
          </a:bodyPr>
          <a:lstStyle/>
          <a:p>
            <a:pPr algn="l"/>
            <a:r>
              <a:rPr sz="1000" b="1" i="0">
                <a:solidFill>
                  <a:srgbClr val="1E293B"/>
                </a:solidFill>
                <a:latin typeface="Calibri"/>
              </a:rPr>
              <a:t>Architecture → Engineering</a:t>
            </a:r>
          </a:p>
        </p:txBody>
      </p:sp>
      <p:sp>
        <p:nvSpPr>
          <p:cNvPr id="38" name="Rectangle 37"/>
          <p:cNvSpPr/>
          <p:nvPr/>
        </p:nvSpPr>
        <p:spPr>
          <a:xfrm>
            <a:off x="594360" y="3977639"/>
            <a:ext cx="3375050" cy="256032"/>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8368" y="3977639"/>
            <a:ext cx="731520" cy="256032"/>
          </a:xfrm>
          <a:prstGeom prst="rect">
            <a:avLst/>
          </a:prstGeom>
          <a:noFill/>
        </p:spPr>
        <p:txBody>
          <a:bodyPr wrap="square" lIns="0" tIns="0" rIns="0" bIns="0" anchor="ctr">
            <a:spAutoFit/>
          </a:bodyPr>
          <a:lstStyle/>
          <a:p>
            <a:pPr algn="l"/>
            <a:r>
              <a:rPr sz="750" b="1" i="0" spc="200">
                <a:solidFill>
                  <a:srgbClr val="64748B"/>
                </a:solidFill>
                <a:latin typeface="Calibri"/>
              </a:rPr>
              <a:t>OCCURS</a:t>
            </a:r>
          </a:p>
        </p:txBody>
      </p:sp>
      <p:sp>
        <p:nvSpPr>
          <p:cNvPr id="40" name="TextBox 39"/>
          <p:cNvSpPr txBox="1"/>
          <p:nvPr/>
        </p:nvSpPr>
        <p:spPr>
          <a:xfrm>
            <a:off x="1298448" y="4036405"/>
            <a:ext cx="2689250" cy="138499"/>
          </a:xfrm>
          <a:prstGeom prst="rect">
            <a:avLst/>
          </a:prstGeom>
          <a:noFill/>
        </p:spPr>
        <p:txBody>
          <a:bodyPr wrap="square" lIns="0" tIns="0" rIns="0" bIns="0" anchor="ctr">
            <a:spAutoFit/>
          </a:bodyPr>
          <a:lstStyle/>
          <a:p>
            <a:pPr algn="l"/>
            <a:r>
              <a:rPr sz="900" b="0" i="1" dirty="0">
                <a:solidFill>
                  <a:srgbClr val="1E293B"/>
                </a:solidFill>
                <a:latin typeface="Calibri"/>
              </a:rPr>
              <a:t>Every new platform</a:t>
            </a:r>
          </a:p>
        </p:txBody>
      </p:sp>
      <p:sp>
        <p:nvSpPr>
          <p:cNvPr id="41" name="Rectangle 40"/>
          <p:cNvSpPr/>
          <p:nvPr/>
        </p:nvSpPr>
        <p:spPr>
          <a:xfrm>
            <a:off x="594360" y="4343400"/>
            <a:ext cx="3375050" cy="1828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94360" y="4434840"/>
            <a:ext cx="3375050" cy="201168"/>
          </a:xfrm>
          <a:prstGeom prst="rect">
            <a:avLst/>
          </a:prstGeom>
          <a:noFill/>
        </p:spPr>
        <p:txBody>
          <a:bodyPr wrap="square" lIns="0" tIns="0" rIns="0" bIns="0" anchor="t">
            <a:spAutoFit/>
          </a:bodyPr>
          <a:lstStyle/>
          <a:p>
            <a:pPr algn="l"/>
            <a:r>
              <a:rPr sz="800" b="1" i="0" spc="200">
                <a:solidFill>
                  <a:srgbClr val="DC2626"/>
                </a:solidFill>
                <a:latin typeface="Calibri"/>
              </a:rPr>
              <a:t>WHAT BREAKS</a:t>
            </a:r>
          </a:p>
        </p:txBody>
      </p:sp>
      <p:sp>
        <p:nvSpPr>
          <p:cNvPr id="43" name="Oval 42"/>
          <p:cNvSpPr/>
          <p:nvPr/>
        </p:nvSpPr>
        <p:spPr>
          <a:xfrm>
            <a:off x="621792" y="474573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60" y="4690872"/>
            <a:ext cx="3146450" cy="228600"/>
          </a:xfrm>
          <a:prstGeom prst="rect">
            <a:avLst/>
          </a:prstGeom>
          <a:noFill/>
        </p:spPr>
        <p:txBody>
          <a:bodyPr wrap="square" lIns="0" tIns="0" rIns="0" bIns="0" anchor="t">
            <a:spAutoFit/>
          </a:bodyPr>
          <a:lstStyle/>
          <a:p>
            <a:pPr algn="l"/>
            <a:r>
              <a:rPr sz="950" b="1" i="0">
                <a:solidFill>
                  <a:srgbClr val="1E293B"/>
                </a:solidFill>
                <a:latin typeface="Calibri"/>
              </a:rPr>
              <a:t>Design context lives in one team, build context in another</a:t>
            </a:r>
          </a:p>
        </p:txBody>
      </p:sp>
      <p:sp>
        <p:nvSpPr>
          <p:cNvPr id="45" name="TextBox 44"/>
          <p:cNvSpPr txBox="1"/>
          <p:nvPr/>
        </p:nvSpPr>
        <p:spPr>
          <a:xfrm>
            <a:off x="822960" y="4910328"/>
            <a:ext cx="3146450" cy="274320"/>
          </a:xfrm>
          <a:prstGeom prst="rect">
            <a:avLst/>
          </a:prstGeom>
          <a:noFill/>
        </p:spPr>
        <p:txBody>
          <a:bodyPr wrap="square" lIns="0" tIns="0" rIns="0" bIns="0" anchor="t">
            <a:spAutoFit/>
          </a:bodyPr>
          <a:lstStyle/>
          <a:p>
            <a:pPr algn="l"/>
            <a:r>
              <a:rPr sz="850" b="0" i="1">
                <a:solidFill>
                  <a:srgbClr val="64748B"/>
                </a:solidFill>
                <a:latin typeface="Calibri"/>
              </a:rPr>
              <a:t>Reference patterns and built modules drift apart over releases</a:t>
            </a:r>
          </a:p>
        </p:txBody>
      </p:sp>
      <p:sp>
        <p:nvSpPr>
          <p:cNvPr id="46" name="Oval 45"/>
          <p:cNvSpPr/>
          <p:nvPr/>
        </p:nvSpPr>
        <p:spPr>
          <a:xfrm>
            <a:off x="621792" y="5248655"/>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5193792"/>
            <a:ext cx="3146450" cy="228600"/>
          </a:xfrm>
          <a:prstGeom prst="rect">
            <a:avLst/>
          </a:prstGeom>
          <a:noFill/>
        </p:spPr>
        <p:txBody>
          <a:bodyPr wrap="square" lIns="0" tIns="0" rIns="0" bIns="0" anchor="t">
            <a:spAutoFit/>
          </a:bodyPr>
          <a:lstStyle/>
          <a:p>
            <a:pPr algn="l"/>
            <a:r>
              <a:rPr sz="950" b="1" i="0">
                <a:solidFill>
                  <a:srgbClr val="1E293B"/>
                </a:solidFill>
                <a:latin typeface="Calibri"/>
              </a:rPr>
              <a:t>Edge cases surface during build, not design</a:t>
            </a:r>
          </a:p>
        </p:txBody>
      </p:sp>
      <p:sp>
        <p:nvSpPr>
          <p:cNvPr id="48" name="TextBox 47"/>
          <p:cNvSpPr txBox="1"/>
          <p:nvPr/>
        </p:nvSpPr>
        <p:spPr>
          <a:xfrm>
            <a:off x="822960" y="5413248"/>
            <a:ext cx="3146450" cy="274320"/>
          </a:xfrm>
          <a:prstGeom prst="rect">
            <a:avLst/>
          </a:prstGeom>
          <a:noFill/>
        </p:spPr>
        <p:txBody>
          <a:bodyPr wrap="square" lIns="0" tIns="0" rIns="0" bIns="0" anchor="t">
            <a:spAutoFit/>
          </a:bodyPr>
          <a:lstStyle/>
          <a:p>
            <a:pPr algn="l"/>
            <a:r>
              <a:rPr sz="850" b="0" i="1">
                <a:solidFill>
                  <a:srgbClr val="64748B"/>
                </a:solidFill>
                <a:latin typeface="Calibri"/>
              </a:rPr>
              <a:t>Eng hits blockers Arch couldn't anticipate — round-trips begin</a:t>
            </a:r>
          </a:p>
        </p:txBody>
      </p:sp>
      <p:sp>
        <p:nvSpPr>
          <p:cNvPr id="49" name="Oval 48"/>
          <p:cNvSpPr/>
          <p:nvPr/>
        </p:nvSpPr>
        <p:spPr>
          <a:xfrm>
            <a:off x="621792" y="575157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2960" y="5696712"/>
            <a:ext cx="3146450" cy="228600"/>
          </a:xfrm>
          <a:prstGeom prst="rect">
            <a:avLst/>
          </a:prstGeom>
          <a:noFill/>
        </p:spPr>
        <p:txBody>
          <a:bodyPr wrap="square" lIns="0" tIns="0" rIns="0" bIns="0" anchor="t">
            <a:spAutoFit/>
          </a:bodyPr>
          <a:lstStyle/>
          <a:p>
            <a:pPr algn="l"/>
            <a:r>
              <a:rPr sz="950" b="1" i="0">
                <a:solidFill>
                  <a:srgbClr val="1E293B"/>
                </a:solidFill>
                <a:latin typeface="Calibri"/>
              </a:rPr>
              <a:t>No standing forum to resolve gaps quickly</a:t>
            </a:r>
          </a:p>
        </p:txBody>
      </p:sp>
      <p:sp>
        <p:nvSpPr>
          <p:cNvPr id="51" name="TextBox 50"/>
          <p:cNvSpPr txBox="1"/>
          <p:nvPr/>
        </p:nvSpPr>
        <p:spPr>
          <a:xfrm>
            <a:off x="822960" y="5916168"/>
            <a:ext cx="3146450" cy="274320"/>
          </a:xfrm>
          <a:prstGeom prst="rect">
            <a:avLst/>
          </a:prstGeom>
          <a:noFill/>
        </p:spPr>
        <p:txBody>
          <a:bodyPr wrap="square" lIns="0" tIns="0" rIns="0" bIns="0" anchor="t">
            <a:spAutoFit/>
          </a:bodyPr>
          <a:lstStyle/>
          <a:p>
            <a:pPr algn="l"/>
            <a:r>
              <a:rPr sz="850" b="0" i="1">
                <a:solidFill>
                  <a:srgbClr val="64748B"/>
                </a:solidFill>
                <a:latin typeface="Calibri"/>
              </a:rPr>
              <a:t>Async tickets · async reviews · async decisions</a:t>
            </a:r>
          </a:p>
        </p:txBody>
      </p:sp>
      <p:cxnSp>
        <p:nvCxnSpPr>
          <p:cNvPr id="54" name="Connector 53"/>
          <p:cNvCxnSpPr/>
          <p:nvPr/>
        </p:nvCxnSpPr>
        <p:spPr>
          <a:xfrm>
            <a:off x="6095847" y="2628900"/>
            <a:ext cx="0"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095847" y="2960370"/>
            <a:ext cx="0"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4271162" y="3337560"/>
            <a:ext cx="3649370" cy="3520440"/>
          </a:xfrm>
          <a:prstGeom prst="rect">
            <a:avLst/>
          </a:prstGeom>
          <a:solidFill>
            <a:srgbClr val="FFFFFF"/>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271162" y="3337560"/>
            <a:ext cx="3649370"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4408322" y="3502152"/>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408322" y="3502152"/>
            <a:ext cx="365760" cy="365760"/>
          </a:xfrm>
          <a:prstGeom prst="rect">
            <a:avLst/>
          </a:prstGeom>
          <a:noFill/>
        </p:spPr>
        <p:txBody>
          <a:bodyPr wrap="square" lIns="0" tIns="0" rIns="0" bIns="0" anchor="ctr">
            <a:spAutoFit/>
          </a:bodyPr>
          <a:lstStyle/>
          <a:p>
            <a:pPr algn="ctr"/>
            <a:r>
              <a:rPr sz="1400" b="1" i="0">
                <a:solidFill>
                  <a:srgbClr val="FFFFFF"/>
                </a:solidFill>
                <a:latin typeface="Calibri"/>
              </a:rPr>
              <a:t>2</a:t>
            </a:r>
          </a:p>
        </p:txBody>
      </p:sp>
      <p:sp>
        <p:nvSpPr>
          <p:cNvPr id="60" name="TextBox 59"/>
          <p:cNvSpPr txBox="1"/>
          <p:nvPr/>
        </p:nvSpPr>
        <p:spPr>
          <a:xfrm>
            <a:off x="4838090" y="3502152"/>
            <a:ext cx="2963570" cy="182880"/>
          </a:xfrm>
          <a:prstGeom prst="rect">
            <a:avLst/>
          </a:prstGeom>
          <a:noFill/>
        </p:spPr>
        <p:txBody>
          <a:bodyPr wrap="square" lIns="0" tIns="0" rIns="0" bIns="0" anchor="t">
            <a:spAutoFit/>
          </a:bodyPr>
          <a:lstStyle/>
          <a:p>
            <a:pPr algn="l"/>
            <a:r>
              <a:rPr sz="800" b="1" i="0" spc="200">
                <a:solidFill>
                  <a:srgbClr val="DC2626"/>
                </a:solidFill>
                <a:latin typeface="Calibri"/>
              </a:rPr>
              <a:t>HANDOFF</a:t>
            </a:r>
          </a:p>
        </p:txBody>
      </p:sp>
      <p:sp>
        <p:nvSpPr>
          <p:cNvPr id="61" name="TextBox 60"/>
          <p:cNvSpPr txBox="1"/>
          <p:nvPr/>
        </p:nvSpPr>
        <p:spPr>
          <a:xfrm>
            <a:off x="4838090" y="3685032"/>
            <a:ext cx="2963570" cy="365760"/>
          </a:xfrm>
          <a:prstGeom prst="rect">
            <a:avLst/>
          </a:prstGeom>
          <a:noFill/>
        </p:spPr>
        <p:txBody>
          <a:bodyPr wrap="square" lIns="0" tIns="0" rIns="0" bIns="0" anchor="t">
            <a:spAutoFit/>
          </a:bodyPr>
          <a:lstStyle/>
          <a:p>
            <a:pPr algn="l"/>
            <a:r>
              <a:rPr sz="1000" b="1" i="0">
                <a:solidFill>
                  <a:srgbClr val="1E293B"/>
                </a:solidFill>
                <a:latin typeface="Calibri"/>
              </a:rPr>
              <a:t>Engineering → Ops</a:t>
            </a:r>
          </a:p>
        </p:txBody>
      </p:sp>
      <p:sp>
        <p:nvSpPr>
          <p:cNvPr id="62" name="Rectangle 61"/>
          <p:cNvSpPr/>
          <p:nvPr/>
        </p:nvSpPr>
        <p:spPr>
          <a:xfrm>
            <a:off x="4408322" y="3977639"/>
            <a:ext cx="3375050" cy="256032"/>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472330" y="3977639"/>
            <a:ext cx="731520" cy="256032"/>
          </a:xfrm>
          <a:prstGeom prst="rect">
            <a:avLst/>
          </a:prstGeom>
          <a:noFill/>
        </p:spPr>
        <p:txBody>
          <a:bodyPr wrap="square" lIns="0" tIns="0" rIns="0" bIns="0" anchor="ctr">
            <a:spAutoFit/>
          </a:bodyPr>
          <a:lstStyle/>
          <a:p>
            <a:pPr algn="l"/>
            <a:r>
              <a:rPr sz="750" b="1" i="0" spc="200">
                <a:solidFill>
                  <a:srgbClr val="64748B"/>
                </a:solidFill>
                <a:latin typeface="Calibri"/>
              </a:rPr>
              <a:t>OCCURS</a:t>
            </a:r>
          </a:p>
        </p:txBody>
      </p:sp>
      <p:sp>
        <p:nvSpPr>
          <p:cNvPr id="64" name="TextBox 63"/>
          <p:cNvSpPr txBox="1"/>
          <p:nvPr/>
        </p:nvSpPr>
        <p:spPr>
          <a:xfrm>
            <a:off x="5112410" y="3977639"/>
            <a:ext cx="2689250" cy="256032"/>
          </a:xfrm>
          <a:prstGeom prst="rect">
            <a:avLst/>
          </a:prstGeom>
          <a:noFill/>
        </p:spPr>
        <p:txBody>
          <a:bodyPr wrap="square" lIns="0" tIns="0" rIns="0" bIns="0" anchor="ctr">
            <a:spAutoFit/>
          </a:bodyPr>
          <a:lstStyle/>
          <a:p>
            <a:pPr algn="l"/>
            <a:r>
              <a:rPr sz="900" b="0" i="1">
                <a:solidFill>
                  <a:srgbClr val="1E293B"/>
                </a:solidFill>
                <a:latin typeface="Calibri"/>
              </a:rPr>
              <a:t>Every platform handover · every patch cycle</a:t>
            </a:r>
          </a:p>
        </p:txBody>
      </p:sp>
      <p:sp>
        <p:nvSpPr>
          <p:cNvPr id="65" name="Rectangle 64"/>
          <p:cNvSpPr/>
          <p:nvPr/>
        </p:nvSpPr>
        <p:spPr>
          <a:xfrm>
            <a:off x="4408322" y="4343400"/>
            <a:ext cx="3375050" cy="1828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08322" y="4434840"/>
            <a:ext cx="3375050" cy="201168"/>
          </a:xfrm>
          <a:prstGeom prst="rect">
            <a:avLst/>
          </a:prstGeom>
          <a:noFill/>
        </p:spPr>
        <p:txBody>
          <a:bodyPr wrap="square" lIns="0" tIns="0" rIns="0" bIns="0" anchor="t">
            <a:spAutoFit/>
          </a:bodyPr>
          <a:lstStyle/>
          <a:p>
            <a:pPr algn="l"/>
            <a:r>
              <a:rPr sz="800" b="1" i="0" spc="200">
                <a:solidFill>
                  <a:srgbClr val="DC2626"/>
                </a:solidFill>
                <a:latin typeface="Calibri"/>
              </a:rPr>
              <a:t>WHAT BREAKS</a:t>
            </a:r>
          </a:p>
        </p:txBody>
      </p:sp>
      <p:sp>
        <p:nvSpPr>
          <p:cNvPr id="67" name="Oval 66"/>
          <p:cNvSpPr/>
          <p:nvPr/>
        </p:nvSpPr>
        <p:spPr>
          <a:xfrm>
            <a:off x="4435754" y="474573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636922" y="4690872"/>
            <a:ext cx="3146450" cy="228600"/>
          </a:xfrm>
          <a:prstGeom prst="rect">
            <a:avLst/>
          </a:prstGeom>
          <a:noFill/>
        </p:spPr>
        <p:txBody>
          <a:bodyPr wrap="square" lIns="0" tIns="0" rIns="0" bIns="0" anchor="t">
            <a:spAutoFit/>
          </a:bodyPr>
          <a:lstStyle/>
          <a:p>
            <a:pPr algn="l"/>
            <a:r>
              <a:rPr sz="950" b="1" i="0">
                <a:solidFill>
                  <a:srgbClr val="1E293B"/>
                </a:solidFill>
                <a:latin typeface="Calibri"/>
              </a:rPr>
              <a:t>Ops inherits without build context</a:t>
            </a:r>
          </a:p>
        </p:txBody>
      </p:sp>
      <p:sp>
        <p:nvSpPr>
          <p:cNvPr id="69" name="TextBox 68"/>
          <p:cNvSpPr txBox="1"/>
          <p:nvPr/>
        </p:nvSpPr>
        <p:spPr>
          <a:xfrm>
            <a:off x="4636922" y="4910328"/>
            <a:ext cx="3146450" cy="274320"/>
          </a:xfrm>
          <a:prstGeom prst="rect">
            <a:avLst/>
          </a:prstGeom>
          <a:noFill/>
        </p:spPr>
        <p:txBody>
          <a:bodyPr wrap="square" lIns="0" tIns="0" rIns="0" bIns="0" anchor="t">
            <a:spAutoFit/>
          </a:bodyPr>
          <a:lstStyle/>
          <a:p>
            <a:pPr algn="l"/>
            <a:r>
              <a:rPr sz="850" b="0" i="1">
                <a:solidFill>
                  <a:srgbClr val="64748B"/>
                </a:solidFill>
                <a:latin typeface="Calibri"/>
              </a:rPr>
              <a:t>Tribal knowledge stays with Eng · runbooks are best-effort docs</a:t>
            </a:r>
          </a:p>
        </p:txBody>
      </p:sp>
      <p:sp>
        <p:nvSpPr>
          <p:cNvPr id="70" name="Oval 69"/>
          <p:cNvSpPr/>
          <p:nvPr/>
        </p:nvSpPr>
        <p:spPr>
          <a:xfrm>
            <a:off x="4435754" y="5248655"/>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636922" y="5193792"/>
            <a:ext cx="3146450" cy="228600"/>
          </a:xfrm>
          <a:prstGeom prst="rect">
            <a:avLst/>
          </a:prstGeom>
          <a:noFill/>
        </p:spPr>
        <p:txBody>
          <a:bodyPr wrap="square" lIns="0" tIns="0" rIns="0" bIns="0" anchor="t">
            <a:spAutoFit/>
          </a:bodyPr>
          <a:lstStyle/>
          <a:p>
            <a:pPr algn="l"/>
            <a:r>
              <a:rPr sz="950" b="1" i="0">
                <a:solidFill>
                  <a:srgbClr val="1E293B"/>
                </a:solidFill>
                <a:latin typeface="Calibri"/>
              </a:rPr>
              <a:t>On-call lands on team that didn't build it</a:t>
            </a:r>
          </a:p>
        </p:txBody>
      </p:sp>
      <p:sp>
        <p:nvSpPr>
          <p:cNvPr id="72" name="TextBox 71"/>
          <p:cNvSpPr txBox="1"/>
          <p:nvPr/>
        </p:nvSpPr>
        <p:spPr>
          <a:xfrm>
            <a:off x="4636922" y="5413248"/>
            <a:ext cx="3146450" cy="274320"/>
          </a:xfrm>
          <a:prstGeom prst="rect">
            <a:avLst/>
          </a:prstGeom>
          <a:noFill/>
        </p:spPr>
        <p:txBody>
          <a:bodyPr wrap="square" lIns="0" tIns="0" rIns="0" bIns="0" anchor="t">
            <a:spAutoFit/>
          </a:bodyPr>
          <a:lstStyle/>
          <a:p>
            <a:pPr algn="l"/>
            <a:r>
              <a:rPr sz="850" b="0" i="1">
                <a:solidFill>
                  <a:srgbClr val="64748B"/>
                </a:solidFill>
                <a:latin typeface="Calibri"/>
              </a:rPr>
              <a:t>Pager goes off · responder Slack-pings the original builder</a:t>
            </a:r>
          </a:p>
        </p:txBody>
      </p:sp>
      <p:sp>
        <p:nvSpPr>
          <p:cNvPr id="73" name="Oval 72"/>
          <p:cNvSpPr/>
          <p:nvPr/>
        </p:nvSpPr>
        <p:spPr>
          <a:xfrm>
            <a:off x="4435754" y="575157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636922" y="5696712"/>
            <a:ext cx="3146450" cy="228600"/>
          </a:xfrm>
          <a:prstGeom prst="rect">
            <a:avLst/>
          </a:prstGeom>
          <a:noFill/>
        </p:spPr>
        <p:txBody>
          <a:bodyPr wrap="square" lIns="0" tIns="0" rIns="0" bIns="0" anchor="t">
            <a:spAutoFit/>
          </a:bodyPr>
          <a:lstStyle/>
          <a:p>
            <a:pPr algn="l"/>
            <a:r>
              <a:rPr sz="950" b="1" i="0">
                <a:solidFill>
                  <a:srgbClr val="1E293B"/>
                </a:solidFill>
                <a:latin typeface="Calibri"/>
              </a:rPr>
              <a:t>Runbooks lag the platform · drift in days</a:t>
            </a:r>
          </a:p>
        </p:txBody>
      </p:sp>
      <p:sp>
        <p:nvSpPr>
          <p:cNvPr id="75" name="TextBox 74"/>
          <p:cNvSpPr txBox="1"/>
          <p:nvPr/>
        </p:nvSpPr>
        <p:spPr>
          <a:xfrm>
            <a:off x="4636922" y="5916168"/>
            <a:ext cx="3146450" cy="274320"/>
          </a:xfrm>
          <a:prstGeom prst="rect">
            <a:avLst/>
          </a:prstGeom>
          <a:noFill/>
        </p:spPr>
        <p:txBody>
          <a:bodyPr wrap="square" lIns="0" tIns="0" rIns="0" bIns="0" anchor="t">
            <a:spAutoFit/>
          </a:bodyPr>
          <a:lstStyle/>
          <a:p>
            <a:pPr algn="l"/>
            <a:r>
              <a:rPr sz="850" b="0" i="1">
                <a:solidFill>
                  <a:srgbClr val="64748B"/>
                </a:solidFill>
                <a:latin typeface="Calibri"/>
              </a:rPr>
              <a:t>Platform evolves; static runbooks fall behind almost immediately</a:t>
            </a:r>
          </a:p>
        </p:txBody>
      </p:sp>
      <p:cxnSp>
        <p:nvCxnSpPr>
          <p:cNvPr id="78" name="Connector 77"/>
          <p:cNvCxnSpPr/>
          <p:nvPr/>
        </p:nvCxnSpPr>
        <p:spPr>
          <a:xfrm>
            <a:off x="9040901" y="2628900"/>
            <a:ext cx="0"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040901" y="2960370"/>
            <a:ext cx="868909"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8085124" y="3337560"/>
            <a:ext cx="3649370" cy="3520440"/>
          </a:xfrm>
          <a:prstGeom prst="rect">
            <a:avLst/>
          </a:prstGeom>
          <a:solidFill>
            <a:srgbClr val="FFFFFF"/>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8085124" y="3337560"/>
            <a:ext cx="3649370"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8222284" y="3502152"/>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222284" y="3502152"/>
            <a:ext cx="365760" cy="365760"/>
          </a:xfrm>
          <a:prstGeom prst="rect">
            <a:avLst/>
          </a:prstGeom>
          <a:noFill/>
        </p:spPr>
        <p:txBody>
          <a:bodyPr wrap="square" lIns="0" tIns="0" rIns="0" bIns="0" anchor="ctr">
            <a:spAutoFit/>
          </a:bodyPr>
          <a:lstStyle/>
          <a:p>
            <a:pPr algn="ctr"/>
            <a:r>
              <a:rPr sz="1400" b="1" i="0">
                <a:solidFill>
                  <a:srgbClr val="FFFFFF"/>
                </a:solidFill>
                <a:latin typeface="Calibri"/>
              </a:rPr>
              <a:t>3</a:t>
            </a:r>
          </a:p>
        </p:txBody>
      </p:sp>
      <p:sp>
        <p:nvSpPr>
          <p:cNvPr id="84" name="TextBox 83"/>
          <p:cNvSpPr txBox="1"/>
          <p:nvPr/>
        </p:nvSpPr>
        <p:spPr>
          <a:xfrm>
            <a:off x="8652052" y="3502152"/>
            <a:ext cx="2963570" cy="182880"/>
          </a:xfrm>
          <a:prstGeom prst="rect">
            <a:avLst/>
          </a:prstGeom>
          <a:noFill/>
        </p:spPr>
        <p:txBody>
          <a:bodyPr wrap="square" lIns="0" tIns="0" rIns="0" bIns="0" anchor="t">
            <a:spAutoFit/>
          </a:bodyPr>
          <a:lstStyle/>
          <a:p>
            <a:pPr algn="l"/>
            <a:r>
              <a:rPr sz="800" b="1" i="0" spc="200">
                <a:solidFill>
                  <a:srgbClr val="DC2626"/>
                </a:solidFill>
                <a:latin typeface="Calibri"/>
              </a:rPr>
              <a:t>HANDOFF</a:t>
            </a:r>
          </a:p>
        </p:txBody>
      </p:sp>
      <p:sp>
        <p:nvSpPr>
          <p:cNvPr id="85" name="TextBox 84"/>
          <p:cNvSpPr txBox="1"/>
          <p:nvPr/>
        </p:nvSpPr>
        <p:spPr>
          <a:xfrm>
            <a:off x="8652052" y="3685032"/>
            <a:ext cx="2963570" cy="365760"/>
          </a:xfrm>
          <a:prstGeom prst="rect">
            <a:avLst/>
          </a:prstGeom>
          <a:noFill/>
        </p:spPr>
        <p:txBody>
          <a:bodyPr wrap="square" lIns="0" tIns="0" rIns="0" bIns="0" anchor="t">
            <a:spAutoFit/>
          </a:bodyPr>
          <a:lstStyle/>
          <a:p>
            <a:pPr algn="l"/>
            <a:r>
              <a:rPr sz="1000" b="1" i="0">
                <a:solidFill>
                  <a:srgbClr val="1E293B"/>
                </a:solidFill>
                <a:latin typeface="Calibri"/>
              </a:rPr>
              <a:t>Ops → Intelligent Ops</a:t>
            </a:r>
          </a:p>
        </p:txBody>
      </p:sp>
      <p:sp>
        <p:nvSpPr>
          <p:cNvPr id="86" name="Rectangle 85"/>
          <p:cNvSpPr/>
          <p:nvPr/>
        </p:nvSpPr>
        <p:spPr>
          <a:xfrm>
            <a:off x="8222284" y="3977639"/>
            <a:ext cx="3375050" cy="256032"/>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286292" y="3977639"/>
            <a:ext cx="731520" cy="256032"/>
          </a:xfrm>
          <a:prstGeom prst="rect">
            <a:avLst/>
          </a:prstGeom>
          <a:noFill/>
        </p:spPr>
        <p:txBody>
          <a:bodyPr wrap="square" lIns="0" tIns="0" rIns="0" bIns="0" anchor="ctr">
            <a:spAutoFit/>
          </a:bodyPr>
          <a:lstStyle/>
          <a:p>
            <a:pPr algn="l"/>
            <a:r>
              <a:rPr sz="750" b="1" i="0" spc="200">
                <a:solidFill>
                  <a:srgbClr val="64748B"/>
                </a:solidFill>
                <a:latin typeface="Calibri"/>
              </a:rPr>
              <a:t>OCCURS</a:t>
            </a:r>
          </a:p>
        </p:txBody>
      </p:sp>
      <p:sp>
        <p:nvSpPr>
          <p:cNvPr id="88" name="TextBox 87"/>
          <p:cNvSpPr txBox="1"/>
          <p:nvPr/>
        </p:nvSpPr>
        <p:spPr>
          <a:xfrm>
            <a:off x="8926372" y="3977639"/>
            <a:ext cx="2689250" cy="256032"/>
          </a:xfrm>
          <a:prstGeom prst="rect">
            <a:avLst/>
          </a:prstGeom>
          <a:noFill/>
        </p:spPr>
        <p:txBody>
          <a:bodyPr wrap="square" lIns="0" tIns="0" rIns="0" bIns="0" anchor="ctr">
            <a:spAutoFit/>
          </a:bodyPr>
          <a:lstStyle/>
          <a:p>
            <a:pPr algn="l"/>
            <a:r>
              <a:rPr sz="900" b="0" i="1">
                <a:solidFill>
                  <a:srgbClr val="1E293B"/>
                </a:solidFill>
                <a:latin typeface="Calibri"/>
              </a:rPr>
              <a:t>Every recurring incident pattern</a:t>
            </a:r>
          </a:p>
        </p:txBody>
      </p:sp>
      <p:sp>
        <p:nvSpPr>
          <p:cNvPr id="89" name="Rectangle 88"/>
          <p:cNvSpPr/>
          <p:nvPr/>
        </p:nvSpPr>
        <p:spPr>
          <a:xfrm>
            <a:off x="8222284" y="4343400"/>
            <a:ext cx="3375050" cy="1828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8222284" y="4434840"/>
            <a:ext cx="3375050" cy="201168"/>
          </a:xfrm>
          <a:prstGeom prst="rect">
            <a:avLst/>
          </a:prstGeom>
          <a:noFill/>
        </p:spPr>
        <p:txBody>
          <a:bodyPr wrap="square" lIns="0" tIns="0" rIns="0" bIns="0" anchor="t">
            <a:spAutoFit/>
          </a:bodyPr>
          <a:lstStyle/>
          <a:p>
            <a:pPr algn="l"/>
            <a:r>
              <a:rPr sz="800" b="1" i="0" spc="200">
                <a:solidFill>
                  <a:srgbClr val="DC2626"/>
                </a:solidFill>
                <a:latin typeface="Calibri"/>
              </a:rPr>
              <a:t>WHAT BREAKS</a:t>
            </a:r>
          </a:p>
        </p:txBody>
      </p:sp>
      <p:sp>
        <p:nvSpPr>
          <p:cNvPr id="91" name="Oval 90"/>
          <p:cNvSpPr/>
          <p:nvPr/>
        </p:nvSpPr>
        <p:spPr>
          <a:xfrm>
            <a:off x="8249716" y="474573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450884" y="4690872"/>
            <a:ext cx="3146450" cy="228600"/>
          </a:xfrm>
          <a:prstGeom prst="rect">
            <a:avLst/>
          </a:prstGeom>
          <a:noFill/>
        </p:spPr>
        <p:txBody>
          <a:bodyPr wrap="square" lIns="0" tIns="0" rIns="0" bIns="0" anchor="t">
            <a:spAutoFit/>
          </a:bodyPr>
          <a:lstStyle/>
          <a:p>
            <a:pPr algn="l"/>
            <a:r>
              <a:rPr sz="950" b="1" i="0">
                <a:solidFill>
                  <a:srgbClr val="1E293B"/>
                </a:solidFill>
                <a:latin typeface="Calibri"/>
              </a:rPr>
              <a:t>Agents built later, by separate team</a:t>
            </a:r>
          </a:p>
        </p:txBody>
      </p:sp>
      <p:sp>
        <p:nvSpPr>
          <p:cNvPr id="93" name="TextBox 92"/>
          <p:cNvSpPr txBox="1"/>
          <p:nvPr/>
        </p:nvSpPr>
        <p:spPr>
          <a:xfrm>
            <a:off x="8450884" y="4910328"/>
            <a:ext cx="3146450" cy="274320"/>
          </a:xfrm>
          <a:prstGeom prst="rect">
            <a:avLst/>
          </a:prstGeom>
          <a:noFill/>
        </p:spPr>
        <p:txBody>
          <a:bodyPr wrap="square" lIns="0" tIns="0" rIns="0" bIns="0" anchor="t">
            <a:spAutoFit/>
          </a:bodyPr>
          <a:lstStyle/>
          <a:p>
            <a:pPr algn="l"/>
            <a:r>
              <a:rPr sz="850" b="0" i="1">
                <a:solidFill>
                  <a:srgbClr val="64748B"/>
                </a:solidFill>
                <a:latin typeface="Calibri"/>
              </a:rPr>
              <a:t>Automation is a separate program — sequenced after platform GA</a:t>
            </a:r>
          </a:p>
        </p:txBody>
      </p:sp>
      <p:sp>
        <p:nvSpPr>
          <p:cNvPr id="94" name="Oval 93"/>
          <p:cNvSpPr/>
          <p:nvPr/>
        </p:nvSpPr>
        <p:spPr>
          <a:xfrm>
            <a:off x="8249716" y="5248655"/>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8450884" y="5193792"/>
            <a:ext cx="3146450" cy="146194"/>
          </a:xfrm>
          <a:prstGeom prst="rect">
            <a:avLst/>
          </a:prstGeom>
          <a:noFill/>
        </p:spPr>
        <p:txBody>
          <a:bodyPr wrap="square" lIns="0" tIns="0" rIns="0" bIns="0" anchor="t">
            <a:spAutoFit/>
          </a:bodyPr>
          <a:lstStyle/>
          <a:p>
            <a:pPr algn="l"/>
            <a:r>
              <a:rPr sz="950" b="1" i="0" dirty="0" err="1">
                <a:solidFill>
                  <a:srgbClr val="1E293B"/>
                </a:solidFill>
                <a:latin typeface="Calibri"/>
              </a:rPr>
              <a:t>IntOps</a:t>
            </a:r>
            <a:r>
              <a:rPr sz="950" b="1" i="0" dirty="0">
                <a:solidFill>
                  <a:srgbClr val="1E293B"/>
                </a:solidFill>
                <a:latin typeface="Calibri"/>
              </a:rPr>
              <a:t> doesn't see real incident patterns</a:t>
            </a:r>
          </a:p>
        </p:txBody>
      </p:sp>
      <p:sp>
        <p:nvSpPr>
          <p:cNvPr id="96" name="TextBox 95"/>
          <p:cNvSpPr txBox="1"/>
          <p:nvPr/>
        </p:nvSpPr>
        <p:spPr>
          <a:xfrm>
            <a:off x="8450884" y="5413248"/>
            <a:ext cx="3146450" cy="274320"/>
          </a:xfrm>
          <a:prstGeom prst="rect">
            <a:avLst/>
          </a:prstGeom>
          <a:noFill/>
        </p:spPr>
        <p:txBody>
          <a:bodyPr wrap="square" lIns="0" tIns="0" rIns="0" bIns="0" anchor="t">
            <a:spAutoFit/>
          </a:bodyPr>
          <a:lstStyle/>
          <a:p>
            <a:pPr algn="l"/>
            <a:r>
              <a:rPr sz="850" b="0" i="1">
                <a:solidFill>
                  <a:srgbClr val="64748B"/>
                </a:solidFill>
                <a:latin typeface="Calibri"/>
              </a:rPr>
              <a:t>Without daily Ops contact, automation targets the wrong fires</a:t>
            </a:r>
          </a:p>
        </p:txBody>
      </p:sp>
      <p:sp>
        <p:nvSpPr>
          <p:cNvPr id="97" name="Oval 96"/>
          <p:cNvSpPr/>
          <p:nvPr/>
        </p:nvSpPr>
        <p:spPr>
          <a:xfrm>
            <a:off x="8249716" y="575157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8450884" y="5696712"/>
            <a:ext cx="3146450" cy="228600"/>
          </a:xfrm>
          <a:prstGeom prst="rect">
            <a:avLst/>
          </a:prstGeom>
          <a:noFill/>
        </p:spPr>
        <p:txBody>
          <a:bodyPr wrap="square" lIns="0" tIns="0" rIns="0" bIns="0" anchor="t">
            <a:spAutoFit/>
          </a:bodyPr>
          <a:lstStyle/>
          <a:p>
            <a:pPr algn="l"/>
            <a:r>
              <a:rPr sz="950" b="1" i="0">
                <a:solidFill>
                  <a:srgbClr val="1E293B"/>
                </a:solidFill>
                <a:latin typeface="Calibri"/>
              </a:rPr>
              <a:t>Automation misses what actually breaks</a:t>
            </a:r>
          </a:p>
        </p:txBody>
      </p:sp>
      <p:sp>
        <p:nvSpPr>
          <p:cNvPr id="99" name="TextBox 98"/>
          <p:cNvSpPr txBox="1"/>
          <p:nvPr/>
        </p:nvSpPr>
        <p:spPr>
          <a:xfrm>
            <a:off x="8450884" y="5916168"/>
            <a:ext cx="3146450" cy="274320"/>
          </a:xfrm>
          <a:prstGeom prst="rect">
            <a:avLst/>
          </a:prstGeom>
          <a:noFill/>
        </p:spPr>
        <p:txBody>
          <a:bodyPr wrap="square" lIns="0" tIns="0" rIns="0" bIns="0" anchor="t">
            <a:spAutoFit/>
          </a:bodyPr>
          <a:lstStyle/>
          <a:p>
            <a:pPr algn="l"/>
            <a:r>
              <a:rPr sz="850" b="0" i="1">
                <a:solidFill>
                  <a:srgbClr val="64748B"/>
                </a:solidFill>
                <a:latin typeface="Calibri"/>
              </a:rPr>
              <a:t>Agents prevent the easy 20% · the hard 80% keeps paging Ops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OPERATING MODEL EVOLUTION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How the Virtual Pod Removes the Handoffs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Same four teams. Same Zephyr capability. But now they share one backlog, one standup, and one definition of done — so the three seams from the previous slide simply do not exist.</a:t>
            </a:r>
          </a:p>
        </p:txBody>
      </p:sp>
      <p:sp>
        <p:nvSpPr>
          <p:cNvPr id="8" name="Rectangle 7"/>
          <p:cNvSpPr/>
          <p:nvPr/>
        </p:nvSpPr>
        <p:spPr>
          <a:xfrm>
            <a:off x="457200" y="1874519"/>
            <a:ext cx="11277295" cy="12801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74519"/>
            <a:ext cx="112772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2336" y="1819655"/>
            <a:ext cx="11387023" cy="138988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039112"/>
            <a:ext cx="10911535" cy="256032"/>
          </a:xfrm>
          <a:prstGeom prst="rect">
            <a:avLst/>
          </a:prstGeom>
          <a:noFill/>
        </p:spPr>
        <p:txBody>
          <a:bodyPr wrap="square" lIns="0" tIns="0" rIns="0" bIns="0" anchor="t">
            <a:spAutoFit/>
          </a:bodyPr>
          <a:lstStyle/>
          <a:p>
            <a:pPr algn="ctr"/>
            <a:r>
              <a:rPr sz="1050" b="1" i="0" spc="300">
                <a:solidFill>
                  <a:srgbClr val="FEDF01"/>
                </a:solidFill>
                <a:latin typeface="Calibri"/>
              </a:rPr>
              <a:t>VIRTUAL POD  ·  ONE TEAM  ·  ONE BACKLOG  ·  ONE DEFINITION OF DONE</a:t>
            </a:r>
          </a:p>
        </p:txBody>
      </p:sp>
      <p:sp>
        <p:nvSpPr>
          <p:cNvPr id="12" name="Rectangle 11"/>
          <p:cNvSpPr/>
          <p:nvPr/>
        </p:nvSpPr>
        <p:spPr>
          <a:xfrm>
            <a:off x="731520" y="2377439"/>
            <a:ext cx="2558719" cy="6400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450591"/>
            <a:ext cx="2467279" cy="274320"/>
          </a:xfrm>
          <a:prstGeom prst="rect">
            <a:avLst/>
          </a:prstGeom>
          <a:noFill/>
        </p:spPr>
        <p:txBody>
          <a:bodyPr wrap="square" lIns="0" tIns="0" rIns="0" bIns="0" anchor="t">
            <a:spAutoFit/>
          </a:bodyPr>
          <a:lstStyle/>
          <a:p>
            <a:pPr algn="ctr"/>
            <a:r>
              <a:rPr sz="1100" b="1" i="0">
                <a:solidFill>
                  <a:srgbClr val="001F5C"/>
                </a:solidFill>
                <a:latin typeface="Georgia"/>
              </a:rPr>
              <a:t>Architecture</a:t>
            </a:r>
          </a:p>
        </p:txBody>
      </p:sp>
      <p:sp>
        <p:nvSpPr>
          <p:cNvPr id="14" name="TextBox 13"/>
          <p:cNvSpPr txBox="1"/>
          <p:nvPr/>
        </p:nvSpPr>
        <p:spPr>
          <a:xfrm>
            <a:off x="777240" y="2724911"/>
            <a:ext cx="2467279" cy="274320"/>
          </a:xfrm>
          <a:prstGeom prst="rect">
            <a:avLst/>
          </a:prstGeom>
          <a:noFill/>
        </p:spPr>
        <p:txBody>
          <a:bodyPr wrap="square" lIns="0" tIns="0" rIns="0" bIns="0" anchor="t">
            <a:spAutoFit/>
          </a:bodyPr>
          <a:lstStyle/>
          <a:p>
            <a:pPr algn="ctr"/>
            <a:r>
              <a:rPr sz="850" b="0" i="1">
                <a:solidFill>
                  <a:srgbClr val="001F5C"/>
                </a:solidFill>
                <a:latin typeface="Calibri"/>
              </a:rPr>
              <a:t>designs WITH the team</a:t>
            </a:r>
          </a:p>
        </p:txBody>
      </p:sp>
      <p:sp>
        <p:nvSpPr>
          <p:cNvPr id="15" name="Rectangle 14"/>
          <p:cNvSpPr/>
          <p:nvPr/>
        </p:nvSpPr>
        <p:spPr>
          <a:xfrm>
            <a:off x="3454831" y="2377439"/>
            <a:ext cx="2558719" cy="6400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00551" y="2450591"/>
            <a:ext cx="2467279" cy="274320"/>
          </a:xfrm>
          <a:prstGeom prst="rect">
            <a:avLst/>
          </a:prstGeom>
          <a:noFill/>
        </p:spPr>
        <p:txBody>
          <a:bodyPr wrap="square" lIns="0" tIns="0" rIns="0" bIns="0" anchor="t">
            <a:spAutoFit/>
          </a:bodyPr>
          <a:lstStyle/>
          <a:p>
            <a:pPr algn="ctr"/>
            <a:r>
              <a:rPr sz="1100" b="1" i="0">
                <a:solidFill>
                  <a:srgbClr val="001F5C"/>
                </a:solidFill>
                <a:latin typeface="Georgia"/>
              </a:rPr>
              <a:t>Engineering</a:t>
            </a:r>
          </a:p>
        </p:txBody>
      </p:sp>
      <p:sp>
        <p:nvSpPr>
          <p:cNvPr id="17" name="TextBox 16"/>
          <p:cNvSpPr txBox="1"/>
          <p:nvPr/>
        </p:nvSpPr>
        <p:spPr>
          <a:xfrm>
            <a:off x="3500551" y="2724911"/>
            <a:ext cx="2467279" cy="274320"/>
          </a:xfrm>
          <a:prstGeom prst="rect">
            <a:avLst/>
          </a:prstGeom>
          <a:noFill/>
        </p:spPr>
        <p:txBody>
          <a:bodyPr wrap="square" lIns="0" tIns="0" rIns="0" bIns="0" anchor="t">
            <a:spAutoFit/>
          </a:bodyPr>
          <a:lstStyle/>
          <a:p>
            <a:pPr algn="ctr"/>
            <a:r>
              <a:rPr sz="850" b="0" i="1">
                <a:solidFill>
                  <a:srgbClr val="001F5C"/>
                </a:solidFill>
                <a:latin typeface="Calibri"/>
              </a:rPr>
              <a:t>IaC + tests in pod</a:t>
            </a:r>
          </a:p>
        </p:txBody>
      </p:sp>
      <p:sp>
        <p:nvSpPr>
          <p:cNvPr id="18" name="Rectangle 17"/>
          <p:cNvSpPr/>
          <p:nvPr/>
        </p:nvSpPr>
        <p:spPr>
          <a:xfrm>
            <a:off x="6178143" y="2377439"/>
            <a:ext cx="2558719" cy="6400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23863" y="2450591"/>
            <a:ext cx="2467279" cy="274320"/>
          </a:xfrm>
          <a:prstGeom prst="rect">
            <a:avLst/>
          </a:prstGeom>
          <a:noFill/>
        </p:spPr>
        <p:txBody>
          <a:bodyPr wrap="square" lIns="0" tIns="0" rIns="0" bIns="0" anchor="t">
            <a:spAutoFit/>
          </a:bodyPr>
          <a:lstStyle/>
          <a:p>
            <a:pPr algn="ctr"/>
            <a:r>
              <a:rPr sz="1100" b="1" i="0">
                <a:solidFill>
                  <a:srgbClr val="001F5C"/>
                </a:solidFill>
                <a:latin typeface="Georgia"/>
              </a:rPr>
              <a:t>Ops</a:t>
            </a:r>
          </a:p>
        </p:txBody>
      </p:sp>
      <p:sp>
        <p:nvSpPr>
          <p:cNvPr id="20" name="TextBox 19"/>
          <p:cNvSpPr txBox="1"/>
          <p:nvPr/>
        </p:nvSpPr>
        <p:spPr>
          <a:xfrm>
            <a:off x="6223863" y="2724911"/>
            <a:ext cx="2467279" cy="274320"/>
          </a:xfrm>
          <a:prstGeom prst="rect">
            <a:avLst/>
          </a:prstGeom>
          <a:noFill/>
        </p:spPr>
        <p:txBody>
          <a:bodyPr wrap="square" lIns="0" tIns="0" rIns="0" bIns="0" anchor="t">
            <a:spAutoFit/>
          </a:bodyPr>
          <a:lstStyle/>
          <a:p>
            <a:pPr algn="ctr"/>
            <a:r>
              <a:rPr sz="850" b="0" i="1">
                <a:solidFill>
                  <a:srgbClr val="001F5C"/>
                </a:solidFill>
                <a:latin typeface="Calibri"/>
              </a:rPr>
              <a:t>runbooks-as-code, day one</a:t>
            </a:r>
          </a:p>
        </p:txBody>
      </p:sp>
      <p:sp>
        <p:nvSpPr>
          <p:cNvPr id="21" name="Rectangle 20"/>
          <p:cNvSpPr/>
          <p:nvPr/>
        </p:nvSpPr>
        <p:spPr>
          <a:xfrm>
            <a:off x="8901455" y="2377439"/>
            <a:ext cx="2558719" cy="6400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47175" y="2450591"/>
            <a:ext cx="2467279" cy="274320"/>
          </a:xfrm>
          <a:prstGeom prst="rect">
            <a:avLst/>
          </a:prstGeom>
          <a:noFill/>
        </p:spPr>
        <p:txBody>
          <a:bodyPr wrap="square" lIns="0" tIns="0" rIns="0" bIns="0" anchor="t">
            <a:spAutoFit/>
          </a:bodyPr>
          <a:lstStyle/>
          <a:p>
            <a:pPr algn="ctr"/>
            <a:r>
              <a:rPr sz="1100" b="1" i="0">
                <a:solidFill>
                  <a:srgbClr val="001F5C"/>
                </a:solidFill>
                <a:latin typeface="Georgia"/>
              </a:rPr>
              <a:t>Intelligent Ops</a:t>
            </a:r>
          </a:p>
        </p:txBody>
      </p:sp>
      <p:sp>
        <p:nvSpPr>
          <p:cNvPr id="23" name="TextBox 22"/>
          <p:cNvSpPr txBox="1"/>
          <p:nvPr/>
        </p:nvSpPr>
        <p:spPr>
          <a:xfrm>
            <a:off x="8947175" y="2724911"/>
            <a:ext cx="2467279" cy="274320"/>
          </a:xfrm>
          <a:prstGeom prst="rect">
            <a:avLst/>
          </a:prstGeom>
          <a:noFill/>
        </p:spPr>
        <p:txBody>
          <a:bodyPr wrap="square" lIns="0" tIns="0" rIns="0" bIns="0" anchor="t">
            <a:spAutoFit/>
          </a:bodyPr>
          <a:lstStyle/>
          <a:p>
            <a:pPr algn="ctr"/>
            <a:r>
              <a:rPr sz="850" b="0" i="1">
                <a:solidFill>
                  <a:srgbClr val="001F5C"/>
                </a:solidFill>
                <a:latin typeface="Calibri"/>
              </a:rPr>
              <a:t>agents shipped WITH platform</a:t>
            </a:r>
          </a:p>
        </p:txBody>
      </p:sp>
      <p:sp>
        <p:nvSpPr>
          <p:cNvPr id="24" name="Oval 23"/>
          <p:cNvSpPr/>
          <p:nvPr/>
        </p:nvSpPr>
        <p:spPr>
          <a:xfrm>
            <a:off x="3226231" y="2551175"/>
            <a:ext cx="292608" cy="292608"/>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26231" y="2551175"/>
            <a:ext cx="292608" cy="292608"/>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26" name="Oval 25"/>
          <p:cNvSpPr/>
          <p:nvPr/>
        </p:nvSpPr>
        <p:spPr>
          <a:xfrm>
            <a:off x="5949543" y="2551175"/>
            <a:ext cx="292608" cy="292608"/>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9543" y="2551175"/>
            <a:ext cx="292608" cy="292608"/>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28" name="Oval 27"/>
          <p:cNvSpPr/>
          <p:nvPr/>
        </p:nvSpPr>
        <p:spPr>
          <a:xfrm>
            <a:off x="8672855" y="2551175"/>
            <a:ext cx="292608" cy="292608"/>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72855" y="2551175"/>
            <a:ext cx="292608" cy="292608"/>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30" name="TextBox 29"/>
          <p:cNvSpPr txBox="1"/>
          <p:nvPr/>
        </p:nvSpPr>
        <p:spPr>
          <a:xfrm>
            <a:off x="457200" y="3319272"/>
            <a:ext cx="11277295" cy="256032"/>
          </a:xfrm>
          <a:prstGeom prst="rect">
            <a:avLst/>
          </a:prstGeom>
          <a:noFill/>
        </p:spPr>
        <p:txBody>
          <a:bodyPr wrap="square" lIns="0" tIns="0" rIns="0" bIns="0" anchor="t">
            <a:spAutoFit/>
          </a:bodyPr>
          <a:lstStyle/>
          <a:p>
            <a:pPr algn="ctr"/>
            <a:r>
              <a:rPr sz="1100" b="1" i="1">
                <a:solidFill>
                  <a:srgbClr val="10B981"/>
                </a:solidFill>
                <a:latin typeface="Calibri"/>
              </a:rPr>
              <a:t>↑ The 3 handoff seams from slide 7 are gone. No queues. No re-interpretation. No retrofits.</a:t>
            </a:r>
          </a:p>
        </p:txBody>
      </p:sp>
      <p:sp>
        <p:nvSpPr>
          <p:cNvPr id="31" name="Rectangle 30"/>
          <p:cNvSpPr/>
          <p:nvPr/>
        </p:nvSpPr>
        <p:spPr>
          <a:xfrm>
            <a:off x="457200" y="3776472"/>
            <a:ext cx="2695879" cy="2240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3776472"/>
            <a:ext cx="91440" cy="22402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3776472"/>
            <a:ext cx="2695879"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5800" y="3959352"/>
            <a:ext cx="2330119" cy="228600"/>
          </a:xfrm>
          <a:prstGeom prst="rect">
            <a:avLst/>
          </a:prstGeom>
          <a:noFill/>
        </p:spPr>
        <p:txBody>
          <a:bodyPr wrap="square" lIns="0" tIns="0" rIns="0" bIns="0" anchor="t">
            <a:spAutoFit/>
          </a:bodyPr>
          <a:lstStyle/>
          <a:p>
            <a:pPr algn="l"/>
            <a:r>
              <a:rPr sz="900" b="1" i="0" spc="200">
                <a:solidFill>
                  <a:srgbClr val="10B981"/>
                </a:solidFill>
                <a:latin typeface="Calibri"/>
              </a:rPr>
              <a:t>SHARED CONTEXT</a:t>
            </a:r>
          </a:p>
        </p:txBody>
      </p:sp>
      <p:sp>
        <p:nvSpPr>
          <p:cNvPr id="35" name="TextBox 34"/>
          <p:cNvSpPr txBox="1"/>
          <p:nvPr/>
        </p:nvSpPr>
        <p:spPr>
          <a:xfrm>
            <a:off x="685800" y="4233672"/>
            <a:ext cx="2330119" cy="640080"/>
          </a:xfrm>
          <a:prstGeom prst="rect">
            <a:avLst/>
          </a:prstGeom>
          <a:noFill/>
        </p:spPr>
        <p:txBody>
          <a:bodyPr wrap="square" lIns="0" tIns="0" rIns="0" bIns="0" anchor="t">
            <a:spAutoFit/>
          </a:bodyPr>
          <a:lstStyle/>
          <a:p>
            <a:pPr algn="l"/>
            <a:r>
              <a:rPr sz="1300" b="1" i="0">
                <a:solidFill>
                  <a:srgbClr val="001F5C"/>
                </a:solidFill>
                <a:latin typeface="Georgia"/>
              </a:rPr>
              <a:t>Decisions made once, not relayed</a:t>
            </a:r>
          </a:p>
        </p:txBody>
      </p:sp>
      <p:sp>
        <p:nvSpPr>
          <p:cNvPr id="36" name="Rectangle 35"/>
          <p:cNvSpPr/>
          <p:nvPr/>
        </p:nvSpPr>
        <p:spPr>
          <a:xfrm>
            <a:off x="685800" y="4919472"/>
            <a:ext cx="2238679"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5800" y="5056631"/>
            <a:ext cx="2330119" cy="868680"/>
          </a:xfrm>
          <a:prstGeom prst="rect">
            <a:avLst/>
          </a:prstGeom>
          <a:noFill/>
        </p:spPr>
        <p:txBody>
          <a:bodyPr wrap="square" lIns="0" tIns="0" rIns="0" bIns="0" anchor="t">
            <a:spAutoFit/>
          </a:bodyPr>
          <a:lstStyle/>
          <a:p>
            <a:pPr algn="l"/>
            <a:r>
              <a:rPr sz="1000" b="0" i="0">
                <a:solidFill>
                  <a:srgbClr val="1E293B"/>
                </a:solidFill>
                <a:latin typeface="Calibri"/>
              </a:rPr>
              <a:t>Architects + Engineers + Ops at the same standup. Design intent doesn't degrade across teams. Trade-offs surface in hours, not weeks.</a:t>
            </a:r>
          </a:p>
        </p:txBody>
      </p:sp>
      <p:sp>
        <p:nvSpPr>
          <p:cNvPr id="38" name="Rectangle 37"/>
          <p:cNvSpPr/>
          <p:nvPr/>
        </p:nvSpPr>
        <p:spPr>
          <a:xfrm>
            <a:off x="3317671" y="3776472"/>
            <a:ext cx="2695879" cy="2240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317671" y="3776472"/>
            <a:ext cx="91440" cy="22402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317671" y="3776472"/>
            <a:ext cx="2695879"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546271" y="3959352"/>
            <a:ext cx="2330119" cy="228600"/>
          </a:xfrm>
          <a:prstGeom prst="rect">
            <a:avLst/>
          </a:prstGeom>
          <a:noFill/>
        </p:spPr>
        <p:txBody>
          <a:bodyPr wrap="square" lIns="0" tIns="0" rIns="0" bIns="0" anchor="t">
            <a:spAutoFit/>
          </a:bodyPr>
          <a:lstStyle/>
          <a:p>
            <a:pPr algn="l"/>
            <a:r>
              <a:rPr sz="900" b="1" i="0" spc="200">
                <a:solidFill>
                  <a:srgbClr val="10B981"/>
                </a:solidFill>
                <a:latin typeface="Calibri"/>
              </a:rPr>
              <a:t>PARALLEL WORK</a:t>
            </a:r>
          </a:p>
        </p:txBody>
      </p:sp>
      <p:sp>
        <p:nvSpPr>
          <p:cNvPr id="42" name="TextBox 41"/>
          <p:cNvSpPr txBox="1"/>
          <p:nvPr/>
        </p:nvSpPr>
        <p:spPr>
          <a:xfrm>
            <a:off x="3546271" y="4233672"/>
            <a:ext cx="2330119" cy="640080"/>
          </a:xfrm>
          <a:prstGeom prst="rect">
            <a:avLst/>
          </a:prstGeom>
          <a:noFill/>
        </p:spPr>
        <p:txBody>
          <a:bodyPr wrap="square" lIns="0" tIns="0" rIns="0" bIns="0" anchor="t">
            <a:spAutoFit/>
          </a:bodyPr>
          <a:lstStyle/>
          <a:p>
            <a:pPr algn="l"/>
            <a:r>
              <a:rPr sz="1300" b="1" i="0">
                <a:solidFill>
                  <a:srgbClr val="001F5C"/>
                </a:solidFill>
                <a:latin typeface="Georgia"/>
              </a:rPr>
              <a:t>Roles ship at the same time</a:t>
            </a:r>
          </a:p>
        </p:txBody>
      </p:sp>
      <p:sp>
        <p:nvSpPr>
          <p:cNvPr id="43" name="Rectangle 42"/>
          <p:cNvSpPr/>
          <p:nvPr/>
        </p:nvSpPr>
        <p:spPr>
          <a:xfrm>
            <a:off x="3546271" y="4919472"/>
            <a:ext cx="2238679"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546271" y="5056631"/>
            <a:ext cx="2330119" cy="868680"/>
          </a:xfrm>
          <a:prstGeom prst="rect">
            <a:avLst/>
          </a:prstGeom>
          <a:noFill/>
        </p:spPr>
        <p:txBody>
          <a:bodyPr wrap="square" lIns="0" tIns="0" rIns="0" bIns="0" anchor="t">
            <a:spAutoFit/>
          </a:bodyPr>
          <a:lstStyle/>
          <a:p>
            <a:pPr algn="l"/>
            <a:r>
              <a:rPr sz="1000" b="0" i="0">
                <a:solidFill>
                  <a:srgbClr val="1E293B"/>
                </a:solidFill>
                <a:latin typeface="Calibri"/>
              </a:rPr>
              <a:t>Runbooks, agents, and controls are built alongside the platform — not bolted on after. GA is one event, not four sequential ones.</a:t>
            </a:r>
          </a:p>
        </p:txBody>
      </p:sp>
      <p:sp>
        <p:nvSpPr>
          <p:cNvPr id="45" name="Rectangle 44"/>
          <p:cNvSpPr/>
          <p:nvPr/>
        </p:nvSpPr>
        <p:spPr>
          <a:xfrm>
            <a:off x="6178143" y="3776472"/>
            <a:ext cx="2695879" cy="2240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178143" y="3776472"/>
            <a:ext cx="91440" cy="22402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78143" y="3776472"/>
            <a:ext cx="2695879"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6743" y="3959352"/>
            <a:ext cx="2330119" cy="228600"/>
          </a:xfrm>
          <a:prstGeom prst="rect">
            <a:avLst/>
          </a:prstGeom>
          <a:noFill/>
        </p:spPr>
        <p:txBody>
          <a:bodyPr wrap="square" lIns="0" tIns="0" rIns="0" bIns="0" anchor="t">
            <a:spAutoFit/>
          </a:bodyPr>
          <a:lstStyle/>
          <a:p>
            <a:pPr algn="l"/>
            <a:r>
              <a:rPr sz="900" b="1" i="0" spc="200">
                <a:solidFill>
                  <a:srgbClr val="10B981"/>
                </a:solidFill>
                <a:latin typeface="Calibri"/>
              </a:rPr>
              <a:t>OPS UPLIFT</a:t>
            </a:r>
          </a:p>
        </p:txBody>
      </p:sp>
      <p:sp>
        <p:nvSpPr>
          <p:cNvPr id="49" name="TextBox 48"/>
          <p:cNvSpPr txBox="1"/>
          <p:nvPr/>
        </p:nvSpPr>
        <p:spPr>
          <a:xfrm>
            <a:off x="6406743" y="4233672"/>
            <a:ext cx="2330119" cy="640080"/>
          </a:xfrm>
          <a:prstGeom prst="rect">
            <a:avLst/>
          </a:prstGeom>
          <a:noFill/>
        </p:spPr>
        <p:txBody>
          <a:bodyPr wrap="square" lIns="0" tIns="0" rIns="0" bIns="0" anchor="t">
            <a:spAutoFit/>
          </a:bodyPr>
          <a:lstStyle/>
          <a:p>
            <a:pPr algn="l"/>
            <a:r>
              <a:rPr sz="1300" b="1" i="0">
                <a:solidFill>
                  <a:srgbClr val="001F5C"/>
                </a:solidFill>
                <a:latin typeface="Georgia"/>
              </a:rPr>
              <a:t>Ops keeps on-call · gains capacity</a:t>
            </a:r>
          </a:p>
        </p:txBody>
      </p:sp>
      <p:sp>
        <p:nvSpPr>
          <p:cNvPr id="50" name="Rectangle 49"/>
          <p:cNvSpPr/>
          <p:nvPr/>
        </p:nvSpPr>
        <p:spPr>
          <a:xfrm>
            <a:off x="6406743" y="4919472"/>
            <a:ext cx="2238679"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06743" y="5056631"/>
            <a:ext cx="2330119" cy="868680"/>
          </a:xfrm>
          <a:prstGeom prst="rect">
            <a:avLst/>
          </a:prstGeom>
          <a:noFill/>
        </p:spPr>
        <p:txBody>
          <a:bodyPr wrap="square" lIns="0" tIns="0" rIns="0" bIns="0" anchor="t">
            <a:spAutoFit/>
          </a:bodyPr>
          <a:lstStyle/>
          <a:p>
            <a:pPr algn="l"/>
            <a:r>
              <a:rPr sz="1000" b="0" i="0">
                <a:solidFill>
                  <a:srgbClr val="1E293B"/>
                </a:solidFill>
                <a:latin typeface="Calibri"/>
              </a:rPr>
              <a:t>Ops still owns the pager. But incidents resolve via IaC and agents — so paging drops, and Ops time shifts toward building the next IaC module and the next agent. Same role, bigger surface.</a:t>
            </a:r>
          </a:p>
        </p:txBody>
      </p:sp>
      <p:sp>
        <p:nvSpPr>
          <p:cNvPr id="52" name="Rectangle 51"/>
          <p:cNvSpPr/>
          <p:nvPr/>
        </p:nvSpPr>
        <p:spPr>
          <a:xfrm>
            <a:off x="9038615" y="3776472"/>
            <a:ext cx="2695879" cy="2240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038615" y="3776472"/>
            <a:ext cx="91440" cy="22402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038615" y="3776472"/>
            <a:ext cx="2695879"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267215" y="3959352"/>
            <a:ext cx="2330119" cy="228600"/>
          </a:xfrm>
          <a:prstGeom prst="rect">
            <a:avLst/>
          </a:prstGeom>
          <a:noFill/>
        </p:spPr>
        <p:txBody>
          <a:bodyPr wrap="square" lIns="0" tIns="0" rIns="0" bIns="0" anchor="t">
            <a:spAutoFit/>
          </a:bodyPr>
          <a:lstStyle/>
          <a:p>
            <a:pPr algn="l"/>
            <a:r>
              <a:rPr sz="900" b="1" i="0" spc="200">
                <a:solidFill>
                  <a:srgbClr val="10B981"/>
                </a:solidFill>
                <a:latin typeface="Calibri"/>
              </a:rPr>
              <a:t>COMMON GOAL</a:t>
            </a:r>
          </a:p>
        </p:txBody>
      </p:sp>
      <p:sp>
        <p:nvSpPr>
          <p:cNvPr id="56" name="TextBox 55"/>
          <p:cNvSpPr txBox="1"/>
          <p:nvPr/>
        </p:nvSpPr>
        <p:spPr>
          <a:xfrm>
            <a:off x="9267215" y="4233672"/>
            <a:ext cx="2330119" cy="640080"/>
          </a:xfrm>
          <a:prstGeom prst="rect">
            <a:avLst/>
          </a:prstGeom>
          <a:noFill/>
        </p:spPr>
        <p:txBody>
          <a:bodyPr wrap="square" lIns="0" tIns="0" rIns="0" bIns="0" anchor="t">
            <a:spAutoFit/>
          </a:bodyPr>
          <a:lstStyle/>
          <a:p>
            <a:pPr algn="l"/>
            <a:r>
              <a:rPr sz="1300" b="1" i="0">
                <a:solidFill>
                  <a:srgbClr val="001F5C"/>
                </a:solidFill>
                <a:latin typeface="Georgia"/>
              </a:rPr>
              <a:t>One OKR, one SLO, one finish line</a:t>
            </a:r>
          </a:p>
        </p:txBody>
      </p:sp>
      <p:sp>
        <p:nvSpPr>
          <p:cNvPr id="57" name="Rectangle 56"/>
          <p:cNvSpPr/>
          <p:nvPr/>
        </p:nvSpPr>
        <p:spPr>
          <a:xfrm>
            <a:off x="9267215" y="4919472"/>
            <a:ext cx="2238679"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267215" y="5056631"/>
            <a:ext cx="2330119" cy="868680"/>
          </a:xfrm>
          <a:prstGeom prst="rect">
            <a:avLst/>
          </a:prstGeom>
          <a:noFill/>
        </p:spPr>
        <p:txBody>
          <a:bodyPr wrap="square" lIns="0" tIns="0" rIns="0" bIns="0" anchor="t">
            <a:spAutoFit/>
          </a:bodyPr>
          <a:lstStyle/>
          <a:p>
            <a:pPr algn="l"/>
            <a:r>
              <a:rPr sz="1000" b="0" i="0">
                <a:solidFill>
                  <a:srgbClr val="1E293B"/>
                </a:solidFill>
                <a:latin typeface="Calibri"/>
              </a:rPr>
              <a:t>Every role is accountable to the same platform outcomes. Success is shared. Failure is shared. No "we shipped our piece" handwaves.</a:t>
            </a:r>
          </a:p>
        </p:txBody>
      </p:sp>
      <p:sp>
        <p:nvSpPr>
          <p:cNvPr id="59" name="Rectangle 58"/>
          <p:cNvSpPr/>
          <p:nvPr/>
        </p:nvSpPr>
        <p:spPr>
          <a:xfrm>
            <a:off x="457200" y="6153912"/>
            <a:ext cx="11277295" cy="41148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85800" y="6153912"/>
            <a:ext cx="10820095" cy="411480"/>
          </a:xfrm>
          <a:prstGeom prst="rect">
            <a:avLst/>
          </a:prstGeom>
          <a:noFill/>
        </p:spPr>
        <p:txBody>
          <a:bodyPr wrap="square" lIns="0" tIns="0" rIns="0" bIns="0" anchor="ctr">
            <a:spAutoFit/>
          </a:bodyPr>
          <a:lstStyle/>
          <a:p>
            <a:pPr algn="l"/>
            <a:r>
              <a:rPr sz="1100" b="1" spc="200">
                <a:solidFill>
                  <a:srgbClr val="001F5C"/>
                </a:solidFill>
                <a:latin typeface="Calibri"/>
              </a:rPr>
              <a:t>NET RESULT:  </a:t>
            </a:r>
            <a:r>
              <a:rPr sz="1200" b="1" i="1">
                <a:solidFill>
                  <a:srgbClr val="1E293B"/>
                </a:solidFill>
                <a:latin typeface="Calibri"/>
              </a:rPr>
              <a:t>Faster delivery, fewer rebuilds, cleaner audits — because the work was done together the first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WORKED EXAMPLE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SQL Server Through the Five Stages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11480"/>
          </a:xfrm>
          <a:prstGeom prst="rect">
            <a:avLst/>
          </a:prstGeom>
          <a:noFill/>
        </p:spPr>
        <p:txBody>
          <a:bodyPr wrap="square" lIns="0" tIns="0" rIns="0" bIns="0" anchor="t">
            <a:spAutoFit/>
          </a:bodyPr>
          <a:lstStyle/>
          <a:p>
            <a:pPr algn="l"/>
            <a:r>
              <a:rPr sz="1200" b="0" i="1">
                <a:solidFill>
                  <a:srgbClr val="64748B"/>
                </a:solidFill>
                <a:latin typeface="Calibri"/>
              </a:rPr>
              <a:t>How SQL Server is delivered at each evolution stage. Same three umbrella groups — Distributed, Centralized, Horizontal — each with its own internal progression.</a:t>
            </a:r>
          </a:p>
        </p:txBody>
      </p:sp>
      <p:sp>
        <p:nvSpPr>
          <p:cNvPr id="8" name="Rectangle 7"/>
          <p:cNvSpPr/>
          <p:nvPr/>
        </p:nvSpPr>
        <p:spPr>
          <a:xfrm>
            <a:off x="274320" y="1783080"/>
            <a:ext cx="2248143" cy="64008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783080"/>
            <a:ext cx="224814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1</a:t>
            </a:r>
          </a:p>
        </p:txBody>
      </p:sp>
      <p:sp>
        <p:nvSpPr>
          <p:cNvPr id="12" name="TextBox 11"/>
          <p:cNvSpPr txBox="1"/>
          <p:nvPr/>
        </p:nvSpPr>
        <p:spPr>
          <a:xfrm>
            <a:off x="914400" y="1947672"/>
            <a:ext cx="1516623" cy="292608"/>
          </a:xfrm>
          <a:prstGeom prst="rect">
            <a:avLst/>
          </a:prstGeom>
          <a:noFill/>
        </p:spPr>
        <p:txBody>
          <a:bodyPr wrap="square" lIns="0" tIns="0" rIns="0" bIns="0" anchor="ctr">
            <a:spAutoFit/>
          </a:bodyPr>
          <a:lstStyle/>
          <a:p>
            <a:pPr algn="l"/>
            <a:r>
              <a:rPr sz="1700" b="1" i="0">
                <a:solidFill>
                  <a:srgbClr val="FFFFFF"/>
                </a:solidFill>
                <a:latin typeface="Georgia"/>
              </a:rPr>
              <a:t>Distributed</a:t>
            </a:r>
          </a:p>
        </p:txBody>
      </p:sp>
      <p:sp>
        <p:nvSpPr>
          <p:cNvPr id="13" name="TextBox 12"/>
          <p:cNvSpPr txBox="1"/>
          <p:nvPr/>
        </p:nvSpPr>
        <p:spPr>
          <a:xfrm>
            <a:off x="914400" y="2194560"/>
            <a:ext cx="1516623" cy="201168"/>
          </a:xfrm>
          <a:prstGeom prst="rect">
            <a:avLst/>
          </a:prstGeom>
          <a:noFill/>
        </p:spPr>
        <p:txBody>
          <a:bodyPr wrap="square" lIns="0" tIns="0" rIns="0" bIns="0" anchor="ctr">
            <a:spAutoFit/>
          </a:bodyPr>
          <a:lstStyle/>
          <a:p>
            <a:pPr algn="l"/>
            <a:r>
              <a:rPr sz="1000" b="0" i="1">
                <a:solidFill>
                  <a:srgbClr val="C9D6EE"/>
                </a:solidFill>
                <a:latin typeface="Calibri"/>
              </a:rPr>
              <a:t>Engineering Embedded in Ops</a:t>
            </a:r>
          </a:p>
        </p:txBody>
      </p:sp>
      <p:sp>
        <p:nvSpPr>
          <p:cNvPr id="14" name="Rectangle 13"/>
          <p:cNvSpPr/>
          <p:nvPr/>
        </p:nvSpPr>
        <p:spPr>
          <a:xfrm>
            <a:off x="274320"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65760"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17" name="TextBox 16"/>
          <p:cNvSpPr txBox="1"/>
          <p:nvPr/>
        </p:nvSpPr>
        <p:spPr>
          <a:xfrm>
            <a:off x="658368" y="2496312"/>
            <a:ext cx="1790943" cy="320040"/>
          </a:xfrm>
          <a:prstGeom prst="rect">
            <a:avLst/>
          </a:prstGeom>
          <a:noFill/>
        </p:spPr>
        <p:txBody>
          <a:bodyPr wrap="square" lIns="0" tIns="0" rIns="0" bIns="0" anchor="ctr">
            <a:spAutoFit/>
          </a:bodyPr>
          <a:lstStyle/>
          <a:p>
            <a:pPr algn="l"/>
            <a:r>
              <a:rPr sz="850" b="0" i="1" spc="100">
                <a:solidFill>
                  <a:srgbClr val="64748B"/>
                </a:solidFill>
                <a:latin typeface="Calibri"/>
              </a:rPr>
              <a:t>Legacy Pockets</a:t>
            </a:r>
          </a:p>
        </p:txBody>
      </p:sp>
      <p:sp>
        <p:nvSpPr>
          <p:cNvPr id="18" name="Rectangle 17"/>
          <p:cNvSpPr/>
          <p:nvPr/>
        </p:nvSpPr>
        <p:spPr>
          <a:xfrm>
            <a:off x="274320"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79"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20" name="TextBox 19"/>
          <p:cNvSpPr txBox="1"/>
          <p:nvPr/>
        </p:nvSpPr>
        <p:spPr>
          <a:xfrm>
            <a:off x="411479"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DBA embedded in each app team</a:t>
            </a:r>
          </a:p>
        </p:txBody>
      </p:sp>
      <p:sp>
        <p:nvSpPr>
          <p:cNvPr id="21" name="TextBox 20"/>
          <p:cNvSpPr txBox="1"/>
          <p:nvPr/>
        </p:nvSpPr>
        <p:spPr>
          <a:xfrm>
            <a:off x="411479"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22" name="TextBox 21"/>
          <p:cNvSpPr txBox="1"/>
          <p:nvPr/>
        </p:nvSpPr>
        <p:spPr>
          <a:xfrm>
            <a:off x="438912" y="3822191"/>
            <a:ext cx="1928103" cy="1965960"/>
          </a:xfrm>
          <a:prstGeom prst="rect">
            <a:avLst/>
          </a:prstGeom>
          <a:noFill/>
        </p:spPr>
        <p:txBody>
          <a:bodyPr wrap="square" lIns="0" tIns="0" rIns="0" bIns="0">
            <a:spAutoFit/>
          </a:bodyPr>
          <a:lstStyle/>
          <a:p>
            <a:pPr algn="l"/>
            <a:r>
              <a:rPr sz="950">
                <a:solidFill>
                  <a:srgbClr val="1E293B"/>
                </a:solidFill>
                <a:latin typeface="Calibri"/>
              </a:rPr>
              <a:t>• Manual scripts per team</a:t>
            </a:r>
          </a:p>
          <a:p>
            <a:pPr algn="l"/>
            <a:r>
              <a:rPr sz="950">
                <a:solidFill>
                  <a:srgbClr val="1E293B"/>
                </a:solidFill>
                <a:latin typeface="Calibri"/>
              </a:rPr>
              <a:t>• No central standards</a:t>
            </a:r>
          </a:p>
          <a:p>
            <a:pPr algn="l"/>
            <a:r>
              <a:rPr sz="950">
                <a:solidFill>
                  <a:srgbClr val="1E293B"/>
                </a:solidFill>
                <a:latin typeface="Calibri"/>
              </a:rPr>
              <a:t>• Version sprawl across apps</a:t>
            </a:r>
          </a:p>
          <a:p>
            <a:pPr algn="l"/>
            <a:r>
              <a:rPr sz="950">
                <a:solidFill>
                  <a:srgbClr val="1E293B"/>
                </a:solidFill>
                <a:latin typeface="Calibri"/>
              </a:rPr>
              <a:t>• Each team patches differently</a:t>
            </a:r>
          </a:p>
        </p:txBody>
      </p:sp>
      <p:sp>
        <p:nvSpPr>
          <p:cNvPr id="23" name="Rectangle 22"/>
          <p:cNvSpPr/>
          <p:nvPr/>
        </p:nvSpPr>
        <p:spPr>
          <a:xfrm>
            <a:off x="310896" y="5897880"/>
            <a:ext cx="2174991" cy="365760"/>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0896" y="5897880"/>
            <a:ext cx="2174991" cy="365760"/>
          </a:xfrm>
          <a:prstGeom prst="rect">
            <a:avLst/>
          </a:prstGeom>
          <a:noFill/>
        </p:spPr>
        <p:txBody>
          <a:bodyPr wrap="square" lIns="0" tIns="0" rIns="0" bIns="0" anchor="ctr">
            <a:spAutoFit/>
          </a:bodyPr>
          <a:lstStyle/>
          <a:p>
            <a:pPr algn="ctr"/>
            <a:r>
              <a:rPr sz="900" b="1" i="0">
                <a:solidFill>
                  <a:srgbClr val="1E293B"/>
                </a:solidFill>
                <a:latin typeface="Calibri"/>
              </a:rPr>
              <a:t>Inconsistent · No leverage</a:t>
            </a:r>
          </a:p>
        </p:txBody>
      </p:sp>
      <p:sp>
        <p:nvSpPr>
          <p:cNvPr id="25" name="Rectangle 24"/>
          <p:cNvSpPr/>
          <p:nvPr/>
        </p:nvSpPr>
        <p:spPr>
          <a:xfrm>
            <a:off x="2687055" y="1783080"/>
            <a:ext cx="4532863" cy="64008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687055" y="1783080"/>
            <a:ext cx="453286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51647"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51647"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2</a:t>
            </a:r>
          </a:p>
        </p:txBody>
      </p:sp>
      <p:sp>
        <p:nvSpPr>
          <p:cNvPr id="29" name="TextBox 28"/>
          <p:cNvSpPr txBox="1"/>
          <p:nvPr/>
        </p:nvSpPr>
        <p:spPr>
          <a:xfrm>
            <a:off x="3327135" y="1947672"/>
            <a:ext cx="3801343" cy="292608"/>
          </a:xfrm>
          <a:prstGeom prst="rect">
            <a:avLst/>
          </a:prstGeom>
          <a:noFill/>
        </p:spPr>
        <p:txBody>
          <a:bodyPr wrap="square" lIns="0" tIns="0" rIns="0" bIns="0" anchor="ctr">
            <a:spAutoFit/>
          </a:bodyPr>
          <a:lstStyle/>
          <a:p>
            <a:pPr algn="l"/>
            <a:r>
              <a:rPr sz="1700" b="1" i="0">
                <a:solidFill>
                  <a:srgbClr val="FFFFFF"/>
                </a:solidFill>
                <a:latin typeface="Georgia"/>
              </a:rPr>
              <a:t>Centralized Vertical</a:t>
            </a:r>
          </a:p>
        </p:txBody>
      </p:sp>
      <p:sp>
        <p:nvSpPr>
          <p:cNvPr id="30" name="TextBox 29"/>
          <p:cNvSpPr txBox="1"/>
          <p:nvPr/>
        </p:nvSpPr>
        <p:spPr>
          <a:xfrm>
            <a:off x="3327135" y="2194560"/>
            <a:ext cx="3801343" cy="201168"/>
          </a:xfrm>
          <a:prstGeom prst="rect">
            <a:avLst/>
          </a:prstGeom>
          <a:noFill/>
        </p:spPr>
        <p:txBody>
          <a:bodyPr wrap="square" lIns="0" tIns="0" rIns="0" bIns="0" anchor="ctr">
            <a:spAutoFit/>
          </a:bodyPr>
          <a:lstStyle/>
          <a:p>
            <a:pPr algn="l"/>
            <a:r>
              <a:rPr sz="1000" b="0" i="1">
                <a:solidFill>
                  <a:srgbClr val="C9D6EE"/>
                </a:solidFill>
                <a:latin typeface="Calibri"/>
              </a:rPr>
              <a:t>Architecture &amp; Engineering Centralized</a:t>
            </a:r>
          </a:p>
        </p:txBody>
      </p:sp>
      <p:sp>
        <p:nvSpPr>
          <p:cNvPr id="31" name="Rectangle 30"/>
          <p:cNvSpPr/>
          <p:nvPr/>
        </p:nvSpPr>
        <p:spPr>
          <a:xfrm>
            <a:off x="2687055"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778495"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78495"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2a</a:t>
            </a:r>
          </a:p>
        </p:txBody>
      </p:sp>
      <p:sp>
        <p:nvSpPr>
          <p:cNvPr id="34" name="TextBox 33"/>
          <p:cNvSpPr txBox="1"/>
          <p:nvPr/>
        </p:nvSpPr>
        <p:spPr>
          <a:xfrm>
            <a:off x="3071103" y="2496312"/>
            <a:ext cx="1790943" cy="320040"/>
          </a:xfrm>
          <a:prstGeom prst="rect">
            <a:avLst/>
          </a:prstGeom>
          <a:noFill/>
        </p:spPr>
        <p:txBody>
          <a:bodyPr wrap="square" lIns="0" tIns="0" rIns="0" bIns="0" anchor="ctr">
            <a:spAutoFit/>
          </a:bodyPr>
          <a:lstStyle/>
          <a:p>
            <a:pPr algn="l"/>
            <a:r>
              <a:rPr sz="850" b="0" i="1" spc="100">
                <a:solidFill>
                  <a:srgbClr val="64748B"/>
                </a:solidFill>
                <a:latin typeface="Calibri"/>
              </a:rPr>
              <a:t>Old Way — Pre-2020</a:t>
            </a:r>
          </a:p>
        </p:txBody>
      </p:sp>
      <p:sp>
        <p:nvSpPr>
          <p:cNvPr id="35" name="Rectangle 34"/>
          <p:cNvSpPr/>
          <p:nvPr/>
        </p:nvSpPr>
        <p:spPr>
          <a:xfrm>
            <a:off x="2687055"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824215"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37" name="TextBox 36"/>
          <p:cNvSpPr txBox="1"/>
          <p:nvPr/>
        </p:nvSpPr>
        <p:spPr>
          <a:xfrm>
            <a:off x="2824215"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Central DBA team + tickets</a:t>
            </a:r>
          </a:p>
        </p:txBody>
      </p:sp>
      <p:sp>
        <p:nvSpPr>
          <p:cNvPr id="38" name="TextBox 37"/>
          <p:cNvSpPr txBox="1"/>
          <p:nvPr/>
        </p:nvSpPr>
        <p:spPr>
          <a:xfrm>
            <a:off x="2824215"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39" name="TextBox 38"/>
          <p:cNvSpPr txBox="1"/>
          <p:nvPr/>
        </p:nvSpPr>
        <p:spPr>
          <a:xfrm>
            <a:off x="2851647" y="3822191"/>
            <a:ext cx="1928103" cy="1965960"/>
          </a:xfrm>
          <a:prstGeom prst="rect">
            <a:avLst/>
          </a:prstGeom>
          <a:noFill/>
        </p:spPr>
        <p:txBody>
          <a:bodyPr wrap="square" lIns="0" tIns="0" rIns="0" bIns="0">
            <a:spAutoFit/>
          </a:bodyPr>
          <a:lstStyle/>
          <a:p>
            <a:pPr algn="l"/>
            <a:r>
              <a:rPr sz="950">
                <a:solidFill>
                  <a:srgbClr val="1E293B"/>
                </a:solidFill>
                <a:latin typeface="Calibri"/>
              </a:rPr>
              <a:t>• Architecture reviews design</a:t>
            </a:r>
          </a:p>
          <a:p>
            <a:pPr algn="l"/>
            <a:r>
              <a:rPr sz="950">
                <a:solidFill>
                  <a:srgbClr val="1E293B"/>
                </a:solidFill>
                <a:latin typeface="Calibri"/>
              </a:rPr>
              <a:t>• DBA installs &amp; maintains</a:t>
            </a:r>
          </a:p>
          <a:p>
            <a:pPr algn="l"/>
            <a:r>
              <a:rPr sz="950">
                <a:solidFill>
                  <a:srgbClr val="1E293B"/>
                </a:solidFill>
                <a:latin typeface="Calibri"/>
              </a:rPr>
              <a:t>• Ops monitors, opens tickets</a:t>
            </a:r>
          </a:p>
          <a:p>
            <a:pPr algn="l"/>
            <a:r>
              <a:rPr sz="950">
                <a:solidFill>
                  <a:srgbClr val="1E293B"/>
                </a:solidFill>
                <a:latin typeface="Calibri"/>
              </a:rPr>
              <a:t>• Word docs &amp; runbooks</a:t>
            </a:r>
          </a:p>
        </p:txBody>
      </p:sp>
      <p:sp>
        <p:nvSpPr>
          <p:cNvPr id="40" name="Rectangle 39"/>
          <p:cNvSpPr/>
          <p:nvPr/>
        </p:nvSpPr>
        <p:spPr>
          <a:xfrm>
            <a:off x="2723631" y="5897880"/>
            <a:ext cx="2174991" cy="365760"/>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723631" y="5897880"/>
            <a:ext cx="2174991" cy="365760"/>
          </a:xfrm>
          <a:prstGeom prst="rect">
            <a:avLst/>
          </a:prstGeom>
          <a:noFill/>
        </p:spPr>
        <p:txBody>
          <a:bodyPr wrap="square" lIns="0" tIns="0" rIns="0" bIns="0" anchor="ctr">
            <a:spAutoFit/>
          </a:bodyPr>
          <a:lstStyle/>
          <a:p>
            <a:pPr algn="ctr"/>
            <a:r>
              <a:rPr sz="900" b="1" i="0">
                <a:solidFill>
                  <a:srgbClr val="1E293B"/>
                </a:solidFill>
                <a:latin typeface="Calibri"/>
              </a:rPr>
              <a:t>6-week request lead time</a:t>
            </a:r>
          </a:p>
        </p:txBody>
      </p:sp>
      <p:sp>
        <p:nvSpPr>
          <p:cNvPr id="42" name="Rectangle 41"/>
          <p:cNvSpPr/>
          <p:nvPr/>
        </p:nvSpPr>
        <p:spPr>
          <a:xfrm>
            <a:off x="4971775"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063215"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63215"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2b</a:t>
            </a:r>
          </a:p>
        </p:txBody>
      </p:sp>
      <p:sp>
        <p:nvSpPr>
          <p:cNvPr id="45" name="TextBox 44"/>
          <p:cNvSpPr txBox="1"/>
          <p:nvPr/>
        </p:nvSpPr>
        <p:spPr>
          <a:xfrm>
            <a:off x="5355823"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IaC + AI Way — WE ARE HERE</a:t>
            </a:r>
          </a:p>
        </p:txBody>
      </p:sp>
      <p:sp>
        <p:nvSpPr>
          <p:cNvPr id="46" name="Rectangle 45"/>
          <p:cNvSpPr/>
          <p:nvPr/>
        </p:nvSpPr>
        <p:spPr>
          <a:xfrm>
            <a:off x="4971775"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108935"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48" name="TextBox 47"/>
          <p:cNvSpPr txBox="1"/>
          <p:nvPr/>
        </p:nvSpPr>
        <p:spPr>
          <a:xfrm>
            <a:off x="5108935"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Central DBA + Zephyr IaC</a:t>
            </a:r>
          </a:p>
        </p:txBody>
      </p:sp>
      <p:sp>
        <p:nvSpPr>
          <p:cNvPr id="49" name="TextBox 48"/>
          <p:cNvSpPr txBox="1"/>
          <p:nvPr/>
        </p:nvSpPr>
        <p:spPr>
          <a:xfrm>
            <a:off x="5108935"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50" name="TextBox 49"/>
          <p:cNvSpPr txBox="1"/>
          <p:nvPr/>
        </p:nvSpPr>
        <p:spPr>
          <a:xfrm>
            <a:off x="5136367" y="3822191"/>
            <a:ext cx="1928103" cy="1965960"/>
          </a:xfrm>
          <a:prstGeom prst="rect">
            <a:avLst/>
          </a:prstGeom>
          <a:noFill/>
        </p:spPr>
        <p:txBody>
          <a:bodyPr wrap="square" lIns="0" tIns="0" rIns="0" bIns="0">
            <a:spAutoFit/>
          </a:bodyPr>
          <a:lstStyle/>
          <a:p>
            <a:pPr algn="l"/>
            <a:r>
              <a:rPr sz="950">
                <a:solidFill>
                  <a:srgbClr val="1E293B"/>
                </a:solidFill>
                <a:latin typeface="Calibri"/>
              </a:rPr>
              <a:t>• Self-service Zephyr modules</a:t>
            </a:r>
          </a:p>
          <a:p>
            <a:pPr algn="l"/>
            <a:r>
              <a:rPr sz="950">
                <a:solidFill>
                  <a:srgbClr val="1E293B"/>
                </a:solidFill>
                <a:latin typeface="Calibri"/>
              </a:rPr>
              <a:t>• AI alerts (separate team)</a:t>
            </a:r>
          </a:p>
          <a:p>
            <a:pPr algn="l"/>
            <a:r>
              <a:rPr sz="950">
                <a:solidFill>
                  <a:srgbClr val="1E293B"/>
                </a:solidFill>
                <a:latin typeface="Calibri"/>
              </a:rPr>
              <a:t>• API-driven provisioning</a:t>
            </a:r>
          </a:p>
          <a:p>
            <a:pPr algn="l"/>
            <a:r>
              <a:rPr sz="950">
                <a:solidFill>
                  <a:srgbClr val="1E293B"/>
                </a:solidFill>
                <a:latin typeface="Calibri"/>
              </a:rPr>
              <a:t>• Still 4 verticals coordinating</a:t>
            </a:r>
          </a:p>
        </p:txBody>
      </p:sp>
      <p:sp>
        <p:nvSpPr>
          <p:cNvPr id="51" name="Rectangle 50"/>
          <p:cNvSpPr/>
          <p:nvPr/>
        </p:nvSpPr>
        <p:spPr>
          <a:xfrm>
            <a:off x="5008351" y="5897880"/>
            <a:ext cx="2174991" cy="365760"/>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008351" y="5897880"/>
            <a:ext cx="2174991" cy="365760"/>
          </a:xfrm>
          <a:prstGeom prst="rect">
            <a:avLst/>
          </a:prstGeom>
          <a:noFill/>
        </p:spPr>
        <p:txBody>
          <a:bodyPr wrap="square" lIns="0" tIns="0" rIns="0" bIns="0" anchor="ctr">
            <a:spAutoFit/>
          </a:bodyPr>
          <a:lstStyle/>
          <a:p>
            <a:pPr algn="ctr"/>
            <a:r>
              <a:rPr sz="900" b="1" i="0">
                <a:solidFill>
                  <a:srgbClr val="1E293B"/>
                </a:solidFill>
                <a:latin typeface="Calibri"/>
              </a:rPr>
              <a:t>Code-driven · cross-team friction</a:t>
            </a:r>
          </a:p>
        </p:txBody>
      </p:sp>
      <p:sp>
        <p:nvSpPr>
          <p:cNvPr id="53" name="Rectangle 52"/>
          <p:cNvSpPr/>
          <p:nvPr/>
        </p:nvSpPr>
        <p:spPr>
          <a:xfrm>
            <a:off x="7384511" y="1783080"/>
            <a:ext cx="4532863"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7384511" y="1783080"/>
            <a:ext cx="453286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549103"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549103"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3</a:t>
            </a:r>
          </a:p>
        </p:txBody>
      </p:sp>
      <p:sp>
        <p:nvSpPr>
          <p:cNvPr id="57" name="TextBox 56"/>
          <p:cNvSpPr txBox="1"/>
          <p:nvPr/>
        </p:nvSpPr>
        <p:spPr>
          <a:xfrm>
            <a:off x="8024591" y="1947672"/>
            <a:ext cx="3801343" cy="292608"/>
          </a:xfrm>
          <a:prstGeom prst="rect">
            <a:avLst/>
          </a:prstGeom>
          <a:noFill/>
        </p:spPr>
        <p:txBody>
          <a:bodyPr wrap="square" lIns="0" tIns="0" rIns="0" bIns="0" anchor="ctr">
            <a:spAutoFit/>
          </a:bodyPr>
          <a:lstStyle/>
          <a:p>
            <a:pPr algn="l"/>
            <a:r>
              <a:rPr sz="1700" b="1" i="0">
                <a:solidFill>
                  <a:srgbClr val="FFFFFF"/>
                </a:solidFill>
                <a:latin typeface="Georgia"/>
              </a:rPr>
              <a:t>Horizontal</a:t>
            </a:r>
          </a:p>
        </p:txBody>
      </p:sp>
      <p:sp>
        <p:nvSpPr>
          <p:cNvPr id="58" name="TextBox 57"/>
          <p:cNvSpPr txBox="1"/>
          <p:nvPr/>
        </p:nvSpPr>
        <p:spPr>
          <a:xfrm>
            <a:off x="8024591" y="2194560"/>
            <a:ext cx="3801343" cy="201168"/>
          </a:xfrm>
          <a:prstGeom prst="rect">
            <a:avLst/>
          </a:prstGeom>
          <a:noFill/>
        </p:spPr>
        <p:txBody>
          <a:bodyPr wrap="square" lIns="0" tIns="0" rIns="0" bIns="0" anchor="ctr">
            <a:spAutoFit/>
          </a:bodyPr>
          <a:lstStyle/>
          <a:p>
            <a:pPr algn="l"/>
            <a:r>
              <a:rPr sz="1000" b="0" i="1">
                <a:solidFill>
                  <a:srgbClr val="C9D6EE"/>
                </a:solidFill>
                <a:latin typeface="Calibri"/>
              </a:rPr>
              <a:t>Full-Lifecycle Team — One Team Per Product</a:t>
            </a:r>
          </a:p>
        </p:txBody>
      </p:sp>
      <p:sp>
        <p:nvSpPr>
          <p:cNvPr id="59" name="Rectangle 58"/>
          <p:cNvSpPr/>
          <p:nvPr/>
        </p:nvSpPr>
        <p:spPr>
          <a:xfrm>
            <a:off x="7384511"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475951"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475951"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3a</a:t>
            </a:r>
          </a:p>
        </p:txBody>
      </p:sp>
      <p:sp>
        <p:nvSpPr>
          <p:cNvPr id="62" name="TextBox 61"/>
          <p:cNvSpPr txBox="1"/>
          <p:nvPr/>
        </p:nvSpPr>
        <p:spPr>
          <a:xfrm>
            <a:off x="7768559"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Virtual Cross-Squad — BRIDGE</a:t>
            </a:r>
          </a:p>
        </p:txBody>
      </p:sp>
      <p:sp>
        <p:nvSpPr>
          <p:cNvPr id="63" name="Rectangle 62"/>
          <p:cNvSpPr/>
          <p:nvPr/>
        </p:nvSpPr>
        <p:spPr>
          <a:xfrm>
            <a:off x="7384511"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521671"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65" name="TextBox 64"/>
          <p:cNvSpPr txBox="1"/>
          <p:nvPr/>
        </p:nvSpPr>
        <p:spPr>
          <a:xfrm>
            <a:off x="7521671"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1-2 each: DBA, Eng, Arch, ML, Ops</a:t>
            </a:r>
          </a:p>
        </p:txBody>
      </p:sp>
      <p:sp>
        <p:nvSpPr>
          <p:cNvPr id="66" name="TextBox 65"/>
          <p:cNvSpPr txBox="1"/>
          <p:nvPr/>
        </p:nvSpPr>
        <p:spPr>
          <a:xfrm>
            <a:off x="7521671"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67" name="TextBox 66"/>
          <p:cNvSpPr txBox="1"/>
          <p:nvPr/>
        </p:nvSpPr>
        <p:spPr>
          <a:xfrm>
            <a:off x="7549103" y="3822191"/>
            <a:ext cx="1928103" cy="1965960"/>
          </a:xfrm>
          <a:prstGeom prst="rect">
            <a:avLst/>
          </a:prstGeom>
          <a:noFill/>
        </p:spPr>
        <p:txBody>
          <a:bodyPr wrap="square" lIns="0" tIns="0" rIns="0" bIns="0">
            <a:spAutoFit/>
          </a:bodyPr>
          <a:lstStyle/>
          <a:p>
            <a:pPr algn="l"/>
            <a:r>
              <a:rPr sz="950">
                <a:solidFill>
                  <a:srgbClr val="1E293B"/>
                </a:solidFill>
                <a:latin typeface="Calibri"/>
              </a:rPr>
              <a:t>• All work in shared cadence</a:t>
            </a:r>
          </a:p>
          <a:p>
            <a:pPr algn="l"/>
            <a:r>
              <a:rPr sz="950">
                <a:solidFill>
                  <a:srgbClr val="1E293B"/>
                </a:solidFill>
                <a:latin typeface="Calibri"/>
              </a:rPr>
              <a:t>• Same Zephyr + AI agents</a:t>
            </a:r>
          </a:p>
          <a:p>
            <a:pPr algn="l"/>
            <a:r>
              <a:rPr sz="950">
                <a:solidFill>
                  <a:srgbClr val="1E293B"/>
                </a:solidFill>
                <a:latin typeface="Calibri"/>
              </a:rPr>
              <a:t>• No org change — virtual team</a:t>
            </a:r>
          </a:p>
          <a:p>
            <a:pPr algn="l"/>
            <a:r>
              <a:rPr sz="950">
                <a:solidFill>
                  <a:srgbClr val="1E293B"/>
                </a:solidFill>
                <a:latin typeface="Calibri"/>
              </a:rPr>
              <a:t>• Members keep current managers</a:t>
            </a:r>
          </a:p>
        </p:txBody>
      </p:sp>
      <p:sp>
        <p:nvSpPr>
          <p:cNvPr id="68" name="Rectangle 67"/>
          <p:cNvSpPr/>
          <p:nvPr/>
        </p:nvSpPr>
        <p:spPr>
          <a:xfrm>
            <a:off x="7421087" y="5897880"/>
            <a:ext cx="2174991" cy="365760"/>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421087" y="5897880"/>
            <a:ext cx="2174991" cy="365760"/>
          </a:xfrm>
          <a:prstGeom prst="rect">
            <a:avLst/>
          </a:prstGeom>
          <a:noFill/>
        </p:spPr>
        <p:txBody>
          <a:bodyPr wrap="square" lIns="0" tIns="0" rIns="0" bIns="0" anchor="ctr">
            <a:spAutoFit/>
          </a:bodyPr>
          <a:lstStyle/>
          <a:p>
            <a:pPr algn="ctr"/>
            <a:r>
              <a:rPr sz="900" b="1" i="0">
                <a:solidFill>
                  <a:srgbClr val="001F5C"/>
                </a:solidFill>
                <a:latin typeface="Calibri"/>
              </a:rPr>
              <a:t>AI agents shipped in 90 days</a:t>
            </a:r>
          </a:p>
        </p:txBody>
      </p:sp>
      <p:sp>
        <p:nvSpPr>
          <p:cNvPr id="70" name="Rectangle 69"/>
          <p:cNvSpPr/>
          <p:nvPr/>
        </p:nvSpPr>
        <p:spPr>
          <a:xfrm>
            <a:off x="9669231"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760671"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760671"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3b</a:t>
            </a:r>
          </a:p>
        </p:txBody>
      </p:sp>
      <p:sp>
        <p:nvSpPr>
          <p:cNvPr id="73" name="TextBox 72"/>
          <p:cNvSpPr txBox="1"/>
          <p:nvPr/>
        </p:nvSpPr>
        <p:spPr>
          <a:xfrm>
            <a:off x="10053279"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Full-Lifecycle — TARGET</a:t>
            </a:r>
          </a:p>
        </p:txBody>
      </p:sp>
      <p:sp>
        <p:nvSpPr>
          <p:cNvPr id="74" name="Rectangle 73"/>
          <p:cNvSpPr/>
          <p:nvPr/>
        </p:nvSpPr>
        <p:spPr>
          <a:xfrm>
            <a:off x="9669231"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806391"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76" name="TextBox 75"/>
          <p:cNvSpPr txBox="1"/>
          <p:nvPr/>
        </p:nvSpPr>
        <p:spPr>
          <a:xfrm>
            <a:off x="9806391"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SQL Server Squad (8-12 people)</a:t>
            </a:r>
          </a:p>
        </p:txBody>
      </p:sp>
      <p:sp>
        <p:nvSpPr>
          <p:cNvPr id="77" name="TextBox 76"/>
          <p:cNvSpPr txBox="1"/>
          <p:nvPr/>
        </p:nvSpPr>
        <p:spPr>
          <a:xfrm>
            <a:off x="9806391"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78" name="TextBox 77"/>
          <p:cNvSpPr txBox="1"/>
          <p:nvPr/>
        </p:nvSpPr>
        <p:spPr>
          <a:xfrm>
            <a:off x="9833823" y="3822191"/>
            <a:ext cx="1928103" cy="1965960"/>
          </a:xfrm>
          <a:prstGeom prst="rect">
            <a:avLst/>
          </a:prstGeom>
          <a:noFill/>
        </p:spPr>
        <p:txBody>
          <a:bodyPr wrap="square" lIns="0" tIns="0" rIns="0" bIns="0">
            <a:spAutoFit/>
          </a:bodyPr>
          <a:lstStyle/>
          <a:p>
            <a:pPr algn="l"/>
            <a:r>
              <a:rPr sz="950">
                <a:solidFill>
                  <a:srgbClr val="1E293B"/>
                </a:solidFill>
                <a:latin typeface="Calibri"/>
              </a:rPr>
              <a:t>• One team owns everything</a:t>
            </a:r>
          </a:p>
          <a:p>
            <a:pPr algn="l"/>
            <a:r>
              <a:rPr sz="950">
                <a:solidFill>
                  <a:srgbClr val="1E293B"/>
                </a:solidFill>
                <a:latin typeface="Calibri"/>
              </a:rPr>
              <a:t>• Build + run + optimize</a:t>
            </a:r>
          </a:p>
          <a:p>
            <a:pPr algn="l"/>
            <a:r>
              <a:rPr sz="950">
                <a:solidFill>
                  <a:srgbClr val="1E293B"/>
                </a:solidFill>
                <a:latin typeface="Calibri"/>
              </a:rPr>
              <a:t>• Consumes peer squads</a:t>
            </a:r>
          </a:p>
          <a:p>
            <a:pPr algn="l"/>
            <a:r>
              <a:rPr sz="950">
                <a:solidFill>
                  <a:srgbClr val="1E293B"/>
                </a:solidFill>
                <a:latin typeface="Calibri"/>
              </a:rPr>
              <a:t>• Reorg complete</a:t>
            </a:r>
          </a:p>
        </p:txBody>
      </p:sp>
      <p:sp>
        <p:nvSpPr>
          <p:cNvPr id="79" name="Rectangle 78"/>
          <p:cNvSpPr/>
          <p:nvPr/>
        </p:nvSpPr>
        <p:spPr>
          <a:xfrm>
            <a:off x="9705807" y="5897880"/>
            <a:ext cx="2174991" cy="365760"/>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705807" y="5897880"/>
            <a:ext cx="2174991" cy="365760"/>
          </a:xfrm>
          <a:prstGeom prst="rect">
            <a:avLst/>
          </a:prstGeom>
          <a:noFill/>
        </p:spPr>
        <p:txBody>
          <a:bodyPr wrap="square" lIns="0" tIns="0" rIns="0" bIns="0" anchor="ctr">
            <a:spAutoFit/>
          </a:bodyPr>
          <a:lstStyle/>
          <a:p>
            <a:pPr algn="ctr"/>
            <a:r>
              <a:rPr sz="900" b="1" i="0">
                <a:solidFill>
                  <a:srgbClr val="001F5C"/>
                </a:solidFill>
                <a:latin typeface="Calibri"/>
              </a:rPr>
              <a:t>Self-service · Single accountable team</a:t>
            </a:r>
          </a:p>
        </p:txBody>
      </p:sp>
      <p:sp>
        <p:nvSpPr>
          <p:cNvPr id="81" name="Rectangle 80"/>
          <p:cNvSpPr/>
          <p:nvPr/>
        </p:nvSpPr>
        <p:spPr>
          <a:xfrm>
            <a:off x="7338791" y="2450592"/>
            <a:ext cx="2339583" cy="3904487"/>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BRIDGE STEP</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Why Virtual Cross-Squad — and Why Now</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502920"/>
          </a:xfrm>
          <a:prstGeom prst="rect">
            <a:avLst/>
          </a:prstGeom>
          <a:noFill/>
        </p:spPr>
        <p:txBody>
          <a:bodyPr wrap="square" lIns="0" tIns="0" rIns="0" bIns="0" anchor="t">
            <a:spAutoFit/>
          </a:bodyPr>
          <a:lstStyle/>
          <a:p>
            <a:pPr algn="l"/>
            <a:r>
              <a:rPr sz="1300" b="0" i="1">
                <a:solidFill>
                  <a:srgbClr val="64748B"/>
                </a:solidFill>
                <a:latin typeface="Calibri"/>
              </a:rPr>
              <a:t>We don't have to wait 18 months for a full reorg. Virtual cross-squads can start under Zephyr On-Prem in 30 days — proving the model on real platforms, with no org change.</a:t>
            </a:r>
          </a:p>
        </p:txBody>
      </p:sp>
      <p:sp>
        <p:nvSpPr>
          <p:cNvPr id="8" name="Rectangle 7"/>
          <p:cNvSpPr/>
          <p:nvPr/>
        </p:nvSpPr>
        <p:spPr>
          <a:xfrm>
            <a:off x="457200" y="1920240"/>
            <a:ext cx="3840480" cy="40233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8404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212848"/>
            <a:ext cx="3291840" cy="274320"/>
          </a:xfrm>
          <a:prstGeom prst="rect">
            <a:avLst/>
          </a:prstGeom>
          <a:noFill/>
        </p:spPr>
        <p:txBody>
          <a:bodyPr wrap="square" lIns="0" tIns="0" rIns="0" bIns="0" anchor="t">
            <a:spAutoFit/>
          </a:bodyPr>
          <a:lstStyle/>
          <a:p>
            <a:pPr algn="l"/>
            <a:r>
              <a:rPr sz="1100" b="1" i="0" spc="300">
                <a:solidFill>
                  <a:srgbClr val="FEDF01"/>
                </a:solidFill>
                <a:latin typeface="Calibri"/>
              </a:rPr>
              <a:t>TIME TO IMPACT</a:t>
            </a:r>
          </a:p>
        </p:txBody>
      </p:sp>
      <p:sp>
        <p:nvSpPr>
          <p:cNvPr id="11" name="TextBox 10"/>
          <p:cNvSpPr txBox="1"/>
          <p:nvPr/>
        </p:nvSpPr>
        <p:spPr>
          <a:xfrm>
            <a:off x="731520" y="2578608"/>
            <a:ext cx="3291840" cy="292608"/>
          </a:xfrm>
          <a:prstGeom prst="rect">
            <a:avLst/>
          </a:prstGeom>
          <a:noFill/>
        </p:spPr>
        <p:txBody>
          <a:bodyPr wrap="square" lIns="0" tIns="0" rIns="0" bIns="0" anchor="t">
            <a:spAutoFit/>
          </a:bodyPr>
          <a:lstStyle/>
          <a:p>
            <a:pPr algn="l"/>
            <a:r>
              <a:rPr sz="1400" b="1" i="0">
                <a:solidFill>
                  <a:srgbClr val="FFFFFF"/>
                </a:solidFill>
                <a:latin typeface="Calibri"/>
              </a:rPr>
              <a:t>Virtual Cross-Squad</a:t>
            </a:r>
          </a:p>
        </p:txBody>
      </p:sp>
      <p:sp>
        <p:nvSpPr>
          <p:cNvPr id="12" name="TextBox 11"/>
          <p:cNvSpPr txBox="1"/>
          <p:nvPr/>
        </p:nvSpPr>
        <p:spPr>
          <a:xfrm>
            <a:off x="731520" y="2880360"/>
            <a:ext cx="3291840" cy="868680"/>
          </a:xfrm>
          <a:prstGeom prst="rect">
            <a:avLst/>
          </a:prstGeom>
          <a:noFill/>
        </p:spPr>
        <p:txBody>
          <a:bodyPr wrap="square" lIns="0" tIns="0" rIns="0" bIns="0" anchor="t">
            <a:spAutoFit/>
          </a:bodyPr>
          <a:lstStyle/>
          <a:p>
            <a:pPr algn="l"/>
            <a:r>
              <a:rPr sz="6000" b="1" i="0">
                <a:solidFill>
                  <a:srgbClr val="FEDF01"/>
                </a:solidFill>
                <a:latin typeface="Georgia"/>
              </a:rPr>
              <a:t>30 days</a:t>
            </a:r>
          </a:p>
        </p:txBody>
      </p:sp>
      <p:sp>
        <p:nvSpPr>
          <p:cNvPr id="13" name="TextBox 12"/>
          <p:cNvSpPr txBox="1"/>
          <p:nvPr/>
        </p:nvSpPr>
        <p:spPr>
          <a:xfrm>
            <a:off x="731520" y="3749039"/>
            <a:ext cx="3291840" cy="228600"/>
          </a:xfrm>
          <a:prstGeom prst="rect">
            <a:avLst/>
          </a:prstGeom>
          <a:noFill/>
        </p:spPr>
        <p:txBody>
          <a:bodyPr wrap="square" lIns="0" tIns="0" rIns="0" bIns="0" anchor="t">
            <a:spAutoFit/>
          </a:bodyPr>
          <a:lstStyle/>
          <a:p>
            <a:pPr algn="l"/>
            <a:r>
              <a:rPr sz="1100" b="0" i="1">
                <a:solidFill>
                  <a:srgbClr val="C9D6EE"/>
                </a:solidFill>
                <a:latin typeface="Calibri"/>
              </a:rPr>
              <a:t>to stand up · no org change</a:t>
            </a:r>
          </a:p>
        </p:txBody>
      </p:sp>
      <p:cxnSp>
        <p:nvCxnSpPr>
          <p:cNvPr id="14" name="Connector 13"/>
          <p:cNvCxnSpPr/>
          <p:nvPr/>
        </p:nvCxnSpPr>
        <p:spPr>
          <a:xfrm>
            <a:off x="822960" y="4206240"/>
            <a:ext cx="3108960" cy="0"/>
          </a:xfrm>
          <a:prstGeom prst="line">
            <a:avLst/>
          </a:prstGeom>
          <a:ln w="12700">
            <a:solidFill>
              <a:srgbClr val="FEDF0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1520" y="4343400"/>
            <a:ext cx="3291840" cy="274320"/>
          </a:xfrm>
          <a:prstGeom prst="rect">
            <a:avLst/>
          </a:prstGeom>
          <a:noFill/>
        </p:spPr>
        <p:txBody>
          <a:bodyPr wrap="square" lIns="0" tIns="0" rIns="0" bIns="0" anchor="t">
            <a:spAutoFit/>
          </a:bodyPr>
          <a:lstStyle/>
          <a:p>
            <a:pPr algn="l"/>
            <a:r>
              <a:rPr sz="1200" b="1" i="0">
                <a:solidFill>
                  <a:srgbClr val="C9D6EE"/>
                </a:solidFill>
                <a:latin typeface="Calibri"/>
              </a:rPr>
              <a:t>Full Reorg (3b)</a:t>
            </a:r>
          </a:p>
        </p:txBody>
      </p:sp>
      <p:sp>
        <p:nvSpPr>
          <p:cNvPr id="16" name="TextBox 15"/>
          <p:cNvSpPr txBox="1"/>
          <p:nvPr/>
        </p:nvSpPr>
        <p:spPr>
          <a:xfrm>
            <a:off x="731520" y="4663440"/>
            <a:ext cx="3291840" cy="502920"/>
          </a:xfrm>
          <a:prstGeom prst="rect">
            <a:avLst/>
          </a:prstGeom>
          <a:noFill/>
        </p:spPr>
        <p:txBody>
          <a:bodyPr wrap="square" lIns="0" tIns="0" rIns="0" bIns="0" anchor="t">
            <a:spAutoFit/>
          </a:bodyPr>
          <a:lstStyle/>
          <a:p>
            <a:pPr algn="l"/>
            <a:r>
              <a:rPr sz="3000" b="1" i="0">
                <a:solidFill>
                  <a:srgbClr val="C9D6EE"/>
                </a:solidFill>
                <a:latin typeface="Georgia"/>
              </a:rPr>
              <a:t>12-18 months</a:t>
            </a:r>
          </a:p>
        </p:txBody>
      </p:sp>
      <p:sp>
        <p:nvSpPr>
          <p:cNvPr id="17" name="TextBox 16"/>
          <p:cNvSpPr txBox="1"/>
          <p:nvPr/>
        </p:nvSpPr>
        <p:spPr>
          <a:xfrm>
            <a:off x="731520" y="5166360"/>
            <a:ext cx="3291840" cy="228600"/>
          </a:xfrm>
          <a:prstGeom prst="rect">
            <a:avLst/>
          </a:prstGeom>
          <a:noFill/>
        </p:spPr>
        <p:txBody>
          <a:bodyPr wrap="square" lIns="0" tIns="0" rIns="0" bIns="0" anchor="t">
            <a:spAutoFit/>
          </a:bodyPr>
          <a:lstStyle/>
          <a:p>
            <a:pPr algn="l"/>
            <a:r>
              <a:rPr sz="1000" b="0" i="1">
                <a:solidFill>
                  <a:srgbClr val="8FA8C9"/>
                </a:solidFill>
                <a:latin typeface="Calibri"/>
              </a:rPr>
              <a:t>to fully restructure org</a:t>
            </a:r>
          </a:p>
        </p:txBody>
      </p:sp>
      <p:sp>
        <p:nvSpPr>
          <p:cNvPr id="18" name="Rectangle 17"/>
          <p:cNvSpPr/>
          <p:nvPr/>
        </p:nvSpPr>
        <p:spPr>
          <a:xfrm>
            <a:off x="640080" y="5440680"/>
            <a:ext cx="347472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440680"/>
            <a:ext cx="3474720" cy="365760"/>
          </a:xfrm>
          <a:prstGeom prst="rect">
            <a:avLst/>
          </a:prstGeom>
          <a:noFill/>
        </p:spPr>
        <p:txBody>
          <a:bodyPr wrap="square" lIns="0" tIns="0" rIns="0" bIns="0" anchor="ctr">
            <a:spAutoFit/>
          </a:bodyPr>
          <a:lstStyle/>
          <a:p>
            <a:pPr algn="ctr"/>
            <a:r>
              <a:rPr sz="1100" b="1" i="1">
                <a:solidFill>
                  <a:srgbClr val="001F5C"/>
                </a:solidFill>
                <a:latin typeface="Calibri"/>
              </a:rPr>
              <a:t>Bridge first. Reorg with evidence.</a:t>
            </a:r>
          </a:p>
        </p:txBody>
      </p:sp>
      <p:sp>
        <p:nvSpPr>
          <p:cNvPr id="20" name="Rectangle 19"/>
          <p:cNvSpPr/>
          <p:nvPr/>
        </p:nvSpPr>
        <p:spPr>
          <a:xfrm>
            <a:off x="4572000" y="1920240"/>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1920240"/>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0" y="2029968"/>
            <a:ext cx="640080" cy="411480"/>
          </a:xfrm>
          <a:prstGeom prst="rect">
            <a:avLst/>
          </a:prstGeom>
          <a:noFill/>
        </p:spPr>
        <p:txBody>
          <a:bodyPr wrap="square" lIns="0" tIns="0" rIns="0" bIns="0" anchor="t">
            <a:spAutoFit/>
          </a:bodyPr>
          <a:lstStyle/>
          <a:p>
            <a:pPr algn="l"/>
            <a:r>
              <a:rPr sz="2000" b="1" i="0">
                <a:solidFill>
                  <a:srgbClr val="001F5C"/>
                </a:solidFill>
                <a:latin typeface="Georgia"/>
              </a:rPr>
              <a:t>01</a:t>
            </a:r>
          </a:p>
        </p:txBody>
      </p:sp>
      <p:sp>
        <p:nvSpPr>
          <p:cNvPr id="23" name="TextBox 22"/>
          <p:cNvSpPr txBox="1"/>
          <p:nvPr/>
        </p:nvSpPr>
        <p:spPr>
          <a:xfrm>
            <a:off x="5349240" y="2057400"/>
            <a:ext cx="2657703" cy="411480"/>
          </a:xfrm>
          <a:prstGeom prst="rect">
            <a:avLst/>
          </a:prstGeom>
          <a:noFill/>
        </p:spPr>
        <p:txBody>
          <a:bodyPr wrap="square" lIns="0" tIns="0" rIns="0" bIns="0" anchor="t">
            <a:spAutoFit/>
          </a:bodyPr>
          <a:lstStyle/>
          <a:p>
            <a:pPr algn="l"/>
            <a:r>
              <a:rPr sz="1150" b="1" i="0">
                <a:solidFill>
                  <a:srgbClr val="001F5C"/>
                </a:solidFill>
                <a:latin typeface="Calibri"/>
              </a:rPr>
              <a:t>No org change, no risk</a:t>
            </a:r>
          </a:p>
        </p:txBody>
      </p:sp>
      <p:sp>
        <p:nvSpPr>
          <p:cNvPr id="24" name="TextBox 23"/>
          <p:cNvSpPr txBox="1"/>
          <p:nvPr/>
        </p:nvSpPr>
        <p:spPr>
          <a:xfrm>
            <a:off x="4754880" y="2487168"/>
            <a:ext cx="3252063" cy="658368"/>
          </a:xfrm>
          <a:prstGeom prst="rect">
            <a:avLst/>
          </a:prstGeom>
          <a:noFill/>
        </p:spPr>
        <p:txBody>
          <a:bodyPr wrap="square" lIns="0" tIns="0" rIns="0" bIns="0" anchor="t">
            <a:spAutoFit/>
          </a:bodyPr>
          <a:lstStyle/>
          <a:p>
            <a:pPr algn="l"/>
            <a:r>
              <a:rPr sz="1000" b="0" i="0">
                <a:solidFill>
                  <a:srgbClr val="1E293B"/>
                </a:solidFill>
                <a:latin typeface="Calibri"/>
              </a:rPr>
              <a:t>People keep existing managers. If it doesn't work, dissolve quietly.</a:t>
            </a:r>
          </a:p>
        </p:txBody>
      </p:sp>
      <p:sp>
        <p:nvSpPr>
          <p:cNvPr id="25" name="Rectangle 24"/>
          <p:cNvSpPr/>
          <p:nvPr/>
        </p:nvSpPr>
        <p:spPr>
          <a:xfrm>
            <a:off x="8208111" y="1920240"/>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08111" y="1920240"/>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90991" y="2029968"/>
            <a:ext cx="640080" cy="411480"/>
          </a:xfrm>
          <a:prstGeom prst="rect">
            <a:avLst/>
          </a:prstGeom>
          <a:noFill/>
        </p:spPr>
        <p:txBody>
          <a:bodyPr wrap="square" lIns="0" tIns="0" rIns="0" bIns="0" anchor="t">
            <a:spAutoFit/>
          </a:bodyPr>
          <a:lstStyle/>
          <a:p>
            <a:pPr algn="l"/>
            <a:r>
              <a:rPr sz="2000" b="1" i="0">
                <a:solidFill>
                  <a:srgbClr val="001F5C"/>
                </a:solidFill>
                <a:latin typeface="Georgia"/>
              </a:rPr>
              <a:t>02</a:t>
            </a:r>
          </a:p>
        </p:txBody>
      </p:sp>
      <p:sp>
        <p:nvSpPr>
          <p:cNvPr id="28" name="TextBox 27"/>
          <p:cNvSpPr txBox="1"/>
          <p:nvPr/>
        </p:nvSpPr>
        <p:spPr>
          <a:xfrm>
            <a:off x="8985351" y="2057400"/>
            <a:ext cx="2657703" cy="411480"/>
          </a:xfrm>
          <a:prstGeom prst="rect">
            <a:avLst/>
          </a:prstGeom>
          <a:noFill/>
        </p:spPr>
        <p:txBody>
          <a:bodyPr wrap="square" lIns="0" tIns="0" rIns="0" bIns="0" anchor="t">
            <a:spAutoFit/>
          </a:bodyPr>
          <a:lstStyle/>
          <a:p>
            <a:pPr algn="l"/>
            <a:r>
              <a:rPr sz="1150" b="1" i="0">
                <a:solidFill>
                  <a:srgbClr val="001F5C"/>
                </a:solidFill>
                <a:latin typeface="Calibri"/>
              </a:rPr>
              <a:t>Proves the model in 90 days</a:t>
            </a:r>
          </a:p>
        </p:txBody>
      </p:sp>
      <p:sp>
        <p:nvSpPr>
          <p:cNvPr id="29" name="TextBox 28"/>
          <p:cNvSpPr txBox="1"/>
          <p:nvPr/>
        </p:nvSpPr>
        <p:spPr>
          <a:xfrm>
            <a:off x="8390991" y="2487168"/>
            <a:ext cx="3252063" cy="658368"/>
          </a:xfrm>
          <a:prstGeom prst="rect">
            <a:avLst/>
          </a:prstGeom>
          <a:noFill/>
        </p:spPr>
        <p:txBody>
          <a:bodyPr wrap="square" lIns="0" tIns="0" rIns="0" bIns="0" anchor="t">
            <a:spAutoFit/>
          </a:bodyPr>
          <a:lstStyle/>
          <a:p>
            <a:pPr algn="l"/>
            <a:r>
              <a:rPr sz="1000" b="0" i="0">
                <a:solidFill>
                  <a:srgbClr val="1E293B"/>
                </a:solidFill>
                <a:latin typeface="Calibri"/>
              </a:rPr>
              <a:t>Get evidence of full-lifecycle ownership benefits before asking for reorg.</a:t>
            </a:r>
          </a:p>
        </p:txBody>
      </p:sp>
      <p:sp>
        <p:nvSpPr>
          <p:cNvPr id="30" name="Rectangle 29"/>
          <p:cNvSpPr/>
          <p:nvPr/>
        </p:nvSpPr>
        <p:spPr>
          <a:xfrm>
            <a:off x="4572000" y="3300984"/>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0" y="3300984"/>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54880" y="3410712"/>
            <a:ext cx="640080" cy="411480"/>
          </a:xfrm>
          <a:prstGeom prst="rect">
            <a:avLst/>
          </a:prstGeom>
          <a:noFill/>
        </p:spPr>
        <p:txBody>
          <a:bodyPr wrap="square" lIns="0" tIns="0" rIns="0" bIns="0" anchor="t">
            <a:spAutoFit/>
          </a:bodyPr>
          <a:lstStyle/>
          <a:p>
            <a:pPr algn="l"/>
            <a:r>
              <a:rPr sz="2000" b="1" i="0">
                <a:solidFill>
                  <a:srgbClr val="001F5C"/>
                </a:solidFill>
                <a:latin typeface="Georgia"/>
              </a:rPr>
              <a:t>03</a:t>
            </a:r>
          </a:p>
        </p:txBody>
      </p:sp>
      <p:sp>
        <p:nvSpPr>
          <p:cNvPr id="33" name="TextBox 32"/>
          <p:cNvSpPr txBox="1"/>
          <p:nvPr/>
        </p:nvSpPr>
        <p:spPr>
          <a:xfrm>
            <a:off x="5349240" y="3438144"/>
            <a:ext cx="2657703" cy="411480"/>
          </a:xfrm>
          <a:prstGeom prst="rect">
            <a:avLst/>
          </a:prstGeom>
          <a:noFill/>
        </p:spPr>
        <p:txBody>
          <a:bodyPr wrap="square" lIns="0" tIns="0" rIns="0" bIns="0" anchor="t">
            <a:spAutoFit/>
          </a:bodyPr>
          <a:lstStyle/>
          <a:p>
            <a:pPr algn="l"/>
            <a:r>
              <a:rPr sz="1150" b="1" i="0">
                <a:solidFill>
                  <a:srgbClr val="001F5C"/>
                </a:solidFill>
                <a:latin typeface="Calibri"/>
              </a:rPr>
              <a:t>Zephyr is the perfect catalyst</a:t>
            </a:r>
          </a:p>
        </p:txBody>
      </p:sp>
      <p:sp>
        <p:nvSpPr>
          <p:cNvPr id="34" name="TextBox 33"/>
          <p:cNvSpPr txBox="1"/>
          <p:nvPr/>
        </p:nvSpPr>
        <p:spPr>
          <a:xfrm>
            <a:off x="4754880" y="3867911"/>
            <a:ext cx="3252063" cy="658368"/>
          </a:xfrm>
          <a:prstGeom prst="rect">
            <a:avLst/>
          </a:prstGeom>
          <a:noFill/>
        </p:spPr>
        <p:txBody>
          <a:bodyPr wrap="square" lIns="0" tIns="0" rIns="0" bIns="0" anchor="t">
            <a:spAutoFit/>
          </a:bodyPr>
          <a:lstStyle/>
          <a:p>
            <a:pPr algn="l"/>
            <a:r>
              <a:rPr sz="1000" b="0" i="0">
                <a:solidFill>
                  <a:srgbClr val="1E293B"/>
                </a:solidFill>
                <a:latin typeface="Calibri"/>
              </a:rPr>
              <a:t>34 platforms already need owners. Stand up virtual squads now.</a:t>
            </a:r>
          </a:p>
        </p:txBody>
      </p:sp>
      <p:sp>
        <p:nvSpPr>
          <p:cNvPr id="35" name="Rectangle 34"/>
          <p:cNvSpPr/>
          <p:nvPr/>
        </p:nvSpPr>
        <p:spPr>
          <a:xfrm>
            <a:off x="8208111" y="3300984"/>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208111" y="3300984"/>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90991" y="3410712"/>
            <a:ext cx="640080" cy="411480"/>
          </a:xfrm>
          <a:prstGeom prst="rect">
            <a:avLst/>
          </a:prstGeom>
          <a:noFill/>
        </p:spPr>
        <p:txBody>
          <a:bodyPr wrap="square" lIns="0" tIns="0" rIns="0" bIns="0" anchor="t">
            <a:spAutoFit/>
          </a:bodyPr>
          <a:lstStyle/>
          <a:p>
            <a:pPr algn="l"/>
            <a:r>
              <a:rPr sz="2000" b="1" i="0">
                <a:solidFill>
                  <a:srgbClr val="001F5C"/>
                </a:solidFill>
                <a:latin typeface="Georgia"/>
              </a:rPr>
              <a:t>04</a:t>
            </a:r>
          </a:p>
        </p:txBody>
      </p:sp>
      <p:sp>
        <p:nvSpPr>
          <p:cNvPr id="38" name="TextBox 37"/>
          <p:cNvSpPr txBox="1"/>
          <p:nvPr/>
        </p:nvSpPr>
        <p:spPr>
          <a:xfrm>
            <a:off x="8985351" y="3438144"/>
            <a:ext cx="2657703" cy="411480"/>
          </a:xfrm>
          <a:prstGeom prst="rect">
            <a:avLst/>
          </a:prstGeom>
          <a:noFill/>
        </p:spPr>
        <p:txBody>
          <a:bodyPr wrap="square" lIns="0" tIns="0" rIns="0" bIns="0" anchor="t">
            <a:spAutoFit/>
          </a:bodyPr>
          <a:lstStyle/>
          <a:p>
            <a:pPr algn="l"/>
            <a:r>
              <a:rPr sz="1150" b="1" i="0">
                <a:solidFill>
                  <a:srgbClr val="001F5C"/>
                </a:solidFill>
                <a:latin typeface="Calibri"/>
              </a:rPr>
              <a:t>AI agents need cross-capability NOW</a:t>
            </a:r>
          </a:p>
        </p:txBody>
      </p:sp>
      <p:sp>
        <p:nvSpPr>
          <p:cNvPr id="39" name="TextBox 38"/>
          <p:cNvSpPr txBox="1"/>
          <p:nvPr/>
        </p:nvSpPr>
        <p:spPr>
          <a:xfrm>
            <a:off x="8390991" y="3867911"/>
            <a:ext cx="3252063" cy="658368"/>
          </a:xfrm>
          <a:prstGeom prst="rect">
            <a:avLst/>
          </a:prstGeom>
          <a:noFill/>
        </p:spPr>
        <p:txBody>
          <a:bodyPr wrap="square" lIns="0" tIns="0" rIns="0" bIns="0" anchor="t">
            <a:spAutoFit/>
          </a:bodyPr>
          <a:lstStyle/>
          <a:p>
            <a:pPr algn="l"/>
            <a:r>
              <a:rPr sz="1000" b="0" i="0">
                <a:solidFill>
                  <a:srgbClr val="1E293B"/>
                </a:solidFill>
                <a:latin typeface="Calibri"/>
              </a:rPr>
              <a:t>SQL Server Intelligent Ops needs DBA + ML + Ops + Arch. Today they're in 4 silos.</a:t>
            </a:r>
          </a:p>
        </p:txBody>
      </p:sp>
      <p:sp>
        <p:nvSpPr>
          <p:cNvPr id="40" name="Rectangle 39"/>
          <p:cNvSpPr/>
          <p:nvPr/>
        </p:nvSpPr>
        <p:spPr>
          <a:xfrm>
            <a:off x="4572000" y="4681727"/>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0" y="4681727"/>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54880" y="4791455"/>
            <a:ext cx="640080" cy="411480"/>
          </a:xfrm>
          <a:prstGeom prst="rect">
            <a:avLst/>
          </a:prstGeom>
          <a:noFill/>
        </p:spPr>
        <p:txBody>
          <a:bodyPr wrap="square" lIns="0" tIns="0" rIns="0" bIns="0" anchor="t">
            <a:spAutoFit/>
          </a:bodyPr>
          <a:lstStyle/>
          <a:p>
            <a:pPr algn="l"/>
            <a:r>
              <a:rPr sz="2000" b="1" i="0">
                <a:solidFill>
                  <a:srgbClr val="001F5C"/>
                </a:solidFill>
                <a:latin typeface="Georgia"/>
              </a:rPr>
              <a:t>05</a:t>
            </a:r>
          </a:p>
        </p:txBody>
      </p:sp>
      <p:sp>
        <p:nvSpPr>
          <p:cNvPr id="43" name="TextBox 42"/>
          <p:cNvSpPr txBox="1"/>
          <p:nvPr/>
        </p:nvSpPr>
        <p:spPr>
          <a:xfrm>
            <a:off x="5349240" y="4818888"/>
            <a:ext cx="2657703" cy="411480"/>
          </a:xfrm>
          <a:prstGeom prst="rect">
            <a:avLst/>
          </a:prstGeom>
          <a:noFill/>
        </p:spPr>
        <p:txBody>
          <a:bodyPr wrap="square" lIns="0" tIns="0" rIns="0" bIns="0" anchor="t">
            <a:spAutoFit/>
          </a:bodyPr>
          <a:lstStyle/>
          <a:p>
            <a:pPr algn="l"/>
            <a:r>
              <a:rPr sz="1150" b="1" i="0">
                <a:solidFill>
                  <a:srgbClr val="001F5C"/>
                </a:solidFill>
                <a:latin typeface="Calibri"/>
              </a:rPr>
              <a:t>Talent retention</a:t>
            </a:r>
          </a:p>
        </p:txBody>
      </p:sp>
      <p:sp>
        <p:nvSpPr>
          <p:cNvPr id="44" name="TextBox 43"/>
          <p:cNvSpPr txBox="1"/>
          <p:nvPr/>
        </p:nvSpPr>
        <p:spPr>
          <a:xfrm>
            <a:off x="4754880" y="5248655"/>
            <a:ext cx="3252063" cy="658368"/>
          </a:xfrm>
          <a:prstGeom prst="rect">
            <a:avLst/>
          </a:prstGeom>
          <a:noFill/>
        </p:spPr>
        <p:txBody>
          <a:bodyPr wrap="square" lIns="0" tIns="0" rIns="0" bIns="0" anchor="t">
            <a:spAutoFit/>
          </a:bodyPr>
          <a:lstStyle/>
          <a:p>
            <a:pPr algn="l"/>
            <a:r>
              <a:rPr sz="1000" b="0" i="0">
                <a:solidFill>
                  <a:srgbClr val="1E293B"/>
                </a:solidFill>
                <a:latin typeface="Calibri"/>
              </a:rPr>
              <a:t>Engineers want end-to-end ownership. Give it now — before they leave.</a:t>
            </a:r>
          </a:p>
        </p:txBody>
      </p:sp>
      <p:sp>
        <p:nvSpPr>
          <p:cNvPr id="45" name="Rectangle 44"/>
          <p:cNvSpPr/>
          <p:nvPr/>
        </p:nvSpPr>
        <p:spPr>
          <a:xfrm>
            <a:off x="8208111" y="4681727"/>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208111" y="4681727"/>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390991" y="4791455"/>
            <a:ext cx="640080" cy="411480"/>
          </a:xfrm>
          <a:prstGeom prst="rect">
            <a:avLst/>
          </a:prstGeom>
          <a:noFill/>
        </p:spPr>
        <p:txBody>
          <a:bodyPr wrap="square" lIns="0" tIns="0" rIns="0" bIns="0" anchor="t">
            <a:spAutoFit/>
          </a:bodyPr>
          <a:lstStyle/>
          <a:p>
            <a:pPr algn="l"/>
            <a:r>
              <a:rPr sz="2000" b="1" i="0">
                <a:solidFill>
                  <a:srgbClr val="001F5C"/>
                </a:solidFill>
                <a:latin typeface="Georgia"/>
              </a:rPr>
              <a:t>06</a:t>
            </a:r>
          </a:p>
        </p:txBody>
      </p:sp>
      <p:sp>
        <p:nvSpPr>
          <p:cNvPr id="48" name="TextBox 47"/>
          <p:cNvSpPr txBox="1"/>
          <p:nvPr/>
        </p:nvSpPr>
        <p:spPr>
          <a:xfrm>
            <a:off x="8985351" y="4818888"/>
            <a:ext cx="2657703" cy="411480"/>
          </a:xfrm>
          <a:prstGeom prst="rect">
            <a:avLst/>
          </a:prstGeom>
          <a:noFill/>
        </p:spPr>
        <p:txBody>
          <a:bodyPr wrap="square" lIns="0" tIns="0" rIns="0" bIns="0" anchor="t">
            <a:spAutoFit/>
          </a:bodyPr>
          <a:lstStyle/>
          <a:p>
            <a:pPr algn="l"/>
            <a:r>
              <a:rPr sz="1150" b="1" i="0">
                <a:solidFill>
                  <a:srgbClr val="001F5C"/>
                </a:solidFill>
                <a:latin typeface="Calibri"/>
              </a:rPr>
              <a:t>Audit-ready faster</a:t>
            </a:r>
          </a:p>
        </p:txBody>
      </p:sp>
      <p:sp>
        <p:nvSpPr>
          <p:cNvPr id="49" name="TextBox 48"/>
          <p:cNvSpPr txBox="1"/>
          <p:nvPr/>
        </p:nvSpPr>
        <p:spPr>
          <a:xfrm>
            <a:off x="8390991" y="5248655"/>
            <a:ext cx="3252063" cy="658368"/>
          </a:xfrm>
          <a:prstGeom prst="rect">
            <a:avLst/>
          </a:prstGeom>
          <a:noFill/>
        </p:spPr>
        <p:txBody>
          <a:bodyPr wrap="square" lIns="0" tIns="0" rIns="0" bIns="0" anchor="t">
            <a:spAutoFit/>
          </a:bodyPr>
          <a:lstStyle/>
          <a:p>
            <a:pPr algn="l"/>
            <a:r>
              <a:rPr sz="1000" b="0" i="0">
                <a:solidFill>
                  <a:srgbClr val="1E293B"/>
                </a:solidFill>
                <a:latin typeface="Calibri"/>
              </a:rPr>
              <a:t>Single accountable team produces regulatory evidence in weeks, not quarters.</a:t>
            </a:r>
          </a:p>
        </p:txBody>
      </p:sp>
      <p:sp>
        <p:nvSpPr>
          <p:cNvPr id="50" name="Rectangle 49"/>
          <p:cNvSpPr/>
          <p:nvPr/>
        </p:nvSpPr>
        <p:spPr>
          <a:xfrm>
            <a:off x="457200" y="603504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5800" y="603504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PROPOSED PILOT:  </a:t>
            </a:r>
            <a:r>
              <a:rPr sz="1200" b="1" i="1">
                <a:solidFill>
                  <a:srgbClr val="1E293B"/>
                </a:solidFill>
                <a:latin typeface="Calibri"/>
              </a:rPr>
              <a:t>Stand up virtual cross-squads for 3 Zephyr platforms in Q1 — SQL Server, Kubernetes, Storage. Report back in 90 days.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CROSS-SQUAD COMPOSITION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Why Ops Must Be in Every Cross-Squad</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502920"/>
          </a:xfrm>
          <a:prstGeom prst="rect">
            <a:avLst/>
          </a:prstGeom>
          <a:noFill/>
        </p:spPr>
        <p:txBody>
          <a:bodyPr wrap="square" lIns="0" tIns="0" rIns="0" bIns="0" anchor="t">
            <a:spAutoFit/>
          </a:bodyPr>
          <a:lstStyle/>
          <a:p>
            <a:pPr algn="l"/>
            <a:r>
              <a:rPr sz="1200" b="0" i="1">
                <a:solidFill>
                  <a:srgbClr val="64748B"/>
                </a:solidFill>
                <a:latin typeface="Calibri"/>
              </a:rPr>
              <a:t>Intelligent Ops and IaC teams alone build automation in a vacuum — they don't see the daily incidents, the toil, the workarounds. Including Ops in the cross-squad means real pain becomes real automation, fast.</a:t>
            </a:r>
          </a:p>
        </p:txBody>
      </p:sp>
      <p:sp>
        <p:nvSpPr>
          <p:cNvPr id="8" name="Rectangle 7"/>
          <p:cNvSpPr/>
          <p:nvPr/>
        </p:nvSpPr>
        <p:spPr>
          <a:xfrm>
            <a:off x="457200" y="1965960"/>
            <a:ext cx="5532120" cy="2880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65960"/>
            <a:ext cx="5532120" cy="73152"/>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148840"/>
            <a:ext cx="5074920" cy="274320"/>
          </a:xfrm>
          <a:prstGeom prst="rect">
            <a:avLst/>
          </a:prstGeom>
          <a:noFill/>
        </p:spPr>
        <p:txBody>
          <a:bodyPr wrap="square" lIns="0" tIns="0" rIns="0" bIns="0" anchor="t">
            <a:spAutoFit/>
          </a:bodyPr>
          <a:lstStyle/>
          <a:p>
            <a:pPr algn="l"/>
            <a:r>
              <a:rPr sz="1100" b="1" i="0" spc="300">
                <a:solidFill>
                  <a:srgbClr val="002B7F"/>
                </a:solidFill>
                <a:latin typeface="Calibri"/>
              </a:rPr>
              <a:t>WITHOUT OPS IN SQUAD</a:t>
            </a:r>
          </a:p>
        </p:txBody>
      </p:sp>
      <p:sp>
        <p:nvSpPr>
          <p:cNvPr id="11" name="TextBox 10"/>
          <p:cNvSpPr txBox="1"/>
          <p:nvPr/>
        </p:nvSpPr>
        <p:spPr>
          <a:xfrm>
            <a:off x="685800" y="2423160"/>
            <a:ext cx="5074920" cy="365760"/>
          </a:xfrm>
          <a:prstGeom prst="rect">
            <a:avLst/>
          </a:prstGeom>
          <a:noFill/>
        </p:spPr>
        <p:txBody>
          <a:bodyPr wrap="square" lIns="0" tIns="0" rIns="0" bIns="0" anchor="t">
            <a:spAutoFit/>
          </a:bodyPr>
          <a:lstStyle/>
          <a:p>
            <a:pPr algn="l"/>
            <a:r>
              <a:rPr sz="1500" b="1" i="1">
                <a:solidFill>
                  <a:srgbClr val="1E293B"/>
                </a:solidFill>
                <a:latin typeface="Georgia"/>
              </a:rPr>
              <a:t>Intelligent Ops and IaC build in a vacuum</a:t>
            </a:r>
          </a:p>
        </p:txBody>
      </p:sp>
      <p:sp>
        <p:nvSpPr>
          <p:cNvPr id="12" name="Oval 11"/>
          <p:cNvSpPr/>
          <p:nvPr/>
        </p:nvSpPr>
        <p:spPr>
          <a:xfrm>
            <a:off x="731520" y="299923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2926080"/>
            <a:ext cx="4846320" cy="329184"/>
          </a:xfrm>
          <a:prstGeom prst="rect">
            <a:avLst/>
          </a:prstGeom>
          <a:noFill/>
        </p:spPr>
        <p:txBody>
          <a:bodyPr wrap="square" lIns="0" tIns="0" rIns="0" bIns="0" anchor="t">
            <a:spAutoFit/>
          </a:bodyPr>
          <a:lstStyle/>
          <a:p>
            <a:pPr algn="l"/>
            <a:r>
              <a:rPr sz="1050" b="0" i="0">
                <a:solidFill>
                  <a:srgbClr val="1E293B"/>
                </a:solidFill>
                <a:latin typeface="Calibri"/>
              </a:rPr>
              <a:t>Intelligent Ops models trained on wrong signals — miss the real fires</a:t>
            </a:r>
          </a:p>
        </p:txBody>
      </p:sp>
      <p:sp>
        <p:nvSpPr>
          <p:cNvPr id="14" name="Oval 13"/>
          <p:cNvSpPr/>
          <p:nvPr/>
        </p:nvSpPr>
        <p:spPr>
          <a:xfrm>
            <a:off x="731520" y="336499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3291840"/>
            <a:ext cx="4846320" cy="329184"/>
          </a:xfrm>
          <a:prstGeom prst="rect">
            <a:avLst/>
          </a:prstGeom>
          <a:noFill/>
        </p:spPr>
        <p:txBody>
          <a:bodyPr wrap="square" lIns="0" tIns="0" rIns="0" bIns="0" anchor="t">
            <a:spAutoFit/>
          </a:bodyPr>
          <a:lstStyle/>
          <a:p>
            <a:pPr algn="l"/>
            <a:r>
              <a:rPr sz="1050" b="0" i="0">
                <a:solidFill>
                  <a:srgbClr val="1E293B"/>
                </a:solidFill>
                <a:latin typeface="Calibri"/>
              </a:rPr>
              <a:t>IaC modules automate standard patterns, not the actual heavy toil</a:t>
            </a:r>
          </a:p>
        </p:txBody>
      </p:sp>
      <p:sp>
        <p:nvSpPr>
          <p:cNvPr id="16" name="Oval 15"/>
          <p:cNvSpPr/>
          <p:nvPr/>
        </p:nvSpPr>
        <p:spPr>
          <a:xfrm>
            <a:off x="731520" y="373075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65760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drowns in incidents, can't code their way out</a:t>
            </a:r>
          </a:p>
        </p:txBody>
      </p:sp>
      <p:sp>
        <p:nvSpPr>
          <p:cNvPr id="18" name="Oval 17"/>
          <p:cNvSpPr/>
          <p:nvPr/>
        </p:nvSpPr>
        <p:spPr>
          <a:xfrm>
            <a:off x="731520" y="409651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023360"/>
            <a:ext cx="4846320" cy="329184"/>
          </a:xfrm>
          <a:prstGeom prst="rect">
            <a:avLst/>
          </a:prstGeom>
          <a:noFill/>
        </p:spPr>
        <p:txBody>
          <a:bodyPr wrap="square" lIns="0" tIns="0" rIns="0" bIns="0" anchor="t">
            <a:spAutoFit/>
          </a:bodyPr>
          <a:lstStyle/>
          <a:p>
            <a:pPr algn="l"/>
            <a:r>
              <a:rPr sz="1050" b="0" i="0">
                <a:solidFill>
                  <a:srgbClr val="1E293B"/>
                </a:solidFill>
                <a:latin typeface="Calibri"/>
              </a:rPr>
              <a:t>Wrong priorities — synthetic use cases over real pain</a:t>
            </a:r>
          </a:p>
        </p:txBody>
      </p:sp>
      <p:sp>
        <p:nvSpPr>
          <p:cNvPr id="20" name="Oval 19"/>
          <p:cNvSpPr/>
          <p:nvPr/>
        </p:nvSpPr>
        <p:spPr>
          <a:xfrm>
            <a:off x="731520" y="446227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438912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feels excluded from the transformation</a:t>
            </a:r>
          </a:p>
        </p:txBody>
      </p:sp>
      <p:sp>
        <p:nvSpPr>
          <p:cNvPr id="22" name="Rectangle 21"/>
          <p:cNvSpPr/>
          <p:nvPr/>
        </p:nvSpPr>
        <p:spPr>
          <a:xfrm>
            <a:off x="6199632" y="1965960"/>
            <a:ext cx="5532120" cy="2880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99632" y="1965960"/>
            <a:ext cx="553212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28232" y="2148840"/>
            <a:ext cx="5074920" cy="274320"/>
          </a:xfrm>
          <a:prstGeom prst="rect">
            <a:avLst/>
          </a:prstGeom>
          <a:noFill/>
        </p:spPr>
        <p:txBody>
          <a:bodyPr wrap="square" lIns="0" tIns="0" rIns="0" bIns="0" anchor="t">
            <a:spAutoFit/>
          </a:bodyPr>
          <a:lstStyle/>
          <a:p>
            <a:pPr algn="l"/>
            <a:r>
              <a:rPr sz="1100" b="1" i="0" spc="300">
                <a:solidFill>
                  <a:srgbClr val="001F5C"/>
                </a:solidFill>
                <a:latin typeface="Calibri"/>
              </a:rPr>
              <a:t>WITH OPS IN CROSS-SQUAD</a:t>
            </a:r>
          </a:p>
        </p:txBody>
      </p:sp>
      <p:sp>
        <p:nvSpPr>
          <p:cNvPr id="25" name="TextBox 24"/>
          <p:cNvSpPr txBox="1"/>
          <p:nvPr/>
        </p:nvSpPr>
        <p:spPr>
          <a:xfrm>
            <a:off x="6428232" y="2423160"/>
            <a:ext cx="5074920" cy="365760"/>
          </a:xfrm>
          <a:prstGeom prst="rect">
            <a:avLst/>
          </a:prstGeom>
          <a:noFill/>
        </p:spPr>
        <p:txBody>
          <a:bodyPr wrap="square" lIns="0" tIns="0" rIns="0" bIns="0" anchor="t">
            <a:spAutoFit/>
          </a:bodyPr>
          <a:lstStyle/>
          <a:p>
            <a:pPr algn="l"/>
            <a:r>
              <a:rPr sz="1500" b="1" i="1">
                <a:solidFill>
                  <a:srgbClr val="001F5C"/>
                </a:solidFill>
                <a:latin typeface="Georgia"/>
              </a:rPr>
              <a:t>Real pain → top of the backlog</a:t>
            </a:r>
          </a:p>
        </p:txBody>
      </p:sp>
      <p:sp>
        <p:nvSpPr>
          <p:cNvPr id="26" name="Oval 25"/>
          <p:cNvSpPr/>
          <p:nvPr/>
        </p:nvSpPr>
        <p:spPr>
          <a:xfrm>
            <a:off x="6473952" y="299923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02552" y="292608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surfaces actual toil daily — drives the automation priority</a:t>
            </a:r>
          </a:p>
        </p:txBody>
      </p:sp>
      <p:sp>
        <p:nvSpPr>
          <p:cNvPr id="28" name="Oval 27"/>
          <p:cNvSpPr/>
          <p:nvPr/>
        </p:nvSpPr>
        <p:spPr>
          <a:xfrm>
            <a:off x="6473952" y="336499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02552" y="3291840"/>
            <a:ext cx="4846320" cy="329184"/>
          </a:xfrm>
          <a:prstGeom prst="rect">
            <a:avLst/>
          </a:prstGeom>
          <a:noFill/>
        </p:spPr>
        <p:txBody>
          <a:bodyPr wrap="square" lIns="0" tIns="0" rIns="0" bIns="0" anchor="t">
            <a:spAutoFit/>
          </a:bodyPr>
          <a:lstStyle/>
          <a:p>
            <a:pPr algn="l"/>
            <a:r>
              <a:rPr sz="1050" b="0" i="0">
                <a:solidFill>
                  <a:srgbClr val="1E293B"/>
                </a:solidFill>
                <a:latin typeface="Calibri"/>
              </a:rPr>
              <a:t>AI agents target highest-volume real incidents, not synthetic ones</a:t>
            </a:r>
          </a:p>
        </p:txBody>
      </p:sp>
      <p:sp>
        <p:nvSpPr>
          <p:cNvPr id="30" name="Oval 29"/>
          <p:cNvSpPr/>
          <p:nvPr/>
        </p:nvSpPr>
        <p:spPr>
          <a:xfrm>
            <a:off x="6473952" y="373075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02552" y="3657600"/>
            <a:ext cx="4846320" cy="329184"/>
          </a:xfrm>
          <a:prstGeom prst="rect">
            <a:avLst/>
          </a:prstGeom>
          <a:noFill/>
        </p:spPr>
        <p:txBody>
          <a:bodyPr wrap="square" lIns="0" tIns="0" rIns="0" bIns="0" anchor="t">
            <a:spAutoFit/>
          </a:bodyPr>
          <a:lstStyle/>
          <a:p>
            <a:pPr algn="l"/>
            <a:r>
              <a:rPr sz="1050" b="0" i="0">
                <a:solidFill>
                  <a:srgbClr val="1E293B"/>
                </a:solidFill>
                <a:latin typeface="Calibri"/>
              </a:rPr>
              <a:t>IaC modules automate the heaviest manual workflows first</a:t>
            </a:r>
          </a:p>
        </p:txBody>
      </p:sp>
      <p:sp>
        <p:nvSpPr>
          <p:cNvPr id="32" name="Oval 31"/>
          <p:cNvSpPr/>
          <p:nvPr/>
        </p:nvSpPr>
        <p:spPr>
          <a:xfrm>
            <a:off x="6473952" y="409651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02552" y="4023360"/>
            <a:ext cx="4846320" cy="329184"/>
          </a:xfrm>
          <a:prstGeom prst="rect">
            <a:avLst/>
          </a:prstGeom>
          <a:noFill/>
        </p:spPr>
        <p:txBody>
          <a:bodyPr wrap="square" lIns="0" tIns="0" rIns="0" bIns="0" anchor="t">
            <a:spAutoFit/>
          </a:bodyPr>
          <a:lstStyle/>
          <a:p>
            <a:pPr algn="l"/>
            <a:r>
              <a:rPr sz="1050" b="0" i="0">
                <a:solidFill>
                  <a:srgbClr val="1E293B"/>
                </a:solidFill>
                <a:latin typeface="Calibri"/>
              </a:rPr>
              <a:t>Right priorities from day one — no guessing what to build</a:t>
            </a:r>
          </a:p>
        </p:txBody>
      </p:sp>
      <p:sp>
        <p:nvSpPr>
          <p:cNvPr id="34" name="Oval 33"/>
          <p:cNvSpPr/>
          <p:nvPr/>
        </p:nvSpPr>
        <p:spPr>
          <a:xfrm>
            <a:off x="6473952" y="446227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02552" y="438912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upskilled in AI + IaC by working alongside, not displaced</a:t>
            </a:r>
          </a:p>
        </p:txBody>
      </p:sp>
      <p:sp>
        <p:nvSpPr>
          <p:cNvPr id="36" name="Rectangle 35"/>
          <p:cNvSpPr/>
          <p:nvPr/>
        </p:nvSpPr>
        <p:spPr>
          <a:xfrm>
            <a:off x="457200"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SPEED</a:t>
            </a:r>
          </a:p>
        </p:txBody>
      </p:sp>
      <p:sp>
        <p:nvSpPr>
          <p:cNvPr id="39" name="TextBox 38"/>
          <p:cNvSpPr txBox="1"/>
          <p:nvPr/>
        </p:nvSpPr>
        <p:spPr>
          <a:xfrm>
            <a:off x="640080"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Priority known day 1 · 90 days to impact</a:t>
            </a:r>
          </a:p>
        </p:txBody>
      </p:sp>
      <p:sp>
        <p:nvSpPr>
          <p:cNvPr id="40" name="Rectangle 39"/>
          <p:cNvSpPr/>
          <p:nvPr/>
        </p:nvSpPr>
        <p:spPr>
          <a:xfrm>
            <a:off x="3310813"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310813"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93693"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INCLUSION</a:t>
            </a:r>
          </a:p>
        </p:txBody>
      </p:sp>
      <p:sp>
        <p:nvSpPr>
          <p:cNvPr id="43" name="TextBox 42"/>
          <p:cNvSpPr txBox="1"/>
          <p:nvPr/>
        </p:nvSpPr>
        <p:spPr>
          <a:xfrm>
            <a:off x="3493693"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Ops as contributor, not victim of change</a:t>
            </a:r>
          </a:p>
        </p:txBody>
      </p:sp>
      <p:sp>
        <p:nvSpPr>
          <p:cNvPr id="44" name="Rectangle 43"/>
          <p:cNvSpPr/>
          <p:nvPr/>
        </p:nvSpPr>
        <p:spPr>
          <a:xfrm>
            <a:off x="6164427"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164427"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47307"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UPSKILLING</a:t>
            </a:r>
          </a:p>
        </p:txBody>
      </p:sp>
      <p:sp>
        <p:nvSpPr>
          <p:cNvPr id="47" name="TextBox 46"/>
          <p:cNvSpPr txBox="1"/>
          <p:nvPr/>
        </p:nvSpPr>
        <p:spPr>
          <a:xfrm>
            <a:off x="6347307"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Ops learns AI + IaC by doing</a:t>
            </a:r>
          </a:p>
        </p:txBody>
      </p:sp>
      <p:sp>
        <p:nvSpPr>
          <p:cNvPr id="48" name="Rectangle 47"/>
          <p:cNvSpPr/>
          <p:nvPr/>
        </p:nvSpPr>
        <p:spPr>
          <a:xfrm>
            <a:off x="9018041"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018041"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200921"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RIGHT OUTCOMES</a:t>
            </a:r>
          </a:p>
        </p:txBody>
      </p:sp>
      <p:sp>
        <p:nvSpPr>
          <p:cNvPr id="51" name="TextBox 50"/>
          <p:cNvSpPr txBox="1"/>
          <p:nvPr/>
        </p:nvSpPr>
        <p:spPr>
          <a:xfrm>
            <a:off x="9200921"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Real toil cut · real incidents prevented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VIRTUAL SQUAD FORMATION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How Cross-Squads Are Built  —  No Org Change</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Pull 1-2 people from each existing group. Same managers. Same paychecks. New shared mission. Deliver one platform end-to-end as a single team.</a:t>
            </a:r>
          </a:p>
        </p:txBody>
      </p:sp>
      <p:sp>
        <p:nvSpPr>
          <p:cNvPr id="8" name="TextBox 7"/>
          <p:cNvSpPr txBox="1"/>
          <p:nvPr/>
        </p:nvSpPr>
        <p:spPr>
          <a:xfrm>
            <a:off x="457200" y="1783080"/>
            <a:ext cx="2468880" cy="201168"/>
          </a:xfrm>
          <a:prstGeom prst="rect">
            <a:avLst/>
          </a:prstGeom>
          <a:noFill/>
        </p:spPr>
        <p:txBody>
          <a:bodyPr wrap="square" lIns="0" tIns="0" rIns="0" bIns="0" anchor="t">
            <a:spAutoFit/>
          </a:bodyPr>
          <a:lstStyle/>
          <a:p>
            <a:pPr algn="l"/>
            <a:r>
              <a:rPr sz="950" b="1" i="0" spc="200">
                <a:solidFill>
                  <a:srgbClr val="003DA5"/>
                </a:solidFill>
                <a:latin typeface="Calibri"/>
              </a:rPr>
              <a:t>SOURCE GROUPS (today)</a:t>
            </a:r>
          </a:p>
        </p:txBody>
      </p:sp>
      <p:sp>
        <p:nvSpPr>
          <p:cNvPr id="9" name="Rectangle 8"/>
          <p:cNvSpPr/>
          <p:nvPr/>
        </p:nvSpPr>
        <p:spPr>
          <a:xfrm>
            <a:off x="457200" y="1920240"/>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011680"/>
            <a:ext cx="2194560" cy="274320"/>
          </a:xfrm>
          <a:prstGeom prst="rect">
            <a:avLst/>
          </a:prstGeom>
          <a:noFill/>
        </p:spPr>
        <p:txBody>
          <a:bodyPr wrap="square" lIns="0" tIns="0" rIns="0" bIns="0" anchor="t">
            <a:spAutoFit/>
          </a:bodyPr>
          <a:lstStyle/>
          <a:p>
            <a:pPr algn="l"/>
            <a:r>
              <a:rPr sz="1200" b="1" i="0">
                <a:solidFill>
                  <a:srgbClr val="FFFFFF"/>
                </a:solidFill>
                <a:latin typeface="Georgia"/>
              </a:rPr>
              <a:t>Architecture</a:t>
            </a:r>
          </a:p>
        </p:txBody>
      </p:sp>
      <p:sp>
        <p:nvSpPr>
          <p:cNvPr id="12" name="TextBox 11"/>
          <p:cNvSpPr txBox="1"/>
          <p:nvPr/>
        </p:nvSpPr>
        <p:spPr>
          <a:xfrm>
            <a:off x="640080" y="2249424"/>
            <a:ext cx="2194560" cy="201168"/>
          </a:xfrm>
          <a:prstGeom prst="rect">
            <a:avLst/>
          </a:prstGeom>
          <a:noFill/>
        </p:spPr>
        <p:txBody>
          <a:bodyPr wrap="square" lIns="0" tIns="0" rIns="0" bIns="0" anchor="t">
            <a:spAutoFit/>
          </a:bodyPr>
          <a:lstStyle/>
          <a:p>
            <a:pPr algn="l"/>
            <a:r>
              <a:rPr sz="1000" b="1" i="0">
                <a:solidFill>
                  <a:srgbClr val="FEDF01"/>
                </a:solidFill>
                <a:latin typeface="Calibri"/>
              </a:rPr>
              <a:t>1 person</a:t>
            </a:r>
          </a:p>
        </p:txBody>
      </p:sp>
      <p:sp>
        <p:nvSpPr>
          <p:cNvPr id="13" name="TextBox 12"/>
          <p:cNvSpPr txBox="1"/>
          <p:nvPr/>
        </p:nvSpPr>
        <p:spPr>
          <a:xfrm>
            <a:off x="640080" y="2423160"/>
            <a:ext cx="2194560" cy="201168"/>
          </a:xfrm>
          <a:prstGeom prst="rect">
            <a:avLst/>
          </a:prstGeom>
          <a:noFill/>
        </p:spPr>
        <p:txBody>
          <a:bodyPr wrap="square" lIns="0" tIns="0" rIns="0" bIns="0" anchor="t">
            <a:spAutoFit/>
          </a:bodyPr>
          <a:lstStyle/>
          <a:p>
            <a:pPr algn="l"/>
            <a:r>
              <a:rPr sz="900" b="0" i="1">
                <a:solidFill>
                  <a:srgbClr val="C9D6EE"/>
                </a:solidFill>
                <a:latin typeface="Calibri"/>
              </a:rPr>
              <a:t>design + standards</a:t>
            </a:r>
          </a:p>
        </p:txBody>
      </p:sp>
      <p:sp>
        <p:nvSpPr>
          <p:cNvPr id="14" name="Rectangle 13"/>
          <p:cNvSpPr/>
          <p:nvPr/>
        </p:nvSpPr>
        <p:spPr>
          <a:xfrm>
            <a:off x="457200" y="2710281"/>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710281"/>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801721"/>
            <a:ext cx="2194560" cy="274320"/>
          </a:xfrm>
          <a:prstGeom prst="rect">
            <a:avLst/>
          </a:prstGeom>
          <a:noFill/>
        </p:spPr>
        <p:txBody>
          <a:bodyPr wrap="square" lIns="0" tIns="0" rIns="0" bIns="0" anchor="t">
            <a:spAutoFit/>
          </a:bodyPr>
          <a:lstStyle/>
          <a:p>
            <a:pPr algn="l"/>
            <a:r>
              <a:rPr sz="1200" b="1" i="0">
                <a:solidFill>
                  <a:srgbClr val="FFFFFF"/>
                </a:solidFill>
                <a:latin typeface="Georgia"/>
              </a:rPr>
              <a:t>Engineering</a:t>
            </a:r>
          </a:p>
        </p:txBody>
      </p:sp>
      <p:sp>
        <p:nvSpPr>
          <p:cNvPr id="17" name="TextBox 16"/>
          <p:cNvSpPr txBox="1"/>
          <p:nvPr/>
        </p:nvSpPr>
        <p:spPr>
          <a:xfrm>
            <a:off x="640080" y="3039465"/>
            <a:ext cx="2194560" cy="201168"/>
          </a:xfrm>
          <a:prstGeom prst="rect">
            <a:avLst/>
          </a:prstGeom>
          <a:noFill/>
        </p:spPr>
        <p:txBody>
          <a:bodyPr wrap="square" lIns="0" tIns="0" rIns="0" bIns="0" anchor="t">
            <a:spAutoFit/>
          </a:bodyPr>
          <a:lstStyle/>
          <a:p>
            <a:pPr algn="l"/>
            <a:r>
              <a:rPr sz="1000" b="1" i="0">
                <a:solidFill>
                  <a:srgbClr val="FEDF01"/>
                </a:solidFill>
                <a:latin typeface="Calibri"/>
              </a:rPr>
              <a:t>2 people</a:t>
            </a:r>
          </a:p>
        </p:txBody>
      </p:sp>
      <p:sp>
        <p:nvSpPr>
          <p:cNvPr id="18" name="TextBox 17"/>
          <p:cNvSpPr txBox="1"/>
          <p:nvPr/>
        </p:nvSpPr>
        <p:spPr>
          <a:xfrm>
            <a:off x="640080" y="3213201"/>
            <a:ext cx="2194560" cy="201168"/>
          </a:xfrm>
          <a:prstGeom prst="rect">
            <a:avLst/>
          </a:prstGeom>
          <a:noFill/>
        </p:spPr>
        <p:txBody>
          <a:bodyPr wrap="square" lIns="0" tIns="0" rIns="0" bIns="0" anchor="t">
            <a:spAutoFit/>
          </a:bodyPr>
          <a:lstStyle/>
          <a:p>
            <a:pPr algn="l"/>
            <a:r>
              <a:rPr sz="900" b="0" i="1">
                <a:solidFill>
                  <a:srgbClr val="C9D6EE"/>
                </a:solidFill>
                <a:latin typeface="Calibri"/>
              </a:rPr>
              <a:t>build + IaC modules</a:t>
            </a:r>
          </a:p>
        </p:txBody>
      </p:sp>
      <p:sp>
        <p:nvSpPr>
          <p:cNvPr id="19" name="Rectangle 18"/>
          <p:cNvSpPr/>
          <p:nvPr/>
        </p:nvSpPr>
        <p:spPr>
          <a:xfrm>
            <a:off x="457200" y="3500323"/>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3500323"/>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3591763"/>
            <a:ext cx="2194560" cy="274320"/>
          </a:xfrm>
          <a:prstGeom prst="rect">
            <a:avLst/>
          </a:prstGeom>
          <a:noFill/>
        </p:spPr>
        <p:txBody>
          <a:bodyPr wrap="square" lIns="0" tIns="0" rIns="0" bIns="0" anchor="t">
            <a:spAutoFit/>
          </a:bodyPr>
          <a:lstStyle/>
          <a:p>
            <a:pPr algn="l"/>
            <a:r>
              <a:rPr sz="1200" b="1" i="0">
                <a:solidFill>
                  <a:srgbClr val="FFFFFF"/>
                </a:solidFill>
                <a:latin typeface="Georgia"/>
              </a:rPr>
              <a:t>Intelligent Ops</a:t>
            </a:r>
          </a:p>
        </p:txBody>
      </p:sp>
      <p:sp>
        <p:nvSpPr>
          <p:cNvPr id="22" name="TextBox 21"/>
          <p:cNvSpPr txBox="1"/>
          <p:nvPr/>
        </p:nvSpPr>
        <p:spPr>
          <a:xfrm>
            <a:off x="640080" y="3829507"/>
            <a:ext cx="2194560" cy="201168"/>
          </a:xfrm>
          <a:prstGeom prst="rect">
            <a:avLst/>
          </a:prstGeom>
          <a:noFill/>
        </p:spPr>
        <p:txBody>
          <a:bodyPr wrap="square" lIns="0" tIns="0" rIns="0" bIns="0" anchor="t">
            <a:spAutoFit/>
          </a:bodyPr>
          <a:lstStyle/>
          <a:p>
            <a:pPr algn="l"/>
            <a:r>
              <a:rPr sz="1000" b="1" i="0">
                <a:solidFill>
                  <a:srgbClr val="FEDF01"/>
                </a:solidFill>
                <a:latin typeface="Calibri"/>
              </a:rPr>
              <a:t>1-2 people</a:t>
            </a:r>
          </a:p>
        </p:txBody>
      </p:sp>
      <p:sp>
        <p:nvSpPr>
          <p:cNvPr id="23" name="TextBox 22"/>
          <p:cNvSpPr txBox="1"/>
          <p:nvPr/>
        </p:nvSpPr>
        <p:spPr>
          <a:xfrm>
            <a:off x="640080" y="4003243"/>
            <a:ext cx="2194560" cy="201168"/>
          </a:xfrm>
          <a:prstGeom prst="rect">
            <a:avLst/>
          </a:prstGeom>
          <a:noFill/>
        </p:spPr>
        <p:txBody>
          <a:bodyPr wrap="square" lIns="0" tIns="0" rIns="0" bIns="0" anchor="t">
            <a:spAutoFit/>
          </a:bodyPr>
          <a:lstStyle/>
          <a:p>
            <a:pPr algn="l"/>
            <a:r>
              <a:rPr sz="900" b="0" i="1">
                <a:solidFill>
                  <a:srgbClr val="C9D6EE"/>
                </a:solidFill>
                <a:latin typeface="Calibri"/>
              </a:rPr>
              <a:t>agents + automation</a:t>
            </a:r>
          </a:p>
        </p:txBody>
      </p:sp>
      <p:sp>
        <p:nvSpPr>
          <p:cNvPr id="24" name="Rectangle 23"/>
          <p:cNvSpPr/>
          <p:nvPr/>
        </p:nvSpPr>
        <p:spPr>
          <a:xfrm>
            <a:off x="457200" y="4290364"/>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4290364"/>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4381804"/>
            <a:ext cx="2194560" cy="274320"/>
          </a:xfrm>
          <a:prstGeom prst="rect">
            <a:avLst/>
          </a:prstGeom>
          <a:noFill/>
        </p:spPr>
        <p:txBody>
          <a:bodyPr wrap="square" lIns="0" tIns="0" rIns="0" bIns="0" anchor="t">
            <a:spAutoFit/>
          </a:bodyPr>
          <a:lstStyle/>
          <a:p>
            <a:pPr algn="l"/>
            <a:r>
              <a:rPr sz="1200" b="1" i="0">
                <a:solidFill>
                  <a:srgbClr val="FFFFFF"/>
                </a:solidFill>
                <a:latin typeface="Georgia"/>
              </a:rPr>
              <a:t>Operations</a:t>
            </a:r>
          </a:p>
        </p:txBody>
      </p:sp>
      <p:sp>
        <p:nvSpPr>
          <p:cNvPr id="27" name="TextBox 26"/>
          <p:cNvSpPr txBox="1"/>
          <p:nvPr/>
        </p:nvSpPr>
        <p:spPr>
          <a:xfrm>
            <a:off x="640080" y="4619548"/>
            <a:ext cx="2194560" cy="201168"/>
          </a:xfrm>
          <a:prstGeom prst="rect">
            <a:avLst/>
          </a:prstGeom>
          <a:noFill/>
        </p:spPr>
        <p:txBody>
          <a:bodyPr wrap="square" lIns="0" tIns="0" rIns="0" bIns="0" anchor="t">
            <a:spAutoFit/>
          </a:bodyPr>
          <a:lstStyle/>
          <a:p>
            <a:pPr algn="l"/>
            <a:r>
              <a:rPr sz="1000" b="1" i="0">
                <a:solidFill>
                  <a:srgbClr val="FEDF01"/>
                </a:solidFill>
                <a:latin typeface="Calibri"/>
              </a:rPr>
              <a:t>2 people</a:t>
            </a:r>
          </a:p>
        </p:txBody>
      </p:sp>
      <p:sp>
        <p:nvSpPr>
          <p:cNvPr id="28" name="TextBox 27"/>
          <p:cNvSpPr txBox="1"/>
          <p:nvPr/>
        </p:nvSpPr>
        <p:spPr>
          <a:xfrm>
            <a:off x="640080" y="4793284"/>
            <a:ext cx="2194560" cy="201168"/>
          </a:xfrm>
          <a:prstGeom prst="rect">
            <a:avLst/>
          </a:prstGeom>
          <a:noFill/>
        </p:spPr>
        <p:txBody>
          <a:bodyPr wrap="square" lIns="0" tIns="0" rIns="0" bIns="0" anchor="t">
            <a:spAutoFit/>
          </a:bodyPr>
          <a:lstStyle/>
          <a:p>
            <a:pPr algn="l"/>
            <a:r>
              <a:rPr sz="900" b="0" i="1">
                <a:solidFill>
                  <a:srgbClr val="C9D6EE"/>
                </a:solidFill>
                <a:latin typeface="Calibri"/>
              </a:rPr>
              <a:t>real toil + on-call</a:t>
            </a:r>
          </a:p>
        </p:txBody>
      </p:sp>
      <p:sp>
        <p:nvSpPr>
          <p:cNvPr id="29" name="Rectangle 28"/>
          <p:cNvSpPr/>
          <p:nvPr/>
        </p:nvSpPr>
        <p:spPr>
          <a:xfrm>
            <a:off x="457200" y="5080406"/>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5080406"/>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5171846"/>
            <a:ext cx="2194560" cy="274320"/>
          </a:xfrm>
          <a:prstGeom prst="rect">
            <a:avLst/>
          </a:prstGeom>
          <a:noFill/>
        </p:spPr>
        <p:txBody>
          <a:bodyPr wrap="square" lIns="0" tIns="0" rIns="0" bIns="0" anchor="t">
            <a:spAutoFit/>
          </a:bodyPr>
          <a:lstStyle/>
          <a:p>
            <a:pPr algn="l"/>
            <a:r>
              <a:rPr sz="1200" b="1" i="0">
                <a:solidFill>
                  <a:srgbClr val="FFFFFF"/>
                </a:solidFill>
                <a:latin typeface="Georgia"/>
              </a:rPr>
              <a:t>DBA / SME</a:t>
            </a:r>
          </a:p>
        </p:txBody>
      </p:sp>
      <p:sp>
        <p:nvSpPr>
          <p:cNvPr id="32" name="TextBox 31"/>
          <p:cNvSpPr txBox="1"/>
          <p:nvPr/>
        </p:nvSpPr>
        <p:spPr>
          <a:xfrm>
            <a:off x="640080" y="5409590"/>
            <a:ext cx="2194560" cy="201168"/>
          </a:xfrm>
          <a:prstGeom prst="rect">
            <a:avLst/>
          </a:prstGeom>
          <a:noFill/>
        </p:spPr>
        <p:txBody>
          <a:bodyPr wrap="square" lIns="0" tIns="0" rIns="0" bIns="0" anchor="t">
            <a:spAutoFit/>
          </a:bodyPr>
          <a:lstStyle/>
          <a:p>
            <a:pPr algn="l"/>
            <a:r>
              <a:rPr sz="1000" b="1" i="0">
                <a:solidFill>
                  <a:srgbClr val="FEDF01"/>
                </a:solidFill>
                <a:latin typeface="Calibri"/>
              </a:rPr>
              <a:t>1-2 people</a:t>
            </a:r>
          </a:p>
        </p:txBody>
      </p:sp>
      <p:sp>
        <p:nvSpPr>
          <p:cNvPr id="33" name="TextBox 32"/>
          <p:cNvSpPr txBox="1"/>
          <p:nvPr/>
        </p:nvSpPr>
        <p:spPr>
          <a:xfrm>
            <a:off x="640080" y="5583326"/>
            <a:ext cx="2194560" cy="201168"/>
          </a:xfrm>
          <a:prstGeom prst="rect">
            <a:avLst/>
          </a:prstGeom>
          <a:noFill/>
        </p:spPr>
        <p:txBody>
          <a:bodyPr wrap="square" lIns="0" tIns="0" rIns="0" bIns="0" anchor="t">
            <a:spAutoFit/>
          </a:bodyPr>
          <a:lstStyle/>
          <a:p>
            <a:pPr algn="l"/>
            <a:r>
              <a:rPr sz="900" b="0" i="1">
                <a:solidFill>
                  <a:srgbClr val="C9D6EE"/>
                </a:solidFill>
                <a:latin typeface="Calibri"/>
              </a:rPr>
              <a:t>deep capability expertise</a:t>
            </a:r>
          </a:p>
        </p:txBody>
      </p:sp>
      <p:sp>
        <p:nvSpPr>
          <p:cNvPr id="34" name="TextBox 33"/>
          <p:cNvSpPr txBox="1"/>
          <p:nvPr/>
        </p:nvSpPr>
        <p:spPr>
          <a:xfrm>
            <a:off x="4617720" y="1691640"/>
            <a:ext cx="2971800" cy="201168"/>
          </a:xfrm>
          <a:prstGeom prst="rect">
            <a:avLst/>
          </a:prstGeom>
          <a:noFill/>
        </p:spPr>
        <p:txBody>
          <a:bodyPr wrap="square" lIns="0" tIns="0" rIns="0" bIns="0" anchor="t">
            <a:spAutoFit/>
          </a:bodyPr>
          <a:lstStyle/>
          <a:p>
            <a:pPr algn="ctr"/>
            <a:r>
              <a:rPr sz="950" b="1" i="0" spc="200">
                <a:solidFill>
                  <a:srgbClr val="003DA5"/>
                </a:solidFill>
                <a:latin typeface="Calibri"/>
              </a:rPr>
              <a:t>VIRTUAL SQUAD (new)</a:t>
            </a:r>
          </a:p>
        </p:txBody>
      </p:sp>
      <p:sp>
        <p:nvSpPr>
          <p:cNvPr id="35" name="Rectangle 34"/>
          <p:cNvSpPr/>
          <p:nvPr/>
        </p:nvSpPr>
        <p:spPr>
          <a:xfrm>
            <a:off x="4617720" y="1920240"/>
            <a:ext cx="2971800" cy="38404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17720" y="1920240"/>
            <a:ext cx="29718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62856" y="1865376"/>
            <a:ext cx="3081528" cy="395020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00600" y="2194560"/>
            <a:ext cx="2606040" cy="365760"/>
          </a:xfrm>
          <a:prstGeom prst="rect">
            <a:avLst/>
          </a:prstGeom>
          <a:noFill/>
        </p:spPr>
        <p:txBody>
          <a:bodyPr wrap="square" lIns="0" tIns="0" rIns="0" bIns="0" anchor="t">
            <a:spAutoFit/>
          </a:bodyPr>
          <a:lstStyle/>
          <a:p>
            <a:pPr algn="ctr"/>
            <a:r>
              <a:rPr sz="1800" b="1" i="0">
                <a:solidFill>
                  <a:srgbClr val="FFFFFF"/>
                </a:solidFill>
                <a:latin typeface="Georgia"/>
              </a:rPr>
              <a:t>SQL Server Squad</a:t>
            </a:r>
          </a:p>
        </p:txBody>
      </p:sp>
      <p:sp>
        <p:nvSpPr>
          <p:cNvPr id="39" name="TextBox 38"/>
          <p:cNvSpPr txBox="1"/>
          <p:nvPr/>
        </p:nvSpPr>
        <p:spPr>
          <a:xfrm>
            <a:off x="4800600" y="2578608"/>
            <a:ext cx="2606040" cy="228600"/>
          </a:xfrm>
          <a:prstGeom prst="rect">
            <a:avLst/>
          </a:prstGeom>
          <a:noFill/>
        </p:spPr>
        <p:txBody>
          <a:bodyPr wrap="square" lIns="0" tIns="0" rIns="0" bIns="0" anchor="t">
            <a:spAutoFit/>
          </a:bodyPr>
          <a:lstStyle/>
          <a:p>
            <a:pPr algn="ctr"/>
            <a:r>
              <a:rPr sz="1100" b="0" i="1">
                <a:solidFill>
                  <a:srgbClr val="FEDF01"/>
                </a:solidFill>
                <a:latin typeface="Calibri"/>
              </a:rPr>
              <a:t>7-9 people · virtual · 90 days</a:t>
            </a:r>
          </a:p>
        </p:txBody>
      </p:sp>
      <p:sp>
        <p:nvSpPr>
          <p:cNvPr id="40" name="Rectangle 39"/>
          <p:cNvSpPr/>
          <p:nvPr/>
        </p:nvSpPr>
        <p:spPr>
          <a:xfrm>
            <a:off x="4983480" y="2926080"/>
            <a:ext cx="22402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00600" y="3017520"/>
            <a:ext cx="2606040" cy="201168"/>
          </a:xfrm>
          <a:prstGeom prst="rect">
            <a:avLst/>
          </a:prstGeom>
          <a:noFill/>
        </p:spPr>
        <p:txBody>
          <a:bodyPr wrap="square" lIns="0" tIns="0" rIns="0" bIns="0" anchor="t">
            <a:spAutoFit/>
          </a:bodyPr>
          <a:lstStyle/>
          <a:p>
            <a:pPr algn="ctr"/>
            <a:r>
              <a:rPr sz="900" b="1" i="0" spc="200">
                <a:solidFill>
                  <a:srgbClr val="FEDF01"/>
                </a:solidFill>
                <a:latin typeface="Calibri"/>
              </a:rPr>
              <a:t>ROLE MIX</a:t>
            </a:r>
          </a:p>
        </p:txBody>
      </p:sp>
      <p:sp>
        <p:nvSpPr>
          <p:cNvPr id="42" name="Rectangle 41"/>
          <p:cNvSpPr/>
          <p:nvPr/>
        </p:nvSpPr>
        <p:spPr>
          <a:xfrm>
            <a:off x="4800600" y="3310128"/>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800600" y="3310128"/>
            <a:ext cx="838200" cy="310896"/>
          </a:xfrm>
          <a:prstGeom prst="rect">
            <a:avLst/>
          </a:prstGeom>
          <a:noFill/>
        </p:spPr>
        <p:txBody>
          <a:bodyPr wrap="square" lIns="0" tIns="0" rIns="0" bIns="0" anchor="ctr">
            <a:spAutoFit/>
          </a:bodyPr>
          <a:lstStyle/>
          <a:p>
            <a:pPr algn="ctr"/>
            <a:r>
              <a:rPr sz="1000" b="1" i="0">
                <a:solidFill>
                  <a:srgbClr val="001F5C"/>
                </a:solidFill>
                <a:latin typeface="Calibri"/>
              </a:rPr>
              <a:t>Arch</a:t>
            </a:r>
          </a:p>
        </p:txBody>
      </p:sp>
      <p:sp>
        <p:nvSpPr>
          <p:cNvPr id="44" name="Rectangle 43"/>
          <p:cNvSpPr/>
          <p:nvPr/>
        </p:nvSpPr>
        <p:spPr>
          <a:xfrm>
            <a:off x="5684520" y="3310128"/>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684520" y="3310128"/>
            <a:ext cx="838200" cy="310896"/>
          </a:xfrm>
          <a:prstGeom prst="rect">
            <a:avLst/>
          </a:prstGeom>
          <a:noFill/>
        </p:spPr>
        <p:txBody>
          <a:bodyPr wrap="square" lIns="0" tIns="0" rIns="0" bIns="0" anchor="ctr">
            <a:spAutoFit/>
          </a:bodyPr>
          <a:lstStyle/>
          <a:p>
            <a:pPr algn="ctr"/>
            <a:r>
              <a:rPr sz="1000" b="1" i="0">
                <a:solidFill>
                  <a:srgbClr val="001F5C"/>
                </a:solidFill>
                <a:latin typeface="Calibri"/>
              </a:rPr>
              <a:t>Eng</a:t>
            </a:r>
          </a:p>
        </p:txBody>
      </p:sp>
      <p:sp>
        <p:nvSpPr>
          <p:cNvPr id="46" name="Rectangle 45"/>
          <p:cNvSpPr/>
          <p:nvPr/>
        </p:nvSpPr>
        <p:spPr>
          <a:xfrm>
            <a:off x="6568440" y="3310128"/>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68440" y="3310128"/>
            <a:ext cx="838200" cy="310896"/>
          </a:xfrm>
          <a:prstGeom prst="rect">
            <a:avLst/>
          </a:prstGeom>
          <a:noFill/>
        </p:spPr>
        <p:txBody>
          <a:bodyPr wrap="square" lIns="0" tIns="0" rIns="0" bIns="0" anchor="ctr">
            <a:spAutoFit/>
          </a:bodyPr>
          <a:lstStyle/>
          <a:p>
            <a:pPr algn="ctr"/>
            <a:r>
              <a:rPr sz="1000" b="1" i="0">
                <a:solidFill>
                  <a:srgbClr val="001F5C"/>
                </a:solidFill>
                <a:latin typeface="Calibri"/>
              </a:rPr>
              <a:t>IntelOps</a:t>
            </a:r>
          </a:p>
        </p:txBody>
      </p:sp>
      <p:sp>
        <p:nvSpPr>
          <p:cNvPr id="48" name="Rectangle 47"/>
          <p:cNvSpPr/>
          <p:nvPr/>
        </p:nvSpPr>
        <p:spPr>
          <a:xfrm>
            <a:off x="5242560" y="3666744"/>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42560" y="3666744"/>
            <a:ext cx="838200" cy="310896"/>
          </a:xfrm>
          <a:prstGeom prst="rect">
            <a:avLst/>
          </a:prstGeom>
          <a:noFill/>
        </p:spPr>
        <p:txBody>
          <a:bodyPr wrap="square" lIns="0" tIns="0" rIns="0" bIns="0" anchor="ctr">
            <a:spAutoFit/>
          </a:bodyPr>
          <a:lstStyle/>
          <a:p>
            <a:pPr algn="ctr"/>
            <a:r>
              <a:rPr sz="1000" b="1" i="0">
                <a:solidFill>
                  <a:srgbClr val="001F5C"/>
                </a:solidFill>
                <a:latin typeface="Calibri"/>
              </a:rPr>
              <a:t>Ops</a:t>
            </a:r>
          </a:p>
        </p:txBody>
      </p:sp>
      <p:sp>
        <p:nvSpPr>
          <p:cNvPr id="50" name="Rectangle 49"/>
          <p:cNvSpPr/>
          <p:nvPr/>
        </p:nvSpPr>
        <p:spPr>
          <a:xfrm>
            <a:off x="6126480" y="3666744"/>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126480" y="3666744"/>
            <a:ext cx="838200" cy="310896"/>
          </a:xfrm>
          <a:prstGeom prst="rect">
            <a:avLst/>
          </a:prstGeom>
          <a:noFill/>
        </p:spPr>
        <p:txBody>
          <a:bodyPr wrap="square" lIns="0" tIns="0" rIns="0" bIns="0" anchor="ctr">
            <a:spAutoFit/>
          </a:bodyPr>
          <a:lstStyle/>
          <a:p>
            <a:pPr algn="ctr"/>
            <a:r>
              <a:rPr sz="1000" b="1" i="0">
                <a:solidFill>
                  <a:srgbClr val="001F5C"/>
                </a:solidFill>
                <a:latin typeface="Calibri"/>
              </a:rPr>
              <a:t>DBA</a:t>
            </a:r>
          </a:p>
        </p:txBody>
      </p:sp>
      <p:sp>
        <p:nvSpPr>
          <p:cNvPr id="52" name="TextBox 51"/>
          <p:cNvSpPr txBox="1"/>
          <p:nvPr/>
        </p:nvSpPr>
        <p:spPr>
          <a:xfrm>
            <a:off x="4800600" y="4617720"/>
            <a:ext cx="2606040" cy="201168"/>
          </a:xfrm>
          <a:prstGeom prst="rect">
            <a:avLst/>
          </a:prstGeom>
          <a:noFill/>
        </p:spPr>
        <p:txBody>
          <a:bodyPr wrap="square" lIns="0" tIns="0" rIns="0" bIns="0" anchor="t">
            <a:spAutoFit/>
          </a:bodyPr>
          <a:lstStyle/>
          <a:p>
            <a:pPr algn="ctr"/>
            <a:r>
              <a:rPr sz="900" b="1" i="0" spc="200">
                <a:solidFill>
                  <a:srgbClr val="FEDF01"/>
                </a:solidFill>
                <a:latin typeface="Calibri"/>
              </a:rPr>
              <a:t>RULES</a:t>
            </a:r>
          </a:p>
        </p:txBody>
      </p:sp>
      <p:sp>
        <p:nvSpPr>
          <p:cNvPr id="53" name="TextBox 52"/>
          <p:cNvSpPr txBox="1"/>
          <p:nvPr/>
        </p:nvSpPr>
        <p:spPr>
          <a:xfrm>
            <a:off x="4892040" y="4873752"/>
            <a:ext cx="2514600" cy="228600"/>
          </a:xfrm>
          <a:prstGeom prst="rect">
            <a:avLst/>
          </a:prstGeom>
          <a:noFill/>
        </p:spPr>
        <p:txBody>
          <a:bodyPr wrap="square" lIns="0" tIns="0" rIns="0" bIns="0" anchor="t">
            <a:spAutoFit/>
          </a:bodyPr>
          <a:lstStyle/>
          <a:p>
            <a:pPr algn="l"/>
            <a:r>
              <a:rPr sz="1000" b="0" i="0">
                <a:solidFill>
                  <a:srgbClr val="FFFFFF"/>
                </a:solidFill>
                <a:latin typeface="Calibri"/>
              </a:rPr>
              <a:t>✓ Keep current manager</a:t>
            </a:r>
          </a:p>
        </p:txBody>
      </p:sp>
      <p:sp>
        <p:nvSpPr>
          <p:cNvPr id="54" name="TextBox 53"/>
          <p:cNvSpPr txBox="1"/>
          <p:nvPr/>
        </p:nvSpPr>
        <p:spPr>
          <a:xfrm>
            <a:off x="4892040" y="5120640"/>
            <a:ext cx="2514600" cy="228600"/>
          </a:xfrm>
          <a:prstGeom prst="rect">
            <a:avLst/>
          </a:prstGeom>
          <a:noFill/>
        </p:spPr>
        <p:txBody>
          <a:bodyPr wrap="square" lIns="0" tIns="0" rIns="0" bIns="0" anchor="t">
            <a:spAutoFit/>
          </a:bodyPr>
          <a:lstStyle/>
          <a:p>
            <a:pPr algn="l"/>
            <a:r>
              <a:rPr sz="1000" b="0" i="0">
                <a:solidFill>
                  <a:srgbClr val="FFFFFF"/>
                </a:solidFill>
                <a:latin typeface="Calibri"/>
              </a:rPr>
              <a:t>✓ Shared OKR + backlog</a:t>
            </a:r>
          </a:p>
        </p:txBody>
      </p:sp>
      <p:sp>
        <p:nvSpPr>
          <p:cNvPr id="55" name="TextBox 54"/>
          <p:cNvSpPr txBox="1"/>
          <p:nvPr/>
        </p:nvSpPr>
        <p:spPr>
          <a:xfrm>
            <a:off x="4892040" y="5367528"/>
            <a:ext cx="2514600" cy="228600"/>
          </a:xfrm>
          <a:prstGeom prst="rect">
            <a:avLst/>
          </a:prstGeom>
          <a:noFill/>
        </p:spPr>
        <p:txBody>
          <a:bodyPr wrap="square" lIns="0" tIns="0" rIns="0" bIns="0" anchor="t">
            <a:spAutoFit/>
          </a:bodyPr>
          <a:lstStyle/>
          <a:p>
            <a:pPr algn="l"/>
            <a:r>
              <a:rPr sz="1000" b="0" i="0">
                <a:solidFill>
                  <a:srgbClr val="FFFFFF"/>
                </a:solidFill>
                <a:latin typeface="Calibri"/>
              </a:rPr>
              <a:t>✓ 60-80% allocation</a:t>
            </a:r>
          </a:p>
        </p:txBody>
      </p:sp>
      <p:sp>
        <p:nvSpPr>
          <p:cNvPr id="56" name="TextBox 55"/>
          <p:cNvSpPr txBox="1"/>
          <p:nvPr/>
        </p:nvSpPr>
        <p:spPr>
          <a:xfrm>
            <a:off x="9098280" y="1783080"/>
            <a:ext cx="2651760" cy="201168"/>
          </a:xfrm>
          <a:prstGeom prst="rect">
            <a:avLst/>
          </a:prstGeom>
          <a:noFill/>
        </p:spPr>
        <p:txBody>
          <a:bodyPr wrap="square" lIns="0" tIns="0" rIns="0" bIns="0" anchor="t">
            <a:spAutoFit/>
          </a:bodyPr>
          <a:lstStyle/>
          <a:p>
            <a:pPr algn="l"/>
            <a:r>
              <a:rPr sz="950" b="1" i="0" spc="200">
                <a:solidFill>
                  <a:srgbClr val="003DA5"/>
                </a:solidFill>
                <a:latin typeface="Calibri"/>
              </a:rPr>
              <a:t>END-TO-END DELIVERY</a:t>
            </a:r>
          </a:p>
        </p:txBody>
      </p:sp>
      <p:sp>
        <p:nvSpPr>
          <p:cNvPr id="57" name="Rectangle 56"/>
          <p:cNvSpPr/>
          <p:nvPr/>
        </p:nvSpPr>
        <p:spPr>
          <a:xfrm>
            <a:off x="9098280" y="1920240"/>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9098280" y="1920240"/>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281159" y="2029968"/>
            <a:ext cx="2377440" cy="292608"/>
          </a:xfrm>
          <a:prstGeom prst="rect">
            <a:avLst/>
          </a:prstGeom>
          <a:noFill/>
        </p:spPr>
        <p:txBody>
          <a:bodyPr wrap="square" lIns="0" tIns="0" rIns="0" bIns="0" anchor="t">
            <a:spAutoFit/>
          </a:bodyPr>
          <a:lstStyle/>
          <a:p>
            <a:pPr algn="l"/>
            <a:r>
              <a:rPr sz="1200" b="1" i="0">
                <a:solidFill>
                  <a:srgbClr val="001F5C"/>
                </a:solidFill>
                <a:latin typeface="Calibri"/>
              </a:rPr>
              <a:t>IaC modules</a:t>
            </a:r>
          </a:p>
        </p:txBody>
      </p:sp>
      <p:sp>
        <p:nvSpPr>
          <p:cNvPr id="60" name="TextBox 59"/>
          <p:cNvSpPr txBox="1"/>
          <p:nvPr/>
        </p:nvSpPr>
        <p:spPr>
          <a:xfrm>
            <a:off x="9281159" y="2304288"/>
            <a:ext cx="2377440" cy="201168"/>
          </a:xfrm>
          <a:prstGeom prst="rect">
            <a:avLst/>
          </a:prstGeom>
          <a:noFill/>
        </p:spPr>
        <p:txBody>
          <a:bodyPr wrap="square" lIns="0" tIns="0" rIns="0" bIns="0" anchor="t">
            <a:spAutoFit/>
          </a:bodyPr>
          <a:lstStyle/>
          <a:p>
            <a:pPr algn="l"/>
            <a:r>
              <a:rPr sz="1000" b="0" i="1">
                <a:solidFill>
                  <a:srgbClr val="64748B"/>
                </a:solidFill>
                <a:latin typeface="Calibri"/>
              </a:rPr>
              <a:t>production-ready</a:t>
            </a:r>
          </a:p>
        </p:txBody>
      </p:sp>
      <p:sp>
        <p:nvSpPr>
          <p:cNvPr id="61" name="Rectangle 60"/>
          <p:cNvSpPr/>
          <p:nvPr/>
        </p:nvSpPr>
        <p:spPr>
          <a:xfrm>
            <a:off x="9098280" y="2710281"/>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9098280" y="2710281"/>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281159" y="2820009"/>
            <a:ext cx="2377440" cy="292608"/>
          </a:xfrm>
          <a:prstGeom prst="rect">
            <a:avLst/>
          </a:prstGeom>
          <a:noFill/>
        </p:spPr>
        <p:txBody>
          <a:bodyPr wrap="square" lIns="0" tIns="0" rIns="0" bIns="0" anchor="t">
            <a:spAutoFit/>
          </a:bodyPr>
          <a:lstStyle/>
          <a:p>
            <a:pPr algn="l"/>
            <a:r>
              <a:rPr sz="1200" b="1" i="0">
                <a:solidFill>
                  <a:srgbClr val="001F5C"/>
                </a:solidFill>
                <a:latin typeface="Calibri"/>
              </a:rPr>
              <a:t>AI incident agents</a:t>
            </a:r>
          </a:p>
        </p:txBody>
      </p:sp>
      <p:sp>
        <p:nvSpPr>
          <p:cNvPr id="64" name="TextBox 63"/>
          <p:cNvSpPr txBox="1"/>
          <p:nvPr/>
        </p:nvSpPr>
        <p:spPr>
          <a:xfrm>
            <a:off x="9281159" y="3094329"/>
            <a:ext cx="2377440" cy="201168"/>
          </a:xfrm>
          <a:prstGeom prst="rect">
            <a:avLst/>
          </a:prstGeom>
          <a:noFill/>
        </p:spPr>
        <p:txBody>
          <a:bodyPr wrap="square" lIns="0" tIns="0" rIns="0" bIns="0" anchor="t">
            <a:spAutoFit/>
          </a:bodyPr>
          <a:lstStyle/>
          <a:p>
            <a:pPr algn="l"/>
            <a:r>
              <a:rPr sz="1000" b="0" i="1">
                <a:solidFill>
                  <a:srgbClr val="64748B"/>
                </a:solidFill>
                <a:latin typeface="Calibri"/>
              </a:rPr>
              <a:t>top recurring fires</a:t>
            </a:r>
          </a:p>
        </p:txBody>
      </p:sp>
      <p:sp>
        <p:nvSpPr>
          <p:cNvPr id="65" name="Rectangle 64"/>
          <p:cNvSpPr/>
          <p:nvPr/>
        </p:nvSpPr>
        <p:spPr>
          <a:xfrm>
            <a:off x="9098280" y="3500323"/>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9098280" y="3500323"/>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281159" y="3610051"/>
            <a:ext cx="2377440" cy="292608"/>
          </a:xfrm>
          <a:prstGeom prst="rect">
            <a:avLst/>
          </a:prstGeom>
          <a:noFill/>
        </p:spPr>
        <p:txBody>
          <a:bodyPr wrap="square" lIns="0" tIns="0" rIns="0" bIns="0" anchor="t">
            <a:spAutoFit/>
          </a:bodyPr>
          <a:lstStyle/>
          <a:p>
            <a:pPr algn="l"/>
            <a:r>
              <a:rPr sz="1200" b="1" i="0">
                <a:solidFill>
                  <a:srgbClr val="001F5C"/>
                </a:solidFill>
                <a:latin typeface="Calibri"/>
              </a:rPr>
              <a:t>Automated toil removal</a:t>
            </a:r>
          </a:p>
        </p:txBody>
      </p:sp>
      <p:sp>
        <p:nvSpPr>
          <p:cNvPr id="68" name="TextBox 67"/>
          <p:cNvSpPr txBox="1"/>
          <p:nvPr/>
        </p:nvSpPr>
        <p:spPr>
          <a:xfrm>
            <a:off x="9281159" y="3884371"/>
            <a:ext cx="2377440" cy="201168"/>
          </a:xfrm>
          <a:prstGeom prst="rect">
            <a:avLst/>
          </a:prstGeom>
          <a:noFill/>
        </p:spPr>
        <p:txBody>
          <a:bodyPr wrap="square" lIns="0" tIns="0" rIns="0" bIns="0" anchor="t">
            <a:spAutoFit/>
          </a:bodyPr>
          <a:lstStyle/>
          <a:p>
            <a:pPr algn="l"/>
            <a:r>
              <a:rPr sz="1000" b="0" i="1">
                <a:solidFill>
                  <a:srgbClr val="64748B"/>
                </a:solidFill>
                <a:latin typeface="Calibri"/>
              </a:rPr>
              <a:t>real Ops backlog</a:t>
            </a:r>
          </a:p>
        </p:txBody>
      </p:sp>
      <p:sp>
        <p:nvSpPr>
          <p:cNvPr id="69" name="Rectangle 68"/>
          <p:cNvSpPr/>
          <p:nvPr/>
        </p:nvSpPr>
        <p:spPr>
          <a:xfrm>
            <a:off x="9098280" y="4290364"/>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98280" y="4290364"/>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281159" y="4400092"/>
            <a:ext cx="2377440" cy="292608"/>
          </a:xfrm>
          <a:prstGeom prst="rect">
            <a:avLst/>
          </a:prstGeom>
          <a:noFill/>
        </p:spPr>
        <p:txBody>
          <a:bodyPr wrap="square" lIns="0" tIns="0" rIns="0" bIns="0" anchor="t">
            <a:spAutoFit/>
          </a:bodyPr>
          <a:lstStyle/>
          <a:p>
            <a:pPr algn="l"/>
            <a:r>
              <a:rPr sz="1200" b="1" i="0">
                <a:solidFill>
                  <a:srgbClr val="001F5C"/>
                </a:solidFill>
                <a:latin typeface="Calibri"/>
              </a:rPr>
              <a:t>Runbooks → code</a:t>
            </a:r>
          </a:p>
        </p:txBody>
      </p:sp>
      <p:sp>
        <p:nvSpPr>
          <p:cNvPr id="72" name="TextBox 71"/>
          <p:cNvSpPr txBox="1"/>
          <p:nvPr/>
        </p:nvSpPr>
        <p:spPr>
          <a:xfrm>
            <a:off x="9281159" y="4674412"/>
            <a:ext cx="2377440" cy="201168"/>
          </a:xfrm>
          <a:prstGeom prst="rect">
            <a:avLst/>
          </a:prstGeom>
          <a:noFill/>
        </p:spPr>
        <p:txBody>
          <a:bodyPr wrap="square" lIns="0" tIns="0" rIns="0" bIns="0" anchor="t">
            <a:spAutoFit/>
          </a:bodyPr>
          <a:lstStyle/>
          <a:p>
            <a:pPr algn="l"/>
            <a:r>
              <a:rPr sz="1000" b="0" i="1">
                <a:solidFill>
                  <a:srgbClr val="64748B"/>
                </a:solidFill>
                <a:latin typeface="Calibri"/>
              </a:rPr>
              <a:t>self-healing</a:t>
            </a:r>
          </a:p>
        </p:txBody>
      </p:sp>
      <p:sp>
        <p:nvSpPr>
          <p:cNvPr id="73" name="Rectangle 72"/>
          <p:cNvSpPr/>
          <p:nvPr/>
        </p:nvSpPr>
        <p:spPr>
          <a:xfrm>
            <a:off x="9098280" y="5080406"/>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9098280" y="5080406"/>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281159" y="5190134"/>
            <a:ext cx="2377440" cy="292608"/>
          </a:xfrm>
          <a:prstGeom prst="rect">
            <a:avLst/>
          </a:prstGeom>
          <a:noFill/>
        </p:spPr>
        <p:txBody>
          <a:bodyPr wrap="square" lIns="0" tIns="0" rIns="0" bIns="0" anchor="t">
            <a:spAutoFit/>
          </a:bodyPr>
          <a:lstStyle/>
          <a:p>
            <a:pPr algn="l"/>
            <a:r>
              <a:rPr sz="1200" b="1" i="0">
                <a:solidFill>
                  <a:srgbClr val="001F5C"/>
                </a:solidFill>
                <a:latin typeface="Calibri"/>
              </a:rPr>
              <a:t>Single accountable team</a:t>
            </a:r>
          </a:p>
        </p:txBody>
      </p:sp>
      <p:sp>
        <p:nvSpPr>
          <p:cNvPr id="76" name="TextBox 75"/>
          <p:cNvSpPr txBox="1"/>
          <p:nvPr/>
        </p:nvSpPr>
        <p:spPr>
          <a:xfrm>
            <a:off x="9281159" y="5464454"/>
            <a:ext cx="2377440" cy="201168"/>
          </a:xfrm>
          <a:prstGeom prst="rect">
            <a:avLst/>
          </a:prstGeom>
          <a:noFill/>
        </p:spPr>
        <p:txBody>
          <a:bodyPr wrap="square" lIns="0" tIns="0" rIns="0" bIns="0" anchor="t">
            <a:spAutoFit/>
          </a:bodyPr>
          <a:lstStyle/>
          <a:p>
            <a:pPr algn="l"/>
            <a:r>
              <a:rPr sz="1000" b="0" i="1">
                <a:solidFill>
                  <a:srgbClr val="64748B"/>
                </a:solidFill>
                <a:latin typeface="Calibri"/>
              </a:rPr>
              <a:t>end-to-end SLO</a:t>
            </a:r>
          </a:p>
        </p:txBody>
      </p:sp>
      <p:cxnSp>
        <p:nvCxnSpPr>
          <p:cNvPr id="77" name="Connector 76"/>
          <p:cNvCxnSpPr/>
          <p:nvPr/>
        </p:nvCxnSpPr>
        <p:spPr>
          <a:xfrm>
            <a:off x="2971800" y="2260396"/>
            <a:ext cx="1554480" cy="1580084"/>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2971800" y="3050438"/>
            <a:ext cx="1554480" cy="790042"/>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2971800" y="3840480"/>
            <a:ext cx="1554480" cy="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2971800" y="3840480"/>
            <a:ext cx="1554480" cy="790041"/>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2971800" y="3840480"/>
            <a:ext cx="1554480" cy="1580083"/>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7680960" y="2260396"/>
            <a:ext cx="1371599" cy="1580084"/>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7680960" y="3050438"/>
            <a:ext cx="1371599" cy="790042"/>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680960" y="3840480"/>
            <a:ext cx="1371599" cy="0"/>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680960" y="3840480"/>
            <a:ext cx="1371599" cy="790041"/>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80960" y="3840480"/>
            <a:ext cx="1371599" cy="1580083"/>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457200" y="598932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685800" y="598932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ZERO ORG CHANGE:  </a:t>
            </a:r>
            <a:r>
              <a:rPr sz="1200" b="1" i="1">
                <a:solidFill>
                  <a:srgbClr val="1E293B"/>
                </a:solidFill>
                <a:latin typeface="Calibri"/>
              </a:rPr>
              <a:t>Members keep existing managers and reporting lines. If results stick, formalize as 3b. If not, dissolve quietly.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SQUAD STRUCTURE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Squads Contain Pods — One Pod Per Technology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Each squad organizes around a domain (e.g., Database). Inside the squad, multiple pods own specific technologies — each pod has the full Eng + Dev + Ops + IntelOps mix to deliver end-to-end.</a:t>
            </a:r>
          </a:p>
        </p:txBody>
      </p:sp>
      <p:sp>
        <p:nvSpPr>
          <p:cNvPr id="8" name="Rectangle 7"/>
          <p:cNvSpPr/>
          <p:nvPr/>
        </p:nvSpPr>
        <p:spPr>
          <a:xfrm>
            <a:off x="457200" y="1920240"/>
            <a:ext cx="2011680" cy="41148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0116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41148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645920" cy="274320"/>
          </a:xfrm>
          <a:prstGeom prst="rect">
            <a:avLst/>
          </a:prstGeom>
          <a:noFill/>
        </p:spPr>
        <p:txBody>
          <a:bodyPr wrap="square" lIns="0" tIns="0" rIns="0" bIns="0" anchor="t">
            <a:spAutoFit/>
          </a:bodyPr>
          <a:lstStyle/>
          <a:p>
            <a:pPr algn="ctr"/>
            <a:r>
              <a:rPr sz="1100" b="1" i="0" spc="300">
                <a:solidFill>
                  <a:srgbClr val="FEDF01"/>
                </a:solidFill>
                <a:latin typeface="Calibri"/>
              </a:rPr>
              <a:t>SQUAD</a:t>
            </a:r>
          </a:p>
        </p:txBody>
      </p:sp>
      <p:sp>
        <p:nvSpPr>
          <p:cNvPr id="12" name="TextBox 11"/>
          <p:cNvSpPr txBox="1"/>
          <p:nvPr/>
        </p:nvSpPr>
        <p:spPr>
          <a:xfrm>
            <a:off x="640080" y="2560320"/>
            <a:ext cx="1737360" cy="457200"/>
          </a:xfrm>
          <a:prstGeom prst="rect">
            <a:avLst/>
          </a:prstGeom>
          <a:noFill/>
        </p:spPr>
        <p:txBody>
          <a:bodyPr wrap="square" lIns="0" tIns="0" rIns="0" bIns="0" anchor="t">
            <a:spAutoFit/>
          </a:bodyPr>
          <a:lstStyle/>
          <a:p>
            <a:pPr algn="ctr"/>
            <a:r>
              <a:rPr sz="2200" b="1" i="0">
                <a:solidFill>
                  <a:srgbClr val="FFFFFF"/>
                </a:solidFill>
                <a:latin typeface="Georgia"/>
              </a:rPr>
              <a:t>Database</a:t>
            </a:r>
          </a:p>
        </p:txBody>
      </p:sp>
      <p:sp>
        <p:nvSpPr>
          <p:cNvPr id="13" name="TextBox 12"/>
          <p:cNvSpPr txBox="1"/>
          <p:nvPr/>
        </p:nvSpPr>
        <p:spPr>
          <a:xfrm>
            <a:off x="640080" y="3063240"/>
            <a:ext cx="1737360" cy="274320"/>
          </a:xfrm>
          <a:prstGeom prst="rect">
            <a:avLst/>
          </a:prstGeom>
          <a:noFill/>
        </p:spPr>
        <p:txBody>
          <a:bodyPr wrap="square" lIns="0" tIns="0" rIns="0" bIns="0" anchor="t">
            <a:spAutoFit/>
          </a:bodyPr>
          <a:lstStyle/>
          <a:p>
            <a:pPr algn="ctr"/>
            <a:r>
              <a:rPr sz="1100" b="0" i="1">
                <a:solidFill>
                  <a:srgbClr val="C9D6EE"/>
                </a:solidFill>
                <a:latin typeface="Calibri"/>
              </a:rPr>
              <a:t>(example)</a:t>
            </a:r>
          </a:p>
        </p:txBody>
      </p:sp>
      <p:sp>
        <p:nvSpPr>
          <p:cNvPr id="14" name="Rectangle 13"/>
          <p:cNvSpPr/>
          <p:nvPr/>
        </p:nvSpPr>
        <p:spPr>
          <a:xfrm>
            <a:off x="731520" y="3520440"/>
            <a:ext cx="146304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657600"/>
            <a:ext cx="1645920" cy="228600"/>
          </a:xfrm>
          <a:prstGeom prst="rect">
            <a:avLst/>
          </a:prstGeom>
          <a:noFill/>
        </p:spPr>
        <p:txBody>
          <a:bodyPr wrap="square" lIns="0" tIns="0" rIns="0" bIns="0" anchor="t">
            <a:spAutoFit/>
          </a:bodyPr>
          <a:lstStyle/>
          <a:p>
            <a:pPr algn="ctr"/>
            <a:r>
              <a:rPr sz="900" b="1" i="0" spc="200">
                <a:solidFill>
                  <a:srgbClr val="FEDF01"/>
                </a:solidFill>
                <a:latin typeface="Calibri"/>
              </a:rPr>
              <a:t>OWNS</a:t>
            </a:r>
          </a:p>
        </p:txBody>
      </p:sp>
      <p:sp>
        <p:nvSpPr>
          <p:cNvPr id="16" name="TextBox 15"/>
          <p:cNvSpPr txBox="1"/>
          <p:nvPr/>
        </p:nvSpPr>
        <p:spPr>
          <a:xfrm>
            <a:off x="685800" y="3931920"/>
            <a:ext cx="1645920" cy="274320"/>
          </a:xfrm>
          <a:prstGeom prst="rect">
            <a:avLst/>
          </a:prstGeom>
          <a:noFill/>
        </p:spPr>
        <p:txBody>
          <a:bodyPr wrap="square" lIns="0" tIns="0" rIns="0" bIns="0" anchor="t">
            <a:spAutoFit/>
          </a:bodyPr>
          <a:lstStyle/>
          <a:p>
            <a:pPr algn="l"/>
            <a:r>
              <a:rPr sz="1000" b="0" i="0">
                <a:solidFill>
                  <a:srgbClr val="FFFFFF"/>
                </a:solidFill>
                <a:latin typeface="Calibri"/>
              </a:rPr>
              <a:t>• All database technologies</a:t>
            </a:r>
          </a:p>
        </p:txBody>
      </p:sp>
      <p:sp>
        <p:nvSpPr>
          <p:cNvPr id="17" name="TextBox 16"/>
          <p:cNvSpPr txBox="1"/>
          <p:nvPr/>
        </p:nvSpPr>
        <p:spPr>
          <a:xfrm>
            <a:off x="685800" y="4224528"/>
            <a:ext cx="1645920" cy="274320"/>
          </a:xfrm>
          <a:prstGeom prst="rect">
            <a:avLst/>
          </a:prstGeom>
          <a:noFill/>
        </p:spPr>
        <p:txBody>
          <a:bodyPr wrap="square" lIns="0" tIns="0" rIns="0" bIns="0" anchor="t">
            <a:spAutoFit/>
          </a:bodyPr>
          <a:lstStyle/>
          <a:p>
            <a:pPr algn="l"/>
            <a:r>
              <a:rPr sz="1000" b="0" i="0">
                <a:solidFill>
                  <a:srgbClr val="FFFFFF"/>
                </a:solidFill>
                <a:latin typeface="Calibri"/>
              </a:rPr>
              <a:t>• Strategy &amp; roadmap</a:t>
            </a:r>
          </a:p>
        </p:txBody>
      </p:sp>
      <p:sp>
        <p:nvSpPr>
          <p:cNvPr id="18" name="TextBox 17"/>
          <p:cNvSpPr txBox="1"/>
          <p:nvPr/>
        </p:nvSpPr>
        <p:spPr>
          <a:xfrm>
            <a:off x="685800" y="4517136"/>
            <a:ext cx="1645920" cy="274320"/>
          </a:xfrm>
          <a:prstGeom prst="rect">
            <a:avLst/>
          </a:prstGeom>
          <a:noFill/>
        </p:spPr>
        <p:txBody>
          <a:bodyPr wrap="square" lIns="0" tIns="0" rIns="0" bIns="0" anchor="t">
            <a:spAutoFit/>
          </a:bodyPr>
          <a:lstStyle/>
          <a:p>
            <a:pPr algn="l"/>
            <a:r>
              <a:rPr sz="1000" b="0" i="0">
                <a:solidFill>
                  <a:srgbClr val="FFFFFF"/>
                </a:solidFill>
                <a:latin typeface="Calibri"/>
              </a:rPr>
              <a:t>• Shared standards</a:t>
            </a:r>
          </a:p>
        </p:txBody>
      </p:sp>
      <p:sp>
        <p:nvSpPr>
          <p:cNvPr id="19" name="TextBox 18"/>
          <p:cNvSpPr txBox="1"/>
          <p:nvPr/>
        </p:nvSpPr>
        <p:spPr>
          <a:xfrm>
            <a:off x="685800" y="4809744"/>
            <a:ext cx="1645920" cy="274320"/>
          </a:xfrm>
          <a:prstGeom prst="rect">
            <a:avLst/>
          </a:prstGeom>
          <a:noFill/>
        </p:spPr>
        <p:txBody>
          <a:bodyPr wrap="square" lIns="0" tIns="0" rIns="0" bIns="0" anchor="t">
            <a:spAutoFit/>
          </a:bodyPr>
          <a:lstStyle/>
          <a:p>
            <a:pPr algn="l"/>
            <a:r>
              <a:rPr sz="1000" b="0" i="0">
                <a:solidFill>
                  <a:srgbClr val="FFFFFF"/>
                </a:solidFill>
                <a:latin typeface="Calibri"/>
              </a:rPr>
              <a:t>• Cross-pod patterns</a:t>
            </a:r>
          </a:p>
        </p:txBody>
      </p:sp>
      <p:sp>
        <p:nvSpPr>
          <p:cNvPr id="20" name="Rectangle 19"/>
          <p:cNvSpPr/>
          <p:nvPr/>
        </p:nvSpPr>
        <p:spPr>
          <a:xfrm>
            <a:off x="731520" y="5532120"/>
            <a:ext cx="146304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32120"/>
            <a:ext cx="1463040" cy="365760"/>
          </a:xfrm>
          <a:prstGeom prst="rect">
            <a:avLst/>
          </a:prstGeom>
          <a:noFill/>
        </p:spPr>
        <p:txBody>
          <a:bodyPr wrap="square" lIns="0" tIns="0" rIns="0" bIns="0" anchor="ctr">
            <a:spAutoFit/>
          </a:bodyPr>
          <a:lstStyle/>
          <a:p>
            <a:pPr algn="ctr"/>
            <a:r>
              <a:rPr sz="1100" b="1" i="0" spc="200">
                <a:solidFill>
                  <a:srgbClr val="001F5C"/>
                </a:solidFill>
                <a:latin typeface="Calibri"/>
              </a:rPr>
              <a:t>25-35 ENG TOTAL</a:t>
            </a:r>
          </a:p>
        </p:txBody>
      </p:sp>
      <p:sp>
        <p:nvSpPr>
          <p:cNvPr id="22" name="TextBox 21"/>
          <p:cNvSpPr txBox="1"/>
          <p:nvPr/>
        </p:nvSpPr>
        <p:spPr>
          <a:xfrm>
            <a:off x="2560320" y="3886200"/>
            <a:ext cx="548640" cy="201168"/>
          </a:xfrm>
          <a:prstGeom prst="rect">
            <a:avLst/>
          </a:prstGeom>
          <a:noFill/>
        </p:spPr>
        <p:txBody>
          <a:bodyPr wrap="square" lIns="0" tIns="0" rIns="0" bIns="0" anchor="t">
            <a:spAutoFit/>
          </a:bodyPr>
          <a:lstStyle/>
          <a:p>
            <a:pPr algn="ctr"/>
            <a:r>
              <a:rPr sz="900" b="0" i="1">
                <a:solidFill>
                  <a:srgbClr val="64748B"/>
                </a:solidFill>
                <a:latin typeface="Calibri"/>
              </a:rPr>
              <a:t>contains</a:t>
            </a:r>
          </a:p>
        </p:txBody>
      </p:sp>
      <p:cxnSp>
        <p:nvCxnSpPr>
          <p:cNvPr id="23" name="Connector 22"/>
          <p:cNvCxnSpPr/>
          <p:nvPr/>
        </p:nvCxnSpPr>
        <p:spPr>
          <a:xfrm>
            <a:off x="2606040" y="4160520"/>
            <a:ext cx="457200" cy="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246120"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46120"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46120"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10712"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0712"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1</a:t>
            </a:r>
          </a:p>
        </p:txBody>
      </p:sp>
      <p:sp>
        <p:nvSpPr>
          <p:cNvPr id="29" name="TextBox 28"/>
          <p:cNvSpPr txBox="1"/>
          <p:nvPr/>
        </p:nvSpPr>
        <p:spPr>
          <a:xfrm>
            <a:off x="3886200"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SQL Pod</a:t>
            </a:r>
          </a:p>
        </p:txBody>
      </p:sp>
      <p:sp>
        <p:nvSpPr>
          <p:cNvPr id="30" name="TextBox 29"/>
          <p:cNvSpPr txBox="1"/>
          <p:nvPr/>
        </p:nvSpPr>
        <p:spPr>
          <a:xfrm>
            <a:off x="3886200"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SQL Server</a:t>
            </a:r>
          </a:p>
        </p:txBody>
      </p:sp>
      <p:sp>
        <p:nvSpPr>
          <p:cNvPr id="31" name="TextBox 30"/>
          <p:cNvSpPr txBox="1"/>
          <p:nvPr/>
        </p:nvSpPr>
        <p:spPr>
          <a:xfrm>
            <a:off x="3429000"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32" name="Rectangle 31"/>
          <p:cNvSpPr/>
          <p:nvPr/>
        </p:nvSpPr>
        <p:spPr>
          <a:xfrm>
            <a:off x="342900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2900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35" name="Rectangle 34"/>
          <p:cNvSpPr/>
          <p:nvPr/>
        </p:nvSpPr>
        <p:spPr>
          <a:xfrm>
            <a:off x="4651705"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51705"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1705"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38" name="Rectangle 37"/>
          <p:cNvSpPr/>
          <p:nvPr/>
        </p:nvSpPr>
        <p:spPr>
          <a:xfrm>
            <a:off x="342900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2900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41" name="Rectangle 40"/>
          <p:cNvSpPr/>
          <p:nvPr/>
        </p:nvSpPr>
        <p:spPr>
          <a:xfrm>
            <a:off x="4651705"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651705"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51705"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44" name="Rectangle 43"/>
          <p:cNvSpPr/>
          <p:nvPr/>
        </p:nvSpPr>
        <p:spPr>
          <a:xfrm>
            <a:off x="3429000"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46" name="Rectangle 45"/>
          <p:cNvSpPr/>
          <p:nvPr/>
        </p:nvSpPr>
        <p:spPr>
          <a:xfrm>
            <a:off x="6130442"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30442"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30442"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295034"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95034"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2</a:t>
            </a:r>
          </a:p>
        </p:txBody>
      </p:sp>
      <p:sp>
        <p:nvSpPr>
          <p:cNvPr id="51" name="TextBox 50"/>
          <p:cNvSpPr txBox="1"/>
          <p:nvPr/>
        </p:nvSpPr>
        <p:spPr>
          <a:xfrm>
            <a:off x="6770522"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NoSQL Pod</a:t>
            </a:r>
          </a:p>
        </p:txBody>
      </p:sp>
      <p:sp>
        <p:nvSpPr>
          <p:cNvPr id="52" name="TextBox 51"/>
          <p:cNvSpPr txBox="1"/>
          <p:nvPr/>
        </p:nvSpPr>
        <p:spPr>
          <a:xfrm>
            <a:off x="6770522"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Postgres · Mongo</a:t>
            </a:r>
          </a:p>
        </p:txBody>
      </p:sp>
      <p:sp>
        <p:nvSpPr>
          <p:cNvPr id="53" name="TextBox 52"/>
          <p:cNvSpPr txBox="1"/>
          <p:nvPr/>
        </p:nvSpPr>
        <p:spPr>
          <a:xfrm>
            <a:off x="6313322"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54" name="Rectangle 53"/>
          <p:cNvSpPr/>
          <p:nvPr/>
        </p:nvSpPr>
        <p:spPr>
          <a:xfrm>
            <a:off x="6313322"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3322"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3322"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57" name="Rectangle 56"/>
          <p:cNvSpPr/>
          <p:nvPr/>
        </p:nvSpPr>
        <p:spPr>
          <a:xfrm>
            <a:off x="7536027"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6027"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36027"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60" name="Rectangle 59"/>
          <p:cNvSpPr/>
          <p:nvPr/>
        </p:nvSpPr>
        <p:spPr>
          <a:xfrm>
            <a:off x="6313322"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13322"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3322"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63" name="Rectangle 62"/>
          <p:cNvSpPr/>
          <p:nvPr/>
        </p:nvSpPr>
        <p:spPr>
          <a:xfrm>
            <a:off x="7536027"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536027"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36027"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66" name="Rectangle 65"/>
          <p:cNvSpPr/>
          <p:nvPr/>
        </p:nvSpPr>
        <p:spPr>
          <a:xfrm>
            <a:off x="6313322"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3322"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68" name="Rectangle 67"/>
          <p:cNvSpPr/>
          <p:nvPr/>
        </p:nvSpPr>
        <p:spPr>
          <a:xfrm>
            <a:off x="9014764"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014764"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14764"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179356"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79356"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3</a:t>
            </a:r>
          </a:p>
        </p:txBody>
      </p:sp>
      <p:sp>
        <p:nvSpPr>
          <p:cNvPr id="73" name="TextBox 72"/>
          <p:cNvSpPr txBox="1"/>
          <p:nvPr/>
        </p:nvSpPr>
        <p:spPr>
          <a:xfrm>
            <a:off x="9654844"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Legacy Pod</a:t>
            </a:r>
          </a:p>
        </p:txBody>
      </p:sp>
      <p:sp>
        <p:nvSpPr>
          <p:cNvPr id="74" name="TextBox 73"/>
          <p:cNvSpPr txBox="1"/>
          <p:nvPr/>
        </p:nvSpPr>
        <p:spPr>
          <a:xfrm>
            <a:off x="9654844"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Oracle · Sybase</a:t>
            </a:r>
          </a:p>
        </p:txBody>
      </p:sp>
      <p:sp>
        <p:nvSpPr>
          <p:cNvPr id="75" name="TextBox 74"/>
          <p:cNvSpPr txBox="1"/>
          <p:nvPr/>
        </p:nvSpPr>
        <p:spPr>
          <a:xfrm>
            <a:off x="9197644"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76" name="Rectangle 75"/>
          <p:cNvSpPr/>
          <p:nvPr/>
        </p:nvSpPr>
        <p:spPr>
          <a:xfrm>
            <a:off x="9197644"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97644"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197644"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79" name="Rectangle 78"/>
          <p:cNvSpPr/>
          <p:nvPr/>
        </p:nvSpPr>
        <p:spPr>
          <a:xfrm>
            <a:off x="1042035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42035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42035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82" name="Rectangle 81"/>
          <p:cNvSpPr/>
          <p:nvPr/>
        </p:nvSpPr>
        <p:spPr>
          <a:xfrm>
            <a:off x="9197644"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197644"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7644"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85" name="Rectangle 84"/>
          <p:cNvSpPr/>
          <p:nvPr/>
        </p:nvSpPr>
        <p:spPr>
          <a:xfrm>
            <a:off x="1042035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2035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42035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88" name="Rectangle 87"/>
          <p:cNvSpPr/>
          <p:nvPr/>
        </p:nvSpPr>
        <p:spPr>
          <a:xfrm>
            <a:off x="9197644"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197644"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POD ANATOMY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SQL Pod — One Technology, All Roles, One Team</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Zoom into a single pod. SQL Pod owns SQL Server end-to-end — Engineers build it, Developers integrate it, Ops run it, IntelOps automates it. Same backlog, same standup, same outcome.</a:t>
            </a:r>
          </a:p>
        </p:txBody>
      </p:sp>
      <p:sp>
        <p:nvSpPr>
          <p:cNvPr id="8" name="Rectangle 7"/>
          <p:cNvSpPr/>
          <p:nvPr/>
        </p:nvSpPr>
        <p:spPr>
          <a:xfrm>
            <a:off x="3809847" y="1920240"/>
            <a:ext cx="4572000"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809847" y="1920240"/>
            <a:ext cx="45720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54983" y="1865376"/>
            <a:ext cx="4681728" cy="106984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09847" y="2121408"/>
            <a:ext cx="4572000" cy="274320"/>
          </a:xfrm>
          <a:prstGeom prst="rect">
            <a:avLst/>
          </a:prstGeom>
          <a:noFill/>
        </p:spPr>
        <p:txBody>
          <a:bodyPr wrap="square" lIns="0" tIns="0" rIns="0" bIns="0" anchor="t">
            <a:spAutoFit/>
          </a:bodyPr>
          <a:lstStyle/>
          <a:p>
            <a:pPr algn="ctr"/>
            <a:r>
              <a:rPr sz="1000" b="1" i="0" spc="300">
                <a:solidFill>
                  <a:srgbClr val="FEDF01"/>
                </a:solidFill>
                <a:latin typeface="Calibri"/>
              </a:rPr>
              <a:t>POD</a:t>
            </a:r>
          </a:p>
        </p:txBody>
      </p:sp>
      <p:sp>
        <p:nvSpPr>
          <p:cNvPr id="12" name="TextBox 11"/>
          <p:cNvSpPr txBox="1"/>
          <p:nvPr/>
        </p:nvSpPr>
        <p:spPr>
          <a:xfrm>
            <a:off x="3809847" y="2359152"/>
            <a:ext cx="4572000" cy="365760"/>
          </a:xfrm>
          <a:prstGeom prst="rect">
            <a:avLst/>
          </a:prstGeom>
          <a:noFill/>
        </p:spPr>
        <p:txBody>
          <a:bodyPr wrap="square" lIns="0" tIns="0" rIns="0" bIns="0" anchor="t">
            <a:spAutoFit/>
          </a:bodyPr>
          <a:lstStyle/>
          <a:p>
            <a:pPr algn="ctr"/>
            <a:r>
              <a:rPr sz="2200" b="1" i="0">
                <a:solidFill>
                  <a:srgbClr val="FFFFFF"/>
                </a:solidFill>
                <a:latin typeface="Georgia"/>
              </a:rPr>
              <a:t>SQL Pod</a:t>
            </a:r>
          </a:p>
        </p:txBody>
      </p:sp>
      <p:sp>
        <p:nvSpPr>
          <p:cNvPr id="13" name="Rectangle 12"/>
          <p:cNvSpPr/>
          <p:nvPr/>
        </p:nvSpPr>
        <p:spPr>
          <a:xfrm>
            <a:off x="457200"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Eng</a:t>
            </a:r>
          </a:p>
        </p:txBody>
      </p:sp>
      <p:sp>
        <p:nvSpPr>
          <p:cNvPr id="17" name="TextBox 16"/>
          <p:cNvSpPr txBox="1"/>
          <p:nvPr/>
        </p:nvSpPr>
        <p:spPr>
          <a:xfrm>
            <a:off x="457200"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Engineering</a:t>
            </a:r>
          </a:p>
        </p:txBody>
      </p:sp>
      <p:sp>
        <p:nvSpPr>
          <p:cNvPr id="18" name="TextBox 17"/>
          <p:cNvSpPr txBox="1"/>
          <p:nvPr/>
        </p:nvSpPr>
        <p:spPr>
          <a:xfrm>
            <a:off x="640080"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19" name="TextBox 18"/>
          <p:cNvSpPr txBox="1"/>
          <p:nvPr/>
        </p:nvSpPr>
        <p:spPr>
          <a:xfrm>
            <a:off x="640080"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Builds the SQL Server platform — HA, DR, performance tuning, patching automation.</a:t>
            </a:r>
          </a:p>
        </p:txBody>
      </p:sp>
      <p:sp>
        <p:nvSpPr>
          <p:cNvPr id="20" name="TextBox 19"/>
          <p:cNvSpPr txBox="1"/>
          <p:nvPr/>
        </p:nvSpPr>
        <p:spPr>
          <a:xfrm>
            <a:off x="640080"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21" name="TextBox 20"/>
          <p:cNvSpPr txBox="1"/>
          <p:nvPr/>
        </p:nvSpPr>
        <p:spPr>
          <a:xfrm>
            <a:off x="640080"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IaC modules · Zephyr integrations · Reference architectures</a:t>
            </a:r>
          </a:p>
        </p:txBody>
      </p:sp>
      <p:sp>
        <p:nvSpPr>
          <p:cNvPr id="22" name="Rectangle 21"/>
          <p:cNvSpPr/>
          <p:nvPr/>
        </p:nvSpPr>
        <p:spPr>
          <a:xfrm>
            <a:off x="3317671"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317671"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317671"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17671"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Dev</a:t>
            </a:r>
          </a:p>
        </p:txBody>
      </p:sp>
      <p:sp>
        <p:nvSpPr>
          <p:cNvPr id="26" name="TextBox 25"/>
          <p:cNvSpPr txBox="1"/>
          <p:nvPr/>
        </p:nvSpPr>
        <p:spPr>
          <a:xfrm>
            <a:off x="3317671"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Developers</a:t>
            </a:r>
          </a:p>
        </p:txBody>
      </p:sp>
      <p:sp>
        <p:nvSpPr>
          <p:cNvPr id="27" name="TextBox 26"/>
          <p:cNvSpPr txBox="1"/>
          <p:nvPr/>
        </p:nvSpPr>
        <p:spPr>
          <a:xfrm>
            <a:off x="3500551"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28" name="TextBox 27"/>
          <p:cNvSpPr txBox="1"/>
          <p:nvPr/>
        </p:nvSpPr>
        <p:spPr>
          <a:xfrm>
            <a:off x="3500551"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Builds the developer-facing experience — self-service, APIs, integration tooling.</a:t>
            </a:r>
          </a:p>
        </p:txBody>
      </p:sp>
      <p:sp>
        <p:nvSpPr>
          <p:cNvPr id="29" name="TextBox 28"/>
          <p:cNvSpPr txBox="1"/>
          <p:nvPr/>
        </p:nvSpPr>
        <p:spPr>
          <a:xfrm>
            <a:off x="3500551"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30" name="TextBox 29"/>
          <p:cNvSpPr txBox="1"/>
          <p:nvPr/>
        </p:nvSpPr>
        <p:spPr>
          <a:xfrm>
            <a:off x="3500551"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Self-service portal · Provisioning APIs · SDK integrations</a:t>
            </a:r>
          </a:p>
        </p:txBody>
      </p:sp>
      <p:sp>
        <p:nvSpPr>
          <p:cNvPr id="31" name="Rectangle 30"/>
          <p:cNvSpPr/>
          <p:nvPr/>
        </p:nvSpPr>
        <p:spPr>
          <a:xfrm>
            <a:off x="6178143"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178143"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78143"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78143"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Ops</a:t>
            </a:r>
          </a:p>
        </p:txBody>
      </p:sp>
      <p:sp>
        <p:nvSpPr>
          <p:cNvPr id="35" name="TextBox 34"/>
          <p:cNvSpPr txBox="1"/>
          <p:nvPr/>
        </p:nvSpPr>
        <p:spPr>
          <a:xfrm>
            <a:off x="6178143"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Operations</a:t>
            </a:r>
          </a:p>
        </p:txBody>
      </p:sp>
      <p:sp>
        <p:nvSpPr>
          <p:cNvPr id="36" name="TextBox 35"/>
          <p:cNvSpPr txBox="1"/>
          <p:nvPr/>
        </p:nvSpPr>
        <p:spPr>
          <a:xfrm>
            <a:off x="6361023"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37" name="TextBox 36"/>
          <p:cNvSpPr txBox="1"/>
          <p:nvPr/>
        </p:nvSpPr>
        <p:spPr>
          <a:xfrm>
            <a:off x="6361023"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Runs SQL Server in production — SLOs, on-call, incident response, capacity.</a:t>
            </a:r>
          </a:p>
        </p:txBody>
      </p:sp>
      <p:sp>
        <p:nvSpPr>
          <p:cNvPr id="38" name="TextBox 37"/>
          <p:cNvSpPr txBox="1"/>
          <p:nvPr/>
        </p:nvSpPr>
        <p:spPr>
          <a:xfrm>
            <a:off x="6361023"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39" name="TextBox 38"/>
          <p:cNvSpPr txBox="1"/>
          <p:nvPr/>
        </p:nvSpPr>
        <p:spPr>
          <a:xfrm>
            <a:off x="6361023"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Runbooks (as code) · SLO dashboards · Real-toil backlog</a:t>
            </a:r>
          </a:p>
        </p:txBody>
      </p:sp>
      <p:sp>
        <p:nvSpPr>
          <p:cNvPr id="40" name="Rectangle 39"/>
          <p:cNvSpPr/>
          <p:nvPr/>
        </p:nvSpPr>
        <p:spPr>
          <a:xfrm>
            <a:off x="9038615"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038615"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038615"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038615"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IntelOps</a:t>
            </a:r>
          </a:p>
        </p:txBody>
      </p:sp>
      <p:sp>
        <p:nvSpPr>
          <p:cNvPr id="44" name="TextBox 43"/>
          <p:cNvSpPr txBox="1"/>
          <p:nvPr/>
        </p:nvSpPr>
        <p:spPr>
          <a:xfrm>
            <a:off x="9038615"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Intelligent Ops</a:t>
            </a:r>
          </a:p>
        </p:txBody>
      </p:sp>
      <p:sp>
        <p:nvSpPr>
          <p:cNvPr id="45" name="TextBox 44"/>
          <p:cNvSpPr txBox="1"/>
          <p:nvPr/>
        </p:nvSpPr>
        <p:spPr>
          <a:xfrm>
            <a:off x="9221495"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46" name="TextBox 45"/>
          <p:cNvSpPr txBox="1"/>
          <p:nvPr/>
        </p:nvSpPr>
        <p:spPr>
          <a:xfrm>
            <a:off x="9221495"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Builds automation that prevents incidents and removes toil intelligently.</a:t>
            </a:r>
          </a:p>
        </p:txBody>
      </p:sp>
      <p:sp>
        <p:nvSpPr>
          <p:cNvPr id="47" name="TextBox 46"/>
          <p:cNvSpPr txBox="1"/>
          <p:nvPr/>
        </p:nvSpPr>
        <p:spPr>
          <a:xfrm>
            <a:off x="9221495"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48" name="TextBox 47"/>
          <p:cNvSpPr txBox="1"/>
          <p:nvPr/>
        </p:nvSpPr>
        <p:spPr>
          <a:xfrm>
            <a:off x="9221495"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Incident-prevention agents · Auto-remediation · Anomaly detection</a:t>
            </a:r>
          </a:p>
        </p:txBody>
      </p:sp>
      <p:cxnSp>
        <p:nvCxnSpPr>
          <p:cNvPr id="49" name="Connector 48"/>
          <p:cNvCxnSpPr/>
          <p:nvPr/>
        </p:nvCxnSpPr>
        <p:spPr>
          <a:xfrm flipH="1">
            <a:off x="1805139" y="2880360"/>
            <a:ext cx="4290708"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4665611" y="2880360"/>
            <a:ext cx="1430236"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95847" y="2880360"/>
            <a:ext cx="1430236"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095847" y="2880360"/>
            <a:ext cx="4290708"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457200" y="585216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85800" y="585216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ONE POD = ONE TEAM:  </a:t>
            </a:r>
            <a:r>
              <a:rPr sz="1200" b="1" i="1">
                <a:solidFill>
                  <a:srgbClr val="1E293B"/>
                </a:solidFill>
                <a:latin typeface="Calibri"/>
              </a:rPr>
              <a:t>Same standup. Same backlog. Same SLO. No handoffs between Eng → Dev → Ops → IntelOps. They work as 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SQUAD STRUCTURE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Compute Squad — One Pod Per Technology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The Compute Squad owns Linux, Windows, and AIX/legacy compute. Inside the squad, three pods own specific OS families — each pod has the full Eng + Dev + Ops + IntelOps mix to deliver end-to-end.</a:t>
            </a:r>
          </a:p>
        </p:txBody>
      </p:sp>
      <p:sp>
        <p:nvSpPr>
          <p:cNvPr id="8" name="Rectangle 7"/>
          <p:cNvSpPr/>
          <p:nvPr/>
        </p:nvSpPr>
        <p:spPr>
          <a:xfrm>
            <a:off x="457200" y="1920240"/>
            <a:ext cx="2011680" cy="41148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0116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41148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645920" cy="274320"/>
          </a:xfrm>
          <a:prstGeom prst="rect">
            <a:avLst/>
          </a:prstGeom>
          <a:noFill/>
        </p:spPr>
        <p:txBody>
          <a:bodyPr wrap="square" lIns="0" tIns="0" rIns="0" bIns="0" anchor="t">
            <a:spAutoFit/>
          </a:bodyPr>
          <a:lstStyle/>
          <a:p>
            <a:pPr algn="ctr"/>
            <a:r>
              <a:rPr sz="1100" b="1" i="0" spc="300">
                <a:solidFill>
                  <a:srgbClr val="FEDF01"/>
                </a:solidFill>
                <a:latin typeface="Calibri"/>
              </a:rPr>
              <a:t>SQUAD</a:t>
            </a:r>
          </a:p>
        </p:txBody>
      </p:sp>
      <p:sp>
        <p:nvSpPr>
          <p:cNvPr id="12" name="TextBox 11"/>
          <p:cNvSpPr txBox="1"/>
          <p:nvPr/>
        </p:nvSpPr>
        <p:spPr>
          <a:xfrm>
            <a:off x="640080" y="2560320"/>
            <a:ext cx="1737360" cy="457200"/>
          </a:xfrm>
          <a:prstGeom prst="rect">
            <a:avLst/>
          </a:prstGeom>
          <a:noFill/>
        </p:spPr>
        <p:txBody>
          <a:bodyPr wrap="square" lIns="0" tIns="0" rIns="0" bIns="0" anchor="t">
            <a:spAutoFit/>
          </a:bodyPr>
          <a:lstStyle/>
          <a:p>
            <a:pPr algn="ctr"/>
            <a:r>
              <a:rPr sz="2200" b="1" i="0">
                <a:solidFill>
                  <a:srgbClr val="FFFFFF"/>
                </a:solidFill>
                <a:latin typeface="Georgia"/>
              </a:rPr>
              <a:t>Compute</a:t>
            </a:r>
          </a:p>
        </p:txBody>
      </p:sp>
      <p:sp>
        <p:nvSpPr>
          <p:cNvPr id="13" name="TextBox 12"/>
          <p:cNvSpPr txBox="1"/>
          <p:nvPr/>
        </p:nvSpPr>
        <p:spPr>
          <a:xfrm>
            <a:off x="640080" y="3063240"/>
            <a:ext cx="1737360" cy="274320"/>
          </a:xfrm>
          <a:prstGeom prst="rect">
            <a:avLst/>
          </a:prstGeom>
          <a:noFill/>
        </p:spPr>
        <p:txBody>
          <a:bodyPr wrap="square" lIns="0" tIns="0" rIns="0" bIns="0" anchor="t">
            <a:spAutoFit/>
          </a:bodyPr>
          <a:lstStyle/>
          <a:p>
            <a:pPr algn="ctr"/>
            <a:r>
              <a:rPr sz="1100" b="0" i="1">
                <a:solidFill>
                  <a:srgbClr val="C9D6EE"/>
                </a:solidFill>
                <a:latin typeface="Calibri"/>
              </a:rPr>
              <a:t>(target state)</a:t>
            </a:r>
          </a:p>
        </p:txBody>
      </p:sp>
      <p:sp>
        <p:nvSpPr>
          <p:cNvPr id="14" name="Rectangle 13"/>
          <p:cNvSpPr/>
          <p:nvPr/>
        </p:nvSpPr>
        <p:spPr>
          <a:xfrm>
            <a:off x="731520" y="3520440"/>
            <a:ext cx="146304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657600"/>
            <a:ext cx="1645920" cy="228600"/>
          </a:xfrm>
          <a:prstGeom prst="rect">
            <a:avLst/>
          </a:prstGeom>
          <a:noFill/>
        </p:spPr>
        <p:txBody>
          <a:bodyPr wrap="square" lIns="0" tIns="0" rIns="0" bIns="0" anchor="t">
            <a:spAutoFit/>
          </a:bodyPr>
          <a:lstStyle/>
          <a:p>
            <a:pPr algn="ctr"/>
            <a:r>
              <a:rPr sz="900" b="1" i="0" spc="200">
                <a:solidFill>
                  <a:srgbClr val="FEDF01"/>
                </a:solidFill>
                <a:latin typeface="Calibri"/>
              </a:rPr>
              <a:t>OWNS</a:t>
            </a:r>
          </a:p>
        </p:txBody>
      </p:sp>
      <p:sp>
        <p:nvSpPr>
          <p:cNvPr id="16" name="TextBox 15"/>
          <p:cNvSpPr txBox="1"/>
          <p:nvPr/>
        </p:nvSpPr>
        <p:spPr>
          <a:xfrm>
            <a:off x="685800" y="3931920"/>
            <a:ext cx="1645920" cy="274320"/>
          </a:xfrm>
          <a:prstGeom prst="rect">
            <a:avLst/>
          </a:prstGeom>
          <a:noFill/>
        </p:spPr>
        <p:txBody>
          <a:bodyPr wrap="square" lIns="0" tIns="0" rIns="0" bIns="0" anchor="t">
            <a:spAutoFit/>
          </a:bodyPr>
          <a:lstStyle/>
          <a:p>
            <a:pPr algn="l"/>
            <a:r>
              <a:rPr sz="1000" b="0" i="0">
                <a:solidFill>
                  <a:srgbClr val="FFFFFF"/>
                </a:solidFill>
                <a:latin typeface="Calibri"/>
              </a:rPr>
              <a:t>• All compute platforms</a:t>
            </a:r>
          </a:p>
        </p:txBody>
      </p:sp>
      <p:sp>
        <p:nvSpPr>
          <p:cNvPr id="17" name="TextBox 16"/>
          <p:cNvSpPr txBox="1"/>
          <p:nvPr/>
        </p:nvSpPr>
        <p:spPr>
          <a:xfrm>
            <a:off x="685800" y="4224528"/>
            <a:ext cx="1645920" cy="274320"/>
          </a:xfrm>
          <a:prstGeom prst="rect">
            <a:avLst/>
          </a:prstGeom>
          <a:noFill/>
        </p:spPr>
        <p:txBody>
          <a:bodyPr wrap="square" lIns="0" tIns="0" rIns="0" bIns="0" anchor="t">
            <a:spAutoFit/>
          </a:bodyPr>
          <a:lstStyle/>
          <a:p>
            <a:pPr algn="l"/>
            <a:r>
              <a:rPr sz="1000" b="0" i="0">
                <a:solidFill>
                  <a:srgbClr val="FFFFFF"/>
                </a:solidFill>
                <a:latin typeface="Calibri"/>
              </a:rPr>
              <a:t>• OS standards &amp; lifecycle</a:t>
            </a:r>
          </a:p>
        </p:txBody>
      </p:sp>
      <p:sp>
        <p:nvSpPr>
          <p:cNvPr id="18" name="TextBox 17"/>
          <p:cNvSpPr txBox="1"/>
          <p:nvPr/>
        </p:nvSpPr>
        <p:spPr>
          <a:xfrm>
            <a:off x="685800" y="4517136"/>
            <a:ext cx="1645920" cy="274320"/>
          </a:xfrm>
          <a:prstGeom prst="rect">
            <a:avLst/>
          </a:prstGeom>
          <a:noFill/>
        </p:spPr>
        <p:txBody>
          <a:bodyPr wrap="square" lIns="0" tIns="0" rIns="0" bIns="0" anchor="t">
            <a:spAutoFit/>
          </a:bodyPr>
          <a:lstStyle/>
          <a:p>
            <a:pPr algn="l"/>
            <a:r>
              <a:rPr sz="1000" b="0" i="0">
                <a:solidFill>
                  <a:srgbClr val="FFFFFF"/>
                </a:solidFill>
                <a:latin typeface="Calibri"/>
              </a:rPr>
              <a:t>• Patching strategy</a:t>
            </a:r>
          </a:p>
        </p:txBody>
      </p:sp>
      <p:sp>
        <p:nvSpPr>
          <p:cNvPr id="19" name="TextBox 18"/>
          <p:cNvSpPr txBox="1"/>
          <p:nvPr/>
        </p:nvSpPr>
        <p:spPr>
          <a:xfrm>
            <a:off x="685800" y="4809744"/>
            <a:ext cx="1645920" cy="274320"/>
          </a:xfrm>
          <a:prstGeom prst="rect">
            <a:avLst/>
          </a:prstGeom>
          <a:noFill/>
        </p:spPr>
        <p:txBody>
          <a:bodyPr wrap="square" lIns="0" tIns="0" rIns="0" bIns="0" anchor="t">
            <a:spAutoFit/>
          </a:bodyPr>
          <a:lstStyle/>
          <a:p>
            <a:pPr algn="l"/>
            <a:r>
              <a:rPr sz="1000" b="0" i="0">
                <a:solidFill>
                  <a:srgbClr val="FFFFFF"/>
                </a:solidFill>
                <a:latin typeface="Calibri"/>
              </a:rPr>
              <a:t>• Hardware refresh roadmap</a:t>
            </a:r>
          </a:p>
        </p:txBody>
      </p:sp>
      <p:sp>
        <p:nvSpPr>
          <p:cNvPr id="20" name="Rectangle 19"/>
          <p:cNvSpPr/>
          <p:nvPr/>
        </p:nvSpPr>
        <p:spPr>
          <a:xfrm>
            <a:off x="731520" y="5532120"/>
            <a:ext cx="146304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32120"/>
            <a:ext cx="1463040" cy="365760"/>
          </a:xfrm>
          <a:prstGeom prst="rect">
            <a:avLst/>
          </a:prstGeom>
          <a:noFill/>
        </p:spPr>
        <p:txBody>
          <a:bodyPr wrap="square" lIns="0" tIns="0" rIns="0" bIns="0" anchor="ctr">
            <a:spAutoFit/>
          </a:bodyPr>
          <a:lstStyle/>
          <a:p>
            <a:pPr algn="ctr"/>
            <a:r>
              <a:rPr sz="1100" b="1" i="0" spc="200">
                <a:solidFill>
                  <a:srgbClr val="001F5C"/>
                </a:solidFill>
                <a:latin typeface="Calibri"/>
              </a:rPr>
              <a:t>30-40 ENG TOTAL</a:t>
            </a:r>
          </a:p>
        </p:txBody>
      </p:sp>
      <p:sp>
        <p:nvSpPr>
          <p:cNvPr id="22" name="TextBox 21"/>
          <p:cNvSpPr txBox="1"/>
          <p:nvPr/>
        </p:nvSpPr>
        <p:spPr>
          <a:xfrm>
            <a:off x="2560320" y="3886200"/>
            <a:ext cx="548640" cy="201168"/>
          </a:xfrm>
          <a:prstGeom prst="rect">
            <a:avLst/>
          </a:prstGeom>
          <a:noFill/>
        </p:spPr>
        <p:txBody>
          <a:bodyPr wrap="square" lIns="0" tIns="0" rIns="0" bIns="0" anchor="t">
            <a:spAutoFit/>
          </a:bodyPr>
          <a:lstStyle/>
          <a:p>
            <a:pPr algn="ctr"/>
            <a:r>
              <a:rPr sz="900" b="0" i="1">
                <a:solidFill>
                  <a:srgbClr val="64748B"/>
                </a:solidFill>
                <a:latin typeface="Calibri"/>
              </a:rPr>
              <a:t>contains</a:t>
            </a:r>
          </a:p>
        </p:txBody>
      </p:sp>
      <p:cxnSp>
        <p:nvCxnSpPr>
          <p:cNvPr id="23" name="Connector 22"/>
          <p:cNvCxnSpPr/>
          <p:nvPr/>
        </p:nvCxnSpPr>
        <p:spPr>
          <a:xfrm>
            <a:off x="2606040" y="4160520"/>
            <a:ext cx="457200" cy="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246120"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46120"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46120"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10712"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0712"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1</a:t>
            </a:r>
          </a:p>
        </p:txBody>
      </p:sp>
      <p:sp>
        <p:nvSpPr>
          <p:cNvPr id="29" name="TextBox 28"/>
          <p:cNvSpPr txBox="1"/>
          <p:nvPr/>
        </p:nvSpPr>
        <p:spPr>
          <a:xfrm>
            <a:off x="3886200"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Linux Pod</a:t>
            </a:r>
          </a:p>
        </p:txBody>
      </p:sp>
      <p:sp>
        <p:nvSpPr>
          <p:cNvPr id="30" name="TextBox 29"/>
          <p:cNvSpPr txBox="1"/>
          <p:nvPr/>
        </p:nvSpPr>
        <p:spPr>
          <a:xfrm>
            <a:off x="3886200"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RHEL · Ubuntu</a:t>
            </a:r>
          </a:p>
        </p:txBody>
      </p:sp>
      <p:sp>
        <p:nvSpPr>
          <p:cNvPr id="31" name="TextBox 30"/>
          <p:cNvSpPr txBox="1"/>
          <p:nvPr/>
        </p:nvSpPr>
        <p:spPr>
          <a:xfrm>
            <a:off x="3429000"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32" name="Rectangle 31"/>
          <p:cNvSpPr/>
          <p:nvPr/>
        </p:nvSpPr>
        <p:spPr>
          <a:xfrm>
            <a:off x="342900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2900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35" name="Rectangle 34"/>
          <p:cNvSpPr/>
          <p:nvPr/>
        </p:nvSpPr>
        <p:spPr>
          <a:xfrm>
            <a:off x="4651705"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51705"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1705"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38" name="Rectangle 37"/>
          <p:cNvSpPr/>
          <p:nvPr/>
        </p:nvSpPr>
        <p:spPr>
          <a:xfrm>
            <a:off x="342900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2900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41" name="Rectangle 40"/>
          <p:cNvSpPr/>
          <p:nvPr/>
        </p:nvSpPr>
        <p:spPr>
          <a:xfrm>
            <a:off x="4651705"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651705"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51705"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44" name="Rectangle 43"/>
          <p:cNvSpPr/>
          <p:nvPr/>
        </p:nvSpPr>
        <p:spPr>
          <a:xfrm>
            <a:off x="3429000"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46" name="Rectangle 45"/>
          <p:cNvSpPr/>
          <p:nvPr/>
        </p:nvSpPr>
        <p:spPr>
          <a:xfrm>
            <a:off x="6130442"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30442"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30442"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295034"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95034"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2</a:t>
            </a:r>
          </a:p>
        </p:txBody>
      </p:sp>
      <p:sp>
        <p:nvSpPr>
          <p:cNvPr id="51" name="TextBox 50"/>
          <p:cNvSpPr txBox="1"/>
          <p:nvPr/>
        </p:nvSpPr>
        <p:spPr>
          <a:xfrm>
            <a:off x="6770522"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Windows Pod</a:t>
            </a:r>
          </a:p>
        </p:txBody>
      </p:sp>
      <p:sp>
        <p:nvSpPr>
          <p:cNvPr id="52" name="TextBox 51"/>
          <p:cNvSpPr txBox="1"/>
          <p:nvPr/>
        </p:nvSpPr>
        <p:spPr>
          <a:xfrm>
            <a:off x="6770522"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Windows Server</a:t>
            </a:r>
          </a:p>
        </p:txBody>
      </p:sp>
      <p:sp>
        <p:nvSpPr>
          <p:cNvPr id="53" name="TextBox 52"/>
          <p:cNvSpPr txBox="1"/>
          <p:nvPr/>
        </p:nvSpPr>
        <p:spPr>
          <a:xfrm>
            <a:off x="6313322"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54" name="Rectangle 53"/>
          <p:cNvSpPr/>
          <p:nvPr/>
        </p:nvSpPr>
        <p:spPr>
          <a:xfrm>
            <a:off x="6313322"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3322"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3322"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57" name="Rectangle 56"/>
          <p:cNvSpPr/>
          <p:nvPr/>
        </p:nvSpPr>
        <p:spPr>
          <a:xfrm>
            <a:off x="7536027"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6027"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36027"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60" name="Rectangle 59"/>
          <p:cNvSpPr/>
          <p:nvPr/>
        </p:nvSpPr>
        <p:spPr>
          <a:xfrm>
            <a:off x="6313322"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13322"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3322"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63" name="Rectangle 62"/>
          <p:cNvSpPr/>
          <p:nvPr/>
        </p:nvSpPr>
        <p:spPr>
          <a:xfrm>
            <a:off x="7536027"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536027"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36027"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66" name="Rectangle 65"/>
          <p:cNvSpPr/>
          <p:nvPr/>
        </p:nvSpPr>
        <p:spPr>
          <a:xfrm>
            <a:off x="6313322"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3322"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68" name="Rectangle 67"/>
          <p:cNvSpPr/>
          <p:nvPr/>
        </p:nvSpPr>
        <p:spPr>
          <a:xfrm>
            <a:off x="9014764"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014764"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14764"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179356"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79356"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3</a:t>
            </a:r>
          </a:p>
        </p:txBody>
      </p:sp>
      <p:sp>
        <p:nvSpPr>
          <p:cNvPr id="73" name="TextBox 72"/>
          <p:cNvSpPr txBox="1"/>
          <p:nvPr/>
        </p:nvSpPr>
        <p:spPr>
          <a:xfrm>
            <a:off x="9654844"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Legacy Pod</a:t>
            </a:r>
          </a:p>
        </p:txBody>
      </p:sp>
      <p:sp>
        <p:nvSpPr>
          <p:cNvPr id="74" name="TextBox 73"/>
          <p:cNvSpPr txBox="1"/>
          <p:nvPr/>
        </p:nvSpPr>
        <p:spPr>
          <a:xfrm>
            <a:off x="9654844"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AIX · Solaris</a:t>
            </a:r>
          </a:p>
        </p:txBody>
      </p:sp>
      <p:sp>
        <p:nvSpPr>
          <p:cNvPr id="75" name="TextBox 74"/>
          <p:cNvSpPr txBox="1"/>
          <p:nvPr/>
        </p:nvSpPr>
        <p:spPr>
          <a:xfrm>
            <a:off x="9197644"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76" name="Rectangle 75"/>
          <p:cNvSpPr/>
          <p:nvPr/>
        </p:nvSpPr>
        <p:spPr>
          <a:xfrm>
            <a:off x="9197644"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97644"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197644"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79" name="Rectangle 78"/>
          <p:cNvSpPr/>
          <p:nvPr/>
        </p:nvSpPr>
        <p:spPr>
          <a:xfrm>
            <a:off x="1042035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42035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42035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82" name="Rectangle 81"/>
          <p:cNvSpPr/>
          <p:nvPr/>
        </p:nvSpPr>
        <p:spPr>
          <a:xfrm>
            <a:off x="9197644"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197644"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7644"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85" name="Rectangle 84"/>
          <p:cNvSpPr/>
          <p:nvPr/>
        </p:nvSpPr>
        <p:spPr>
          <a:xfrm>
            <a:off x="1042035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2035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42035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88" name="Rectangle 87"/>
          <p:cNvSpPr/>
          <p:nvPr/>
        </p:nvSpPr>
        <p:spPr>
          <a:xfrm>
            <a:off x="9197644"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197644"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SQUAD STRUCTURE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Storage Squad — One Pod Per Technology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The Storage Squad owns block, object, and backup/DR. Inside the squad, three pods own specific storage technologies — each pod has the full Eng + Dev + Ops + IntelOps mix to deliver end-to-end.</a:t>
            </a:r>
          </a:p>
        </p:txBody>
      </p:sp>
      <p:sp>
        <p:nvSpPr>
          <p:cNvPr id="8" name="Rectangle 7"/>
          <p:cNvSpPr/>
          <p:nvPr/>
        </p:nvSpPr>
        <p:spPr>
          <a:xfrm>
            <a:off x="457200" y="1920240"/>
            <a:ext cx="2011680" cy="41148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0116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41148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645920" cy="274320"/>
          </a:xfrm>
          <a:prstGeom prst="rect">
            <a:avLst/>
          </a:prstGeom>
          <a:noFill/>
        </p:spPr>
        <p:txBody>
          <a:bodyPr wrap="square" lIns="0" tIns="0" rIns="0" bIns="0" anchor="t">
            <a:spAutoFit/>
          </a:bodyPr>
          <a:lstStyle/>
          <a:p>
            <a:pPr algn="ctr"/>
            <a:r>
              <a:rPr sz="1100" b="1" i="0" spc="300">
                <a:solidFill>
                  <a:srgbClr val="FEDF01"/>
                </a:solidFill>
                <a:latin typeface="Calibri"/>
              </a:rPr>
              <a:t>SQUAD</a:t>
            </a:r>
          </a:p>
        </p:txBody>
      </p:sp>
      <p:sp>
        <p:nvSpPr>
          <p:cNvPr id="12" name="TextBox 11"/>
          <p:cNvSpPr txBox="1"/>
          <p:nvPr/>
        </p:nvSpPr>
        <p:spPr>
          <a:xfrm>
            <a:off x="640080" y="2560320"/>
            <a:ext cx="1737360" cy="457200"/>
          </a:xfrm>
          <a:prstGeom prst="rect">
            <a:avLst/>
          </a:prstGeom>
          <a:noFill/>
        </p:spPr>
        <p:txBody>
          <a:bodyPr wrap="square" lIns="0" tIns="0" rIns="0" bIns="0" anchor="t">
            <a:spAutoFit/>
          </a:bodyPr>
          <a:lstStyle/>
          <a:p>
            <a:pPr algn="ctr"/>
            <a:r>
              <a:rPr sz="2200" b="1" i="0">
                <a:solidFill>
                  <a:srgbClr val="FFFFFF"/>
                </a:solidFill>
                <a:latin typeface="Georgia"/>
              </a:rPr>
              <a:t>Storage</a:t>
            </a:r>
          </a:p>
        </p:txBody>
      </p:sp>
      <p:sp>
        <p:nvSpPr>
          <p:cNvPr id="13" name="TextBox 12"/>
          <p:cNvSpPr txBox="1"/>
          <p:nvPr/>
        </p:nvSpPr>
        <p:spPr>
          <a:xfrm>
            <a:off x="640080" y="3063240"/>
            <a:ext cx="1737360" cy="274320"/>
          </a:xfrm>
          <a:prstGeom prst="rect">
            <a:avLst/>
          </a:prstGeom>
          <a:noFill/>
        </p:spPr>
        <p:txBody>
          <a:bodyPr wrap="square" lIns="0" tIns="0" rIns="0" bIns="0" anchor="t">
            <a:spAutoFit/>
          </a:bodyPr>
          <a:lstStyle/>
          <a:p>
            <a:pPr algn="ctr"/>
            <a:r>
              <a:rPr sz="1100" b="0" i="1">
                <a:solidFill>
                  <a:srgbClr val="C9D6EE"/>
                </a:solidFill>
                <a:latin typeface="Calibri"/>
              </a:rPr>
              <a:t>(target state)</a:t>
            </a:r>
          </a:p>
        </p:txBody>
      </p:sp>
      <p:sp>
        <p:nvSpPr>
          <p:cNvPr id="14" name="Rectangle 13"/>
          <p:cNvSpPr/>
          <p:nvPr/>
        </p:nvSpPr>
        <p:spPr>
          <a:xfrm>
            <a:off x="731520" y="3520440"/>
            <a:ext cx="146304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657600"/>
            <a:ext cx="1645920" cy="228600"/>
          </a:xfrm>
          <a:prstGeom prst="rect">
            <a:avLst/>
          </a:prstGeom>
          <a:noFill/>
        </p:spPr>
        <p:txBody>
          <a:bodyPr wrap="square" lIns="0" tIns="0" rIns="0" bIns="0" anchor="t">
            <a:spAutoFit/>
          </a:bodyPr>
          <a:lstStyle/>
          <a:p>
            <a:pPr algn="ctr"/>
            <a:r>
              <a:rPr sz="900" b="1" i="0" spc="200">
                <a:solidFill>
                  <a:srgbClr val="FEDF01"/>
                </a:solidFill>
                <a:latin typeface="Calibri"/>
              </a:rPr>
              <a:t>OWNS</a:t>
            </a:r>
          </a:p>
        </p:txBody>
      </p:sp>
      <p:sp>
        <p:nvSpPr>
          <p:cNvPr id="16" name="TextBox 15"/>
          <p:cNvSpPr txBox="1"/>
          <p:nvPr/>
        </p:nvSpPr>
        <p:spPr>
          <a:xfrm>
            <a:off x="685800" y="3931920"/>
            <a:ext cx="1645920" cy="274320"/>
          </a:xfrm>
          <a:prstGeom prst="rect">
            <a:avLst/>
          </a:prstGeom>
          <a:noFill/>
        </p:spPr>
        <p:txBody>
          <a:bodyPr wrap="square" lIns="0" tIns="0" rIns="0" bIns="0" anchor="t">
            <a:spAutoFit/>
          </a:bodyPr>
          <a:lstStyle/>
          <a:p>
            <a:pPr algn="l"/>
            <a:r>
              <a:rPr sz="1000" b="0" i="0">
                <a:solidFill>
                  <a:srgbClr val="FFFFFF"/>
                </a:solidFill>
                <a:latin typeface="Calibri"/>
              </a:rPr>
              <a:t>• All storage platforms</a:t>
            </a:r>
          </a:p>
        </p:txBody>
      </p:sp>
      <p:sp>
        <p:nvSpPr>
          <p:cNvPr id="17" name="TextBox 16"/>
          <p:cNvSpPr txBox="1"/>
          <p:nvPr/>
        </p:nvSpPr>
        <p:spPr>
          <a:xfrm>
            <a:off x="685800" y="4224528"/>
            <a:ext cx="1645920" cy="274320"/>
          </a:xfrm>
          <a:prstGeom prst="rect">
            <a:avLst/>
          </a:prstGeom>
          <a:noFill/>
        </p:spPr>
        <p:txBody>
          <a:bodyPr wrap="square" lIns="0" tIns="0" rIns="0" bIns="0" anchor="t">
            <a:spAutoFit/>
          </a:bodyPr>
          <a:lstStyle/>
          <a:p>
            <a:pPr algn="l"/>
            <a:r>
              <a:rPr sz="1000" b="0" i="0">
                <a:solidFill>
                  <a:srgbClr val="FFFFFF"/>
                </a:solidFill>
                <a:latin typeface="Calibri"/>
              </a:rPr>
              <a:t>• Capacity strategy</a:t>
            </a:r>
          </a:p>
        </p:txBody>
      </p:sp>
      <p:sp>
        <p:nvSpPr>
          <p:cNvPr id="18" name="TextBox 17"/>
          <p:cNvSpPr txBox="1"/>
          <p:nvPr/>
        </p:nvSpPr>
        <p:spPr>
          <a:xfrm>
            <a:off x="685800" y="4517136"/>
            <a:ext cx="1645920" cy="274320"/>
          </a:xfrm>
          <a:prstGeom prst="rect">
            <a:avLst/>
          </a:prstGeom>
          <a:noFill/>
        </p:spPr>
        <p:txBody>
          <a:bodyPr wrap="square" lIns="0" tIns="0" rIns="0" bIns="0" anchor="t">
            <a:spAutoFit/>
          </a:bodyPr>
          <a:lstStyle/>
          <a:p>
            <a:pPr algn="l"/>
            <a:r>
              <a:rPr sz="1000" b="0" i="0">
                <a:solidFill>
                  <a:srgbClr val="FFFFFF"/>
                </a:solidFill>
                <a:latin typeface="Calibri"/>
              </a:rPr>
              <a:t>• Backup &amp; DR standards</a:t>
            </a:r>
          </a:p>
        </p:txBody>
      </p:sp>
      <p:sp>
        <p:nvSpPr>
          <p:cNvPr id="19" name="TextBox 18"/>
          <p:cNvSpPr txBox="1"/>
          <p:nvPr/>
        </p:nvSpPr>
        <p:spPr>
          <a:xfrm>
            <a:off x="685800" y="4809744"/>
            <a:ext cx="1645920" cy="274320"/>
          </a:xfrm>
          <a:prstGeom prst="rect">
            <a:avLst/>
          </a:prstGeom>
          <a:noFill/>
        </p:spPr>
        <p:txBody>
          <a:bodyPr wrap="square" lIns="0" tIns="0" rIns="0" bIns="0" anchor="t">
            <a:spAutoFit/>
          </a:bodyPr>
          <a:lstStyle/>
          <a:p>
            <a:pPr algn="l"/>
            <a:r>
              <a:rPr sz="1000" b="0" i="0">
                <a:solidFill>
                  <a:srgbClr val="FFFFFF"/>
                </a:solidFill>
                <a:latin typeface="Calibri"/>
              </a:rPr>
              <a:t>• Tiering &amp; lifecycle</a:t>
            </a:r>
          </a:p>
        </p:txBody>
      </p:sp>
      <p:sp>
        <p:nvSpPr>
          <p:cNvPr id="20" name="Rectangle 19"/>
          <p:cNvSpPr/>
          <p:nvPr/>
        </p:nvSpPr>
        <p:spPr>
          <a:xfrm>
            <a:off x="731520" y="5532120"/>
            <a:ext cx="146304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32120"/>
            <a:ext cx="1463040" cy="365760"/>
          </a:xfrm>
          <a:prstGeom prst="rect">
            <a:avLst/>
          </a:prstGeom>
          <a:noFill/>
        </p:spPr>
        <p:txBody>
          <a:bodyPr wrap="square" lIns="0" tIns="0" rIns="0" bIns="0" anchor="ctr">
            <a:spAutoFit/>
          </a:bodyPr>
          <a:lstStyle/>
          <a:p>
            <a:pPr algn="ctr"/>
            <a:r>
              <a:rPr sz="1100" b="1" i="0" spc="200">
                <a:solidFill>
                  <a:srgbClr val="001F5C"/>
                </a:solidFill>
                <a:latin typeface="Calibri"/>
              </a:rPr>
              <a:t>20-30 ENG TOTAL</a:t>
            </a:r>
          </a:p>
        </p:txBody>
      </p:sp>
      <p:sp>
        <p:nvSpPr>
          <p:cNvPr id="22" name="TextBox 21"/>
          <p:cNvSpPr txBox="1"/>
          <p:nvPr/>
        </p:nvSpPr>
        <p:spPr>
          <a:xfrm>
            <a:off x="2560320" y="3886200"/>
            <a:ext cx="548640" cy="201168"/>
          </a:xfrm>
          <a:prstGeom prst="rect">
            <a:avLst/>
          </a:prstGeom>
          <a:noFill/>
        </p:spPr>
        <p:txBody>
          <a:bodyPr wrap="square" lIns="0" tIns="0" rIns="0" bIns="0" anchor="t">
            <a:spAutoFit/>
          </a:bodyPr>
          <a:lstStyle/>
          <a:p>
            <a:pPr algn="ctr"/>
            <a:r>
              <a:rPr sz="900" b="0" i="1">
                <a:solidFill>
                  <a:srgbClr val="64748B"/>
                </a:solidFill>
                <a:latin typeface="Calibri"/>
              </a:rPr>
              <a:t>contains</a:t>
            </a:r>
          </a:p>
        </p:txBody>
      </p:sp>
      <p:cxnSp>
        <p:nvCxnSpPr>
          <p:cNvPr id="23" name="Connector 22"/>
          <p:cNvCxnSpPr/>
          <p:nvPr/>
        </p:nvCxnSpPr>
        <p:spPr>
          <a:xfrm>
            <a:off x="2606040" y="4160520"/>
            <a:ext cx="457200" cy="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246120"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46120"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46120"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10712"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0712"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1</a:t>
            </a:r>
          </a:p>
        </p:txBody>
      </p:sp>
      <p:sp>
        <p:nvSpPr>
          <p:cNvPr id="29" name="TextBox 28"/>
          <p:cNvSpPr txBox="1"/>
          <p:nvPr/>
        </p:nvSpPr>
        <p:spPr>
          <a:xfrm>
            <a:off x="3886200"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Block Pod</a:t>
            </a:r>
          </a:p>
        </p:txBody>
      </p:sp>
      <p:sp>
        <p:nvSpPr>
          <p:cNvPr id="30" name="TextBox 29"/>
          <p:cNvSpPr txBox="1"/>
          <p:nvPr/>
        </p:nvSpPr>
        <p:spPr>
          <a:xfrm>
            <a:off x="3886200"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SAN · iSCSI</a:t>
            </a:r>
          </a:p>
        </p:txBody>
      </p:sp>
      <p:sp>
        <p:nvSpPr>
          <p:cNvPr id="31" name="TextBox 30"/>
          <p:cNvSpPr txBox="1"/>
          <p:nvPr/>
        </p:nvSpPr>
        <p:spPr>
          <a:xfrm>
            <a:off x="3429000"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32" name="Rectangle 31"/>
          <p:cNvSpPr/>
          <p:nvPr/>
        </p:nvSpPr>
        <p:spPr>
          <a:xfrm>
            <a:off x="342900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2900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35" name="Rectangle 34"/>
          <p:cNvSpPr/>
          <p:nvPr/>
        </p:nvSpPr>
        <p:spPr>
          <a:xfrm>
            <a:off x="4651705"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51705"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1705"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38" name="Rectangle 37"/>
          <p:cNvSpPr/>
          <p:nvPr/>
        </p:nvSpPr>
        <p:spPr>
          <a:xfrm>
            <a:off x="342900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2900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41" name="Rectangle 40"/>
          <p:cNvSpPr/>
          <p:nvPr/>
        </p:nvSpPr>
        <p:spPr>
          <a:xfrm>
            <a:off x="4651705"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651705"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51705"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44" name="Rectangle 43"/>
          <p:cNvSpPr/>
          <p:nvPr/>
        </p:nvSpPr>
        <p:spPr>
          <a:xfrm>
            <a:off x="3429000"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46" name="Rectangle 45"/>
          <p:cNvSpPr/>
          <p:nvPr/>
        </p:nvSpPr>
        <p:spPr>
          <a:xfrm>
            <a:off x="6130442"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30442"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30442"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295034"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95034"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2</a:t>
            </a:r>
          </a:p>
        </p:txBody>
      </p:sp>
      <p:sp>
        <p:nvSpPr>
          <p:cNvPr id="51" name="TextBox 50"/>
          <p:cNvSpPr txBox="1"/>
          <p:nvPr/>
        </p:nvSpPr>
        <p:spPr>
          <a:xfrm>
            <a:off x="6770522"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Object / NAS Pod</a:t>
            </a:r>
          </a:p>
        </p:txBody>
      </p:sp>
      <p:sp>
        <p:nvSpPr>
          <p:cNvPr id="52" name="TextBox 51"/>
          <p:cNvSpPr txBox="1"/>
          <p:nvPr/>
        </p:nvSpPr>
        <p:spPr>
          <a:xfrm>
            <a:off x="6770522"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S3 · NFS · MinIO</a:t>
            </a:r>
          </a:p>
        </p:txBody>
      </p:sp>
      <p:sp>
        <p:nvSpPr>
          <p:cNvPr id="53" name="TextBox 52"/>
          <p:cNvSpPr txBox="1"/>
          <p:nvPr/>
        </p:nvSpPr>
        <p:spPr>
          <a:xfrm>
            <a:off x="6313322"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54" name="Rectangle 53"/>
          <p:cNvSpPr/>
          <p:nvPr/>
        </p:nvSpPr>
        <p:spPr>
          <a:xfrm>
            <a:off x="6313322"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3322"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3322"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57" name="Rectangle 56"/>
          <p:cNvSpPr/>
          <p:nvPr/>
        </p:nvSpPr>
        <p:spPr>
          <a:xfrm>
            <a:off x="7536027"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6027"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36027"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60" name="Rectangle 59"/>
          <p:cNvSpPr/>
          <p:nvPr/>
        </p:nvSpPr>
        <p:spPr>
          <a:xfrm>
            <a:off x="6313322"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13322"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3322"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63" name="Rectangle 62"/>
          <p:cNvSpPr/>
          <p:nvPr/>
        </p:nvSpPr>
        <p:spPr>
          <a:xfrm>
            <a:off x="7536027"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536027"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36027"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66" name="Rectangle 65"/>
          <p:cNvSpPr/>
          <p:nvPr/>
        </p:nvSpPr>
        <p:spPr>
          <a:xfrm>
            <a:off x="6313322"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3322"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68" name="Rectangle 67"/>
          <p:cNvSpPr/>
          <p:nvPr/>
        </p:nvSpPr>
        <p:spPr>
          <a:xfrm>
            <a:off x="9014764"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014764"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14764"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179356"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79356"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3</a:t>
            </a:r>
          </a:p>
        </p:txBody>
      </p:sp>
      <p:sp>
        <p:nvSpPr>
          <p:cNvPr id="73" name="TextBox 72"/>
          <p:cNvSpPr txBox="1"/>
          <p:nvPr/>
        </p:nvSpPr>
        <p:spPr>
          <a:xfrm>
            <a:off x="9654844"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Backup / DR Pod</a:t>
            </a:r>
          </a:p>
        </p:txBody>
      </p:sp>
      <p:sp>
        <p:nvSpPr>
          <p:cNvPr id="74" name="TextBox 73"/>
          <p:cNvSpPr txBox="1"/>
          <p:nvPr/>
        </p:nvSpPr>
        <p:spPr>
          <a:xfrm>
            <a:off x="9654844"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Backup · Replication</a:t>
            </a:r>
          </a:p>
        </p:txBody>
      </p:sp>
      <p:sp>
        <p:nvSpPr>
          <p:cNvPr id="75" name="TextBox 74"/>
          <p:cNvSpPr txBox="1"/>
          <p:nvPr/>
        </p:nvSpPr>
        <p:spPr>
          <a:xfrm>
            <a:off x="9197644"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76" name="Rectangle 75"/>
          <p:cNvSpPr/>
          <p:nvPr/>
        </p:nvSpPr>
        <p:spPr>
          <a:xfrm>
            <a:off x="9197644"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97644"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197644"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79" name="Rectangle 78"/>
          <p:cNvSpPr/>
          <p:nvPr/>
        </p:nvSpPr>
        <p:spPr>
          <a:xfrm>
            <a:off x="1042035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42035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42035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82" name="Rectangle 81"/>
          <p:cNvSpPr/>
          <p:nvPr/>
        </p:nvSpPr>
        <p:spPr>
          <a:xfrm>
            <a:off x="9197644"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197644"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7644"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85" name="Rectangle 84"/>
          <p:cNvSpPr/>
          <p:nvPr/>
        </p:nvSpPr>
        <p:spPr>
          <a:xfrm>
            <a:off x="1042035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2035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42035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88" name="Rectangle 87"/>
          <p:cNvSpPr/>
          <p:nvPr/>
        </p:nvSpPr>
        <p:spPr>
          <a:xfrm>
            <a:off x="9197644"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197644"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SQUAD STRUCTURE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Middleware Squad — One Pod Per Technology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The Middleware Squad owns web/app servers, messaging, and integration. Inside the squad, three pods own specific middleware technologies — each pod has the full Eng + Dev + Ops + IntelOps mix to deliver end-to-end.</a:t>
            </a:r>
          </a:p>
        </p:txBody>
      </p:sp>
      <p:sp>
        <p:nvSpPr>
          <p:cNvPr id="8" name="Rectangle 7"/>
          <p:cNvSpPr/>
          <p:nvPr/>
        </p:nvSpPr>
        <p:spPr>
          <a:xfrm>
            <a:off x="457200" y="1920240"/>
            <a:ext cx="2011680" cy="41148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0116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41148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645920" cy="274320"/>
          </a:xfrm>
          <a:prstGeom prst="rect">
            <a:avLst/>
          </a:prstGeom>
          <a:noFill/>
        </p:spPr>
        <p:txBody>
          <a:bodyPr wrap="square" lIns="0" tIns="0" rIns="0" bIns="0" anchor="t">
            <a:spAutoFit/>
          </a:bodyPr>
          <a:lstStyle/>
          <a:p>
            <a:pPr algn="ctr"/>
            <a:r>
              <a:rPr sz="1100" b="1" i="0" spc="300">
                <a:solidFill>
                  <a:srgbClr val="FEDF01"/>
                </a:solidFill>
                <a:latin typeface="Calibri"/>
              </a:rPr>
              <a:t>SQUAD</a:t>
            </a:r>
          </a:p>
        </p:txBody>
      </p:sp>
      <p:sp>
        <p:nvSpPr>
          <p:cNvPr id="12" name="TextBox 11"/>
          <p:cNvSpPr txBox="1"/>
          <p:nvPr/>
        </p:nvSpPr>
        <p:spPr>
          <a:xfrm>
            <a:off x="640080" y="2560320"/>
            <a:ext cx="1737360" cy="457200"/>
          </a:xfrm>
          <a:prstGeom prst="rect">
            <a:avLst/>
          </a:prstGeom>
          <a:noFill/>
        </p:spPr>
        <p:txBody>
          <a:bodyPr wrap="square" lIns="0" tIns="0" rIns="0" bIns="0" anchor="t">
            <a:spAutoFit/>
          </a:bodyPr>
          <a:lstStyle/>
          <a:p>
            <a:pPr algn="ctr"/>
            <a:r>
              <a:rPr sz="1700" b="1" i="0">
                <a:solidFill>
                  <a:srgbClr val="FFFFFF"/>
                </a:solidFill>
                <a:latin typeface="Georgia"/>
              </a:rPr>
              <a:t>Middleware</a:t>
            </a:r>
          </a:p>
        </p:txBody>
      </p:sp>
      <p:sp>
        <p:nvSpPr>
          <p:cNvPr id="13" name="TextBox 12"/>
          <p:cNvSpPr txBox="1"/>
          <p:nvPr/>
        </p:nvSpPr>
        <p:spPr>
          <a:xfrm>
            <a:off x="640080" y="3063240"/>
            <a:ext cx="1737360" cy="274320"/>
          </a:xfrm>
          <a:prstGeom prst="rect">
            <a:avLst/>
          </a:prstGeom>
          <a:noFill/>
        </p:spPr>
        <p:txBody>
          <a:bodyPr wrap="square" lIns="0" tIns="0" rIns="0" bIns="0" anchor="t">
            <a:spAutoFit/>
          </a:bodyPr>
          <a:lstStyle/>
          <a:p>
            <a:pPr algn="ctr"/>
            <a:r>
              <a:rPr sz="1100" b="0" i="1">
                <a:solidFill>
                  <a:srgbClr val="C9D6EE"/>
                </a:solidFill>
                <a:latin typeface="Calibri"/>
              </a:rPr>
              <a:t>(target state)</a:t>
            </a:r>
          </a:p>
        </p:txBody>
      </p:sp>
      <p:sp>
        <p:nvSpPr>
          <p:cNvPr id="14" name="Rectangle 13"/>
          <p:cNvSpPr/>
          <p:nvPr/>
        </p:nvSpPr>
        <p:spPr>
          <a:xfrm>
            <a:off x="731520" y="3520440"/>
            <a:ext cx="146304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657600"/>
            <a:ext cx="1645920" cy="228600"/>
          </a:xfrm>
          <a:prstGeom prst="rect">
            <a:avLst/>
          </a:prstGeom>
          <a:noFill/>
        </p:spPr>
        <p:txBody>
          <a:bodyPr wrap="square" lIns="0" tIns="0" rIns="0" bIns="0" anchor="t">
            <a:spAutoFit/>
          </a:bodyPr>
          <a:lstStyle/>
          <a:p>
            <a:pPr algn="ctr"/>
            <a:r>
              <a:rPr sz="900" b="1" i="0" spc="200">
                <a:solidFill>
                  <a:srgbClr val="FEDF01"/>
                </a:solidFill>
                <a:latin typeface="Calibri"/>
              </a:rPr>
              <a:t>OWNS</a:t>
            </a:r>
          </a:p>
        </p:txBody>
      </p:sp>
      <p:sp>
        <p:nvSpPr>
          <p:cNvPr id="16" name="TextBox 15"/>
          <p:cNvSpPr txBox="1"/>
          <p:nvPr/>
        </p:nvSpPr>
        <p:spPr>
          <a:xfrm>
            <a:off x="685800" y="3931920"/>
            <a:ext cx="1645920" cy="274320"/>
          </a:xfrm>
          <a:prstGeom prst="rect">
            <a:avLst/>
          </a:prstGeom>
          <a:noFill/>
        </p:spPr>
        <p:txBody>
          <a:bodyPr wrap="square" lIns="0" tIns="0" rIns="0" bIns="0" anchor="t">
            <a:spAutoFit/>
          </a:bodyPr>
          <a:lstStyle/>
          <a:p>
            <a:pPr algn="l"/>
            <a:r>
              <a:rPr sz="1000" b="0" i="0">
                <a:solidFill>
                  <a:srgbClr val="FFFFFF"/>
                </a:solidFill>
                <a:latin typeface="Calibri"/>
              </a:rPr>
              <a:t>• All middleware platforms</a:t>
            </a:r>
          </a:p>
        </p:txBody>
      </p:sp>
      <p:sp>
        <p:nvSpPr>
          <p:cNvPr id="17" name="TextBox 16"/>
          <p:cNvSpPr txBox="1"/>
          <p:nvPr/>
        </p:nvSpPr>
        <p:spPr>
          <a:xfrm>
            <a:off x="685800" y="4224528"/>
            <a:ext cx="1645920" cy="274320"/>
          </a:xfrm>
          <a:prstGeom prst="rect">
            <a:avLst/>
          </a:prstGeom>
          <a:noFill/>
        </p:spPr>
        <p:txBody>
          <a:bodyPr wrap="square" lIns="0" tIns="0" rIns="0" bIns="0" anchor="t">
            <a:spAutoFit/>
          </a:bodyPr>
          <a:lstStyle/>
          <a:p>
            <a:pPr algn="l"/>
            <a:r>
              <a:rPr sz="1000" b="0" i="0">
                <a:solidFill>
                  <a:srgbClr val="FFFFFF"/>
                </a:solidFill>
                <a:latin typeface="Calibri"/>
              </a:rPr>
              <a:t>• Integration patterns</a:t>
            </a:r>
          </a:p>
        </p:txBody>
      </p:sp>
      <p:sp>
        <p:nvSpPr>
          <p:cNvPr id="18" name="TextBox 17"/>
          <p:cNvSpPr txBox="1"/>
          <p:nvPr/>
        </p:nvSpPr>
        <p:spPr>
          <a:xfrm>
            <a:off x="685800" y="4517136"/>
            <a:ext cx="1645920" cy="274320"/>
          </a:xfrm>
          <a:prstGeom prst="rect">
            <a:avLst/>
          </a:prstGeom>
          <a:noFill/>
        </p:spPr>
        <p:txBody>
          <a:bodyPr wrap="square" lIns="0" tIns="0" rIns="0" bIns="0" anchor="t">
            <a:spAutoFit/>
          </a:bodyPr>
          <a:lstStyle/>
          <a:p>
            <a:pPr algn="l"/>
            <a:r>
              <a:rPr sz="1000" b="0" i="0">
                <a:solidFill>
                  <a:srgbClr val="FFFFFF"/>
                </a:solidFill>
                <a:latin typeface="Calibri"/>
              </a:rPr>
              <a:t>• Deployment automation</a:t>
            </a:r>
          </a:p>
        </p:txBody>
      </p:sp>
      <p:sp>
        <p:nvSpPr>
          <p:cNvPr id="19" name="TextBox 18"/>
          <p:cNvSpPr txBox="1"/>
          <p:nvPr/>
        </p:nvSpPr>
        <p:spPr>
          <a:xfrm>
            <a:off x="685800" y="4809744"/>
            <a:ext cx="1645920" cy="274320"/>
          </a:xfrm>
          <a:prstGeom prst="rect">
            <a:avLst/>
          </a:prstGeom>
          <a:noFill/>
        </p:spPr>
        <p:txBody>
          <a:bodyPr wrap="square" lIns="0" tIns="0" rIns="0" bIns="0" anchor="t">
            <a:spAutoFit/>
          </a:bodyPr>
          <a:lstStyle/>
          <a:p>
            <a:pPr algn="l"/>
            <a:r>
              <a:rPr sz="1000" b="0" i="0">
                <a:solidFill>
                  <a:srgbClr val="FFFFFF"/>
                </a:solidFill>
                <a:latin typeface="Calibri"/>
              </a:rPr>
              <a:t>• Performance standards</a:t>
            </a:r>
          </a:p>
        </p:txBody>
      </p:sp>
      <p:sp>
        <p:nvSpPr>
          <p:cNvPr id="20" name="Rectangle 19"/>
          <p:cNvSpPr/>
          <p:nvPr/>
        </p:nvSpPr>
        <p:spPr>
          <a:xfrm>
            <a:off x="731520" y="5532120"/>
            <a:ext cx="146304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32120"/>
            <a:ext cx="1463040" cy="365760"/>
          </a:xfrm>
          <a:prstGeom prst="rect">
            <a:avLst/>
          </a:prstGeom>
          <a:noFill/>
        </p:spPr>
        <p:txBody>
          <a:bodyPr wrap="square" lIns="0" tIns="0" rIns="0" bIns="0" anchor="ctr">
            <a:spAutoFit/>
          </a:bodyPr>
          <a:lstStyle/>
          <a:p>
            <a:pPr algn="ctr"/>
            <a:r>
              <a:rPr sz="1100" b="1" i="0" spc="200">
                <a:solidFill>
                  <a:srgbClr val="001F5C"/>
                </a:solidFill>
                <a:latin typeface="Calibri"/>
              </a:rPr>
              <a:t>25-35 ENG TOTAL</a:t>
            </a:r>
          </a:p>
        </p:txBody>
      </p:sp>
      <p:sp>
        <p:nvSpPr>
          <p:cNvPr id="22" name="TextBox 21"/>
          <p:cNvSpPr txBox="1"/>
          <p:nvPr/>
        </p:nvSpPr>
        <p:spPr>
          <a:xfrm>
            <a:off x="2560320" y="3886200"/>
            <a:ext cx="548640" cy="201168"/>
          </a:xfrm>
          <a:prstGeom prst="rect">
            <a:avLst/>
          </a:prstGeom>
          <a:noFill/>
        </p:spPr>
        <p:txBody>
          <a:bodyPr wrap="square" lIns="0" tIns="0" rIns="0" bIns="0" anchor="t">
            <a:spAutoFit/>
          </a:bodyPr>
          <a:lstStyle/>
          <a:p>
            <a:pPr algn="ctr"/>
            <a:r>
              <a:rPr sz="900" b="0" i="1">
                <a:solidFill>
                  <a:srgbClr val="64748B"/>
                </a:solidFill>
                <a:latin typeface="Calibri"/>
              </a:rPr>
              <a:t>contains</a:t>
            </a:r>
          </a:p>
        </p:txBody>
      </p:sp>
      <p:cxnSp>
        <p:nvCxnSpPr>
          <p:cNvPr id="23" name="Connector 22"/>
          <p:cNvCxnSpPr/>
          <p:nvPr/>
        </p:nvCxnSpPr>
        <p:spPr>
          <a:xfrm>
            <a:off x="2606040" y="4160520"/>
            <a:ext cx="457200" cy="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246120"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46120"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46120"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10712"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0712"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1</a:t>
            </a:r>
          </a:p>
        </p:txBody>
      </p:sp>
      <p:sp>
        <p:nvSpPr>
          <p:cNvPr id="29" name="TextBox 28"/>
          <p:cNvSpPr txBox="1"/>
          <p:nvPr/>
        </p:nvSpPr>
        <p:spPr>
          <a:xfrm>
            <a:off x="3886200"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Web / App Pod</a:t>
            </a:r>
          </a:p>
        </p:txBody>
      </p:sp>
      <p:sp>
        <p:nvSpPr>
          <p:cNvPr id="30" name="TextBox 29"/>
          <p:cNvSpPr txBox="1"/>
          <p:nvPr/>
        </p:nvSpPr>
        <p:spPr>
          <a:xfrm>
            <a:off x="3886200"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Apache · Tomcat · WebSphere</a:t>
            </a:r>
          </a:p>
        </p:txBody>
      </p:sp>
      <p:sp>
        <p:nvSpPr>
          <p:cNvPr id="31" name="TextBox 30"/>
          <p:cNvSpPr txBox="1"/>
          <p:nvPr/>
        </p:nvSpPr>
        <p:spPr>
          <a:xfrm>
            <a:off x="3429000"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32" name="Rectangle 31"/>
          <p:cNvSpPr/>
          <p:nvPr/>
        </p:nvSpPr>
        <p:spPr>
          <a:xfrm>
            <a:off x="342900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2900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35" name="Rectangle 34"/>
          <p:cNvSpPr/>
          <p:nvPr/>
        </p:nvSpPr>
        <p:spPr>
          <a:xfrm>
            <a:off x="4651705"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51705"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1705"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38" name="Rectangle 37"/>
          <p:cNvSpPr/>
          <p:nvPr/>
        </p:nvSpPr>
        <p:spPr>
          <a:xfrm>
            <a:off x="342900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2900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41" name="Rectangle 40"/>
          <p:cNvSpPr/>
          <p:nvPr/>
        </p:nvSpPr>
        <p:spPr>
          <a:xfrm>
            <a:off x="4651705"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651705"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51705"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44" name="Rectangle 43"/>
          <p:cNvSpPr/>
          <p:nvPr/>
        </p:nvSpPr>
        <p:spPr>
          <a:xfrm>
            <a:off x="3429000"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46" name="Rectangle 45"/>
          <p:cNvSpPr/>
          <p:nvPr/>
        </p:nvSpPr>
        <p:spPr>
          <a:xfrm>
            <a:off x="6130442"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30442"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30442"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295034"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95034"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2</a:t>
            </a:r>
          </a:p>
        </p:txBody>
      </p:sp>
      <p:sp>
        <p:nvSpPr>
          <p:cNvPr id="51" name="TextBox 50"/>
          <p:cNvSpPr txBox="1"/>
          <p:nvPr/>
        </p:nvSpPr>
        <p:spPr>
          <a:xfrm>
            <a:off x="6770522"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Messaging Pod</a:t>
            </a:r>
          </a:p>
        </p:txBody>
      </p:sp>
      <p:sp>
        <p:nvSpPr>
          <p:cNvPr id="52" name="TextBox 51"/>
          <p:cNvSpPr txBox="1"/>
          <p:nvPr/>
        </p:nvSpPr>
        <p:spPr>
          <a:xfrm>
            <a:off x="6770522"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MQ · Kafka · ActiveMQ</a:t>
            </a:r>
          </a:p>
        </p:txBody>
      </p:sp>
      <p:sp>
        <p:nvSpPr>
          <p:cNvPr id="53" name="TextBox 52"/>
          <p:cNvSpPr txBox="1"/>
          <p:nvPr/>
        </p:nvSpPr>
        <p:spPr>
          <a:xfrm>
            <a:off x="6313322"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54" name="Rectangle 53"/>
          <p:cNvSpPr/>
          <p:nvPr/>
        </p:nvSpPr>
        <p:spPr>
          <a:xfrm>
            <a:off x="6313322"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3322"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3322"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57" name="Rectangle 56"/>
          <p:cNvSpPr/>
          <p:nvPr/>
        </p:nvSpPr>
        <p:spPr>
          <a:xfrm>
            <a:off x="7536027"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6027"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36027"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60" name="Rectangle 59"/>
          <p:cNvSpPr/>
          <p:nvPr/>
        </p:nvSpPr>
        <p:spPr>
          <a:xfrm>
            <a:off x="6313322"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13322"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3322"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63" name="Rectangle 62"/>
          <p:cNvSpPr/>
          <p:nvPr/>
        </p:nvSpPr>
        <p:spPr>
          <a:xfrm>
            <a:off x="7536027"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536027"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36027"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66" name="Rectangle 65"/>
          <p:cNvSpPr/>
          <p:nvPr/>
        </p:nvSpPr>
        <p:spPr>
          <a:xfrm>
            <a:off x="6313322"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3322"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68" name="Rectangle 67"/>
          <p:cNvSpPr/>
          <p:nvPr/>
        </p:nvSpPr>
        <p:spPr>
          <a:xfrm>
            <a:off x="9014764"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014764"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14764"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179356"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79356"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3</a:t>
            </a:r>
          </a:p>
        </p:txBody>
      </p:sp>
      <p:sp>
        <p:nvSpPr>
          <p:cNvPr id="73" name="TextBox 72"/>
          <p:cNvSpPr txBox="1"/>
          <p:nvPr/>
        </p:nvSpPr>
        <p:spPr>
          <a:xfrm>
            <a:off x="9654844"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Integration Pod</a:t>
            </a:r>
          </a:p>
        </p:txBody>
      </p:sp>
      <p:sp>
        <p:nvSpPr>
          <p:cNvPr id="74" name="TextBox 73"/>
          <p:cNvSpPr txBox="1"/>
          <p:nvPr/>
        </p:nvSpPr>
        <p:spPr>
          <a:xfrm>
            <a:off x="9654844"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API Gateway · ESB</a:t>
            </a:r>
          </a:p>
        </p:txBody>
      </p:sp>
      <p:sp>
        <p:nvSpPr>
          <p:cNvPr id="75" name="TextBox 74"/>
          <p:cNvSpPr txBox="1"/>
          <p:nvPr/>
        </p:nvSpPr>
        <p:spPr>
          <a:xfrm>
            <a:off x="9197644"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76" name="Rectangle 75"/>
          <p:cNvSpPr/>
          <p:nvPr/>
        </p:nvSpPr>
        <p:spPr>
          <a:xfrm>
            <a:off x="9197644"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97644"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197644"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79" name="Rectangle 78"/>
          <p:cNvSpPr/>
          <p:nvPr/>
        </p:nvSpPr>
        <p:spPr>
          <a:xfrm>
            <a:off x="1042035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42035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42035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82" name="Rectangle 81"/>
          <p:cNvSpPr/>
          <p:nvPr/>
        </p:nvSpPr>
        <p:spPr>
          <a:xfrm>
            <a:off x="9197644"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197644"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7644"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85" name="Rectangle 84"/>
          <p:cNvSpPr/>
          <p:nvPr/>
        </p:nvSpPr>
        <p:spPr>
          <a:xfrm>
            <a:off x="1042035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2035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42035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88" name="Rectangle 87"/>
          <p:cNvSpPr/>
          <p:nvPr/>
        </p:nvSpPr>
        <p:spPr>
          <a:xfrm>
            <a:off x="9197644"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197644"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OPERATIONS TRANSFORMATION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How On-Call &amp; Ops Work Differently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On-call stays with Ops — that's their core responsibility. What changes: Ops is now inside the pod, backed by AI agents on first response and Eng/Dev/IntelOps teammates who fix root causes — not strangers handing off work.</a:t>
            </a:r>
          </a:p>
        </p:txBody>
      </p:sp>
      <p:sp>
        <p:nvSpPr>
          <p:cNvPr id="8" name="Rectangle 7"/>
          <p:cNvSpPr/>
          <p:nvPr/>
        </p:nvSpPr>
        <p:spPr>
          <a:xfrm>
            <a:off x="2176272" y="1828800"/>
            <a:ext cx="4696815" cy="45720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176272" y="1828800"/>
            <a:ext cx="4696815" cy="54864"/>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76272" y="1828800"/>
            <a:ext cx="4696815" cy="457200"/>
          </a:xfrm>
          <a:prstGeom prst="rect">
            <a:avLst/>
          </a:prstGeom>
          <a:noFill/>
        </p:spPr>
        <p:txBody>
          <a:bodyPr wrap="square" lIns="0" tIns="0" rIns="0" bIns="0" anchor="ctr">
            <a:spAutoFit/>
          </a:bodyPr>
          <a:lstStyle/>
          <a:p>
            <a:pPr algn="ctr"/>
            <a:r>
              <a:rPr sz="1200" b="1" i="0" spc="200">
                <a:solidFill>
                  <a:srgbClr val="FFFFFF"/>
                </a:solidFill>
                <a:latin typeface="Calibri"/>
              </a:rPr>
              <a:t>TODAY — Ops Isolated, Reactive</a:t>
            </a:r>
          </a:p>
        </p:txBody>
      </p:sp>
      <p:sp>
        <p:nvSpPr>
          <p:cNvPr id="11" name="Rectangle 10"/>
          <p:cNvSpPr/>
          <p:nvPr/>
        </p:nvSpPr>
        <p:spPr>
          <a:xfrm>
            <a:off x="7037679" y="1828800"/>
            <a:ext cx="469681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37679" y="1828800"/>
            <a:ext cx="4696815"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37679" y="1828800"/>
            <a:ext cx="4696815" cy="457200"/>
          </a:xfrm>
          <a:prstGeom prst="rect">
            <a:avLst/>
          </a:prstGeom>
          <a:noFill/>
        </p:spPr>
        <p:txBody>
          <a:bodyPr wrap="square" lIns="0" tIns="0" rIns="0" bIns="0" anchor="ctr">
            <a:spAutoFit/>
          </a:bodyPr>
          <a:lstStyle/>
          <a:p>
            <a:pPr algn="ctr"/>
            <a:r>
              <a:rPr sz="1200" b="1" i="0" spc="200">
                <a:solidFill>
                  <a:srgbClr val="FFFFFF"/>
                </a:solidFill>
                <a:latin typeface="Calibri"/>
              </a:rPr>
              <a:t>NEW MODEL — Ops Inside Pod, AI-Assisted</a:t>
            </a:r>
          </a:p>
        </p:txBody>
      </p:sp>
      <p:sp>
        <p:nvSpPr>
          <p:cNvPr id="14" name="Rectangle 13"/>
          <p:cNvSpPr/>
          <p:nvPr/>
        </p:nvSpPr>
        <p:spPr>
          <a:xfrm>
            <a:off x="457200" y="2395728"/>
            <a:ext cx="1554480"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395728"/>
            <a:ext cx="73152" cy="1051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578608"/>
            <a:ext cx="1554480" cy="365760"/>
          </a:xfrm>
          <a:prstGeom prst="rect">
            <a:avLst/>
          </a:prstGeom>
          <a:noFill/>
        </p:spPr>
        <p:txBody>
          <a:bodyPr wrap="square" lIns="0" tIns="0" rIns="0" bIns="0" anchor="ctr">
            <a:spAutoFit/>
          </a:bodyPr>
          <a:lstStyle/>
          <a:p>
            <a:pPr algn="ctr"/>
            <a:r>
              <a:rPr sz="2000" b="0" i="0">
                <a:solidFill>
                  <a:srgbClr val="1E293B"/>
                </a:solidFill>
                <a:latin typeface="Calibri"/>
              </a:rPr>
              <a:t>👥</a:t>
            </a:r>
          </a:p>
        </p:txBody>
      </p:sp>
      <p:sp>
        <p:nvSpPr>
          <p:cNvPr id="17" name="TextBox 16"/>
          <p:cNvSpPr txBox="1"/>
          <p:nvPr/>
        </p:nvSpPr>
        <p:spPr>
          <a:xfrm>
            <a:off x="457200" y="3035808"/>
            <a:ext cx="1554480" cy="365760"/>
          </a:xfrm>
          <a:prstGeom prst="rect">
            <a:avLst/>
          </a:prstGeom>
          <a:noFill/>
        </p:spPr>
        <p:txBody>
          <a:bodyPr wrap="square" lIns="0" tIns="0" rIns="0" bIns="0" anchor="ctr">
            <a:spAutoFit/>
          </a:bodyPr>
          <a:lstStyle/>
          <a:p>
            <a:pPr algn="ctr"/>
            <a:r>
              <a:rPr sz="1000" b="1" i="0" spc="200">
                <a:solidFill>
                  <a:srgbClr val="FEDF01"/>
                </a:solidFill>
                <a:latin typeface="Calibri"/>
              </a:rPr>
              <a:t>WHO IS ON-CALL</a:t>
            </a:r>
          </a:p>
        </p:txBody>
      </p:sp>
      <p:sp>
        <p:nvSpPr>
          <p:cNvPr id="18" name="Rectangle 17"/>
          <p:cNvSpPr/>
          <p:nvPr/>
        </p:nvSpPr>
        <p:spPr>
          <a:xfrm>
            <a:off x="2176272" y="2395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176272" y="2395728"/>
            <a:ext cx="73152" cy="10515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59152" y="2487168"/>
            <a:ext cx="4422495" cy="292608"/>
          </a:xfrm>
          <a:prstGeom prst="rect">
            <a:avLst/>
          </a:prstGeom>
          <a:noFill/>
        </p:spPr>
        <p:txBody>
          <a:bodyPr wrap="square" lIns="0" tIns="0" rIns="0" bIns="0" anchor="t">
            <a:spAutoFit/>
          </a:bodyPr>
          <a:lstStyle/>
          <a:p>
            <a:pPr algn="l"/>
            <a:r>
              <a:rPr sz="1250" b="1" i="0">
                <a:solidFill>
                  <a:srgbClr val="DC2626"/>
                </a:solidFill>
                <a:latin typeface="Calibri"/>
              </a:rPr>
              <a:t>Ops only — and isolated</a:t>
            </a:r>
          </a:p>
        </p:txBody>
      </p:sp>
      <p:sp>
        <p:nvSpPr>
          <p:cNvPr id="21" name="TextBox 20"/>
          <p:cNvSpPr txBox="1"/>
          <p:nvPr/>
        </p:nvSpPr>
        <p:spPr>
          <a:xfrm>
            <a:off x="2359152" y="2779776"/>
            <a:ext cx="4422495" cy="502920"/>
          </a:xfrm>
          <a:prstGeom prst="rect">
            <a:avLst/>
          </a:prstGeom>
          <a:noFill/>
        </p:spPr>
        <p:txBody>
          <a:bodyPr wrap="square" lIns="0" tIns="0" rIns="0" bIns="0" anchor="t">
            <a:spAutoFit/>
          </a:bodyPr>
          <a:lstStyle/>
          <a:p>
            <a:pPr algn="l"/>
            <a:r>
              <a:rPr sz="950" b="0" i="0">
                <a:solidFill>
                  <a:srgbClr val="1E293B"/>
                </a:solidFill>
                <a:latin typeface="Calibri"/>
              </a:rPr>
              <a:t>Ops on rotation · paged for systems built by Engineering they've never met · stuck escalating because they can't fix root cause</a:t>
            </a:r>
          </a:p>
        </p:txBody>
      </p:sp>
      <p:sp>
        <p:nvSpPr>
          <p:cNvPr id="22" name="Rectangle 21"/>
          <p:cNvSpPr/>
          <p:nvPr/>
        </p:nvSpPr>
        <p:spPr>
          <a:xfrm>
            <a:off x="2359152" y="3154680"/>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59152" y="3154680"/>
            <a:ext cx="1394917" cy="201168"/>
          </a:xfrm>
          <a:prstGeom prst="rect">
            <a:avLst/>
          </a:prstGeom>
          <a:noFill/>
        </p:spPr>
        <p:txBody>
          <a:bodyPr wrap="square" lIns="0" tIns="0" rIns="0" bIns="0" anchor="ctr">
            <a:spAutoFit/>
          </a:bodyPr>
          <a:lstStyle/>
          <a:p>
            <a:pPr algn="ctr"/>
            <a:r>
              <a:rPr sz="850" b="1" i="0">
                <a:solidFill>
                  <a:srgbClr val="DC2626"/>
                </a:solidFill>
                <a:latin typeface="Calibri"/>
              </a:rPr>
              <a:t>Isolated</a:t>
            </a:r>
          </a:p>
        </p:txBody>
      </p:sp>
      <p:sp>
        <p:nvSpPr>
          <p:cNvPr id="24" name="Rectangle 23"/>
          <p:cNvSpPr/>
          <p:nvPr/>
        </p:nvSpPr>
        <p:spPr>
          <a:xfrm>
            <a:off x="3827221" y="3154680"/>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27221" y="3154680"/>
            <a:ext cx="1394917" cy="201168"/>
          </a:xfrm>
          <a:prstGeom prst="rect">
            <a:avLst/>
          </a:prstGeom>
          <a:noFill/>
        </p:spPr>
        <p:txBody>
          <a:bodyPr wrap="square" lIns="0" tIns="0" rIns="0" bIns="0" anchor="ctr">
            <a:spAutoFit/>
          </a:bodyPr>
          <a:lstStyle/>
          <a:p>
            <a:pPr algn="ctr"/>
            <a:r>
              <a:rPr sz="850" b="1" i="0">
                <a:solidFill>
                  <a:srgbClr val="DC2626"/>
                </a:solidFill>
                <a:latin typeface="Calibri"/>
              </a:rPr>
              <a:t>Powerless</a:t>
            </a:r>
          </a:p>
        </p:txBody>
      </p:sp>
      <p:sp>
        <p:nvSpPr>
          <p:cNvPr id="26" name="Rectangle 25"/>
          <p:cNvSpPr/>
          <p:nvPr/>
        </p:nvSpPr>
        <p:spPr>
          <a:xfrm>
            <a:off x="5295290" y="3154680"/>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95290" y="3154680"/>
            <a:ext cx="1394917" cy="201168"/>
          </a:xfrm>
          <a:prstGeom prst="rect">
            <a:avLst/>
          </a:prstGeom>
          <a:noFill/>
        </p:spPr>
        <p:txBody>
          <a:bodyPr wrap="square" lIns="0" tIns="0" rIns="0" bIns="0" anchor="ctr">
            <a:spAutoFit/>
          </a:bodyPr>
          <a:lstStyle/>
          <a:p>
            <a:pPr algn="ctr"/>
            <a:r>
              <a:rPr sz="850" b="1" i="0">
                <a:solidFill>
                  <a:srgbClr val="DC2626"/>
                </a:solidFill>
                <a:latin typeface="Calibri"/>
              </a:rPr>
              <a:t>Burnout</a:t>
            </a:r>
          </a:p>
        </p:txBody>
      </p:sp>
      <p:sp>
        <p:nvSpPr>
          <p:cNvPr id="28" name="Rectangle 27"/>
          <p:cNvSpPr/>
          <p:nvPr/>
        </p:nvSpPr>
        <p:spPr>
          <a:xfrm>
            <a:off x="7037679" y="2395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37679" y="2395728"/>
            <a:ext cx="73152" cy="1051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20559" y="2487168"/>
            <a:ext cx="4422495" cy="292608"/>
          </a:xfrm>
          <a:prstGeom prst="rect">
            <a:avLst/>
          </a:prstGeom>
          <a:noFill/>
        </p:spPr>
        <p:txBody>
          <a:bodyPr wrap="square" lIns="0" tIns="0" rIns="0" bIns="0" anchor="t">
            <a:spAutoFit/>
          </a:bodyPr>
          <a:lstStyle/>
          <a:p>
            <a:pPr algn="l"/>
            <a:r>
              <a:rPr sz="1250" b="1" i="0">
                <a:solidFill>
                  <a:srgbClr val="001F5C"/>
                </a:solidFill>
                <a:latin typeface="Calibri"/>
              </a:rPr>
              <a:t>Ops on-call — backed by the pod</a:t>
            </a:r>
          </a:p>
        </p:txBody>
      </p:sp>
      <p:sp>
        <p:nvSpPr>
          <p:cNvPr id="31" name="TextBox 30"/>
          <p:cNvSpPr txBox="1"/>
          <p:nvPr/>
        </p:nvSpPr>
        <p:spPr>
          <a:xfrm>
            <a:off x="7220559" y="2779776"/>
            <a:ext cx="4422495" cy="502920"/>
          </a:xfrm>
          <a:prstGeom prst="rect">
            <a:avLst/>
          </a:prstGeom>
          <a:noFill/>
        </p:spPr>
        <p:txBody>
          <a:bodyPr wrap="square" lIns="0" tIns="0" rIns="0" bIns="0" anchor="t">
            <a:spAutoFit/>
          </a:bodyPr>
          <a:lstStyle/>
          <a:p>
            <a:pPr algn="l"/>
            <a:r>
              <a:rPr sz="950" b="0" i="0">
                <a:solidFill>
                  <a:srgbClr val="1E293B"/>
                </a:solidFill>
                <a:latin typeface="Calibri"/>
              </a:rPr>
              <a:t>Ops still owns the rotation · Eng/Dev/IntelOps teammates available for fast escalation · same standup, same context, same SLO accountability</a:t>
            </a:r>
          </a:p>
        </p:txBody>
      </p:sp>
      <p:sp>
        <p:nvSpPr>
          <p:cNvPr id="32" name="Rectangle 31"/>
          <p:cNvSpPr/>
          <p:nvPr/>
        </p:nvSpPr>
        <p:spPr>
          <a:xfrm>
            <a:off x="7220559" y="3154680"/>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0559" y="3154680"/>
            <a:ext cx="1394917" cy="201168"/>
          </a:xfrm>
          <a:prstGeom prst="rect">
            <a:avLst/>
          </a:prstGeom>
          <a:noFill/>
        </p:spPr>
        <p:txBody>
          <a:bodyPr wrap="square" lIns="0" tIns="0" rIns="0" bIns="0" anchor="ctr">
            <a:spAutoFit/>
          </a:bodyPr>
          <a:lstStyle/>
          <a:p>
            <a:pPr algn="ctr"/>
            <a:r>
              <a:rPr sz="850" b="1" i="0">
                <a:solidFill>
                  <a:srgbClr val="047857"/>
                </a:solidFill>
                <a:latin typeface="Calibri"/>
              </a:rPr>
              <a:t>Ops-owned</a:t>
            </a:r>
          </a:p>
        </p:txBody>
      </p:sp>
      <p:sp>
        <p:nvSpPr>
          <p:cNvPr id="34" name="Rectangle 33"/>
          <p:cNvSpPr/>
          <p:nvPr/>
        </p:nvSpPr>
        <p:spPr>
          <a:xfrm>
            <a:off x="8688628" y="3154680"/>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88628" y="3154680"/>
            <a:ext cx="1394917" cy="201168"/>
          </a:xfrm>
          <a:prstGeom prst="rect">
            <a:avLst/>
          </a:prstGeom>
          <a:noFill/>
        </p:spPr>
        <p:txBody>
          <a:bodyPr wrap="square" lIns="0" tIns="0" rIns="0" bIns="0" anchor="ctr">
            <a:spAutoFit/>
          </a:bodyPr>
          <a:lstStyle/>
          <a:p>
            <a:pPr algn="ctr"/>
            <a:r>
              <a:rPr sz="850" b="1" i="0">
                <a:solidFill>
                  <a:srgbClr val="047857"/>
                </a:solidFill>
                <a:latin typeface="Calibri"/>
              </a:rPr>
              <a:t>Pod-supported</a:t>
            </a:r>
          </a:p>
        </p:txBody>
      </p:sp>
      <p:sp>
        <p:nvSpPr>
          <p:cNvPr id="36" name="Rectangle 35"/>
          <p:cNvSpPr/>
          <p:nvPr/>
        </p:nvSpPr>
        <p:spPr>
          <a:xfrm>
            <a:off x="10156698" y="3154680"/>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156698" y="3154680"/>
            <a:ext cx="1394917" cy="201168"/>
          </a:xfrm>
          <a:prstGeom prst="rect">
            <a:avLst/>
          </a:prstGeom>
          <a:noFill/>
        </p:spPr>
        <p:txBody>
          <a:bodyPr wrap="square" lIns="0" tIns="0" rIns="0" bIns="0" anchor="ctr">
            <a:spAutoFit/>
          </a:bodyPr>
          <a:lstStyle/>
          <a:p>
            <a:pPr algn="ctr"/>
            <a:r>
              <a:rPr sz="850" b="1" i="0">
                <a:solidFill>
                  <a:srgbClr val="047857"/>
                </a:solidFill>
                <a:latin typeface="Calibri"/>
              </a:rPr>
              <a:t>Faster fix</a:t>
            </a:r>
          </a:p>
        </p:txBody>
      </p:sp>
      <p:sp>
        <p:nvSpPr>
          <p:cNvPr id="38" name="Rectangle 37"/>
          <p:cNvSpPr/>
          <p:nvPr/>
        </p:nvSpPr>
        <p:spPr>
          <a:xfrm>
            <a:off x="457200" y="3538728"/>
            <a:ext cx="1554480"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57200" y="3538728"/>
            <a:ext cx="73152" cy="1051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 y="3721608"/>
            <a:ext cx="1554480" cy="365760"/>
          </a:xfrm>
          <a:prstGeom prst="rect">
            <a:avLst/>
          </a:prstGeom>
          <a:noFill/>
        </p:spPr>
        <p:txBody>
          <a:bodyPr wrap="square" lIns="0" tIns="0" rIns="0" bIns="0" anchor="ctr">
            <a:spAutoFit/>
          </a:bodyPr>
          <a:lstStyle/>
          <a:p>
            <a:pPr algn="ctr"/>
            <a:r>
              <a:rPr sz="2000" b="0" i="0">
                <a:solidFill>
                  <a:srgbClr val="1E293B"/>
                </a:solidFill>
                <a:latin typeface="Calibri"/>
              </a:rPr>
              <a:t>⚡</a:t>
            </a:r>
          </a:p>
        </p:txBody>
      </p:sp>
      <p:sp>
        <p:nvSpPr>
          <p:cNvPr id="41" name="TextBox 40"/>
          <p:cNvSpPr txBox="1"/>
          <p:nvPr/>
        </p:nvSpPr>
        <p:spPr>
          <a:xfrm>
            <a:off x="457200" y="4178808"/>
            <a:ext cx="1554480" cy="365760"/>
          </a:xfrm>
          <a:prstGeom prst="rect">
            <a:avLst/>
          </a:prstGeom>
          <a:noFill/>
        </p:spPr>
        <p:txBody>
          <a:bodyPr wrap="square" lIns="0" tIns="0" rIns="0" bIns="0" anchor="ctr">
            <a:spAutoFit/>
          </a:bodyPr>
          <a:lstStyle/>
          <a:p>
            <a:pPr algn="ctr"/>
            <a:r>
              <a:rPr sz="1000" b="1" i="0" spc="200">
                <a:solidFill>
                  <a:srgbClr val="FEDF01"/>
                </a:solidFill>
                <a:latin typeface="Calibri"/>
              </a:rPr>
              <a:t>FIRST RESPONSE</a:t>
            </a:r>
          </a:p>
        </p:txBody>
      </p:sp>
      <p:sp>
        <p:nvSpPr>
          <p:cNvPr id="42" name="Rectangle 41"/>
          <p:cNvSpPr/>
          <p:nvPr/>
        </p:nvSpPr>
        <p:spPr>
          <a:xfrm>
            <a:off x="2176272" y="3538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2176272" y="3538728"/>
            <a:ext cx="73152" cy="10515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359152" y="3630168"/>
            <a:ext cx="4422495" cy="292608"/>
          </a:xfrm>
          <a:prstGeom prst="rect">
            <a:avLst/>
          </a:prstGeom>
          <a:noFill/>
        </p:spPr>
        <p:txBody>
          <a:bodyPr wrap="square" lIns="0" tIns="0" rIns="0" bIns="0" anchor="t">
            <a:spAutoFit/>
          </a:bodyPr>
          <a:lstStyle/>
          <a:p>
            <a:pPr algn="l"/>
            <a:r>
              <a:rPr sz="1250" b="1" i="0">
                <a:solidFill>
                  <a:srgbClr val="DC2626"/>
                </a:solidFill>
                <a:latin typeface="Calibri"/>
              </a:rPr>
              <a:t>Ops engineer reads runbook</a:t>
            </a:r>
          </a:p>
        </p:txBody>
      </p:sp>
      <p:sp>
        <p:nvSpPr>
          <p:cNvPr id="45" name="TextBox 44"/>
          <p:cNvSpPr txBox="1"/>
          <p:nvPr/>
        </p:nvSpPr>
        <p:spPr>
          <a:xfrm>
            <a:off x="2359152" y="3922776"/>
            <a:ext cx="4422495" cy="502920"/>
          </a:xfrm>
          <a:prstGeom prst="rect">
            <a:avLst/>
          </a:prstGeom>
          <a:noFill/>
        </p:spPr>
        <p:txBody>
          <a:bodyPr wrap="square" lIns="0" tIns="0" rIns="0" bIns="0" anchor="t">
            <a:spAutoFit/>
          </a:bodyPr>
          <a:lstStyle/>
          <a:p>
            <a:pPr algn="l"/>
            <a:r>
              <a:rPr sz="950" b="0" i="0">
                <a:solidFill>
                  <a:srgbClr val="1E293B"/>
                </a:solidFill>
                <a:latin typeface="Calibri"/>
              </a:rPr>
              <a:t>Alert fires · Ops paged at 2 AM · reads written runbook · executes manually · escalates if stuck and waits for someone</a:t>
            </a:r>
          </a:p>
        </p:txBody>
      </p:sp>
      <p:sp>
        <p:nvSpPr>
          <p:cNvPr id="46" name="Rectangle 45"/>
          <p:cNvSpPr/>
          <p:nvPr/>
        </p:nvSpPr>
        <p:spPr>
          <a:xfrm>
            <a:off x="2359152" y="4297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359152" y="4297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2 AM pages</a:t>
            </a:r>
          </a:p>
        </p:txBody>
      </p:sp>
      <p:sp>
        <p:nvSpPr>
          <p:cNvPr id="48" name="Rectangle 47"/>
          <p:cNvSpPr/>
          <p:nvPr/>
        </p:nvSpPr>
        <p:spPr>
          <a:xfrm>
            <a:off x="3827221" y="4297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827221" y="4297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Manual triage</a:t>
            </a:r>
          </a:p>
        </p:txBody>
      </p:sp>
      <p:sp>
        <p:nvSpPr>
          <p:cNvPr id="50" name="Rectangle 49"/>
          <p:cNvSpPr/>
          <p:nvPr/>
        </p:nvSpPr>
        <p:spPr>
          <a:xfrm>
            <a:off x="5295290" y="4297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295290" y="4297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Long handoff</a:t>
            </a:r>
          </a:p>
        </p:txBody>
      </p:sp>
      <p:sp>
        <p:nvSpPr>
          <p:cNvPr id="52" name="Rectangle 51"/>
          <p:cNvSpPr/>
          <p:nvPr/>
        </p:nvSpPr>
        <p:spPr>
          <a:xfrm>
            <a:off x="7037679" y="3538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037679" y="3538728"/>
            <a:ext cx="73152" cy="1051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20559" y="3630168"/>
            <a:ext cx="4422495" cy="292608"/>
          </a:xfrm>
          <a:prstGeom prst="rect">
            <a:avLst/>
          </a:prstGeom>
          <a:noFill/>
        </p:spPr>
        <p:txBody>
          <a:bodyPr wrap="square" lIns="0" tIns="0" rIns="0" bIns="0" anchor="t">
            <a:spAutoFit/>
          </a:bodyPr>
          <a:lstStyle/>
          <a:p>
            <a:pPr algn="l"/>
            <a:r>
              <a:rPr sz="1250" b="1" i="0">
                <a:solidFill>
                  <a:srgbClr val="001F5C"/>
                </a:solidFill>
                <a:latin typeface="Calibri"/>
              </a:rPr>
              <a:t>AI agents triage before paging</a:t>
            </a:r>
          </a:p>
        </p:txBody>
      </p:sp>
      <p:sp>
        <p:nvSpPr>
          <p:cNvPr id="55" name="TextBox 54"/>
          <p:cNvSpPr txBox="1"/>
          <p:nvPr/>
        </p:nvSpPr>
        <p:spPr>
          <a:xfrm>
            <a:off x="7220559" y="3922776"/>
            <a:ext cx="4422495" cy="502920"/>
          </a:xfrm>
          <a:prstGeom prst="rect">
            <a:avLst/>
          </a:prstGeom>
          <a:noFill/>
        </p:spPr>
        <p:txBody>
          <a:bodyPr wrap="square" lIns="0" tIns="0" rIns="0" bIns="0" anchor="t">
            <a:spAutoFit/>
          </a:bodyPr>
          <a:lstStyle/>
          <a:p>
            <a:pPr algn="l"/>
            <a:r>
              <a:rPr sz="950" b="0" i="0">
                <a:solidFill>
                  <a:srgbClr val="1E293B"/>
                </a:solidFill>
                <a:latin typeface="Calibri"/>
              </a:rPr>
              <a:t>AI agent (pod-built) detects · runs codified remediation · pages Ops only on anomaly · arrives with full context and likely root cause</a:t>
            </a:r>
          </a:p>
        </p:txBody>
      </p:sp>
      <p:sp>
        <p:nvSpPr>
          <p:cNvPr id="56" name="Rectangle 55"/>
          <p:cNvSpPr/>
          <p:nvPr/>
        </p:nvSpPr>
        <p:spPr>
          <a:xfrm>
            <a:off x="7220559" y="4297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220559" y="4297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Auto-remediated</a:t>
            </a:r>
          </a:p>
        </p:txBody>
      </p:sp>
      <p:sp>
        <p:nvSpPr>
          <p:cNvPr id="58" name="Rectangle 57"/>
          <p:cNvSpPr/>
          <p:nvPr/>
        </p:nvSpPr>
        <p:spPr>
          <a:xfrm>
            <a:off x="8688628" y="4297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688628" y="4297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Fewer pages</a:t>
            </a:r>
          </a:p>
        </p:txBody>
      </p:sp>
      <p:sp>
        <p:nvSpPr>
          <p:cNvPr id="60" name="Rectangle 59"/>
          <p:cNvSpPr/>
          <p:nvPr/>
        </p:nvSpPr>
        <p:spPr>
          <a:xfrm>
            <a:off x="10156698" y="4297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0156698" y="4297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Context-rich</a:t>
            </a:r>
          </a:p>
        </p:txBody>
      </p:sp>
      <p:sp>
        <p:nvSpPr>
          <p:cNvPr id="62" name="Rectangle 61"/>
          <p:cNvSpPr/>
          <p:nvPr/>
        </p:nvSpPr>
        <p:spPr>
          <a:xfrm>
            <a:off x="457200" y="4681728"/>
            <a:ext cx="1554480"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457200" y="4681728"/>
            <a:ext cx="73152" cy="1051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864608"/>
            <a:ext cx="1554480" cy="365760"/>
          </a:xfrm>
          <a:prstGeom prst="rect">
            <a:avLst/>
          </a:prstGeom>
          <a:noFill/>
        </p:spPr>
        <p:txBody>
          <a:bodyPr wrap="square" lIns="0" tIns="0" rIns="0" bIns="0" anchor="ctr">
            <a:spAutoFit/>
          </a:bodyPr>
          <a:lstStyle/>
          <a:p>
            <a:pPr algn="ctr"/>
            <a:r>
              <a:rPr sz="2000" b="0" i="0">
                <a:solidFill>
                  <a:srgbClr val="1E293B"/>
                </a:solidFill>
                <a:latin typeface="Calibri"/>
              </a:rPr>
              <a:t>🔁</a:t>
            </a:r>
          </a:p>
        </p:txBody>
      </p:sp>
      <p:sp>
        <p:nvSpPr>
          <p:cNvPr id="65" name="TextBox 64"/>
          <p:cNvSpPr txBox="1"/>
          <p:nvPr/>
        </p:nvSpPr>
        <p:spPr>
          <a:xfrm>
            <a:off x="457200" y="5321808"/>
            <a:ext cx="1554480" cy="365760"/>
          </a:xfrm>
          <a:prstGeom prst="rect">
            <a:avLst/>
          </a:prstGeom>
          <a:noFill/>
        </p:spPr>
        <p:txBody>
          <a:bodyPr wrap="square" lIns="0" tIns="0" rIns="0" bIns="0" anchor="ctr">
            <a:spAutoFit/>
          </a:bodyPr>
          <a:lstStyle/>
          <a:p>
            <a:pPr algn="ctr"/>
            <a:r>
              <a:rPr sz="1000" b="1" i="0" spc="200">
                <a:solidFill>
                  <a:srgbClr val="FEDF01"/>
                </a:solidFill>
                <a:latin typeface="Calibri"/>
              </a:rPr>
              <a:t>POST-INCIDENT</a:t>
            </a:r>
          </a:p>
        </p:txBody>
      </p:sp>
      <p:sp>
        <p:nvSpPr>
          <p:cNvPr id="66" name="Rectangle 65"/>
          <p:cNvSpPr/>
          <p:nvPr/>
        </p:nvSpPr>
        <p:spPr>
          <a:xfrm>
            <a:off x="2176272" y="4681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2176272" y="4681728"/>
            <a:ext cx="73152" cy="10515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359152" y="4773168"/>
            <a:ext cx="4422495" cy="292608"/>
          </a:xfrm>
          <a:prstGeom prst="rect">
            <a:avLst/>
          </a:prstGeom>
          <a:noFill/>
        </p:spPr>
        <p:txBody>
          <a:bodyPr wrap="square" lIns="0" tIns="0" rIns="0" bIns="0" anchor="t">
            <a:spAutoFit/>
          </a:bodyPr>
          <a:lstStyle/>
          <a:p>
            <a:pPr algn="l"/>
            <a:r>
              <a:rPr sz="1250" b="1" i="0">
                <a:solidFill>
                  <a:srgbClr val="DC2626"/>
                </a:solidFill>
                <a:latin typeface="Calibri"/>
              </a:rPr>
              <a:t>Ops writes RCA, files ticket</a:t>
            </a:r>
          </a:p>
        </p:txBody>
      </p:sp>
      <p:sp>
        <p:nvSpPr>
          <p:cNvPr id="69" name="TextBox 68"/>
          <p:cNvSpPr txBox="1"/>
          <p:nvPr/>
        </p:nvSpPr>
        <p:spPr>
          <a:xfrm>
            <a:off x="2359152" y="5065776"/>
            <a:ext cx="4422495" cy="502920"/>
          </a:xfrm>
          <a:prstGeom prst="rect">
            <a:avLst/>
          </a:prstGeom>
          <a:noFill/>
        </p:spPr>
        <p:txBody>
          <a:bodyPr wrap="square" lIns="0" tIns="0" rIns="0" bIns="0" anchor="t">
            <a:spAutoFit/>
          </a:bodyPr>
          <a:lstStyle/>
          <a:p>
            <a:pPr algn="l"/>
            <a:r>
              <a:rPr sz="950" b="0" i="0">
                <a:solidFill>
                  <a:srgbClr val="1E293B"/>
                </a:solidFill>
                <a:latin typeface="Calibri"/>
              </a:rPr>
              <a:t>Ops writes RCA · files ticket to Engineering · ticket sits in backlog · same incident recurs · "we documented it"</a:t>
            </a:r>
          </a:p>
        </p:txBody>
      </p:sp>
      <p:sp>
        <p:nvSpPr>
          <p:cNvPr id="70" name="Rectangle 69"/>
          <p:cNvSpPr/>
          <p:nvPr/>
        </p:nvSpPr>
        <p:spPr>
          <a:xfrm>
            <a:off x="2359152" y="5440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359152" y="5440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Repeat incidents</a:t>
            </a:r>
          </a:p>
        </p:txBody>
      </p:sp>
      <p:sp>
        <p:nvSpPr>
          <p:cNvPr id="72" name="Rectangle 71"/>
          <p:cNvSpPr/>
          <p:nvPr/>
        </p:nvSpPr>
        <p:spPr>
          <a:xfrm>
            <a:off x="3827221" y="5440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827221" y="5440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Backlog rot</a:t>
            </a:r>
          </a:p>
        </p:txBody>
      </p:sp>
      <p:sp>
        <p:nvSpPr>
          <p:cNvPr id="74" name="Rectangle 73"/>
          <p:cNvSpPr/>
          <p:nvPr/>
        </p:nvSpPr>
        <p:spPr>
          <a:xfrm>
            <a:off x="5295290" y="5440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295290" y="5440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No prevention</a:t>
            </a:r>
          </a:p>
        </p:txBody>
      </p:sp>
      <p:sp>
        <p:nvSpPr>
          <p:cNvPr id="76" name="Rectangle 75"/>
          <p:cNvSpPr/>
          <p:nvPr/>
        </p:nvSpPr>
        <p:spPr>
          <a:xfrm>
            <a:off x="7037679" y="4681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7037679" y="4681728"/>
            <a:ext cx="73152" cy="1051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220559" y="4773168"/>
            <a:ext cx="4422495" cy="292608"/>
          </a:xfrm>
          <a:prstGeom prst="rect">
            <a:avLst/>
          </a:prstGeom>
          <a:noFill/>
        </p:spPr>
        <p:txBody>
          <a:bodyPr wrap="square" lIns="0" tIns="0" rIns="0" bIns="0" anchor="t">
            <a:spAutoFit/>
          </a:bodyPr>
          <a:lstStyle/>
          <a:p>
            <a:pPr algn="l"/>
            <a:r>
              <a:rPr sz="1250" b="1" i="0">
                <a:solidFill>
                  <a:srgbClr val="001F5C"/>
                </a:solidFill>
                <a:latin typeface="Calibri"/>
              </a:rPr>
              <a:t>Ops drives retro, pod ships fix</a:t>
            </a:r>
          </a:p>
        </p:txBody>
      </p:sp>
      <p:sp>
        <p:nvSpPr>
          <p:cNvPr id="79" name="TextBox 78"/>
          <p:cNvSpPr txBox="1"/>
          <p:nvPr/>
        </p:nvSpPr>
        <p:spPr>
          <a:xfrm>
            <a:off x="7220559" y="5065776"/>
            <a:ext cx="4422495" cy="502920"/>
          </a:xfrm>
          <a:prstGeom prst="rect">
            <a:avLst/>
          </a:prstGeom>
          <a:noFill/>
        </p:spPr>
        <p:txBody>
          <a:bodyPr wrap="square" lIns="0" tIns="0" rIns="0" bIns="0" anchor="t">
            <a:spAutoFit/>
          </a:bodyPr>
          <a:lstStyle/>
          <a:p>
            <a:pPr algn="l"/>
            <a:r>
              <a:rPr sz="950" b="0" i="0">
                <a:solidFill>
                  <a:srgbClr val="1E293B"/>
                </a:solidFill>
                <a:latin typeface="Calibri"/>
              </a:rPr>
              <a:t>Blameless retro led by Ops · root cause becomes pod backlog item · Eng/Dev/IntelOps ship automation in current sprint · same incident cannot recur</a:t>
            </a:r>
          </a:p>
        </p:txBody>
      </p:sp>
      <p:sp>
        <p:nvSpPr>
          <p:cNvPr id="80" name="Rectangle 79"/>
          <p:cNvSpPr/>
          <p:nvPr/>
        </p:nvSpPr>
        <p:spPr>
          <a:xfrm>
            <a:off x="7220559" y="5440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220559" y="5440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Runbook = code</a:t>
            </a:r>
          </a:p>
        </p:txBody>
      </p:sp>
      <p:sp>
        <p:nvSpPr>
          <p:cNvPr id="82" name="Rectangle 81"/>
          <p:cNvSpPr/>
          <p:nvPr/>
        </p:nvSpPr>
        <p:spPr>
          <a:xfrm>
            <a:off x="8688628" y="5440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688628" y="5440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Same-sprint fix</a:t>
            </a:r>
          </a:p>
        </p:txBody>
      </p:sp>
      <p:sp>
        <p:nvSpPr>
          <p:cNvPr id="84" name="Rectangle 83"/>
          <p:cNvSpPr/>
          <p:nvPr/>
        </p:nvSpPr>
        <p:spPr>
          <a:xfrm>
            <a:off x="10156698" y="5440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0156698" y="5440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Compounding gains</a:t>
            </a:r>
          </a:p>
        </p:txBody>
      </p:sp>
      <p:sp>
        <p:nvSpPr>
          <p:cNvPr id="86" name="TextBox 85"/>
          <p:cNvSpPr txBox="1"/>
          <p:nvPr/>
        </p:nvSpPr>
        <p:spPr>
          <a:xfrm>
            <a:off x="457200" y="5870448"/>
            <a:ext cx="11274552" cy="201168"/>
          </a:xfrm>
          <a:prstGeom prst="rect">
            <a:avLst/>
          </a:prstGeom>
          <a:noFill/>
        </p:spPr>
        <p:txBody>
          <a:bodyPr wrap="square" lIns="0" tIns="0" rIns="0" bIns="0" anchor="t">
            <a:spAutoFit/>
          </a:bodyPr>
          <a:lstStyle/>
          <a:p>
            <a:pPr algn="l"/>
            <a:r>
              <a:rPr sz="1000" b="1" i="0" spc="200">
                <a:solidFill>
                  <a:srgbClr val="003DA5"/>
                </a:solidFill>
                <a:latin typeface="Calibri"/>
              </a:rPr>
              <a:t>OUTCOMES</a:t>
            </a:r>
          </a:p>
        </p:txBody>
      </p:sp>
      <p:sp>
        <p:nvSpPr>
          <p:cNvPr id="87" name="Rectangle 86"/>
          <p:cNvSpPr/>
          <p:nvPr/>
        </p:nvSpPr>
        <p:spPr>
          <a:xfrm>
            <a:off x="457200" y="6144768"/>
            <a:ext cx="3648456" cy="53035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457200" y="6144768"/>
            <a:ext cx="73152" cy="5303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40080" y="6144768"/>
            <a:ext cx="1691640" cy="530352"/>
          </a:xfrm>
          <a:prstGeom prst="rect">
            <a:avLst/>
          </a:prstGeom>
          <a:noFill/>
        </p:spPr>
        <p:txBody>
          <a:bodyPr wrap="square" lIns="0" tIns="0" rIns="0" bIns="0" anchor="ctr">
            <a:spAutoFit/>
          </a:bodyPr>
          <a:lstStyle/>
          <a:p>
            <a:pPr algn="l"/>
            <a:r>
              <a:rPr sz="1400" b="1" i="0">
                <a:solidFill>
                  <a:srgbClr val="FEDF01"/>
                </a:solidFill>
                <a:latin typeface="Georgia"/>
              </a:rPr>
              <a:t>50-70%</a:t>
            </a:r>
          </a:p>
        </p:txBody>
      </p:sp>
      <p:sp>
        <p:nvSpPr>
          <p:cNvPr id="90" name="TextBox 89"/>
          <p:cNvSpPr txBox="1"/>
          <p:nvPr/>
        </p:nvSpPr>
        <p:spPr>
          <a:xfrm>
            <a:off x="2423160" y="6190488"/>
            <a:ext cx="1545336" cy="237744"/>
          </a:xfrm>
          <a:prstGeom prst="rect">
            <a:avLst/>
          </a:prstGeom>
          <a:noFill/>
        </p:spPr>
        <p:txBody>
          <a:bodyPr wrap="square" lIns="0" tIns="0" rIns="0" bIns="0" anchor="t">
            <a:spAutoFit/>
          </a:bodyPr>
          <a:lstStyle/>
          <a:p>
            <a:pPr algn="l"/>
            <a:r>
              <a:rPr sz="1100" b="1" i="0">
                <a:solidFill>
                  <a:srgbClr val="FFFFFF"/>
                </a:solidFill>
                <a:latin typeface="Calibri"/>
              </a:rPr>
              <a:t>fewer Ops pages</a:t>
            </a:r>
          </a:p>
        </p:txBody>
      </p:sp>
      <p:sp>
        <p:nvSpPr>
          <p:cNvPr id="91" name="TextBox 90"/>
          <p:cNvSpPr txBox="1"/>
          <p:nvPr/>
        </p:nvSpPr>
        <p:spPr>
          <a:xfrm>
            <a:off x="2423160" y="6419088"/>
            <a:ext cx="1545336" cy="237744"/>
          </a:xfrm>
          <a:prstGeom prst="rect">
            <a:avLst/>
          </a:prstGeom>
          <a:noFill/>
        </p:spPr>
        <p:txBody>
          <a:bodyPr wrap="square" lIns="0" tIns="0" rIns="0" bIns="0" anchor="t">
            <a:spAutoFit/>
          </a:bodyPr>
          <a:lstStyle/>
          <a:p>
            <a:pPr algn="l"/>
            <a:r>
              <a:rPr sz="900" b="0" i="1">
                <a:solidFill>
                  <a:srgbClr val="C9D6EE"/>
                </a:solidFill>
                <a:latin typeface="Calibri"/>
              </a:rPr>
              <a:t>AI agents handle known issues first</a:t>
            </a:r>
          </a:p>
        </p:txBody>
      </p:sp>
      <p:sp>
        <p:nvSpPr>
          <p:cNvPr id="92" name="Rectangle 91"/>
          <p:cNvSpPr/>
          <p:nvPr/>
        </p:nvSpPr>
        <p:spPr>
          <a:xfrm>
            <a:off x="4270248" y="6144768"/>
            <a:ext cx="3648456" cy="53035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270248" y="6144768"/>
            <a:ext cx="73152" cy="5303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453128" y="6144768"/>
            <a:ext cx="1691640" cy="530352"/>
          </a:xfrm>
          <a:prstGeom prst="rect">
            <a:avLst/>
          </a:prstGeom>
          <a:noFill/>
        </p:spPr>
        <p:txBody>
          <a:bodyPr wrap="square" lIns="0" tIns="0" rIns="0" bIns="0" anchor="ctr">
            <a:spAutoFit/>
          </a:bodyPr>
          <a:lstStyle/>
          <a:p>
            <a:pPr algn="l"/>
            <a:r>
              <a:rPr sz="2000" b="1" i="0">
                <a:solidFill>
                  <a:srgbClr val="FEDF01"/>
                </a:solidFill>
                <a:latin typeface="Georgia"/>
              </a:rPr>
              <a:t>30%+</a:t>
            </a:r>
          </a:p>
        </p:txBody>
      </p:sp>
      <p:sp>
        <p:nvSpPr>
          <p:cNvPr id="95" name="TextBox 94"/>
          <p:cNvSpPr txBox="1"/>
          <p:nvPr/>
        </p:nvSpPr>
        <p:spPr>
          <a:xfrm>
            <a:off x="6236207" y="6190488"/>
            <a:ext cx="1545336" cy="237744"/>
          </a:xfrm>
          <a:prstGeom prst="rect">
            <a:avLst/>
          </a:prstGeom>
          <a:noFill/>
        </p:spPr>
        <p:txBody>
          <a:bodyPr wrap="square" lIns="0" tIns="0" rIns="0" bIns="0" anchor="t">
            <a:spAutoFit/>
          </a:bodyPr>
          <a:lstStyle/>
          <a:p>
            <a:pPr algn="l"/>
            <a:r>
              <a:rPr sz="1100" b="1" i="0">
                <a:solidFill>
                  <a:srgbClr val="FFFFFF"/>
                </a:solidFill>
                <a:latin typeface="Calibri"/>
              </a:rPr>
              <a:t>faster MTTR</a:t>
            </a:r>
          </a:p>
        </p:txBody>
      </p:sp>
      <p:sp>
        <p:nvSpPr>
          <p:cNvPr id="96" name="TextBox 95"/>
          <p:cNvSpPr txBox="1"/>
          <p:nvPr/>
        </p:nvSpPr>
        <p:spPr>
          <a:xfrm>
            <a:off x="6236207" y="6419088"/>
            <a:ext cx="1545336" cy="237744"/>
          </a:xfrm>
          <a:prstGeom prst="rect">
            <a:avLst/>
          </a:prstGeom>
          <a:noFill/>
        </p:spPr>
        <p:txBody>
          <a:bodyPr wrap="square" lIns="0" tIns="0" rIns="0" bIns="0" anchor="t">
            <a:spAutoFit/>
          </a:bodyPr>
          <a:lstStyle/>
          <a:p>
            <a:pPr algn="l"/>
            <a:r>
              <a:rPr sz="900" b="0" i="1">
                <a:solidFill>
                  <a:srgbClr val="C9D6EE"/>
                </a:solidFill>
                <a:latin typeface="Calibri"/>
              </a:rPr>
              <a:t>pod has built-in escalation path</a:t>
            </a:r>
          </a:p>
        </p:txBody>
      </p:sp>
      <p:sp>
        <p:nvSpPr>
          <p:cNvPr id="97" name="Rectangle 96"/>
          <p:cNvSpPr/>
          <p:nvPr/>
        </p:nvSpPr>
        <p:spPr>
          <a:xfrm>
            <a:off x="8083296" y="6144768"/>
            <a:ext cx="3648456" cy="53035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8083296" y="6144768"/>
            <a:ext cx="73152" cy="5303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8266175" y="6144768"/>
            <a:ext cx="1691640" cy="530352"/>
          </a:xfrm>
          <a:prstGeom prst="rect">
            <a:avLst/>
          </a:prstGeom>
          <a:noFill/>
        </p:spPr>
        <p:txBody>
          <a:bodyPr wrap="square" lIns="0" tIns="0" rIns="0" bIns="0" anchor="ctr">
            <a:spAutoFit/>
          </a:bodyPr>
          <a:lstStyle/>
          <a:p>
            <a:pPr algn="l"/>
            <a:r>
              <a:rPr sz="1400" b="1" i="0">
                <a:solidFill>
                  <a:srgbClr val="FEDF01"/>
                </a:solidFill>
                <a:latin typeface="Georgia"/>
              </a:rPr>
              <a:t>Compounding</a:t>
            </a:r>
          </a:p>
        </p:txBody>
      </p:sp>
      <p:sp>
        <p:nvSpPr>
          <p:cNvPr id="100" name="TextBox 99"/>
          <p:cNvSpPr txBox="1"/>
          <p:nvPr/>
        </p:nvSpPr>
        <p:spPr>
          <a:xfrm>
            <a:off x="10049256" y="6190488"/>
            <a:ext cx="1545336" cy="237744"/>
          </a:xfrm>
          <a:prstGeom prst="rect">
            <a:avLst/>
          </a:prstGeom>
          <a:noFill/>
        </p:spPr>
        <p:txBody>
          <a:bodyPr wrap="square" lIns="0" tIns="0" rIns="0" bIns="0" anchor="t">
            <a:spAutoFit/>
          </a:bodyPr>
          <a:lstStyle/>
          <a:p>
            <a:pPr algn="l"/>
            <a:r>
              <a:rPr sz="1100" b="1" i="0">
                <a:solidFill>
                  <a:srgbClr val="FFFFFF"/>
                </a:solidFill>
                <a:latin typeface="Calibri"/>
              </a:rPr>
              <a:t>reliability gains</a:t>
            </a:r>
          </a:p>
        </p:txBody>
      </p:sp>
      <p:sp>
        <p:nvSpPr>
          <p:cNvPr id="101" name="TextBox 100"/>
          <p:cNvSpPr txBox="1"/>
          <p:nvPr/>
        </p:nvSpPr>
        <p:spPr>
          <a:xfrm>
            <a:off x="10049256" y="6419088"/>
            <a:ext cx="1545336" cy="237744"/>
          </a:xfrm>
          <a:prstGeom prst="rect">
            <a:avLst/>
          </a:prstGeom>
          <a:noFill/>
        </p:spPr>
        <p:txBody>
          <a:bodyPr wrap="square" lIns="0" tIns="0" rIns="0" bIns="0" anchor="t">
            <a:spAutoFit/>
          </a:bodyPr>
          <a:lstStyle/>
          <a:p>
            <a:pPr algn="l"/>
            <a:r>
              <a:rPr sz="900" b="0" i="1">
                <a:solidFill>
                  <a:srgbClr val="C9D6EE"/>
                </a:solidFill>
                <a:latin typeface="Calibri"/>
              </a:rPr>
              <a:t>every incident shrinks the next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OPERATIONS TRANSFORMATION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Ops Shifts Right — From Firefighting to Engineering</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502920"/>
          </a:xfrm>
          <a:prstGeom prst="rect">
            <a:avLst/>
          </a:prstGeom>
          <a:noFill/>
        </p:spPr>
        <p:txBody>
          <a:bodyPr wrap="square" lIns="0" tIns="0" rIns="0" bIns="0" anchor="t">
            <a:spAutoFit/>
          </a:bodyPr>
          <a:lstStyle/>
          <a:p>
            <a:pPr algn="l"/>
            <a:r>
              <a:rPr sz="1200" b="0" i="1">
                <a:solidFill>
                  <a:srgbClr val="64748B"/>
                </a:solidFill>
                <a:latin typeface="Calibri"/>
              </a:rPr>
              <a:t>Ops keeps the pager — but agents and IaC absorb most incidents. Hours each Ops engineer used to spend on firefighting now shift right: building the next IaC module, the next agent, the next prevention.</a:t>
            </a:r>
          </a:p>
        </p:txBody>
      </p:sp>
      <p:sp>
        <p:nvSpPr>
          <p:cNvPr id="8" name="TextBox 7"/>
          <p:cNvSpPr txBox="1"/>
          <p:nvPr/>
        </p:nvSpPr>
        <p:spPr>
          <a:xfrm>
            <a:off x="457200" y="1874519"/>
            <a:ext cx="3657600" cy="292608"/>
          </a:xfrm>
          <a:prstGeom prst="rect">
            <a:avLst/>
          </a:prstGeom>
          <a:noFill/>
        </p:spPr>
        <p:txBody>
          <a:bodyPr wrap="square" lIns="0" tIns="0" rIns="0" bIns="0" anchor="ctr">
            <a:spAutoFit/>
          </a:bodyPr>
          <a:lstStyle/>
          <a:p>
            <a:pPr algn="l"/>
            <a:r>
              <a:rPr sz="1000" b="1" i="0" spc="200">
                <a:solidFill>
                  <a:srgbClr val="DC2626"/>
                </a:solidFill>
                <a:latin typeface="Calibri"/>
              </a:rPr>
              <a:t>← REACTIVE  ·  firefighting · ticket queues</a:t>
            </a:r>
          </a:p>
        </p:txBody>
      </p:sp>
      <p:sp>
        <p:nvSpPr>
          <p:cNvPr id="9" name="TextBox 8"/>
          <p:cNvSpPr txBox="1"/>
          <p:nvPr/>
        </p:nvSpPr>
        <p:spPr>
          <a:xfrm>
            <a:off x="8076895" y="1874519"/>
            <a:ext cx="3657600" cy="292608"/>
          </a:xfrm>
          <a:prstGeom prst="rect">
            <a:avLst/>
          </a:prstGeom>
          <a:noFill/>
        </p:spPr>
        <p:txBody>
          <a:bodyPr wrap="square" lIns="0" tIns="0" rIns="0" bIns="0" anchor="ctr">
            <a:spAutoFit/>
          </a:bodyPr>
          <a:lstStyle/>
          <a:p>
            <a:pPr algn="r"/>
            <a:r>
              <a:rPr sz="1000" b="1" i="0" spc="200">
                <a:solidFill>
                  <a:srgbClr val="10B981"/>
                </a:solidFill>
                <a:latin typeface="Calibri"/>
              </a:rPr>
              <a:t>engineering · automation · prevention  ·  PROACTIVE →</a:t>
            </a:r>
          </a:p>
        </p:txBody>
      </p:sp>
      <p:sp>
        <p:nvSpPr>
          <p:cNvPr id="10" name="TextBox 9"/>
          <p:cNvSpPr txBox="1"/>
          <p:nvPr/>
        </p:nvSpPr>
        <p:spPr>
          <a:xfrm>
            <a:off x="457200" y="2304287"/>
            <a:ext cx="3657600" cy="228600"/>
          </a:xfrm>
          <a:prstGeom prst="rect">
            <a:avLst/>
          </a:prstGeom>
          <a:noFill/>
        </p:spPr>
        <p:txBody>
          <a:bodyPr wrap="square" lIns="0" tIns="0" rIns="0" bIns="0" anchor="t">
            <a:spAutoFit/>
          </a:bodyPr>
          <a:lstStyle/>
          <a:p>
            <a:pPr algn="l"/>
            <a:r>
              <a:rPr sz="1000" b="1" i="0" spc="200">
                <a:solidFill>
                  <a:srgbClr val="003DA5"/>
                </a:solidFill>
                <a:latin typeface="Calibri"/>
              </a:rPr>
              <a:t>TODAY  ·  An Ops engineer's week</a:t>
            </a:r>
          </a:p>
        </p:txBody>
      </p:sp>
      <p:sp>
        <p:nvSpPr>
          <p:cNvPr id="11" name="TextBox 10"/>
          <p:cNvSpPr txBox="1"/>
          <p:nvPr/>
        </p:nvSpPr>
        <p:spPr>
          <a:xfrm>
            <a:off x="8076895" y="2304287"/>
            <a:ext cx="3657600" cy="228600"/>
          </a:xfrm>
          <a:prstGeom prst="rect">
            <a:avLst/>
          </a:prstGeom>
          <a:noFill/>
        </p:spPr>
        <p:txBody>
          <a:bodyPr wrap="square" lIns="0" tIns="0" rIns="0" bIns="0" anchor="t">
            <a:spAutoFit/>
          </a:bodyPr>
          <a:lstStyle/>
          <a:p>
            <a:pPr algn="r"/>
            <a:r>
              <a:rPr sz="1000" b="1" i="1">
                <a:solidFill>
                  <a:srgbClr val="DC2626"/>
                </a:solidFill>
                <a:latin typeface="Calibri"/>
              </a:rPr>
              <a:t>~85% of time on reactive work</a:t>
            </a:r>
          </a:p>
        </p:txBody>
      </p:sp>
      <p:sp>
        <p:nvSpPr>
          <p:cNvPr id="12" name="Rectangle 11"/>
          <p:cNvSpPr/>
          <p:nvPr/>
        </p:nvSpPr>
        <p:spPr>
          <a:xfrm>
            <a:off x="457200" y="2578607"/>
            <a:ext cx="5638647" cy="5943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578607"/>
            <a:ext cx="5547207" cy="594360"/>
          </a:xfrm>
          <a:prstGeom prst="rect">
            <a:avLst/>
          </a:prstGeom>
          <a:noFill/>
        </p:spPr>
        <p:txBody>
          <a:bodyPr wrap="square" lIns="0" tIns="0" rIns="0" bIns="0" anchor="ctr">
            <a:spAutoFit/>
          </a:bodyPr>
          <a:lstStyle/>
          <a:p>
            <a:pPr algn="ctr"/>
            <a:r>
              <a:rPr sz="1000" b="1" i="0">
                <a:solidFill>
                  <a:srgbClr val="FFFFFF"/>
                </a:solidFill>
                <a:latin typeface="Calibri"/>
              </a:rPr>
              <a:t>50%  ·  Incident response · firefighting</a:t>
            </a:r>
          </a:p>
        </p:txBody>
      </p:sp>
      <p:sp>
        <p:nvSpPr>
          <p:cNvPr id="14" name="Rectangle 13"/>
          <p:cNvSpPr/>
          <p:nvPr/>
        </p:nvSpPr>
        <p:spPr>
          <a:xfrm>
            <a:off x="6095847" y="2578607"/>
            <a:ext cx="2255459" cy="594360"/>
          </a:xfrm>
          <a:prstGeom prst="rect">
            <a:avLst/>
          </a:prstGeom>
          <a:solidFill>
            <a:srgbClr val="EF4444"/>
          </a:solidFill>
          <a:ln w="63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41567" y="2578607"/>
            <a:ext cx="2164019" cy="594360"/>
          </a:xfrm>
          <a:prstGeom prst="rect">
            <a:avLst/>
          </a:prstGeom>
          <a:noFill/>
        </p:spPr>
        <p:txBody>
          <a:bodyPr wrap="square" lIns="0" tIns="0" rIns="0" bIns="0" anchor="ctr">
            <a:spAutoFit/>
          </a:bodyPr>
          <a:lstStyle/>
          <a:p>
            <a:pPr algn="ctr"/>
            <a:r>
              <a:rPr sz="1000" b="1" i="0">
                <a:solidFill>
                  <a:srgbClr val="FFFFFF"/>
                </a:solidFill>
                <a:latin typeface="Calibri"/>
              </a:rPr>
              <a:t>20%  ·  Manual ops · tickets</a:t>
            </a:r>
          </a:p>
        </p:txBody>
      </p:sp>
      <p:sp>
        <p:nvSpPr>
          <p:cNvPr id="16" name="Rectangle 15"/>
          <p:cNvSpPr/>
          <p:nvPr/>
        </p:nvSpPr>
        <p:spPr>
          <a:xfrm>
            <a:off x="8351306" y="2578607"/>
            <a:ext cx="1691594" cy="594360"/>
          </a:xfrm>
          <a:prstGeom prst="rect">
            <a:avLst/>
          </a:prstGeom>
          <a:solidFill>
            <a:srgbClr val="F87171"/>
          </a:solidFill>
          <a:ln w="635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97026" y="2578607"/>
            <a:ext cx="1600154" cy="594360"/>
          </a:xfrm>
          <a:prstGeom prst="rect">
            <a:avLst/>
          </a:prstGeom>
          <a:noFill/>
        </p:spPr>
        <p:txBody>
          <a:bodyPr wrap="square" lIns="0" tIns="0" rIns="0" bIns="0" anchor="ctr">
            <a:spAutoFit/>
          </a:bodyPr>
          <a:lstStyle/>
          <a:p>
            <a:pPr algn="ctr"/>
            <a:r>
              <a:rPr sz="1000" b="1" i="0">
                <a:solidFill>
                  <a:srgbClr val="FFFFFF"/>
                </a:solidFill>
                <a:latin typeface="Calibri"/>
              </a:rPr>
              <a:t>15%  ·  Runbook docs · escalations</a:t>
            </a:r>
          </a:p>
        </p:txBody>
      </p:sp>
      <p:sp>
        <p:nvSpPr>
          <p:cNvPr id="18" name="Rectangle 17"/>
          <p:cNvSpPr/>
          <p:nvPr/>
        </p:nvSpPr>
        <p:spPr>
          <a:xfrm>
            <a:off x="10042900" y="2578607"/>
            <a:ext cx="1127729" cy="594360"/>
          </a:xfrm>
          <a:prstGeom prst="rect">
            <a:avLst/>
          </a:prstGeom>
          <a:solidFill>
            <a:srgbClr val="FBBF24"/>
          </a:solidFill>
          <a:ln w="63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88620" y="2578607"/>
            <a:ext cx="1036289" cy="594360"/>
          </a:xfrm>
          <a:prstGeom prst="rect">
            <a:avLst/>
          </a:prstGeom>
          <a:noFill/>
        </p:spPr>
        <p:txBody>
          <a:bodyPr wrap="square" lIns="0" tIns="0" rIns="0" bIns="0" anchor="ctr">
            <a:spAutoFit/>
          </a:bodyPr>
          <a:lstStyle/>
          <a:p>
            <a:pPr algn="ctr"/>
            <a:r>
              <a:rPr sz="1000" b="1" i="0">
                <a:solidFill>
                  <a:srgbClr val="FFFFFF"/>
                </a:solidFill>
                <a:latin typeface="Calibri"/>
              </a:rPr>
              <a:t>10%  ·  On-call coverage</a:t>
            </a:r>
          </a:p>
        </p:txBody>
      </p:sp>
      <p:sp>
        <p:nvSpPr>
          <p:cNvPr id="20" name="Rectangle 19"/>
          <p:cNvSpPr/>
          <p:nvPr/>
        </p:nvSpPr>
        <p:spPr>
          <a:xfrm>
            <a:off x="11170630" y="2578607"/>
            <a:ext cx="563864" cy="5943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170630" y="2578607"/>
            <a:ext cx="563864" cy="594360"/>
          </a:xfrm>
          <a:prstGeom prst="rect">
            <a:avLst/>
          </a:prstGeom>
          <a:noFill/>
        </p:spPr>
        <p:txBody>
          <a:bodyPr wrap="square" lIns="0" tIns="0" rIns="0" bIns="0" anchor="ctr">
            <a:spAutoFit/>
          </a:bodyPr>
          <a:lstStyle/>
          <a:p>
            <a:pPr algn="ctr"/>
            <a:r>
              <a:rPr sz="1000" b="1" i="0">
                <a:solidFill>
                  <a:srgbClr val="FFFFFF"/>
                </a:solidFill>
                <a:latin typeface="Calibri"/>
              </a:rPr>
              <a:t>5%</a:t>
            </a:r>
          </a:p>
        </p:txBody>
      </p:sp>
      <p:sp>
        <p:nvSpPr>
          <p:cNvPr id="22" name="Right Arrow 21"/>
          <p:cNvSpPr/>
          <p:nvPr/>
        </p:nvSpPr>
        <p:spPr>
          <a:xfrm>
            <a:off x="4724247" y="3337559"/>
            <a:ext cx="2743200" cy="548640"/>
          </a:xfrm>
          <a:prstGeom prst="rightArrow">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24247" y="3337559"/>
            <a:ext cx="2743200" cy="548640"/>
          </a:xfrm>
          <a:prstGeom prst="rect">
            <a:avLst/>
          </a:prstGeom>
          <a:noFill/>
        </p:spPr>
        <p:txBody>
          <a:bodyPr wrap="square" lIns="0" tIns="0" rIns="0" bIns="0" anchor="ctr">
            <a:spAutoFit/>
          </a:bodyPr>
          <a:lstStyle/>
          <a:p>
            <a:pPr algn="ctr"/>
            <a:r>
              <a:rPr sz="1400" b="1" i="0" spc="400">
                <a:solidFill>
                  <a:srgbClr val="001F5C"/>
                </a:solidFill>
                <a:latin typeface="Georgia"/>
              </a:rPr>
              <a:t>SHIFT RIGHT</a:t>
            </a:r>
          </a:p>
        </p:txBody>
      </p:sp>
      <p:sp>
        <p:nvSpPr>
          <p:cNvPr id="24" name="TextBox 23"/>
          <p:cNvSpPr txBox="1"/>
          <p:nvPr/>
        </p:nvSpPr>
        <p:spPr>
          <a:xfrm>
            <a:off x="457200" y="3337559"/>
            <a:ext cx="4267047" cy="548640"/>
          </a:xfrm>
          <a:prstGeom prst="rect">
            <a:avLst/>
          </a:prstGeom>
          <a:noFill/>
        </p:spPr>
        <p:txBody>
          <a:bodyPr wrap="square" lIns="0" tIns="0" rIns="0" bIns="0" anchor="ctr">
            <a:spAutoFit/>
          </a:bodyPr>
          <a:lstStyle/>
          <a:p>
            <a:pPr algn="r"/>
            <a:r>
              <a:rPr sz="1100" b="1" i="1">
                <a:solidFill>
                  <a:srgbClr val="DC2626"/>
                </a:solidFill>
                <a:latin typeface="Calibri"/>
              </a:rPr>
              <a:t>↓ time on toil</a:t>
            </a:r>
          </a:p>
        </p:txBody>
      </p:sp>
      <p:sp>
        <p:nvSpPr>
          <p:cNvPr id="25" name="TextBox 24"/>
          <p:cNvSpPr txBox="1"/>
          <p:nvPr/>
        </p:nvSpPr>
        <p:spPr>
          <a:xfrm>
            <a:off x="7924647" y="3337559"/>
            <a:ext cx="3809847" cy="548640"/>
          </a:xfrm>
          <a:prstGeom prst="rect">
            <a:avLst/>
          </a:prstGeom>
          <a:noFill/>
        </p:spPr>
        <p:txBody>
          <a:bodyPr wrap="square" lIns="0" tIns="0" rIns="0" bIns="0" anchor="ctr">
            <a:spAutoFit/>
          </a:bodyPr>
          <a:lstStyle/>
          <a:p>
            <a:pPr algn="l"/>
            <a:r>
              <a:rPr sz="1100" b="1" i="1">
                <a:solidFill>
                  <a:srgbClr val="10B981"/>
                </a:solidFill>
                <a:latin typeface="Calibri"/>
              </a:rPr>
              <a:t>↑ time on engineering</a:t>
            </a:r>
          </a:p>
        </p:txBody>
      </p:sp>
      <p:sp>
        <p:nvSpPr>
          <p:cNvPr id="26" name="TextBox 25"/>
          <p:cNvSpPr txBox="1"/>
          <p:nvPr/>
        </p:nvSpPr>
        <p:spPr>
          <a:xfrm>
            <a:off x="457200" y="4023359"/>
            <a:ext cx="3657600" cy="228600"/>
          </a:xfrm>
          <a:prstGeom prst="rect">
            <a:avLst/>
          </a:prstGeom>
          <a:noFill/>
        </p:spPr>
        <p:txBody>
          <a:bodyPr wrap="square" lIns="0" tIns="0" rIns="0" bIns="0" anchor="t">
            <a:spAutoFit/>
          </a:bodyPr>
          <a:lstStyle/>
          <a:p>
            <a:pPr algn="l"/>
            <a:r>
              <a:rPr sz="1000" b="1" i="0" spc="200">
                <a:solidFill>
                  <a:srgbClr val="003DA5"/>
                </a:solidFill>
                <a:latin typeface="Calibri"/>
              </a:rPr>
              <a:t>NEW MODEL  ·  Same Ops engineer's week</a:t>
            </a:r>
          </a:p>
        </p:txBody>
      </p:sp>
      <p:sp>
        <p:nvSpPr>
          <p:cNvPr id="27" name="TextBox 26"/>
          <p:cNvSpPr txBox="1"/>
          <p:nvPr/>
        </p:nvSpPr>
        <p:spPr>
          <a:xfrm>
            <a:off x="8076895" y="4023359"/>
            <a:ext cx="3657600" cy="228600"/>
          </a:xfrm>
          <a:prstGeom prst="rect">
            <a:avLst/>
          </a:prstGeom>
          <a:noFill/>
        </p:spPr>
        <p:txBody>
          <a:bodyPr wrap="square" lIns="0" tIns="0" rIns="0" bIns="0" anchor="t">
            <a:spAutoFit/>
          </a:bodyPr>
          <a:lstStyle/>
          <a:p>
            <a:pPr algn="r"/>
            <a:r>
              <a:rPr sz="1000" b="1" i="1">
                <a:solidFill>
                  <a:srgbClr val="10B981"/>
                </a:solidFill>
                <a:latin typeface="Calibri"/>
              </a:rPr>
              <a:t>~70% of time on proactive engineering</a:t>
            </a:r>
          </a:p>
        </p:txBody>
      </p:sp>
      <p:sp>
        <p:nvSpPr>
          <p:cNvPr id="28" name="Rectangle 27"/>
          <p:cNvSpPr/>
          <p:nvPr/>
        </p:nvSpPr>
        <p:spPr>
          <a:xfrm>
            <a:off x="457200" y="4297679"/>
            <a:ext cx="2255459" cy="594360"/>
          </a:xfrm>
          <a:prstGeom prst="rect">
            <a:avLst/>
          </a:prstGeom>
          <a:solidFill>
            <a:srgbClr val="F87171"/>
          </a:solidFill>
          <a:ln w="635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4297679"/>
            <a:ext cx="2164019" cy="594360"/>
          </a:xfrm>
          <a:prstGeom prst="rect">
            <a:avLst/>
          </a:prstGeom>
          <a:noFill/>
        </p:spPr>
        <p:txBody>
          <a:bodyPr wrap="square" lIns="0" tIns="0" rIns="0" bIns="0" anchor="ctr">
            <a:spAutoFit/>
          </a:bodyPr>
          <a:lstStyle/>
          <a:p>
            <a:pPr algn="ctr"/>
            <a:r>
              <a:rPr sz="1000" b="1" i="0">
                <a:solidFill>
                  <a:srgbClr val="FFFFFF"/>
                </a:solidFill>
                <a:latin typeface="Calibri"/>
              </a:rPr>
              <a:t>20%  ·  Incident response (agent-triaged)</a:t>
            </a:r>
          </a:p>
        </p:txBody>
      </p:sp>
      <p:sp>
        <p:nvSpPr>
          <p:cNvPr id="30" name="Rectangle 29"/>
          <p:cNvSpPr/>
          <p:nvPr/>
        </p:nvSpPr>
        <p:spPr>
          <a:xfrm>
            <a:off x="2712659" y="4297679"/>
            <a:ext cx="1127729" cy="594360"/>
          </a:xfrm>
          <a:prstGeom prst="rect">
            <a:avLst/>
          </a:prstGeom>
          <a:solidFill>
            <a:srgbClr val="FBBF24"/>
          </a:solidFill>
          <a:ln w="63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58379" y="4297679"/>
            <a:ext cx="1036289" cy="594360"/>
          </a:xfrm>
          <a:prstGeom prst="rect">
            <a:avLst/>
          </a:prstGeom>
          <a:noFill/>
        </p:spPr>
        <p:txBody>
          <a:bodyPr wrap="square" lIns="0" tIns="0" rIns="0" bIns="0" anchor="ctr">
            <a:spAutoFit/>
          </a:bodyPr>
          <a:lstStyle/>
          <a:p>
            <a:pPr algn="ctr"/>
            <a:r>
              <a:rPr sz="1000" b="1" i="0">
                <a:solidFill>
                  <a:srgbClr val="FFFFFF"/>
                </a:solidFill>
                <a:latin typeface="Calibri"/>
              </a:rPr>
              <a:t>10%  ·  On-call coverage</a:t>
            </a:r>
          </a:p>
        </p:txBody>
      </p:sp>
      <p:sp>
        <p:nvSpPr>
          <p:cNvPr id="32" name="Rectangle 31"/>
          <p:cNvSpPr/>
          <p:nvPr/>
        </p:nvSpPr>
        <p:spPr>
          <a:xfrm>
            <a:off x="3840388" y="4297679"/>
            <a:ext cx="2819323" cy="594360"/>
          </a:xfrm>
          <a:prstGeom prst="rect">
            <a:avLst/>
          </a:prstGeom>
          <a:solidFill>
            <a:srgbClr val="1A55BC"/>
          </a:solidFill>
          <a:ln w="6350">
            <a:solidFill>
              <a:srgbClr val="1A55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86108" y="4297679"/>
            <a:ext cx="2727883" cy="594360"/>
          </a:xfrm>
          <a:prstGeom prst="rect">
            <a:avLst/>
          </a:prstGeom>
          <a:noFill/>
        </p:spPr>
        <p:txBody>
          <a:bodyPr wrap="square" lIns="0" tIns="0" rIns="0" bIns="0" anchor="ctr">
            <a:spAutoFit/>
          </a:bodyPr>
          <a:lstStyle/>
          <a:p>
            <a:pPr algn="ctr"/>
            <a:r>
              <a:rPr sz="1000" b="1" i="0">
                <a:solidFill>
                  <a:srgbClr val="FFFFFF"/>
                </a:solidFill>
                <a:latin typeface="Calibri"/>
              </a:rPr>
              <a:t>25%  ·  Building IaC modules</a:t>
            </a:r>
          </a:p>
        </p:txBody>
      </p:sp>
      <p:sp>
        <p:nvSpPr>
          <p:cNvPr id="34" name="Rectangle 33"/>
          <p:cNvSpPr/>
          <p:nvPr/>
        </p:nvSpPr>
        <p:spPr>
          <a:xfrm>
            <a:off x="6659712" y="4297679"/>
            <a:ext cx="2255459" cy="594360"/>
          </a:xfrm>
          <a:prstGeom prst="rect">
            <a:avLst/>
          </a:prstGeom>
          <a:solidFill>
            <a:srgbClr val="059669"/>
          </a:solidFill>
          <a:ln w="63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05432" y="4297679"/>
            <a:ext cx="2164019" cy="594360"/>
          </a:xfrm>
          <a:prstGeom prst="rect">
            <a:avLst/>
          </a:prstGeom>
          <a:noFill/>
        </p:spPr>
        <p:txBody>
          <a:bodyPr wrap="square" lIns="0" tIns="0" rIns="0" bIns="0" anchor="ctr">
            <a:spAutoFit/>
          </a:bodyPr>
          <a:lstStyle/>
          <a:p>
            <a:pPr algn="ctr"/>
            <a:r>
              <a:rPr sz="1000" b="1" i="0">
                <a:solidFill>
                  <a:srgbClr val="FFFFFF"/>
                </a:solidFill>
                <a:latin typeface="Calibri"/>
              </a:rPr>
              <a:t>20%  ·  Building agents · automation</a:t>
            </a:r>
          </a:p>
        </p:txBody>
      </p:sp>
      <p:sp>
        <p:nvSpPr>
          <p:cNvPr id="36" name="Rectangle 35"/>
          <p:cNvSpPr/>
          <p:nvPr/>
        </p:nvSpPr>
        <p:spPr>
          <a:xfrm>
            <a:off x="8915171" y="4297679"/>
            <a:ext cx="1691594" cy="5943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960891" y="4297679"/>
            <a:ext cx="1600154" cy="594360"/>
          </a:xfrm>
          <a:prstGeom prst="rect">
            <a:avLst/>
          </a:prstGeom>
          <a:noFill/>
        </p:spPr>
        <p:txBody>
          <a:bodyPr wrap="square" lIns="0" tIns="0" rIns="0" bIns="0" anchor="ctr">
            <a:spAutoFit/>
          </a:bodyPr>
          <a:lstStyle/>
          <a:p>
            <a:pPr algn="ctr"/>
            <a:r>
              <a:rPr sz="1000" b="1" i="0">
                <a:solidFill>
                  <a:srgbClr val="FFFFFF"/>
                </a:solidFill>
                <a:latin typeface="Calibri"/>
              </a:rPr>
              <a:t>15%  ·  Runbook-as-code · reviews</a:t>
            </a:r>
          </a:p>
        </p:txBody>
      </p:sp>
      <p:sp>
        <p:nvSpPr>
          <p:cNvPr id="38" name="Rectangle 37"/>
          <p:cNvSpPr/>
          <p:nvPr/>
        </p:nvSpPr>
        <p:spPr>
          <a:xfrm>
            <a:off x="10606765" y="4297679"/>
            <a:ext cx="1127729" cy="594360"/>
          </a:xfrm>
          <a:prstGeom prst="rect">
            <a:avLst/>
          </a:prstGeom>
          <a:solidFill>
            <a:srgbClr val="6EE7B7"/>
          </a:solidFill>
          <a:ln w="635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652485" y="4297679"/>
            <a:ext cx="1036289" cy="594360"/>
          </a:xfrm>
          <a:prstGeom prst="rect">
            <a:avLst/>
          </a:prstGeom>
          <a:noFill/>
        </p:spPr>
        <p:txBody>
          <a:bodyPr wrap="square" lIns="0" tIns="0" rIns="0" bIns="0" anchor="ctr">
            <a:spAutoFit/>
          </a:bodyPr>
          <a:lstStyle/>
          <a:p>
            <a:pPr algn="ctr"/>
            <a:r>
              <a:rPr sz="1000" b="1" i="0">
                <a:solidFill>
                  <a:srgbClr val="FFFFFF"/>
                </a:solidFill>
                <a:latin typeface="Calibri"/>
              </a:rPr>
              <a:t>10%  ·  Upskilling · CoP</a:t>
            </a:r>
          </a:p>
        </p:txBody>
      </p:sp>
      <p:sp>
        <p:nvSpPr>
          <p:cNvPr id="40" name="Rectangle 39"/>
          <p:cNvSpPr/>
          <p:nvPr/>
        </p:nvSpPr>
        <p:spPr>
          <a:xfrm>
            <a:off x="457200" y="5166359"/>
            <a:ext cx="3649370"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 y="5166359"/>
            <a:ext cx="91440" cy="13258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57200" y="5166359"/>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5800" y="5330951"/>
            <a:ext cx="3283610" cy="457200"/>
          </a:xfrm>
          <a:prstGeom prst="rect">
            <a:avLst/>
          </a:prstGeom>
          <a:noFill/>
        </p:spPr>
        <p:txBody>
          <a:bodyPr wrap="square" lIns="0" tIns="0" rIns="0" bIns="0" anchor="t">
            <a:spAutoFit/>
          </a:bodyPr>
          <a:lstStyle/>
          <a:p>
            <a:pPr algn="l"/>
            <a:r>
              <a:rPr sz="2200" b="1" i="0">
                <a:solidFill>
                  <a:srgbClr val="001F5C"/>
                </a:solidFill>
                <a:latin typeface="Georgia"/>
              </a:rPr>
              <a:t>~15 hrs</a:t>
            </a:r>
          </a:p>
        </p:txBody>
      </p:sp>
      <p:sp>
        <p:nvSpPr>
          <p:cNvPr id="44" name="TextBox 43"/>
          <p:cNvSpPr txBox="1"/>
          <p:nvPr/>
        </p:nvSpPr>
        <p:spPr>
          <a:xfrm>
            <a:off x="685800" y="5760720"/>
            <a:ext cx="3283610" cy="274320"/>
          </a:xfrm>
          <a:prstGeom prst="rect">
            <a:avLst/>
          </a:prstGeom>
          <a:noFill/>
        </p:spPr>
        <p:txBody>
          <a:bodyPr wrap="square" lIns="0" tIns="0" rIns="0" bIns="0" anchor="t">
            <a:spAutoFit/>
          </a:bodyPr>
          <a:lstStyle/>
          <a:p>
            <a:pPr algn="l"/>
            <a:r>
              <a:rPr sz="1100" b="1" i="0">
                <a:solidFill>
                  <a:srgbClr val="10B981"/>
                </a:solidFill>
                <a:latin typeface="Calibri"/>
              </a:rPr>
              <a:t>reclaimed per Ops engineer / wk</a:t>
            </a:r>
          </a:p>
        </p:txBody>
      </p:sp>
      <p:sp>
        <p:nvSpPr>
          <p:cNvPr id="45" name="TextBox 44"/>
          <p:cNvSpPr txBox="1"/>
          <p:nvPr/>
        </p:nvSpPr>
        <p:spPr>
          <a:xfrm>
            <a:off x="685800" y="6035040"/>
            <a:ext cx="3283610" cy="365759"/>
          </a:xfrm>
          <a:prstGeom prst="rect">
            <a:avLst/>
          </a:prstGeom>
          <a:noFill/>
        </p:spPr>
        <p:txBody>
          <a:bodyPr wrap="square" lIns="0" tIns="0" rIns="0" bIns="0" anchor="t">
            <a:spAutoFit/>
          </a:bodyPr>
          <a:lstStyle/>
          <a:p>
            <a:pPr algn="l"/>
            <a:r>
              <a:rPr sz="950" b="0" i="0">
                <a:solidFill>
                  <a:srgbClr val="1E293B"/>
                </a:solidFill>
                <a:latin typeface="Calibri"/>
              </a:rPr>
              <a:t>From 50% firefighting → 20% incident response (agent-triaged).</a:t>
            </a:r>
          </a:p>
        </p:txBody>
      </p:sp>
      <p:sp>
        <p:nvSpPr>
          <p:cNvPr id="46" name="Rectangle 45"/>
          <p:cNvSpPr/>
          <p:nvPr/>
        </p:nvSpPr>
        <p:spPr>
          <a:xfrm>
            <a:off x="4271162" y="5166359"/>
            <a:ext cx="3649370"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271162" y="5166359"/>
            <a:ext cx="91440" cy="13258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1162" y="5166359"/>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99762" y="5330951"/>
            <a:ext cx="3283610" cy="457200"/>
          </a:xfrm>
          <a:prstGeom prst="rect">
            <a:avLst/>
          </a:prstGeom>
          <a:noFill/>
        </p:spPr>
        <p:txBody>
          <a:bodyPr wrap="square" lIns="0" tIns="0" rIns="0" bIns="0" anchor="t">
            <a:spAutoFit/>
          </a:bodyPr>
          <a:lstStyle/>
          <a:p>
            <a:pPr algn="l"/>
            <a:r>
              <a:rPr sz="2200" b="1" i="0">
                <a:solidFill>
                  <a:srgbClr val="001F5C"/>
                </a:solidFill>
                <a:latin typeface="Georgia"/>
              </a:rPr>
              <a:t>3-5x</a:t>
            </a:r>
          </a:p>
        </p:txBody>
      </p:sp>
      <p:sp>
        <p:nvSpPr>
          <p:cNvPr id="50" name="TextBox 49"/>
          <p:cNvSpPr txBox="1"/>
          <p:nvPr/>
        </p:nvSpPr>
        <p:spPr>
          <a:xfrm>
            <a:off x="4499762" y="5760720"/>
            <a:ext cx="3283610" cy="274320"/>
          </a:xfrm>
          <a:prstGeom prst="rect">
            <a:avLst/>
          </a:prstGeom>
          <a:noFill/>
        </p:spPr>
        <p:txBody>
          <a:bodyPr wrap="square" lIns="0" tIns="0" rIns="0" bIns="0" anchor="t">
            <a:spAutoFit/>
          </a:bodyPr>
          <a:lstStyle/>
          <a:p>
            <a:pPr algn="l"/>
            <a:r>
              <a:rPr sz="1100" b="1" i="0">
                <a:solidFill>
                  <a:srgbClr val="10B981"/>
                </a:solidFill>
                <a:latin typeface="Calibri"/>
              </a:rPr>
              <a:t>more agents shipped by Ops</a:t>
            </a:r>
          </a:p>
        </p:txBody>
      </p:sp>
      <p:sp>
        <p:nvSpPr>
          <p:cNvPr id="51" name="TextBox 50"/>
          <p:cNvSpPr txBox="1"/>
          <p:nvPr/>
        </p:nvSpPr>
        <p:spPr>
          <a:xfrm>
            <a:off x="4499762" y="6035040"/>
            <a:ext cx="3283610" cy="365759"/>
          </a:xfrm>
          <a:prstGeom prst="rect">
            <a:avLst/>
          </a:prstGeom>
          <a:noFill/>
        </p:spPr>
        <p:txBody>
          <a:bodyPr wrap="square" lIns="0" tIns="0" rIns="0" bIns="0" anchor="t">
            <a:spAutoFit/>
          </a:bodyPr>
          <a:lstStyle/>
          <a:p>
            <a:pPr algn="l"/>
            <a:r>
              <a:rPr sz="950" b="0" i="0">
                <a:solidFill>
                  <a:srgbClr val="1E293B"/>
                </a:solidFill>
                <a:latin typeface="Calibri"/>
              </a:rPr>
              <a:t>Ops experience now feeds the next prevention agent — built BY the people who know the fires.</a:t>
            </a:r>
          </a:p>
        </p:txBody>
      </p:sp>
      <p:sp>
        <p:nvSpPr>
          <p:cNvPr id="52" name="Rectangle 51"/>
          <p:cNvSpPr/>
          <p:nvPr/>
        </p:nvSpPr>
        <p:spPr>
          <a:xfrm>
            <a:off x="8085124" y="5166359"/>
            <a:ext cx="3649370"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085124" y="5166359"/>
            <a:ext cx="91440" cy="13258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085124" y="5166359"/>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313724" y="5330951"/>
            <a:ext cx="3283610" cy="457200"/>
          </a:xfrm>
          <a:prstGeom prst="rect">
            <a:avLst/>
          </a:prstGeom>
          <a:noFill/>
        </p:spPr>
        <p:txBody>
          <a:bodyPr wrap="square" lIns="0" tIns="0" rIns="0" bIns="0" anchor="t">
            <a:spAutoFit/>
          </a:bodyPr>
          <a:lstStyle/>
          <a:p>
            <a:pPr algn="l"/>
            <a:r>
              <a:rPr sz="2200" b="1" i="0">
                <a:solidFill>
                  <a:srgbClr val="001F5C"/>
                </a:solidFill>
                <a:latin typeface="Georgia"/>
              </a:rPr>
              <a:t>Lower</a:t>
            </a:r>
          </a:p>
        </p:txBody>
      </p:sp>
      <p:sp>
        <p:nvSpPr>
          <p:cNvPr id="56" name="TextBox 55"/>
          <p:cNvSpPr txBox="1"/>
          <p:nvPr/>
        </p:nvSpPr>
        <p:spPr>
          <a:xfrm>
            <a:off x="8313724" y="5760720"/>
            <a:ext cx="3283610" cy="274320"/>
          </a:xfrm>
          <a:prstGeom prst="rect">
            <a:avLst/>
          </a:prstGeom>
          <a:noFill/>
        </p:spPr>
        <p:txBody>
          <a:bodyPr wrap="square" lIns="0" tIns="0" rIns="0" bIns="0" anchor="t">
            <a:spAutoFit/>
          </a:bodyPr>
          <a:lstStyle/>
          <a:p>
            <a:pPr algn="l"/>
            <a:r>
              <a:rPr sz="1100" b="1" i="0">
                <a:solidFill>
                  <a:srgbClr val="10B981"/>
                </a:solidFill>
                <a:latin typeface="Calibri"/>
              </a:rPr>
              <a:t>Ops attrition</a:t>
            </a:r>
          </a:p>
        </p:txBody>
      </p:sp>
      <p:sp>
        <p:nvSpPr>
          <p:cNvPr id="57" name="TextBox 56"/>
          <p:cNvSpPr txBox="1"/>
          <p:nvPr/>
        </p:nvSpPr>
        <p:spPr>
          <a:xfrm>
            <a:off x="8313724" y="6035040"/>
            <a:ext cx="3283610" cy="365759"/>
          </a:xfrm>
          <a:prstGeom prst="rect">
            <a:avLst/>
          </a:prstGeom>
          <a:noFill/>
        </p:spPr>
        <p:txBody>
          <a:bodyPr wrap="square" lIns="0" tIns="0" rIns="0" bIns="0" anchor="t">
            <a:spAutoFit/>
          </a:bodyPr>
          <a:lstStyle/>
          <a:p>
            <a:pPr algn="l"/>
            <a:r>
              <a:rPr sz="950" b="0" i="0">
                <a:solidFill>
                  <a:srgbClr val="1E293B"/>
                </a:solidFill>
                <a:latin typeface="Calibri"/>
              </a:rPr>
              <a:t>Engineers stay when they get to engineer. Same paycheck, much higher craft surface.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BRIDGE EXECUTION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Priorities for the 90-Day Pilot</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Each pod follows the same playbook — find the real pain, automate it, prove the model. Three 30-day windows with clear deliverables.</a:t>
            </a:r>
          </a:p>
        </p:txBody>
      </p:sp>
      <p:sp>
        <p:nvSpPr>
          <p:cNvPr id="8" name="Rectangle 7"/>
          <p:cNvSpPr/>
          <p:nvPr/>
        </p:nvSpPr>
        <p:spPr>
          <a:xfrm>
            <a:off x="457200" y="1920240"/>
            <a:ext cx="3606698"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606698" cy="96012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360669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0080" y="214884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48840"/>
            <a:ext cx="411480" cy="411480"/>
          </a:xfrm>
          <a:prstGeom prst="rect">
            <a:avLst/>
          </a:prstGeom>
          <a:noFill/>
        </p:spPr>
        <p:txBody>
          <a:bodyPr wrap="square" lIns="0" tIns="0" rIns="0" bIns="0" anchor="ctr">
            <a:spAutoFit/>
          </a:bodyPr>
          <a:lstStyle/>
          <a:p>
            <a:pPr algn="ctr"/>
            <a:r>
              <a:rPr sz="1800" b="1" i="0">
                <a:solidFill>
                  <a:srgbClr val="001F5C"/>
                </a:solidFill>
                <a:latin typeface="Georgia"/>
              </a:rPr>
              <a:t>1</a:t>
            </a:r>
          </a:p>
        </p:txBody>
      </p:sp>
      <p:sp>
        <p:nvSpPr>
          <p:cNvPr id="13" name="TextBox 12"/>
          <p:cNvSpPr txBox="1"/>
          <p:nvPr/>
        </p:nvSpPr>
        <p:spPr>
          <a:xfrm>
            <a:off x="1143000" y="2121408"/>
            <a:ext cx="2783738" cy="274320"/>
          </a:xfrm>
          <a:prstGeom prst="rect">
            <a:avLst/>
          </a:prstGeom>
          <a:noFill/>
        </p:spPr>
        <p:txBody>
          <a:bodyPr wrap="square" lIns="0" tIns="0" rIns="0" bIns="0" anchor="t">
            <a:spAutoFit/>
          </a:bodyPr>
          <a:lstStyle/>
          <a:p>
            <a:pPr algn="l"/>
            <a:r>
              <a:rPr sz="1100" b="1" i="0" spc="300">
                <a:solidFill>
                  <a:srgbClr val="FEDF01"/>
                </a:solidFill>
                <a:latin typeface="Calibri"/>
              </a:rPr>
              <a:t>30 DAYS</a:t>
            </a:r>
          </a:p>
        </p:txBody>
      </p:sp>
      <p:sp>
        <p:nvSpPr>
          <p:cNvPr id="14" name="TextBox 13"/>
          <p:cNvSpPr txBox="1"/>
          <p:nvPr/>
        </p:nvSpPr>
        <p:spPr>
          <a:xfrm>
            <a:off x="1143000" y="2377440"/>
            <a:ext cx="2783738" cy="292608"/>
          </a:xfrm>
          <a:prstGeom prst="rect">
            <a:avLst/>
          </a:prstGeom>
          <a:noFill/>
        </p:spPr>
        <p:txBody>
          <a:bodyPr wrap="square" lIns="0" tIns="0" rIns="0" bIns="0" anchor="t">
            <a:spAutoFit/>
          </a:bodyPr>
          <a:lstStyle/>
          <a:p>
            <a:pPr algn="l"/>
            <a:r>
              <a:rPr sz="1700" b="1" i="0">
                <a:solidFill>
                  <a:srgbClr val="FFFFFF"/>
                </a:solidFill>
                <a:latin typeface="Georgia"/>
              </a:rPr>
              <a:t>DISCOVER</a:t>
            </a:r>
          </a:p>
        </p:txBody>
      </p:sp>
      <p:sp>
        <p:nvSpPr>
          <p:cNvPr id="15" name="TextBox 14"/>
          <p:cNvSpPr txBox="1"/>
          <p:nvPr/>
        </p:nvSpPr>
        <p:spPr>
          <a:xfrm>
            <a:off x="1143000" y="2670048"/>
            <a:ext cx="2783738" cy="201168"/>
          </a:xfrm>
          <a:prstGeom prst="rect">
            <a:avLst/>
          </a:prstGeom>
          <a:noFill/>
        </p:spPr>
        <p:txBody>
          <a:bodyPr wrap="square" lIns="0" tIns="0" rIns="0" bIns="0" anchor="t">
            <a:spAutoFit/>
          </a:bodyPr>
          <a:lstStyle/>
          <a:p>
            <a:pPr algn="l"/>
            <a:r>
              <a:rPr sz="1000" b="0" i="1">
                <a:solidFill>
                  <a:srgbClr val="C9D6EE"/>
                </a:solidFill>
                <a:latin typeface="Calibri"/>
              </a:rPr>
              <a:t>Find the real pain</a:t>
            </a:r>
          </a:p>
        </p:txBody>
      </p:sp>
      <p:sp>
        <p:nvSpPr>
          <p:cNvPr id="16" name="Oval 15"/>
          <p:cNvSpPr/>
          <p:nvPr/>
        </p:nvSpPr>
        <p:spPr>
          <a:xfrm>
            <a:off x="685800" y="31272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063240"/>
            <a:ext cx="3012338" cy="237744"/>
          </a:xfrm>
          <a:prstGeom prst="rect">
            <a:avLst/>
          </a:prstGeom>
          <a:noFill/>
        </p:spPr>
        <p:txBody>
          <a:bodyPr wrap="square" lIns="0" tIns="0" rIns="0" bIns="0" anchor="t">
            <a:spAutoFit/>
          </a:bodyPr>
          <a:lstStyle/>
          <a:p>
            <a:pPr algn="l"/>
            <a:r>
              <a:rPr sz="1050" b="1" i="0">
                <a:solidFill>
                  <a:srgbClr val="001F5C"/>
                </a:solidFill>
                <a:latin typeface="Calibri"/>
              </a:rPr>
              <a:t>Identify manual tasks via VSM</a:t>
            </a:r>
          </a:p>
        </p:txBody>
      </p:sp>
      <p:sp>
        <p:nvSpPr>
          <p:cNvPr id="18" name="TextBox 17"/>
          <p:cNvSpPr txBox="1"/>
          <p:nvPr/>
        </p:nvSpPr>
        <p:spPr>
          <a:xfrm>
            <a:off x="914400" y="3300984"/>
            <a:ext cx="3012338" cy="354330"/>
          </a:xfrm>
          <a:prstGeom prst="rect">
            <a:avLst/>
          </a:prstGeom>
          <a:noFill/>
        </p:spPr>
        <p:txBody>
          <a:bodyPr wrap="square" lIns="0" tIns="0" rIns="0" bIns="0" anchor="t">
            <a:spAutoFit/>
          </a:bodyPr>
          <a:lstStyle/>
          <a:p>
            <a:pPr algn="l"/>
            <a:r>
              <a:rPr sz="900" b="0" i="0">
                <a:solidFill>
                  <a:srgbClr val="1E293B"/>
                </a:solidFill>
                <a:latin typeface="Calibri"/>
              </a:rPr>
              <a:t>Run Value Stream Mapping with Ops. Surface every manual step, handoff, and waiting period.</a:t>
            </a:r>
          </a:p>
        </p:txBody>
      </p:sp>
      <p:sp>
        <p:nvSpPr>
          <p:cNvPr id="19" name="Oval 18"/>
          <p:cNvSpPr/>
          <p:nvPr/>
        </p:nvSpPr>
        <p:spPr>
          <a:xfrm>
            <a:off x="685800" y="37558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691889"/>
            <a:ext cx="3012338" cy="237744"/>
          </a:xfrm>
          <a:prstGeom prst="rect">
            <a:avLst/>
          </a:prstGeom>
          <a:noFill/>
        </p:spPr>
        <p:txBody>
          <a:bodyPr wrap="square" lIns="0" tIns="0" rIns="0" bIns="0" anchor="t">
            <a:spAutoFit/>
          </a:bodyPr>
          <a:lstStyle/>
          <a:p>
            <a:pPr algn="l"/>
            <a:r>
              <a:rPr sz="1050" b="1" i="0">
                <a:solidFill>
                  <a:srgbClr val="001F5C"/>
                </a:solidFill>
                <a:latin typeface="Calibri"/>
              </a:rPr>
              <a:t>Categorize incidents</a:t>
            </a:r>
          </a:p>
        </p:txBody>
      </p:sp>
      <p:sp>
        <p:nvSpPr>
          <p:cNvPr id="21" name="TextBox 20"/>
          <p:cNvSpPr txBox="1"/>
          <p:nvPr/>
        </p:nvSpPr>
        <p:spPr>
          <a:xfrm>
            <a:off x="914400" y="3929633"/>
            <a:ext cx="3012338" cy="354330"/>
          </a:xfrm>
          <a:prstGeom prst="rect">
            <a:avLst/>
          </a:prstGeom>
          <a:noFill/>
        </p:spPr>
        <p:txBody>
          <a:bodyPr wrap="square" lIns="0" tIns="0" rIns="0" bIns="0" anchor="t">
            <a:spAutoFit/>
          </a:bodyPr>
          <a:lstStyle/>
          <a:p>
            <a:pPr algn="l"/>
            <a:r>
              <a:rPr sz="900" b="0" i="0">
                <a:solidFill>
                  <a:srgbClr val="1E293B"/>
                </a:solidFill>
                <a:latin typeface="Calibri"/>
              </a:rPr>
              <a:t>Pull last 90 days of incidents. Cluster by root cause, frequency, and time-to-resolve.</a:t>
            </a:r>
          </a:p>
        </p:txBody>
      </p:sp>
      <p:sp>
        <p:nvSpPr>
          <p:cNvPr id="22" name="Oval 21"/>
          <p:cNvSpPr/>
          <p:nvPr/>
        </p:nvSpPr>
        <p:spPr>
          <a:xfrm>
            <a:off x="685800" y="43845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320540"/>
            <a:ext cx="3012338" cy="237744"/>
          </a:xfrm>
          <a:prstGeom prst="rect">
            <a:avLst/>
          </a:prstGeom>
          <a:noFill/>
        </p:spPr>
        <p:txBody>
          <a:bodyPr wrap="square" lIns="0" tIns="0" rIns="0" bIns="0" anchor="t">
            <a:spAutoFit/>
          </a:bodyPr>
          <a:lstStyle/>
          <a:p>
            <a:pPr algn="l"/>
            <a:r>
              <a:rPr sz="1050" b="1" i="0">
                <a:solidFill>
                  <a:srgbClr val="001F5C"/>
                </a:solidFill>
                <a:latin typeface="Calibri"/>
              </a:rPr>
              <a:t>Identify automation candidates</a:t>
            </a:r>
          </a:p>
        </p:txBody>
      </p:sp>
      <p:sp>
        <p:nvSpPr>
          <p:cNvPr id="24" name="TextBox 23"/>
          <p:cNvSpPr txBox="1"/>
          <p:nvPr/>
        </p:nvSpPr>
        <p:spPr>
          <a:xfrm>
            <a:off x="914400" y="4558283"/>
            <a:ext cx="3012338" cy="354330"/>
          </a:xfrm>
          <a:prstGeom prst="rect">
            <a:avLst/>
          </a:prstGeom>
          <a:noFill/>
        </p:spPr>
        <p:txBody>
          <a:bodyPr wrap="square" lIns="0" tIns="0" rIns="0" bIns="0" anchor="t">
            <a:spAutoFit/>
          </a:bodyPr>
          <a:lstStyle/>
          <a:p>
            <a:pPr algn="l"/>
            <a:r>
              <a:rPr sz="900" b="0" i="0">
                <a:solidFill>
                  <a:srgbClr val="1E293B"/>
                </a:solidFill>
                <a:latin typeface="Calibri"/>
              </a:rPr>
              <a:t>Rank by frequency × pain. Pick top 3 — one per role (Eng, Ops, IntelOps).</a:t>
            </a:r>
          </a:p>
        </p:txBody>
      </p:sp>
      <p:sp>
        <p:nvSpPr>
          <p:cNvPr id="25" name="Oval 24"/>
          <p:cNvSpPr/>
          <p:nvPr/>
        </p:nvSpPr>
        <p:spPr>
          <a:xfrm>
            <a:off x="685800" y="50131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949190"/>
            <a:ext cx="3012338" cy="237744"/>
          </a:xfrm>
          <a:prstGeom prst="rect">
            <a:avLst/>
          </a:prstGeom>
          <a:noFill/>
        </p:spPr>
        <p:txBody>
          <a:bodyPr wrap="square" lIns="0" tIns="0" rIns="0" bIns="0" anchor="t">
            <a:spAutoFit/>
          </a:bodyPr>
          <a:lstStyle/>
          <a:p>
            <a:pPr algn="l"/>
            <a:r>
              <a:rPr sz="1050" b="1" i="0">
                <a:solidFill>
                  <a:srgbClr val="001F5C"/>
                </a:solidFill>
                <a:latin typeface="Calibri"/>
              </a:rPr>
              <a:t>Set squad OKRs &amp; baseline</a:t>
            </a:r>
          </a:p>
        </p:txBody>
      </p:sp>
      <p:sp>
        <p:nvSpPr>
          <p:cNvPr id="27" name="TextBox 26"/>
          <p:cNvSpPr txBox="1"/>
          <p:nvPr/>
        </p:nvSpPr>
        <p:spPr>
          <a:xfrm>
            <a:off x="914400" y="5186933"/>
            <a:ext cx="3012338" cy="354330"/>
          </a:xfrm>
          <a:prstGeom prst="rect">
            <a:avLst/>
          </a:prstGeom>
          <a:noFill/>
        </p:spPr>
        <p:txBody>
          <a:bodyPr wrap="square" lIns="0" tIns="0" rIns="0" bIns="0" anchor="t">
            <a:spAutoFit/>
          </a:bodyPr>
          <a:lstStyle/>
          <a:p>
            <a:pPr algn="l"/>
            <a:r>
              <a:rPr sz="900" b="0" i="0">
                <a:solidFill>
                  <a:srgbClr val="1E293B"/>
                </a:solidFill>
                <a:latin typeface="Calibri"/>
              </a:rPr>
              <a:t>Define success metrics: incidents prevented, toil hours saved, lead time reduced.</a:t>
            </a:r>
          </a:p>
        </p:txBody>
      </p:sp>
      <p:sp>
        <p:nvSpPr>
          <p:cNvPr id="28" name="Rectangle 27"/>
          <p:cNvSpPr/>
          <p:nvPr/>
        </p:nvSpPr>
        <p:spPr>
          <a:xfrm>
            <a:off x="594360" y="5623560"/>
            <a:ext cx="3332378" cy="347472"/>
          </a:xfrm>
          <a:prstGeom prst="rect">
            <a:avLst/>
          </a:prstGeom>
          <a:solidFill>
            <a:srgbClr val="F4F6F9"/>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5623560"/>
            <a:ext cx="3332378" cy="347472"/>
          </a:xfrm>
          <a:prstGeom prst="rect">
            <a:avLst/>
          </a:prstGeom>
          <a:noFill/>
        </p:spPr>
        <p:txBody>
          <a:bodyPr wrap="square" lIns="0" tIns="0" rIns="0" bIns="0" anchor="ctr">
            <a:spAutoFit/>
          </a:bodyPr>
          <a:lstStyle/>
          <a:p>
            <a:pPr algn="ctr"/>
            <a:r>
              <a:rPr sz="900" b="1" spc="200">
                <a:solidFill>
                  <a:srgbClr val="1E293B"/>
                </a:solidFill>
                <a:latin typeface="Calibri"/>
              </a:rPr>
              <a:t>GATE:  </a:t>
            </a:r>
            <a:r>
              <a:rPr sz="1100" b="1">
                <a:solidFill>
                  <a:srgbClr val="1E293B"/>
                </a:solidFill>
                <a:latin typeface="Calibri"/>
              </a:rPr>
              <a:t>Backlog ranked &amp; OKRs set</a:t>
            </a:r>
          </a:p>
        </p:txBody>
      </p:sp>
      <p:sp>
        <p:nvSpPr>
          <p:cNvPr id="30" name="Rectangle 29"/>
          <p:cNvSpPr/>
          <p:nvPr/>
        </p:nvSpPr>
        <p:spPr>
          <a:xfrm>
            <a:off x="4292498" y="1920240"/>
            <a:ext cx="3606698"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292498" y="1920240"/>
            <a:ext cx="3606698" cy="96012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292498" y="1920240"/>
            <a:ext cx="360669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475378" y="214884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75378" y="2148840"/>
            <a:ext cx="411480" cy="411480"/>
          </a:xfrm>
          <a:prstGeom prst="rect">
            <a:avLst/>
          </a:prstGeom>
          <a:noFill/>
        </p:spPr>
        <p:txBody>
          <a:bodyPr wrap="square" lIns="0" tIns="0" rIns="0" bIns="0" anchor="ctr">
            <a:spAutoFit/>
          </a:bodyPr>
          <a:lstStyle/>
          <a:p>
            <a:pPr algn="ctr"/>
            <a:r>
              <a:rPr sz="1800" b="1" i="0">
                <a:solidFill>
                  <a:srgbClr val="001F5C"/>
                </a:solidFill>
                <a:latin typeface="Georgia"/>
              </a:rPr>
              <a:t>2</a:t>
            </a:r>
          </a:p>
        </p:txBody>
      </p:sp>
      <p:sp>
        <p:nvSpPr>
          <p:cNvPr id="35" name="TextBox 34"/>
          <p:cNvSpPr txBox="1"/>
          <p:nvPr/>
        </p:nvSpPr>
        <p:spPr>
          <a:xfrm>
            <a:off x="4978298" y="2121408"/>
            <a:ext cx="2783738" cy="274320"/>
          </a:xfrm>
          <a:prstGeom prst="rect">
            <a:avLst/>
          </a:prstGeom>
          <a:noFill/>
        </p:spPr>
        <p:txBody>
          <a:bodyPr wrap="square" lIns="0" tIns="0" rIns="0" bIns="0" anchor="t">
            <a:spAutoFit/>
          </a:bodyPr>
          <a:lstStyle/>
          <a:p>
            <a:pPr algn="l"/>
            <a:r>
              <a:rPr sz="1100" b="1" i="0" spc="300">
                <a:solidFill>
                  <a:srgbClr val="FEDF01"/>
                </a:solidFill>
                <a:latin typeface="Calibri"/>
              </a:rPr>
              <a:t>60 DAYS</a:t>
            </a:r>
          </a:p>
        </p:txBody>
      </p:sp>
      <p:sp>
        <p:nvSpPr>
          <p:cNvPr id="36" name="TextBox 35"/>
          <p:cNvSpPr txBox="1"/>
          <p:nvPr/>
        </p:nvSpPr>
        <p:spPr>
          <a:xfrm>
            <a:off x="4978298" y="2377440"/>
            <a:ext cx="2783738" cy="292608"/>
          </a:xfrm>
          <a:prstGeom prst="rect">
            <a:avLst/>
          </a:prstGeom>
          <a:noFill/>
        </p:spPr>
        <p:txBody>
          <a:bodyPr wrap="square" lIns="0" tIns="0" rIns="0" bIns="0" anchor="t">
            <a:spAutoFit/>
          </a:bodyPr>
          <a:lstStyle/>
          <a:p>
            <a:pPr algn="l"/>
            <a:r>
              <a:rPr sz="1700" b="1" i="0">
                <a:solidFill>
                  <a:srgbClr val="FFFFFF"/>
                </a:solidFill>
                <a:latin typeface="Georgia"/>
              </a:rPr>
              <a:t>BUILD</a:t>
            </a:r>
          </a:p>
        </p:txBody>
      </p:sp>
      <p:sp>
        <p:nvSpPr>
          <p:cNvPr id="37" name="TextBox 36"/>
          <p:cNvSpPr txBox="1"/>
          <p:nvPr/>
        </p:nvSpPr>
        <p:spPr>
          <a:xfrm>
            <a:off x="4978298" y="2670048"/>
            <a:ext cx="2783738" cy="201168"/>
          </a:xfrm>
          <a:prstGeom prst="rect">
            <a:avLst/>
          </a:prstGeom>
          <a:noFill/>
        </p:spPr>
        <p:txBody>
          <a:bodyPr wrap="square" lIns="0" tIns="0" rIns="0" bIns="0" anchor="t">
            <a:spAutoFit/>
          </a:bodyPr>
          <a:lstStyle/>
          <a:p>
            <a:pPr algn="l"/>
            <a:r>
              <a:rPr sz="1000" b="0" i="1">
                <a:solidFill>
                  <a:srgbClr val="C9D6EE"/>
                </a:solidFill>
                <a:latin typeface="Calibri"/>
              </a:rPr>
              <a:t>Ship first wins</a:t>
            </a:r>
          </a:p>
        </p:txBody>
      </p:sp>
      <p:sp>
        <p:nvSpPr>
          <p:cNvPr id="38" name="Oval 37"/>
          <p:cNvSpPr/>
          <p:nvPr/>
        </p:nvSpPr>
        <p:spPr>
          <a:xfrm>
            <a:off x="4521098" y="31272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49698" y="3063240"/>
            <a:ext cx="3012338" cy="237744"/>
          </a:xfrm>
          <a:prstGeom prst="rect">
            <a:avLst/>
          </a:prstGeom>
          <a:noFill/>
        </p:spPr>
        <p:txBody>
          <a:bodyPr wrap="square" lIns="0" tIns="0" rIns="0" bIns="0" anchor="t">
            <a:spAutoFit/>
          </a:bodyPr>
          <a:lstStyle/>
          <a:p>
            <a:pPr algn="l"/>
            <a:r>
              <a:rPr sz="1050" b="1" i="0">
                <a:solidFill>
                  <a:srgbClr val="001F5C"/>
                </a:solidFill>
                <a:latin typeface="Calibri"/>
              </a:rPr>
              <a:t>Ship 1 AI incident agent</a:t>
            </a:r>
          </a:p>
        </p:txBody>
      </p:sp>
      <p:sp>
        <p:nvSpPr>
          <p:cNvPr id="40" name="TextBox 39"/>
          <p:cNvSpPr txBox="1"/>
          <p:nvPr/>
        </p:nvSpPr>
        <p:spPr>
          <a:xfrm>
            <a:off x="4749698" y="3300984"/>
            <a:ext cx="3012338" cy="354330"/>
          </a:xfrm>
          <a:prstGeom prst="rect">
            <a:avLst/>
          </a:prstGeom>
          <a:noFill/>
        </p:spPr>
        <p:txBody>
          <a:bodyPr wrap="square" lIns="0" tIns="0" rIns="0" bIns="0" anchor="t">
            <a:spAutoFit/>
          </a:bodyPr>
          <a:lstStyle/>
          <a:p>
            <a:pPr algn="l"/>
            <a:r>
              <a:rPr sz="900" b="0" i="0">
                <a:solidFill>
                  <a:srgbClr val="1E293B"/>
                </a:solidFill>
                <a:latin typeface="Calibri"/>
              </a:rPr>
              <a:t>Top recurring incident from Phase 1 — agent detects and auto-remediates or escalates.</a:t>
            </a:r>
          </a:p>
        </p:txBody>
      </p:sp>
      <p:sp>
        <p:nvSpPr>
          <p:cNvPr id="41" name="Oval 40"/>
          <p:cNvSpPr/>
          <p:nvPr/>
        </p:nvSpPr>
        <p:spPr>
          <a:xfrm>
            <a:off x="4521098" y="37558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49698" y="3691889"/>
            <a:ext cx="3012338" cy="237744"/>
          </a:xfrm>
          <a:prstGeom prst="rect">
            <a:avLst/>
          </a:prstGeom>
          <a:noFill/>
        </p:spPr>
        <p:txBody>
          <a:bodyPr wrap="square" lIns="0" tIns="0" rIns="0" bIns="0" anchor="t">
            <a:spAutoFit/>
          </a:bodyPr>
          <a:lstStyle/>
          <a:p>
            <a:pPr algn="l"/>
            <a:r>
              <a:rPr sz="1050" b="1" i="0">
                <a:solidFill>
                  <a:srgbClr val="001F5C"/>
                </a:solidFill>
                <a:latin typeface="Calibri"/>
              </a:rPr>
              <a:t>Ship 1 IaC module for top toil</a:t>
            </a:r>
          </a:p>
        </p:txBody>
      </p:sp>
      <p:sp>
        <p:nvSpPr>
          <p:cNvPr id="43" name="TextBox 42"/>
          <p:cNvSpPr txBox="1"/>
          <p:nvPr/>
        </p:nvSpPr>
        <p:spPr>
          <a:xfrm>
            <a:off x="4749698" y="3929633"/>
            <a:ext cx="3012338" cy="354330"/>
          </a:xfrm>
          <a:prstGeom prst="rect">
            <a:avLst/>
          </a:prstGeom>
          <a:noFill/>
        </p:spPr>
        <p:txBody>
          <a:bodyPr wrap="square" lIns="0" tIns="0" rIns="0" bIns="0" anchor="t">
            <a:spAutoFit/>
          </a:bodyPr>
          <a:lstStyle/>
          <a:p>
            <a:pPr algn="l"/>
            <a:r>
              <a:rPr sz="900" b="0" i="0">
                <a:solidFill>
                  <a:srgbClr val="1E293B"/>
                </a:solidFill>
                <a:latin typeface="Calibri"/>
              </a:rPr>
              <a:t>Heaviest manual workflow becomes a self-service Zephyr module. Ops co-authors.</a:t>
            </a:r>
          </a:p>
        </p:txBody>
      </p:sp>
      <p:sp>
        <p:nvSpPr>
          <p:cNvPr id="44" name="Oval 43"/>
          <p:cNvSpPr/>
          <p:nvPr/>
        </p:nvSpPr>
        <p:spPr>
          <a:xfrm>
            <a:off x="4521098" y="43845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749698" y="4320540"/>
            <a:ext cx="3012338" cy="237744"/>
          </a:xfrm>
          <a:prstGeom prst="rect">
            <a:avLst/>
          </a:prstGeom>
          <a:noFill/>
        </p:spPr>
        <p:txBody>
          <a:bodyPr wrap="square" lIns="0" tIns="0" rIns="0" bIns="0" anchor="t">
            <a:spAutoFit/>
          </a:bodyPr>
          <a:lstStyle/>
          <a:p>
            <a:pPr algn="l"/>
            <a:r>
              <a:rPr sz="1050" b="1" i="0">
                <a:solidFill>
                  <a:srgbClr val="001F5C"/>
                </a:solidFill>
                <a:latin typeface="Calibri"/>
              </a:rPr>
              <a:t>Runbooks → code</a:t>
            </a:r>
          </a:p>
        </p:txBody>
      </p:sp>
      <p:sp>
        <p:nvSpPr>
          <p:cNvPr id="46" name="TextBox 45"/>
          <p:cNvSpPr txBox="1"/>
          <p:nvPr/>
        </p:nvSpPr>
        <p:spPr>
          <a:xfrm>
            <a:off x="4749698" y="4558283"/>
            <a:ext cx="3012338" cy="354330"/>
          </a:xfrm>
          <a:prstGeom prst="rect">
            <a:avLst/>
          </a:prstGeom>
          <a:noFill/>
        </p:spPr>
        <p:txBody>
          <a:bodyPr wrap="square" lIns="0" tIns="0" rIns="0" bIns="0" anchor="t">
            <a:spAutoFit/>
          </a:bodyPr>
          <a:lstStyle/>
          <a:p>
            <a:pPr algn="l"/>
            <a:r>
              <a:rPr sz="900" b="0" i="0">
                <a:solidFill>
                  <a:srgbClr val="1E293B"/>
                </a:solidFill>
                <a:latin typeface="Calibri"/>
              </a:rPr>
              <a:t>Convert top 5 manual runbooks into automated scripts. Ops validates.</a:t>
            </a:r>
          </a:p>
        </p:txBody>
      </p:sp>
      <p:sp>
        <p:nvSpPr>
          <p:cNvPr id="47" name="Oval 46"/>
          <p:cNvSpPr/>
          <p:nvPr/>
        </p:nvSpPr>
        <p:spPr>
          <a:xfrm>
            <a:off x="4521098" y="50131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749698" y="4949190"/>
            <a:ext cx="3012338" cy="237744"/>
          </a:xfrm>
          <a:prstGeom prst="rect">
            <a:avLst/>
          </a:prstGeom>
          <a:noFill/>
        </p:spPr>
        <p:txBody>
          <a:bodyPr wrap="square" lIns="0" tIns="0" rIns="0" bIns="0" anchor="t">
            <a:spAutoFit/>
          </a:bodyPr>
          <a:lstStyle/>
          <a:p>
            <a:pPr algn="l"/>
            <a:r>
              <a:rPr sz="1050" b="1" i="0">
                <a:solidFill>
                  <a:srgbClr val="001F5C"/>
                </a:solidFill>
                <a:latin typeface="Calibri"/>
              </a:rPr>
              <a:t>Weekly demos to leadership</a:t>
            </a:r>
          </a:p>
        </p:txBody>
      </p:sp>
      <p:sp>
        <p:nvSpPr>
          <p:cNvPr id="49" name="TextBox 48"/>
          <p:cNvSpPr txBox="1"/>
          <p:nvPr/>
        </p:nvSpPr>
        <p:spPr>
          <a:xfrm>
            <a:off x="4749698" y="5186933"/>
            <a:ext cx="3012338" cy="354330"/>
          </a:xfrm>
          <a:prstGeom prst="rect">
            <a:avLst/>
          </a:prstGeom>
          <a:noFill/>
        </p:spPr>
        <p:txBody>
          <a:bodyPr wrap="square" lIns="0" tIns="0" rIns="0" bIns="0" anchor="t">
            <a:spAutoFit/>
          </a:bodyPr>
          <a:lstStyle/>
          <a:p>
            <a:pPr algn="l"/>
            <a:r>
              <a:rPr sz="900" b="0" i="0">
                <a:solidFill>
                  <a:srgbClr val="1E293B"/>
                </a:solidFill>
                <a:latin typeface="Calibri"/>
              </a:rPr>
              <a:t>Show shipped artifacts every Friday. Build trust through visible progress.</a:t>
            </a:r>
          </a:p>
        </p:txBody>
      </p:sp>
      <p:sp>
        <p:nvSpPr>
          <p:cNvPr id="50" name="Rectangle 49"/>
          <p:cNvSpPr/>
          <p:nvPr/>
        </p:nvSpPr>
        <p:spPr>
          <a:xfrm>
            <a:off x="4429658" y="5623560"/>
            <a:ext cx="3332378" cy="347472"/>
          </a:xfrm>
          <a:prstGeom prst="rect">
            <a:avLst/>
          </a:prstGeom>
          <a:solidFill>
            <a:srgbClr val="F4F6F9"/>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29658" y="5623560"/>
            <a:ext cx="3332378" cy="347472"/>
          </a:xfrm>
          <a:prstGeom prst="rect">
            <a:avLst/>
          </a:prstGeom>
          <a:noFill/>
        </p:spPr>
        <p:txBody>
          <a:bodyPr wrap="square" lIns="0" tIns="0" rIns="0" bIns="0" anchor="ctr">
            <a:spAutoFit/>
          </a:bodyPr>
          <a:lstStyle/>
          <a:p>
            <a:pPr algn="ctr"/>
            <a:r>
              <a:rPr sz="900" b="1" spc="200">
                <a:solidFill>
                  <a:srgbClr val="1E293B"/>
                </a:solidFill>
                <a:latin typeface="Calibri"/>
              </a:rPr>
              <a:t>GATE:  </a:t>
            </a:r>
            <a:r>
              <a:rPr sz="1100" b="1">
                <a:solidFill>
                  <a:srgbClr val="1E293B"/>
                </a:solidFill>
                <a:latin typeface="Calibri"/>
              </a:rPr>
              <a:t>Measurable impact visible</a:t>
            </a:r>
          </a:p>
        </p:txBody>
      </p:sp>
      <p:sp>
        <p:nvSpPr>
          <p:cNvPr id="52" name="Rectangle 51"/>
          <p:cNvSpPr/>
          <p:nvPr/>
        </p:nvSpPr>
        <p:spPr>
          <a:xfrm>
            <a:off x="8127796" y="1920240"/>
            <a:ext cx="3606698"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127796" y="1920240"/>
            <a:ext cx="3606698"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127796" y="1920240"/>
            <a:ext cx="3606698" cy="1371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310676" y="214884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10676" y="2148840"/>
            <a:ext cx="411480" cy="411480"/>
          </a:xfrm>
          <a:prstGeom prst="rect">
            <a:avLst/>
          </a:prstGeom>
          <a:noFill/>
        </p:spPr>
        <p:txBody>
          <a:bodyPr wrap="square" lIns="0" tIns="0" rIns="0" bIns="0" anchor="ctr">
            <a:spAutoFit/>
          </a:bodyPr>
          <a:lstStyle/>
          <a:p>
            <a:pPr algn="ctr"/>
            <a:r>
              <a:rPr sz="1800" b="1" i="0">
                <a:solidFill>
                  <a:srgbClr val="001F5C"/>
                </a:solidFill>
                <a:latin typeface="Georgia"/>
              </a:rPr>
              <a:t>3</a:t>
            </a:r>
          </a:p>
        </p:txBody>
      </p:sp>
      <p:sp>
        <p:nvSpPr>
          <p:cNvPr id="57" name="TextBox 56"/>
          <p:cNvSpPr txBox="1"/>
          <p:nvPr/>
        </p:nvSpPr>
        <p:spPr>
          <a:xfrm>
            <a:off x="8813596" y="2121408"/>
            <a:ext cx="2783738" cy="274320"/>
          </a:xfrm>
          <a:prstGeom prst="rect">
            <a:avLst/>
          </a:prstGeom>
          <a:noFill/>
        </p:spPr>
        <p:txBody>
          <a:bodyPr wrap="square" lIns="0" tIns="0" rIns="0" bIns="0" anchor="t">
            <a:spAutoFit/>
          </a:bodyPr>
          <a:lstStyle/>
          <a:p>
            <a:pPr algn="l"/>
            <a:r>
              <a:rPr sz="1100" b="1" i="0" spc="300">
                <a:solidFill>
                  <a:srgbClr val="FEDF01"/>
                </a:solidFill>
                <a:latin typeface="Calibri"/>
              </a:rPr>
              <a:t>90 DAYS</a:t>
            </a:r>
          </a:p>
        </p:txBody>
      </p:sp>
      <p:sp>
        <p:nvSpPr>
          <p:cNvPr id="58" name="TextBox 57"/>
          <p:cNvSpPr txBox="1"/>
          <p:nvPr/>
        </p:nvSpPr>
        <p:spPr>
          <a:xfrm>
            <a:off x="8813596" y="2377440"/>
            <a:ext cx="2783738" cy="292608"/>
          </a:xfrm>
          <a:prstGeom prst="rect">
            <a:avLst/>
          </a:prstGeom>
          <a:noFill/>
        </p:spPr>
        <p:txBody>
          <a:bodyPr wrap="square" lIns="0" tIns="0" rIns="0" bIns="0" anchor="t">
            <a:spAutoFit/>
          </a:bodyPr>
          <a:lstStyle/>
          <a:p>
            <a:pPr algn="l"/>
            <a:r>
              <a:rPr sz="1700" b="1" i="0">
                <a:solidFill>
                  <a:srgbClr val="FFFFFF"/>
                </a:solidFill>
                <a:latin typeface="Georgia"/>
              </a:rPr>
              <a:t>PROVE</a:t>
            </a:r>
          </a:p>
        </p:txBody>
      </p:sp>
      <p:sp>
        <p:nvSpPr>
          <p:cNvPr id="59" name="TextBox 58"/>
          <p:cNvSpPr txBox="1"/>
          <p:nvPr/>
        </p:nvSpPr>
        <p:spPr>
          <a:xfrm>
            <a:off x="8813596" y="2670048"/>
            <a:ext cx="2783738" cy="201168"/>
          </a:xfrm>
          <a:prstGeom prst="rect">
            <a:avLst/>
          </a:prstGeom>
          <a:noFill/>
        </p:spPr>
        <p:txBody>
          <a:bodyPr wrap="square" lIns="0" tIns="0" rIns="0" bIns="0" anchor="t">
            <a:spAutoFit/>
          </a:bodyPr>
          <a:lstStyle/>
          <a:p>
            <a:pPr algn="l"/>
            <a:r>
              <a:rPr sz="1000" b="0" i="1">
                <a:solidFill>
                  <a:srgbClr val="C9D6EE"/>
                </a:solidFill>
                <a:latin typeface="Calibri"/>
              </a:rPr>
              <a:t>Quantify &amp; decide</a:t>
            </a:r>
          </a:p>
        </p:txBody>
      </p:sp>
      <p:sp>
        <p:nvSpPr>
          <p:cNvPr id="60" name="Oval 59"/>
          <p:cNvSpPr/>
          <p:nvPr/>
        </p:nvSpPr>
        <p:spPr>
          <a:xfrm>
            <a:off x="8356396" y="31272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584996" y="3063240"/>
            <a:ext cx="3012338" cy="237744"/>
          </a:xfrm>
          <a:prstGeom prst="rect">
            <a:avLst/>
          </a:prstGeom>
          <a:noFill/>
        </p:spPr>
        <p:txBody>
          <a:bodyPr wrap="square" lIns="0" tIns="0" rIns="0" bIns="0" anchor="t">
            <a:spAutoFit/>
          </a:bodyPr>
          <a:lstStyle/>
          <a:p>
            <a:pPr algn="l"/>
            <a:r>
              <a:rPr sz="1050" b="1" i="0">
                <a:solidFill>
                  <a:srgbClr val="001F5C"/>
                </a:solidFill>
                <a:latin typeface="Calibri"/>
              </a:rPr>
              <a:t>Measure outcomes vs. baseline</a:t>
            </a:r>
          </a:p>
        </p:txBody>
      </p:sp>
      <p:sp>
        <p:nvSpPr>
          <p:cNvPr id="62" name="TextBox 61"/>
          <p:cNvSpPr txBox="1"/>
          <p:nvPr/>
        </p:nvSpPr>
        <p:spPr>
          <a:xfrm>
            <a:off x="8584996" y="3300984"/>
            <a:ext cx="3012338" cy="354330"/>
          </a:xfrm>
          <a:prstGeom prst="rect">
            <a:avLst/>
          </a:prstGeom>
          <a:noFill/>
        </p:spPr>
        <p:txBody>
          <a:bodyPr wrap="square" lIns="0" tIns="0" rIns="0" bIns="0" anchor="t">
            <a:spAutoFit/>
          </a:bodyPr>
          <a:lstStyle/>
          <a:p>
            <a:pPr algn="l"/>
            <a:r>
              <a:rPr sz="900" b="0" i="0">
                <a:solidFill>
                  <a:srgbClr val="1E293B"/>
                </a:solidFill>
                <a:latin typeface="Calibri"/>
              </a:rPr>
              <a:t>Incidents prevented, toil hours saved, lead time reduced — with hard numbers.</a:t>
            </a:r>
          </a:p>
        </p:txBody>
      </p:sp>
      <p:sp>
        <p:nvSpPr>
          <p:cNvPr id="63" name="Oval 62"/>
          <p:cNvSpPr/>
          <p:nvPr/>
        </p:nvSpPr>
        <p:spPr>
          <a:xfrm>
            <a:off x="8356396" y="37558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584996" y="3691889"/>
            <a:ext cx="3012338" cy="237744"/>
          </a:xfrm>
          <a:prstGeom prst="rect">
            <a:avLst/>
          </a:prstGeom>
          <a:noFill/>
        </p:spPr>
        <p:txBody>
          <a:bodyPr wrap="square" lIns="0" tIns="0" rIns="0" bIns="0" anchor="t">
            <a:spAutoFit/>
          </a:bodyPr>
          <a:lstStyle/>
          <a:p>
            <a:pPr algn="l"/>
            <a:r>
              <a:rPr sz="1050" b="1" i="0">
                <a:solidFill>
                  <a:srgbClr val="001F5C"/>
                </a:solidFill>
                <a:latin typeface="Calibri"/>
              </a:rPr>
              <a:t>Case study per pod</a:t>
            </a:r>
          </a:p>
        </p:txBody>
      </p:sp>
      <p:sp>
        <p:nvSpPr>
          <p:cNvPr id="65" name="TextBox 64"/>
          <p:cNvSpPr txBox="1"/>
          <p:nvPr/>
        </p:nvSpPr>
        <p:spPr>
          <a:xfrm>
            <a:off x="8584996" y="3929633"/>
            <a:ext cx="3012338" cy="354330"/>
          </a:xfrm>
          <a:prstGeom prst="rect">
            <a:avLst/>
          </a:prstGeom>
          <a:noFill/>
        </p:spPr>
        <p:txBody>
          <a:bodyPr wrap="square" lIns="0" tIns="0" rIns="0" bIns="0" anchor="t">
            <a:spAutoFit/>
          </a:bodyPr>
          <a:lstStyle/>
          <a:p>
            <a:pPr algn="l"/>
            <a:r>
              <a:rPr sz="900" b="0" i="0">
                <a:solidFill>
                  <a:srgbClr val="1E293B"/>
                </a:solidFill>
                <a:latin typeface="Calibri"/>
              </a:rPr>
              <a:t>SQL, K8s, Storage each produce a one-pager: what shipped, what changed, what saved.</a:t>
            </a:r>
          </a:p>
        </p:txBody>
      </p:sp>
      <p:sp>
        <p:nvSpPr>
          <p:cNvPr id="66" name="Oval 65"/>
          <p:cNvSpPr/>
          <p:nvPr/>
        </p:nvSpPr>
        <p:spPr>
          <a:xfrm>
            <a:off x="8356396" y="43845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584996" y="4320540"/>
            <a:ext cx="3012338" cy="237744"/>
          </a:xfrm>
          <a:prstGeom prst="rect">
            <a:avLst/>
          </a:prstGeom>
          <a:noFill/>
        </p:spPr>
        <p:txBody>
          <a:bodyPr wrap="square" lIns="0" tIns="0" rIns="0" bIns="0" anchor="t">
            <a:spAutoFit/>
          </a:bodyPr>
          <a:lstStyle/>
          <a:p>
            <a:pPr algn="l"/>
            <a:r>
              <a:rPr sz="1050" b="1" i="0">
                <a:solidFill>
                  <a:srgbClr val="001F5C"/>
                </a:solidFill>
                <a:latin typeface="Calibri"/>
              </a:rPr>
              <a:t>Executive readout</a:t>
            </a:r>
          </a:p>
        </p:txBody>
      </p:sp>
      <p:sp>
        <p:nvSpPr>
          <p:cNvPr id="68" name="TextBox 67"/>
          <p:cNvSpPr txBox="1"/>
          <p:nvPr/>
        </p:nvSpPr>
        <p:spPr>
          <a:xfrm>
            <a:off x="8584996" y="4558283"/>
            <a:ext cx="3012338" cy="354330"/>
          </a:xfrm>
          <a:prstGeom prst="rect">
            <a:avLst/>
          </a:prstGeom>
          <a:noFill/>
        </p:spPr>
        <p:txBody>
          <a:bodyPr wrap="square" lIns="0" tIns="0" rIns="0" bIns="0" anchor="t">
            <a:spAutoFit/>
          </a:bodyPr>
          <a:lstStyle/>
          <a:p>
            <a:pPr algn="l"/>
            <a:r>
              <a:rPr sz="900" b="0" i="0">
                <a:solidFill>
                  <a:srgbClr val="1E293B"/>
                </a:solidFill>
                <a:latin typeface="Calibri"/>
              </a:rPr>
              <a:t>Decision gate: continue and scale Wave 2, OR formalize 3b reorg with evidence.</a:t>
            </a:r>
          </a:p>
        </p:txBody>
      </p:sp>
      <p:sp>
        <p:nvSpPr>
          <p:cNvPr id="69" name="Oval 68"/>
          <p:cNvSpPr/>
          <p:nvPr/>
        </p:nvSpPr>
        <p:spPr>
          <a:xfrm>
            <a:off x="8356396" y="50131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84996" y="4949190"/>
            <a:ext cx="3012338" cy="237744"/>
          </a:xfrm>
          <a:prstGeom prst="rect">
            <a:avLst/>
          </a:prstGeom>
          <a:noFill/>
        </p:spPr>
        <p:txBody>
          <a:bodyPr wrap="square" lIns="0" tIns="0" rIns="0" bIns="0" anchor="t">
            <a:spAutoFit/>
          </a:bodyPr>
          <a:lstStyle/>
          <a:p>
            <a:pPr algn="l"/>
            <a:r>
              <a:rPr sz="1050" b="1" i="0">
                <a:solidFill>
                  <a:srgbClr val="001F5C"/>
                </a:solidFill>
                <a:latin typeface="Calibri"/>
              </a:rPr>
              <a:t>Squad retro &amp; playbook</a:t>
            </a:r>
          </a:p>
        </p:txBody>
      </p:sp>
      <p:sp>
        <p:nvSpPr>
          <p:cNvPr id="71" name="TextBox 70"/>
          <p:cNvSpPr txBox="1"/>
          <p:nvPr/>
        </p:nvSpPr>
        <p:spPr>
          <a:xfrm>
            <a:off x="8584996" y="5186933"/>
            <a:ext cx="3012338" cy="354330"/>
          </a:xfrm>
          <a:prstGeom prst="rect">
            <a:avLst/>
          </a:prstGeom>
          <a:noFill/>
        </p:spPr>
        <p:txBody>
          <a:bodyPr wrap="square" lIns="0" tIns="0" rIns="0" bIns="0" anchor="t">
            <a:spAutoFit/>
          </a:bodyPr>
          <a:lstStyle/>
          <a:p>
            <a:pPr algn="l"/>
            <a:r>
              <a:rPr sz="900" b="0" i="0">
                <a:solidFill>
                  <a:srgbClr val="1E293B"/>
                </a:solidFill>
                <a:latin typeface="Calibri"/>
              </a:rPr>
              <a:t>Capture what worked. Codify the pilot model as a repeatable playbook for Wave 2.</a:t>
            </a:r>
          </a:p>
        </p:txBody>
      </p:sp>
      <p:sp>
        <p:nvSpPr>
          <p:cNvPr id="72" name="Rectangle 71"/>
          <p:cNvSpPr/>
          <p:nvPr/>
        </p:nvSpPr>
        <p:spPr>
          <a:xfrm>
            <a:off x="8264956" y="5623560"/>
            <a:ext cx="3332378" cy="347472"/>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264956" y="5623560"/>
            <a:ext cx="3332378" cy="347472"/>
          </a:xfrm>
          <a:prstGeom prst="rect">
            <a:avLst/>
          </a:prstGeom>
          <a:noFill/>
        </p:spPr>
        <p:txBody>
          <a:bodyPr wrap="square" lIns="0" tIns="0" rIns="0" bIns="0" anchor="ctr">
            <a:spAutoFit/>
          </a:bodyPr>
          <a:lstStyle/>
          <a:p>
            <a:pPr algn="ctr"/>
            <a:r>
              <a:rPr sz="900" b="1" spc="200">
                <a:solidFill>
                  <a:srgbClr val="001F5C"/>
                </a:solidFill>
                <a:latin typeface="Calibri"/>
              </a:rPr>
              <a:t>GATE:  </a:t>
            </a:r>
            <a:r>
              <a:rPr sz="1100" b="1">
                <a:solidFill>
                  <a:srgbClr val="001F5C"/>
                </a:solidFill>
                <a:latin typeface="Calibri"/>
              </a:rPr>
              <a:t>Decision: Fund Wave 2 / 3b</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CROSS-CUTTING SQUADS</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Working with Compliance &amp; Optimization</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Compliance and Optimization are also full-lifecycle squads — not gatekeepers. They ship code, agents, and policies that capability squads consume as services through the Zephyr Control Plane.</a:t>
            </a:r>
          </a:p>
        </p:txBody>
      </p:sp>
      <p:sp>
        <p:nvSpPr>
          <p:cNvPr id="8" name="Rectangle 7"/>
          <p:cNvSpPr/>
          <p:nvPr/>
        </p:nvSpPr>
        <p:spPr>
          <a:xfrm>
            <a:off x="1371600" y="1874519"/>
            <a:ext cx="9448495"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371600" y="1874519"/>
            <a:ext cx="94484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371600" y="1874519"/>
            <a:ext cx="91440" cy="9601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45920" y="1993391"/>
            <a:ext cx="3657600" cy="228600"/>
          </a:xfrm>
          <a:prstGeom prst="rect">
            <a:avLst/>
          </a:prstGeom>
          <a:noFill/>
        </p:spPr>
        <p:txBody>
          <a:bodyPr wrap="square" lIns="0" tIns="0" rIns="0" bIns="0" anchor="t">
            <a:spAutoFit/>
          </a:bodyPr>
          <a:lstStyle/>
          <a:p>
            <a:pPr algn="l"/>
            <a:r>
              <a:rPr sz="1000" b="1" i="0" spc="300">
                <a:solidFill>
                  <a:srgbClr val="FEDF01"/>
                </a:solidFill>
                <a:latin typeface="Calibri"/>
              </a:rPr>
              <a:t>COMPLIANCE SQUAD</a:t>
            </a:r>
          </a:p>
        </p:txBody>
      </p:sp>
      <p:sp>
        <p:nvSpPr>
          <p:cNvPr id="12" name="TextBox 11"/>
          <p:cNvSpPr txBox="1"/>
          <p:nvPr/>
        </p:nvSpPr>
        <p:spPr>
          <a:xfrm>
            <a:off x="1645920" y="2203703"/>
            <a:ext cx="4572000" cy="320040"/>
          </a:xfrm>
          <a:prstGeom prst="rect">
            <a:avLst/>
          </a:prstGeom>
          <a:noFill/>
        </p:spPr>
        <p:txBody>
          <a:bodyPr wrap="square" lIns="0" tIns="0" rIns="0" bIns="0" anchor="t">
            <a:spAutoFit/>
          </a:bodyPr>
          <a:lstStyle/>
          <a:p>
            <a:pPr algn="l"/>
            <a:r>
              <a:rPr sz="1400" b="1" i="0">
                <a:solidFill>
                  <a:srgbClr val="FFFFFF"/>
                </a:solidFill>
                <a:latin typeface="Georgia"/>
              </a:rPr>
              <a:t>Policy-as-Code · Assurance Automation</a:t>
            </a:r>
          </a:p>
        </p:txBody>
      </p:sp>
      <p:sp>
        <p:nvSpPr>
          <p:cNvPr id="13" name="TextBox 12"/>
          <p:cNvSpPr txBox="1"/>
          <p:nvPr/>
        </p:nvSpPr>
        <p:spPr>
          <a:xfrm>
            <a:off x="1645920" y="2532887"/>
            <a:ext cx="8899855" cy="274320"/>
          </a:xfrm>
          <a:prstGeom prst="rect">
            <a:avLst/>
          </a:prstGeom>
          <a:noFill/>
        </p:spPr>
        <p:txBody>
          <a:bodyPr wrap="square" lIns="0" tIns="0" rIns="0" bIns="0" anchor="t">
            <a:spAutoFit/>
          </a:bodyPr>
          <a:lstStyle/>
          <a:p>
            <a:pPr algn="l"/>
            <a:r>
              <a:rPr sz="1000" b="0" i="1">
                <a:solidFill>
                  <a:srgbClr val="C9D6EE"/>
                </a:solidFill>
                <a:latin typeface="Calibri"/>
              </a:rPr>
              <a:t>Ships: OPA/Sentinel policies · control libraries · audit-evidence agents · OSFI E-21 control catalog</a:t>
            </a:r>
          </a:p>
        </p:txBody>
      </p:sp>
      <p:sp>
        <p:nvSpPr>
          <p:cNvPr id="14" name="Rectangle 13"/>
          <p:cNvSpPr/>
          <p:nvPr/>
        </p:nvSpPr>
        <p:spPr>
          <a:xfrm>
            <a:off x="457200" y="3154680"/>
            <a:ext cx="2167676" cy="14630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154680"/>
            <a:ext cx="2167676"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291840"/>
            <a:ext cx="2167676" cy="365760"/>
          </a:xfrm>
          <a:prstGeom prst="rect">
            <a:avLst/>
          </a:prstGeom>
          <a:noFill/>
        </p:spPr>
        <p:txBody>
          <a:bodyPr wrap="square" lIns="0" tIns="0" rIns="0" bIns="0" anchor="t">
            <a:spAutoFit/>
          </a:bodyPr>
          <a:lstStyle/>
          <a:p>
            <a:pPr algn="ctr"/>
            <a:r>
              <a:rPr sz="1400" b="1" i="0">
                <a:solidFill>
                  <a:srgbClr val="FFFFFF"/>
                </a:solidFill>
                <a:latin typeface="Georgia"/>
              </a:rPr>
              <a:t>SQL Server</a:t>
            </a:r>
          </a:p>
        </p:txBody>
      </p:sp>
      <p:sp>
        <p:nvSpPr>
          <p:cNvPr id="17" name="TextBox 16"/>
          <p:cNvSpPr txBox="1"/>
          <p:nvPr/>
        </p:nvSpPr>
        <p:spPr>
          <a:xfrm>
            <a:off x="457200" y="3611880"/>
            <a:ext cx="2167676" cy="228600"/>
          </a:xfrm>
          <a:prstGeom prst="rect">
            <a:avLst/>
          </a:prstGeom>
          <a:noFill/>
        </p:spPr>
        <p:txBody>
          <a:bodyPr wrap="square" lIns="0" tIns="0" rIns="0" bIns="0" anchor="t">
            <a:spAutoFit/>
          </a:bodyPr>
          <a:lstStyle/>
          <a:p>
            <a:pPr algn="ctr"/>
            <a:r>
              <a:rPr sz="1000" b="0" i="1">
                <a:solidFill>
                  <a:srgbClr val="C9D6EE"/>
                </a:solidFill>
                <a:latin typeface="Calibri"/>
              </a:rPr>
              <a:t>Squad</a:t>
            </a:r>
          </a:p>
        </p:txBody>
      </p:sp>
      <p:sp>
        <p:nvSpPr>
          <p:cNvPr id="18" name="Rectangle 17"/>
          <p:cNvSpPr/>
          <p:nvPr/>
        </p:nvSpPr>
        <p:spPr>
          <a:xfrm>
            <a:off x="594360" y="4251960"/>
            <a:ext cx="1893356" cy="2560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4251960"/>
            <a:ext cx="1893356" cy="256032"/>
          </a:xfrm>
          <a:prstGeom prst="rect">
            <a:avLst/>
          </a:prstGeom>
          <a:noFill/>
        </p:spPr>
        <p:txBody>
          <a:bodyPr wrap="square" lIns="0" tIns="0" rIns="0" bIns="0" anchor="ctr">
            <a:spAutoFit/>
          </a:bodyPr>
          <a:lstStyle/>
          <a:p>
            <a:pPr algn="ctr"/>
            <a:r>
              <a:rPr sz="800" b="1" i="0" spc="100">
                <a:solidFill>
                  <a:srgbClr val="FEDF01"/>
                </a:solidFill>
                <a:latin typeface="Calibri"/>
              </a:rPr>
              <a:t>8-12 ENG</a:t>
            </a:r>
          </a:p>
        </p:txBody>
      </p:sp>
      <p:sp>
        <p:nvSpPr>
          <p:cNvPr id="20" name="Rectangle 19"/>
          <p:cNvSpPr/>
          <p:nvPr/>
        </p:nvSpPr>
        <p:spPr>
          <a:xfrm>
            <a:off x="2734604" y="3154680"/>
            <a:ext cx="2167676" cy="14630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34604" y="3154680"/>
            <a:ext cx="2167676"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34604" y="3291840"/>
            <a:ext cx="2167676" cy="365760"/>
          </a:xfrm>
          <a:prstGeom prst="rect">
            <a:avLst/>
          </a:prstGeom>
          <a:noFill/>
        </p:spPr>
        <p:txBody>
          <a:bodyPr wrap="square" lIns="0" tIns="0" rIns="0" bIns="0" anchor="t">
            <a:spAutoFit/>
          </a:bodyPr>
          <a:lstStyle/>
          <a:p>
            <a:pPr algn="ctr"/>
            <a:r>
              <a:rPr sz="1400" b="1" i="0">
                <a:solidFill>
                  <a:srgbClr val="FFFFFF"/>
                </a:solidFill>
                <a:latin typeface="Georgia"/>
              </a:rPr>
              <a:t>Kubernetes</a:t>
            </a:r>
          </a:p>
        </p:txBody>
      </p:sp>
      <p:sp>
        <p:nvSpPr>
          <p:cNvPr id="23" name="TextBox 22"/>
          <p:cNvSpPr txBox="1"/>
          <p:nvPr/>
        </p:nvSpPr>
        <p:spPr>
          <a:xfrm>
            <a:off x="2734604" y="3611880"/>
            <a:ext cx="2167676" cy="228600"/>
          </a:xfrm>
          <a:prstGeom prst="rect">
            <a:avLst/>
          </a:prstGeom>
          <a:noFill/>
        </p:spPr>
        <p:txBody>
          <a:bodyPr wrap="square" lIns="0" tIns="0" rIns="0" bIns="0" anchor="t">
            <a:spAutoFit/>
          </a:bodyPr>
          <a:lstStyle/>
          <a:p>
            <a:pPr algn="ctr"/>
            <a:r>
              <a:rPr sz="1000" b="0" i="1">
                <a:solidFill>
                  <a:srgbClr val="C9D6EE"/>
                </a:solidFill>
                <a:latin typeface="Calibri"/>
              </a:rPr>
              <a:t>Squad</a:t>
            </a:r>
          </a:p>
        </p:txBody>
      </p:sp>
      <p:sp>
        <p:nvSpPr>
          <p:cNvPr id="24" name="Rectangle 23"/>
          <p:cNvSpPr/>
          <p:nvPr/>
        </p:nvSpPr>
        <p:spPr>
          <a:xfrm>
            <a:off x="2871764" y="4251960"/>
            <a:ext cx="1893356" cy="2560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71764" y="4251960"/>
            <a:ext cx="1893356" cy="256032"/>
          </a:xfrm>
          <a:prstGeom prst="rect">
            <a:avLst/>
          </a:prstGeom>
          <a:noFill/>
        </p:spPr>
        <p:txBody>
          <a:bodyPr wrap="square" lIns="0" tIns="0" rIns="0" bIns="0" anchor="ctr">
            <a:spAutoFit/>
          </a:bodyPr>
          <a:lstStyle/>
          <a:p>
            <a:pPr algn="ctr"/>
            <a:r>
              <a:rPr sz="800" b="1" i="0" spc="100">
                <a:solidFill>
                  <a:srgbClr val="FEDF01"/>
                </a:solidFill>
                <a:latin typeface="Calibri"/>
              </a:rPr>
              <a:t>8-12 ENG</a:t>
            </a:r>
          </a:p>
        </p:txBody>
      </p:sp>
      <p:sp>
        <p:nvSpPr>
          <p:cNvPr id="26" name="Rectangle 25"/>
          <p:cNvSpPr/>
          <p:nvPr/>
        </p:nvSpPr>
        <p:spPr>
          <a:xfrm>
            <a:off x="5012009" y="3154680"/>
            <a:ext cx="2167676" cy="14630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12009" y="3154680"/>
            <a:ext cx="2167676"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12009" y="3291840"/>
            <a:ext cx="2167676" cy="365760"/>
          </a:xfrm>
          <a:prstGeom prst="rect">
            <a:avLst/>
          </a:prstGeom>
          <a:noFill/>
        </p:spPr>
        <p:txBody>
          <a:bodyPr wrap="square" lIns="0" tIns="0" rIns="0" bIns="0" anchor="t">
            <a:spAutoFit/>
          </a:bodyPr>
          <a:lstStyle/>
          <a:p>
            <a:pPr algn="ctr"/>
            <a:r>
              <a:rPr sz="1400" b="1" i="0">
                <a:solidFill>
                  <a:srgbClr val="FFFFFF"/>
                </a:solidFill>
                <a:latin typeface="Georgia"/>
              </a:rPr>
              <a:t>Storage</a:t>
            </a:r>
          </a:p>
        </p:txBody>
      </p:sp>
      <p:sp>
        <p:nvSpPr>
          <p:cNvPr id="29" name="TextBox 28"/>
          <p:cNvSpPr txBox="1"/>
          <p:nvPr/>
        </p:nvSpPr>
        <p:spPr>
          <a:xfrm>
            <a:off x="5012009" y="3611880"/>
            <a:ext cx="2167676" cy="228600"/>
          </a:xfrm>
          <a:prstGeom prst="rect">
            <a:avLst/>
          </a:prstGeom>
          <a:noFill/>
        </p:spPr>
        <p:txBody>
          <a:bodyPr wrap="square" lIns="0" tIns="0" rIns="0" bIns="0" anchor="t">
            <a:spAutoFit/>
          </a:bodyPr>
          <a:lstStyle/>
          <a:p>
            <a:pPr algn="ctr"/>
            <a:r>
              <a:rPr sz="1000" b="0" i="1">
                <a:solidFill>
                  <a:srgbClr val="C9D6EE"/>
                </a:solidFill>
                <a:latin typeface="Calibri"/>
              </a:rPr>
              <a:t>Squad</a:t>
            </a:r>
          </a:p>
        </p:txBody>
      </p:sp>
      <p:sp>
        <p:nvSpPr>
          <p:cNvPr id="30" name="Rectangle 29"/>
          <p:cNvSpPr/>
          <p:nvPr/>
        </p:nvSpPr>
        <p:spPr>
          <a:xfrm>
            <a:off x="5149169" y="4251960"/>
            <a:ext cx="1893356" cy="2560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49169" y="4251960"/>
            <a:ext cx="1893356" cy="256032"/>
          </a:xfrm>
          <a:prstGeom prst="rect">
            <a:avLst/>
          </a:prstGeom>
          <a:noFill/>
        </p:spPr>
        <p:txBody>
          <a:bodyPr wrap="square" lIns="0" tIns="0" rIns="0" bIns="0" anchor="ctr">
            <a:spAutoFit/>
          </a:bodyPr>
          <a:lstStyle/>
          <a:p>
            <a:pPr algn="ctr"/>
            <a:r>
              <a:rPr sz="800" b="1" i="0" spc="100">
                <a:solidFill>
                  <a:srgbClr val="FEDF01"/>
                </a:solidFill>
                <a:latin typeface="Calibri"/>
              </a:rPr>
              <a:t>8-12 ENG</a:t>
            </a:r>
          </a:p>
        </p:txBody>
      </p:sp>
      <p:sp>
        <p:nvSpPr>
          <p:cNvPr id="32" name="Rectangle 31"/>
          <p:cNvSpPr/>
          <p:nvPr/>
        </p:nvSpPr>
        <p:spPr>
          <a:xfrm>
            <a:off x="7289413" y="3154680"/>
            <a:ext cx="2167676" cy="14630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289413" y="3154680"/>
            <a:ext cx="2167676"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89413" y="3291840"/>
            <a:ext cx="2167676" cy="365760"/>
          </a:xfrm>
          <a:prstGeom prst="rect">
            <a:avLst/>
          </a:prstGeom>
          <a:noFill/>
        </p:spPr>
        <p:txBody>
          <a:bodyPr wrap="square" lIns="0" tIns="0" rIns="0" bIns="0" anchor="t">
            <a:spAutoFit/>
          </a:bodyPr>
          <a:lstStyle/>
          <a:p>
            <a:pPr algn="ctr"/>
            <a:r>
              <a:rPr sz="1400" b="1" i="0">
                <a:solidFill>
                  <a:srgbClr val="FFFFFF"/>
                </a:solidFill>
                <a:latin typeface="Georgia"/>
              </a:rPr>
              <a:t>Network</a:t>
            </a:r>
          </a:p>
        </p:txBody>
      </p:sp>
      <p:sp>
        <p:nvSpPr>
          <p:cNvPr id="35" name="TextBox 34"/>
          <p:cNvSpPr txBox="1"/>
          <p:nvPr/>
        </p:nvSpPr>
        <p:spPr>
          <a:xfrm>
            <a:off x="7289413" y="3611880"/>
            <a:ext cx="2167676" cy="228600"/>
          </a:xfrm>
          <a:prstGeom prst="rect">
            <a:avLst/>
          </a:prstGeom>
          <a:noFill/>
        </p:spPr>
        <p:txBody>
          <a:bodyPr wrap="square" lIns="0" tIns="0" rIns="0" bIns="0" anchor="t">
            <a:spAutoFit/>
          </a:bodyPr>
          <a:lstStyle/>
          <a:p>
            <a:pPr algn="ctr"/>
            <a:r>
              <a:rPr sz="1000" b="0" i="1">
                <a:solidFill>
                  <a:srgbClr val="C9D6EE"/>
                </a:solidFill>
                <a:latin typeface="Calibri"/>
              </a:rPr>
              <a:t>Squad</a:t>
            </a:r>
          </a:p>
        </p:txBody>
      </p:sp>
      <p:sp>
        <p:nvSpPr>
          <p:cNvPr id="36" name="Rectangle 35"/>
          <p:cNvSpPr/>
          <p:nvPr/>
        </p:nvSpPr>
        <p:spPr>
          <a:xfrm>
            <a:off x="7426573" y="4251960"/>
            <a:ext cx="1893356" cy="2560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26573" y="4251960"/>
            <a:ext cx="1893356" cy="256032"/>
          </a:xfrm>
          <a:prstGeom prst="rect">
            <a:avLst/>
          </a:prstGeom>
          <a:noFill/>
        </p:spPr>
        <p:txBody>
          <a:bodyPr wrap="square" lIns="0" tIns="0" rIns="0" bIns="0" anchor="ctr">
            <a:spAutoFit/>
          </a:bodyPr>
          <a:lstStyle/>
          <a:p>
            <a:pPr algn="ctr"/>
            <a:r>
              <a:rPr sz="800" b="1" i="0" spc="100">
                <a:solidFill>
                  <a:srgbClr val="FEDF01"/>
                </a:solidFill>
                <a:latin typeface="Calibri"/>
              </a:rPr>
              <a:t>8-12 ENG</a:t>
            </a:r>
          </a:p>
        </p:txBody>
      </p:sp>
      <p:sp>
        <p:nvSpPr>
          <p:cNvPr id="38" name="Rectangle 37"/>
          <p:cNvSpPr/>
          <p:nvPr/>
        </p:nvSpPr>
        <p:spPr>
          <a:xfrm>
            <a:off x="9566818" y="3154680"/>
            <a:ext cx="2167676" cy="14630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566818" y="3154680"/>
            <a:ext cx="2167676"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566818" y="3291840"/>
            <a:ext cx="2167676" cy="365760"/>
          </a:xfrm>
          <a:prstGeom prst="rect">
            <a:avLst/>
          </a:prstGeom>
          <a:noFill/>
        </p:spPr>
        <p:txBody>
          <a:bodyPr wrap="square" lIns="0" tIns="0" rIns="0" bIns="0" anchor="t">
            <a:spAutoFit/>
          </a:bodyPr>
          <a:lstStyle/>
          <a:p>
            <a:pPr algn="ctr"/>
            <a:r>
              <a:rPr sz="1400" b="1" i="0">
                <a:solidFill>
                  <a:srgbClr val="FFFFFF"/>
                </a:solidFill>
                <a:latin typeface="Georgia"/>
              </a:rPr>
              <a:t>Compute</a:t>
            </a:r>
          </a:p>
        </p:txBody>
      </p:sp>
      <p:sp>
        <p:nvSpPr>
          <p:cNvPr id="41" name="TextBox 40"/>
          <p:cNvSpPr txBox="1"/>
          <p:nvPr/>
        </p:nvSpPr>
        <p:spPr>
          <a:xfrm>
            <a:off x="9566818" y="3611880"/>
            <a:ext cx="2167676" cy="228600"/>
          </a:xfrm>
          <a:prstGeom prst="rect">
            <a:avLst/>
          </a:prstGeom>
          <a:noFill/>
        </p:spPr>
        <p:txBody>
          <a:bodyPr wrap="square" lIns="0" tIns="0" rIns="0" bIns="0" anchor="t">
            <a:spAutoFit/>
          </a:bodyPr>
          <a:lstStyle/>
          <a:p>
            <a:pPr algn="ctr"/>
            <a:r>
              <a:rPr sz="1000" b="0" i="1">
                <a:solidFill>
                  <a:srgbClr val="C9D6EE"/>
                </a:solidFill>
                <a:latin typeface="Calibri"/>
              </a:rPr>
              <a:t>Squad</a:t>
            </a:r>
          </a:p>
        </p:txBody>
      </p:sp>
      <p:sp>
        <p:nvSpPr>
          <p:cNvPr id="42" name="Rectangle 41"/>
          <p:cNvSpPr/>
          <p:nvPr/>
        </p:nvSpPr>
        <p:spPr>
          <a:xfrm>
            <a:off x="9703978" y="4251960"/>
            <a:ext cx="1893356" cy="2560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03978" y="4251960"/>
            <a:ext cx="1893356" cy="256032"/>
          </a:xfrm>
          <a:prstGeom prst="rect">
            <a:avLst/>
          </a:prstGeom>
          <a:noFill/>
        </p:spPr>
        <p:txBody>
          <a:bodyPr wrap="square" lIns="0" tIns="0" rIns="0" bIns="0" anchor="ctr">
            <a:spAutoFit/>
          </a:bodyPr>
          <a:lstStyle/>
          <a:p>
            <a:pPr algn="ctr"/>
            <a:r>
              <a:rPr sz="800" b="1" i="0" spc="100">
                <a:solidFill>
                  <a:srgbClr val="FEDF01"/>
                </a:solidFill>
                <a:latin typeface="Calibri"/>
              </a:rPr>
              <a:t>8-12 ENG</a:t>
            </a:r>
          </a:p>
        </p:txBody>
      </p:sp>
      <p:sp>
        <p:nvSpPr>
          <p:cNvPr id="44" name="Rectangle 43"/>
          <p:cNvSpPr/>
          <p:nvPr/>
        </p:nvSpPr>
        <p:spPr>
          <a:xfrm>
            <a:off x="1371600" y="4892040"/>
            <a:ext cx="9448495"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371600" y="4892040"/>
            <a:ext cx="94484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371600" y="4892040"/>
            <a:ext cx="91440" cy="9601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645920" y="5010912"/>
            <a:ext cx="3657600" cy="228600"/>
          </a:xfrm>
          <a:prstGeom prst="rect">
            <a:avLst/>
          </a:prstGeom>
          <a:noFill/>
        </p:spPr>
        <p:txBody>
          <a:bodyPr wrap="square" lIns="0" tIns="0" rIns="0" bIns="0" anchor="t">
            <a:spAutoFit/>
          </a:bodyPr>
          <a:lstStyle/>
          <a:p>
            <a:pPr algn="l"/>
            <a:r>
              <a:rPr sz="1000" b="1" i="0" spc="300">
                <a:solidFill>
                  <a:srgbClr val="FEDF01"/>
                </a:solidFill>
                <a:latin typeface="Calibri"/>
              </a:rPr>
              <a:t>OPTIMIZATION SQUAD</a:t>
            </a:r>
          </a:p>
        </p:txBody>
      </p:sp>
      <p:sp>
        <p:nvSpPr>
          <p:cNvPr id="48" name="TextBox 47"/>
          <p:cNvSpPr txBox="1"/>
          <p:nvPr/>
        </p:nvSpPr>
        <p:spPr>
          <a:xfrm>
            <a:off x="1645920" y="5221224"/>
            <a:ext cx="4572000" cy="320040"/>
          </a:xfrm>
          <a:prstGeom prst="rect">
            <a:avLst/>
          </a:prstGeom>
          <a:noFill/>
        </p:spPr>
        <p:txBody>
          <a:bodyPr wrap="square" lIns="0" tIns="0" rIns="0" bIns="0" anchor="t">
            <a:spAutoFit/>
          </a:bodyPr>
          <a:lstStyle/>
          <a:p>
            <a:pPr algn="l"/>
            <a:r>
              <a:rPr sz="1400" b="1" i="0">
                <a:solidFill>
                  <a:srgbClr val="FFFFFF"/>
                </a:solidFill>
                <a:latin typeface="Georgia"/>
              </a:rPr>
              <a:t>FinOps · Performance · Capacity</a:t>
            </a:r>
          </a:p>
        </p:txBody>
      </p:sp>
      <p:sp>
        <p:nvSpPr>
          <p:cNvPr id="49" name="TextBox 48"/>
          <p:cNvSpPr txBox="1"/>
          <p:nvPr/>
        </p:nvSpPr>
        <p:spPr>
          <a:xfrm>
            <a:off x="1645920" y="5550407"/>
            <a:ext cx="8899855" cy="274320"/>
          </a:xfrm>
          <a:prstGeom prst="rect">
            <a:avLst/>
          </a:prstGeom>
          <a:noFill/>
        </p:spPr>
        <p:txBody>
          <a:bodyPr wrap="square" lIns="0" tIns="0" rIns="0" bIns="0" anchor="t">
            <a:spAutoFit/>
          </a:bodyPr>
          <a:lstStyle/>
          <a:p>
            <a:pPr algn="l"/>
            <a:r>
              <a:rPr sz="1000" b="0" i="1">
                <a:solidFill>
                  <a:srgbClr val="C9D6EE"/>
                </a:solidFill>
                <a:latin typeface="Calibri"/>
              </a:rPr>
              <a:t>Ships: cost dashboards · rightsizing agents · capacity forecasts · performance baselines · waste-detection automation</a:t>
            </a:r>
          </a:p>
        </p:txBody>
      </p:sp>
      <p:cxnSp>
        <p:nvCxnSpPr>
          <p:cNvPr id="50" name="Connector 49"/>
          <p:cNvCxnSpPr/>
          <p:nvPr/>
        </p:nvCxnSpPr>
        <p:spPr>
          <a:xfrm>
            <a:off x="3200400" y="2834639"/>
            <a:ext cx="0" cy="320041"/>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991295" y="2834639"/>
            <a:ext cx="0" cy="320041"/>
          </a:xfrm>
          <a:prstGeom prst="line">
            <a:avLst/>
          </a:prstGeom>
          <a:ln w="2540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828800" y="2875788"/>
            <a:ext cx="1280160" cy="201168"/>
          </a:xfrm>
          <a:prstGeom prst="rect">
            <a:avLst/>
          </a:prstGeom>
          <a:noFill/>
        </p:spPr>
        <p:txBody>
          <a:bodyPr wrap="square" lIns="0" tIns="0" rIns="0" bIns="0" anchor="t">
            <a:spAutoFit/>
          </a:bodyPr>
          <a:lstStyle/>
          <a:p>
            <a:pPr algn="r"/>
            <a:r>
              <a:rPr sz="900" b="1" i="1">
                <a:solidFill>
                  <a:srgbClr val="001F5C"/>
                </a:solidFill>
                <a:latin typeface="Calibri"/>
              </a:rPr>
              <a:t>Policies · Controls</a:t>
            </a:r>
          </a:p>
        </p:txBody>
      </p:sp>
      <p:sp>
        <p:nvSpPr>
          <p:cNvPr id="53" name="TextBox 52"/>
          <p:cNvSpPr txBox="1"/>
          <p:nvPr/>
        </p:nvSpPr>
        <p:spPr>
          <a:xfrm>
            <a:off x="9082735" y="2875788"/>
            <a:ext cx="1371600" cy="201168"/>
          </a:xfrm>
          <a:prstGeom prst="rect">
            <a:avLst/>
          </a:prstGeom>
          <a:noFill/>
        </p:spPr>
        <p:txBody>
          <a:bodyPr wrap="square" lIns="0" tIns="0" rIns="0" bIns="0" anchor="t">
            <a:spAutoFit/>
          </a:bodyPr>
          <a:lstStyle/>
          <a:p>
            <a:pPr algn="l"/>
            <a:r>
              <a:rPr sz="900" b="1" i="1">
                <a:solidFill>
                  <a:srgbClr val="001F5C"/>
                </a:solidFill>
                <a:latin typeface="Calibri"/>
              </a:rPr>
              <a:t>Audit Evidence</a:t>
            </a:r>
          </a:p>
        </p:txBody>
      </p:sp>
      <p:cxnSp>
        <p:nvCxnSpPr>
          <p:cNvPr id="54" name="Connector 53"/>
          <p:cNvCxnSpPr/>
          <p:nvPr/>
        </p:nvCxnSpPr>
        <p:spPr>
          <a:xfrm>
            <a:off x="3200400" y="4617720"/>
            <a:ext cx="0" cy="274320"/>
          </a:xfrm>
          <a:prstGeom prst="line">
            <a:avLst/>
          </a:prstGeom>
          <a:ln w="2540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8991295" y="4617720"/>
            <a:ext cx="0" cy="27432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645920" y="4636008"/>
            <a:ext cx="1463040" cy="201168"/>
          </a:xfrm>
          <a:prstGeom prst="rect">
            <a:avLst/>
          </a:prstGeom>
          <a:noFill/>
        </p:spPr>
        <p:txBody>
          <a:bodyPr wrap="square" lIns="0" tIns="0" rIns="0" bIns="0" anchor="t">
            <a:spAutoFit/>
          </a:bodyPr>
          <a:lstStyle/>
          <a:p>
            <a:pPr algn="r"/>
            <a:r>
              <a:rPr sz="900" b="1" i="1">
                <a:solidFill>
                  <a:srgbClr val="001F5C"/>
                </a:solidFill>
                <a:latin typeface="Calibri"/>
              </a:rPr>
              <a:t>Telemetry · Cost data</a:t>
            </a:r>
          </a:p>
        </p:txBody>
      </p:sp>
      <p:sp>
        <p:nvSpPr>
          <p:cNvPr id="57" name="TextBox 56"/>
          <p:cNvSpPr txBox="1"/>
          <p:nvPr/>
        </p:nvSpPr>
        <p:spPr>
          <a:xfrm>
            <a:off x="9082735" y="4636008"/>
            <a:ext cx="1828800" cy="201168"/>
          </a:xfrm>
          <a:prstGeom prst="rect">
            <a:avLst/>
          </a:prstGeom>
          <a:noFill/>
        </p:spPr>
        <p:txBody>
          <a:bodyPr wrap="square" lIns="0" tIns="0" rIns="0" bIns="0" anchor="t">
            <a:spAutoFit/>
          </a:bodyPr>
          <a:lstStyle/>
          <a:p>
            <a:pPr algn="l"/>
            <a:r>
              <a:rPr sz="900" b="1" i="1">
                <a:solidFill>
                  <a:srgbClr val="001F5C"/>
                </a:solidFill>
                <a:latin typeface="Calibri"/>
              </a:rPr>
              <a:t>Recommendations · Agents</a:t>
            </a:r>
          </a:p>
        </p:txBody>
      </p:sp>
      <p:sp>
        <p:nvSpPr>
          <p:cNvPr id="58" name="Rectangle 57"/>
          <p:cNvSpPr/>
          <p:nvPr/>
        </p:nvSpPr>
        <p:spPr>
          <a:xfrm>
            <a:off x="457200" y="603504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85800" y="603504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KEY PRINCIPLE:  </a:t>
            </a:r>
            <a:r>
              <a:rPr sz="1200" b="1" i="1">
                <a:solidFill>
                  <a:srgbClr val="1E293B"/>
                </a:solidFill>
                <a:latin typeface="Calibri"/>
              </a:rPr>
              <a:t>Compliance and Optimization are PEER squads — not approval gates. They ship products that capability squads self-serve. No tickets, no handoffs.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COMPLIANCE SQUAD</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Policy-as-Code · Assurance Automation</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Compliance ships products — not approvals. The squad codifies controls once, and every capability squad inherits them automatically through the Zephyr Control Plane.</a:t>
            </a:r>
          </a:p>
        </p:txBody>
      </p:sp>
      <p:sp>
        <p:nvSpPr>
          <p:cNvPr id="8" name="Rectangle 7"/>
          <p:cNvSpPr/>
          <p:nvPr/>
        </p:nvSpPr>
        <p:spPr>
          <a:xfrm>
            <a:off x="457200" y="1920240"/>
            <a:ext cx="3657600" cy="39319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94560"/>
            <a:ext cx="3108960" cy="274320"/>
          </a:xfrm>
          <a:prstGeom prst="rect">
            <a:avLst/>
          </a:prstGeom>
          <a:noFill/>
        </p:spPr>
        <p:txBody>
          <a:bodyPr wrap="square" lIns="0" tIns="0" rIns="0" bIns="0" anchor="t">
            <a:spAutoFit/>
          </a:bodyPr>
          <a:lstStyle/>
          <a:p>
            <a:pPr algn="l"/>
            <a:r>
              <a:rPr sz="1000" b="1" i="0" spc="300">
                <a:solidFill>
                  <a:srgbClr val="FEDF01"/>
                </a:solidFill>
                <a:latin typeface="Calibri"/>
              </a:rPr>
              <a:t>THE SQUAD</a:t>
            </a:r>
          </a:p>
        </p:txBody>
      </p:sp>
      <p:sp>
        <p:nvSpPr>
          <p:cNvPr id="11" name="TextBox 10"/>
          <p:cNvSpPr txBox="1"/>
          <p:nvPr/>
        </p:nvSpPr>
        <p:spPr>
          <a:xfrm>
            <a:off x="731520" y="2468880"/>
            <a:ext cx="3108960" cy="411480"/>
          </a:xfrm>
          <a:prstGeom prst="rect">
            <a:avLst/>
          </a:prstGeom>
          <a:noFill/>
        </p:spPr>
        <p:txBody>
          <a:bodyPr wrap="square" lIns="0" tIns="0" rIns="0" bIns="0" anchor="t">
            <a:spAutoFit/>
          </a:bodyPr>
          <a:lstStyle/>
          <a:p>
            <a:pPr algn="l"/>
            <a:r>
              <a:rPr sz="1800" b="1" i="0">
                <a:solidFill>
                  <a:srgbClr val="FFFFFF"/>
                </a:solidFill>
                <a:latin typeface="Georgia"/>
              </a:rPr>
              <a:t>Compliance Squad</a:t>
            </a:r>
          </a:p>
        </p:txBody>
      </p:sp>
      <p:sp>
        <p:nvSpPr>
          <p:cNvPr id="12" name="TextBox 11"/>
          <p:cNvSpPr txBox="1"/>
          <p:nvPr/>
        </p:nvSpPr>
        <p:spPr>
          <a:xfrm>
            <a:off x="731520" y="2880360"/>
            <a:ext cx="3108960" cy="228600"/>
          </a:xfrm>
          <a:prstGeom prst="rect">
            <a:avLst/>
          </a:prstGeom>
          <a:noFill/>
        </p:spPr>
        <p:txBody>
          <a:bodyPr wrap="square" lIns="0" tIns="0" rIns="0" bIns="0" anchor="t">
            <a:spAutoFit/>
          </a:bodyPr>
          <a:lstStyle/>
          <a:p>
            <a:pPr algn="l"/>
            <a:r>
              <a:rPr sz="1100" b="0" i="1">
                <a:solidFill>
                  <a:srgbClr val="FEDF01"/>
                </a:solidFill>
                <a:latin typeface="Calibri"/>
              </a:rPr>
              <a:t>8-10 people · full-lifecycle</a:t>
            </a:r>
          </a:p>
        </p:txBody>
      </p:sp>
      <p:sp>
        <p:nvSpPr>
          <p:cNvPr id="13" name="Rectangle 12"/>
          <p:cNvSpPr/>
          <p:nvPr/>
        </p:nvSpPr>
        <p:spPr>
          <a:xfrm>
            <a:off x="731520" y="3246120"/>
            <a:ext cx="310896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383280"/>
            <a:ext cx="3108960" cy="228600"/>
          </a:xfrm>
          <a:prstGeom prst="rect">
            <a:avLst/>
          </a:prstGeom>
          <a:noFill/>
        </p:spPr>
        <p:txBody>
          <a:bodyPr wrap="square" lIns="0" tIns="0" rIns="0" bIns="0" anchor="t">
            <a:spAutoFit/>
          </a:bodyPr>
          <a:lstStyle/>
          <a:p>
            <a:pPr algn="l"/>
            <a:r>
              <a:rPr sz="900" b="1" i="0" spc="200">
                <a:solidFill>
                  <a:srgbClr val="FEDF01"/>
                </a:solidFill>
                <a:latin typeface="Calibri"/>
              </a:rPr>
              <a:t>ROLE MIX</a:t>
            </a:r>
          </a:p>
        </p:txBody>
      </p:sp>
      <p:sp>
        <p:nvSpPr>
          <p:cNvPr id="15" name="Rectangle 14"/>
          <p:cNvSpPr/>
          <p:nvPr/>
        </p:nvSpPr>
        <p:spPr>
          <a:xfrm>
            <a:off x="731520" y="365760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657600"/>
            <a:ext cx="548640" cy="237744"/>
          </a:xfrm>
          <a:prstGeom prst="rect">
            <a:avLst/>
          </a:prstGeom>
          <a:noFill/>
        </p:spPr>
        <p:txBody>
          <a:bodyPr wrap="square" lIns="0" tIns="0" rIns="0" bIns="0" anchor="ctr">
            <a:spAutoFit/>
          </a:bodyPr>
          <a:lstStyle/>
          <a:p>
            <a:pPr algn="ctr"/>
            <a:r>
              <a:rPr sz="1000" b="1" i="0">
                <a:solidFill>
                  <a:srgbClr val="001F5C"/>
                </a:solidFill>
                <a:latin typeface="Calibri"/>
              </a:rPr>
              <a:t>2-3</a:t>
            </a:r>
          </a:p>
        </p:txBody>
      </p:sp>
      <p:sp>
        <p:nvSpPr>
          <p:cNvPr id="17" name="TextBox 16"/>
          <p:cNvSpPr txBox="1"/>
          <p:nvPr/>
        </p:nvSpPr>
        <p:spPr>
          <a:xfrm>
            <a:off x="1371600" y="3657600"/>
            <a:ext cx="2560320" cy="237744"/>
          </a:xfrm>
          <a:prstGeom prst="rect">
            <a:avLst/>
          </a:prstGeom>
          <a:noFill/>
        </p:spPr>
        <p:txBody>
          <a:bodyPr wrap="square" lIns="0" tIns="0" rIns="0" bIns="0" anchor="ctr">
            <a:spAutoFit/>
          </a:bodyPr>
          <a:lstStyle/>
          <a:p>
            <a:pPr algn="l"/>
            <a:r>
              <a:rPr sz="1100" b="0" i="0">
                <a:solidFill>
                  <a:srgbClr val="FFFFFF"/>
                </a:solidFill>
                <a:latin typeface="Calibri"/>
              </a:rPr>
              <a:t>Security Engineers</a:t>
            </a:r>
          </a:p>
        </p:txBody>
      </p:sp>
      <p:sp>
        <p:nvSpPr>
          <p:cNvPr id="18" name="Rectangle 17"/>
          <p:cNvSpPr/>
          <p:nvPr/>
        </p:nvSpPr>
        <p:spPr>
          <a:xfrm>
            <a:off x="731520" y="3950208"/>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950208"/>
            <a:ext cx="548640" cy="237744"/>
          </a:xfrm>
          <a:prstGeom prst="rect">
            <a:avLst/>
          </a:prstGeom>
          <a:noFill/>
        </p:spPr>
        <p:txBody>
          <a:bodyPr wrap="square" lIns="0" tIns="0" rIns="0" bIns="0" anchor="ctr">
            <a:spAutoFit/>
          </a:bodyPr>
          <a:lstStyle/>
          <a:p>
            <a:pPr algn="ctr"/>
            <a:r>
              <a:rPr sz="1000" b="1" i="0">
                <a:solidFill>
                  <a:srgbClr val="001F5C"/>
                </a:solidFill>
                <a:latin typeface="Calibri"/>
              </a:rPr>
              <a:t>2</a:t>
            </a:r>
          </a:p>
        </p:txBody>
      </p:sp>
      <p:sp>
        <p:nvSpPr>
          <p:cNvPr id="20" name="TextBox 19"/>
          <p:cNvSpPr txBox="1"/>
          <p:nvPr/>
        </p:nvSpPr>
        <p:spPr>
          <a:xfrm>
            <a:off x="1371600" y="3950208"/>
            <a:ext cx="2560320" cy="237744"/>
          </a:xfrm>
          <a:prstGeom prst="rect">
            <a:avLst/>
          </a:prstGeom>
          <a:noFill/>
        </p:spPr>
        <p:txBody>
          <a:bodyPr wrap="square" lIns="0" tIns="0" rIns="0" bIns="0" anchor="ctr">
            <a:spAutoFit/>
          </a:bodyPr>
          <a:lstStyle/>
          <a:p>
            <a:pPr algn="l"/>
            <a:r>
              <a:rPr sz="1100" b="0" i="0">
                <a:solidFill>
                  <a:srgbClr val="FFFFFF"/>
                </a:solidFill>
                <a:latin typeface="Calibri"/>
              </a:rPr>
              <a:t>Policy-as-Code Eng</a:t>
            </a:r>
          </a:p>
        </p:txBody>
      </p:sp>
      <p:sp>
        <p:nvSpPr>
          <p:cNvPr id="21" name="Rectangle 20"/>
          <p:cNvSpPr/>
          <p:nvPr/>
        </p:nvSpPr>
        <p:spPr>
          <a:xfrm>
            <a:off x="731520" y="4242816"/>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242816"/>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3" name="TextBox 22"/>
          <p:cNvSpPr txBox="1"/>
          <p:nvPr/>
        </p:nvSpPr>
        <p:spPr>
          <a:xfrm>
            <a:off x="1371600" y="4242816"/>
            <a:ext cx="2560320" cy="237744"/>
          </a:xfrm>
          <a:prstGeom prst="rect">
            <a:avLst/>
          </a:prstGeom>
          <a:noFill/>
        </p:spPr>
        <p:txBody>
          <a:bodyPr wrap="square" lIns="0" tIns="0" rIns="0" bIns="0" anchor="ctr">
            <a:spAutoFit/>
          </a:bodyPr>
          <a:lstStyle/>
          <a:p>
            <a:pPr algn="l"/>
            <a:r>
              <a:rPr sz="1100" b="0" i="0">
                <a:solidFill>
                  <a:srgbClr val="FFFFFF"/>
                </a:solidFill>
                <a:latin typeface="Calibri"/>
              </a:rPr>
              <a:t>Risk / Controls SMEs</a:t>
            </a:r>
          </a:p>
        </p:txBody>
      </p:sp>
      <p:sp>
        <p:nvSpPr>
          <p:cNvPr id="24" name="Rectangle 23"/>
          <p:cNvSpPr/>
          <p:nvPr/>
        </p:nvSpPr>
        <p:spPr>
          <a:xfrm>
            <a:off x="731520" y="4535424"/>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535424"/>
            <a:ext cx="548640" cy="237744"/>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26" name="TextBox 25"/>
          <p:cNvSpPr txBox="1"/>
          <p:nvPr/>
        </p:nvSpPr>
        <p:spPr>
          <a:xfrm>
            <a:off x="1371600" y="4535424"/>
            <a:ext cx="2560320" cy="237744"/>
          </a:xfrm>
          <a:prstGeom prst="rect">
            <a:avLst/>
          </a:prstGeom>
          <a:noFill/>
        </p:spPr>
        <p:txBody>
          <a:bodyPr wrap="square" lIns="0" tIns="0" rIns="0" bIns="0" anchor="ctr">
            <a:spAutoFit/>
          </a:bodyPr>
          <a:lstStyle/>
          <a:p>
            <a:pPr algn="l"/>
            <a:r>
              <a:rPr sz="1100" b="0" i="0">
                <a:solidFill>
                  <a:srgbClr val="FFFFFF"/>
                </a:solidFill>
                <a:latin typeface="Calibri"/>
              </a:rPr>
              <a:t>Audit Liaison</a:t>
            </a:r>
          </a:p>
        </p:txBody>
      </p:sp>
      <p:sp>
        <p:nvSpPr>
          <p:cNvPr id="27" name="Rectangle 26"/>
          <p:cNvSpPr/>
          <p:nvPr/>
        </p:nvSpPr>
        <p:spPr>
          <a:xfrm>
            <a:off x="731520" y="4828032"/>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828032"/>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9" name="TextBox 28"/>
          <p:cNvSpPr txBox="1"/>
          <p:nvPr/>
        </p:nvSpPr>
        <p:spPr>
          <a:xfrm>
            <a:off x="1371600" y="4828032"/>
            <a:ext cx="2560320" cy="237744"/>
          </a:xfrm>
          <a:prstGeom prst="rect">
            <a:avLst/>
          </a:prstGeom>
          <a:noFill/>
        </p:spPr>
        <p:txBody>
          <a:bodyPr wrap="square" lIns="0" tIns="0" rIns="0" bIns="0" anchor="ctr">
            <a:spAutoFit/>
          </a:bodyPr>
          <a:lstStyle/>
          <a:p>
            <a:pPr algn="l"/>
            <a:r>
              <a:rPr sz="1100" b="0" i="0">
                <a:solidFill>
                  <a:srgbClr val="FFFFFF"/>
                </a:solidFill>
                <a:latin typeface="Calibri"/>
              </a:rPr>
              <a:t>AI/ML for Evidence</a:t>
            </a:r>
          </a:p>
        </p:txBody>
      </p:sp>
      <p:sp>
        <p:nvSpPr>
          <p:cNvPr id="30" name="Rectangle 29"/>
          <p:cNvSpPr/>
          <p:nvPr/>
        </p:nvSpPr>
        <p:spPr>
          <a:xfrm>
            <a:off x="731520" y="512064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5120640"/>
            <a:ext cx="548640" cy="237744"/>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32" name="TextBox 31"/>
          <p:cNvSpPr txBox="1"/>
          <p:nvPr/>
        </p:nvSpPr>
        <p:spPr>
          <a:xfrm>
            <a:off x="1371600" y="5120640"/>
            <a:ext cx="2560320" cy="237744"/>
          </a:xfrm>
          <a:prstGeom prst="rect">
            <a:avLst/>
          </a:prstGeom>
          <a:noFill/>
        </p:spPr>
        <p:txBody>
          <a:bodyPr wrap="square" lIns="0" tIns="0" rIns="0" bIns="0" anchor="ctr">
            <a:spAutoFit/>
          </a:bodyPr>
          <a:lstStyle/>
          <a:p>
            <a:pPr algn="l"/>
            <a:r>
              <a:rPr sz="1100" b="0" i="0">
                <a:solidFill>
                  <a:srgbClr val="FFFFFF"/>
                </a:solidFill>
                <a:latin typeface="Calibri"/>
              </a:rPr>
              <a:t>Squad Lead / PM</a:t>
            </a:r>
          </a:p>
        </p:txBody>
      </p:sp>
      <p:sp>
        <p:nvSpPr>
          <p:cNvPr id="33" name="Rectangle 32"/>
          <p:cNvSpPr/>
          <p:nvPr/>
        </p:nvSpPr>
        <p:spPr>
          <a:xfrm>
            <a:off x="4434840" y="1920240"/>
            <a:ext cx="7299655"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434840" y="1920240"/>
            <a:ext cx="729965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2121408"/>
            <a:ext cx="6842455" cy="274320"/>
          </a:xfrm>
          <a:prstGeom prst="rect">
            <a:avLst/>
          </a:prstGeom>
          <a:noFill/>
        </p:spPr>
        <p:txBody>
          <a:bodyPr wrap="square" lIns="0" tIns="0" rIns="0" bIns="0" anchor="t">
            <a:spAutoFit/>
          </a:bodyPr>
          <a:lstStyle/>
          <a:p>
            <a:pPr algn="l"/>
            <a:r>
              <a:rPr sz="1100" b="1" i="0" spc="300">
                <a:solidFill>
                  <a:srgbClr val="003DA5"/>
                </a:solidFill>
                <a:latin typeface="Calibri"/>
              </a:rPr>
              <a:t>WHAT THEY SHIP</a:t>
            </a:r>
          </a:p>
        </p:txBody>
      </p:sp>
      <p:sp>
        <p:nvSpPr>
          <p:cNvPr id="36" name="Rectangle 35"/>
          <p:cNvSpPr/>
          <p:nvPr/>
        </p:nvSpPr>
        <p:spPr>
          <a:xfrm>
            <a:off x="4690872" y="2542032"/>
            <a:ext cx="201168" cy="20116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83479" y="2468880"/>
            <a:ext cx="6522415" cy="274320"/>
          </a:xfrm>
          <a:prstGeom prst="rect">
            <a:avLst/>
          </a:prstGeom>
          <a:noFill/>
        </p:spPr>
        <p:txBody>
          <a:bodyPr wrap="square" lIns="0" tIns="0" rIns="0" bIns="0" anchor="t">
            <a:spAutoFit/>
          </a:bodyPr>
          <a:lstStyle/>
          <a:p>
            <a:pPr algn="l"/>
            <a:r>
              <a:rPr sz="1300" b="1" i="0">
                <a:solidFill>
                  <a:srgbClr val="001F5C"/>
                </a:solidFill>
                <a:latin typeface="Calibri"/>
              </a:rPr>
              <a:t>Zephyr Assurance</a:t>
            </a:r>
          </a:p>
        </p:txBody>
      </p:sp>
      <p:sp>
        <p:nvSpPr>
          <p:cNvPr id="38" name="TextBox 37"/>
          <p:cNvSpPr txBox="1"/>
          <p:nvPr/>
        </p:nvSpPr>
        <p:spPr>
          <a:xfrm>
            <a:off x="4983479" y="2724912"/>
            <a:ext cx="6522415" cy="141731"/>
          </a:xfrm>
          <a:prstGeom prst="rect">
            <a:avLst/>
          </a:prstGeom>
          <a:noFill/>
        </p:spPr>
        <p:txBody>
          <a:bodyPr wrap="square" lIns="0" tIns="0" rIns="0" bIns="0" anchor="t">
            <a:spAutoFit/>
          </a:bodyPr>
          <a:lstStyle/>
          <a:p>
            <a:pPr algn="l"/>
            <a:r>
              <a:rPr sz="950" b="0" i="0">
                <a:solidFill>
                  <a:srgbClr val="1E293B"/>
                </a:solidFill>
                <a:latin typeface="Calibri"/>
              </a:rPr>
              <a:t>The flagship platform — codified controls + continuous evidence. Capability squads inherit compliance automatically.</a:t>
            </a:r>
          </a:p>
        </p:txBody>
      </p:sp>
      <p:sp>
        <p:nvSpPr>
          <p:cNvPr id="39" name="Oval 38"/>
          <p:cNvSpPr/>
          <p:nvPr/>
        </p:nvSpPr>
        <p:spPr>
          <a:xfrm>
            <a:off x="4709159" y="299466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83479" y="2903220"/>
            <a:ext cx="6522415" cy="274320"/>
          </a:xfrm>
          <a:prstGeom prst="rect">
            <a:avLst/>
          </a:prstGeom>
          <a:noFill/>
        </p:spPr>
        <p:txBody>
          <a:bodyPr wrap="square" lIns="0" tIns="0" rIns="0" bIns="0" anchor="t">
            <a:spAutoFit/>
          </a:bodyPr>
          <a:lstStyle/>
          <a:p>
            <a:pPr algn="l"/>
            <a:r>
              <a:rPr sz="1150" b="1" i="0">
                <a:solidFill>
                  <a:srgbClr val="001F5C"/>
                </a:solidFill>
                <a:latin typeface="Calibri"/>
              </a:rPr>
              <a:t>Policy-as-Code Library</a:t>
            </a:r>
          </a:p>
        </p:txBody>
      </p:sp>
      <p:sp>
        <p:nvSpPr>
          <p:cNvPr id="41" name="TextBox 40"/>
          <p:cNvSpPr txBox="1"/>
          <p:nvPr/>
        </p:nvSpPr>
        <p:spPr>
          <a:xfrm>
            <a:off x="4983479" y="3159252"/>
            <a:ext cx="6522415" cy="141731"/>
          </a:xfrm>
          <a:prstGeom prst="rect">
            <a:avLst/>
          </a:prstGeom>
          <a:noFill/>
        </p:spPr>
        <p:txBody>
          <a:bodyPr wrap="square" lIns="0" tIns="0" rIns="0" bIns="0" anchor="t">
            <a:spAutoFit/>
          </a:bodyPr>
          <a:lstStyle/>
          <a:p>
            <a:pPr algn="l"/>
            <a:r>
              <a:rPr sz="950" b="0" i="0">
                <a:solidFill>
                  <a:srgbClr val="1E293B"/>
                </a:solidFill>
                <a:latin typeface="Calibri"/>
              </a:rPr>
              <a:t>OPA / Sentinel policies for OSFI E-21, B-13, PCI, SOC 2 — versioned, deployed via Zephyr Assurance.</a:t>
            </a:r>
          </a:p>
        </p:txBody>
      </p:sp>
      <p:sp>
        <p:nvSpPr>
          <p:cNvPr id="42" name="Oval 41"/>
          <p:cNvSpPr/>
          <p:nvPr/>
        </p:nvSpPr>
        <p:spPr>
          <a:xfrm>
            <a:off x="4709159" y="342900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83479" y="3337560"/>
            <a:ext cx="6522415" cy="274320"/>
          </a:xfrm>
          <a:prstGeom prst="rect">
            <a:avLst/>
          </a:prstGeom>
          <a:noFill/>
        </p:spPr>
        <p:txBody>
          <a:bodyPr wrap="square" lIns="0" tIns="0" rIns="0" bIns="0" anchor="t">
            <a:spAutoFit/>
          </a:bodyPr>
          <a:lstStyle/>
          <a:p>
            <a:pPr algn="l"/>
            <a:r>
              <a:rPr sz="1150" b="1" i="0">
                <a:solidFill>
                  <a:srgbClr val="001F5C"/>
                </a:solidFill>
                <a:latin typeface="Calibri"/>
              </a:rPr>
              <a:t>Pre-Approved Control Modules</a:t>
            </a:r>
          </a:p>
        </p:txBody>
      </p:sp>
      <p:sp>
        <p:nvSpPr>
          <p:cNvPr id="44" name="TextBox 43"/>
          <p:cNvSpPr txBox="1"/>
          <p:nvPr/>
        </p:nvSpPr>
        <p:spPr>
          <a:xfrm>
            <a:off x="4983479" y="3593592"/>
            <a:ext cx="6522415" cy="141731"/>
          </a:xfrm>
          <a:prstGeom prst="rect">
            <a:avLst/>
          </a:prstGeom>
          <a:noFill/>
        </p:spPr>
        <p:txBody>
          <a:bodyPr wrap="square" lIns="0" tIns="0" rIns="0" bIns="0" anchor="t">
            <a:spAutoFit/>
          </a:bodyPr>
          <a:lstStyle/>
          <a:p>
            <a:pPr algn="l"/>
            <a:r>
              <a:rPr sz="950" b="0" i="0">
                <a:solidFill>
                  <a:srgbClr val="1E293B"/>
                </a:solidFill>
                <a:latin typeface="Calibri"/>
              </a:rPr>
              <a:t>Zephyr IaC modules with controls baked in. Capability squads use them with no review needed.</a:t>
            </a:r>
          </a:p>
        </p:txBody>
      </p:sp>
      <p:sp>
        <p:nvSpPr>
          <p:cNvPr id="45" name="Oval 44"/>
          <p:cNvSpPr/>
          <p:nvPr/>
        </p:nvSpPr>
        <p:spPr>
          <a:xfrm>
            <a:off x="4709159" y="3863339"/>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983479" y="3771900"/>
            <a:ext cx="6522415" cy="274320"/>
          </a:xfrm>
          <a:prstGeom prst="rect">
            <a:avLst/>
          </a:prstGeom>
          <a:noFill/>
        </p:spPr>
        <p:txBody>
          <a:bodyPr wrap="square" lIns="0" tIns="0" rIns="0" bIns="0" anchor="t">
            <a:spAutoFit/>
          </a:bodyPr>
          <a:lstStyle/>
          <a:p>
            <a:pPr algn="l"/>
            <a:r>
              <a:rPr sz="1150" b="1" i="0">
                <a:solidFill>
                  <a:srgbClr val="001F5C"/>
                </a:solidFill>
                <a:latin typeface="Calibri"/>
              </a:rPr>
              <a:t>Audit-Evidence Agents</a:t>
            </a:r>
          </a:p>
        </p:txBody>
      </p:sp>
      <p:sp>
        <p:nvSpPr>
          <p:cNvPr id="47" name="TextBox 46"/>
          <p:cNvSpPr txBox="1"/>
          <p:nvPr/>
        </p:nvSpPr>
        <p:spPr>
          <a:xfrm>
            <a:off x="4983479" y="4027932"/>
            <a:ext cx="6522415" cy="141731"/>
          </a:xfrm>
          <a:prstGeom prst="rect">
            <a:avLst/>
          </a:prstGeom>
          <a:noFill/>
        </p:spPr>
        <p:txBody>
          <a:bodyPr wrap="square" lIns="0" tIns="0" rIns="0" bIns="0" anchor="t">
            <a:spAutoFit/>
          </a:bodyPr>
          <a:lstStyle/>
          <a:p>
            <a:pPr algn="l"/>
            <a:r>
              <a:rPr sz="950" b="0" i="0">
                <a:solidFill>
                  <a:srgbClr val="1E293B"/>
                </a:solidFill>
                <a:latin typeface="Calibri"/>
              </a:rPr>
              <a:t>AI agents generate continuous audit evidence from running infrastructure.</a:t>
            </a:r>
          </a:p>
        </p:txBody>
      </p:sp>
      <p:sp>
        <p:nvSpPr>
          <p:cNvPr id="48" name="TextBox 47"/>
          <p:cNvSpPr txBox="1"/>
          <p:nvPr/>
        </p:nvSpPr>
        <p:spPr>
          <a:xfrm>
            <a:off x="4434840" y="4416552"/>
            <a:ext cx="7299655" cy="228600"/>
          </a:xfrm>
          <a:prstGeom prst="rect">
            <a:avLst/>
          </a:prstGeom>
          <a:noFill/>
        </p:spPr>
        <p:txBody>
          <a:bodyPr wrap="square" lIns="0" tIns="0" rIns="0" bIns="0" anchor="t">
            <a:spAutoFit/>
          </a:bodyPr>
          <a:lstStyle/>
          <a:p>
            <a:pPr algn="l"/>
            <a:r>
              <a:rPr sz="1000" b="1" i="0" spc="200">
                <a:solidFill>
                  <a:srgbClr val="003DA5"/>
                </a:solidFill>
                <a:latin typeface="Calibri"/>
              </a:rPr>
              <a:t>OUTCOMES — WHY THIS MODEL WORKS</a:t>
            </a:r>
          </a:p>
        </p:txBody>
      </p:sp>
      <p:sp>
        <p:nvSpPr>
          <p:cNvPr id="49" name="Rectangle 48"/>
          <p:cNvSpPr/>
          <p:nvPr/>
        </p:nvSpPr>
        <p:spPr>
          <a:xfrm>
            <a:off x="4434840"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434840"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0"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Always-on</a:t>
            </a:r>
          </a:p>
        </p:txBody>
      </p:sp>
      <p:sp>
        <p:nvSpPr>
          <p:cNvPr id="52" name="TextBox 51"/>
          <p:cNvSpPr txBox="1"/>
          <p:nvPr/>
        </p:nvSpPr>
        <p:spPr>
          <a:xfrm>
            <a:off x="4572000"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evidence</a:t>
            </a:r>
          </a:p>
        </p:txBody>
      </p:sp>
      <p:sp>
        <p:nvSpPr>
          <p:cNvPr id="53" name="TextBox 52"/>
          <p:cNvSpPr txBox="1"/>
          <p:nvPr/>
        </p:nvSpPr>
        <p:spPr>
          <a:xfrm>
            <a:off x="4572000"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audits in days, not quarters</a:t>
            </a:r>
          </a:p>
        </p:txBody>
      </p:sp>
      <p:sp>
        <p:nvSpPr>
          <p:cNvPr id="54" name="Rectangle 53"/>
          <p:cNvSpPr/>
          <p:nvPr/>
        </p:nvSpPr>
        <p:spPr>
          <a:xfrm>
            <a:off x="6287185"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287185"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24345"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Zero</a:t>
            </a:r>
          </a:p>
        </p:txBody>
      </p:sp>
      <p:sp>
        <p:nvSpPr>
          <p:cNvPr id="57" name="TextBox 56"/>
          <p:cNvSpPr txBox="1"/>
          <p:nvPr/>
        </p:nvSpPr>
        <p:spPr>
          <a:xfrm>
            <a:off x="6424345"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ticket queues</a:t>
            </a:r>
          </a:p>
        </p:txBody>
      </p:sp>
      <p:sp>
        <p:nvSpPr>
          <p:cNvPr id="58" name="TextBox 57"/>
          <p:cNvSpPr txBox="1"/>
          <p:nvPr/>
        </p:nvSpPr>
        <p:spPr>
          <a:xfrm>
            <a:off x="6424345"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controls inherited via IaC</a:t>
            </a:r>
          </a:p>
        </p:txBody>
      </p:sp>
      <p:sp>
        <p:nvSpPr>
          <p:cNvPr id="59" name="Rectangle 58"/>
          <p:cNvSpPr/>
          <p:nvPr/>
        </p:nvSpPr>
        <p:spPr>
          <a:xfrm>
            <a:off x="8139531"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139531"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76691"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Single</a:t>
            </a:r>
          </a:p>
        </p:txBody>
      </p:sp>
      <p:sp>
        <p:nvSpPr>
          <p:cNvPr id="62" name="TextBox 61"/>
          <p:cNvSpPr txBox="1"/>
          <p:nvPr/>
        </p:nvSpPr>
        <p:spPr>
          <a:xfrm>
            <a:off x="8276691"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source of truth</a:t>
            </a:r>
          </a:p>
        </p:txBody>
      </p:sp>
      <p:sp>
        <p:nvSpPr>
          <p:cNvPr id="63" name="TextBox 62"/>
          <p:cNvSpPr txBox="1"/>
          <p:nvPr/>
        </p:nvSpPr>
        <p:spPr>
          <a:xfrm>
            <a:off x="8276691"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one control catalog org-wide</a:t>
            </a:r>
          </a:p>
        </p:txBody>
      </p:sp>
      <p:sp>
        <p:nvSpPr>
          <p:cNvPr id="64" name="Rectangle 63"/>
          <p:cNvSpPr/>
          <p:nvPr/>
        </p:nvSpPr>
        <p:spPr>
          <a:xfrm>
            <a:off x="9991877"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9991877"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129037"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Provable</a:t>
            </a:r>
          </a:p>
        </p:txBody>
      </p:sp>
      <p:sp>
        <p:nvSpPr>
          <p:cNvPr id="67" name="TextBox 66"/>
          <p:cNvSpPr txBox="1"/>
          <p:nvPr/>
        </p:nvSpPr>
        <p:spPr>
          <a:xfrm>
            <a:off x="10129037"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compliance</a:t>
            </a:r>
          </a:p>
        </p:txBody>
      </p:sp>
      <p:sp>
        <p:nvSpPr>
          <p:cNvPr id="68" name="TextBox 67"/>
          <p:cNvSpPr txBox="1"/>
          <p:nvPr/>
        </p:nvSpPr>
        <p:spPr>
          <a:xfrm>
            <a:off x="10129037"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evidence is the running system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OPTIMIZATION SQUAD</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FinOps · Performance · Capacity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Optimization is a product team, not a reporting function. The squad ships dashboards, agents, and rightsizing automation that capability squads consume — turning cost insight into automatic action.</a:t>
            </a:r>
          </a:p>
        </p:txBody>
      </p:sp>
      <p:sp>
        <p:nvSpPr>
          <p:cNvPr id="8" name="Rectangle 7"/>
          <p:cNvSpPr/>
          <p:nvPr/>
        </p:nvSpPr>
        <p:spPr>
          <a:xfrm>
            <a:off x="457200" y="1920240"/>
            <a:ext cx="3657600" cy="39319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94560"/>
            <a:ext cx="3108960" cy="274320"/>
          </a:xfrm>
          <a:prstGeom prst="rect">
            <a:avLst/>
          </a:prstGeom>
          <a:noFill/>
        </p:spPr>
        <p:txBody>
          <a:bodyPr wrap="square" lIns="0" tIns="0" rIns="0" bIns="0" anchor="t">
            <a:spAutoFit/>
          </a:bodyPr>
          <a:lstStyle/>
          <a:p>
            <a:pPr algn="l"/>
            <a:r>
              <a:rPr sz="1000" b="1" i="0" spc="300">
                <a:solidFill>
                  <a:srgbClr val="FEDF01"/>
                </a:solidFill>
                <a:latin typeface="Calibri"/>
              </a:rPr>
              <a:t>THE SQUAD</a:t>
            </a:r>
          </a:p>
        </p:txBody>
      </p:sp>
      <p:sp>
        <p:nvSpPr>
          <p:cNvPr id="11" name="TextBox 10"/>
          <p:cNvSpPr txBox="1"/>
          <p:nvPr/>
        </p:nvSpPr>
        <p:spPr>
          <a:xfrm>
            <a:off x="731520" y="2468880"/>
            <a:ext cx="3108960" cy="411480"/>
          </a:xfrm>
          <a:prstGeom prst="rect">
            <a:avLst/>
          </a:prstGeom>
          <a:noFill/>
        </p:spPr>
        <p:txBody>
          <a:bodyPr wrap="square" lIns="0" tIns="0" rIns="0" bIns="0" anchor="t">
            <a:spAutoFit/>
          </a:bodyPr>
          <a:lstStyle/>
          <a:p>
            <a:pPr algn="l"/>
            <a:r>
              <a:rPr sz="1800" b="1" i="0">
                <a:solidFill>
                  <a:srgbClr val="FFFFFF"/>
                </a:solidFill>
                <a:latin typeface="Georgia"/>
              </a:rPr>
              <a:t>Optimization Squad</a:t>
            </a:r>
          </a:p>
        </p:txBody>
      </p:sp>
      <p:sp>
        <p:nvSpPr>
          <p:cNvPr id="12" name="TextBox 11"/>
          <p:cNvSpPr txBox="1"/>
          <p:nvPr/>
        </p:nvSpPr>
        <p:spPr>
          <a:xfrm>
            <a:off x="731520" y="2880360"/>
            <a:ext cx="3108960" cy="228600"/>
          </a:xfrm>
          <a:prstGeom prst="rect">
            <a:avLst/>
          </a:prstGeom>
          <a:noFill/>
        </p:spPr>
        <p:txBody>
          <a:bodyPr wrap="square" lIns="0" tIns="0" rIns="0" bIns="0" anchor="t">
            <a:spAutoFit/>
          </a:bodyPr>
          <a:lstStyle/>
          <a:p>
            <a:pPr algn="l"/>
            <a:r>
              <a:rPr sz="1100" b="0" i="1">
                <a:solidFill>
                  <a:srgbClr val="FEDF01"/>
                </a:solidFill>
                <a:latin typeface="Calibri"/>
              </a:rPr>
              <a:t>8-10 people · full-lifecycle</a:t>
            </a:r>
          </a:p>
        </p:txBody>
      </p:sp>
      <p:sp>
        <p:nvSpPr>
          <p:cNvPr id="13" name="Rectangle 12"/>
          <p:cNvSpPr/>
          <p:nvPr/>
        </p:nvSpPr>
        <p:spPr>
          <a:xfrm>
            <a:off x="731520" y="3246120"/>
            <a:ext cx="310896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383280"/>
            <a:ext cx="3108960" cy="228600"/>
          </a:xfrm>
          <a:prstGeom prst="rect">
            <a:avLst/>
          </a:prstGeom>
          <a:noFill/>
        </p:spPr>
        <p:txBody>
          <a:bodyPr wrap="square" lIns="0" tIns="0" rIns="0" bIns="0" anchor="t">
            <a:spAutoFit/>
          </a:bodyPr>
          <a:lstStyle/>
          <a:p>
            <a:pPr algn="l"/>
            <a:r>
              <a:rPr sz="900" b="1" i="0" spc="200">
                <a:solidFill>
                  <a:srgbClr val="FEDF01"/>
                </a:solidFill>
                <a:latin typeface="Calibri"/>
              </a:rPr>
              <a:t>ROLE MIX</a:t>
            </a:r>
          </a:p>
        </p:txBody>
      </p:sp>
      <p:sp>
        <p:nvSpPr>
          <p:cNvPr id="15" name="Rectangle 14"/>
          <p:cNvSpPr/>
          <p:nvPr/>
        </p:nvSpPr>
        <p:spPr>
          <a:xfrm>
            <a:off x="731520" y="365760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657600"/>
            <a:ext cx="548640" cy="237744"/>
          </a:xfrm>
          <a:prstGeom prst="rect">
            <a:avLst/>
          </a:prstGeom>
          <a:noFill/>
        </p:spPr>
        <p:txBody>
          <a:bodyPr wrap="square" lIns="0" tIns="0" rIns="0" bIns="0" anchor="ctr">
            <a:spAutoFit/>
          </a:bodyPr>
          <a:lstStyle/>
          <a:p>
            <a:pPr algn="ctr"/>
            <a:r>
              <a:rPr sz="1000" b="1" i="0">
                <a:solidFill>
                  <a:srgbClr val="001F5C"/>
                </a:solidFill>
                <a:latin typeface="Calibri"/>
              </a:rPr>
              <a:t>2</a:t>
            </a:r>
          </a:p>
        </p:txBody>
      </p:sp>
      <p:sp>
        <p:nvSpPr>
          <p:cNvPr id="17" name="TextBox 16"/>
          <p:cNvSpPr txBox="1"/>
          <p:nvPr/>
        </p:nvSpPr>
        <p:spPr>
          <a:xfrm>
            <a:off x="1371600" y="3657600"/>
            <a:ext cx="2560320" cy="237744"/>
          </a:xfrm>
          <a:prstGeom prst="rect">
            <a:avLst/>
          </a:prstGeom>
          <a:noFill/>
        </p:spPr>
        <p:txBody>
          <a:bodyPr wrap="square" lIns="0" tIns="0" rIns="0" bIns="0" anchor="ctr">
            <a:spAutoFit/>
          </a:bodyPr>
          <a:lstStyle/>
          <a:p>
            <a:pPr algn="l"/>
            <a:r>
              <a:rPr sz="1100" b="0" i="0">
                <a:solidFill>
                  <a:srgbClr val="FFFFFF"/>
                </a:solidFill>
                <a:latin typeface="Calibri"/>
              </a:rPr>
              <a:t>FinOps Engineers</a:t>
            </a:r>
          </a:p>
        </p:txBody>
      </p:sp>
      <p:sp>
        <p:nvSpPr>
          <p:cNvPr id="18" name="Rectangle 17"/>
          <p:cNvSpPr/>
          <p:nvPr/>
        </p:nvSpPr>
        <p:spPr>
          <a:xfrm>
            <a:off x="731520" y="3950208"/>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950208"/>
            <a:ext cx="548640" cy="237744"/>
          </a:xfrm>
          <a:prstGeom prst="rect">
            <a:avLst/>
          </a:prstGeom>
          <a:noFill/>
        </p:spPr>
        <p:txBody>
          <a:bodyPr wrap="square" lIns="0" tIns="0" rIns="0" bIns="0" anchor="ctr">
            <a:spAutoFit/>
          </a:bodyPr>
          <a:lstStyle/>
          <a:p>
            <a:pPr algn="ctr"/>
            <a:r>
              <a:rPr sz="1000" b="1" i="0">
                <a:solidFill>
                  <a:srgbClr val="001F5C"/>
                </a:solidFill>
                <a:latin typeface="Calibri"/>
              </a:rPr>
              <a:t>2</a:t>
            </a:r>
          </a:p>
        </p:txBody>
      </p:sp>
      <p:sp>
        <p:nvSpPr>
          <p:cNvPr id="20" name="TextBox 19"/>
          <p:cNvSpPr txBox="1"/>
          <p:nvPr/>
        </p:nvSpPr>
        <p:spPr>
          <a:xfrm>
            <a:off x="1371600" y="3950208"/>
            <a:ext cx="2560320" cy="237744"/>
          </a:xfrm>
          <a:prstGeom prst="rect">
            <a:avLst/>
          </a:prstGeom>
          <a:noFill/>
        </p:spPr>
        <p:txBody>
          <a:bodyPr wrap="square" lIns="0" tIns="0" rIns="0" bIns="0" anchor="ctr">
            <a:spAutoFit/>
          </a:bodyPr>
          <a:lstStyle/>
          <a:p>
            <a:pPr algn="l"/>
            <a:r>
              <a:rPr sz="1100" b="0" i="0">
                <a:solidFill>
                  <a:srgbClr val="FFFFFF"/>
                </a:solidFill>
                <a:latin typeface="Calibri"/>
              </a:rPr>
              <a:t>Performance Engineers</a:t>
            </a:r>
          </a:p>
        </p:txBody>
      </p:sp>
      <p:sp>
        <p:nvSpPr>
          <p:cNvPr id="21" name="Rectangle 20"/>
          <p:cNvSpPr/>
          <p:nvPr/>
        </p:nvSpPr>
        <p:spPr>
          <a:xfrm>
            <a:off x="731520" y="4242816"/>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242816"/>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3" name="TextBox 22"/>
          <p:cNvSpPr txBox="1"/>
          <p:nvPr/>
        </p:nvSpPr>
        <p:spPr>
          <a:xfrm>
            <a:off x="1371600" y="4242816"/>
            <a:ext cx="2560320" cy="237744"/>
          </a:xfrm>
          <a:prstGeom prst="rect">
            <a:avLst/>
          </a:prstGeom>
          <a:noFill/>
        </p:spPr>
        <p:txBody>
          <a:bodyPr wrap="square" lIns="0" tIns="0" rIns="0" bIns="0" anchor="ctr">
            <a:spAutoFit/>
          </a:bodyPr>
          <a:lstStyle/>
          <a:p>
            <a:pPr algn="l"/>
            <a:r>
              <a:rPr sz="1100" b="0" i="0">
                <a:solidFill>
                  <a:srgbClr val="FFFFFF"/>
                </a:solidFill>
                <a:latin typeface="Calibri"/>
              </a:rPr>
              <a:t>Capacity / Forecast</a:t>
            </a:r>
          </a:p>
        </p:txBody>
      </p:sp>
      <p:sp>
        <p:nvSpPr>
          <p:cNvPr id="24" name="Rectangle 23"/>
          <p:cNvSpPr/>
          <p:nvPr/>
        </p:nvSpPr>
        <p:spPr>
          <a:xfrm>
            <a:off x="731520" y="4535424"/>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535424"/>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6" name="TextBox 25"/>
          <p:cNvSpPr txBox="1"/>
          <p:nvPr/>
        </p:nvSpPr>
        <p:spPr>
          <a:xfrm>
            <a:off x="1371600" y="4535424"/>
            <a:ext cx="2560320" cy="237744"/>
          </a:xfrm>
          <a:prstGeom prst="rect">
            <a:avLst/>
          </a:prstGeom>
          <a:noFill/>
        </p:spPr>
        <p:txBody>
          <a:bodyPr wrap="square" lIns="0" tIns="0" rIns="0" bIns="0" anchor="ctr">
            <a:spAutoFit/>
          </a:bodyPr>
          <a:lstStyle/>
          <a:p>
            <a:pPr algn="l"/>
            <a:r>
              <a:rPr sz="1100" b="0" i="0">
                <a:solidFill>
                  <a:srgbClr val="FFFFFF"/>
                </a:solidFill>
                <a:latin typeface="Calibri"/>
              </a:rPr>
              <a:t>Data / Analytics Eng</a:t>
            </a:r>
          </a:p>
        </p:txBody>
      </p:sp>
      <p:sp>
        <p:nvSpPr>
          <p:cNvPr id="27" name="Rectangle 26"/>
          <p:cNvSpPr/>
          <p:nvPr/>
        </p:nvSpPr>
        <p:spPr>
          <a:xfrm>
            <a:off x="731520" y="4828032"/>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828032"/>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9" name="TextBox 28"/>
          <p:cNvSpPr txBox="1"/>
          <p:nvPr/>
        </p:nvSpPr>
        <p:spPr>
          <a:xfrm>
            <a:off x="1371600" y="4828032"/>
            <a:ext cx="2560320" cy="237744"/>
          </a:xfrm>
          <a:prstGeom prst="rect">
            <a:avLst/>
          </a:prstGeom>
          <a:noFill/>
        </p:spPr>
        <p:txBody>
          <a:bodyPr wrap="square" lIns="0" tIns="0" rIns="0" bIns="0" anchor="ctr">
            <a:spAutoFit/>
          </a:bodyPr>
          <a:lstStyle/>
          <a:p>
            <a:pPr algn="l"/>
            <a:r>
              <a:rPr sz="1100" b="0" i="0">
                <a:solidFill>
                  <a:srgbClr val="FFFFFF"/>
                </a:solidFill>
                <a:latin typeface="Calibri"/>
              </a:rPr>
              <a:t>AI/ML for Rightsizing</a:t>
            </a:r>
          </a:p>
        </p:txBody>
      </p:sp>
      <p:sp>
        <p:nvSpPr>
          <p:cNvPr id="30" name="Rectangle 29"/>
          <p:cNvSpPr/>
          <p:nvPr/>
        </p:nvSpPr>
        <p:spPr>
          <a:xfrm>
            <a:off x="731520" y="512064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5120640"/>
            <a:ext cx="548640" cy="237744"/>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32" name="TextBox 31"/>
          <p:cNvSpPr txBox="1"/>
          <p:nvPr/>
        </p:nvSpPr>
        <p:spPr>
          <a:xfrm>
            <a:off x="1371600" y="5120640"/>
            <a:ext cx="2560320" cy="237744"/>
          </a:xfrm>
          <a:prstGeom prst="rect">
            <a:avLst/>
          </a:prstGeom>
          <a:noFill/>
        </p:spPr>
        <p:txBody>
          <a:bodyPr wrap="square" lIns="0" tIns="0" rIns="0" bIns="0" anchor="ctr">
            <a:spAutoFit/>
          </a:bodyPr>
          <a:lstStyle/>
          <a:p>
            <a:pPr algn="l"/>
            <a:r>
              <a:rPr sz="1100" b="0" i="0">
                <a:solidFill>
                  <a:srgbClr val="FFFFFF"/>
                </a:solidFill>
                <a:latin typeface="Calibri"/>
              </a:rPr>
              <a:t>Squad Lead / PM</a:t>
            </a:r>
          </a:p>
        </p:txBody>
      </p:sp>
      <p:sp>
        <p:nvSpPr>
          <p:cNvPr id="33" name="Rectangle 32"/>
          <p:cNvSpPr/>
          <p:nvPr/>
        </p:nvSpPr>
        <p:spPr>
          <a:xfrm>
            <a:off x="4434840" y="1920240"/>
            <a:ext cx="7299655"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434840" y="1920240"/>
            <a:ext cx="729965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2121408"/>
            <a:ext cx="6842455" cy="274320"/>
          </a:xfrm>
          <a:prstGeom prst="rect">
            <a:avLst/>
          </a:prstGeom>
          <a:noFill/>
        </p:spPr>
        <p:txBody>
          <a:bodyPr wrap="square" lIns="0" tIns="0" rIns="0" bIns="0" anchor="t">
            <a:spAutoFit/>
          </a:bodyPr>
          <a:lstStyle/>
          <a:p>
            <a:pPr algn="l"/>
            <a:r>
              <a:rPr sz="1100" b="1" i="0" spc="300">
                <a:solidFill>
                  <a:srgbClr val="003DA5"/>
                </a:solidFill>
                <a:latin typeface="Calibri"/>
              </a:rPr>
              <a:t>WHAT THEY SHIP</a:t>
            </a:r>
          </a:p>
        </p:txBody>
      </p:sp>
      <p:sp>
        <p:nvSpPr>
          <p:cNvPr id="36" name="Rectangle 35"/>
          <p:cNvSpPr/>
          <p:nvPr/>
        </p:nvSpPr>
        <p:spPr>
          <a:xfrm>
            <a:off x="4690872" y="2542032"/>
            <a:ext cx="201168" cy="20116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83479" y="2468880"/>
            <a:ext cx="6522415" cy="274320"/>
          </a:xfrm>
          <a:prstGeom prst="rect">
            <a:avLst/>
          </a:prstGeom>
          <a:noFill/>
        </p:spPr>
        <p:txBody>
          <a:bodyPr wrap="square" lIns="0" tIns="0" rIns="0" bIns="0" anchor="t">
            <a:spAutoFit/>
          </a:bodyPr>
          <a:lstStyle/>
          <a:p>
            <a:pPr algn="l"/>
            <a:r>
              <a:rPr sz="1300" b="1" i="0">
                <a:solidFill>
                  <a:srgbClr val="001F5C"/>
                </a:solidFill>
                <a:latin typeface="Calibri"/>
              </a:rPr>
              <a:t>Zephyr Optimize</a:t>
            </a:r>
          </a:p>
        </p:txBody>
      </p:sp>
      <p:sp>
        <p:nvSpPr>
          <p:cNvPr id="38" name="TextBox 37"/>
          <p:cNvSpPr txBox="1"/>
          <p:nvPr/>
        </p:nvSpPr>
        <p:spPr>
          <a:xfrm>
            <a:off x="4983479" y="2724912"/>
            <a:ext cx="6522415" cy="141731"/>
          </a:xfrm>
          <a:prstGeom prst="rect">
            <a:avLst/>
          </a:prstGeom>
          <a:noFill/>
        </p:spPr>
        <p:txBody>
          <a:bodyPr wrap="square" lIns="0" tIns="0" rIns="0" bIns="0" anchor="t">
            <a:spAutoFit/>
          </a:bodyPr>
          <a:lstStyle/>
          <a:p>
            <a:pPr algn="l"/>
            <a:r>
              <a:rPr sz="950" b="0" i="0">
                <a:solidFill>
                  <a:srgbClr val="1E293B"/>
                </a:solidFill>
                <a:latin typeface="Calibri"/>
              </a:rPr>
              <a:t>The flagship platform — cost, performance, capacity intelligence in the Zephyr Control Plane.</a:t>
            </a:r>
          </a:p>
        </p:txBody>
      </p:sp>
      <p:sp>
        <p:nvSpPr>
          <p:cNvPr id="39" name="Oval 38"/>
          <p:cNvSpPr/>
          <p:nvPr/>
        </p:nvSpPr>
        <p:spPr>
          <a:xfrm>
            <a:off x="4709159" y="299466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83479" y="2903220"/>
            <a:ext cx="6522415" cy="274320"/>
          </a:xfrm>
          <a:prstGeom prst="rect">
            <a:avLst/>
          </a:prstGeom>
          <a:noFill/>
        </p:spPr>
        <p:txBody>
          <a:bodyPr wrap="square" lIns="0" tIns="0" rIns="0" bIns="0" anchor="t">
            <a:spAutoFit/>
          </a:bodyPr>
          <a:lstStyle/>
          <a:p>
            <a:pPr algn="l"/>
            <a:r>
              <a:rPr sz="1150" b="1" i="0">
                <a:solidFill>
                  <a:srgbClr val="001F5C"/>
                </a:solidFill>
                <a:latin typeface="Calibri"/>
              </a:rPr>
              <a:t>Cost &amp; Utilization Dashboards</a:t>
            </a:r>
          </a:p>
        </p:txBody>
      </p:sp>
      <p:sp>
        <p:nvSpPr>
          <p:cNvPr id="41" name="TextBox 40"/>
          <p:cNvSpPr txBox="1"/>
          <p:nvPr/>
        </p:nvSpPr>
        <p:spPr>
          <a:xfrm>
            <a:off x="4983479" y="3159252"/>
            <a:ext cx="6522415" cy="141731"/>
          </a:xfrm>
          <a:prstGeom prst="rect">
            <a:avLst/>
          </a:prstGeom>
          <a:noFill/>
        </p:spPr>
        <p:txBody>
          <a:bodyPr wrap="square" lIns="0" tIns="0" rIns="0" bIns="0" anchor="t">
            <a:spAutoFit/>
          </a:bodyPr>
          <a:lstStyle/>
          <a:p>
            <a:pPr algn="l"/>
            <a:r>
              <a:rPr sz="950" b="0" i="0">
                <a:solidFill>
                  <a:srgbClr val="1E293B"/>
                </a:solidFill>
                <a:latin typeface="Calibri"/>
              </a:rPr>
              <a:t>Per-squad and per-platform cost visibility shipped via Zephyr Optimize. No separate FinOps tool.</a:t>
            </a:r>
          </a:p>
        </p:txBody>
      </p:sp>
      <p:sp>
        <p:nvSpPr>
          <p:cNvPr id="42" name="Oval 41"/>
          <p:cNvSpPr/>
          <p:nvPr/>
        </p:nvSpPr>
        <p:spPr>
          <a:xfrm>
            <a:off x="4709159" y="342900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83479" y="3337560"/>
            <a:ext cx="6522415" cy="274320"/>
          </a:xfrm>
          <a:prstGeom prst="rect">
            <a:avLst/>
          </a:prstGeom>
          <a:noFill/>
        </p:spPr>
        <p:txBody>
          <a:bodyPr wrap="square" lIns="0" tIns="0" rIns="0" bIns="0" anchor="t">
            <a:spAutoFit/>
          </a:bodyPr>
          <a:lstStyle/>
          <a:p>
            <a:pPr algn="l"/>
            <a:r>
              <a:rPr sz="1150" b="1" i="0">
                <a:solidFill>
                  <a:srgbClr val="001F5C"/>
                </a:solidFill>
                <a:latin typeface="Calibri"/>
              </a:rPr>
              <a:t>Rightsizing Agents</a:t>
            </a:r>
          </a:p>
        </p:txBody>
      </p:sp>
      <p:sp>
        <p:nvSpPr>
          <p:cNvPr id="44" name="TextBox 43"/>
          <p:cNvSpPr txBox="1"/>
          <p:nvPr/>
        </p:nvSpPr>
        <p:spPr>
          <a:xfrm>
            <a:off x="4983479" y="3593592"/>
            <a:ext cx="6522415" cy="141731"/>
          </a:xfrm>
          <a:prstGeom prst="rect">
            <a:avLst/>
          </a:prstGeom>
          <a:noFill/>
        </p:spPr>
        <p:txBody>
          <a:bodyPr wrap="square" lIns="0" tIns="0" rIns="0" bIns="0" anchor="t">
            <a:spAutoFit/>
          </a:bodyPr>
          <a:lstStyle/>
          <a:p>
            <a:pPr algn="l"/>
            <a:r>
              <a:rPr sz="950" b="0" i="0">
                <a:solidFill>
                  <a:srgbClr val="1E293B"/>
                </a:solidFill>
                <a:latin typeface="Calibri"/>
              </a:rPr>
              <a:t>AI agents detect over-provisioning and submit pull requests to squad IaC repos. Squads merge.</a:t>
            </a:r>
          </a:p>
        </p:txBody>
      </p:sp>
      <p:sp>
        <p:nvSpPr>
          <p:cNvPr id="45" name="Oval 44"/>
          <p:cNvSpPr/>
          <p:nvPr/>
        </p:nvSpPr>
        <p:spPr>
          <a:xfrm>
            <a:off x="4709159" y="3863339"/>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983479" y="3771900"/>
            <a:ext cx="6522415" cy="274320"/>
          </a:xfrm>
          <a:prstGeom prst="rect">
            <a:avLst/>
          </a:prstGeom>
          <a:noFill/>
        </p:spPr>
        <p:txBody>
          <a:bodyPr wrap="square" lIns="0" tIns="0" rIns="0" bIns="0" anchor="t">
            <a:spAutoFit/>
          </a:bodyPr>
          <a:lstStyle/>
          <a:p>
            <a:pPr algn="l"/>
            <a:r>
              <a:rPr sz="1150" b="1" i="0">
                <a:solidFill>
                  <a:srgbClr val="001F5C"/>
                </a:solidFill>
                <a:latin typeface="Calibri"/>
              </a:rPr>
              <a:t>Capacity Forecasts &amp; Waste Detection</a:t>
            </a:r>
          </a:p>
        </p:txBody>
      </p:sp>
      <p:sp>
        <p:nvSpPr>
          <p:cNvPr id="47" name="TextBox 46"/>
          <p:cNvSpPr txBox="1"/>
          <p:nvPr/>
        </p:nvSpPr>
        <p:spPr>
          <a:xfrm>
            <a:off x="4983479" y="4027932"/>
            <a:ext cx="6522415" cy="141731"/>
          </a:xfrm>
          <a:prstGeom prst="rect">
            <a:avLst/>
          </a:prstGeom>
          <a:noFill/>
        </p:spPr>
        <p:txBody>
          <a:bodyPr wrap="square" lIns="0" tIns="0" rIns="0" bIns="0" anchor="t">
            <a:spAutoFit/>
          </a:bodyPr>
          <a:lstStyle/>
          <a:p>
            <a:pPr algn="l"/>
            <a:r>
              <a:rPr sz="950" b="0" i="0">
                <a:solidFill>
                  <a:srgbClr val="1E293B"/>
                </a:solidFill>
                <a:latin typeface="Calibri"/>
              </a:rPr>
              <a:t>Headroom projections + idle resource detection. Routes findings to owning squads.</a:t>
            </a:r>
          </a:p>
        </p:txBody>
      </p:sp>
      <p:sp>
        <p:nvSpPr>
          <p:cNvPr id="48" name="TextBox 47"/>
          <p:cNvSpPr txBox="1"/>
          <p:nvPr/>
        </p:nvSpPr>
        <p:spPr>
          <a:xfrm>
            <a:off x="4434840" y="4416552"/>
            <a:ext cx="7299655" cy="228600"/>
          </a:xfrm>
          <a:prstGeom prst="rect">
            <a:avLst/>
          </a:prstGeom>
          <a:noFill/>
        </p:spPr>
        <p:txBody>
          <a:bodyPr wrap="square" lIns="0" tIns="0" rIns="0" bIns="0" anchor="t">
            <a:spAutoFit/>
          </a:bodyPr>
          <a:lstStyle/>
          <a:p>
            <a:pPr algn="l"/>
            <a:r>
              <a:rPr sz="1000" b="1" i="0" spc="200">
                <a:solidFill>
                  <a:srgbClr val="003DA5"/>
                </a:solidFill>
                <a:latin typeface="Calibri"/>
              </a:rPr>
              <a:t>OUTCOMES — WHY THIS MODEL WORKS</a:t>
            </a:r>
          </a:p>
        </p:txBody>
      </p:sp>
      <p:sp>
        <p:nvSpPr>
          <p:cNvPr id="49" name="Rectangle 48"/>
          <p:cNvSpPr/>
          <p:nvPr/>
        </p:nvSpPr>
        <p:spPr>
          <a:xfrm>
            <a:off x="4434840"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434840"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0"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15-25%</a:t>
            </a:r>
          </a:p>
        </p:txBody>
      </p:sp>
      <p:sp>
        <p:nvSpPr>
          <p:cNvPr id="52" name="TextBox 51"/>
          <p:cNvSpPr txBox="1"/>
          <p:nvPr/>
        </p:nvSpPr>
        <p:spPr>
          <a:xfrm>
            <a:off x="4572000"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cost reduction</a:t>
            </a:r>
          </a:p>
        </p:txBody>
      </p:sp>
      <p:sp>
        <p:nvSpPr>
          <p:cNvPr id="53" name="TextBox 52"/>
          <p:cNvSpPr txBox="1"/>
          <p:nvPr/>
        </p:nvSpPr>
        <p:spPr>
          <a:xfrm>
            <a:off x="4572000"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year 1 target</a:t>
            </a:r>
          </a:p>
        </p:txBody>
      </p:sp>
      <p:sp>
        <p:nvSpPr>
          <p:cNvPr id="54" name="Rectangle 53"/>
          <p:cNvSpPr/>
          <p:nvPr/>
        </p:nvSpPr>
        <p:spPr>
          <a:xfrm>
            <a:off x="6287185"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287185"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24345"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Automated</a:t>
            </a:r>
          </a:p>
        </p:txBody>
      </p:sp>
      <p:sp>
        <p:nvSpPr>
          <p:cNvPr id="57" name="TextBox 56"/>
          <p:cNvSpPr txBox="1"/>
          <p:nvPr/>
        </p:nvSpPr>
        <p:spPr>
          <a:xfrm>
            <a:off x="6424345"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rightsizing</a:t>
            </a:r>
          </a:p>
        </p:txBody>
      </p:sp>
      <p:sp>
        <p:nvSpPr>
          <p:cNvPr id="58" name="TextBox 57"/>
          <p:cNvSpPr txBox="1"/>
          <p:nvPr/>
        </p:nvSpPr>
        <p:spPr>
          <a:xfrm>
            <a:off x="6424345"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PRs not tickets</a:t>
            </a:r>
          </a:p>
        </p:txBody>
      </p:sp>
      <p:sp>
        <p:nvSpPr>
          <p:cNvPr id="59" name="Rectangle 58"/>
          <p:cNvSpPr/>
          <p:nvPr/>
        </p:nvSpPr>
        <p:spPr>
          <a:xfrm>
            <a:off x="8139531"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139531"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76691"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Real-time</a:t>
            </a:r>
          </a:p>
        </p:txBody>
      </p:sp>
      <p:sp>
        <p:nvSpPr>
          <p:cNvPr id="62" name="TextBox 61"/>
          <p:cNvSpPr txBox="1"/>
          <p:nvPr/>
        </p:nvSpPr>
        <p:spPr>
          <a:xfrm>
            <a:off x="8276691"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visibility</a:t>
            </a:r>
          </a:p>
        </p:txBody>
      </p:sp>
      <p:sp>
        <p:nvSpPr>
          <p:cNvPr id="63" name="TextBox 62"/>
          <p:cNvSpPr txBox="1"/>
          <p:nvPr/>
        </p:nvSpPr>
        <p:spPr>
          <a:xfrm>
            <a:off x="8276691"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in squad workflows</a:t>
            </a:r>
          </a:p>
        </p:txBody>
      </p:sp>
      <p:sp>
        <p:nvSpPr>
          <p:cNvPr id="64" name="Rectangle 63"/>
          <p:cNvSpPr/>
          <p:nvPr/>
        </p:nvSpPr>
        <p:spPr>
          <a:xfrm>
            <a:off x="9991877"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9991877"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129037"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Predictive</a:t>
            </a:r>
          </a:p>
        </p:txBody>
      </p:sp>
      <p:sp>
        <p:nvSpPr>
          <p:cNvPr id="67" name="TextBox 66"/>
          <p:cNvSpPr txBox="1"/>
          <p:nvPr/>
        </p:nvSpPr>
        <p:spPr>
          <a:xfrm>
            <a:off x="10129037"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capacity</a:t>
            </a:r>
          </a:p>
        </p:txBody>
      </p:sp>
      <p:sp>
        <p:nvSpPr>
          <p:cNvPr id="68" name="TextBox 67"/>
          <p:cNvSpPr txBox="1"/>
          <p:nvPr/>
        </p:nvSpPr>
        <p:spPr>
          <a:xfrm>
            <a:off x="10129037"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no last-minute scrambles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INTERACTION MECHANICS</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How Pods Work with Compliance &amp; Optimization</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Compliance and Optimization ship products that pods consume; pods emit signals that those squads turn into next-gen automation. Two-way, no tickets.</a:t>
            </a:r>
          </a:p>
        </p:txBody>
      </p:sp>
      <p:sp>
        <p:nvSpPr>
          <p:cNvPr id="8" name="Rectangle 7"/>
          <p:cNvSpPr/>
          <p:nvPr/>
        </p:nvSpPr>
        <p:spPr>
          <a:xfrm>
            <a:off x="4907127" y="1920240"/>
            <a:ext cx="2377440" cy="457200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907127" y="1920240"/>
            <a:ext cx="237744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907127" y="1920240"/>
            <a:ext cx="73152" cy="4572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90007" y="2103120"/>
            <a:ext cx="2103120" cy="228600"/>
          </a:xfrm>
          <a:prstGeom prst="rect">
            <a:avLst/>
          </a:prstGeom>
          <a:noFill/>
        </p:spPr>
        <p:txBody>
          <a:bodyPr wrap="square" lIns="0" tIns="0" rIns="0" bIns="0" anchor="t">
            <a:spAutoFit/>
          </a:bodyPr>
          <a:lstStyle/>
          <a:p>
            <a:pPr algn="ctr"/>
            <a:r>
              <a:rPr sz="950" b="1" i="0" spc="200">
                <a:solidFill>
                  <a:srgbClr val="FEDF01"/>
                </a:solidFill>
                <a:latin typeface="Calibri"/>
              </a:rPr>
              <a:t>CAPABILITY PODS</a:t>
            </a:r>
          </a:p>
        </p:txBody>
      </p:sp>
      <p:sp>
        <p:nvSpPr>
          <p:cNvPr id="12" name="Rectangle 11"/>
          <p:cNvSpPr/>
          <p:nvPr/>
        </p:nvSpPr>
        <p:spPr>
          <a:xfrm>
            <a:off x="5090007" y="2514600"/>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90007" y="2514600"/>
            <a:ext cx="2011680" cy="541020"/>
          </a:xfrm>
          <a:prstGeom prst="rect">
            <a:avLst/>
          </a:prstGeom>
          <a:noFill/>
        </p:spPr>
        <p:txBody>
          <a:bodyPr wrap="square" lIns="0" tIns="0" rIns="0" bIns="0" anchor="ctr">
            <a:spAutoFit/>
          </a:bodyPr>
          <a:lstStyle/>
          <a:p>
            <a:pPr algn="ctr"/>
            <a:r>
              <a:rPr sz="1200" b="1" i="0">
                <a:solidFill>
                  <a:srgbClr val="FFFFFF"/>
                </a:solidFill>
                <a:latin typeface="Georgia"/>
              </a:rPr>
              <a:t>SQL Server</a:t>
            </a:r>
          </a:p>
        </p:txBody>
      </p:sp>
      <p:sp>
        <p:nvSpPr>
          <p:cNvPr id="14" name="Rectangle 13"/>
          <p:cNvSpPr/>
          <p:nvPr/>
        </p:nvSpPr>
        <p:spPr>
          <a:xfrm>
            <a:off x="5090007" y="3110483"/>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90007" y="3110483"/>
            <a:ext cx="2011680" cy="541020"/>
          </a:xfrm>
          <a:prstGeom prst="rect">
            <a:avLst/>
          </a:prstGeom>
          <a:noFill/>
        </p:spPr>
        <p:txBody>
          <a:bodyPr wrap="square" lIns="0" tIns="0" rIns="0" bIns="0" anchor="ctr">
            <a:spAutoFit/>
          </a:bodyPr>
          <a:lstStyle/>
          <a:p>
            <a:pPr algn="ctr"/>
            <a:r>
              <a:rPr sz="1200" b="1" i="0">
                <a:solidFill>
                  <a:srgbClr val="FFFFFF"/>
                </a:solidFill>
                <a:latin typeface="Georgia"/>
              </a:rPr>
              <a:t>Kubernetes</a:t>
            </a:r>
          </a:p>
        </p:txBody>
      </p:sp>
      <p:sp>
        <p:nvSpPr>
          <p:cNvPr id="16" name="Rectangle 15"/>
          <p:cNvSpPr/>
          <p:nvPr/>
        </p:nvSpPr>
        <p:spPr>
          <a:xfrm>
            <a:off x="5090007" y="3706367"/>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90007" y="3706367"/>
            <a:ext cx="2011680" cy="541020"/>
          </a:xfrm>
          <a:prstGeom prst="rect">
            <a:avLst/>
          </a:prstGeom>
          <a:noFill/>
        </p:spPr>
        <p:txBody>
          <a:bodyPr wrap="square" lIns="0" tIns="0" rIns="0" bIns="0" anchor="ctr">
            <a:spAutoFit/>
          </a:bodyPr>
          <a:lstStyle/>
          <a:p>
            <a:pPr algn="ctr"/>
            <a:r>
              <a:rPr sz="1200" b="1" i="0">
                <a:solidFill>
                  <a:srgbClr val="FFFFFF"/>
                </a:solidFill>
                <a:latin typeface="Georgia"/>
              </a:rPr>
              <a:t>Storage</a:t>
            </a:r>
          </a:p>
        </p:txBody>
      </p:sp>
      <p:sp>
        <p:nvSpPr>
          <p:cNvPr id="18" name="Rectangle 17"/>
          <p:cNvSpPr/>
          <p:nvPr/>
        </p:nvSpPr>
        <p:spPr>
          <a:xfrm>
            <a:off x="5090007" y="4302252"/>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90007" y="4302252"/>
            <a:ext cx="2011680" cy="541020"/>
          </a:xfrm>
          <a:prstGeom prst="rect">
            <a:avLst/>
          </a:prstGeom>
          <a:noFill/>
        </p:spPr>
        <p:txBody>
          <a:bodyPr wrap="square" lIns="0" tIns="0" rIns="0" bIns="0" anchor="ctr">
            <a:spAutoFit/>
          </a:bodyPr>
          <a:lstStyle/>
          <a:p>
            <a:pPr algn="ctr"/>
            <a:r>
              <a:rPr sz="1200" b="1" i="0">
                <a:solidFill>
                  <a:srgbClr val="FFFFFF"/>
                </a:solidFill>
                <a:latin typeface="Georgia"/>
              </a:rPr>
              <a:t>Network</a:t>
            </a:r>
          </a:p>
        </p:txBody>
      </p:sp>
      <p:sp>
        <p:nvSpPr>
          <p:cNvPr id="20" name="Rectangle 19"/>
          <p:cNvSpPr/>
          <p:nvPr/>
        </p:nvSpPr>
        <p:spPr>
          <a:xfrm>
            <a:off x="5090007" y="4898136"/>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90007" y="4898136"/>
            <a:ext cx="2011680" cy="541020"/>
          </a:xfrm>
          <a:prstGeom prst="rect">
            <a:avLst/>
          </a:prstGeom>
          <a:noFill/>
        </p:spPr>
        <p:txBody>
          <a:bodyPr wrap="square" lIns="0" tIns="0" rIns="0" bIns="0" anchor="ctr">
            <a:spAutoFit/>
          </a:bodyPr>
          <a:lstStyle/>
          <a:p>
            <a:pPr algn="ctr"/>
            <a:r>
              <a:rPr sz="1200" b="1" i="0">
                <a:solidFill>
                  <a:srgbClr val="FFFFFF"/>
                </a:solidFill>
                <a:latin typeface="Georgia"/>
              </a:rPr>
              <a:t>Compute</a:t>
            </a:r>
          </a:p>
        </p:txBody>
      </p:sp>
      <p:sp>
        <p:nvSpPr>
          <p:cNvPr id="22" name="Rectangle 21"/>
          <p:cNvSpPr/>
          <p:nvPr/>
        </p:nvSpPr>
        <p:spPr>
          <a:xfrm>
            <a:off x="5090007" y="5494020"/>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90007" y="5494020"/>
            <a:ext cx="2011680" cy="541020"/>
          </a:xfrm>
          <a:prstGeom prst="rect">
            <a:avLst/>
          </a:prstGeom>
          <a:noFill/>
        </p:spPr>
        <p:txBody>
          <a:bodyPr wrap="square" lIns="0" tIns="0" rIns="0" bIns="0" anchor="ctr">
            <a:spAutoFit/>
          </a:bodyPr>
          <a:lstStyle/>
          <a:p>
            <a:pPr algn="ctr"/>
            <a:r>
              <a:rPr sz="1200" b="1" i="0">
                <a:solidFill>
                  <a:srgbClr val="FFFFFF"/>
                </a:solidFill>
                <a:latin typeface="Georgia"/>
              </a:rPr>
              <a:t>...</a:t>
            </a:r>
          </a:p>
        </p:txBody>
      </p:sp>
      <p:sp>
        <p:nvSpPr>
          <p:cNvPr id="24" name="TextBox 23"/>
          <p:cNvSpPr txBox="1"/>
          <p:nvPr/>
        </p:nvSpPr>
        <p:spPr>
          <a:xfrm>
            <a:off x="5090007" y="6035040"/>
            <a:ext cx="2103120" cy="365760"/>
          </a:xfrm>
          <a:prstGeom prst="rect">
            <a:avLst/>
          </a:prstGeom>
          <a:noFill/>
        </p:spPr>
        <p:txBody>
          <a:bodyPr wrap="square" lIns="0" tIns="0" rIns="0" bIns="0" anchor="t">
            <a:spAutoFit/>
          </a:bodyPr>
          <a:lstStyle/>
          <a:p>
            <a:pPr algn="ctr"/>
            <a:r>
              <a:rPr sz="1000" b="1" i="1">
                <a:solidFill>
                  <a:srgbClr val="FEDF01"/>
                </a:solidFill>
                <a:latin typeface="Calibri"/>
              </a:rPr>
              <a:t>Eng · Dev · Ops · IntelOps</a:t>
            </a:r>
          </a:p>
        </p:txBody>
      </p:sp>
      <p:sp>
        <p:nvSpPr>
          <p:cNvPr id="25" name="Rectangle 24"/>
          <p:cNvSpPr/>
          <p:nvPr/>
        </p:nvSpPr>
        <p:spPr>
          <a:xfrm>
            <a:off x="457200" y="1920240"/>
            <a:ext cx="3291840" cy="2194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1920240"/>
            <a:ext cx="329184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1920240"/>
            <a:ext cx="73152" cy="2194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2103120"/>
            <a:ext cx="3017520" cy="201168"/>
          </a:xfrm>
          <a:prstGeom prst="rect">
            <a:avLst/>
          </a:prstGeom>
          <a:noFill/>
        </p:spPr>
        <p:txBody>
          <a:bodyPr wrap="square" lIns="0" tIns="0" rIns="0" bIns="0" anchor="t">
            <a:spAutoFit/>
          </a:bodyPr>
          <a:lstStyle/>
          <a:p>
            <a:pPr algn="l"/>
            <a:r>
              <a:rPr sz="1000" b="1" i="0" spc="300">
                <a:solidFill>
                  <a:srgbClr val="FEDF01"/>
                </a:solidFill>
                <a:latin typeface="Calibri"/>
              </a:rPr>
              <a:t>COMPLIANCE SQUAD</a:t>
            </a:r>
          </a:p>
        </p:txBody>
      </p:sp>
      <p:sp>
        <p:nvSpPr>
          <p:cNvPr id="29" name="TextBox 28"/>
          <p:cNvSpPr txBox="1"/>
          <p:nvPr/>
        </p:nvSpPr>
        <p:spPr>
          <a:xfrm>
            <a:off x="640080" y="2340864"/>
            <a:ext cx="3017520" cy="320040"/>
          </a:xfrm>
          <a:prstGeom prst="rect">
            <a:avLst/>
          </a:prstGeom>
          <a:noFill/>
        </p:spPr>
        <p:txBody>
          <a:bodyPr wrap="square" lIns="0" tIns="0" rIns="0" bIns="0" anchor="t">
            <a:spAutoFit/>
          </a:bodyPr>
          <a:lstStyle/>
          <a:p>
            <a:pPr algn="l"/>
            <a:r>
              <a:rPr sz="1500" b="1" i="0">
                <a:solidFill>
                  <a:srgbClr val="FFFFFF"/>
                </a:solidFill>
                <a:latin typeface="Georgia"/>
              </a:rPr>
              <a:t>Zephyr Assurance</a:t>
            </a:r>
          </a:p>
        </p:txBody>
      </p:sp>
      <p:sp>
        <p:nvSpPr>
          <p:cNvPr id="30" name="TextBox 29"/>
          <p:cNvSpPr txBox="1"/>
          <p:nvPr/>
        </p:nvSpPr>
        <p:spPr>
          <a:xfrm>
            <a:off x="640080" y="2670048"/>
            <a:ext cx="3017520" cy="201168"/>
          </a:xfrm>
          <a:prstGeom prst="rect">
            <a:avLst/>
          </a:prstGeom>
          <a:noFill/>
        </p:spPr>
        <p:txBody>
          <a:bodyPr wrap="square" lIns="0" tIns="0" rIns="0" bIns="0" anchor="t">
            <a:spAutoFit/>
          </a:bodyPr>
          <a:lstStyle/>
          <a:p>
            <a:pPr algn="l"/>
            <a:r>
              <a:rPr sz="1000" b="0" i="1">
                <a:solidFill>
                  <a:srgbClr val="C9D6EE"/>
                </a:solidFill>
                <a:latin typeface="Calibri"/>
              </a:rPr>
              <a:t>Automated compliance reporting &amp; readiness</a:t>
            </a:r>
          </a:p>
        </p:txBody>
      </p:sp>
      <p:sp>
        <p:nvSpPr>
          <p:cNvPr id="31" name="TextBox 30"/>
          <p:cNvSpPr txBox="1"/>
          <p:nvPr/>
        </p:nvSpPr>
        <p:spPr>
          <a:xfrm>
            <a:off x="640080" y="2944368"/>
            <a:ext cx="3017520" cy="201168"/>
          </a:xfrm>
          <a:prstGeom prst="rect">
            <a:avLst/>
          </a:prstGeom>
          <a:noFill/>
        </p:spPr>
        <p:txBody>
          <a:bodyPr wrap="square" lIns="0" tIns="0" rIns="0" bIns="0" anchor="t">
            <a:spAutoFit/>
          </a:bodyPr>
          <a:lstStyle/>
          <a:p>
            <a:pPr algn="l"/>
            <a:r>
              <a:rPr sz="800" b="1" i="0" spc="200">
                <a:solidFill>
                  <a:srgbClr val="FEDF01"/>
                </a:solidFill>
                <a:latin typeface="Calibri"/>
              </a:rPr>
              <a:t>OWNS</a:t>
            </a:r>
          </a:p>
        </p:txBody>
      </p:sp>
      <p:sp>
        <p:nvSpPr>
          <p:cNvPr id="32" name="TextBox 31"/>
          <p:cNvSpPr txBox="1"/>
          <p:nvPr/>
        </p:nvSpPr>
        <p:spPr>
          <a:xfrm>
            <a:off x="731520" y="3154680"/>
            <a:ext cx="2926080" cy="237744"/>
          </a:xfrm>
          <a:prstGeom prst="rect">
            <a:avLst/>
          </a:prstGeom>
          <a:noFill/>
        </p:spPr>
        <p:txBody>
          <a:bodyPr wrap="square" lIns="0" tIns="0" rIns="0" bIns="0" anchor="t">
            <a:spAutoFit/>
          </a:bodyPr>
          <a:lstStyle/>
          <a:p>
            <a:pPr algn="l"/>
            <a:r>
              <a:rPr sz="950" b="0" i="0">
                <a:solidFill>
                  <a:srgbClr val="FFFFFF"/>
                </a:solidFill>
                <a:latin typeface="Calibri"/>
              </a:rPr>
              <a:t>• OSFI E-21 / B-13 / PCI / SOC 2 as code</a:t>
            </a:r>
          </a:p>
        </p:txBody>
      </p:sp>
      <p:sp>
        <p:nvSpPr>
          <p:cNvPr id="33" name="TextBox 32"/>
          <p:cNvSpPr txBox="1"/>
          <p:nvPr/>
        </p:nvSpPr>
        <p:spPr>
          <a:xfrm>
            <a:off x="731520" y="3410712"/>
            <a:ext cx="2926080" cy="237744"/>
          </a:xfrm>
          <a:prstGeom prst="rect">
            <a:avLst/>
          </a:prstGeom>
          <a:noFill/>
        </p:spPr>
        <p:txBody>
          <a:bodyPr wrap="square" lIns="0" tIns="0" rIns="0" bIns="0" anchor="t">
            <a:spAutoFit/>
          </a:bodyPr>
          <a:lstStyle/>
          <a:p>
            <a:pPr algn="l"/>
            <a:r>
              <a:rPr sz="950" b="0" i="0">
                <a:solidFill>
                  <a:srgbClr val="FFFFFF"/>
                </a:solidFill>
                <a:latin typeface="Calibri"/>
              </a:rPr>
              <a:t>• Continuous evidence agents</a:t>
            </a:r>
          </a:p>
        </p:txBody>
      </p:sp>
      <p:sp>
        <p:nvSpPr>
          <p:cNvPr id="34" name="TextBox 33"/>
          <p:cNvSpPr txBox="1"/>
          <p:nvPr/>
        </p:nvSpPr>
        <p:spPr>
          <a:xfrm>
            <a:off x="731520" y="3666744"/>
            <a:ext cx="2926080" cy="237744"/>
          </a:xfrm>
          <a:prstGeom prst="rect">
            <a:avLst/>
          </a:prstGeom>
          <a:noFill/>
        </p:spPr>
        <p:txBody>
          <a:bodyPr wrap="square" lIns="0" tIns="0" rIns="0" bIns="0" anchor="t">
            <a:spAutoFit/>
          </a:bodyPr>
          <a:lstStyle/>
          <a:p>
            <a:pPr algn="l"/>
            <a:r>
              <a:rPr sz="950" b="0" i="0">
                <a:solidFill>
                  <a:srgbClr val="FFFFFF"/>
                </a:solidFill>
                <a:latin typeface="Calibri"/>
              </a:rPr>
              <a:t>• Audit-readiness dashboards</a:t>
            </a:r>
          </a:p>
        </p:txBody>
      </p:sp>
      <p:sp>
        <p:nvSpPr>
          <p:cNvPr id="35" name="Rectangle 34"/>
          <p:cNvSpPr/>
          <p:nvPr/>
        </p:nvSpPr>
        <p:spPr>
          <a:xfrm>
            <a:off x="8442655" y="1920240"/>
            <a:ext cx="329184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442655" y="1920240"/>
            <a:ext cx="3291840"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25535" y="2103120"/>
            <a:ext cx="3017520" cy="201168"/>
          </a:xfrm>
          <a:prstGeom prst="rect">
            <a:avLst/>
          </a:prstGeom>
          <a:noFill/>
        </p:spPr>
        <p:txBody>
          <a:bodyPr wrap="square" lIns="0" tIns="0" rIns="0" bIns="0" anchor="t">
            <a:spAutoFit/>
          </a:bodyPr>
          <a:lstStyle/>
          <a:p>
            <a:pPr algn="l"/>
            <a:r>
              <a:rPr sz="1000" b="1" i="0" spc="200">
                <a:solidFill>
                  <a:srgbClr val="003DA5"/>
                </a:solidFill>
                <a:latin typeface="Calibri"/>
              </a:rPr>
              <a:t>PODS — COMPLIANCE OUTCOMES</a:t>
            </a:r>
          </a:p>
        </p:txBody>
      </p:sp>
      <p:sp>
        <p:nvSpPr>
          <p:cNvPr id="38" name="TextBox 37"/>
          <p:cNvSpPr txBox="1"/>
          <p:nvPr/>
        </p:nvSpPr>
        <p:spPr>
          <a:xfrm>
            <a:off x="8625535" y="2340864"/>
            <a:ext cx="3017520" cy="320040"/>
          </a:xfrm>
          <a:prstGeom prst="rect">
            <a:avLst/>
          </a:prstGeom>
          <a:noFill/>
        </p:spPr>
        <p:txBody>
          <a:bodyPr wrap="square" lIns="0" tIns="0" rIns="0" bIns="0" anchor="t">
            <a:spAutoFit/>
          </a:bodyPr>
          <a:lstStyle/>
          <a:p>
            <a:pPr algn="l"/>
            <a:r>
              <a:rPr sz="1500" b="1" i="0">
                <a:solidFill>
                  <a:srgbClr val="001F5C"/>
                </a:solidFill>
                <a:latin typeface="Georgia"/>
              </a:rPr>
              <a:t>Audit-ready by default</a:t>
            </a:r>
          </a:p>
        </p:txBody>
      </p:sp>
      <p:sp>
        <p:nvSpPr>
          <p:cNvPr id="39" name="TextBox 38"/>
          <p:cNvSpPr txBox="1"/>
          <p:nvPr/>
        </p:nvSpPr>
        <p:spPr>
          <a:xfrm>
            <a:off x="8716975" y="2761488"/>
            <a:ext cx="2926080" cy="274320"/>
          </a:xfrm>
          <a:prstGeom prst="rect">
            <a:avLst/>
          </a:prstGeom>
          <a:noFill/>
        </p:spPr>
        <p:txBody>
          <a:bodyPr wrap="square" lIns="0" tIns="0" rIns="0" bIns="0" anchor="t">
            <a:spAutoFit/>
          </a:bodyPr>
          <a:lstStyle/>
          <a:p>
            <a:pPr algn="l"/>
            <a:r>
              <a:rPr sz="1000" b="0" i="0">
                <a:solidFill>
                  <a:srgbClr val="1E293B"/>
                </a:solidFill>
                <a:latin typeface="Calibri"/>
              </a:rPr>
              <a:t>• Inherit controls via Zephyr modules</a:t>
            </a:r>
          </a:p>
        </p:txBody>
      </p:sp>
      <p:sp>
        <p:nvSpPr>
          <p:cNvPr id="40" name="TextBox 39"/>
          <p:cNvSpPr txBox="1"/>
          <p:nvPr/>
        </p:nvSpPr>
        <p:spPr>
          <a:xfrm>
            <a:off x="8716975" y="3054096"/>
            <a:ext cx="2926080" cy="274320"/>
          </a:xfrm>
          <a:prstGeom prst="rect">
            <a:avLst/>
          </a:prstGeom>
          <a:noFill/>
        </p:spPr>
        <p:txBody>
          <a:bodyPr wrap="square" lIns="0" tIns="0" rIns="0" bIns="0" anchor="t">
            <a:spAutoFit/>
          </a:bodyPr>
          <a:lstStyle/>
          <a:p>
            <a:pPr algn="l"/>
            <a:r>
              <a:rPr sz="1000" b="0" i="0">
                <a:solidFill>
                  <a:srgbClr val="1E293B"/>
                </a:solidFill>
                <a:latin typeface="Calibri"/>
              </a:rPr>
              <a:t>• Evidence auto-generated from running infra</a:t>
            </a:r>
          </a:p>
        </p:txBody>
      </p:sp>
      <p:sp>
        <p:nvSpPr>
          <p:cNvPr id="41" name="TextBox 40"/>
          <p:cNvSpPr txBox="1"/>
          <p:nvPr/>
        </p:nvSpPr>
        <p:spPr>
          <a:xfrm>
            <a:off x="8716975" y="3346704"/>
            <a:ext cx="2926080" cy="274320"/>
          </a:xfrm>
          <a:prstGeom prst="rect">
            <a:avLst/>
          </a:prstGeom>
          <a:noFill/>
        </p:spPr>
        <p:txBody>
          <a:bodyPr wrap="square" lIns="0" tIns="0" rIns="0" bIns="0" anchor="t">
            <a:spAutoFit/>
          </a:bodyPr>
          <a:lstStyle/>
          <a:p>
            <a:pPr algn="l"/>
            <a:r>
              <a:rPr sz="1000" b="0" i="0">
                <a:solidFill>
                  <a:srgbClr val="1E293B"/>
                </a:solidFill>
                <a:latin typeface="Calibri"/>
              </a:rPr>
              <a:t>• Drift / exceptions visible in pod dashboard</a:t>
            </a:r>
          </a:p>
        </p:txBody>
      </p:sp>
      <p:sp>
        <p:nvSpPr>
          <p:cNvPr id="42" name="TextBox 41"/>
          <p:cNvSpPr txBox="1"/>
          <p:nvPr/>
        </p:nvSpPr>
        <p:spPr>
          <a:xfrm>
            <a:off x="8716975" y="3639312"/>
            <a:ext cx="2926080" cy="274320"/>
          </a:xfrm>
          <a:prstGeom prst="rect">
            <a:avLst/>
          </a:prstGeom>
          <a:noFill/>
        </p:spPr>
        <p:txBody>
          <a:bodyPr wrap="square" lIns="0" tIns="0" rIns="0" bIns="0" anchor="t">
            <a:spAutoFit/>
          </a:bodyPr>
          <a:lstStyle/>
          <a:p>
            <a:pPr algn="l"/>
            <a:r>
              <a:rPr sz="1000" b="0" i="0">
                <a:solidFill>
                  <a:srgbClr val="1E293B"/>
                </a:solidFill>
                <a:latin typeface="Calibri"/>
              </a:rPr>
              <a:t>• Audit prep: hours, not weeks</a:t>
            </a:r>
          </a:p>
        </p:txBody>
      </p:sp>
      <p:cxnSp>
        <p:nvCxnSpPr>
          <p:cNvPr id="43" name="Connector 42"/>
          <p:cNvCxnSpPr/>
          <p:nvPr/>
        </p:nvCxnSpPr>
        <p:spPr>
          <a:xfrm>
            <a:off x="3794759" y="2560320"/>
            <a:ext cx="1066648" cy="0"/>
          </a:xfrm>
          <a:prstGeom prst="line">
            <a:avLst/>
          </a:prstGeom>
          <a:ln w="317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794759" y="2231136"/>
            <a:ext cx="1066647" cy="201168"/>
          </a:xfrm>
          <a:prstGeom prst="rect">
            <a:avLst/>
          </a:prstGeom>
          <a:noFill/>
        </p:spPr>
        <p:txBody>
          <a:bodyPr wrap="square" lIns="0" tIns="0" rIns="0" bIns="0" anchor="t">
            <a:spAutoFit/>
          </a:bodyPr>
          <a:lstStyle/>
          <a:p>
            <a:pPr algn="ctr"/>
            <a:r>
              <a:rPr sz="900" b="1" i="0" spc="200">
                <a:solidFill>
                  <a:srgbClr val="001F5C"/>
                </a:solidFill>
                <a:latin typeface="Calibri"/>
              </a:rPr>
              <a:t>PROVIDES →</a:t>
            </a:r>
          </a:p>
        </p:txBody>
      </p:sp>
      <p:sp>
        <p:nvSpPr>
          <p:cNvPr id="45" name="TextBox 44"/>
          <p:cNvSpPr txBox="1"/>
          <p:nvPr/>
        </p:nvSpPr>
        <p:spPr>
          <a:xfrm>
            <a:off x="3794759" y="2606039"/>
            <a:ext cx="1066647" cy="201168"/>
          </a:xfrm>
          <a:prstGeom prst="rect">
            <a:avLst/>
          </a:prstGeom>
          <a:noFill/>
        </p:spPr>
        <p:txBody>
          <a:bodyPr wrap="square" lIns="0" tIns="0" rIns="0" bIns="0" anchor="t">
            <a:spAutoFit/>
          </a:bodyPr>
          <a:lstStyle/>
          <a:p>
            <a:pPr algn="ctr"/>
            <a:r>
              <a:rPr sz="800" b="0" i="1">
                <a:solidFill>
                  <a:srgbClr val="1E293B"/>
                </a:solidFill>
                <a:latin typeface="Calibri"/>
              </a:rPr>
              <a:t>Policies · Evidence · Dashboards</a:t>
            </a:r>
          </a:p>
        </p:txBody>
      </p:sp>
      <p:cxnSp>
        <p:nvCxnSpPr>
          <p:cNvPr id="46" name="Connector 45"/>
          <p:cNvCxnSpPr/>
          <p:nvPr/>
        </p:nvCxnSpPr>
        <p:spPr>
          <a:xfrm flipH="1">
            <a:off x="3794759" y="3474720"/>
            <a:ext cx="1066648" cy="0"/>
          </a:xfrm>
          <a:prstGeom prst="line">
            <a:avLst/>
          </a:prstGeom>
          <a:ln w="317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794759" y="3145536"/>
            <a:ext cx="1066647" cy="201168"/>
          </a:xfrm>
          <a:prstGeom prst="rect">
            <a:avLst/>
          </a:prstGeom>
          <a:noFill/>
        </p:spPr>
        <p:txBody>
          <a:bodyPr wrap="square" lIns="0" tIns="0" rIns="0" bIns="0" anchor="t">
            <a:spAutoFit/>
          </a:bodyPr>
          <a:lstStyle/>
          <a:p>
            <a:pPr algn="ctr"/>
            <a:r>
              <a:rPr sz="900" b="1" i="0" spc="200">
                <a:solidFill>
                  <a:srgbClr val="001F5C"/>
                </a:solidFill>
                <a:latin typeface="Calibri"/>
              </a:rPr>
              <a:t>← EMITS</a:t>
            </a:r>
          </a:p>
        </p:txBody>
      </p:sp>
      <p:sp>
        <p:nvSpPr>
          <p:cNvPr id="48" name="TextBox 47"/>
          <p:cNvSpPr txBox="1"/>
          <p:nvPr/>
        </p:nvSpPr>
        <p:spPr>
          <a:xfrm>
            <a:off x="3794759" y="3520439"/>
            <a:ext cx="1066647" cy="201168"/>
          </a:xfrm>
          <a:prstGeom prst="rect">
            <a:avLst/>
          </a:prstGeom>
          <a:noFill/>
        </p:spPr>
        <p:txBody>
          <a:bodyPr wrap="square" lIns="0" tIns="0" rIns="0" bIns="0" anchor="t">
            <a:spAutoFit/>
          </a:bodyPr>
          <a:lstStyle/>
          <a:p>
            <a:pPr algn="ctr"/>
            <a:r>
              <a:rPr sz="800" b="0" i="1">
                <a:solidFill>
                  <a:srgbClr val="1E293B"/>
                </a:solidFill>
                <a:latin typeface="Calibri"/>
              </a:rPr>
              <a:t>Control state · Exceptions · Drift</a:t>
            </a:r>
          </a:p>
        </p:txBody>
      </p:sp>
      <p:sp>
        <p:nvSpPr>
          <p:cNvPr id="49" name="Rectangle 48"/>
          <p:cNvSpPr/>
          <p:nvPr/>
        </p:nvSpPr>
        <p:spPr>
          <a:xfrm>
            <a:off x="457200" y="4297680"/>
            <a:ext cx="3291840" cy="2194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57200" y="4297680"/>
            <a:ext cx="329184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57200" y="4297680"/>
            <a:ext cx="73152" cy="2194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0080" y="4480560"/>
            <a:ext cx="3017520" cy="201168"/>
          </a:xfrm>
          <a:prstGeom prst="rect">
            <a:avLst/>
          </a:prstGeom>
          <a:noFill/>
        </p:spPr>
        <p:txBody>
          <a:bodyPr wrap="square" lIns="0" tIns="0" rIns="0" bIns="0" anchor="t">
            <a:spAutoFit/>
          </a:bodyPr>
          <a:lstStyle/>
          <a:p>
            <a:pPr algn="l"/>
            <a:r>
              <a:rPr sz="1000" b="1" i="0" spc="300">
                <a:solidFill>
                  <a:srgbClr val="FEDF01"/>
                </a:solidFill>
                <a:latin typeface="Calibri"/>
              </a:rPr>
              <a:t>OPTIMIZATION SQUAD</a:t>
            </a:r>
          </a:p>
        </p:txBody>
      </p:sp>
      <p:sp>
        <p:nvSpPr>
          <p:cNvPr id="53" name="TextBox 52"/>
          <p:cNvSpPr txBox="1"/>
          <p:nvPr/>
        </p:nvSpPr>
        <p:spPr>
          <a:xfrm>
            <a:off x="640080" y="4718304"/>
            <a:ext cx="3017520" cy="320040"/>
          </a:xfrm>
          <a:prstGeom prst="rect">
            <a:avLst/>
          </a:prstGeom>
          <a:noFill/>
        </p:spPr>
        <p:txBody>
          <a:bodyPr wrap="square" lIns="0" tIns="0" rIns="0" bIns="0" anchor="t">
            <a:spAutoFit/>
          </a:bodyPr>
          <a:lstStyle/>
          <a:p>
            <a:pPr algn="l"/>
            <a:r>
              <a:rPr sz="1500" b="1" i="0">
                <a:solidFill>
                  <a:srgbClr val="FFFFFF"/>
                </a:solidFill>
                <a:latin typeface="Georgia"/>
              </a:rPr>
              <a:t>Zephyr Optimize</a:t>
            </a:r>
          </a:p>
        </p:txBody>
      </p:sp>
      <p:sp>
        <p:nvSpPr>
          <p:cNvPr id="54" name="TextBox 53"/>
          <p:cNvSpPr txBox="1"/>
          <p:nvPr/>
        </p:nvSpPr>
        <p:spPr>
          <a:xfrm>
            <a:off x="640080" y="5047488"/>
            <a:ext cx="3017520" cy="201168"/>
          </a:xfrm>
          <a:prstGeom prst="rect">
            <a:avLst/>
          </a:prstGeom>
          <a:noFill/>
        </p:spPr>
        <p:txBody>
          <a:bodyPr wrap="square" lIns="0" tIns="0" rIns="0" bIns="0" anchor="t">
            <a:spAutoFit/>
          </a:bodyPr>
          <a:lstStyle/>
          <a:p>
            <a:pPr algn="l"/>
            <a:r>
              <a:rPr sz="1000" b="0" i="1">
                <a:solidFill>
                  <a:srgbClr val="C9D6EE"/>
                </a:solidFill>
                <a:latin typeface="Calibri"/>
              </a:rPr>
              <a:t>Capacity · Home-of-Best-Fit · Migration</a:t>
            </a:r>
          </a:p>
        </p:txBody>
      </p:sp>
      <p:sp>
        <p:nvSpPr>
          <p:cNvPr id="55" name="TextBox 54"/>
          <p:cNvSpPr txBox="1"/>
          <p:nvPr/>
        </p:nvSpPr>
        <p:spPr>
          <a:xfrm>
            <a:off x="640080" y="5321808"/>
            <a:ext cx="3017520" cy="201168"/>
          </a:xfrm>
          <a:prstGeom prst="rect">
            <a:avLst/>
          </a:prstGeom>
          <a:noFill/>
        </p:spPr>
        <p:txBody>
          <a:bodyPr wrap="square" lIns="0" tIns="0" rIns="0" bIns="0" anchor="t">
            <a:spAutoFit/>
          </a:bodyPr>
          <a:lstStyle/>
          <a:p>
            <a:pPr algn="l"/>
            <a:r>
              <a:rPr sz="800" b="1" i="0" spc="200">
                <a:solidFill>
                  <a:srgbClr val="FEDF01"/>
                </a:solidFill>
                <a:latin typeface="Calibri"/>
              </a:rPr>
              <a:t>OWNS</a:t>
            </a:r>
          </a:p>
        </p:txBody>
      </p:sp>
      <p:sp>
        <p:nvSpPr>
          <p:cNvPr id="56" name="TextBox 55"/>
          <p:cNvSpPr txBox="1"/>
          <p:nvPr/>
        </p:nvSpPr>
        <p:spPr>
          <a:xfrm>
            <a:off x="731520" y="5532120"/>
            <a:ext cx="2926080" cy="237744"/>
          </a:xfrm>
          <a:prstGeom prst="rect">
            <a:avLst/>
          </a:prstGeom>
          <a:noFill/>
        </p:spPr>
        <p:txBody>
          <a:bodyPr wrap="square" lIns="0" tIns="0" rIns="0" bIns="0" anchor="t">
            <a:spAutoFit/>
          </a:bodyPr>
          <a:lstStyle/>
          <a:p>
            <a:pPr algn="l"/>
            <a:r>
              <a:rPr sz="950" b="0" i="0">
                <a:solidFill>
                  <a:srgbClr val="FFFFFF"/>
                </a:solidFill>
                <a:latin typeface="Calibri"/>
              </a:rPr>
              <a:t>• Capacity forecasts · headroom</a:t>
            </a:r>
          </a:p>
        </p:txBody>
      </p:sp>
      <p:sp>
        <p:nvSpPr>
          <p:cNvPr id="57" name="TextBox 56"/>
          <p:cNvSpPr txBox="1"/>
          <p:nvPr/>
        </p:nvSpPr>
        <p:spPr>
          <a:xfrm>
            <a:off x="731520" y="5788152"/>
            <a:ext cx="2926080" cy="237744"/>
          </a:xfrm>
          <a:prstGeom prst="rect">
            <a:avLst/>
          </a:prstGeom>
          <a:noFill/>
        </p:spPr>
        <p:txBody>
          <a:bodyPr wrap="square" lIns="0" tIns="0" rIns="0" bIns="0" anchor="t">
            <a:spAutoFit/>
          </a:bodyPr>
          <a:lstStyle/>
          <a:p>
            <a:pPr algn="l"/>
            <a:r>
              <a:rPr sz="950" b="0" i="0">
                <a:solidFill>
                  <a:srgbClr val="FFFFFF"/>
                </a:solidFill>
                <a:latin typeface="Calibri"/>
              </a:rPr>
              <a:t>• Home-of-Best-Fit advisor</a:t>
            </a:r>
          </a:p>
        </p:txBody>
      </p:sp>
      <p:sp>
        <p:nvSpPr>
          <p:cNvPr id="58" name="TextBox 57"/>
          <p:cNvSpPr txBox="1"/>
          <p:nvPr/>
        </p:nvSpPr>
        <p:spPr>
          <a:xfrm>
            <a:off x="731520" y="6044184"/>
            <a:ext cx="2926080" cy="237744"/>
          </a:xfrm>
          <a:prstGeom prst="rect">
            <a:avLst/>
          </a:prstGeom>
          <a:noFill/>
        </p:spPr>
        <p:txBody>
          <a:bodyPr wrap="square" lIns="0" tIns="0" rIns="0" bIns="0" anchor="t">
            <a:spAutoFit/>
          </a:bodyPr>
          <a:lstStyle/>
          <a:p>
            <a:pPr algn="l"/>
            <a:r>
              <a:rPr sz="950" b="0" i="0">
                <a:solidFill>
                  <a:srgbClr val="FFFFFF"/>
                </a:solidFill>
                <a:latin typeface="Calibri"/>
              </a:rPr>
              <a:t>• Migration tooling · rightsizing</a:t>
            </a:r>
          </a:p>
        </p:txBody>
      </p:sp>
      <p:sp>
        <p:nvSpPr>
          <p:cNvPr id="59" name="Rectangle 58"/>
          <p:cNvSpPr/>
          <p:nvPr/>
        </p:nvSpPr>
        <p:spPr>
          <a:xfrm>
            <a:off x="8442655" y="4297680"/>
            <a:ext cx="329184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442655" y="4297680"/>
            <a:ext cx="3291840"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625535" y="4480560"/>
            <a:ext cx="3017520" cy="201168"/>
          </a:xfrm>
          <a:prstGeom prst="rect">
            <a:avLst/>
          </a:prstGeom>
          <a:noFill/>
        </p:spPr>
        <p:txBody>
          <a:bodyPr wrap="square" lIns="0" tIns="0" rIns="0" bIns="0" anchor="t">
            <a:spAutoFit/>
          </a:bodyPr>
          <a:lstStyle/>
          <a:p>
            <a:pPr algn="l"/>
            <a:r>
              <a:rPr sz="1000" b="1" i="0" spc="200">
                <a:solidFill>
                  <a:srgbClr val="003DA5"/>
                </a:solidFill>
                <a:latin typeface="Calibri"/>
              </a:rPr>
              <a:t>PODS — OPTIMIZATION OUTCOMES</a:t>
            </a:r>
          </a:p>
        </p:txBody>
      </p:sp>
      <p:sp>
        <p:nvSpPr>
          <p:cNvPr id="62" name="TextBox 61"/>
          <p:cNvSpPr txBox="1"/>
          <p:nvPr/>
        </p:nvSpPr>
        <p:spPr>
          <a:xfrm>
            <a:off x="8625535" y="4718304"/>
            <a:ext cx="3017520" cy="320040"/>
          </a:xfrm>
          <a:prstGeom prst="rect">
            <a:avLst/>
          </a:prstGeom>
          <a:noFill/>
        </p:spPr>
        <p:txBody>
          <a:bodyPr wrap="square" lIns="0" tIns="0" rIns="0" bIns="0" anchor="t">
            <a:spAutoFit/>
          </a:bodyPr>
          <a:lstStyle/>
          <a:p>
            <a:pPr algn="l"/>
            <a:r>
              <a:rPr sz="1500" b="1" i="0">
                <a:solidFill>
                  <a:srgbClr val="001F5C"/>
                </a:solidFill>
                <a:latin typeface="Georgia"/>
              </a:rPr>
              <a:t>Rightsized by default</a:t>
            </a:r>
          </a:p>
        </p:txBody>
      </p:sp>
      <p:sp>
        <p:nvSpPr>
          <p:cNvPr id="63" name="TextBox 62"/>
          <p:cNvSpPr txBox="1"/>
          <p:nvPr/>
        </p:nvSpPr>
        <p:spPr>
          <a:xfrm>
            <a:off x="8716975" y="5138928"/>
            <a:ext cx="2926080" cy="274320"/>
          </a:xfrm>
          <a:prstGeom prst="rect">
            <a:avLst/>
          </a:prstGeom>
          <a:noFill/>
        </p:spPr>
        <p:txBody>
          <a:bodyPr wrap="square" lIns="0" tIns="0" rIns="0" bIns="0" anchor="t">
            <a:spAutoFit/>
          </a:bodyPr>
          <a:lstStyle/>
          <a:p>
            <a:pPr algn="l"/>
            <a:r>
              <a:rPr sz="1000" b="0" i="0">
                <a:solidFill>
                  <a:srgbClr val="1E293B"/>
                </a:solidFill>
                <a:latin typeface="Calibri"/>
              </a:rPr>
              <a:t>• Capacity headroom in pod dashboard</a:t>
            </a:r>
          </a:p>
        </p:txBody>
      </p:sp>
      <p:sp>
        <p:nvSpPr>
          <p:cNvPr id="64" name="TextBox 63"/>
          <p:cNvSpPr txBox="1"/>
          <p:nvPr/>
        </p:nvSpPr>
        <p:spPr>
          <a:xfrm>
            <a:off x="8716975" y="5431536"/>
            <a:ext cx="2926080" cy="274320"/>
          </a:xfrm>
          <a:prstGeom prst="rect">
            <a:avLst/>
          </a:prstGeom>
          <a:noFill/>
        </p:spPr>
        <p:txBody>
          <a:bodyPr wrap="square" lIns="0" tIns="0" rIns="0" bIns="0" anchor="t">
            <a:spAutoFit/>
          </a:bodyPr>
          <a:lstStyle/>
          <a:p>
            <a:pPr algn="l"/>
            <a:r>
              <a:rPr sz="1000" b="0" i="0">
                <a:solidFill>
                  <a:srgbClr val="1E293B"/>
                </a:solidFill>
                <a:latin typeface="Calibri"/>
              </a:rPr>
              <a:t>• Rightsizing PRs land in pod IaC repo</a:t>
            </a:r>
          </a:p>
        </p:txBody>
      </p:sp>
      <p:sp>
        <p:nvSpPr>
          <p:cNvPr id="65" name="TextBox 64"/>
          <p:cNvSpPr txBox="1"/>
          <p:nvPr/>
        </p:nvSpPr>
        <p:spPr>
          <a:xfrm>
            <a:off x="8716975" y="5724144"/>
            <a:ext cx="2926080" cy="274320"/>
          </a:xfrm>
          <a:prstGeom prst="rect">
            <a:avLst/>
          </a:prstGeom>
          <a:noFill/>
        </p:spPr>
        <p:txBody>
          <a:bodyPr wrap="square" lIns="0" tIns="0" rIns="0" bIns="0" anchor="t">
            <a:spAutoFit/>
          </a:bodyPr>
          <a:lstStyle/>
          <a:p>
            <a:pPr algn="l"/>
            <a:r>
              <a:rPr sz="1000" b="0" i="0">
                <a:solidFill>
                  <a:srgbClr val="1E293B"/>
                </a:solidFill>
                <a:latin typeface="Calibri"/>
              </a:rPr>
              <a:t>• Migration tooling on-demand</a:t>
            </a:r>
          </a:p>
        </p:txBody>
      </p:sp>
      <p:sp>
        <p:nvSpPr>
          <p:cNvPr id="66" name="TextBox 65"/>
          <p:cNvSpPr txBox="1"/>
          <p:nvPr/>
        </p:nvSpPr>
        <p:spPr>
          <a:xfrm>
            <a:off x="8716975" y="6016752"/>
            <a:ext cx="2926080" cy="274320"/>
          </a:xfrm>
          <a:prstGeom prst="rect">
            <a:avLst/>
          </a:prstGeom>
          <a:noFill/>
        </p:spPr>
        <p:txBody>
          <a:bodyPr wrap="square" lIns="0" tIns="0" rIns="0" bIns="0" anchor="t">
            <a:spAutoFit/>
          </a:bodyPr>
          <a:lstStyle/>
          <a:p>
            <a:pPr algn="l"/>
            <a:r>
              <a:rPr sz="1000" b="0" i="0">
                <a:solidFill>
                  <a:srgbClr val="1E293B"/>
                </a:solidFill>
                <a:latin typeface="Calibri"/>
              </a:rPr>
              <a:t>• Home-of-Best-Fit guidance per workload</a:t>
            </a:r>
          </a:p>
        </p:txBody>
      </p:sp>
      <p:cxnSp>
        <p:nvCxnSpPr>
          <p:cNvPr id="67" name="Connector 66"/>
          <p:cNvCxnSpPr/>
          <p:nvPr/>
        </p:nvCxnSpPr>
        <p:spPr>
          <a:xfrm>
            <a:off x="3794759" y="4937760"/>
            <a:ext cx="1066648" cy="0"/>
          </a:xfrm>
          <a:prstGeom prst="line">
            <a:avLst/>
          </a:prstGeom>
          <a:ln w="317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794759" y="4608576"/>
            <a:ext cx="1066647" cy="201168"/>
          </a:xfrm>
          <a:prstGeom prst="rect">
            <a:avLst/>
          </a:prstGeom>
          <a:noFill/>
        </p:spPr>
        <p:txBody>
          <a:bodyPr wrap="square" lIns="0" tIns="0" rIns="0" bIns="0" anchor="t">
            <a:spAutoFit/>
          </a:bodyPr>
          <a:lstStyle/>
          <a:p>
            <a:pPr algn="ctr"/>
            <a:r>
              <a:rPr sz="900" b="1" i="0" spc="200">
                <a:solidFill>
                  <a:srgbClr val="001F5C"/>
                </a:solidFill>
                <a:latin typeface="Calibri"/>
              </a:rPr>
              <a:t>PROVIDES →</a:t>
            </a:r>
          </a:p>
        </p:txBody>
      </p:sp>
      <p:sp>
        <p:nvSpPr>
          <p:cNvPr id="69" name="TextBox 68"/>
          <p:cNvSpPr txBox="1"/>
          <p:nvPr/>
        </p:nvSpPr>
        <p:spPr>
          <a:xfrm>
            <a:off x="3794759" y="4983480"/>
            <a:ext cx="1066647" cy="201168"/>
          </a:xfrm>
          <a:prstGeom prst="rect">
            <a:avLst/>
          </a:prstGeom>
          <a:noFill/>
        </p:spPr>
        <p:txBody>
          <a:bodyPr wrap="square" lIns="0" tIns="0" rIns="0" bIns="0" anchor="t">
            <a:spAutoFit/>
          </a:bodyPr>
          <a:lstStyle/>
          <a:p>
            <a:pPr algn="ctr"/>
            <a:r>
              <a:rPr sz="800" b="0" i="1">
                <a:solidFill>
                  <a:srgbClr val="1E293B"/>
                </a:solidFill>
                <a:latin typeface="Calibri"/>
              </a:rPr>
              <a:t>Forecasts · Rightsizing PRs · Migration</a:t>
            </a:r>
          </a:p>
        </p:txBody>
      </p:sp>
      <p:cxnSp>
        <p:nvCxnSpPr>
          <p:cNvPr id="70" name="Connector 69"/>
          <p:cNvCxnSpPr/>
          <p:nvPr/>
        </p:nvCxnSpPr>
        <p:spPr>
          <a:xfrm flipH="1">
            <a:off x="3794759" y="5852160"/>
            <a:ext cx="1066648" cy="0"/>
          </a:xfrm>
          <a:prstGeom prst="line">
            <a:avLst/>
          </a:prstGeom>
          <a:ln w="317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3794759" y="5522976"/>
            <a:ext cx="1066647" cy="201168"/>
          </a:xfrm>
          <a:prstGeom prst="rect">
            <a:avLst/>
          </a:prstGeom>
          <a:noFill/>
        </p:spPr>
        <p:txBody>
          <a:bodyPr wrap="square" lIns="0" tIns="0" rIns="0" bIns="0" anchor="t">
            <a:spAutoFit/>
          </a:bodyPr>
          <a:lstStyle/>
          <a:p>
            <a:pPr algn="ctr"/>
            <a:r>
              <a:rPr sz="900" b="1" i="0" spc="200">
                <a:solidFill>
                  <a:srgbClr val="001F5C"/>
                </a:solidFill>
                <a:latin typeface="Calibri"/>
              </a:rPr>
              <a:t>← EMITS</a:t>
            </a:r>
          </a:p>
        </p:txBody>
      </p:sp>
      <p:sp>
        <p:nvSpPr>
          <p:cNvPr id="72" name="TextBox 71"/>
          <p:cNvSpPr txBox="1"/>
          <p:nvPr/>
        </p:nvSpPr>
        <p:spPr>
          <a:xfrm>
            <a:off x="3794759" y="5897880"/>
            <a:ext cx="1066647" cy="201168"/>
          </a:xfrm>
          <a:prstGeom prst="rect">
            <a:avLst/>
          </a:prstGeom>
          <a:noFill/>
        </p:spPr>
        <p:txBody>
          <a:bodyPr wrap="square" lIns="0" tIns="0" rIns="0" bIns="0" anchor="t">
            <a:spAutoFit/>
          </a:bodyPr>
          <a:lstStyle/>
          <a:p>
            <a:pPr algn="ctr"/>
            <a:r>
              <a:rPr sz="800" b="0" i="1">
                <a:solidFill>
                  <a:srgbClr val="1E293B"/>
                </a:solidFill>
                <a:latin typeface="Calibri"/>
              </a:rPr>
              <a:t>Telemetry · Cost · Workload patterns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4  ·  TARGET STATE</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Where this</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lands.</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The full target operating model — peer squads, team topologies, value-stream tribes, what stays vertical, and how Communities of Practice preserve craft.</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Not Spotify. Not status quo. Ours.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TARGET OPERATING MODEL</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One Squad, Full Lifecycle  ·  Peer Squads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Every infrastructure capability is owned by ONE persistent squad that does everything for it. No towers, no tiers — capabilities are peers, consuming each other as services through the Zephyr Control Plane.</a:t>
            </a:r>
            <a:endParaRPr lang="en-US" sz="1300" dirty="0"/>
          </a:p>
        </p:txBody>
      </p:sp>
      <p:sp>
        <p:nvSpPr>
          <p:cNvPr id="8" name="Shape 5"/>
          <p:cNvSpPr/>
          <p:nvPr/>
        </p:nvSpPr>
        <p:spPr>
          <a:xfrm>
            <a:off x="1280160" y="1965960"/>
            <a:ext cx="9601200" cy="960120"/>
          </a:xfrm>
          <a:prstGeom prst="rect">
            <a:avLst/>
          </a:prstGeom>
          <a:solidFill>
            <a:srgbClr val="001F5C"/>
          </a:solidFill>
          <a:ln w="12700">
            <a:solidFill>
              <a:srgbClr val="001F5C"/>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1280160" y="1965960"/>
            <a:ext cx="960120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1554480" y="2130552"/>
            <a:ext cx="5486400" cy="274320"/>
          </a:xfrm>
          <a:prstGeom prst="rect">
            <a:avLst/>
          </a:prstGeom>
          <a:noFill/>
          <a:ln/>
        </p:spPr>
        <p:txBody>
          <a:bodyPr wrap="square" lIns="0" tIns="0" rIns="0" bIns="0" rtlCol="0" anchor="ctr"/>
          <a:lstStyle/>
          <a:p>
            <a:pPr marL="0" indent="0">
              <a:buNone/>
            </a:pPr>
            <a:r>
              <a:rPr lang="en-US" sz="1100" b="1" kern="0" spc="300" dirty="0">
                <a:solidFill>
                  <a:srgbClr val="FEDF01"/>
                </a:solidFill>
                <a:latin typeface="Calibri" pitchFamily="34" charset="0"/>
                <a:ea typeface="Calibri" pitchFamily="34" charset="-122"/>
                <a:cs typeface="Calibri" pitchFamily="34" charset="-120"/>
              </a:rPr>
              <a:t>COMMON PLATFORM CAPABILITIES</a:t>
            </a:r>
            <a:endParaRPr lang="en-US" sz="1100" dirty="0"/>
          </a:p>
        </p:txBody>
      </p:sp>
      <p:sp>
        <p:nvSpPr>
          <p:cNvPr id="11" name="Text 8"/>
          <p:cNvSpPr/>
          <p:nvPr/>
        </p:nvSpPr>
        <p:spPr>
          <a:xfrm>
            <a:off x="1554480" y="2377440"/>
            <a:ext cx="9052560" cy="228600"/>
          </a:xfrm>
          <a:prstGeom prst="rect">
            <a:avLst/>
          </a:prstGeom>
          <a:noFill/>
          <a:ln/>
        </p:spPr>
        <p:txBody>
          <a:bodyPr wrap="square" lIns="0" tIns="0" rIns="0" bIns="0" rtlCol="0" anchor="ctr"/>
          <a:lstStyle/>
          <a:p>
            <a:pPr marL="0" indent="0">
              <a:buNone/>
            </a:pPr>
            <a:r>
              <a:rPr lang="en-US" sz="1050" i="1" dirty="0">
                <a:solidFill>
                  <a:srgbClr val="C9D6EE"/>
                </a:solidFill>
                <a:latin typeface="Calibri" pitchFamily="34" charset="0"/>
                <a:ea typeface="Calibri" pitchFamily="34" charset="-122"/>
                <a:cs typeface="Calibri" pitchFamily="34" charset="-120"/>
              </a:rPr>
              <a:t>Each is itself a squad doing the same five activities for its capability.</a:t>
            </a:r>
            <a:endParaRPr lang="en-US" sz="1050" dirty="0"/>
          </a:p>
        </p:txBody>
      </p:sp>
      <p:sp>
        <p:nvSpPr>
          <p:cNvPr id="12" name="Shape 9"/>
          <p:cNvSpPr/>
          <p:nvPr/>
        </p:nvSpPr>
        <p:spPr>
          <a:xfrm>
            <a:off x="15544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3" name="Shape 10"/>
          <p:cNvSpPr/>
          <p:nvPr/>
        </p:nvSpPr>
        <p:spPr>
          <a:xfrm>
            <a:off x="1554480" y="2633472"/>
            <a:ext cx="1737360" cy="219456"/>
          </a:xfrm>
          <a:prstGeom prst="rect">
            <a:avLst/>
          </a:prstGeom>
          <a:solidFill>
            <a:srgbClr val="FEDF01"/>
          </a:solidFill>
          <a:ln w="12700">
            <a:solidFill>
              <a:srgbClr val="FEDF01"/>
            </a:solidFill>
            <a:prstDash val="solid"/>
          </a:ln>
        </p:spPr>
        <p:txBody>
          <a:bodyPr/>
          <a:lstStyle/>
          <a:p>
            <a:endParaRPr lang="en-US"/>
          </a:p>
        </p:txBody>
      </p:sp>
      <p:sp>
        <p:nvSpPr>
          <p:cNvPr id="14" name="Text 11"/>
          <p:cNvSpPr/>
          <p:nvPr/>
        </p:nvSpPr>
        <p:spPr>
          <a:xfrm>
            <a:off x="1554480" y="2633472"/>
            <a:ext cx="1737360" cy="219456"/>
          </a:xfrm>
          <a:prstGeom prst="rect">
            <a:avLst/>
          </a:prstGeom>
          <a:noFill/>
          <a:ln/>
        </p:spPr>
        <p:txBody>
          <a:bodyPr wrap="square" lIns="0" tIns="0" rIns="0" bIns="0" rtlCol="0" anchor="ctr"/>
          <a:lstStyle/>
          <a:p>
            <a:pPr marL="0" indent="0" algn="ctr">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5" name="Shape 12"/>
          <p:cNvSpPr/>
          <p:nvPr/>
        </p:nvSpPr>
        <p:spPr>
          <a:xfrm>
            <a:off x="33832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6" name="Text 13"/>
          <p:cNvSpPr/>
          <p:nvPr/>
        </p:nvSpPr>
        <p:spPr>
          <a:xfrm>
            <a:off x="33832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7" name="Shape 14"/>
          <p:cNvSpPr/>
          <p:nvPr/>
        </p:nvSpPr>
        <p:spPr>
          <a:xfrm>
            <a:off x="52120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8" name="Text 15"/>
          <p:cNvSpPr/>
          <p:nvPr/>
        </p:nvSpPr>
        <p:spPr>
          <a:xfrm>
            <a:off x="52120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9" name="Shape 16"/>
          <p:cNvSpPr/>
          <p:nvPr/>
        </p:nvSpPr>
        <p:spPr>
          <a:xfrm>
            <a:off x="70408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20" name="Text 17"/>
          <p:cNvSpPr/>
          <p:nvPr/>
        </p:nvSpPr>
        <p:spPr>
          <a:xfrm>
            <a:off x="70408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Secrets &amp; Identity</a:t>
            </a:r>
            <a:endParaRPr lang="en-US" sz="900" dirty="0"/>
          </a:p>
        </p:txBody>
      </p:sp>
      <p:sp>
        <p:nvSpPr>
          <p:cNvPr id="21" name="Shape 18"/>
          <p:cNvSpPr/>
          <p:nvPr/>
        </p:nvSpPr>
        <p:spPr>
          <a:xfrm>
            <a:off x="88696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22" name="Text 19"/>
          <p:cNvSpPr/>
          <p:nvPr/>
        </p:nvSpPr>
        <p:spPr>
          <a:xfrm>
            <a:off x="88696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3" name="Shape 20"/>
          <p:cNvSpPr/>
          <p:nvPr/>
        </p:nvSpPr>
        <p:spPr>
          <a:xfrm>
            <a:off x="2240280" y="2926080"/>
            <a:ext cx="0" cy="365760"/>
          </a:xfrm>
          <a:prstGeom prst="line">
            <a:avLst/>
          </a:prstGeom>
          <a:noFill/>
          <a:ln w="12700">
            <a:solidFill>
              <a:srgbClr val="94A3B8"/>
            </a:solidFill>
            <a:prstDash val="dash"/>
            <a:tailEnd type="triangle"/>
          </a:ln>
        </p:spPr>
        <p:txBody>
          <a:bodyPr/>
          <a:lstStyle/>
          <a:p>
            <a:endParaRPr lang="en-US"/>
          </a:p>
        </p:txBody>
      </p:sp>
      <p:sp>
        <p:nvSpPr>
          <p:cNvPr id="24" name="Shape 21"/>
          <p:cNvSpPr/>
          <p:nvPr/>
        </p:nvSpPr>
        <p:spPr>
          <a:xfrm>
            <a:off x="4160520" y="2926080"/>
            <a:ext cx="0" cy="365760"/>
          </a:xfrm>
          <a:prstGeom prst="line">
            <a:avLst/>
          </a:prstGeom>
          <a:noFill/>
          <a:ln w="12700">
            <a:solidFill>
              <a:srgbClr val="94A3B8"/>
            </a:solidFill>
            <a:prstDash val="dash"/>
            <a:tailEnd type="triangle"/>
          </a:ln>
        </p:spPr>
        <p:txBody>
          <a:bodyPr/>
          <a:lstStyle/>
          <a:p>
            <a:endParaRPr lang="en-US"/>
          </a:p>
        </p:txBody>
      </p:sp>
      <p:sp>
        <p:nvSpPr>
          <p:cNvPr id="25" name="Shape 22"/>
          <p:cNvSpPr/>
          <p:nvPr/>
        </p:nvSpPr>
        <p:spPr>
          <a:xfrm>
            <a:off x="6080760" y="2926080"/>
            <a:ext cx="0" cy="365760"/>
          </a:xfrm>
          <a:prstGeom prst="line">
            <a:avLst/>
          </a:prstGeom>
          <a:noFill/>
          <a:ln w="12700">
            <a:solidFill>
              <a:srgbClr val="94A3B8"/>
            </a:solidFill>
            <a:prstDash val="dash"/>
            <a:tailEnd type="triangle"/>
          </a:ln>
        </p:spPr>
        <p:txBody>
          <a:bodyPr/>
          <a:lstStyle/>
          <a:p>
            <a:endParaRPr lang="en-US"/>
          </a:p>
        </p:txBody>
      </p:sp>
      <p:sp>
        <p:nvSpPr>
          <p:cNvPr id="26" name="Shape 23"/>
          <p:cNvSpPr/>
          <p:nvPr/>
        </p:nvSpPr>
        <p:spPr>
          <a:xfrm>
            <a:off x="8001000" y="2926080"/>
            <a:ext cx="0" cy="365760"/>
          </a:xfrm>
          <a:prstGeom prst="line">
            <a:avLst/>
          </a:prstGeom>
          <a:noFill/>
          <a:ln w="12700">
            <a:solidFill>
              <a:srgbClr val="94A3B8"/>
            </a:solidFill>
            <a:prstDash val="dash"/>
            <a:tailEnd type="triangle"/>
          </a:ln>
        </p:spPr>
        <p:txBody>
          <a:bodyPr/>
          <a:lstStyle/>
          <a:p>
            <a:endParaRPr lang="en-US"/>
          </a:p>
        </p:txBody>
      </p:sp>
      <p:sp>
        <p:nvSpPr>
          <p:cNvPr id="27" name="Shape 24"/>
          <p:cNvSpPr/>
          <p:nvPr/>
        </p:nvSpPr>
        <p:spPr>
          <a:xfrm>
            <a:off x="9921240" y="2926080"/>
            <a:ext cx="0" cy="365760"/>
          </a:xfrm>
          <a:prstGeom prst="line">
            <a:avLst/>
          </a:prstGeom>
          <a:noFill/>
          <a:ln w="12700">
            <a:solidFill>
              <a:srgbClr val="94A3B8"/>
            </a:solidFill>
            <a:prstDash val="dash"/>
            <a:tailEnd type="triangle"/>
          </a:ln>
        </p:spPr>
        <p:txBody>
          <a:bodyPr/>
          <a:lstStyle/>
          <a:p>
            <a:endParaRPr lang="en-US"/>
          </a:p>
        </p:txBody>
      </p:sp>
      <p:sp>
        <p:nvSpPr>
          <p:cNvPr id="28" name="Text 25"/>
          <p:cNvSpPr/>
          <p:nvPr/>
        </p:nvSpPr>
        <p:spPr>
          <a:xfrm>
            <a:off x="1280160" y="2971800"/>
            <a:ext cx="9601200"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used by every squad</a:t>
            </a:r>
            <a:endParaRPr lang="en-US" sz="900" dirty="0"/>
          </a:p>
        </p:txBody>
      </p:sp>
      <p:sp>
        <p:nvSpPr>
          <p:cNvPr id="29" name="Shape 26"/>
          <p:cNvSpPr/>
          <p:nvPr/>
        </p:nvSpPr>
        <p:spPr>
          <a:xfrm>
            <a:off x="1280160"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7"/>
          <p:cNvSpPr/>
          <p:nvPr/>
        </p:nvSpPr>
        <p:spPr>
          <a:xfrm>
            <a:off x="1280160"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31" name="Text 28"/>
          <p:cNvSpPr/>
          <p:nvPr/>
        </p:nvSpPr>
        <p:spPr>
          <a:xfrm>
            <a:off x="1280160"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SQL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Server</a:t>
            </a:r>
            <a:endParaRPr lang="en-US" sz="1050" dirty="0"/>
          </a:p>
        </p:txBody>
      </p:sp>
      <p:sp>
        <p:nvSpPr>
          <p:cNvPr id="32" name="Text 29"/>
          <p:cNvSpPr/>
          <p:nvPr/>
        </p:nvSpPr>
        <p:spPr>
          <a:xfrm>
            <a:off x="1280160"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DB engine</a:t>
            </a:r>
            <a:endParaRPr lang="en-US" sz="800" dirty="0"/>
          </a:p>
        </p:txBody>
      </p:sp>
      <p:sp>
        <p:nvSpPr>
          <p:cNvPr id="33" name="Shape 30"/>
          <p:cNvSpPr/>
          <p:nvPr/>
        </p:nvSpPr>
        <p:spPr>
          <a:xfrm>
            <a:off x="1353312"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34" name="Text 31"/>
          <p:cNvSpPr/>
          <p:nvPr/>
        </p:nvSpPr>
        <p:spPr>
          <a:xfrm>
            <a:off x="1353312"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35" name="Shape 32"/>
          <p:cNvSpPr/>
          <p:nvPr/>
        </p:nvSpPr>
        <p:spPr>
          <a:xfrm>
            <a:off x="2494026"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6" name="Shape 33"/>
          <p:cNvSpPr/>
          <p:nvPr/>
        </p:nvSpPr>
        <p:spPr>
          <a:xfrm>
            <a:off x="2494026"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37" name="Text 34"/>
          <p:cNvSpPr/>
          <p:nvPr/>
        </p:nvSpPr>
        <p:spPr>
          <a:xfrm>
            <a:off x="2494026"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Postgres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Mongo</a:t>
            </a:r>
            <a:endParaRPr lang="en-US" sz="1050" dirty="0"/>
          </a:p>
        </p:txBody>
      </p:sp>
      <p:sp>
        <p:nvSpPr>
          <p:cNvPr id="38" name="Text 35"/>
          <p:cNvSpPr/>
          <p:nvPr/>
        </p:nvSpPr>
        <p:spPr>
          <a:xfrm>
            <a:off x="2494026"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DB engines</a:t>
            </a:r>
            <a:endParaRPr lang="en-US" sz="800" dirty="0"/>
          </a:p>
        </p:txBody>
      </p:sp>
      <p:sp>
        <p:nvSpPr>
          <p:cNvPr id="39" name="Shape 36"/>
          <p:cNvSpPr/>
          <p:nvPr/>
        </p:nvSpPr>
        <p:spPr>
          <a:xfrm>
            <a:off x="2567178"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40" name="Text 37"/>
          <p:cNvSpPr/>
          <p:nvPr/>
        </p:nvSpPr>
        <p:spPr>
          <a:xfrm>
            <a:off x="2567178"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41" name="Shape 38"/>
          <p:cNvSpPr/>
          <p:nvPr/>
        </p:nvSpPr>
        <p:spPr>
          <a:xfrm>
            <a:off x="3707892"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2" name="Shape 39"/>
          <p:cNvSpPr/>
          <p:nvPr/>
        </p:nvSpPr>
        <p:spPr>
          <a:xfrm>
            <a:off x="3707892"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43" name="Text 40"/>
          <p:cNvSpPr/>
          <p:nvPr/>
        </p:nvSpPr>
        <p:spPr>
          <a:xfrm>
            <a:off x="3707892"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Kubernetes</a:t>
            </a:r>
            <a:endParaRPr lang="en-US" sz="1050" dirty="0"/>
          </a:p>
        </p:txBody>
      </p:sp>
      <p:sp>
        <p:nvSpPr>
          <p:cNvPr id="44" name="Text 41"/>
          <p:cNvSpPr/>
          <p:nvPr/>
        </p:nvSpPr>
        <p:spPr>
          <a:xfrm>
            <a:off x="3707892"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Container</a:t>
            </a:r>
            <a:endParaRPr lang="en-US" sz="800" dirty="0"/>
          </a:p>
        </p:txBody>
      </p:sp>
      <p:sp>
        <p:nvSpPr>
          <p:cNvPr id="45" name="Shape 42"/>
          <p:cNvSpPr/>
          <p:nvPr/>
        </p:nvSpPr>
        <p:spPr>
          <a:xfrm>
            <a:off x="3781044"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46" name="Text 43"/>
          <p:cNvSpPr/>
          <p:nvPr/>
        </p:nvSpPr>
        <p:spPr>
          <a:xfrm>
            <a:off x="3781044"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47" name="Shape 44"/>
          <p:cNvSpPr/>
          <p:nvPr/>
        </p:nvSpPr>
        <p:spPr>
          <a:xfrm>
            <a:off x="4921758"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8" name="Shape 45"/>
          <p:cNvSpPr/>
          <p:nvPr/>
        </p:nvSpPr>
        <p:spPr>
          <a:xfrm>
            <a:off x="4921758"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49" name="Text 46"/>
          <p:cNvSpPr/>
          <p:nvPr/>
        </p:nvSpPr>
        <p:spPr>
          <a:xfrm>
            <a:off x="4921758"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Compute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(VM/BM/GPU)</a:t>
            </a:r>
            <a:endParaRPr lang="en-US" sz="1050" dirty="0"/>
          </a:p>
        </p:txBody>
      </p:sp>
      <p:sp>
        <p:nvSpPr>
          <p:cNvPr id="50" name="Text 47"/>
          <p:cNvSpPr/>
          <p:nvPr/>
        </p:nvSpPr>
        <p:spPr>
          <a:xfrm>
            <a:off x="4921758"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Hosts</a:t>
            </a:r>
            <a:endParaRPr lang="en-US" sz="800" dirty="0"/>
          </a:p>
        </p:txBody>
      </p:sp>
      <p:sp>
        <p:nvSpPr>
          <p:cNvPr id="51" name="Shape 48"/>
          <p:cNvSpPr/>
          <p:nvPr/>
        </p:nvSpPr>
        <p:spPr>
          <a:xfrm>
            <a:off x="4994910"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52" name="Text 49"/>
          <p:cNvSpPr/>
          <p:nvPr/>
        </p:nvSpPr>
        <p:spPr>
          <a:xfrm>
            <a:off x="4994910"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53" name="Shape 50"/>
          <p:cNvSpPr/>
          <p:nvPr/>
        </p:nvSpPr>
        <p:spPr>
          <a:xfrm>
            <a:off x="6135624"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54" name="Shape 51"/>
          <p:cNvSpPr/>
          <p:nvPr/>
        </p:nvSpPr>
        <p:spPr>
          <a:xfrm>
            <a:off x="6135624"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55" name="Text 52"/>
          <p:cNvSpPr/>
          <p:nvPr/>
        </p:nvSpPr>
        <p:spPr>
          <a:xfrm>
            <a:off x="6135624"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Storage</a:t>
            </a:r>
            <a:endParaRPr lang="en-US" sz="1050" dirty="0"/>
          </a:p>
        </p:txBody>
      </p:sp>
      <p:sp>
        <p:nvSpPr>
          <p:cNvPr id="56" name="Text 53"/>
          <p:cNvSpPr/>
          <p:nvPr/>
        </p:nvSpPr>
        <p:spPr>
          <a:xfrm>
            <a:off x="6135624"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Block / object</a:t>
            </a:r>
            <a:endParaRPr lang="en-US" sz="800" dirty="0"/>
          </a:p>
        </p:txBody>
      </p:sp>
      <p:sp>
        <p:nvSpPr>
          <p:cNvPr id="57" name="Shape 54"/>
          <p:cNvSpPr/>
          <p:nvPr/>
        </p:nvSpPr>
        <p:spPr>
          <a:xfrm>
            <a:off x="6208776"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58" name="Text 55"/>
          <p:cNvSpPr/>
          <p:nvPr/>
        </p:nvSpPr>
        <p:spPr>
          <a:xfrm>
            <a:off x="6208776"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59" name="Shape 56"/>
          <p:cNvSpPr/>
          <p:nvPr/>
        </p:nvSpPr>
        <p:spPr>
          <a:xfrm>
            <a:off x="7349490"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60" name="Shape 57"/>
          <p:cNvSpPr/>
          <p:nvPr/>
        </p:nvSpPr>
        <p:spPr>
          <a:xfrm>
            <a:off x="7349490"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61" name="Text 58"/>
          <p:cNvSpPr/>
          <p:nvPr/>
        </p:nvSpPr>
        <p:spPr>
          <a:xfrm>
            <a:off x="7349490"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Network</a:t>
            </a:r>
            <a:endParaRPr lang="en-US" sz="1050" dirty="0"/>
          </a:p>
        </p:txBody>
      </p:sp>
      <p:sp>
        <p:nvSpPr>
          <p:cNvPr id="62" name="Text 59"/>
          <p:cNvSpPr/>
          <p:nvPr/>
        </p:nvSpPr>
        <p:spPr>
          <a:xfrm>
            <a:off x="7349490"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SDN / DNS / LB</a:t>
            </a:r>
            <a:endParaRPr lang="en-US" sz="800" dirty="0"/>
          </a:p>
        </p:txBody>
      </p:sp>
      <p:sp>
        <p:nvSpPr>
          <p:cNvPr id="63" name="Shape 60"/>
          <p:cNvSpPr/>
          <p:nvPr/>
        </p:nvSpPr>
        <p:spPr>
          <a:xfrm>
            <a:off x="7422642"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64" name="Text 61"/>
          <p:cNvSpPr/>
          <p:nvPr/>
        </p:nvSpPr>
        <p:spPr>
          <a:xfrm>
            <a:off x="7422642"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65" name="Shape 62"/>
          <p:cNvSpPr/>
          <p:nvPr/>
        </p:nvSpPr>
        <p:spPr>
          <a:xfrm>
            <a:off x="8563356"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66" name="Shape 63"/>
          <p:cNvSpPr/>
          <p:nvPr/>
        </p:nvSpPr>
        <p:spPr>
          <a:xfrm>
            <a:off x="8563356"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67" name="Text 64"/>
          <p:cNvSpPr/>
          <p:nvPr/>
        </p:nvSpPr>
        <p:spPr>
          <a:xfrm>
            <a:off x="8563356"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Linux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Windows</a:t>
            </a:r>
            <a:endParaRPr lang="en-US" sz="1050" dirty="0"/>
          </a:p>
        </p:txBody>
      </p:sp>
      <p:sp>
        <p:nvSpPr>
          <p:cNvPr id="68" name="Text 65"/>
          <p:cNvSpPr/>
          <p:nvPr/>
        </p:nvSpPr>
        <p:spPr>
          <a:xfrm>
            <a:off x="8563356"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OS fleet</a:t>
            </a:r>
            <a:endParaRPr lang="en-US" sz="800" dirty="0"/>
          </a:p>
        </p:txBody>
      </p:sp>
      <p:sp>
        <p:nvSpPr>
          <p:cNvPr id="69" name="Shape 66"/>
          <p:cNvSpPr/>
          <p:nvPr/>
        </p:nvSpPr>
        <p:spPr>
          <a:xfrm>
            <a:off x="8636508"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70" name="Text 67"/>
          <p:cNvSpPr/>
          <p:nvPr/>
        </p:nvSpPr>
        <p:spPr>
          <a:xfrm>
            <a:off x="8636508"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71" name="Shape 68"/>
          <p:cNvSpPr/>
          <p:nvPr/>
        </p:nvSpPr>
        <p:spPr>
          <a:xfrm>
            <a:off x="9777222"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72" name="Shape 69"/>
          <p:cNvSpPr/>
          <p:nvPr/>
        </p:nvSpPr>
        <p:spPr>
          <a:xfrm>
            <a:off x="9777222"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73" name="Text 70"/>
          <p:cNvSpPr/>
          <p:nvPr/>
        </p:nvSpPr>
        <p:spPr>
          <a:xfrm>
            <a:off x="9777222"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Edge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Messaging</a:t>
            </a:r>
            <a:endParaRPr lang="en-US" sz="1050" dirty="0"/>
          </a:p>
        </p:txBody>
      </p:sp>
      <p:sp>
        <p:nvSpPr>
          <p:cNvPr id="74" name="Text 71"/>
          <p:cNvSpPr/>
          <p:nvPr/>
        </p:nvSpPr>
        <p:spPr>
          <a:xfrm>
            <a:off x="9777222"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 many more</a:t>
            </a:r>
            <a:endParaRPr lang="en-US" sz="800" dirty="0"/>
          </a:p>
        </p:txBody>
      </p:sp>
      <p:sp>
        <p:nvSpPr>
          <p:cNvPr id="75" name="Shape 72"/>
          <p:cNvSpPr/>
          <p:nvPr/>
        </p:nvSpPr>
        <p:spPr>
          <a:xfrm>
            <a:off x="9850374"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76" name="Text 73"/>
          <p:cNvSpPr/>
          <p:nvPr/>
        </p:nvSpPr>
        <p:spPr>
          <a:xfrm>
            <a:off x="9850374"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77" name="Shape 74"/>
          <p:cNvSpPr/>
          <p:nvPr/>
        </p:nvSpPr>
        <p:spPr>
          <a:xfrm>
            <a:off x="2384298" y="4000500"/>
            <a:ext cx="109728" cy="0"/>
          </a:xfrm>
          <a:prstGeom prst="line">
            <a:avLst/>
          </a:prstGeom>
          <a:noFill/>
          <a:ln w="12700">
            <a:solidFill>
              <a:srgbClr val="FEDF01"/>
            </a:solidFill>
            <a:prstDash val="solid"/>
          </a:ln>
        </p:spPr>
        <p:txBody>
          <a:bodyPr/>
          <a:lstStyle/>
          <a:p>
            <a:endParaRPr lang="en-US"/>
          </a:p>
        </p:txBody>
      </p:sp>
      <p:sp>
        <p:nvSpPr>
          <p:cNvPr id="78" name="Shape 75"/>
          <p:cNvSpPr/>
          <p:nvPr/>
        </p:nvSpPr>
        <p:spPr>
          <a:xfrm>
            <a:off x="3598164" y="4000500"/>
            <a:ext cx="109728" cy="0"/>
          </a:xfrm>
          <a:prstGeom prst="line">
            <a:avLst/>
          </a:prstGeom>
          <a:noFill/>
          <a:ln w="12700">
            <a:solidFill>
              <a:srgbClr val="FEDF01"/>
            </a:solidFill>
            <a:prstDash val="solid"/>
          </a:ln>
        </p:spPr>
        <p:txBody>
          <a:bodyPr/>
          <a:lstStyle/>
          <a:p>
            <a:endParaRPr lang="en-US"/>
          </a:p>
        </p:txBody>
      </p:sp>
      <p:sp>
        <p:nvSpPr>
          <p:cNvPr id="79" name="Shape 76"/>
          <p:cNvSpPr/>
          <p:nvPr/>
        </p:nvSpPr>
        <p:spPr>
          <a:xfrm>
            <a:off x="4812030" y="4000500"/>
            <a:ext cx="109728" cy="0"/>
          </a:xfrm>
          <a:prstGeom prst="line">
            <a:avLst/>
          </a:prstGeom>
          <a:noFill/>
          <a:ln w="12700">
            <a:solidFill>
              <a:srgbClr val="FEDF01"/>
            </a:solidFill>
            <a:prstDash val="solid"/>
          </a:ln>
        </p:spPr>
        <p:txBody>
          <a:bodyPr/>
          <a:lstStyle/>
          <a:p>
            <a:endParaRPr lang="en-US"/>
          </a:p>
        </p:txBody>
      </p:sp>
      <p:sp>
        <p:nvSpPr>
          <p:cNvPr id="80" name="Shape 77"/>
          <p:cNvSpPr/>
          <p:nvPr/>
        </p:nvSpPr>
        <p:spPr>
          <a:xfrm>
            <a:off x="6025896" y="4000500"/>
            <a:ext cx="109728" cy="0"/>
          </a:xfrm>
          <a:prstGeom prst="line">
            <a:avLst/>
          </a:prstGeom>
          <a:noFill/>
          <a:ln w="12700">
            <a:solidFill>
              <a:srgbClr val="FEDF01"/>
            </a:solidFill>
            <a:prstDash val="solid"/>
          </a:ln>
        </p:spPr>
        <p:txBody>
          <a:bodyPr/>
          <a:lstStyle/>
          <a:p>
            <a:endParaRPr lang="en-US"/>
          </a:p>
        </p:txBody>
      </p:sp>
      <p:sp>
        <p:nvSpPr>
          <p:cNvPr id="81" name="Shape 78"/>
          <p:cNvSpPr/>
          <p:nvPr/>
        </p:nvSpPr>
        <p:spPr>
          <a:xfrm>
            <a:off x="7239762" y="4000500"/>
            <a:ext cx="109728" cy="0"/>
          </a:xfrm>
          <a:prstGeom prst="line">
            <a:avLst/>
          </a:prstGeom>
          <a:noFill/>
          <a:ln w="12700">
            <a:solidFill>
              <a:srgbClr val="FEDF01"/>
            </a:solidFill>
            <a:prstDash val="solid"/>
          </a:ln>
        </p:spPr>
        <p:txBody>
          <a:bodyPr/>
          <a:lstStyle/>
          <a:p>
            <a:endParaRPr lang="en-US"/>
          </a:p>
        </p:txBody>
      </p:sp>
      <p:sp>
        <p:nvSpPr>
          <p:cNvPr id="82" name="Shape 79"/>
          <p:cNvSpPr/>
          <p:nvPr/>
        </p:nvSpPr>
        <p:spPr>
          <a:xfrm>
            <a:off x="8453628" y="4000500"/>
            <a:ext cx="109728" cy="0"/>
          </a:xfrm>
          <a:prstGeom prst="line">
            <a:avLst/>
          </a:prstGeom>
          <a:noFill/>
          <a:ln w="12700">
            <a:solidFill>
              <a:srgbClr val="FEDF01"/>
            </a:solidFill>
            <a:prstDash val="solid"/>
          </a:ln>
        </p:spPr>
        <p:txBody>
          <a:bodyPr/>
          <a:lstStyle/>
          <a:p>
            <a:endParaRPr lang="en-US"/>
          </a:p>
        </p:txBody>
      </p:sp>
      <p:sp>
        <p:nvSpPr>
          <p:cNvPr id="83" name="Shape 80"/>
          <p:cNvSpPr/>
          <p:nvPr/>
        </p:nvSpPr>
        <p:spPr>
          <a:xfrm>
            <a:off x="9667494" y="4000500"/>
            <a:ext cx="109728" cy="0"/>
          </a:xfrm>
          <a:prstGeom prst="line">
            <a:avLst/>
          </a:prstGeom>
          <a:noFill/>
          <a:ln w="12700">
            <a:solidFill>
              <a:srgbClr val="FEDF01"/>
            </a:solidFill>
            <a:prstDash val="solid"/>
          </a:ln>
        </p:spPr>
        <p:txBody>
          <a:bodyPr/>
          <a:lstStyle/>
          <a:p>
            <a:endParaRPr lang="en-US"/>
          </a:p>
        </p:txBody>
      </p:sp>
      <p:sp>
        <p:nvSpPr>
          <p:cNvPr id="84" name="Shape 81"/>
          <p:cNvSpPr/>
          <p:nvPr/>
        </p:nvSpPr>
        <p:spPr>
          <a:xfrm>
            <a:off x="1280160" y="4873752"/>
            <a:ext cx="9601200" cy="640080"/>
          </a:xfrm>
          <a:prstGeom prst="rect">
            <a:avLst/>
          </a:prstGeom>
          <a:solidFill>
            <a:srgbClr val="F4F6F9"/>
          </a:solidFill>
          <a:ln w="12700">
            <a:solidFill>
              <a:srgbClr val="E2E8F0"/>
            </a:solidFill>
            <a:prstDash val="solid"/>
          </a:ln>
        </p:spPr>
        <p:txBody>
          <a:bodyPr/>
          <a:lstStyle/>
          <a:p>
            <a:endParaRPr lang="en-US"/>
          </a:p>
        </p:txBody>
      </p:sp>
      <p:sp>
        <p:nvSpPr>
          <p:cNvPr id="85" name="Shape 82"/>
          <p:cNvSpPr/>
          <p:nvPr/>
        </p:nvSpPr>
        <p:spPr>
          <a:xfrm>
            <a:off x="1280160" y="4873752"/>
            <a:ext cx="91440" cy="640080"/>
          </a:xfrm>
          <a:prstGeom prst="rect">
            <a:avLst/>
          </a:prstGeom>
          <a:solidFill>
            <a:srgbClr val="FEDF01"/>
          </a:solidFill>
          <a:ln w="12700">
            <a:solidFill>
              <a:srgbClr val="FEDF01"/>
            </a:solidFill>
            <a:prstDash val="solid"/>
          </a:ln>
        </p:spPr>
        <p:txBody>
          <a:bodyPr/>
          <a:lstStyle/>
          <a:p>
            <a:endParaRPr lang="en-US"/>
          </a:p>
        </p:txBody>
      </p:sp>
      <p:sp>
        <p:nvSpPr>
          <p:cNvPr id="86" name="Text 83"/>
          <p:cNvSpPr/>
          <p:nvPr/>
        </p:nvSpPr>
        <p:spPr>
          <a:xfrm>
            <a:off x="1508760" y="4873752"/>
            <a:ext cx="2286000" cy="640080"/>
          </a:xfrm>
          <a:prstGeom prst="rect">
            <a:avLst/>
          </a:prstGeom>
          <a:noFill/>
          <a:ln/>
        </p:spPr>
        <p:txBody>
          <a:bodyPr wrap="square" lIns="0" tIns="0" rIns="0" bIns="0" rtlCol="0" anchor="ctr"/>
          <a:lstStyle/>
          <a:p>
            <a:pPr marL="0" indent="0">
              <a:buNone/>
            </a:pPr>
            <a:r>
              <a:rPr lang="en-US" sz="1000" b="1" kern="0" spc="200" dirty="0">
                <a:solidFill>
                  <a:srgbClr val="003DA5"/>
                </a:solidFill>
                <a:latin typeface="Calibri" pitchFamily="34" charset="0"/>
                <a:ea typeface="Calibri" pitchFamily="34" charset="-122"/>
                <a:cs typeface="Calibri" pitchFamily="34" charset="-120"/>
              </a:rPr>
              <a:t>EVERY SQUAD DOES:</a:t>
            </a:r>
            <a:endParaRPr lang="en-US" sz="1000" dirty="0"/>
          </a:p>
        </p:txBody>
      </p:sp>
      <p:sp>
        <p:nvSpPr>
          <p:cNvPr id="87" name="Text 84"/>
          <p:cNvSpPr/>
          <p:nvPr/>
        </p:nvSpPr>
        <p:spPr>
          <a:xfrm>
            <a:off x="379476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Build IaC modules</a:t>
            </a:r>
            <a:endParaRPr lang="en-US" sz="1000" dirty="0"/>
          </a:p>
        </p:txBody>
      </p:sp>
      <p:sp>
        <p:nvSpPr>
          <p:cNvPr id="88" name="Text 85"/>
          <p:cNvSpPr/>
          <p:nvPr/>
        </p:nvSpPr>
        <p:spPr>
          <a:xfrm>
            <a:off x="513892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89" name="Text 86"/>
          <p:cNvSpPr/>
          <p:nvPr/>
        </p:nvSpPr>
        <p:spPr>
          <a:xfrm>
            <a:off x="521208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Engineer the platform</a:t>
            </a:r>
            <a:endParaRPr lang="en-US" sz="1000" dirty="0"/>
          </a:p>
        </p:txBody>
      </p:sp>
      <p:sp>
        <p:nvSpPr>
          <p:cNvPr id="90" name="Text 87"/>
          <p:cNvSpPr/>
          <p:nvPr/>
        </p:nvSpPr>
        <p:spPr>
          <a:xfrm>
            <a:off x="655624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1" name="Text 88"/>
          <p:cNvSpPr/>
          <p:nvPr/>
        </p:nvSpPr>
        <p:spPr>
          <a:xfrm>
            <a:off x="662940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Operate (SLO + on-call)</a:t>
            </a:r>
            <a:endParaRPr lang="en-US" sz="1000" dirty="0"/>
          </a:p>
        </p:txBody>
      </p:sp>
      <p:sp>
        <p:nvSpPr>
          <p:cNvPr id="92" name="Text 89"/>
          <p:cNvSpPr/>
          <p:nvPr/>
        </p:nvSpPr>
        <p:spPr>
          <a:xfrm>
            <a:off x="797356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3" name="Text 90"/>
          <p:cNvSpPr/>
          <p:nvPr/>
        </p:nvSpPr>
        <p:spPr>
          <a:xfrm>
            <a:off x="804672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AI agents for incidents</a:t>
            </a:r>
            <a:endParaRPr lang="en-US" sz="1000" dirty="0"/>
          </a:p>
        </p:txBody>
      </p:sp>
      <p:sp>
        <p:nvSpPr>
          <p:cNvPr id="94" name="Text 91"/>
          <p:cNvSpPr/>
          <p:nvPr/>
        </p:nvSpPr>
        <p:spPr>
          <a:xfrm>
            <a:off x="939088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5" name="Text 92"/>
          <p:cNvSpPr/>
          <p:nvPr/>
        </p:nvSpPr>
        <p:spPr>
          <a:xfrm>
            <a:off x="946404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Automate everything</a:t>
            </a:r>
            <a:endParaRPr lang="en-US" sz="1000" dirty="0"/>
          </a:p>
        </p:txBody>
      </p:sp>
      <p:sp>
        <p:nvSpPr>
          <p:cNvPr id="96" name="Shape 93"/>
          <p:cNvSpPr/>
          <p:nvPr/>
        </p:nvSpPr>
        <p:spPr>
          <a:xfrm>
            <a:off x="457200" y="1965960"/>
            <a:ext cx="749808" cy="3547872"/>
          </a:xfrm>
          <a:prstGeom prst="rect">
            <a:avLst/>
          </a:prstGeom>
          <a:solidFill>
            <a:srgbClr val="F4F6F9"/>
          </a:solidFill>
          <a:ln w="12700">
            <a:solidFill>
              <a:srgbClr val="E2E8F0"/>
            </a:solidFill>
            <a:prstDash val="solid"/>
          </a:ln>
        </p:spPr>
        <p:txBody>
          <a:bodyPr/>
          <a:lstStyle/>
          <a:p>
            <a:endParaRPr lang="en-US"/>
          </a:p>
        </p:txBody>
      </p:sp>
      <p:sp>
        <p:nvSpPr>
          <p:cNvPr id="97" name="Shape 94"/>
          <p:cNvSpPr/>
          <p:nvPr/>
        </p:nvSpPr>
        <p:spPr>
          <a:xfrm>
            <a:off x="457200" y="1965960"/>
            <a:ext cx="749808" cy="73152"/>
          </a:xfrm>
          <a:prstGeom prst="rect">
            <a:avLst/>
          </a:prstGeom>
          <a:solidFill>
            <a:srgbClr val="FEDF01"/>
          </a:solidFill>
          <a:ln w="12700">
            <a:solidFill>
              <a:srgbClr val="FEDF01"/>
            </a:solidFill>
            <a:prstDash val="solid"/>
          </a:ln>
        </p:spPr>
        <p:txBody>
          <a:bodyPr/>
          <a:lstStyle/>
          <a:p>
            <a:endParaRPr lang="en-US"/>
          </a:p>
        </p:txBody>
      </p:sp>
      <p:sp>
        <p:nvSpPr>
          <p:cNvPr id="98" name="Text 95"/>
          <p:cNvSpPr/>
          <p:nvPr/>
        </p:nvSpPr>
        <p:spPr>
          <a:xfrm>
            <a:off x="457200" y="2130552"/>
            <a:ext cx="749808" cy="274320"/>
          </a:xfrm>
          <a:prstGeom prst="rect">
            <a:avLst/>
          </a:prstGeom>
          <a:noFill/>
          <a:ln/>
        </p:spPr>
        <p:txBody>
          <a:bodyPr wrap="square" lIns="0" tIns="0" rIns="0" bIns="0" rtlCol="0" anchor="ctr"/>
          <a:lstStyle/>
          <a:p>
            <a:pPr marL="0" indent="0" algn="ctr">
              <a:buNone/>
            </a:pPr>
            <a:r>
              <a:rPr lang="en-US" sz="900" b="1" kern="0" spc="200" dirty="0">
                <a:solidFill>
                  <a:srgbClr val="003DA5"/>
                </a:solidFill>
                <a:latin typeface="Calibri" pitchFamily="34" charset="0"/>
                <a:ea typeface="Calibri" pitchFamily="34" charset="-122"/>
                <a:cs typeface="Calibri" pitchFamily="34" charset="-120"/>
              </a:rPr>
              <a:t>GUILDS</a:t>
            </a:r>
            <a:endParaRPr lang="en-US" sz="900" dirty="0"/>
          </a:p>
        </p:txBody>
      </p:sp>
      <p:sp>
        <p:nvSpPr>
          <p:cNvPr id="99" name="Text 96"/>
          <p:cNvSpPr/>
          <p:nvPr/>
        </p:nvSpPr>
        <p:spPr>
          <a:xfrm>
            <a:off x="457200" y="2377440"/>
            <a:ext cx="749808" cy="22860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(craft)</a:t>
            </a:r>
            <a:endParaRPr lang="en-US" sz="800" dirty="0"/>
          </a:p>
        </p:txBody>
      </p:sp>
      <p:sp>
        <p:nvSpPr>
          <p:cNvPr id="100" name="Text 97"/>
          <p:cNvSpPr/>
          <p:nvPr/>
        </p:nvSpPr>
        <p:spPr>
          <a:xfrm>
            <a:off x="457200" y="2679192"/>
            <a:ext cx="749808" cy="2770632"/>
          </a:xfrm>
          <a:prstGeom prst="rect">
            <a:avLst/>
          </a:prstGeom>
          <a:noFill/>
          <a:ln/>
        </p:spPr>
        <p:txBody>
          <a:bodyPr wrap="square" lIns="0" tIns="0" rIns="0" bIns="0" rtlCol="0" anchor="ctr"/>
          <a:lstStyle/>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Architecture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SRE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IaC</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Incident</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Commander</a:t>
            </a:r>
            <a:endParaRPr lang="en-US" sz="850" dirty="0"/>
          </a:p>
        </p:txBody>
      </p:sp>
      <p:sp>
        <p:nvSpPr>
          <p:cNvPr id="101" name="Shape 98"/>
          <p:cNvSpPr/>
          <p:nvPr/>
        </p:nvSpPr>
        <p:spPr>
          <a:xfrm>
            <a:off x="10984687" y="1965960"/>
            <a:ext cx="749808" cy="3547872"/>
          </a:xfrm>
          <a:prstGeom prst="rect">
            <a:avLst/>
          </a:prstGeom>
          <a:solidFill>
            <a:srgbClr val="F4F6F9"/>
          </a:solidFill>
          <a:ln w="12700">
            <a:solidFill>
              <a:srgbClr val="E2E8F0"/>
            </a:solidFill>
            <a:prstDash val="solid"/>
          </a:ln>
        </p:spPr>
        <p:txBody>
          <a:bodyPr/>
          <a:lstStyle/>
          <a:p>
            <a:endParaRPr lang="en-US"/>
          </a:p>
        </p:txBody>
      </p:sp>
      <p:sp>
        <p:nvSpPr>
          <p:cNvPr id="102" name="Shape 99"/>
          <p:cNvSpPr/>
          <p:nvPr/>
        </p:nvSpPr>
        <p:spPr>
          <a:xfrm>
            <a:off x="10984687" y="1965960"/>
            <a:ext cx="749808" cy="73152"/>
          </a:xfrm>
          <a:prstGeom prst="rect">
            <a:avLst/>
          </a:prstGeom>
          <a:solidFill>
            <a:srgbClr val="FEDF01"/>
          </a:solidFill>
          <a:ln w="12700">
            <a:solidFill>
              <a:srgbClr val="FEDF01"/>
            </a:solidFill>
            <a:prstDash val="solid"/>
          </a:ln>
        </p:spPr>
        <p:txBody>
          <a:bodyPr/>
          <a:lstStyle/>
          <a:p>
            <a:endParaRPr lang="en-US"/>
          </a:p>
        </p:txBody>
      </p:sp>
      <p:sp>
        <p:nvSpPr>
          <p:cNvPr id="103" name="Text 100"/>
          <p:cNvSpPr/>
          <p:nvPr/>
        </p:nvSpPr>
        <p:spPr>
          <a:xfrm>
            <a:off x="10984687" y="2130552"/>
            <a:ext cx="749808" cy="274320"/>
          </a:xfrm>
          <a:prstGeom prst="rect">
            <a:avLst/>
          </a:prstGeom>
          <a:noFill/>
          <a:ln/>
        </p:spPr>
        <p:txBody>
          <a:bodyPr wrap="square" lIns="0" tIns="0" rIns="0" bIns="0" rtlCol="0" anchor="ctr"/>
          <a:lstStyle/>
          <a:p>
            <a:pPr marL="0" indent="0" algn="ctr">
              <a:buNone/>
            </a:pPr>
            <a:r>
              <a:rPr lang="en-US" sz="900" b="1" kern="0" spc="200" dirty="0">
                <a:solidFill>
                  <a:srgbClr val="003DA5"/>
                </a:solidFill>
                <a:latin typeface="Calibri" pitchFamily="34" charset="0"/>
                <a:ea typeface="Calibri" pitchFamily="34" charset="-122"/>
                <a:cs typeface="Calibri" pitchFamily="34" charset="-120"/>
              </a:rPr>
              <a:t>ENABLING</a:t>
            </a:r>
            <a:endParaRPr lang="en-US" sz="900" dirty="0"/>
          </a:p>
        </p:txBody>
      </p:sp>
      <p:sp>
        <p:nvSpPr>
          <p:cNvPr id="104" name="Text 101"/>
          <p:cNvSpPr/>
          <p:nvPr/>
        </p:nvSpPr>
        <p:spPr>
          <a:xfrm>
            <a:off x="10984687" y="2377440"/>
            <a:ext cx="749808" cy="22860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(coaching)</a:t>
            </a:r>
            <a:endParaRPr lang="en-US" sz="800" dirty="0"/>
          </a:p>
        </p:txBody>
      </p:sp>
      <p:sp>
        <p:nvSpPr>
          <p:cNvPr id="105" name="Text 102"/>
          <p:cNvSpPr/>
          <p:nvPr/>
        </p:nvSpPr>
        <p:spPr>
          <a:xfrm>
            <a:off x="10984687" y="2679192"/>
            <a:ext cx="749808" cy="2770632"/>
          </a:xfrm>
          <a:prstGeom prst="rect">
            <a:avLst/>
          </a:prstGeom>
          <a:noFill/>
          <a:ln/>
        </p:spPr>
        <p:txBody>
          <a:bodyPr wrap="square" lIns="0" tIns="0" rIns="0" bIns="0" rtlCol="0" anchor="ctr"/>
          <a:lstStyle/>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Cloud-Native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Platform-as-</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Product</a:t>
            </a:r>
            <a:endParaRPr lang="en-US" sz="850" dirty="0"/>
          </a:p>
        </p:txBody>
      </p:sp>
      <p:sp>
        <p:nvSpPr>
          <p:cNvPr id="106" name="Text 103"/>
          <p:cNvSpPr/>
          <p:nvPr/>
        </p:nvSpPr>
        <p:spPr>
          <a:xfrm>
            <a:off x="457200" y="6263640"/>
            <a:ext cx="11274552" cy="2743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Each engineer belongs to ONE squad (delivery accountability) and 1–2 Guilds (craft mastery). Cross-capability incidents handled by a rotational Incident Commander.</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WORKED EXAMPLE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Does SQL Server Live?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64008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SQL Server is owned by ONE squad — they build the IaC modules, engineer it, operate it, build the AI agents that prevent its incidents, and automate everything. They consume other squads as peer services through the Zephyr Control Plane.</a:t>
            </a:r>
            <a:endParaRPr lang="en-US" sz="1300" dirty="0"/>
          </a:p>
        </p:txBody>
      </p:sp>
      <p:sp>
        <p:nvSpPr>
          <p:cNvPr id="8" name="Shape 5"/>
          <p:cNvSpPr/>
          <p:nvPr/>
        </p:nvSpPr>
        <p:spPr>
          <a:xfrm>
            <a:off x="548640" y="2057400"/>
            <a:ext cx="11091672" cy="640080"/>
          </a:xfrm>
          <a:prstGeom prst="rect">
            <a:avLst/>
          </a:prstGeom>
          <a:solidFill>
            <a:srgbClr val="001F5C"/>
          </a:solidFill>
          <a:ln w="12700">
            <a:solidFill>
              <a:srgbClr val="001F5C"/>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548640" y="2057400"/>
            <a:ext cx="11091672" cy="54864"/>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777240" y="2130552"/>
            <a:ext cx="10634472"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COMMON PLATFORM CAPABILITIES — used by every squad</a:t>
            </a:r>
            <a:endParaRPr lang="en-US" sz="950" dirty="0"/>
          </a:p>
        </p:txBody>
      </p:sp>
      <p:sp>
        <p:nvSpPr>
          <p:cNvPr id="11" name="Shape 8"/>
          <p:cNvSpPr/>
          <p:nvPr/>
        </p:nvSpPr>
        <p:spPr>
          <a:xfrm>
            <a:off x="777240" y="2386584"/>
            <a:ext cx="2039112" cy="256032"/>
          </a:xfrm>
          <a:prstGeom prst="rect">
            <a:avLst/>
          </a:prstGeom>
          <a:solidFill>
            <a:srgbClr val="FEDF01"/>
          </a:solidFill>
          <a:ln w="9525">
            <a:solidFill>
              <a:srgbClr val="FEDF01"/>
            </a:solidFill>
            <a:prstDash val="solid"/>
          </a:ln>
        </p:spPr>
        <p:txBody>
          <a:bodyPr/>
          <a:lstStyle/>
          <a:p>
            <a:endParaRPr lang="en-US"/>
          </a:p>
        </p:txBody>
      </p:sp>
      <p:sp>
        <p:nvSpPr>
          <p:cNvPr id="12" name="Text 9"/>
          <p:cNvSpPr/>
          <p:nvPr/>
        </p:nvSpPr>
        <p:spPr>
          <a:xfrm>
            <a:off x="777240" y="2386584"/>
            <a:ext cx="2039112" cy="256032"/>
          </a:xfrm>
          <a:prstGeom prst="rect">
            <a:avLst/>
          </a:prstGeom>
          <a:noFill/>
          <a:ln/>
        </p:spPr>
        <p:txBody>
          <a:bodyPr wrap="square" lIns="0" tIns="0" rIns="0" bIns="0" rtlCol="0" anchor="ctr"/>
          <a:lstStyle/>
          <a:p>
            <a:pPr marL="0" indent="0" algn="ctr">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3" name="Shape 10"/>
          <p:cNvSpPr/>
          <p:nvPr/>
        </p:nvSpPr>
        <p:spPr>
          <a:xfrm>
            <a:off x="292608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4" name="Text 11"/>
          <p:cNvSpPr/>
          <p:nvPr/>
        </p:nvSpPr>
        <p:spPr>
          <a:xfrm>
            <a:off x="292608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5" name="Shape 12"/>
          <p:cNvSpPr/>
          <p:nvPr/>
        </p:nvSpPr>
        <p:spPr>
          <a:xfrm>
            <a:off x="507492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6" name="Text 13"/>
          <p:cNvSpPr/>
          <p:nvPr/>
        </p:nvSpPr>
        <p:spPr>
          <a:xfrm>
            <a:off x="507492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7" name="Shape 14"/>
          <p:cNvSpPr/>
          <p:nvPr/>
        </p:nvSpPr>
        <p:spPr>
          <a:xfrm>
            <a:off x="722376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8" name="Text 15"/>
          <p:cNvSpPr/>
          <p:nvPr/>
        </p:nvSpPr>
        <p:spPr>
          <a:xfrm>
            <a:off x="722376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Secrets / Identity</a:t>
            </a:r>
            <a:endParaRPr lang="en-US" sz="900" dirty="0"/>
          </a:p>
        </p:txBody>
      </p:sp>
      <p:sp>
        <p:nvSpPr>
          <p:cNvPr id="19" name="Shape 16"/>
          <p:cNvSpPr/>
          <p:nvPr/>
        </p:nvSpPr>
        <p:spPr>
          <a:xfrm>
            <a:off x="937260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20" name="Text 17"/>
          <p:cNvSpPr/>
          <p:nvPr/>
        </p:nvSpPr>
        <p:spPr>
          <a:xfrm>
            <a:off x="937260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1" name="Shape 18"/>
          <p:cNvSpPr/>
          <p:nvPr/>
        </p:nvSpPr>
        <p:spPr>
          <a:xfrm>
            <a:off x="4541368" y="3291840"/>
            <a:ext cx="3108960" cy="2286000"/>
          </a:xfrm>
          <a:prstGeom prst="rect">
            <a:avLst/>
          </a:prstGeom>
          <a:solidFill>
            <a:srgbClr val="001F5C"/>
          </a:solidFill>
          <a:ln w="12700">
            <a:solidFill>
              <a:srgbClr val="001F5C"/>
            </a:solidFill>
            <a:prstDash val="solid"/>
          </a:ln>
          <a:effectLst>
            <a:outerShdw blurRad="177800" dist="38100" dir="5400000" algn="bl" rotWithShape="0">
              <a:srgbClr val="000000">
                <a:alpha val="12000"/>
              </a:srgbClr>
            </a:outerShdw>
          </a:effectLst>
        </p:spPr>
        <p:txBody>
          <a:bodyPr/>
          <a:lstStyle/>
          <a:p>
            <a:endParaRPr lang="en-US"/>
          </a:p>
        </p:txBody>
      </p:sp>
      <p:sp>
        <p:nvSpPr>
          <p:cNvPr id="22" name="Shape 19"/>
          <p:cNvSpPr/>
          <p:nvPr/>
        </p:nvSpPr>
        <p:spPr>
          <a:xfrm>
            <a:off x="4541368" y="3291840"/>
            <a:ext cx="3108960" cy="109728"/>
          </a:xfrm>
          <a:prstGeom prst="rect">
            <a:avLst/>
          </a:prstGeom>
          <a:solidFill>
            <a:srgbClr val="FEDF01"/>
          </a:solidFill>
          <a:ln w="12700">
            <a:solidFill>
              <a:srgbClr val="FEDF01"/>
            </a:solidFill>
            <a:prstDash val="solid"/>
          </a:ln>
        </p:spPr>
        <p:txBody>
          <a:bodyPr/>
          <a:lstStyle/>
          <a:p>
            <a:endParaRPr lang="en-US"/>
          </a:p>
        </p:txBody>
      </p:sp>
      <p:sp>
        <p:nvSpPr>
          <p:cNvPr id="23" name="Shape 20"/>
          <p:cNvSpPr/>
          <p:nvPr/>
        </p:nvSpPr>
        <p:spPr>
          <a:xfrm>
            <a:off x="5775808" y="3456432"/>
            <a:ext cx="640080" cy="640080"/>
          </a:xfrm>
          <a:prstGeom prst="ellipse">
            <a:avLst/>
          </a:prstGeom>
          <a:solidFill>
            <a:srgbClr val="FFFFFF"/>
          </a:solidFill>
          <a:ln w="12700">
            <a:solidFill>
              <a:srgbClr val="FFFFFF"/>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5848960" y="3529584"/>
            <a:ext cx="493776" cy="493776"/>
          </a:xfrm>
          <a:prstGeom prst="rect">
            <a:avLst/>
          </a:prstGeom>
        </p:spPr>
      </p:pic>
      <p:sp>
        <p:nvSpPr>
          <p:cNvPr id="25" name="Text 21"/>
          <p:cNvSpPr/>
          <p:nvPr/>
        </p:nvSpPr>
        <p:spPr>
          <a:xfrm>
            <a:off x="4541368" y="4133088"/>
            <a:ext cx="31089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SQL Server Squad</a:t>
            </a:r>
            <a:endParaRPr lang="en-US" sz="1600" dirty="0"/>
          </a:p>
        </p:txBody>
      </p:sp>
      <p:sp>
        <p:nvSpPr>
          <p:cNvPr id="26" name="Text 22"/>
          <p:cNvSpPr/>
          <p:nvPr/>
        </p:nvSpPr>
        <p:spPr>
          <a:xfrm>
            <a:off x="4541368" y="4480560"/>
            <a:ext cx="3108960" cy="228600"/>
          </a:xfrm>
          <a:prstGeom prst="rect">
            <a:avLst/>
          </a:prstGeom>
          <a:noFill/>
          <a:ln/>
        </p:spPr>
        <p:txBody>
          <a:bodyPr wrap="square" lIns="0" tIns="0" rIns="0" bIns="0" rtlCol="0" anchor="ctr"/>
          <a:lstStyle/>
          <a:p>
            <a:pPr marL="0" indent="0" algn="ctr">
              <a:buNone/>
            </a:pPr>
            <a:r>
              <a:rPr lang="en-US" sz="1000" i="1" dirty="0">
                <a:solidFill>
                  <a:srgbClr val="FEDF01"/>
                </a:solidFill>
                <a:latin typeface="Calibri" pitchFamily="34" charset="0"/>
                <a:ea typeface="Calibri" pitchFamily="34" charset="-122"/>
                <a:cs typeface="Calibri" pitchFamily="34" charset="-120"/>
              </a:rPr>
              <a:t>8–12 engineers · single team</a:t>
            </a:r>
            <a:endParaRPr lang="en-US" sz="1000" dirty="0"/>
          </a:p>
        </p:txBody>
      </p:sp>
      <p:sp>
        <p:nvSpPr>
          <p:cNvPr id="27" name="Text 23"/>
          <p:cNvSpPr/>
          <p:nvPr/>
        </p:nvSpPr>
        <p:spPr>
          <a:xfrm>
            <a:off x="4769968" y="4754880"/>
            <a:ext cx="2651760" cy="7772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Build IaC modules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Engineer (HA, DR, performance)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Operate (SLOs, on-call, runbooks)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AI agents for incident prevention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Automate everything that can be</a:t>
            </a:r>
            <a:endParaRPr lang="en-US" sz="1000" dirty="0"/>
          </a:p>
        </p:txBody>
      </p:sp>
      <p:sp>
        <p:nvSpPr>
          <p:cNvPr id="28" name="Shape 24"/>
          <p:cNvSpPr/>
          <p:nvPr/>
        </p:nvSpPr>
        <p:spPr>
          <a:xfrm>
            <a:off x="548640" y="32918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29" name="Shape 25"/>
          <p:cNvSpPr/>
          <p:nvPr/>
        </p:nvSpPr>
        <p:spPr>
          <a:xfrm>
            <a:off x="548640" y="3291840"/>
            <a:ext cx="54864" cy="777240"/>
          </a:xfrm>
          <a:prstGeom prst="rect">
            <a:avLst/>
          </a:prstGeom>
          <a:solidFill>
            <a:srgbClr val="FEDF01"/>
          </a:solidFill>
          <a:ln w="12700">
            <a:solidFill>
              <a:srgbClr val="FEDF01"/>
            </a:solidFill>
            <a:prstDash val="solid"/>
          </a:ln>
        </p:spPr>
        <p:txBody>
          <a:bodyPr/>
          <a:lstStyle/>
          <a:p>
            <a:endParaRPr lang="en-US"/>
          </a:p>
        </p:txBody>
      </p:sp>
      <p:sp>
        <p:nvSpPr>
          <p:cNvPr id="30" name="Text 26"/>
          <p:cNvSpPr/>
          <p:nvPr/>
        </p:nvSpPr>
        <p:spPr>
          <a:xfrm>
            <a:off x="685800" y="33832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Compute Squad</a:t>
            </a:r>
            <a:endParaRPr lang="en-US" sz="1100" dirty="0"/>
          </a:p>
        </p:txBody>
      </p:sp>
      <p:sp>
        <p:nvSpPr>
          <p:cNvPr id="31" name="Text 27"/>
          <p:cNvSpPr/>
          <p:nvPr/>
        </p:nvSpPr>
        <p:spPr>
          <a:xfrm>
            <a:off x="685800" y="36576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VMs / hosts</a:t>
            </a:r>
            <a:endParaRPr lang="en-US" sz="900" dirty="0"/>
          </a:p>
        </p:txBody>
      </p:sp>
      <p:sp>
        <p:nvSpPr>
          <p:cNvPr id="32" name="Text 28"/>
          <p:cNvSpPr/>
          <p:nvPr/>
        </p:nvSpPr>
        <p:spPr>
          <a:xfrm>
            <a:off x="685800" y="38404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3" name="Shape 29"/>
          <p:cNvSpPr/>
          <p:nvPr/>
        </p:nvSpPr>
        <p:spPr>
          <a:xfrm>
            <a:off x="548640" y="42062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4" name="Shape 30"/>
          <p:cNvSpPr/>
          <p:nvPr/>
        </p:nvSpPr>
        <p:spPr>
          <a:xfrm>
            <a:off x="548640" y="4206240"/>
            <a:ext cx="54864" cy="777240"/>
          </a:xfrm>
          <a:prstGeom prst="rect">
            <a:avLst/>
          </a:prstGeom>
          <a:solidFill>
            <a:srgbClr val="FEDF01"/>
          </a:solidFill>
          <a:ln w="12700">
            <a:solidFill>
              <a:srgbClr val="FEDF01"/>
            </a:solidFill>
            <a:prstDash val="solid"/>
          </a:ln>
        </p:spPr>
        <p:txBody>
          <a:bodyPr/>
          <a:lstStyle/>
          <a:p>
            <a:endParaRPr lang="en-US"/>
          </a:p>
        </p:txBody>
      </p:sp>
      <p:sp>
        <p:nvSpPr>
          <p:cNvPr id="35" name="Text 31"/>
          <p:cNvSpPr/>
          <p:nvPr/>
        </p:nvSpPr>
        <p:spPr>
          <a:xfrm>
            <a:off x="685800" y="42976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Storage Squad</a:t>
            </a:r>
            <a:endParaRPr lang="en-US" sz="1100" dirty="0"/>
          </a:p>
        </p:txBody>
      </p:sp>
      <p:sp>
        <p:nvSpPr>
          <p:cNvPr id="36" name="Text 32"/>
          <p:cNvSpPr/>
          <p:nvPr/>
        </p:nvSpPr>
        <p:spPr>
          <a:xfrm>
            <a:off x="685800" y="45720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Block / replication</a:t>
            </a:r>
            <a:endParaRPr lang="en-US" sz="900" dirty="0"/>
          </a:p>
        </p:txBody>
      </p:sp>
      <p:sp>
        <p:nvSpPr>
          <p:cNvPr id="37" name="Text 33"/>
          <p:cNvSpPr/>
          <p:nvPr/>
        </p:nvSpPr>
        <p:spPr>
          <a:xfrm>
            <a:off x="685800" y="47548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8" name="Shape 34"/>
          <p:cNvSpPr/>
          <p:nvPr/>
        </p:nvSpPr>
        <p:spPr>
          <a:xfrm>
            <a:off x="548640" y="51206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9" name="Shape 35"/>
          <p:cNvSpPr/>
          <p:nvPr/>
        </p:nvSpPr>
        <p:spPr>
          <a:xfrm>
            <a:off x="548640" y="5120640"/>
            <a:ext cx="54864" cy="777240"/>
          </a:xfrm>
          <a:prstGeom prst="rect">
            <a:avLst/>
          </a:prstGeom>
          <a:solidFill>
            <a:srgbClr val="FEDF01"/>
          </a:solidFill>
          <a:ln w="12700">
            <a:solidFill>
              <a:srgbClr val="FEDF01"/>
            </a:solidFill>
            <a:prstDash val="solid"/>
          </a:ln>
        </p:spPr>
        <p:txBody>
          <a:bodyPr/>
          <a:lstStyle/>
          <a:p>
            <a:endParaRPr lang="en-US"/>
          </a:p>
        </p:txBody>
      </p:sp>
      <p:sp>
        <p:nvSpPr>
          <p:cNvPr id="40" name="Text 36"/>
          <p:cNvSpPr/>
          <p:nvPr/>
        </p:nvSpPr>
        <p:spPr>
          <a:xfrm>
            <a:off x="685800" y="52120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Network Squad</a:t>
            </a:r>
            <a:endParaRPr lang="en-US" sz="1100" dirty="0"/>
          </a:p>
        </p:txBody>
      </p:sp>
      <p:sp>
        <p:nvSpPr>
          <p:cNvPr id="41" name="Text 37"/>
          <p:cNvSpPr/>
          <p:nvPr/>
        </p:nvSpPr>
        <p:spPr>
          <a:xfrm>
            <a:off x="685800" y="54864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ACLs / DNS / LB</a:t>
            </a:r>
            <a:endParaRPr lang="en-US" sz="900" dirty="0"/>
          </a:p>
        </p:txBody>
      </p:sp>
      <p:sp>
        <p:nvSpPr>
          <p:cNvPr id="42" name="Text 38"/>
          <p:cNvSpPr/>
          <p:nvPr/>
        </p:nvSpPr>
        <p:spPr>
          <a:xfrm>
            <a:off x="685800" y="56692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3" name="Shape 39"/>
          <p:cNvSpPr/>
          <p:nvPr/>
        </p:nvSpPr>
        <p:spPr>
          <a:xfrm>
            <a:off x="9859975" y="32918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0"/>
          <p:cNvSpPr/>
          <p:nvPr/>
        </p:nvSpPr>
        <p:spPr>
          <a:xfrm>
            <a:off x="9859975" y="3291840"/>
            <a:ext cx="54864" cy="777240"/>
          </a:xfrm>
          <a:prstGeom prst="rect">
            <a:avLst/>
          </a:prstGeom>
          <a:solidFill>
            <a:srgbClr val="FEDF01"/>
          </a:solidFill>
          <a:ln w="12700">
            <a:solidFill>
              <a:srgbClr val="FEDF01"/>
            </a:solidFill>
            <a:prstDash val="solid"/>
          </a:ln>
        </p:spPr>
        <p:txBody>
          <a:bodyPr/>
          <a:lstStyle/>
          <a:p>
            <a:endParaRPr lang="en-US"/>
          </a:p>
        </p:txBody>
      </p:sp>
      <p:sp>
        <p:nvSpPr>
          <p:cNvPr id="45" name="Text 41"/>
          <p:cNvSpPr/>
          <p:nvPr/>
        </p:nvSpPr>
        <p:spPr>
          <a:xfrm>
            <a:off x="9997135" y="33832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Identity Squad</a:t>
            </a:r>
            <a:endParaRPr lang="en-US" sz="1100" dirty="0"/>
          </a:p>
        </p:txBody>
      </p:sp>
      <p:sp>
        <p:nvSpPr>
          <p:cNvPr id="46" name="Text 42"/>
          <p:cNvSpPr/>
          <p:nvPr/>
        </p:nvSpPr>
        <p:spPr>
          <a:xfrm>
            <a:off x="9997135" y="36576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Service accounts</a:t>
            </a:r>
            <a:endParaRPr lang="en-US" sz="900" dirty="0"/>
          </a:p>
        </p:txBody>
      </p:sp>
      <p:sp>
        <p:nvSpPr>
          <p:cNvPr id="47" name="Text 43"/>
          <p:cNvSpPr/>
          <p:nvPr/>
        </p:nvSpPr>
        <p:spPr>
          <a:xfrm>
            <a:off x="9997135" y="38404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8" name="Shape 44"/>
          <p:cNvSpPr/>
          <p:nvPr/>
        </p:nvSpPr>
        <p:spPr>
          <a:xfrm>
            <a:off x="9859975" y="42062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9" name="Shape 45"/>
          <p:cNvSpPr/>
          <p:nvPr/>
        </p:nvSpPr>
        <p:spPr>
          <a:xfrm>
            <a:off x="9859975" y="4206240"/>
            <a:ext cx="54864" cy="777240"/>
          </a:xfrm>
          <a:prstGeom prst="rect">
            <a:avLst/>
          </a:prstGeom>
          <a:solidFill>
            <a:srgbClr val="FEDF01"/>
          </a:solidFill>
          <a:ln w="12700">
            <a:solidFill>
              <a:srgbClr val="FEDF01"/>
            </a:solidFill>
            <a:prstDash val="solid"/>
          </a:ln>
        </p:spPr>
        <p:txBody>
          <a:bodyPr/>
          <a:lstStyle/>
          <a:p>
            <a:endParaRPr lang="en-US"/>
          </a:p>
        </p:txBody>
      </p:sp>
      <p:sp>
        <p:nvSpPr>
          <p:cNvPr id="50" name="Text 46"/>
          <p:cNvSpPr/>
          <p:nvPr/>
        </p:nvSpPr>
        <p:spPr>
          <a:xfrm>
            <a:off x="9997135" y="42976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Observability Squad</a:t>
            </a:r>
            <a:endParaRPr lang="en-US" sz="1100" dirty="0"/>
          </a:p>
        </p:txBody>
      </p:sp>
      <p:sp>
        <p:nvSpPr>
          <p:cNvPr id="51" name="Text 47"/>
          <p:cNvSpPr/>
          <p:nvPr/>
        </p:nvSpPr>
        <p:spPr>
          <a:xfrm>
            <a:off x="9997135" y="45720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Metrics / logs</a:t>
            </a:r>
            <a:endParaRPr lang="en-US" sz="900" dirty="0"/>
          </a:p>
        </p:txBody>
      </p:sp>
      <p:sp>
        <p:nvSpPr>
          <p:cNvPr id="52" name="Text 48"/>
          <p:cNvSpPr/>
          <p:nvPr/>
        </p:nvSpPr>
        <p:spPr>
          <a:xfrm>
            <a:off x="9997135" y="47548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3" name="Shape 49"/>
          <p:cNvSpPr/>
          <p:nvPr/>
        </p:nvSpPr>
        <p:spPr>
          <a:xfrm>
            <a:off x="9859975" y="51206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54" name="Shape 50"/>
          <p:cNvSpPr/>
          <p:nvPr/>
        </p:nvSpPr>
        <p:spPr>
          <a:xfrm>
            <a:off x="9859975" y="5120640"/>
            <a:ext cx="54864" cy="777240"/>
          </a:xfrm>
          <a:prstGeom prst="rect">
            <a:avLst/>
          </a:prstGeom>
          <a:solidFill>
            <a:srgbClr val="FEDF01"/>
          </a:solidFill>
          <a:ln w="12700">
            <a:solidFill>
              <a:srgbClr val="FEDF01"/>
            </a:solidFill>
            <a:prstDash val="solid"/>
          </a:ln>
        </p:spPr>
        <p:txBody>
          <a:bodyPr/>
          <a:lstStyle/>
          <a:p>
            <a:endParaRPr lang="en-US"/>
          </a:p>
        </p:txBody>
      </p:sp>
      <p:sp>
        <p:nvSpPr>
          <p:cNvPr id="55" name="Text 51"/>
          <p:cNvSpPr/>
          <p:nvPr/>
        </p:nvSpPr>
        <p:spPr>
          <a:xfrm>
            <a:off x="9997135" y="52120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Security Squad</a:t>
            </a:r>
            <a:endParaRPr lang="en-US" sz="1100" dirty="0"/>
          </a:p>
        </p:txBody>
      </p:sp>
      <p:sp>
        <p:nvSpPr>
          <p:cNvPr id="56" name="Text 52"/>
          <p:cNvSpPr/>
          <p:nvPr/>
        </p:nvSpPr>
        <p:spPr>
          <a:xfrm>
            <a:off x="9997135" y="54864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Policy / scans</a:t>
            </a:r>
            <a:endParaRPr lang="en-US" sz="900" dirty="0"/>
          </a:p>
        </p:txBody>
      </p:sp>
      <p:sp>
        <p:nvSpPr>
          <p:cNvPr id="57" name="Text 53"/>
          <p:cNvSpPr/>
          <p:nvPr/>
        </p:nvSpPr>
        <p:spPr>
          <a:xfrm>
            <a:off x="9997135" y="56692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8" name="Shape 54"/>
          <p:cNvSpPr/>
          <p:nvPr/>
        </p:nvSpPr>
        <p:spPr>
          <a:xfrm>
            <a:off x="2331720" y="3558540"/>
            <a:ext cx="2209648" cy="121920"/>
          </a:xfrm>
          <a:prstGeom prst="line">
            <a:avLst/>
          </a:prstGeom>
          <a:noFill/>
          <a:ln w="12700">
            <a:solidFill>
              <a:srgbClr val="94A3B8"/>
            </a:solidFill>
            <a:prstDash val="dash"/>
            <a:headEnd type="none"/>
            <a:tailEnd type="triangle"/>
          </a:ln>
        </p:spPr>
        <p:txBody>
          <a:bodyPr/>
          <a:lstStyle/>
          <a:p>
            <a:endParaRPr lang="en-US"/>
          </a:p>
        </p:txBody>
      </p:sp>
      <p:sp>
        <p:nvSpPr>
          <p:cNvPr id="59" name="Shape 55"/>
          <p:cNvSpPr/>
          <p:nvPr/>
        </p:nvSpPr>
        <p:spPr>
          <a:xfrm>
            <a:off x="2331720" y="4320540"/>
            <a:ext cx="2209648" cy="274320"/>
          </a:xfrm>
          <a:prstGeom prst="line">
            <a:avLst/>
          </a:prstGeom>
          <a:noFill/>
          <a:ln w="12700">
            <a:solidFill>
              <a:srgbClr val="94A3B8"/>
            </a:solidFill>
            <a:prstDash val="dash"/>
            <a:headEnd type="none"/>
            <a:tailEnd type="triangle"/>
          </a:ln>
        </p:spPr>
        <p:txBody>
          <a:bodyPr/>
          <a:lstStyle/>
          <a:p>
            <a:endParaRPr lang="en-US"/>
          </a:p>
        </p:txBody>
      </p:sp>
      <p:sp>
        <p:nvSpPr>
          <p:cNvPr id="60" name="Shape 56"/>
          <p:cNvSpPr/>
          <p:nvPr/>
        </p:nvSpPr>
        <p:spPr>
          <a:xfrm>
            <a:off x="2331720" y="5082540"/>
            <a:ext cx="2209648" cy="426720"/>
          </a:xfrm>
          <a:prstGeom prst="line">
            <a:avLst/>
          </a:prstGeom>
          <a:noFill/>
          <a:ln w="12700">
            <a:solidFill>
              <a:srgbClr val="94A3B8"/>
            </a:solidFill>
            <a:prstDash val="dash"/>
            <a:headEnd type="none"/>
            <a:tailEnd type="triangle"/>
          </a:ln>
        </p:spPr>
        <p:txBody>
          <a:bodyPr/>
          <a:lstStyle/>
          <a:p>
            <a:endParaRPr lang="en-US"/>
          </a:p>
        </p:txBody>
      </p:sp>
      <p:sp>
        <p:nvSpPr>
          <p:cNvPr id="61" name="Shape 57"/>
          <p:cNvSpPr/>
          <p:nvPr/>
        </p:nvSpPr>
        <p:spPr>
          <a:xfrm>
            <a:off x="7650328" y="3558540"/>
            <a:ext cx="2209648" cy="121920"/>
          </a:xfrm>
          <a:prstGeom prst="line">
            <a:avLst/>
          </a:prstGeom>
          <a:noFill/>
          <a:ln w="12700">
            <a:solidFill>
              <a:srgbClr val="94A3B8"/>
            </a:solidFill>
            <a:prstDash val="dash"/>
            <a:headEnd type="triangle"/>
            <a:tailEnd type="none"/>
          </a:ln>
        </p:spPr>
        <p:txBody>
          <a:bodyPr/>
          <a:lstStyle/>
          <a:p>
            <a:endParaRPr lang="en-US"/>
          </a:p>
        </p:txBody>
      </p:sp>
      <p:sp>
        <p:nvSpPr>
          <p:cNvPr id="62" name="Shape 58"/>
          <p:cNvSpPr/>
          <p:nvPr/>
        </p:nvSpPr>
        <p:spPr>
          <a:xfrm>
            <a:off x="7650328" y="4320540"/>
            <a:ext cx="2209648" cy="274320"/>
          </a:xfrm>
          <a:prstGeom prst="line">
            <a:avLst/>
          </a:prstGeom>
          <a:noFill/>
          <a:ln w="12700">
            <a:solidFill>
              <a:srgbClr val="94A3B8"/>
            </a:solidFill>
            <a:prstDash val="dash"/>
            <a:headEnd type="triangle"/>
            <a:tailEnd type="none"/>
          </a:ln>
        </p:spPr>
        <p:txBody>
          <a:bodyPr/>
          <a:lstStyle/>
          <a:p>
            <a:endParaRPr lang="en-US"/>
          </a:p>
        </p:txBody>
      </p:sp>
      <p:sp>
        <p:nvSpPr>
          <p:cNvPr id="63" name="Shape 59"/>
          <p:cNvSpPr/>
          <p:nvPr/>
        </p:nvSpPr>
        <p:spPr>
          <a:xfrm>
            <a:off x="7650328" y="5082540"/>
            <a:ext cx="2209648" cy="426720"/>
          </a:xfrm>
          <a:prstGeom prst="line">
            <a:avLst/>
          </a:prstGeom>
          <a:noFill/>
          <a:ln w="12700">
            <a:solidFill>
              <a:srgbClr val="94A3B8"/>
            </a:solidFill>
            <a:prstDash val="dash"/>
            <a:headEnd type="triangle"/>
            <a:tailEnd type="none"/>
          </a:ln>
        </p:spPr>
        <p:txBody>
          <a:bodyPr/>
          <a:lstStyle/>
          <a:p>
            <a:endParaRPr lang="en-US"/>
          </a:p>
        </p:txBody>
      </p:sp>
      <p:sp>
        <p:nvSpPr>
          <p:cNvPr id="64" name="Text 60"/>
          <p:cNvSpPr/>
          <p:nvPr/>
        </p:nvSpPr>
        <p:spPr>
          <a:xfrm>
            <a:off x="548640" y="5623560"/>
            <a:ext cx="11094415"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 consumes peer squads as services →</a:t>
            </a:r>
            <a:endParaRPr lang="en-US" sz="900" dirty="0"/>
          </a:p>
        </p:txBody>
      </p:sp>
      <p:sp>
        <p:nvSpPr>
          <p:cNvPr id="65" name="Shape 61"/>
          <p:cNvSpPr/>
          <p:nvPr/>
        </p:nvSpPr>
        <p:spPr>
          <a:xfrm>
            <a:off x="457200" y="6172200"/>
            <a:ext cx="11274552" cy="365760"/>
          </a:xfrm>
          <a:prstGeom prst="rect">
            <a:avLst/>
          </a:prstGeom>
          <a:solidFill>
            <a:srgbClr val="FFF1A8"/>
          </a:solidFill>
          <a:ln w="12700">
            <a:solidFill>
              <a:srgbClr val="FEDF01"/>
            </a:solidFill>
            <a:prstDash val="solid"/>
          </a:ln>
        </p:spPr>
        <p:txBody>
          <a:bodyPr/>
          <a:lstStyle/>
          <a:p>
            <a:endParaRPr lang="en-US"/>
          </a:p>
        </p:txBody>
      </p:sp>
      <p:pic>
        <p:nvPicPr>
          <p:cNvPr id="66" name="Image 2" descr="preencoded.png"/>
          <p:cNvPicPr>
            <a:picLocks noChangeAspect="1"/>
          </p:cNvPicPr>
          <p:nvPr/>
        </p:nvPicPr>
        <p:blipFill>
          <a:blip r:embed="rId5"/>
          <a:stretch>
            <a:fillRect/>
          </a:stretch>
        </p:blipFill>
        <p:spPr>
          <a:xfrm>
            <a:off x="640080" y="6245352"/>
            <a:ext cx="219456" cy="219456"/>
          </a:xfrm>
          <a:prstGeom prst="rect">
            <a:avLst/>
          </a:prstGeom>
        </p:spPr>
      </p:pic>
      <p:sp>
        <p:nvSpPr>
          <p:cNvPr id="67" name="Text 62"/>
          <p:cNvSpPr/>
          <p:nvPr/>
        </p:nvSpPr>
        <p:spPr>
          <a:xfrm>
            <a:off x="914400" y="6172200"/>
            <a:ext cx="10515600" cy="36576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Same pattern for every capability — Kubernetes, Compute, Network, Storage. Each is a peer squad doing the full lifecycle. No towers. No handoffs.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FOUNDATIONAL FRAMEWORK</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Four Team Types  ·  Three Interaction Modes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We adopt the Team Topologies framework (Skelton &amp; Pais) — the canonical model behind ING, Capital One, Netflix, JPMC's platform org, and Google SRE.</a:t>
            </a:r>
            <a:endParaRPr lang="en-US" sz="1200" dirty="0"/>
          </a:p>
        </p:txBody>
      </p:sp>
      <p:sp>
        <p:nvSpPr>
          <p:cNvPr id="8" name="Shape 5"/>
          <p:cNvSpPr/>
          <p:nvPr/>
        </p:nvSpPr>
        <p:spPr>
          <a:xfrm>
            <a:off x="545440" y="1874520"/>
            <a:ext cx="2651760" cy="310896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545440"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19760" y="2194560"/>
            <a:ext cx="457200" cy="457200"/>
          </a:xfrm>
          <a:prstGeom prst="rect">
            <a:avLst/>
          </a:prstGeom>
        </p:spPr>
      </p:pic>
      <p:sp>
        <p:nvSpPr>
          <p:cNvPr id="11" name="Text 7"/>
          <p:cNvSpPr/>
          <p:nvPr/>
        </p:nvSpPr>
        <p:spPr>
          <a:xfrm>
            <a:off x="819760"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Stream-Aligned</a:t>
            </a:r>
            <a:endParaRPr lang="en-US" sz="1800" dirty="0"/>
          </a:p>
        </p:txBody>
      </p:sp>
      <p:sp>
        <p:nvSpPr>
          <p:cNvPr id="12" name="Text 8"/>
          <p:cNvSpPr/>
          <p:nvPr/>
        </p:nvSpPr>
        <p:spPr>
          <a:xfrm>
            <a:off x="819760"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60–80%</a:t>
            </a:r>
            <a:endParaRPr lang="en-US" sz="3000" dirty="0"/>
          </a:p>
        </p:txBody>
      </p:sp>
      <p:sp>
        <p:nvSpPr>
          <p:cNvPr id="13" name="Text 9"/>
          <p:cNvSpPr/>
          <p:nvPr/>
        </p:nvSpPr>
        <p:spPr>
          <a:xfrm>
            <a:off x="819760"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14" name="Text 10"/>
          <p:cNvSpPr/>
          <p:nvPr/>
        </p:nvSpPr>
        <p:spPr>
          <a:xfrm>
            <a:off x="819760"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Persistent squads owning a value stream end-to-end. Build it, run it, improve it.</a:t>
            </a:r>
            <a:endParaRPr lang="en-US" sz="1100" dirty="0"/>
          </a:p>
        </p:txBody>
      </p:sp>
      <p:sp>
        <p:nvSpPr>
          <p:cNvPr id="15" name="Shape 11"/>
          <p:cNvSpPr/>
          <p:nvPr/>
        </p:nvSpPr>
        <p:spPr>
          <a:xfrm>
            <a:off x="3361792" y="1874520"/>
            <a:ext cx="2651760" cy="310896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16" name="Shape 12"/>
          <p:cNvSpPr/>
          <p:nvPr/>
        </p:nvSpPr>
        <p:spPr>
          <a:xfrm>
            <a:off x="3361792"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636112" y="2194560"/>
            <a:ext cx="457200" cy="457200"/>
          </a:xfrm>
          <a:prstGeom prst="rect">
            <a:avLst/>
          </a:prstGeom>
        </p:spPr>
      </p:pic>
      <p:sp>
        <p:nvSpPr>
          <p:cNvPr id="18" name="Text 13"/>
          <p:cNvSpPr/>
          <p:nvPr/>
        </p:nvSpPr>
        <p:spPr>
          <a:xfrm>
            <a:off x="3636112"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Platform</a:t>
            </a:r>
            <a:endParaRPr lang="en-US" sz="1800" dirty="0"/>
          </a:p>
        </p:txBody>
      </p:sp>
      <p:sp>
        <p:nvSpPr>
          <p:cNvPr id="19" name="Text 14"/>
          <p:cNvSpPr/>
          <p:nvPr/>
        </p:nvSpPr>
        <p:spPr>
          <a:xfrm>
            <a:off x="3636112"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10–20%</a:t>
            </a:r>
            <a:endParaRPr lang="en-US" sz="3000" dirty="0"/>
          </a:p>
        </p:txBody>
      </p:sp>
      <p:sp>
        <p:nvSpPr>
          <p:cNvPr id="20" name="Text 15"/>
          <p:cNvSpPr/>
          <p:nvPr/>
        </p:nvSpPr>
        <p:spPr>
          <a:xfrm>
            <a:off x="3636112"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1" name="Text 16"/>
          <p:cNvSpPr/>
          <p:nvPr/>
        </p:nvSpPr>
        <p:spPr>
          <a:xfrm>
            <a:off x="3636112"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Internal services consumed by stream-aligned teams. Treated as products, with PMs and roadmaps.</a:t>
            </a:r>
            <a:endParaRPr lang="en-US" sz="1100" dirty="0"/>
          </a:p>
        </p:txBody>
      </p:sp>
      <p:sp>
        <p:nvSpPr>
          <p:cNvPr id="22" name="Shape 17"/>
          <p:cNvSpPr/>
          <p:nvPr/>
        </p:nvSpPr>
        <p:spPr>
          <a:xfrm>
            <a:off x="6178144" y="1874520"/>
            <a:ext cx="2651760" cy="310896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23" name="Shape 18"/>
          <p:cNvSpPr/>
          <p:nvPr/>
        </p:nvSpPr>
        <p:spPr>
          <a:xfrm>
            <a:off x="6178144"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452464" y="2194560"/>
            <a:ext cx="457200" cy="457200"/>
          </a:xfrm>
          <a:prstGeom prst="rect">
            <a:avLst/>
          </a:prstGeom>
        </p:spPr>
      </p:pic>
      <p:sp>
        <p:nvSpPr>
          <p:cNvPr id="25" name="Text 19"/>
          <p:cNvSpPr/>
          <p:nvPr/>
        </p:nvSpPr>
        <p:spPr>
          <a:xfrm>
            <a:off x="6452464"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Enabling</a:t>
            </a:r>
            <a:endParaRPr lang="en-US" sz="1800" dirty="0"/>
          </a:p>
        </p:txBody>
      </p:sp>
      <p:sp>
        <p:nvSpPr>
          <p:cNvPr id="26" name="Text 20"/>
          <p:cNvSpPr/>
          <p:nvPr/>
        </p:nvSpPr>
        <p:spPr>
          <a:xfrm>
            <a:off x="6452464"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5–15%</a:t>
            </a:r>
            <a:endParaRPr lang="en-US" sz="3000" dirty="0"/>
          </a:p>
        </p:txBody>
      </p:sp>
      <p:sp>
        <p:nvSpPr>
          <p:cNvPr id="27" name="Text 21"/>
          <p:cNvSpPr/>
          <p:nvPr/>
        </p:nvSpPr>
        <p:spPr>
          <a:xfrm>
            <a:off x="6452464"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8" name="Text 22"/>
          <p:cNvSpPr/>
          <p:nvPr/>
        </p:nvSpPr>
        <p:spPr>
          <a:xfrm>
            <a:off x="6452464"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Time-boxed coaching teams that uplift capability, then move on. Architecture sits here as part-time enablers.</a:t>
            </a:r>
            <a:endParaRPr lang="en-US" sz="1100" dirty="0"/>
          </a:p>
        </p:txBody>
      </p:sp>
      <p:sp>
        <p:nvSpPr>
          <p:cNvPr id="29" name="Shape 23"/>
          <p:cNvSpPr/>
          <p:nvPr/>
        </p:nvSpPr>
        <p:spPr>
          <a:xfrm>
            <a:off x="8994496" y="1874520"/>
            <a:ext cx="2651760" cy="310896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30" name="Shape 24"/>
          <p:cNvSpPr/>
          <p:nvPr/>
        </p:nvSpPr>
        <p:spPr>
          <a:xfrm>
            <a:off x="8994496"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268816" y="2194560"/>
            <a:ext cx="457200" cy="457200"/>
          </a:xfrm>
          <a:prstGeom prst="rect">
            <a:avLst/>
          </a:prstGeom>
        </p:spPr>
      </p:pic>
      <p:sp>
        <p:nvSpPr>
          <p:cNvPr id="32" name="Text 25"/>
          <p:cNvSpPr/>
          <p:nvPr/>
        </p:nvSpPr>
        <p:spPr>
          <a:xfrm>
            <a:off x="9268816"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Complicated-Subsystem</a:t>
            </a:r>
            <a:endParaRPr lang="en-US" sz="1800" dirty="0"/>
          </a:p>
        </p:txBody>
      </p:sp>
      <p:sp>
        <p:nvSpPr>
          <p:cNvPr id="33" name="Text 26"/>
          <p:cNvSpPr/>
          <p:nvPr/>
        </p:nvSpPr>
        <p:spPr>
          <a:xfrm>
            <a:off x="9268816"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Few</a:t>
            </a:r>
            <a:endParaRPr lang="en-US" sz="3000" dirty="0"/>
          </a:p>
        </p:txBody>
      </p:sp>
      <p:sp>
        <p:nvSpPr>
          <p:cNvPr id="34" name="Text 27"/>
          <p:cNvSpPr/>
          <p:nvPr/>
        </p:nvSpPr>
        <p:spPr>
          <a:xfrm>
            <a:off x="9268816"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where load justifies</a:t>
            </a:r>
            <a:endParaRPr lang="en-US" sz="1000" dirty="0"/>
          </a:p>
        </p:txBody>
      </p:sp>
      <p:sp>
        <p:nvSpPr>
          <p:cNvPr id="35" name="Text 28"/>
          <p:cNvSpPr/>
          <p:nvPr/>
        </p:nvSpPr>
        <p:spPr>
          <a:xfrm>
            <a:off x="9268816"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Deep specialist teams for niches like crypto/HSM, kernel, specialized AI model serving.</a:t>
            </a:r>
            <a:endParaRPr lang="en-US" sz="1100" dirty="0"/>
          </a:p>
        </p:txBody>
      </p:sp>
      <p:sp>
        <p:nvSpPr>
          <p:cNvPr id="36" name="Text 29"/>
          <p:cNvSpPr/>
          <p:nvPr/>
        </p:nvSpPr>
        <p:spPr>
          <a:xfrm>
            <a:off x="457200" y="5212080"/>
            <a:ext cx="10972800" cy="274320"/>
          </a:xfrm>
          <a:prstGeom prst="rect">
            <a:avLst/>
          </a:prstGeom>
          <a:noFill/>
          <a:ln/>
        </p:spPr>
        <p:txBody>
          <a:bodyPr wrap="square" lIns="0" tIns="0" rIns="0" bIns="0" rtlCol="0" anchor="ctr"/>
          <a:lstStyle/>
          <a:p>
            <a:pPr marL="0" indent="0">
              <a:buNone/>
            </a:pPr>
            <a:r>
              <a:rPr lang="en-US" sz="1400" b="1" dirty="0">
                <a:solidFill>
                  <a:srgbClr val="003DA5"/>
                </a:solidFill>
                <a:latin typeface="Georgia" pitchFamily="34" charset="0"/>
                <a:ea typeface="Georgia" pitchFamily="34" charset="-122"/>
                <a:cs typeface="Georgia" pitchFamily="34" charset="-120"/>
              </a:rPr>
              <a:t>Three Interaction Modes</a:t>
            </a:r>
            <a:endParaRPr lang="en-US" sz="1400" dirty="0"/>
          </a:p>
        </p:txBody>
      </p:sp>
      <p:sp>
        <p:nvSpPr>
          <p:cNvPr id="37" name="Shape 30"/>
          <p:cNvSpPr/>
          <p:nvPr/>
        </p:nvSpPr>
        <p:spPr>
          <a:xfrm>
            <a:off x="45720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38" name="Shape 31"/>
          <p:cNvSpPr/>
          <p:nvPr/>
        </p:nvSpPr>
        <p:spPr>
          <a:xfrm>
            <a:off x="45720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39" name="Text 32"/>
          <p:cNvSpPr/>
          <p:nvPr/>
        </p:nvSpPr>
        <p:spPr>
          <a:xfrm>
            <a:off x="68580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Collaboration</a:t>
            </a:r>
            <a:endParaRPr lang="en-US" sz="1300" dirty="0"/>
          </a:p>
        </p:txBody>
      </p:sp>
      <p:sp>
        <p:nvSpPr>
          <p:cNvPr id="40" name="Text 33"/>
          <p:cNvSpPr/>
          <p:nvPr/>
        </p:nvSpPr>
        <p:spPr>
          <a:xfrm>
            <a:off x="68580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Short-lived discovery &amp; joint problem-solving</a:t>
            </a:r>
            <a:endParaRPr lang="en-US" sz="1100" dirty="0"/>
          </a:p>
        </p:txBody>
      </p:sp>
      <p:sp>
        <p:nvSpPr>
          <p:cNvPr id="41" name="Shape 34"/>
          <p:cNvSpPr/>
          <p:nvPr/>
        </p:nvSpPr>
        <p:spPr>
          <a:xfrm>
            <a:off x="429768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42" name="Shape 35"/>
          <p:cNvSpPr/>
          <p:nvPr/>
        </p:nvSpPr>
        <p:spPr>
          <a:xfrm>
            <a:off x="429768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43" name="Text 36"/>
          <p:cNvSpPr/>
          <p:nvPr/>
        </p:nvSpPr>
        <p:spPr>
          <a:xfrm>
            <a:off x="452628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X-as-a-Service</a:t>
            </a:r>
            <a:endParaRPr lang="en-US" sz="1300" dirty="0"/>
          </a:p>
        </p:txBody>
      </p:sp>
      <p:sp>
        <p:nvSpPr>
          <p:cNvPr id="44" name="Text 37"/>
          <p:cNvSpPr/>
          <p:nvPr/>
        </p:nvSpPr>
        <p:spPr>
          <a:xfrm>
            <a:off x="452628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Steady-state self-service consumption (default)</a:t>
            </a:r>
            <a:endParaRPr lang="en-US" sz="1100" dirty="0"/>
          </a:p>
        </p:txBody>
      </p:sp>
      <p:sp>
        <p:nvSpPr>
          <p:cNvPr id="45" name="Shape 38"/>
          <p:cNvSpPr/>
          <p:nvPr/>
        </p:nvSpPr>
        <p:spPr>
          <a:xfrm>
            <a:off x="813816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46" name="Shape 39"/>
          <p:cNvSpPr/>
          <p:nvPr/>
        </p:nvSpPr>
        <p:spPr>
          <a:xfrm>
            <a:off x="813816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47" name="Text 40"/>
          <p:cNvSpPr/>
          <p:nvPr/>
        </p:nvSpPr>
        <p:spPr>
          <a:xfrm>
            <a:off x="836676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Facilitating</a:t>
            </a:r>
            <a:endParaRPr lang="en-US" sz="1300" dirty="0"/>
          </a:p>
        </p:txBody>
      </p:sp>
      <p:sp>
        <p:nvSpPr>
          <p:cNvPr id="48" name="Text 41"/>
          <p:cNvSpPr/>
          <p:nvPr/>
        </p:nvSpPr>
        <p:spPr>
          <a:xfrm>
            <a:off x="836676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Enabling team coaches another for a fixed period</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STRUCTURE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Seven Tribes Aligned to Value Streams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Each tribe groups 5–10 squads around a coherent infrastructure value stream. Led by a Tribe Lead + Tribe Product Lead + Tribe Engineering Lead triad.</a:t>
            </a:r>
            <a:endParaRPr lang="en-US" sz="1200" dirty="0"/>
          </a:p>
        </p:txBody>
      </p:sp>
      <p:sp>
        <p:nvSpPr>
          <p:cNvPr id="8" name="Shape 5"/>
          <p:cNvSpPr/>
          <p:nvPr/>
        </p:nvSpPr>
        <p:spPr>
          <a:xfrm>
            <a:off x="389992"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389992"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18592" y="2148840"/>
            <a:ext cx="457200" cy="457200"/>
          </a:xfrm>
          <a:prstGeom prst="rect">
            <a:avLst/>
          </a:prstGeom>
        </p:spPr>
      </p:pic>
      <p:sp>
        <p:nvSpPr>
          <p:cNvPr id="11" name="Text 7"/>
          <p:cNvSpPr/>
          <p:nvPr/>
        </p:nvSpPr>
        <p:spPr>
          <a:xfrm>
            <a:off x="1258672"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Compute &amp; Container Platforms</a:t>
            </a:r>
            <a:endParaRPr lang="en-US" sz="1300" dirty="0"/>
          </a:p>
        </p:txBody>
      </p:sp>
      <p:sp>
        <p:nvSpPr>
          <p:cNvPr id="12" name="Text 8"/>
          <p:cNvSpPr/>
          <p:nvPr/>
        </p:nvSpPr>
        <p:spPr>
          <a:xfrm>
            <a:off x="618592"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VM, Kubernetes, bare-metal, GPU runtime</a:t>
            </a:r>
            <a:endParaRPr lang="en-US" sz="1100" dirty="0"/>
          </a:p>
        </p:txBody>
      </p:sp>
      <p:sp>
        <p:nvSpPr>
          <p:cNvPr id="13" name="Shape 9"/>
          <p:cNvSpPr/>
          <p:nvPr/>
        </p:nvSpPr>
        <p:spPr>
          <a:xfrm>
            <a:off x="2081632"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14" name="Text 10"/>
          <p:cNvSpPr/>
          <p:nvPr/>
        </p:nvSpPr>
        <p:spPr>
          <a:xfrm>
            <a:off x="2081632"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~350 FTE</a:t>
            </a:r>
            <a:endParaRPr lang="en-US" sz="1000" dirty="0"/>
          </a:p>
        </p:txBody>
      </p:sp>
      <p:sp>
        <p:nvSpPr>
          <p:cNvPr id="15" name="Shape 11"/>
          <p:cNvSpPr/>
          <p:nvPr/>
        </p:nvSpPr>
        <p:spPr>
          <a:xfrm>
            <a:off x="3279496"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6" name="Shape 12"/>
          <p:cNvSpPr/>
          <p:nvPr/>
        </p:nvSpPr>
        <p:spPr>
          <a:xfrm>
            <a:off x="3279496"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508096" y="2148840"/>
            <a:ext cx="457200" cy="457200"/>
          </a:xfrm>
          <a:prstGeom prst="rect">
            <a:avLst/>
          </a:prstGeom>
        </p:spPr>
      </p:pic>
      <p:sp>
        <p:nvSpPr>
          <p:cNvPr id="18" name="Text 13"/>
          <p:cNvSpPr/>
          <p:nvPr/>
        </p:nvSpPr>
        <p:spPr>
          <a:xfrm>
            <a:off x="4148176"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Network, Edge &amp; Connectivity</a:t>
            </a:r>
            <a:endParaRPr lang="en-US" sz="1300" dirty="0"/>
          </a:p>
        </p:txBody>
      </p:sp>
      <p:sp>
        <p:nvSpPr>
          <p:cNvPr id="19" name="Text 14"/>
          <p:cNvSpPr/>
          <p:nvPr/>
        </p:nvSpPr>
        <p:spPr>
          <a:xfrm>
            <a:off x="3508096"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SDN, LB, DNS, edge, service mesh</a:t>
            </a:r>
            <a:endParaRPr lang="en-US" sz="1100" dirty="0"/>
          </a:p>
        </p:txBody>
      </p:sp>
      <p:sp>
        <p:nvSpPr>
          <p:cNvPr id="20" name="Shape 15"/>
          <p:cNvSpPr/>
          <p:nvPr/>
        </p:nvSpPr>
        <p:spPr>
          <a:xfrm>
            <a:off x="4971136"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21" name="Text 16"/>
          <p:cNvSpPr/>
          <p:nvPr/>
        </p:nvSpPr>
        <p:spPr>
          <a:xfrm>
            <a:off x="4971136"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~280 FTE</a:t>
            </a:r>
            <a:endParaRPr lang="en-US" sz="1000" dirty="0"/>
          </a:p>
        </p:txBody>
      </p:sp>
      <p:sp>
        <p:nvSpPr>
          <p:cNvPr id="22" name="Shape 17"/>
          <p:cNvSpPr/>
          <p:nvPr/>
        </p:nvSpPr>
        <p:spPr>
          <a:xfrm>
            <a:off x="6169000"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3" name="Shape 18"/>
          <p:cNvSpPr/>
          <p:nvPr/>
        </p:nvSpPr>
        <p:spPr>
          <a:xfrm>
            <a:off x="6169000"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397600" y="2148840"/>
            <a:ext cx="457200" cy="457200"/>
          </a:xfrm>
          <a:prstGeom prst="rect">
            <a:avLst/>
          </a:prstGeom>
        </p:spPr>
      </p:pic>
      <p:sp>
        <p:nvSpPr>
          <p:cNvPr id="25" name="Text 19"/>
          <p:cNvSpPr/>
          <p:nvPr/>
        </p:nvSpPr>
        <p:spPr>
          <a:xfrm>
            <a:off x="7037680"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Data, Storage &amp; Database</a:t>
            </a:r>
            <a:endParaRPr lang="en-US" sz="1300" dirty="0"/>
          </a:p>
        </p:txBody>
      </p:sp>
      <p:sp>
        <p:nvSpPr>
          <p:cNvPr id="26" name="Text 20"/>
          <p:cNvSpPr/>
          <p:nvPr/>
        </p:nvSpPr>
        <p:spPr>
          <a:xfrm>
            <a:off x="6397600"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Block / object / file, DBaaS, data fabric</a:t>
            </a:r>
            <a:endParaRPr lang="en-US" sz="1100" dirty="0"/>
          </a:p>
        </p:txBody>
      </p:sp>
      <p:sp>
        <p:nvSpPr>
          <p:cNvPr id="27" name="Shape 21"/>
          <p:cNvSpPr/>
          <p:nvPr/>
        </p:nvSpPr>
        <p:spPr>
          <a:xfrm>
            <a:off x="7860640"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28" name="Text 22"/>
          <p:cNvSpPr/>
          <p:nvPr/>
        </p:nvSpPr>
        <p:spPr>
          <a:xfrm>
            <a:off x="7860640"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29" name="Shape 23"/>
          <p:cNvSpPr/>
          <p:nvPr/>
        </p:nvSpPr>
        <p:spPr>
          <a:xfrm>
            <a:off x="9058504"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4"/>
          <p:cNvSpPr/>
          <p:nvPr/>
        </p:nvSpPr>
        <p:spPr>
          <a:xfrm>
            <a:off x="9058504"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287104" y="2148840"/>
            <a:ext cx="457200" cy="457200"/>
          </a:xfrm>
          <a:prstGeom prst="rect">
            <a:avLst/>
          </a:prstGeom>
        </p:spPr>
      </p:pic>
      <p:sp>
        <p:nvSpPr>
          <p:cNvPr id="32" name="Text 25"/>
          <p:cNvSpPr/>
          <p:nvPr/>
        </p:nvSpPr>
        <p:spPr>
          <a:xfrm>
            <a:off x="9927184"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Zephyr IaC &amp; Lifecycle</a:t>
            </a:r>
            <a:endParaRPr lang="en-US" sz="1300" dirty="0"/>
          </a:p>
        </p:txBody>
      </p:sp>
      <p:sp>
        <p:nvSpPr>
          <p:cNvPr id="33" name="Text 26"/>
          <p:cNvSpPr/>
          <p:nvPr/>
        </p:nvSpPr>
        <p:spPr>
          <a:xfrm>
            <a:off x="9287104"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34 platforms · Private Cloud Lifecycle</a:t>
            </a:r>
            <a:endParaRPr lang="en-US" sz="1100" dirty="0"/>
          </a:p>
        </p:txBody>
      </p:sp>
      <p:sp>
        <p:nvSpPr>
          <p:cNvPr id="34" name="Shape 27"/>
          <p:cNvSpPr/>
          <p:nvPr/>
        </p:nvSpPr>
        <p:spPr>
          <a:xfrm>
            <a:off x="10750144"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35" name="Text 28"/>
          <p:cNvSpPr/>
          <p:nvPr/>
        </p:nvSpPr>
        <p:spPr>
          <a:xfrm>
            <a:off x="10750144"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~400 FTE</a:t>
            </a:r>
            <a:endParaRPr lang="en-US" sz="1000" dirty="0"/>
          </a:p>
        </p:txBody>
      </p:sp>
      <p:sp>
        <p:nvSpPr>
          <p:cNvPr id="36" name="Shape 29"/>
          <p:cNvSpPr/>
          <p:nvPr/>
        </p:nvSpPr>
        <p:spPr>
          <a:xfrm>
            <a:off x="1834744"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7" name="Shape 30"/>
          <p:cNvSpPr/>
          <p:nvPr/>
        </p:nvSpPr>
        <p:spPr>
          <a:xfrm>
            <a:off x="1834744"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38" name="Image 5" descr="preencoded.png"/>
          <p:cNvPicPr>
            <a:picLocks noChangeAspect="1"/>
          </p:cNvPicPr>
          <p:nvPr/>
        </p:nvPicPr>
        <p:blipFill>
          <a:blip r:embed="rId8"/>
          <a:stretch>
            <a:fillRect/>
          </a:stretch>
        </p:blipFill>
        <p:spPr>
          <a:xfrm>
            <a:off x="2063344" y="4187952"/>
            <a:ext cx="457200" cy="457200"/>
          </a:xfrm>
          <a:prstGeom prst="rect">
            <a:avLst/>
          </a:prstGeom>
        </p:spPr>
      </p:pic>
      <p:sp>
        <p:nvSpPr>
          <p:cNvPr id="39" name="Text 31"/>
          <p:cNvSpPr/>
          <p:nvPr/>
        </p:nvSpPr>
        <p:spPr>
          <a:xfrm>
            <a:off x="2703424"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Developer Experience &amp; Delivery</a:t>
            </a:r>
            <a:endParaRPr lang="en-US" sz="1300" dirty="0"/>
          </a:p>
        </p:txBody>
      </p:sp>
      <p:sp>
        <p:nvSpPr>
          <p:cNvPr id="40" name="Text 32"/>
          <p:cNvSpPr/>
          <p:nvPr/>
        </p:nvSpPr>
        <p:spPr>
          <a:xfrm>
            <a:off x="2063344"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Backstage portal · CI/CD · golden paths · FinOps</a:t>
            </a:r>
            <a:endParaRPr lang="en-US" sz="1100" dirty="0"/>
          </a:p>
        </p:txBody>
      </p:sp>
      <p:sp>
        <p:nvSpPr>
          <p:cNvPr id="41" name="Shape 33"/>
          <p:cNvSpPr/>
          <p:nvPr/>
        </p:nvSpPr>
        <p:spPr>
          <a:xfrm>
            <a:off x="3526384"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42" name="Text 34"/>
          <p:cNvSpPr/>
          <p:nvPr/>
        </p:nvSpPr>
        <p:spPr>
          <a:xfrm>
            <a:off x="3526384"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43" name="Shape 35"/>
          <p:cNvSpPr/>
          <p:nvPr/>
        </p:nvSpPr>
        <p:spPr>
          <a:xfrm>
            <a:off x="4724248"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36"/>
          <p:cNvSpPr/>
          <p:nvPr/>
        </p:nvSpPr>
        <p:spPr>
          <a:xfrm>
            <a:off x="4724248"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45" name="Image 6" descr="preencoded.png"/>
          <p:cNvPicPr>
            <a:picLocks noChangeAspect="1"/>
          </p:cNvPicPr>
          <p:nvPr/>
        </p:nvPicPr>
        <p:blipFill>
          <a:blip r:embed="rId9"/>
          <a:stretch>
            <a:fillRect/>
          </a:stretch>
        </p:blipFill>
        <p:spPr>
          <a:xfrm>
            <a:off x="4952848" y="4187952"/>
            <a:ext cx="457200" cy="457200"/>
          </a:xfrm>
          <a:prstGeom prst="rect">
            <a:avLst/>
          </a:prstGeom>
        </p:spPr>
      </p:pic>
      <p:sp>
        <p:nvSpPr>
          <p:cNvPr id="46" name="Text 37"/>
          <p:cNvSpPr/>
          <p:nvPr/>
        </p:nvSpPr>
        <p:spPr>
          <a:xfrm>
            <a:off x="5592928"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Reliability, Observability &amp; AIOps</a:t>
            </a:r>
            <a:endParaRPr lang="en-US" sz="1300" dirty="0"/>
          </a:p>
        </p:txBody>
      </p:sp>
      <p:sp>
        <p:nvSpPr>
          <p:cNvPr id="47" name="Text 38"/>
          <p:cNvSpPr/>
          <p:nvPr/>
        </p:nvSpPr>
        <p:spPr>
          <a:xfrm>
            <a:off x="4952848"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SLO platform · incident intel · AI agents</a:t>
            </a:r>
            <a:endParaRPr lang="en-US" sz="1100" dirty="0"/>
          </a:p>
        </p:txBody>
      </p:sp>
      <p:sp>
        <p:nvSpPr>
          <p:cNvPr id="48" name="Shape 39"/>
          <p:cNvSpPr/>
          <p:nvPr/>
        </p:nvSpPr>
        <p:spPr>
          <a:xfrm>
            <a:off x="6415888"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49" name="Text 40"/>
          <p:cNvSpPr/>
          <p:nvPr/>
        </p:nvSpPr>
        <p:spPr>
          <a:xfrm>
            <a:off x="6415888"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~340 FTE</a:t>
            </a:r>
            <a:endParaRPr lang="en-US" sz="1000" dirty="0"/>
          </a:p>
        </p:txBody>
      </p:sp>
      <p:sp>
        <p:nvSpPr>
          <p:cNvPr id="50" name="Shape 41"/>
          <p:cNvSpPr/>
          <p:nvPr/>
        </p:nvSpPr>
        <p:spPr>
          <a:xfrm>
            <a:off x="7613752"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51" name="Shape 42"/>
          <p:cNvSpPr/>
          <p:nvPr/>
        </p:nvSpPr>
        <p:spPr>
          <a:xfrm>
            <a:off x="7613752"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52" name="Image 7" descr="preencoded.png"/>
          <p:cNvPicPr>
            <a:picLocks noChangeAspect="1"/>
          </p:cNvPicPr>
          <p:nvPr/>
        </p:nvPicPr>
        <p:blipFill>
          <a:blip r:embed="rId10"/>
          <a:stretch>
            <a:fillRect/>
          </a:stretch>
        </p:blipFill>
        <p:spPr>
          <a:xfrm>
            <a:off x="7842352" y="4187952"/>
            <a:ext cx="457200" cy="457200"/>
          </a:xfrm>
          <a:prstGeom prst="rect">
            <a:avLst/>
          </a:prstGeom>
        </p:spPr>
      </p:pic>
      <p:sp>
        <p:nvSpPr>
          <p:cNvPr id="53" name="Text 43"/>
          <p:cNvSpPr/>
          <p:nvPr/>
        </p:nvSpPr>
        <p:spPr>
          <a:xfrm>
            <a:off x="8482432"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Security, Compliance &amp; Assurance</a:t>
            </a:r>
            <a:endParaRPr lang="en-US" sz="1300" dirty="0"/>
          </a:p>
        </p:txBody>
      </p:sp>
      <p:sp>
        <p:nvSpPr>
          <p:cNvPr id="54" name="Text 44"/>
          <p:cNvSpPr/>
          <p:nvPr/>
        </p:nvSpPr>
        <p:spPr>
          <a:xfrm>
            <a:off x="7842352"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IAM, secrets, policy-as-code, regulatory</a:t>
            </a:r>
            <a:endParaRPr lang="en-US" sz="1100" dirty="0"/>
          </a:p>
        </p:txBody>
      </p:sp>
      <p:sp>
        <p:nvSpPr>
          <p:cNvPr id="55" name="Shape 45"/>
          <p:cNvSpPr/>
          <p:nvPr/>
        </p:nvSpPr>
        <p:spPr>
          <a:xfrm>
            <a:off x="9305392"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56" name="Text 46"/>
          <p:cNvSpPr/>
          <p:nvPr/>
        </p:nvSpPr>
        <p:spPr>
          <a:xfrm>
            <a:off x="9305392"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~290 FTE</a:t>
            </a:r>
            <a:endParaRPr lang="en-US" sz="1000" dirty="0"/>
          </a:p>
        </p:txBody>
      </p:sp>
      <p:sp>
        <p:nvSpPr>
          <p:cNvPr id="57" name="Shape 47"/>
          <p:cNvSpPr/>
          <p:nvPr/>
        </p:nvSpPr>
        <p:spPr>
          <a:xfrm>
            <a:off x="457200" y="5952744"/>
            <a:ext cx="11274552" cy="411480"/>
          </a:xfrm>
          <a:prstGeom prst="rect">
            <a:avLst/>
          </a:prstGeom>
          <a:solidFill>
            <a:srgbClr val="001F5C"/>
          </a:solidFill>
          <a:ln w="12700">
            <a:solidFill>
              <a:srgbClr val="001F5C"/>
            </a:solidFill>
            <a:prstDash val="solid"/>
          </a:ln>
        </p:spPr>
        <p:txBody>
          <a:bodyPr/>
          <a:lstStyle/>
          <a:p>
            <a:endParaRPr lang="en-US"/>
          </a:p>
        </p:txBody>
      </p:sp>
      <p:sp>
        <p:nvSpPr>
          <p:cNvPr id="58" name="Text 48"/>
          <p:cNvSpPr/>
          <p:nvPr/>
        </p:nvSpPr>
        <p:spPr>
          <a:xfrm>
            <a:off x="457200" y="5952744"/>
            <a:ext cx="11274552"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~2,300 FTE allocated to tribes  </a:t>
            </a:r>
            <a:r>
              <a:rPr lang="en-US" sz="1200" dirty="0">
                <a:solidFill>
                  <a:srgbClr val="FEDF01"/>
                </a:solidFill>
                <a:latin typeface="Calibri" pitchFamily="34" charset="0"/>
                <a:ea typeface="Calibri" pitchFamily="34" charset="-122"/>
                <a:cs typeface="Calibri" pitchFamily="34" charset="-120"/>
              </a:rPr>
              <a:t>·  </a:t>
            </a:r>
            <a:r>
              <a:rPr lang="en-US" sz="1200" i="1" dirty="0">
                <a:solidFill>
                  <a:srgbClr val="C9D6EE"/>
                </a:solidFill>
                <a:latin typeface="Calibri" pitchFamily="34" charset="0"/>
                <a:ea typeface="Calibri" pitchFamily="34" charset="-122"/>
                <a:cs typeface="Calibri" pitchFamily="34" charset="-120"/>
              </a:rPr>
              <a:t>5–10% slack reserved for enabling, transformation &amp; innovation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TRANSFORMATION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the Four Verticals Land in the New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2656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2656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42656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60944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ARCHITECTURE</a:t>
            </a:r>
            <a:endParaRPr lang="en-US" sz="1200" dirty="0"/>
          </a:p>
        </p:txBody>
      </p:sp>
      <p:sp>
        <p:nvSpPr>
          <p:cNvPr id="11" name="Text 8"/>
          <p:cNvSpPr/>
          <p:nvPr/>
        </p:nvSpPr>
        <p:spPr>
          <a:xfrm>
            <a:off x="60944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Embedded enabler</a:t>
            </a:r>
            <a:endParaRPr lang="en-US" sz="1200" dirty="0"/>
          </a:p>
        </p:txBody>
      </p:sp>
      <p:sp>
        <p:nvSpPr>
          <p:cNvPr id="12" name="Text 9"/>
          <p:cNvSpPr/>
          <p:nvPr/>
        </p:nvSpPr>
        <p:spPr>
          <a:xfrm>
            <a:off x="60944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13" name="Text 10"/>
          <p:cNvSpPr/>
          <p:nvPr/>
        </p:nvSpPr>
        <p:spPr>
          <a:xfrm>
            <a:off x="60944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Standalone group, design-approval queue</a:t>
            </a:r>
            <a:endParaRPr lang="en-US" sz="1050" dirty="0"/>
          </a:p>
        </p:txBody>
      </p:sp>
      <p:sp>
        <p:nvSpPr>
          <p:cNvPr id="14" name="Shape 11"/>
          <p:cNvSpPr/>
          <p:nvPr/>
        </p:nvSpPr>
        <p:spPr>
          <a:xfrm>
            <a:off x="609448" y="3154680"/>
            <a:ext cx="2331720" cy="0"/>
          </a:xfrm>
          <a:prstGeom prst="line">
            <a:avLst/>
          </a:prstGeom>
          <a:noFill/>
          <a:ln w="12700">
            <a:solidFill>
              <a:srgbClr val="E2E8F0"/>
            </a:solidFill>
            <a:prstDash val="solid"/>
          </a:ln>
        </p:spPr>
        <p:txBody>
          <a:bodyPr/>
          <a:lstStyle/>
          <a:p>
            <a:endParaRPr lang="en-US"/>
          </a:p>
        </p:txBody>
      </p:sp>
      <p:sp>
        <p:nvSpPr>
          <p:cNvPr id="15" name="Text 12"/>
          <p:cNvSpPr/>
          <p:nvPr/>
        </p:nvSpPr>
        <p:spPr>
          <a:xfrm>
            <a:off x="60944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16" name="Text 13"/>
          <p:cNvSpPr/>
          <p:nvPr/>
        </p:nvSpPr>
        <p:spPr>
          <a:xfrm>
            <a:off x="70088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Senior/Principal architects embedded in Tier-1 &amp; Tier-2 platform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Part-time Architecture Guild owns standards, ADRs, reference architectures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Office of the Chief Architect (5–10) supports the Guild</a:t>
            </a:r>
            <a:endParaRPr lang="en-US" sz="1050" dirty="0"/>
          </a:p>
        </p:txBody>
      </p:sp>
      <p:sp>
        <p:nvSpPr>
          <p:cNvPr id="17" name="Shape 14"/>
          <p:cNvSpPr/>
          <p:nvPr/>
        </p:nvSpPr>
        <p:spPr>
          <a:xfrm>
            <a:off x="60944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18" name="Text 15"/>
          <p:cNvSpPr/>
          <p:nvPr/>
        </p:nvSpPr>
        <p:spPr>
          <a:xfrm>
            <a:off x="60944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~40–60 FTE total</a:t>
            </a:r>
            <a:endParaRPr lang="en-US" sz="1000" dirty="0"/>
          </a:p>
        </p:txBody>
      </p:sp>
      <p:sp>
        <p:nvSpPr>
          <p:cNvPr id="19" name="Shape 16"/>
          <p:cNvSpPr/>
          <p:nvPr/>
        </p:nvSpPr>
        <p:spPr>
          <a:xfrm>
            <a:off x="330692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0" name="Shape 17"/>
          <p:cNvSpPr/>
          <p:nvPr/>
        </p:nvSpPr>
        <p:spPr>
          <a:xfrm>
            <a:off x="330692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21" name="Shape 18"/>
          <p:cNvSpPr/>
          <p:nvPr/>
        </p:nvSpPr>
        <p:spPr>
          <a:xfrm>
            <a:off x="330692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22" name="Text 19"/>
          <p:cNvSpPr/>
          <p:nvPr/>
        </p:nvSpPr>
        <p:spPr>
          <a:xfrm>
            <a:off x="348980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ENGINEERING</a:t>
            </a:r>
            <a:endParaRPr lang="en-US" sz="1200" dirty="0"/>
          </a:p>
        </p:txBody>
      </p:sp>
      <p:sp>
        <p:nvSpPr>
          <p:cNvPr id="23" name="Text 20"/>
          <p:cNvSpPr/>
          <p:nvPr/>
        </p:nvSpPr>
        <p:spPr>
          <a:xfrm>
            <a:off x="348980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The core, reframed</a:t>
            </a:r>
            <a:endParaRPr lang="en-US" sz="1200" dirty="0"/>
          </a:p>
        </p:txBody>
      </p:sp>
      <p:sp>
        <p:nvSpPr>
          <p:cNvPr id="24" name="Text 21"/>
          <p:cNvSpPr/>
          <p:nvPr/>
        </p:nvSpPr>
        <p:spPr>
          <a:xfrm>
            <a:off x="348980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25" name="Text 22"/>
          <p:cNvSpPr/>
          <p:nvPr/>
        </p:nvSpPr>
        <p:spPr>
          <a:xfrm>
            <a:off x="348980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Functional vertical owning delivery</a:t>
            </a:r>
            <a:endParaRPr lang="en-US" sz="1050" dirty="0"/>
          </a:p>
        </p:txBody>
      </p:sp>
      <p:sp>
        <p:nvSpPr>
          <p:cNvPr id="26" name="Shape 23"/>
          <p:cNvSpPr/>
          <p:nvPr/>
        </p:nvSpPr>
        <p:spPr>
          <a:xfrm>
            <a:off x="3489808" y="3154680"/>
            <a:ext cx="2331720" cy="0"/>
          </a:xfrm>
          <a:prstGeom prst="line">
            <a:avLst/>
          </a:prstGeom>
          <a:noFill/>
          <a:ln w="12700">
            <a:solidFill>
              <a:srgbClr val="E2E8F0"/>
            </a:solidFill>
            <a:prstDash val="solid"/>
          </a:ln>
        </p:spPr>
        <p:txBody>
          <a:bodyPr/>
          <a:lstStyle/>
          <a:p>
            <a:endParaRPr lang="en-US"/>
          </a:p>
        </p:txBody>
      </p:sp>
      <p:sp>
        <p:nvSpPr>
          <p:cNvPr id="27" name="Text 24"/>
          <p:cNvSpPr/>
          <p:nvPr/>
        </p:nvSpPr>
        <p:spPr>
          <a:xfrm>
            <a:off x="348980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28" name="Text 25"/>
          <p:cNvSpPr/>
          <p:nvPr/>
        </p:nvSpPr>
        <p:spPr>
          <a:xfrm>
            <a:off x="358124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Engineers distributed across Tier-1,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Accountable for product outcomes (adoption, SLOs, NPS), not just features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Excellence preserved through Engineering Chapters &amp; senior IC ladder</a:t>
            </a:r>
            <a:endParaRPr lang="en-US" sz="1050" dirty="0"/>
          </a:p>
        </p:txBody>
      </p:sp>
      <p:sp>
        <p:nvSpPr>
          <p:cNvPr id="29" name="Shape 26"/>
          <p:cNvSpPr/>
          <p:nvPr/>
        </p:nvSpPr>
        <p:spPr>
          <a:xfrm>
            <a:off x="348980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30" name="Text 27"/>
          <p:cNvSpPr/>
          <p:nvPr/>
        </p:nvSpPr>
        <p:spPr>
          <a:xfrm>
            <a:off x="348980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Bulk of org</a:t>
            </a:r>
            <a:endParaRPr lang="en-US" sz="1000" dirty="0"/>
          </a:p>
        </p:txBody>
      </p:sp>
      <p:sp>
        <p:nvSpPr>
          <p:cNvPr id="31" name="Shape 28"/>
          <p:cNvSpPr/>
          <p:nvPr/>
        </p:nvSpPr>
        <p:spPr>
          <a:xfrm>
            <a:off x="618728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2" name="Shape 29"/>
          <p:cNvSpPr/>
          <p:nvPr/>
        </p:nvSpPr>
        <p:spPr>
          <a:xfrm>
            <a:off x="618728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33" name="Shape 30"/>
          <p:cNvSpPr/>
          <p:nvPr/>
        </p:nvSpPr>
        <p:spPr>
          <a:xfrm>
            <a:off x="618728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34" name="Text 31"/>
          <p:cNvSpPr/>
          <p:nvPr/>
        </p:nvSpPr>
        <p:spPr>
          <a:xfrm>
            <a:off x="637016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OPERATIONS</a:t>
            </a:r>
            <a:endParaRPr lang="en-US" sz="1200" dirty="0"/>
          </a:p>
        </p:txBody>
      </p:sp>
      <p:sp>
        <p:nvSpPr>
          <p:cNvPr id="35" name="Text 32"/>
          <p:cNvSpPr/>
          <p:nvPr/>
        </p:nvSpPr>
        <p:spPr>
          <a:xfrm>
            <a:off x="637016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Embedded SRE + AIOps</a:t>
            </a:r>
            <a:endParaRPr lang="en-US" sz="1200" dirty="0"/>
          </a:p>
        </p:txBody>
      </p:sp>
      <p:sp>
        <p:nvSpPr>
          <p:cNvPr id="36" name="Text 33"/>
          <p:cNvSpPr/>
          <p:nvPr/>
        </p:nvSpPr>
        <p:spPr>
          <a:xfrm>
            <a:off x="637016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37" name="Text 34"/>
          <p:cNvSpPr/>
          <p:nvPr/>
        </p:nvSpPr>
        <p:spPr>
          <a:xfrm>
            <a:off x="637016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Separate run team taking handoffs</a:t>
            </a:r>
            <a:endParaRPr lang="en-US" sz="1050" dirty="0"/>
          </a:p>
        </p:txBody>
      </p:sp>
      <p:sp>
        <p:nvSpPr>
          <p:cNvPr id="38" name="Shape 35"/>
          <p:cNvSpPr/>
          <p:nvPr/>
        </p:nvSpPr>
        <p:spPr>
          <a:xfrm>
            <a:off x="6370168" y="3154680"/>
            <a:ext cx="2331720" cy="0"/>
          </a:xfrm>
          <a:prstGeom prst="line">
            <a:avLst/>
          </a:prstGeom>
          <a:noFill/>
          <a:ln w="12700">
            <a:solidFill>
              <a:srgbClr val="E2E8F0"/>
            </a:solidFill>
            <a:prstDash val="solid"/>
          </a:ln>
        </p:spPr>
        <p:txBody>
          <a:bodyPr/>
          <a:lstStyle/>
          <a:p>
            <a:endParaRPr lang="en-US"/>
          </a:p>
        </p:txBody>
      </p:sp>
      <p:sp>
        <p:nvSpPr>
          <p:cNvPr id="39" name="Text 36"/>
          <p:cNvSpPr/>
          <p:nvPr/>
        </p:nvSpPr>
        <p:spPr>
          <a:xfrm>
            <a:off x="637016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40" name="Text 37"/>
          <p:cNvSpPr/>
          <p:nvPr/>
        </p:nvSpPr>
        <p:spPr>
          <a:xfrm>
            <a:off x="646160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30–40 SRE pods embedded inside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&amp; Incident Intel as a Tier-2 product everyone consumes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Lightweight rotational Incident Command, drawn from a Chapter</a:t>
            </a:r>
            <a:endParaRPr lang="en-US" sz="1050" dirty="0"/>
          </a:p>
        </p:txBody>
      </p:sp>
      <p:sp>
        <p:nvSpPr>
          <p:cNvPr id="41" name="Shape 38"/>
          <p:cNvSpPr/>
          <p:nvPr/>
        </p:nvSpPr>
        <p:spPr>
          <a:xfrm>
            <a:off x="637016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42" name="Text 39"/>
          <p:cNvSpPr/>
          <p:nvPr/>
        </p:nvSpPr>
        <p:spPr>
          <a:xfrm>
            <a:off x="637016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~150–220 FTE in pods</a:t>
            </a:r>
            <a:endParaRPr lang="en-US" sz="1000" dirty="0"/>
          </a:p>
        </p:txBody>
      </p:sp>
      <p:sp>
        <p:nvSpPr>
          <p:cNvPr id="43" name="Shape 40"/>
          <p:cNvSpPr/>
          <p:nvPr/>
        </p:nvSpPr>
        <p:spPr>
          <a:xfrm>
            <a:off x="906764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1"/>
          <p:cNvSpPr/>
          <p:nvPr/>
        </p:nvSpPr>
        <p:spPr>
          <a:xfrm>
            <a:off x="906764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45" name="Shape 42"/>
          <p:cNvSpPr/>
          <p:nvPr/>
        </p:nvSpPr>
        <p:spPr>
          <a:xfrm>
            <a:off x="906764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46" name="Text 43"/>
          <p:cNvSpPr/>
          <p:nvPr/>
        </p:nvSpPr>
        <p:spPr>
          <a:xfrm>
            <a:off x="925052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AI / IM</a:t>
            </a:r>
            <a:endParaRPr lang="en-US" sz="1200" dirty="0"/>
          </a:p>
        </p:txBody>
      </p:sp>
      <p:sp>
        <p:nvSpPr>
          <p:cNvPr id="47" name="Text 44"/>
          <p:cNvSpPr/>
          <p:nvPr/>
        </p:nvSpPr>
        <p:spPr>
          <a:xfrm>
            <a:off x="925052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Horizontal capability</a:t>
            </a:r>
            <a:endParaRPr lang="en-US" sz="1200" dirty="0"/>
          </a:p>
        </p:txBody>
      </p:sp>
      <p:sp>
        <p:nvSpPr>
          <p:cNvPr id="48" name="Text 45"/>
          <p:cNvSpPr/>
          <p:nvPr/>
        </p:nvSpPr>
        <p:spPr>
          <a:xfrm>
            <a:off x="925052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49" name="Text 46"/>
          <p:cNvSpPr/>
          <p:nvPr/>
        </p:nvSpPr>
        <p:spPr>
          <a:xfrm>
            <a:off x="925052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Standalone AI for IM/prediction tower</a:t>
            </a:r>
            <a:endParaRPr lang="en-US" sz="1050" dirty="0"/>
          </a:p>
        </p:txBody>
      </p:sp>
      <p:sp>
        <p:nvSpPr>
          <p:cNvPr id="50" name="Shape 47"/>
          <p:cNvSpPr/>
          <p:nvPr/>
        </p:nvSpPr>
        <p:spPr>
          <a:xfrm>
            <a:off x="9250528" y="3154680"/>
            <a:ext cx="2331720" cy="0"/>
          </a:xfrm>
          <a:prstGeom prst="line">
            <a:avLst/>
          </a:prstGeom>
          <a:noFill/>
          <a:ln w="12700">
            <a:solidFill>
              <a:srgbClr val="E2E8F0"/>
            </a:solidFill>
            <a:prstDash val="solid"/>
          </a:ln>
        </p:spPr>
        <p:txBody>
          <a:bodyPr/>
          <a:lstStyle/>
          <a:p>
            <a:endParaRPr lang="en-US"/>
          </a:p>
        </p:txBody>
      </p:sp>
      <p:sp>
        <p:nvSpPr>
          <p:cNvPr id="51" name="Text 48"/>
          <p:cNvSpPr/>
          <p:nvPr/>
        </p:nvSpPr>
        <p:spPr>
          <a:xfrm>
            <a:off x="925052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52" name="Text 49"/>
          <p:cNvSpPr/>
          <p:nvPr/>
        </p:nvSpPr>
        <p:spPr>
          <a:xfrm>
            <a:off x="934196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Tier-2 ML Platform team (~25–40)</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~80 ML engineers embedded in Observability, IaC, DevEx, Lifecycle</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as paved-road feature; AI agents shipped inside Zephyr</a:t>
            </a:r>
            <a:endParaRPr lang="en-US" sz="1050" dirty="0"/>
          </a:p>
        </p:txBody>
      </p:sp>
      <p:sp>
        <p:nvSpPr>
          <p:cNvPr id="53" name="Shape 50"/>
          <p:cNvSpPr/>
          <p:nvPr/>
        </p:nvSpPr>
        <p:spPr>
          <a:xfrm>
            <a:off x="925052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54" name="Text 51"/>
          <p:cNvSpPr/>
          <p:nvPr/>
        </p:nvSpPr>
        <p:spPr>
          <a:xfrm>
            <a:off x="925052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~120–180 FTE</a:t>
            </a:r>
            <a:endParaRPr lang="en-US" sz="1000" dirty="0"/>
          </a:p>
        </p:txBody>
      </p:sp>
      <p:sp>
        <p:nvSpPr>
          <p:cNvPr id="55" name="Text 52"/>
          <p:cNvSpPr/>
          <p:nvPr/>
        </p:nvSpPr>
        <p:spPr>
          <a:xfrm>
            <a:off x="457200" y="5760720"/>
            <a:ext cx="1124712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No vertical disappears as a capability — only as a reporting silo. Headcount migrates into the new model with deliberate role conversions.</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GOVERNANCE BY DESIGN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Stays Vertical — Cross-Cutting Functions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Not everything embeds. Four cross-cutting functions remain vertical to preserve enterprise-wide perspective, independent governance, and end-to-end orchestration across the new horizontal structure.</a:t>
            </a:r>
            <a:endParaRPr lang="en-US" sz="1300" dirty="0"/>
          </a:p>
        </p:txBody>
      </p:sp>
      <p:sp>
        <p:nvSpPr>
          <p:cNvPr id="8" name="Shape 5"/>
          <p:cNvSpPr/>
          <p:nvPr/>
        </p:nvSpPr>
        <p:spPr>
          <a:xfrm>
            <a:off x="454000"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54000"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1" name="Shape 8"/>
          <p:cNvSpPr/>
          <p:nvPr/>
        </p:nvSpPr>
        <p:spPr>
          <a:xfrm>
            <a:off x="454000"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710032" y="2167128"/>
            <a:ext cx="384048" cy="384048"/>
          </a:xfrm>
          <a:prstGeom prst="rect">
            <a:avLst/>
          </a:prstGeom>
        </p:spPr>
      </p:pic>
      <p:sp>
        <p:nvSpPr>
          <p:cNvPr id="13" name="Text 9"/>
          <p:cNvSpPr/>
          <p:nvPr/>
        </p:nvSpPr>
        <p:spPr>
          <a:xfrm>
            <a:off x="1203808"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Strategy</a:t>
            </a:r>
            <a:endParaRPr lang="en-US" sz="1300" dirty="0"/>
          </a:p>
        </p:txBody>
      </p:sp>
      <p:sp>
        <p:nvSpPr>
          <p:cNvPr id="14" name="Shape 10"/>
          <p:cNvSpPr/>
          <p:nvPr/>
        </p:nvSpPr>
        <p:spPr>
          <a:xfrm>
            <a:off x="710032"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15" name="Text 11"/>
          <p:cNvSpPr/>
          <p:nvPr/>
        </p:nvSpPr>
        <p:spPr>
          <a:xfrm>
            <a:off x="710032"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16" name="Text 12"/>
          <p:cNvSpPr/>
          <p:nvPr/>
        </p:nvSpPr>
        <p:spPr>
          <a:xfrm>
            <a:off x="710032"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Enterprise direction &amp; planning</a:t>
            </a:r>
            <a:endParaRPr lang="en-US" sz="950" dirty="0"/>
          </a:p>
        </p:txBody>
      </p:sp>
      <p:sp>
        <p:nvSpPr>
          <p:cNvPr id="17" name="Text 13"/>
          <p:cNvSpPr/>
          <p:nvPr/>
        </p:nvSpPr>
        <p:spPr>
          <a:xfrm>
            <a:off x="682600"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18" name="Text 14"/>
          <p:cNvSpPr/>
          <p:nvPr/>
        </p:nvSpPr>
        <p:spPr>
          <a:xfrm>
            <a:off x="682600"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Multi-year strategy and target-state setting need enterprise-wide perspective beyond any tribe's quarterly delivery horizon.</a:t>
            </a:r>
            <a:endParaRPr lang="en-US" sz="950" dirty="0"/>
          </a:p>
        </p:txBody>
      </p:sp>
      <p:sp>
        <p:nvSpPr>
          <p:cNvPr id="19" name="Shape 15"/>
          <p:cNvSpPr/>
          <p:nvPr/>
        </p:nvSpPr>
        <p:spPr>
          <a:xfrm>
            <a:off x="682600" y="4462272"/>
            <a:ext cx="2331720" cy="0"/>
          </a:xfrm>
          <a:prstGeom prst="line">
            <a:avLst/>
          </a:prstGeom>
          <a:noFill/>
          <a:ln w="12700">
            <a:solidFill>
              <a:srgbClr val="E2E8F0"/>
            </a:solidFill>
            <a:prstDash val="solid"/>
          </a:ln>
        </p:spPr>
        <p:txBody>
          <a:bodyPr/>
          <a:lstStyle/>
          <a:p>
            <a:endParaRPr lang="en-US"/>
          </a:p>
        </p:txBody>
      </p:sp>
      <p:sp>
        <p:nvSpPr>
          <p:cNvPr id="20" name="Text 16"/>
          <p:cNvSpPr/>
          <p:nvPr/>
        </p:nvSpPr>
        <p:spPr>
          <a:xfrm>
            <a:off x="682600"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21" name="Text 17"/>
          <p:cNvSpPr/>
          <p:nvPr/>
        </p:nvSpPr>
        <p:spPr>
          <a:xfrm>
            <a:off x="746608"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multi-year tech strategy &amp; North Star</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Sets investment thesis &amp; priorities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Enterprise Architecture</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Tracks strategic OKRs org-wide</a:t>
            </a:r>
            <a:endParaRPr lang="en-US" sz="950" dirty="0"/>
          </a:p>
        </p:txBody>
      </p:sp>
      <p:sp>
        <p:nvSpPr>
          <p:cNvPr id="22" name="Shape 18"/>
          <p:cNvSpPr/>
          <p:nvPr/>
        </p:nvSpPr>
        <p:spPr>
          <a:xfrm>
            <a:off x="618592"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23" name="Text 19"/>
          <p:cNvSpPr/>
          <p:nvPr/>
        </p:nvSpPr>
        <p:spPr>
          <a:xfrm>
            <a:off x="618592"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CTO / Head of Strategy</a:t>
            </a:r>
            <a:endParaRPr lang="en-US" sz="900" dirty="0"/>
          </a:p>
        </p:txBody>
      </p:sp>
      <p:sp>
        <p:nvSpPr>
          <p:cNvPr id="24" name="Shape 20"/>
          <p:cNvSpPr/>
          <p:nvPr/>
        </p:nvSpPr>
        <p:spPr>
          <a:xfrm>
            <a:off x="3316072"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25" name="Shape 21"/>
          <p:cNvSpPr/>
          <p:nvPr/>
        </p:nvSpPr>
        <p:spPr>
          <a:xfrm>
            <a:off x="3316072"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26" name="Shape 22"/>
          <p:cNvSpPr/>
          <p:nvPr/>
        </p:nvSpPr>
        <p:spPr>
          <a:xfrm>
            <a:off x="3316072"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27" name="Shape 23"/>
          <p:cNvSpPr/>
          <p:nvPr/>
        </p:nvSpPr>
        <p:spPr>
          <a:xfrm>
            <a:off x="3316072"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3572104" y="2167128"/>
            <a:ext cx="384048" cy="384048"/>
          </a:xfrm>
          <a:prstGeom prst="rect">
            <a:avLst/>
          </a:prstGeom>
        </p:spPr>
      </p:pic>
      <p:sp>
        <p:nvSpPr>
          <p:cNvPr id="29" name="Text 24"/>
          <p:cNvSpPr/>
          <p:nvPr/>
        </p:nvSpPr>
        <p:spPr>
          <a:xfrm>
            <a:off x="4065880"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Solution / Delivery Architecture</a:t>
            </a:r>
            <a:endParaRPr lang="en-US" sz="1300" dirty="0"/>
          </a:p>
        </p:txBody>
      </p:sp>
      <p:sp>
        <p:nvSpPr>
          <p:cNvPr id="30" name="Shape 25"/>
          <p:cNvSpPr/>
          <p:nvPr/>
        </p:nvSpPr>
        <p:spPr>
          <a:xfrm>
            <a:off x="3572104"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31" name="Text 26"/>
          <p:cNvSpPr/>
          <p:nvPr/>
        </p:nvSpPr>
        <p:spPr>
          <a:xfrm>
            <a:off x="3572104"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32" name="Text 27"/>
          <p:cNvSpPr/>
          <p:nvPr/>
        </p:nvSpPr>
        <p:spPr>
          <a:xfrm>
            <a:off x="3572104"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Cross-platform design authority</a:t>
            </a:r>
            <a:endParaRPr lang="en-US" sz="950" dirty="0"/>
          </a:p>
        </p:txBody>
      </p:sp>
      <p:sp>
        <p:nvSpPr>
          <p:cNvPr id="33" name="Text 28"/>
          <p:cNvSpPr/>
          <p:nvPr/>
        </p:nvSpPr>
        <p:spPr>
          <a:xfrm>
            <a:off x="3544672"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34" name="Text 29"/>
          <p:cNvSpPr/>
          <p:nvPr/>
        </p:nvSpPr>
        <p:spPr>
          <a:xfrm>
            <a:off x="3544672"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Major programs span multiple tribes. A unified function ensures coherence and prevents accidental complexity at scale.</a:t>
            </a:r>
            <a:endParaRPr lang="en-US" sz="950" dirty="0"/>
          </a:p>
        </p:txBody>
      </p:sp>
      <p:sp>
        <p:nvSpPr>
          <p:cNvPr id="35" name="Shape 30"/>
          <p:cNvSpPr/>
          <p:nvPr/>
        </p:nvSpPr>
        <p:spPr>
          <a:xfrm>
            <a:off x="3544672" y="4462272"/>
            <a:ext cx="2331720" cy="0"/>
          </a:xfrm>
          <a:prstGeom prst="line">
            <a:avLst/>
          </a:prstGeom>
          <a:noFill/>
          <a:ln w="12700">
            <a:solidFill>
              <a:srgbClr val="E2E8F0"/>
            </a:solidFill>
            <a:prstDash val="solid"/>
          </a:ln>
        </p:spPr>
        <p:txBody>
          <a:bodyPr/>
          <a:lstStyle/>
          <a:p>
            <a:endParaRPr lang="en-US"/>
          </a:p>
        </p:txBody>
      </p:sp>
      <p:sp>
        <p:nvSpPr>
          <p:cNvPr id="36" name="Text 31"/>
          <p:cNvSpPr/>
          <p:nvPr/>
        </p:nvSpPr>
        <p:spPr>
          <a:xfrm>
            <a:off x="3544672"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37" name="Text 32"/>
          <p:cNvSpPr/>
          <p:nvPr/>
        </p:nvSpPr>
        <p:spPr>
          <a:xfrm>
            <a:off x="3608680"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multi-tribe solution designs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embedded Principals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Chairs cross-tribe design forums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Arbitrates platform-spanning calls</a:t>
            </a:r>
            <a:endParaRPr lang="en-US" sz="950" dirty="0"/>
          </a:p>
        </p:txBody>
      </p:sp>
      <p:sp>
        <p:nvSpPr>
          <p:cNvPr id="38" name="Shape 33"/>
          <p:cNvSpPr/>
          <p:nvPr/>
        </p:nvSpPr>
        <p:spPr>
          <a:xfrm>
            <a:off x="3480664"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39" name="Text 34"/>
          <p:cNvSpPr/>
          <p:nvPr/>
        </p:nvSpPr>
        <p:spPr>
          <a:xfrm>
            <a:off x="3480664"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Chief Architect</a:t>
            </a:r>
            <a:endParaRPr lang="en-US" sz="900" dirty="0"/>
          </a:p>
        </p:txBody>
      </p:sp>
      <p:sp>
        <p:nvSpPr>
          <p:cNvPr id="40" name="Shape 35"/>
          <p:cNvSpPr/>
          <p:nvPr/>
        </p:nvSpPr>
        <p:spPr>
          <a:xfrm>
            <a:off x="6178144"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41" name="Shape 36"/>
          <p:cNvSpPr/>
          <p:nvPr/>
        </p:nvSpPr>
        <p:spPr>
          <a:xfrm>
            <a:off x="6178144"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42" name="Shape 37"/>
          <p:cNvSpPr/>
          <p:nvPr/>
        </p:nvSpPr>
        <p:spPr>
          <a:xfrm>
            <a:off x="6178144"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43" name="Shape 38"/>
          <p:cNvSpPr/>
          <p:nvPr/>
        </p:nvSpPr>
        <p:spPr>
          <a:xfrm>
            <a:off x="6178144"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44" name="Image 3" descr="preencoded.png"/>
          <p:cNvPicPr>
            <a:picLocks noChangeAspect="1"/>
          </p:cNvPicPr>
          <p:nvPr/>
        </p:nvPicPr>
        <p:blipFill>
          <a:blip r:embed="rId6"/>
          <a:stretch>
            <a:fillRect/>
          </a:stretch>
        </p:blipFill>
        <p:spPr>
          <a:xfrm>
            <a:off x="6434176" y="2167128"/>
            <a:ext cx="384048" cy="384048"/>
          </a:xfrm>
          <a:prstGeom prst="rect">
            <a:avLst/>
          </a:prstGeom>
        </p:spPr>
      </p:pic>
      <p:sp>
        <p:nvSpPr>
          <p:cNvPr id="45" name="Text 39"/>
          <p:cNvSpPr/>
          <p:nvPr/>
        </p:nvSpPr>
        <p:spPr>
          <a:xfrm>
            <a:off x="6927952"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Change Advisory</a:t>
            </a:r>
            <a:endParaRPr lang="en-US" sz="1300" dirty="0"/>
          </a:p>
        </p:txBody>
      </p:sp>
      <p:sp>
        <p:nvSpPr>
          <p:cNvPr id="46" name="Shape 40"/>
          <p:cNvSpPr/>
          <p:nvPr/>
        </p:nvSpPr>
        <p:spPr>
          <a:xfrm>
            <a:off x="6434176"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47" name="Text 41"/>
          <p:cNvSpPr/>
          <p:nvPr/>
        </p:nvSpPr>
        <p:spPr>
          <a:xfrm>
            <a:off x="6434176"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48" name="Text 42"/>
          <p:cNvSpPr/>
          <p:nvPr/>
        </p:nvSpPr>
        <p:spPr>
          <a:xfrm>
            <a:off x="6434176"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Independent change governance</a:t>
            </a:r>
            <a:endParaRPr lang="en-US" sz="950" dirty="0"/>
          </a:p>
        </p:txBody>
      </p:sp>
      <p:sp>
        <p:nvSpPr>
          <p:cNvPr id="49" name="Text 43"/>
          <p:cNvSpPr/>
          <p:nvPr/>
        </p:nvSpPr>
        <p:spPr>
          <a:xfrm>
            <a:off x="6406744"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50" name="Text 44"/>
          <p:cNvSpPr/>
          <p:nvPr/>
        </p:nvSpPr>
        <p:spPr>
          <a:xfrm>
            <a:off x="6406744"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Regulated environment requires change governance independent of delivery, especially for high-risk multi-platform changes.</a:t>
            </a:r>
            <a:endParaRPr lang="en-US" sz="950" dirty="0"/>
          </a:p>
        </p:txBody>
      </p:sp>
      <p:sp>
        <p:nvSpPr>
          <p:cNvPr id="51" name="Shape 45"/>
          <p:cNvSpPr/>
          <p:nvPr/>
        </p:nvSpPr>
        <p:spPr>
          <a:xfrm>
            <a:off x="6406744" y="4462272"/>
            <a:ext cx="2331720" cy="0"/>
          </a:xfrm>
          <a:prstGeom prst="line">
            <a:avLst/>
          </a:prstGeom>
          <a:noFill/>
          <a:ln w="12700">
            <a:solidFill>
              <a:srgbClr val="E2E8F0"/>
            </a:solidFill>
            <a:prstDash val="solid"/>
          </a:ln>
        </p:spPr>
        <p:txBody>
          <a:bodyPr/>
          <a:lstStyle/>
          <a:p>
            <a:endParaRPr lang="en-US"/>
          </a:p>
        </p:txBody>
      </p:sp>
      <p:sp>
        <p:nvSpPr>
          <p:cNvPr id="52" name="Text 46"/>
          <p:cNvSpPr/>
          <p:nvPr/>
        </p:nvSpPr>
        <p:spPr>
          <a:xfrm>
            <a:off x="6406744"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53" name="Text 47"/>
          <p:cNvSpPr/>
          <p:nvPr/>
        </p:nvSpPr>
        <p:spPr>
          <a:xfrm>
            <a:off x="6470752"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Reviews high-risk changes only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Receives automated records from CI/CD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Maintains change taxonomy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Aligned with OSFI E-21 posture</a:t>
            </a:r>
            <a:endParaRPr lang="en-US" sz="950" dirty="0"/>
          </a:p>
        </p:txBody>
      </p:sp>
      <p:sp>
        <p:nvSpPr>
          <p:cNvPr id="54" name="Shape 48"/>
          <p:cNvSpPr/>
          <p:nvPr/>
        </p:nvSpPr>
        <p:spPr>
          <a:xfrm>
            <a:off x="6342736"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55" name="Text 49"/>
          <p:cNvSpPr/>
          <p:nvPr/>
        </p:nvSpPr>
        <p:spPr>
          <a:xfrm>
            <a:off x="6342736"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Risk / Operations VP</a:t>
            </a:r>
            <a:endParaRPr lang="en-US" sz="900" dirty="0"/>
          </a:p>
        </p:txBody>
      </p:sp>
      <p:sp>
        <p:nvSpPr>
          <p:cNvPr id="56" name="Shape 50"/>
          <p:cNvSpPr/>
          <p:nvPr/>
        </p:nvSpPr>
        <p:spPr>
          <a:xfrm>
            <a:off x="9040216"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57" name="Shape 51"/>
          <p:cNvSpPr/>
          <p:nvPr/>
        </p:nvSpPr>
        <p:spPr>
          <a:xfrm>
            <a:off x="9040216"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58" name="Shape 52"/>
          <p:cNvSpPr/>
          <p:nvPr/>
        </p:nvSpPr>
        <p:spPr>
          <a:xfrm>
            <a:off x="9040216"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59" name="Shape 53"/>
          <p:cNvSpPr/>
          <p:nvPr/>
        </p:nvSpPr>
        <p:spPr>
          <a:xfrm>
            <a:off x="9040216"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60" name="Image 4" descr="preencoded.png"/>
          <p:cNvPicPr>
            <a:picLocks noChangeAspect="1"/>
          </p:cNvPicPr>
          <p:nvPr/>
        </p:nvPicPr>
        <p:blipFill>
          <a:blip r:embed="rId7"/>
          <a:stretch>
            <a:fillRect/>
          </a:stretch>
        </p:blipFill>
        <p:spPr>
          <a:xfrm>
            <a:off x="9296248" y="2167128"/>
            <a:ext cx="384048" cy="384048"/>
          </a:xfrm>
          <a:prstGeom prst="rect">
            <a:avLst/>
          </a:prstGeom>
        </p:spPr>
      </p:pic>
      <p:sp>
        <p:nvSpPr>
          <p:cNvPr id="61" name="Text 54"/>
          <p:cNvSpPr/>
          <p:nvPr/>
        </p:nvSpPr>
        <p:spPr>
          <a:xfrm>
            <a:off x="9790024"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Program Management Office</a:t>
            </a:r>
            <a:endParaRPr lang="en-US" sz="1300" dirty="0"/>
          </a:p>
        </p:txBody>
      </p:sp>
      <p:sp>
        <p:nvSpPr>
          <p:cNvPr id="62" name="Shape 55"/>
          <p:cNvSpPr/>
          <p:nvPr/>
        </p:nvSpPr>
        <p:spPr>
          <a:xfrm>
            <a:off x="9296248"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63" name="Text 56"/>
          <p:cNvSpPr/>
          <p:nvPr/>
        </p:nvSpPr>
        <p:spPr>
          <a:xfrm>
            <a:off x="9296248"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64" name="Text 57"/>
          <p:cNvSpPr/>
          <p:nvPr/>
        </p:nvSpPr>
        <p:spPr>
          <a:xfrm>
            <a:off x="9296248"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Enterprise portfolio orchestration</a:t>
            </a:r>
            <a:endParaRPr lang="en-US" sz="950" dirty="0"/>
          </a:p>
        </p:txBody>
      </p:sp>
      <p:sp>
        <p:nvSpPr>
          <p:cNvPr id="65" name="Text 58"/>
          <p:cNvSpPr/>
          <p:nvPr/>
        </p:nvSpPr>
        <p:spPr>
          <a:xfrm>
            <a:off x="9268816"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66" name="Text 59"/>
          <p:cNvSpPr/>
          <p:nvPr/>
        </p:nvSpPr>
        <p:spPr>
          <a:xfrm>
            <a:off x="9268816"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Multi-tribe initiatives, executive reporting, and dependency orchestration need a single function with org-wide visibility.</a:t>
            </a:r>
            <a:endParaRPr lang="en-US" sz="950" dirty="0"/>
          </a:p>
        </p:txBody>
      </p:sp>
      <p:sp>
        <p:nvSpPr>
          <p:cNvPr id="67" name="Shape 60"/>
          <p:cNvSpPr/>
          <p:nvPr/>
        </p:nvSpPr>
        <p:spPr>
          <a:xfrm>
            <a:off x="9268816" y="4462272"/>
            <a:ext cx="2331720" cy="0"/>
          </a:xfrm>
          <a:prstGeom prst="line">
            <a:avLst/>
          </a:prstGeom>
          <a:noFill/>
          <a:ln w="12700">
            <a:solidFill>
              <a:srgbClr val="E2E8F0"/>
            </a:solidFill>
            <a:prstDash val="solid"/>
          </a:ln>
        </p:spPr>
        <p:txBody>
          <a:bodyPr/>
          <a:lstStyle/>
          <a:p>
            <a:endParaRPr lang="en-US"/>
          </a:p>
        </p:txBody>
      </p:sp>
      <p:sp>
        <p:nvSpPr>
          <p:cNvPr id="68" name="Text 61"/>
          <p:cNvSpPr/>
          <p:nvPr/>
        </p:nvSpPr>
        <p:spPr>
          <a:xfrm>
            <a:off x="9268816"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69" name="Text 62"/>
          <p:cNvSpPr/>
          <p:nvPr/>
        </p:nvSpPr>
        <p:spPr>
          <a:xfrm>
            <a:off x="9332824"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Coordinates with Tribe Leads at QBRs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enterprise dependency board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Investment governance &amp; reporting</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Cross-tribe milestone tracking</a:t>
            </a:r>
            <a:endParaRPr lang="en-US" sz="950" dirty="0"/>
          </a:p>
        </p:txBody>
      </p:sp>
      <p:sp>
        <p:nvSpPr>
          <p:cNvPr id="70" name="Shape 63"/>
          <p:cNvSpPr/>
          <p:nvPr/>
        </p:nvSpPr>
        <p:spPr>
          <a:xfrm>
            <a:off x="9204808"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71" name="Text 64"/>
          <p:cNvSpPr/>
          <p:nvPr/>
        </p:nvSpPr>
        <p:spPr>
          <a:xfrm>
            <a:off x="9204808"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COO / VP Portfolio</a:t>
            </a:r>
            <a:endParaRPr lang="en-US" sz="900" dirty="0"/>
          </a:p>
        </p:txBody>
      </p:sp>
      <p:sp>
        <p:nvSpPr>
          <p:cNvPr id="72" name="Shape 65"/>
          <p:cNvSpPr/>
          <p:nvPr/>
        </p:nvSpPr>
        <p:spPr>
          <a:xfrm>
            <a:off x="457200" y="6492240"/>
            <a:ext cx="11274552" cy="411480"/>
          </a:xfrm>
          <a:prstGeom prst="rect">
            <a:avLst/>
          </a:prstGeom>
          <a:solidFill>
            <a:srgbClr val="FFF1A8"/>
          </a:solidFill>
          <a:ln w="12700">
            <a:solidFill>
              <a:srgbClr val="FEDF01"/>
            </a:solidFill>
            <a:prstDash val="solid"/>
          </a:ln>
        </p:spPr>
        <p:txBody>
          <a:bodyPr/>
          <a:lstStyle/>
          <a:p>
            <a:endParaRPr lang="en-US"/>
          </a:p>
        </p:txBody>
      </p:sp>
      <p:pic>
        <p:nvPicPr>
          <p:cNvPr id="73" name="Image 5" descr="preencoded.png"/>
          <p:cNvPicPr>
            <a:picLocks noChangeAspect="1"/>
          </p:cNvPicPr>
          <p:nvPr/>
        </p:nvPicPr>
        <p:blipFill>
          <a:blip r:embed="rId8"/>
          <a:stretch>
            <a:fillRect/>
          </a:stretch>
        </p:blipFill>
        <p:spPr>
          <a:xfrm>
            <a:off x="640080" y="6565392"/>
            <a:ext cx="256032" cy="256032"/>
          </a:xfrm>
          <a:prstGeom prst="rect">
            <a:avLst/>
          </a:prstGeom>
        </p:spPr>
      </p:pic>
      <p:sp>
        <p:nvSpPr>
          <p:cNvPr id="74" name="Text 66"/>
          <p:cNvSpPr/>
          <p:nvPr/>
        </p:nvSpPr>
        <p:spPr>
          <a:xfrm>
            <a:off x="960120" y="6492240"/>
            <a:ext cx="10515600" cy="41148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Rule of thumb: a function stays vertical if it must speak truth across the entire org, or orchestrate work that no single tribe owns end-to-end.</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PRESERVING CRAFT EXCELLENCE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Communities of Practice — the Horizontal Weave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371600"/>
            <a:ext cx="4206240" cy="411480"/>
          </a:xfrm>
          <a:prstGeom prst="rect">
            <a:avLst/>
          </a:prstGeom>
          <a:noFill/>
          <a:ln/>
        </p:spPr>
        <p:txBody>
          <a:bodyPr wrap="square" lIns="0" tIns="0" rIns="0" bIns="0" rtlCol="0" anchor="ctr"/>
          <a:lstStyle/>
          <a:p>
            <a:pPr marL="0" indent="0">
              <a:buNone/>
            </a:pPr>
            <a:r>
              <a:rPr lang="en-US" sz="1800" b="1" dirty="0">
                <a:solidFill>
                  <a:srgbClr val="003DA5"/>
                </a:solidFill>
                <a:latin typeface="Georgia" pitchFamily="34" charset="0"/>
                <a:ea typeface="Georgia" pitchFamily="34" charset="-122"/>
                <a:cs typeface="Georgia" pitchFamily="34" charset="-120"/>
              </a:rPr>
              <a:t>Why Guilds matter</a:t>
            </a:r>
            <a:endParaRPr lang="en-US" sz="1800" dirty="0"/>
          </a:p>
        </p:txBody>
      </p:sp>
      <p:sp>
        <p:nvSpPr>
          <p:cNvPr id="8" name="Text 5"/>
          <p:cNvSpPr/>
          <p:nvPr/>
        </p:nvSpPr>
        <p:spPr>
          <a:xfrm>
            <a:off x="457200" y="1828800"/>
            <a:ext cx="420624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Removing functional silos doesn't mean removing functional depth. Communities of Practice carry craft mastery across teams — what a chapter or guild does well that a reporting line can't.</a:t>
            </a:r>
            <a:endParaRPr lang="en-US" sz="1200" dirty="0"/>
          </a:p>
        </p:txBody>
      </p:sp>
      <p:sp>
        <p:nvSpPr>
          <p:cNvPr id="9" name="Text 6"/>
          <p:cNvSpPr/>
          <p:nvPr/>
        </p:nvSpPr>
        <p:spPr>
          <a:xfrm>
            <a:off x="457200" y="2880360"/>
            <a:ext cx="4206240" cy="228600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Set standards (ADRs, SLO policy, MLOps patterns)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Calibrate skills across teams; own technical career ladder</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Run brown-bags, drills, hackathons, tech-radar refreshes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Survive reorgs — fractal &amp; resilient by design</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Replace expensive design-authority approval boards with peer review</a:t>
            </a:r>
            <a:endParaRPr lang="en-US" sz="1150" dirty="0"/>
          </a:p>
        </p:txBody>
      </p:sp>
      <p:sp>
        <p:nvSpPr>
          <p:cNvPr id="10" name="Shape 7"/>
          <p:cNvSpPr/>
          <p:nvPr/>
        </p:nvSpPr>
        <p:spPr>
          <a:xfrm>
            <a:off x="457200" y="5349240"/>
            <a:ext cx="4206240" cy="960120"/>
          </a:xfrm>
          <a:prstGeom prst="rect">
            <a:avLst/>
          </a:prstGeom>
          <a:solidFill>
            <a:srgbClr val="F4F6F9"/>
          </a:solidFill>
          <a:ln w="12700">
            <a:solidFill>
              <a:srgbClr val="E2E8F0"/>
            </a:solidFill>
            <a:prstDash val="solid"/>
          </a:ln>
        </p:spPr>
        <p:txBody>
          <a:bodyPr/>
          <a:lstStyle/>
          <a:p>
            <a:endParaRPr lang="en-US"/>
          </a:p>
        </p:txBody>
      </p:sp>
      <p:sp>
        <p:nvSpPr>
          <p:cNvPr id="11" name="Shape 8"/>
          <p:cNvSpPr/>
          <p:nvPr/>
        </p:nvSpPr>
        <p:spPr>
          <a:xfrm>
            <a:off x="457200" y="5349240"/>
            <a:ext cx="73152" cy="960120"/>
          </a:xfrm>
          <a:prstGeom prst="rect">
            <a:avLst/>
          </a:prstGeom>
          <a:solidFill>
            <a:srgbClr val="FEDF01"/>
          </a:solidFill>
          <a:ln w="12700">
            <a:solidFill>
              <a:srgbClr val="FEDF01"/>
            </a:solidFill>
            <a:prstDash val="solid"/>
          </a:ln>
        </p:spPr>
        <p:txBody>
          <a:bodyPr/>
          <a:lstStyle/>
          <a:p>
            <a:endParaRPr lang="en-US"/>
          </a:p>
        </p:txBody>
      </p:sp>
      <p:sp>
        <p:nvSpPr>
          <p:cNvPr id="12" name="Text 9"/>
          <p:cNvSpPr/>
          <p:nvPr/>
        </p:nvSpPr>
        <p:spPr>
          <a:xfrm>
            <a:off x="640080" y="5440680"/>
            <a:ext cx="3931920" cy="77724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Every engineer belongs to one team and 1–2 Guilds. Guilds are influence-based, not authority-based.</a:t>
            </a:r>
            <a:endParaRPr lang="en-US" sz="1200" dirty="0"/>
          </a:p>
        </p:txBody>
      </p:sp>
      <p:sp>
        <p:nvSpPr>
          <p:cNvPr id="13" name="Shape 10"/>
          <p:cNvSpPr/>
          <p:nvPr/>
        </p:nvSpPr>
        <p:spPr>
          <a:xfrm>
            <a:off x="5120640" y="137160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4" name="Shape 11"/>
          <p:cNvSpPr/>
          <p:nvPr/>
        </p:nvSpPr>
        <p:spPr>
          <a:xfrm>
            <a:off x="5120640" y="1371600"/>
            <a:ext cx="73152" cy="713232"/>
          </a:xfrm>
          <a:prstGeom prst="rect">
            <a:avLst/>
          </a:prstGeom>
          <a:solidFill>
            <a:srgbClr val="003DA5"/>
          </a:solidFill>
          <a:ln w="12700">
            <a:solidFill>
              <a:srgbClr val="003DA5"/>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5303520" y="1536192"/>
            <a:ext cx="384048" cy="384048"/>
          </a:xfrm>
          <a:prstGeom prst="rect">
            <a:avLst/>
          </a:prstGeom>
        </p:spPr>
      </p:pic>
      <p:sp>
        <p:nvSpPr>
          <p:cNvPr id="16" name="Text 12"/>
          <p:cNvSpPr/>
          <p:nvPr/>
        </p:nvSpPr>
        <p:spPr>
          <a:xfrm>
            <a:off x="5806440" y="144475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Architecture Guild</a:t>
            </a:r>
            <a:endParaRPr lang="en-US" sz="1200" dirty="0"/>
          </a:p>
        </p:txBody>
      </p:sp>
      <p:sp>
        <p:nvSpPr>
          <p:cNvPr id="17" name="Text 13"/>
          <p:cNvSpPr/>
          <p:nvPr/>
        </p:nvSpPr>
        <p:spPr>
          <a:xfrm>
            <a:off x="5806440" y="173736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Chaired by Chief Architect · ADRs · reference architectures</a:t>
            </a:r>
            <a:endParaRPr lang="en-US" sz="950" dirty="0"/>
          </a:p>
        </p:txBody>
      </p:sp>
      <p:sp>
        <p:nvSpPr>
          <p:cNvPr id="18" name="Shape 14"/>
          <p:cNvSpPr/>
          <p:nvPr/>
        </p:nvSpPr>
        <p:spPr>
          <a:xfrm>
            <a:off x="8613648" y="137160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9" name="Shape 15"/>
          <p:cNvSpPr/>
          <p:nvPr/>
        </p:nvSpPr>
        <p:spPr>
          <a:xfrm>
            <a:off x="8613648" y="1371600"/>
            <a:ext cx="73152" cy="713232"/>
          </a:xfrm>
          <a:prstGeom prst="rect">
            <a:avLst/>
          </a:prstGeom>
          <a:solidFill>
            <a:srgbClr val="003DA5"/>
          </a:solidFill>
          <a:ln w="12700">
            <a:solidFill>
              <a:srgbClr val="003DA5"/>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796528" y="1536192"/>
            <a:ext cx="384048" cy="384048"/>
          </a:xfrm>
          <a:prstGeom prst="rect">
            <a:avLst/>
          </a:prstGeom>
        </p:spPr>
      </p:pic>
      <p:sp>
        <p:nvSpPr>
          <p:cNvPr id="21" name="Text 16"/>
          <p:cNvSpPr/>
          <p:nvPr/>
        </p:nvSpPr>
        <p:spPr>
          <a:xfrm>
            <a:off x="9299448" y="144475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SRE / Reliability Chapter</a:t>
            </a:r>
            <a:endParaRPr lang="en-US" sz="1200" dirty="0"/>
          </a:p>
        </p:txBody>
      </p:sp>
      <p:sp>
        <p:nvSpPr>
          <p:cNvPr id="22" name="Text 17"/>
          <p:cNvSpPr/>
          <p:nvPr/>
        </p:nvSpPr>
        <p:spPr>
          <a:xfrm>
            <a:off x="9299448" y="173736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SLO standards · postmortems · error-budget policy</a:t>
            </a:r>
            <a:endParaRPr lang="en-US" sz="950" dirty="0"/>
          </a:p>
        </p:txBody>
      </p:sp>
      <p:sp>
        <p:nvSpPr>
          <p:cNvPr id="23" name="Shape 18"/>
          <p:cNvSpPr/>
          <p:nvPr/>
        </p:nvSpPr>
        <p:spPr>
          <a:xfrm>
            <a:off x="5120640" y="219456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4" name="Shape 19"/>
          <p:cNvSpPr/>
          <p:nvPr/>
        </p:nvSpPr>
        <p:spPr>
          <a:xfrm>
            <a:off x="5120640" y="2194560"/>
            <a:ext cx="73152" cy="713232"/>
          </a:xfrm>
          <a:prstGeom prst="rect">
            <a:avLst/>
          </a:prstGeom>
          <a:solidFill>
            <a:srgbClr val="003DA5"/>
          </a:solidFill>
          <a:ln w="12700">
            <a:solidFill>
              <a:srgbClr val="003DA5"/>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5303520" y="2359152"/>
            <a:ext cx="384048" cy="384048"/>
          </a:xfrm>
          <a:prstGeom prst="rect">
            <a:avLst/>
          </a:prstGeom>
        </p:spPr>
      </p:pic>
      <p:sp>
        <p:nvSpPr>
          <p:cNvPr id="26" name="Text 20"/>
          <p:cNvSpPr/>
          <p:nvPr/>
        </p:nvSpPr>
        <p:spPr>
          <a:xfrm>
            <a:off x="5806440" y="226771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AI / ML Engineering Guild</a:t>
            </a:r>
            <a:endParaRPr lang="en-US" sz="1200" dirty="0"/>
          </a:p>
        </p:txBody>
      </p:sp>
      <p:sp>
        <p:nvSpPr>
          <p:cNvPr id="27" name="Text 21"/>
          <p:cNvSpPr/>
          <p:nvPr/>
        </p:nvSpPr>
        <p:spPr>
          <a:xfrm>
            <a:off x="5806440" y="256032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Model lifecycle · MLOps · AIOps patterns · responsible AI</a:t>
            </a:r>
            <a:endParaRPr lang="en-US" sz="950" dirty="0"/>
          </a:p>
        </p:txBody>
      </p:sp>
      <p:sp>
        <p:nvSpPr>
          <p:cNvPr id="28" name="Shape 22"/>
          <p:cNvSpPr/>
          <p:nvPr/>
        </p:nvSpPr>
        <p:spPr>
          <a:xfrm>
            <a:off x="8613648" y="219456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9" name="Shape 23"/>
          <p:cNvSpPr/>
          <p:nvPr/>
        </p:nvSpPr>
        <p:spPr>
          <a:xfrm>
            <a:off x="8613648" y="2194560"/>
            <a:ext cx="73152" cy="713232"/>
          </a:xfrm>
          <a:prstGeom prst="rect">
            <a:avLst/>
          </a:prstGeom>
          <a:solidFill>
            <a:srgbClr val="003DA5"/>
          </a:solidFill>
          <a:ln w="12700">
            <a:solidFill>
              <a:srgbClr val="003DA5"/>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796528" y="2359152"/>
            <a:ext cx="384048" cy="384048"/>
          </a:xfrm>
          <a:prstGeom prst="rect">
            <a:avLst/>
          </a:prstGeom>
        </p:spPr>
      </p:pic>
      <p:sp>
        <p:nvSpPr>
          <p:cNvPr id="31" name="Text 24"/>
          <p:cNvSpPr/>
          <p:nvPr/>
        </p:nvSpPr>
        <p:spPr>
          <a:xfrm>
            <a:off x="9299448" y="226771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IaC / Zephyr Guild</a:t>
            </a:r>
            <a:endParaRPr lang="en-US" sz="1200" dirty="0"/>
          </a:p>
        </p:txBody>
      </p:sp>
      <p:sp>
        <p:nvSpPr>
          <p:cNvPr id="32" name="Text 25"/>
          <p:cNvSpPr/>
          <p:nvPr/>
        </p:nvSpPr>
        <p:spPr>
          <a:xfrm>
            <a:off x="9299448" y="256032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Module catalog · contribution model · version policy</a:t>
            </a:r>
            <a:endParaRPr lang="en-US" sz="950" dirty="0"/>
          </a:p>
        </p:txBody>
      </p:sp>
      <p:sp>
        <p:nvSpPr>
          <p:cNvPr id="33" name="Shape 26"/>
          <p:cNvSpPr/>
          <p:nvPr/>
        </p:nvSpPr>
        <p:spPr>
          <a:xfrm>
            <a:off x="5120640" y="301752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4" name="Shape 27"/>
          <p:cNvSpPr/>
          <p:nvPr/>
        </p:nvSpPr>
        <p:spPr>
          <a:xfrm>
            <a:off x="5120640" y="3017520"/>
            <a:ext cx="73152" cy="713232"/>
          </a:xfrm>
          <a:prstGeom prst="rect">
            <a:avLst/>
          </a:prstGeom>
          <a:solidFill>
            <a:srgbClr val="003DA5"/>
          </a:solidFill>
          <a:ln w="12700">
            <a:solidFill>
              <a:srgbClr val="003DA5"/>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5303520" y="3182112"/>
            <a:ext cx="384048" cy="384048"/>
          </a:xfrm>
          <a:prstGeom prst="rect">
            <a:avLst/>
          </a:prstGeom>
        </p:spPr>
      </p:pic>
      <p:sp>
        <p:nvSpPr>
          <p:cNvPr id="36" name="Text 28"/>
          <p:cNvSpPr/>
          <p:nvPr/>
        </p:nvSpPr>
        <p:spPr>
          <a:xfrm>
            <a:off x="5806440" y="309067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Security &amp; Compliance</a:t>
            </a:r>
            <a:endParaRPr lang="en-US" sz="1200" dirty="0"/>
          </a:p>
        </p:txBody>
      </p:sp>
      <p:sp>
        <p:nvSpPr>
          <p:cNvPr id="37" name="Text 29"/>
          <p:cNvSpPr/>
          <p:nvPr/>
        </p:nvSpPr>
        <p:spPr>
          <a:xfrm>
            <a:off x="5806440" y="338328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Control catalog · policy-as-code library</a:t>
            </a:r>
            <a:endParaRPr lang="en-US" sz="950" dirty="0"/>
          </a:p>
        </p:txBody>
      </p:sp>
      <p:sp>
        <p:nvSpPr>
          <p:cNvPr id="38" name="Shape 30"/>
          <p:cNvSpPr/>
          <p:nvPr/>
        </p:nvSpPr>
        <p:spPr>
          <a:xfrm>
            <a:off x="8613648" y="301752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9" name="Shape 31"/>
          <p:cNvSpPr/>
          <p:nvPr/>
        </p:nvSpPr>
        <p:spPr>
          <a:xfrm>
            <a:off x="8613648" y="3017520"/>
            <a:ext cx="73152" cy="713232"/>
          </a:xfrm>
          <a:prstGeom prst="rect">
            <a:avLst/>
          </a:prstGeom>
          <a:solidFill>
            <a:srgbClr val="003DA5"/>
          </a:solidFill>
          <a:ln w="12700">
            <a:solidFill>
              <a:srgbClr val="003DA5"/>
            </a:solidFill>
            <a:prstDash val="solid"/>
          </a:ln>
        </p:spPr>
        <p:txBody>
          <a:bodyPr/>
          <a:lstStyle/>
          <a:p>
            <a:endParaRPr lang="en-US"/>
          </a:p>
        </p:txBody>
      </p:sp>
      <p:pic>
        <p:nvPicPr>
          <p:cNvPr id="40" name="Image 6" descr="preencoded.png"/>
          <p:cNvPicPr>
            <a:picLocks noChangeAspect="1"/>
          </p:cNvPicPr>
          <p:nvPr/>
        </p:nvPicPr>
        <p:blipFill>
          <a:blip r:embed="rId9"/>
          <a:stretch>
            <a:fillRect/>
          </a:stretch>
        </p:blipFill>
        <p:spPr>
          <a:xfrm>
            <a:off x="8796528" y="3182112"/>
            <a:ext cx="384048" cy="384048"/>
          </a:xfrm>
          <a:prstGeom prst="rect">
            <a:avLst/>
          </a:prstGeom>
        </p:spPr>
      </p:pic>
      <p:sp>
        <p:nvSpPr>
          <p:cNvPr id="41" name="Text 32"/>
          <p:cNvSpPr/>
          <p:nvPr/>
        </p:nvSpPr>
        <p:spPr>
          <a:xfrm>
            <a:off x="9299448" y="309067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DevEx &amp; Productivity</a:t>
            </a:r>
            <a:endParaRPr lang="en-US" sz="1200" dirty="0"/>
          </a:p>
        </p:txBody>
      </p:sp>
      <p:sp>
        <p:nvSpPr>
          <p:cNvPr id="42" name="Text 33"/>
          <p:cNvSpPr/>
          <p:nvPr/>
        </p:nvSpPr>
        <p:spPr>
          <a:xfrm>
            <a:off x="9299448" y="338328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Developer NPS · golden-path adoption metrics</a:t>
            </a:r>
            <a:endParaRPr lang="en-US" sz="950" dirty="0"/>
          </a:p>
        </p:txBody>
      </p:sp>
      <p:sp>
        <p:nvSpPr>
          <p:cNvPr id="43" name="Shape 34"/>
          <p:cNvSpPr/>
          <p:nvPr/>
        </p:nvSpPr>
        <p:spPr>
          <a:xfrm>
            <a:off x="5120640" y="384048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35"/>
          <p:cNvSpPr/>
          <p:nvPr/>
        </p:nvSpPr>
        <p:spPr>
          <a:xfrm>
            <a:off x="5120640" y="3840480"/>
            <a:ext cx="73152" cy="713232"/>
          </a:xfrm>
          <a:prstGeom prst="rect">
            <a:avLst/>
          </a:prstGeom>
          <a:solidFill>
            <a:srgbClr val="003DA5"/>
          </a:solidFill>
          <a:ln w="12700">
            <a:solidFill>
              <a:srgbClr val="003DA5"/>
            </a:solidFill>
            <a:prstDash val="solid"/>
          </a:ln>
        </p:spPr>
        <p:txBody>
          <a:bodyPr/>
          <a:lstStyle/>
          <a:p>
            <a:endParaRPr lang="en-US"/>
          </a:p>
        </p:txBody>
      </p:sp>
      <p:pic>
        <p:nvPicPr>
          <p:cNvPr id="45" name="Image 7" descr="preencoded.png"/>
          <p:cNvPicPr>
            <a:picLocks noChangeAspect="1"/>
          </p:cNvPicPr>
          <p:nvPr/>
        </p:nvPicPr>
        <p:blipFill>
          <a:blip r:embed="rId10"/>
          <a:stretch>
            <a:fillRect/>
          </a:stretch>
        </p:blipFill>
        <p:spPr>
          <a:xfrm>
            <a:off x="5303520" y="4005072"/>
            <a:ext cx="384048" cy="384048"/>
          </a:xfrm>
          <a:prstGeom prst="rect">
            <a:avLst/>
          </a:prstGeom>
        </p:spPr>
      </p:pic>
      <p:sp>
        <p:nvSpPr>
          <p:cNvPr id="46" name="Text 36"/>
          <p:cNvSpPr/>
          <p:nvPr/>
        </p:nvSpPr>
        <p:spPr>
          <a:xfrm>
            <a:off x="5806440" y="391363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Incident Commander</a:t>
            </a:r>
            <a:endParaRPr lang="en-US" sz="1200" dirty="0"/>
          </a:p>
        </p:txBody>
      </p:sp>
      <p:sp>
        <p:nvSpPr>
          <p:cNvPr id="47" name="Text 37"/>
          <p:cNvSpPr/>
          <p:nvPr/>
        </p:nvSpPr>
        <p:spPr>
          <a:xfrm>
            <a:off x="5806440" y="420624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IM playbooks · GameDay drills · cross-tribe rotation</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5  ·  PROOF &amp; DECISION</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Proven at scale,</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ready to fund.</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Companies running this model today, the benefits we expect, the roadmap to get there, the risks we'll manage — and what we're asking the room to decide.</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From hypothesis to commitment.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PROVEN AT SCALE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Who Is Already Running This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 flat peer-squad model isn't theoretical. The largest engineering organizations in the world have operated this way for over a decade — at scale, in regulated environments, and through massive growth.</a:t>
            </a:r>
            <a:endParaRPr lang="en-US" sz="1300" dirty="0"/>
          </a:p>
        </p:txBody>
      </p:sp>
      <p:sp>
        <p:nvSpPr>
          <p:cNvPr id="8" name="Shape 5"/>
          <p:cNvSpPr/>
          <p:nvPr/>
        </p:nvSpPr>
        <p:spPr>
          <a:xfrm>
            <a:off x="376276"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376276" y="1920240"/>
            <a:ext cx="3703320" cy="59436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376276"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11" name="Text 8"/>
          <p:cNvSpPr/>
          <p:nvPr/>
        </p:nvSpPr>
        <p:spPr>
          <a:xfrm>
            <a:off x="604876"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Amazon / AWS</a:t>
            </a:r>
            <a:endParaRPr lang="en-US" sz="1500" dirty="0"/>
          </a:p>
        </p:txBody>
      </p:sp>
      <p:sp>
        <p:nvSpPr>
          <p:cNvPr id="12" name="Text 9"/>
          <p:cNvSpPr/>
          <p:nvPr/>
        </p:nvSpPr>
        <p:spPr>
          <a:xfrm>
            <a:off x="604876"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2002</a:t>
            </a:r>
            <a:endParaRPr lang="en-US" sz="1000" dirty="0"/>
          </a:p>
        </p:txBody>
      </p:sp>
      <p:sp>
        <p:nvSpPr>
          <p:cNvPr id="13" name="Text 10"/>
          <p:cNvSpPr/>
          <p:nvPr/>
        </p:nvSpPr>
        <p:spPr>
          <a:xfrm>
            <a:off x="604876"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“Two-pizza teams”</a:t>
            </a:r>
            <a:endParaRPr lang="en-US" sz="1600" dirty="0"/>
          </a:p>
        </p:txBody>
      </p:sp>
      <p:sp>
        <p:nvSpPr>
          <p:cNvPr id="14" name="Text 11"/>
          <p:cNvSpPr/>
          <p:nvPr/>
        </p:nvSpPr>
        <p:spPr>
          <a:xfrm>
            <a:off x="604876"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Each service owned by 6–10 people who build it, run it, on-call it. The original "you build it, you run it."</a:t>
            </a:r>
            <a:endParaRPr lang="en-US" sz="1050" dirty="0"/>
          </a:p>
        </p:txBody>
      </p:sp>
      <p:sp>
        <p:nvSpPr>
          <p:cNvPr id="15" name="Shape 12"/>
          <p:cNvSpPr/>
          <p:nvPr/>
        </p:nvSpPr>
        <p:spPr>
          <a:xfrm>
            <a:off x="4244188"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6" name="Shape 13"/>
          <p:cNvSpPr/>
          <p:nvPr/>
        </p:nvSpPr>
        <p:spPr>
          <a:xfrm>
            <a:off x="4244188" y="1920240"/>
            <a:ext cx="3703320" cy="594360"/>
          </a:xfrm>
          <a:prstGeom prst="rect">
            <a:avLst/>
          </a:prstGeom>
          <a:solidFill>
            <a:srgbClr val="003DA5"/>
          </a:solidFill>
          <a:ln w="12700">
            <a:solidFill>
              <a:srgbClr val="003DA5"/>
            </a:solidFill>
            <a:prstDash val="solid"/>
          </a:ln>
        </p:spPr>
        <p:txBody>
          <a:bodyPr/>
          <a:lstStyle/>
          <a:p>
            <a:endParaRPr lang="en-US"/>
          </a:p>
        </p:txBody>
      </p:sp>
      <p:sp>
        <p:nvSpPr>
          <p:cNvPr id="17" name="Shape 14"/>
          <p:cNvSpPr/>
          <p:nvPr/>
        </p:nvSpPr>
        <p:spPr>
          <a:xfrm>
            <a:off x="4244188"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18" name="Text 15"/>
          <p:cNvSpPr/>
          <p:nvPr/>
        </p:nvSpPr>
        <p:spPr>
          <a:xfrm>
            <a:off x="4472788"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Netflix</a:t>
            </a:r>
            <a:endParaRPr lang="en-US" sz="1500" dirty="0"/>
          </a:p>
        </p:txBody>
      </p:sp>
      <p:sp>
        <p:nvSpPr>
          <p:cNvPr id="19" name="Text 16"/>
          <p:cNvSpPr/>
          <p:nvPr/>
        </p:nvSpPr>
        <p:spPr>
          <a:xfrm>
            <a:off x="4472788"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2011</a:t>
            </a:r>
            <a:endParaRPr lang="en-US" sz="1000" dirty="0"/>
          </a:p>
        </p:txBody>
      </p:sp>
      <p:sp>
        <p:nvSpPr>
          <p:cNvPr id="20" name="Text 17"/>
          <p:cNvSpPr/>
          <p:nvPr/>
        </p:nvSpPr>
        <p:spPr>
          <a:xfrm>
            <a:off x="4472788"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“Full-cycle developers”</a:t>
            </a:r>
            <a:endParaRPr lang="en-US" sz="1600" dirty="0"/>
          </a:p>
        </p:txBody>
      </p:sp>
      <p:sp>
        <p:nvSpPr>
          <p:cNvPr id="21" name="Text 18"/>
          <p:cNvSpPr/>
          <p:nvPr/>
        </p:nvSpPr>
        <p:spPr>
          <a:xfrm>
            <a:off x="4472788"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Every team owns design, build, deploy, operate, support. Paved-road platform makes it possible at scale.</a:t>
            </a:r>
            <a:endParaRPr lang="en-US" sz="1050" dirty="0"/>
          </a:p>
        </p:txBody>
      </p:sp>
      <p:sp>
        <p:nvSpPr>
          <p:cNvPr id="22" name="Shape 19"/>
          <p:cNvSpPr/>
          <p:nvPr/>
        </p:nvSpPr>
        <p:spPr>
          <a:xfrm>
            <a:off x="8112100"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3" name="Shape 20"/>
          <p:cNvSpPr/>
          <p:nvPr/>
        </p:nvSpPr>
        <p:spPr>
          <a:xfrm>
            <a:off x="8112100" y="1920240"/>
            <a:ext cx="3703320" cy="594360"/>
          </a:xfrm>
          <a:prstGeom prst="rect">
            <a:avLst/>
          </a:prstGeom>
          <a:solidFill>
            <a:srgbClr val="002B7F"/>
          </a:solidFill>
          <a:ln w="12700">
            <a:solidFill>
              <a:srgbClr val="002B7F"/>
            </a:solidFill>
            <a:prstDash val="solid"/>
          </a:ln>
        </p:spPr>
        <p:txBody>
          <a:bodyPr/>
          <a:lstStyle/>
          <a:p>
            <a:endParaRPr lang="en-US"/>
          </a:p>
        </p:txBody>
      </p:sp>
      <p:sp>
        <p:nvSpPr>
          <p:cNvPr id="24" name="Shape 21"/>
          <p:cNvSpPr/>
          <p:nvPr/>
        </p:nvSpPr>
        <p:spPr>
          <a:xfrm>
            <a:off x="8112100"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25" name="Text 22"/>
          <p:cNvSpPr/>
          <p:nvPr/>
        </p:nvSpPr>
        <p:spPr>
          <a:xfrm>
            <a:off x="8340700"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Google SRE</a:t>
            </a:r>
            <a:endParaRPr lang="en-US" sz="1500" dirty="0"/>
          </a:p>
        </p:txBody>
      </p:sp>
      <p:sp>
        <p:nvSpPr>
          <p:cNvPr id="26" name="Text 23"/>
          <p:cNvSpPr/>
          <p:nvPr/>
        </p:nvSpPr>
        <p:spPr>
          <a:xfrm>
            <a:off x="8340700"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2003</a:t>
            </a:r>
            <a:endParaRPr lang="en-US" sz="1000" dirty="0"/>
          </a:p>
        </p:txBody>
      </p:sp>
      <p:sp>
        <p:nvSpPr>
          <p:cNvPr id="27" name="Text 24"/>
          <p:cNvSpPr/>
          <p:nvPr/>
        </p:nvSpPr>
        <p:spPr>
          <a:xfrm>
            <a:off x="8340700"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“Embedded SRE pods”</a:t>
            </a:r>
            <a:endParaRPr lang="en-US" sz="1600" dirty="0"/>
          </a:p>
        </p:txBody>
      </p:sp>
      <p:sp>
        <p:nvSpPr>
          <p:cNvPr id="28" name="Text 25"/>
          <p:cNvSpPr/>
          <p:nvPr/>
        </p:nvSpPr>
        <p:spPr>
          <a:xfrm>
            <a:off x="8340700"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Site Reliability Engineers embedded with product teams; 50% engineering, 50% reliability. Toil is capped, not centralized.</a:t>
            </a:r>
            <a:endParaRPr lang="en-US" sz="1050" dirty="0"/>
          </a:p>
        </p:txBody>
      </p:sp>
      <p:sp>
        <p:nvSpPr>
          <p:cNvPr id="29" name="Shape 26"/>
          <p:cNvSpPr/>
          <p:nvPr/>
        </p:nvSpPr>
        <p:spPr>
          <a:xfrm>
            <a:off x="376276"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7"/>
          <p:cNvSpPr/>
          <p:nvPr/>
        </p:nvSpPr>
        <p:spPr>
          <a:xfrm>
            <a:off x="376276" y="4187952"/>
            <a:ext cx="3703320" cy="594360"/>
          </a:xfrm>
          <a:prstGeom prst="rect">
            <a:avLst/>
          </a:prstGeom>
          <a:solidFill>
            <a:srgbClr val="003DA5"/>
          </a:solidFill>
          <a:ln w="12700">
            <a:solidFill>
              <a:srgbClr val="003DA5"/>
            </a:solidFill>
            <a:prstDash val="solid"/>
          </a:ln>
        </p:spPr>
        <p:txBody>
          <a:bodyPr/>
          <a:lstStyle/>
          <a:p>
            <a:endParaRPr lang="en-US"/>
          </a:p>
        </p:txBody>
      </p:sp>
      <p:sp>
        <p:nvSpPr>
          <p:cNvPr id="31" name="Shape 28"/>
          <p:cNvSpPr/>
          <p:nvPr/>
        </p:nvSpPr>
        <p:spPr>
          <a:xfrm>
            <a:off x="376276"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32" name="Text 29"/>
          <p:cNvSpPr/>
          <p:nvPr/>
        </p:nvSpPr>
        <p:spPr>
          <a:xfrm>
            <a:off x="604876"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Capital One</a:t>
            </a:r>
            <a:endParaRPr lang="en-US" sz="1500" dirty="0"/>
          </a:p>
        </p:txBody>
      </p:sp>
      <p:sp>
        <p:nvSpPr>
          <p:cNvPr id="33" name="Text 30"/>
          <p:cNvSpPr/>
          <p:nvPr/>
        </p:nvSpPr>
        <p:spPr>
          <a:xfrm>
            <a:off x="604876"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2015</a:t>
            </a:r>
            <a:endParaRPr lang="en-US" sz="1000" dirty="0"/>
          </a:p>
        </p:txBody>
      </p:sp>
      <p:sp>
        <p:nvSpPr>
          <p:cNvPr id="34" name="Text 31"/>
          <p:cNvSpPr/>
          <p:nvPr/>
        </p:nvSpPr>
        <p:spPr>
          <a:xfrm>
            <a:off x="604876"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“Cross-functional pods”</a:t>
            </a:r>
            <a:endParaRPr lang="en-US" sz="1600" dirty="0"/>
          </a:p>
        </p:txBody>
      </p:sp>
      <p:sp>
        <p:nvSpPr>
          <p:cNvPr id="35" name="Text 32"/>
          <p:cNvSpPr/>
          <p:nvPr/>
        </p:nvSpPr>
        <p:spPr>
          <a:xfrm>
            <a:off x="604876"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14,000+ technologists organized as product teams. Distinguished Engineers federated across squads. Heavily regulated — like RBC.</a:t>
            </a:r>
            <a:endParaRPr lang="en-US" sz="1050" dirty="0"/>
          </a:p>
        </p:txBody>
      </p:sp>
      <p:sp>
        <p:nvSpPr>
          <p:cNvPr id="36" name="Shape 33"/>
          <p:cNvSpPr/>
          <p:nvPr/>
        </p:nvSpPr>
        <p:spPr>
          <a:xfrm>
            <a:off x="4244188"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7" name="Shape 34"/>
          <p:cNvSpPr/>
          <p:nvPr/>
        </p:nvSpPr>
        <p:spPr>
          <a:xfrm>
            <a:off x="4244188" y="4187952"/>
            <a:ext cx="3703320" cy="594360"/>
          </a:xfrm>
          <a:prstGeom prst="rect">
            <a:avLst/>
          </a:prstGeom>
          <a:solidFill>
            <a:srgbClr val="001F5C"/>
          </a:solidFill>
          <a:ln w="12700">
            <a:solidFill>
              <a:srgbClr val="001F5C"/>
            </a:solidFill>
            <a:prstDash val="solid"/>
          </a:ln>
        </p:spPr>
        <p:txBody>
          <a:bodyPr/>
          <a:lstStyle/>
          <a:p>
            <a:endParaRPr lang="en-US"/>
          </a:p>
        </p:txBody>
      </p:sp>
      <p:sp>
        <p:nvSpPr>
          <p:cNvPr id="38" name="Shape 35"/>
          <p:cNvSpPr/>
          <p:nvPr/>
        </p:nvSpPr>
        <p:spPr>
          <a:xfrm>
            <a:off x="4244188"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39" name="Text 36"/>
          <p:cNvSpPr/>
          <p:nvPr/>
        </p:nvSpPr>
        <p:spPr>
          <a:xfrm>
            <a:off x="4472788"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JPMorgan Chase</a:t>
            </a:r>
            <a:endParaRPr lang="en-US" sz="1500" dirty="0"/>
          </a:p>
        </p:txBody>
      </p:sp>
      <p:sp>
        <p:nvSpPr>
          <p:cNvPr id="40" name="Text 37"/>
          <p:cNvSpPr/>
          <p:nvPr/>
        </p:nvSpPr>
        <p:spPr>
          <a:xfrm>
            <a:off x="4472788"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2019</a:t>
            </a:r>
            <a:endParaRPr lang="en-US" sz="1000" dirty="0"/>
          </a:p>
        </p:txBody>
      </p:sp>
      <p:sp>
        <p:nvSpPr>
          <p:cNvPr id="41" name="Text 38"/>
          <p:cNvSpPr/>
          <p:nvPr/>
        </p:nvSpPr>
        <p:spPr>
          <a:xfrm>
            <a:off x="4472788"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“Platform-as-product”</a:t>
            </a:r>
            <a:endParaRPr lang="en-US" sz="1600" dirty="0"/>
          </a:p>
        </p:txBody>
      </p:sp>
      <p:sp>
        <p:nvSpPr>
          <p:cNvPr id="42" name="Text 39"/>
          <p:cNvSpPr/>
          <p:nvPr/>
        </p:nvSpPr>
        <p:spPr>
          <a:xfrm>
            <a:off x="4472788"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55,000 technologists under a CIO of Infrastructure Platforms. Flat infra cost despite +50% compute growth.</a:t>
            </a:r>
            <a:endParaRPr lang="en-US" sz="1050" dirty="0"/>
          </a:p>
        </p:txBody>
      </p:sp>
      <p:sp>
        <p:nvSpPr>
          <p:cNvPr id="43" name="Shape 40"/>
          <p:cNvSpPr/>
          <p:nvPr/>
        </p:nvSpPr>
        <p:spPr>
          <a:xfrm>
            <a:off x="8112100"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1"/>
          <p:cNvSpPr/>
          <p:nvPr/>
        </p:nvSpPr>
        <p:spPr>
          <a:xfrm>
            <a:off x="8112100" y="4187952"/>
            <a:ext cx="3703320" cy="594360"/>
          </a:xfrm>
          <a:prstGeom prst="rect">
            <a:avLst/>
          </a:prstGeom>
          <a:solidFill>
            <a:srgbClr val="002B7F"/>
          </a:solidFill>
          <a:ln w="12700">
            <a:solidFill>
              <a:srgbClr val="002B7F"/>
            </a:solidFill>
            <a:prstDash val="solid"/>
          </a:ln>
        </p:spPr>
        <p:txBody>
          <a:bodyPr/>
          <a:lstStyle/>
          <a:p>
            <a:endParaRPr lang="en-US"/>
          </a:p>
        </p:txBody>
      </p:sp>
      <p:sp>
        <p:nvSpPr>
          <p:cNvPr id="45" name="Shape 42"/>
          <p:cNvSpPr/>
          <p:nvPr/>
        </p:nvSpPr>
        <p:spPr>
          <a:xfrm>
            <a:off x="8112100"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46" name="Text 43"/>
          <p:cNvSpPr/>
          <p:nvPr/>
        </p:nvSpPr>
        <p:spPr>
          <a:xfrm>
            <a:off x="8340700"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DBS Bank (ADA)</a:t>
            </a:r>
            <a:endParaRPr lang="en-US" sz="1500" dirty="0"/>
          </a:p>
        </p:txBody>
      </p:sp>
      <p:sp>
        <p:nvSpPr>
          <p:cNvPr id="47" name="Text 44"/>
          <p:cNvSpPr/>
          <p:nvPr/>
        </p:nvSpPr>
        <p:spPr>
          <a:xfrm>
            <a:off x="8340700"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2017</a:t>
            </a:r>
            <a:endParaRPr lang="en-US" sz="1000" dirty="0"/>
          </a:p>
        </p:txBody>
      </p:sp>
      <p:sp>
        <p:nvSpPr>
          <p:cNvPr id="48" name="Text 45"/>
          <p:cNvSpPr/>
          <p:nvPr/>
        </p:nvSpPr>
        <p:spPr>
          <a:xfrm>
            <a:off x="8340700"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“Federated platform”</a:t>
            </a:r>
            <a:endParaRPr lang="en-US" sz="1600" dirty="0"/>
          </a:p>
        </p:txBody>
      </p:sp>
      <p:sp>
        <p:nvSpPr>
          <p:cNvPr id="49" name="Text 46"/>
          <p:cNvSpPr/>
          <p:nvPr/>
        </p:nvSpPr>
        <p:spPr>
          <a:xfrm>
            <a:off x="8340700"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Asian banking giant running an enterprise platform team with federated business-aligned squads. Most directly comparable to RBC.</a:t>
            </a:r>
            <a:endParaRPr lang="en-US" sz="1050" dirty="0"/>
          </a:p>
        </p:txBody>
      </p:sp>
      <p:sp>
        <p:nvSpPr>
          <p:cNvPr id="50" name="Shape 47"/>
          <p:cNvSpPr/>
          <p:nvPr/>
        </p:nvSpPr>
        <p:spPr>
          <a:xfrm>
            <a:off x="457200" y="6172200"/>
            <a:ext cx="11274552" cy="365760"/>
          </a:xfrm>
          <a:prstGeom prst="rect">
            <a:avLst/>
          </a:prstGeom>
          <a:solidFill>
            <a:srgbClr val="FFF1A8"/>
          </a:solidFill>
          <a:ln w="12700">
            <a:solidFill>
              <a:srgbClr val="FEDF01"/>
            </a:solidFill>
            <a:prstDash val="solid"/>
          </a:ln>
        </p:spPr>
        <p:txBody>
          <a:bodyPr/>
          <a:lstStyle/>
          <a:p>
            <a:endParaRPr lang="en-US"/>
          </a:p>
        </p:txBody>
      </p:sp>
      <p:pic>
        <p:nvPicPr>
          <p:cNvPr id="51" name="Image 1" descr="preencoded.png"/>
          <p:cNvPicPr>
            <a:picLocks noChangeAspect="1"/>
          </p:cNvPicPr>
          <p:nvPr/>
        </p:nvPicPr>
        <p:blipFill>
          <a:blip r:embed="rId4"/>
          <a:stretch>
            <a:fillRect/>
          </a:stretch>
        </p:blipFill>
        <p:spPr>
          <a:xfrm>
            <a:off x="640080" y="6245352"/>
            <a:ext cx="219456" cy="219456"/>
          </a:xfrm>
          <a:prstGeom prst="rect">
            <a:avLst/>
          </a:prstGeom>
        </p:spPr>
      </p:pic>
      <p:sp>
        <p:nvSpPr>
          <p:cNvPr id="52" name="Text 48"/>
          <p:cNvSpPr/>
          <p:nvPr/>
        </p:nvSpPr>
        <p:spPr>
          <a:xfrm>
            <a:off x="914400" y="6172200"/>
            <a:ext cx="10515600" cy="36576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Next three slides take a closer look at AWS, Netflix, and JPMorgan Chase — the most directly relevant patterns for RBC's scale and regulatory posture.</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PRESERVED BY DESIGN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What We're NOT Changing</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This is an operating model change — not a teardown. Governance, regulatory posture, technology, and partnerships all carry forward. The change is about how teams are shaped, not what they're accountable for.</a:t>
            </a:r>
          </a:p>
        </p:txBody>
      </p:sp>
      <p:sp>
        <p:nvSpPr>
          <p:cNvPr id="8" name="Rectangle 7"/>
          <p:cNvSpPr/>
          <p:nvPr/>
        </p:nvSpPr>
        <p:spPr>
          <a:xfrm>
            <a:off x="457200" y="1920240"/>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49370" y="2121408"/>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49370" y="2121408"/>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13" name="TextBox 12"/>
          <p:cNvSpPr txBox="1"/>
          <p:nvPr/>
        </p:nvSpPr>
        <p:spPr>
          <a:xfrm>
            <a:off x="685800" y="2121408"/>
            <a:ext cx="2872130" cy="457200"/>
          </a:xfrm>
          <a:prstGeom prst="rect">
            <a:avLst/>
          </a:prstGeom>
          <a:noFill/>
        </p:spPr>
        <p:txBody>
          <a:bodyPr wrap="square" lIns="0" tIns="0" rIns="0" bIns="0" anchor="t">
            <a:spAutoFit/>
          </a:bodyPr>
          <a:lstStyle/>
          <a:p>
            <a:pPr algn="l"/>
            <a:r>
              <a:rPr sz="1300" b="1" i="0">
                <a:solidFill>
                  <a:srgbClr val="001F5C"/>
                </a:solidFill>
                <a:latin typeface="Georgia"/>
              </a:rPr>
              <a:t>RBC governance &amp; risk framework</a:t>
            </a:r>
          </a:p>
        </p:txBody>
      </p:sp>
      <p:sp>
        <p:nvSpPr>
          <p:cNvPr id="14" name="TextBox 13"/>
          <p:cNvSpPr txBox="1"/>
          <p:nvPr/>
        </p:nvSpPr>
        <p:spPr>
          <a:xfrm>
            <a:off x="685800" y="2606040"/>
            <a:ext cx="3283610" cy="1005840"/>
          </a:xfrm>
          <a:prstGeom prst="rect">
            <a:avLst/>
          </a:prstGeom>
          <a:noFill/>
        </p:spPr>
        <p:txBody>
          <a:bodyPr wrap="square" lIns="0" tIns="0" rIns="0" bIns="0" anchor="t">
            <a:spAutoFit/>
          </a:bodyPr>
          <a:lstStyle/>
          <a:p>
            <a:pPr algn="l"/>
            <a:r>
              <a:rPr sz="1000" b="0" i="0">
                <a:solidFill>
                  <a:srgbClr val="1E293B"/>
                </a:solidFill>
                <a:latin typeface="Calibri"/>
              </a:rPr>
              <a:t>Three lines of defense intact. Risk Management, Internal Audit, Compliance reporting lines unchanged. RCSA, ORM controls preserved.</a:t>
            </a:r>
          </a:p>
        </p:txBody>
      </p:sp>
      <p:sp>
        <p:nvSpPr>
          <p:cNvPr id="15" name="Rectangle 14"/>
          <p:cNvSpPr/>
          <p:nvPr/>
        </p:nvSpPr>
        <p:spPr>
          <a:xfrm>
            <a:off x="4271162" y="1920240"/>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71162" y="1920240"/>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71162" y="1920240"/>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463332" y="2121408"/>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63332" y="2121408"/>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20" name="TextBox 19"/>
          <p:cNvSpPr txBox="1"/>
          <p:nvPr/>
        </p:nvSpPr>
        <p:spPr>
          <a:xfrm>
            <a:off x="4499762" y="2121408"/>
            <a:ext cx="2872130" cy="457200"/>
          </a:xfrm>
          <a:prstGeom prst="rect">
            <a:avLst/>
          </a:prstGeom>
          <a:noFill/>
        </p:spPr>
        <p:txBody>
          <a:bodyPr wrap="square" lIns="0" tIns="0" rIns="0" bIns="0" anchor="t">
            <a:spAutoFit/>
          </a:bodyPr>
          <a:lstStyle/>
          <a:p>
            <a:pPr algn="l"/>
            <a:r>
              <a:rPr sz="1300" b="1" i="0">
                <a:solidFill>
                  <a:srgbClr val="001F5C"/>
                </a:solidFill>
                <a:latin typeface="Georgia"/>
              </a:rPr>
              <a:t>Regulatory commitments</a:t>
            </a:r>
          </a:p>
        </p:txBody>
      </p:sp>
      <p:sp>
        <p:nvSpPr>
          <p:cNvPr id="21" name="TextBox 20"/>
          <p:cNvSpPr txBox="1"/>
          <p:nvPr/>
        </p:nvSpPr>
        <p:spPr>
          <a:xfrm>
            <a:off x="4499762" y="2606040"/>
            <a:ext cx="3283610" cy="1005840"/>
          </a:xfrm>
          <a:prstGeom prst="rect">
            <a:avLst/>
          </a:prstGeom>
          <a:noFill/>
        </p:spPr>
        <p:txBody>
          <a:bodyPr wrap="square" lIns="0" tIns="0" rIns="0" bIns="0" anchor="t">
            <a:spAutoFit/>
          </a:bodyPr>
          <a:lstStyle/>
          <a:p>
            <a:pPr algn="l"/>
            <a:r>
              <a:rPr sz="1000" b="0" i="0">
                <a:solidFill>
                  <a:srgbClr val="1E293B"/>
                </a:solidFill>
                <a:latin typeface="Calibri"/>
              </a:rPr>
              <a:t>OSFI E-21, B-13, B-10 obligations carry forward. Audit evidence stronger, not weaker (codified, continuous).</a:t>
            </a:r>
          </a:p>
        </p:txBody>
      </p:sp>
      <p:sp>
        <p:nvSpPr>
          <p:cNvPr id="22" name="Rectangle 21"/>
          <p:cNvSpPr/>
          <p:nvPr/>
        </p:nvSpPr>
        <p:spPr>
          <a:xfrm>
            <a:off x="8085124" y="1920240"/>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5124" y="1920240"/>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085124" y="1920240"/>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277295" y="2121408"/>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277295" y="2121408"/>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27" name="TextBox 26"/>
          <p:cNvSpPr txBox="1"/>
          <p:nvPr/>
        </p:nvSpPr>
        <p:spPr>
          <a:xfrm>
            <a:off x="8313724" y="2121408"/>
            <a:ext cx="2872130" cy="457200"/>
          </a:xfrm>
          <a:prstGeom prst="rect">
            <a:avLst/>
          </a:prstGeom>
          <a:noFill/>
        </p:spPr>
        <p:txBody>
          <a:bodyPr wrap="square" lIns="0" tIns="0" rIns="0" bIns="0" anchor="t">
            <a:spAutoFit/>
          </a:bodyPr>
          <a:lstStyle/>
          <a:p>
            <a:pPr algn="l"/>
            <a:r>
              <a:rPr sz="1300" b="1" i="0">
                <a:solidFill>
                  <a:srgbClr val="001F5C"/>
                </a:solidFill>
                <a:latin typeface="Georgia"/>
              </a:rPr>
              <a:t>Zephyr platform &amp; IaC investment</a:t>
            </a:r>
          </a:p>
        </p:txBody>
      </p:sp>
      <p:sp>
        <p:nvSpPr>
          <p:cNvPr id="28" name="TextBox 27"/>
          <p:cNvSpPr txBox="1"/>
          <p:nvPr/>
        </p:nvSpPr>
        <p:spPr>
          <a:xfrm>
            <a:off x="8313724" y="2606040"/>
            <a:ext cx="3283610" cy="1005840"/>
          </a:xfrm>
          <a:prstGeom prst="rect">
            <a:avLst/>
          </a:prstGeom>
          <a:noFill/>
        </p:spPr>
        <p:txBody>
          <a:bodyPr wrap="square" lIns="0" tIns="0" rIns="0" bIns="0" anchor="t">
            <a:spAutoFit/>
          </a:bodyPr>
          <a:lstStyle/>
          <a:p>
            <a:pPr algn="l"/>
            <a:r>
              <a:rPr sz="1000" b="0" i="0">
                <a:solidFill>
                  <a:srgbClr val="1E293B"/>
                </a:solidFill>
                <a:latin typeface="Calibri"/>
              </a:rPr>
              <a:t>34 platforms, all existing modules, the Control Plane — all carry forward. Squads consume and extend; nothing is rebuilt from scratch.</a:t>
            </a:r>
          </a:p>
        </p:txBody>
      </p:sp>
      <p:sp>
        <p:nvSpPr>
          <p:cNvPr id="29" name="Rectangle 28"/>
          <p:cNvSpPr/>
          <p:nvPr/>
        </p:nvSpPr>
        <p:spPr>
          <a:xfrm>
            <a:off x="457200" y="3867912"/>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3867912"/>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3867912"/>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649370" y="4069080"/>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49370" y="4069080"/>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34" name="TextBox 33"/>
          <p:cNvSpPr txBox="1"/>
          <p:nvPr/>
        </p:nvSpPr>
        <p:spPr>
          <a:xfrm>
            <a:off x="685800" y="4069080"/>
            <a:ext cx="2872130" cy="457200"/>
          </a:xfrm>
          <a:prstGeom prst="rect">
            <a:avLst/>
          </a:prstGeom>
          <a:noFill/>
        </p:spPr>
        <p:txBody>
          <a:bodyPr wrap="square" lIns="0" tIns="0" rIns="0" bIns="0" anchor="t">
            <a:spAutoFit/>
          </a:bodyPr>
          <a:lstStyle/>
          <a:p>
            <a:pPr algn="l"/>
            <a:r>
              <a:rPr sz="1300" b="1" i="0">
                <a:solidFill>
                  <a:srgbClr val="001F5C"/>
                </a:solidFill>
                <a:latin typeface="Georgia"/>
              </a:rPr>
              <a:t>Technology stack &amp; vendor relationships</a:t>
            </a:r>
          </a:p>
        </p:txBody>
      </p:sp>
      <p:sp>
        <p:nvSpPr>
          <p:cNvPr id="35" name="TextBox 34"/>
          <p:cNvSpPr txBox="1"/>
          <p:nvPr/>
        </p:nvSpPr>
        <p:spPr>
          <a:xfrm>
            <a:off x="685800" y="4553712"/>
            <a:ext cx="3283610" cy="1005840"/>
          </a:xfrm>
          <a:prstGeom prst="rect">
            <a:avLst/>
          </a:prstGeom>
          <a:noFill/>
        </p:spPr>
        <p:txBody>
          <a:bodyPr wrap="square" lIns="0" tIns="0" rIns="0" bIns="0" anchor="t">
            <a:spAutoFit/>
          </a:bodyPr>
          <a:lstStyle/>
          <a:p>
            <a:pPr algn="l"/>
            <a:r>
              <a:rPr sz="1000" b="0" i="0">
                <a:solidFill>
                  <a:srgbClr val="1E293B"/>
                </a:solidFill>
                <a:latin typeface="Calibri"/>
              </a:rPr>
              <a:t>No forced re-platforming. Cisco, F5, Red Hat, VMware, AWS, Azure relationships unchanged. Change is organizational, not architectural.</a:t>
            </a:r>
          </a:p>
        </p:txBody>
      </p:sp>
      <p:sp>
        <p:nvSpPr>
          <p:cNvPr id="36" name="Rectangle 35"/>
          <p:cNvSpPr/>
          <p:nvPr/>
        </p:nvSpPr>
        <p:spPr>
          <a:xfrm>
            <a:off x="4271162" y="3867912"/>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271162" y="3867912"/>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271162" y="3867912"/>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463332" y="4069080"/>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63332" y="4069080"/>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41" name="TextBox 40"/>
          <p:cNvSpPr txBox="1"/>
          <p:nvPr/>
        </p:nvSpPr>
        <p:spPr>
          <a:xfrm>
            <a:off x="4499762" y="4069080"/>
            <a:ext cx="2872130" cy="457200"/>
          </a:xfrm>
          <a:prstGeom prst="rect">
            <a:avLst/>
          </a:prstGeom>
          <a:noFill/>
        </p:spPr>
        <p:txBody>
          <a:bodyPr wrap="square" lIns="0" tIns="0" rIns="0" bIns="0" anchor="t">
            <a:spAutoFit/>
          </a:bodyPr>
          <a:lstStyle/>
          <a:p>
            <a:pPr algn="l"/>
            <a:r>
              <a:rPr sz="1300" b="1" i="0">
                <a:solidFill>
                  <a:srgbClr val="001F5C"/>
                </a:solidFill>
                <a:latin typeface="Georgia"/>
              </a:rPr>
              <a:t>People &amp; paychecks</a:t>
            </a:r>
          </a:p>
        </p:txBody>
      </p:sp>
      <p:sp>
        <p:nvSpPr>
          <p:cNvPr id="42" name="TextBox 41"/>
          <p:cNvSpPr txBox="1"/>
          <p:nvPr/>
        </p:nvSpPr>
        <p:spPr>
          <a:xfrm>
            <a:off x="4499762" y="4553712"/>
            <a:ext cx="3283610" cy="1005840"/>
          </a:xfrm>
          <a:prstGeom prst="rect">
            <a:avLst/>
          </a:prstGeom>
          <a:noFill/>
        </p:spPr>
        <p:txBody>
          <a:bodyPr wrap="square" lIns="0" tIns="0" rIns="0" bIns="0" anchor="t">
            <a:spAutoFit/>
          </a:bodyPr>
          <a:lstStyle/>
          <a:p>
            <a:pPr algn="l"/>
            <a:r>
              <a:rPr sz="1000" b="0" i="0">
                <a:solidFill>
                  <a:srgbClr val="1E293B"/>
                </a:solidFill>
                <a:latin typeface="Calibri"/>
              </a:rPr>
              <a:t>Zero forced exits. Same reporting lines during the bridge. Same compensation bands. Same career ladders. We move people into squads, not out the door.</a:t>
            </a:r>
          </a:p>
        </p:txBody>
      </p:sp>
      <p:sp>
        <p:nvSpPr>
          <p:cNvPr id="43" name="Rectangle 42"/>
          <p:cNvSpPr/>
          <p:nvPr/>
        </p:nvSpPr>
        <p:spPr>
          <a:xfrm>
            <a:off x="8085124" y="3867912"/>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085124" y="3867912"/>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085124" y="3867912"/>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277295" y="4069080"/>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1277295" y="4069080"/>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48" name="TextBox 47"/>
          <p:cNvSpPr txBox="1"/>
          <p:nvPr/>
        </p:nvSpPr>
        <p:spPr>
          <a:xfrm>
            <a:off x="8313724" y="4069080"/>
            <a:ext cx="2872130" cy="457200"/>
          </a:xfrm>
          <a:prstGeom prst="rect">
            <a:avLst/>
          </a:prstGeom>
          <a:noFill/>
        </p:spPr>
        <p:txBody>
          <a:bodyPr wrap="square" lIns="0" tIns="0" rIns="0" bIns="0" anchor="t">
            <a:spAutoFit/>
          </a:bodyPr>
          <a:lstStyle/>
          <a:p>
            <a:pPr algn="l"/>
            <a:r>
              <a:rPr sz="1300" b="1" i="0">
                <a:solidFill>
                  <a:srgbClr val="001F5C"/>
                </a:solidFill>
                <a:latin typeface="Georgia"/>
              </a:rPr>
              <a:t>Change Advisory &amp; approval gates</a:t>
            </a:r>
          </a:p>
        </p:txBody>
      </p:sp>
      <p:sp>
        <p:nvSpPr>
          <p:cNvPr id="49" name="TextBox 48"/>
          <p:cNvSpPr txBox="1"/>
          <p:nvPr/>
        </p:nvSpPr>
        <p:spPr>
          <a:xfrm>
            <a:off x="8313724" y="4553712"/>
            <a:ext cx="3283610" cy="1005840"/>
          </a:xfrm>
          <a:prstGeom prst="rect">
            <a:avLst/>
          </a:prstGeom>
          <a:noFill/>
        </p:spPr>
        <p:txBody>
          <a:bodyPr wrap="square" lIns="0" tIns="0" rIns="0" bIns="0" anchor="t">
            <a:spAutoFit/>
          </a:bodyPr>
          <a:lstStyle/>
          <a:p>
            <a:pPr algn="l"/>
            <a:r>
              <a:rPr sz="1000" b="0" i="0">
                <a:solidFill>
                  <a:srgbClr val="1E293B"/>
                </a:solidFill>
                <a:latin typeface="Calibri"/>
              </a:rPr>
              <a:t>CAB process, change windows, prod approval gates unchanged. Squads ship faster because controls are codified — not bypassed.</a:t>
            </a:r>
          </a:p>
        </p:txBody>
      </p:sp>
      <p:sp>
        <p:nvSpPr>
          <p:cNvPr id="50" name="Rectangle 49"/>
          <p:cNvSpPr/>
          <p:nvPr/>
        </p:nvSpPr>
        <p:spPr>
          <a:xfrm>
            <a:off x="457200" y="585216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5800" y="585216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WHAT IS CHANGING:  </a:t>
            </a:r>
            <a:r>
              <a:rPr sz="1200" b="1" i="1">
                <a:solidFill>
                  <a:srgbClr val="1E293B"/>
                </a:solidFill>
                <a:latin typeface="Calibri"/>
              </a:rPr>
              <a:t>Team shape · accountability boundaries · how Ops/Eng/Dev/IntelOps collaborate. Everything else carries forward.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DECISION RIGOR</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Alternatives We Considered</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Four operating model patterns were evaluated. Each was scored against speed of value delivery, audit fitness, talent retention, and execution risk. Flat peer-squad model won — but here's why we rejected the others.</a:t>
            </a:r>
          </a:p>
        </p:txBody>
      </p:sp>
      <p:sp>
        <p:nvSpPr>
          <p:cNvPr id="8" name="Rectangle 7"/>
          <p:cNvSpPr/>
          <p:nvPr/>
        </p:nvSpPr>
        <p:spPr>
          <a:xfrm>
            <a:off x="457200"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716453" cy="86868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Status Quo</a:t>
            </a:r>
          </a:p>
        </p:txBody>
      </p:sp>
      <p:sp>
        <p:nvSpPr>
          <p:cNvPr id="12" name="TextBox 11"/>
          <p:cNvSpPr txBox="1"/>
          <p:nvPr/>
        </p:nvSpPr>
        <p:spPr>
          <a:xfrm>
            <a:off x="640080"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Keep verticals, add automation</a:t>
            </a:r>
          </a:p>
        </p:txBody>
      </p:sp>
      <p:sp>
        <p:nvSpPr>
          <p:cNvPr id="13" name="TextBox 12"/>
          <p:cNvSpPr txBox="1"/>
          <p:nvPr/>
        </p:nvSpPr>
        <p:spPr>
          <a:xfrm>
            <a:off x="640080"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14" name="TextBox 13"/>
          <p:cNvSpPr txBox="1"/>
          <p:nvPr/>
        </p:nvSpPr>
        <p:spPr>
          <a:xfrm>
            <a:off x="640080"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15" name="TextBox 14"/>
          <p:cNvSpPr txBox="1"/>
          <p:nvPr/>
        </p:nvSpPr>
        <p:spPr>
          <a:xfrm>
            <a:off x="804672"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No org change risk</a:t>
            </a:r>
          </a:p>
        </p:txBody>
      </p:sp>
      <p:sp>
        <p:nvSpPr>
          <p:cNvPr id="16" name="TextBox 15"/>
          <p:cNvSpPr txBox="1"/>
          <p:nvPr/>
        </p:nvSpPr>
        <p:spPr>
          <a:xfrm>
            <a:off x="640080"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17" name="TextBox 16"/>
          <p:cNvSpPr txBox="1"/>
          <p:nvPr/>
        </p:nvSpPr>
        <p:spPr>
          <a:xfrm>
            <a:off x="804672"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Familiar reporting lines</a:t>
            </a:r>
          </a:p>
        </p:txBody>
      </p:sp>
      <p:sp>
        <p:nvSpPr>
          <p:cNvPr id="18" name="TextBox 17"/>
          <p:cNvSpPr txBox="1"/>
          <p:nvPr/>
        </p:nvSpPr>
        <p:spPr>
          <a:xfrm>
            <a:off x="640080" y="3831336"/>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19" name="TextBox 18"/>
          <p:cNvSpPr txBox="1"/>
          <p:nvPr/>
        </p:nvSpPr>
        <p:spPr>
          <a:xfrm>
            <a:off x="640080" y="4059936"/>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0" name="TextBox 19"/>
          <p:cNvSpPr txBox="1"/>
          <p:nvPr/>
        </p:nvSpPr>
        <p:spPr>
          <a:xfrm>
            <a:off x="804672" y="4059936"/>
            <a:ext cx="2259253" cy="246888"/>
          </a:xfrm>
          <a:prstGeom prst="rect">
            <a:avLst/>
          </a:prstGeom>
          <a:noFill/>
        </p:spPr>
        <p:txBody>
          <a:bodyPr wrap="square" lIns="0" tIns="0" rIns="0" bIns="0" anchor="t">
            <a:spAutoFit/>
          </a:bodyPr>
          <a:lstStyle/>
          <a:p>
            <a:pPr algn="l"/>
            <a:r>
              <a:rPr sz="950" b="0" i="0">
                <a:solidFill>
                  <a:srgbClr val="1E293B"/>
                </a:solidFill>
                <a:latin typeface="Calibri"/>
              </a:rPr>
              <a:t>Hand-off friction unchanged</a:t>
            </a:r>
          </a:p>
        </p:txBody>
      </p:sp>
      <p:sp>
        <p:nvSpPr>
          <p:cNvPr id="21" name="TextBox 20"/>
          <p:cNvSpPr txBox="1"/>
          <p:nvPr/>
        </p:nvSpPr>
        <p:spPr>
          <a:xfrm>
            <a:off x="640080" y="4306824"/>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2" name="TextBox 21"/>
          <p:cNvSpPr txBox="1"/>
          <p:nvPr/>
        </p:nvSpPr>
        <p:spPr>
          <a:xfrm>
            <a:off x="804672" y="4306824"/>
            <a:ext cx="2259253" cy="246888"/>
          </a:xfrm>
          <a:prstGeom prst="rect">
            <a:avLst/>
          </a:prstGeom>
          <a:noFill/>
        </p:spPr>
        <p:txBody>
          <a:bodyPr wrap="square" lIns="0" tIns="0" rIns="0" bIns="0" anchor="t">
            <a:spAutoFit/>
          </a:bodyPr>
          <a:lstStyle/>
          <a:p>
            <a:pPr algn="l"/>
            <a:r>
              <a:rPr sz="950" b="0" i="0">
                <a:solidFill>
                  <a:srgbClr val="1E293B"/>
                </a:solidFill>
                <a:latin typeface="Calibri"/>
              </a:rPr>
              <a:t>AI built without Ops input</a:t>
            </a:r>
          </a:p>
        </p:txBody>
      </p:sp>
      <p:sp>
        <p:nvSpPr>
          <p:cNvPr id="23" name="TextBox 22"/>
          <p:cNvSpPr txBox="1"/>
          <p:nvPr/>
        </p:nvSpPr>
        <p:spPr>
          <a:xfrm>
            <a:off x="640080"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4" name="TextBox 23"/>
          <p:cNvSpPr txBox="1"/>
          <p:nvPr/>
        </p:nvSpPr>
        <p:spPr>
          <a:xfrm>
            <a:off x="804672"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Toil &amp; burnout continue</a:t>
            </a:r>
          </a:p>
        </p:txBody>
      </p:sp>
      <p:sp>
        <p:nvSpPr>
          <p:cNvPr id="25" name="TextBox 24"/>
          <p:cNvSpPr txBox="1"/>
          <p:nvPr/>
        </p:nvSpPr>
        <p:spPr>
          <a:xfrm>
            <a:off x="640080"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6" name="TextBox 25"/>
          <p:cNvSpPr txBox="1"/>
          <p:nvPr/>
        </p:nvSpPr>
        <p:spPr>
          <a:xfrm>
            <a:off x="804672"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Talent attrition accelerates</a:t>
            </a:r>
          </a:p>
        </p:txBody>
      </p:sp>
      <p:sp>
        <p:nvSpPr>
          <p:cNvPr id="27" name="Rectangle 26"/>
          <p:cNvSpPr/>
          <p:nvPr/>
        </p:nvSpPr>
        <p:spPr>
          <a:xfrm>
            <a:off x="530352" y="5577840"/>
            <a:ext cx="2570149" cy="411480"/>
          </a:xfrm>
          <a:prstGeom prst="rect">
            <a:avLst/>
          </a:prstGeom>
          <a:solidFill>
            <a:srgbClr val="DC2626"/>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REJECTED</a:t>
            </a:r>
          </a:p>
        </p:txBody>
      </p:sp>
      <p:sp>
        <p:nvSpPr>
          <p:cNvPr id="29" name="TextBox 28"/>
          <p:cNvSpPr txBox="1"/>
          <p:nvPr/>
        </p:nvSpPr>
        <p:spPr>
          <a:xfrm>
            <a:off x="530352"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Doesn't address root cause</a:t>
            </a:r>
          </a:p>
        </p:txBody>
      </p:sp>
      <p:sp>
        <p:nvSpPr>
          <p:cNvPr id="30" name="Rectangle 29"/>
          <p:cNvSpPr/>
          <p:nvPr/>
        </p:nvSpPr>
        <p:spPr>
          <a:xfrm>
            <a:off x="3310813"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310813" y="1920240"/>
            <a:ext cx="2716453" cy="86868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310813" y="192024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493693"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Center of Excellence</a:t>
            </a:r>
          </a:p>
        </p:txBody>
      </p:sp>
      <p:sp>
        <p:nvSpPr>
          <p:cNvPr id="34" name="TextBox 33"/>
          <p:cNvSpPr txBox="1"/>
          <p:nvPr/>
        </p:nvSpPr>
        <p:spPr>
          <a:xfrm>
            <a:off x="3493693"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Central platform team, embed Architects</a:t>
            </a:r>
          </a:p>
        </p:txBody>
      </p:sp>
      <p:sp>
        <p:nvSpPr>
          <p:cNvPr id="35" name="TextBox 34"/>
          <p:cNvSpPr txBox="1"/>
          <p:nvPr/>
        </p:nvSpPr>
        <p:spPr>
          <a:xfrm>
            <a:off x="3493693"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36" name="TextBox 35"/>
          <p:cNvSpPr txBox="1"/>
          <p:nvPr/>
        </p:nvSpPr>
        <p:spPr>
          <a:xfrm>
            <a:off x="3493693"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37" name="TextBox 36"/>
          <p:cNvSpPr txBox="1"/>
          <p:nvPr/>
        </p:nvSpPr>
        <p:spPr>
          <a:xfrm>
            <a:off x="3658285"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Architecture consistency</a:t>
            </a:r>
          </a:p>
        </p:txBody>
      </p:sp>
      <p:sp>
        <p:nvSpPr>
          <p:cNvPr id="38" name="TextBox 37"/>
          <p:cNvSpPr txBox="1"/>
          <p:nvPr/>
        </p:nvSpPr>
        <p:spPr>
          <a:xfrm>
            <a:off x="3493693"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39" name="TextBox 38"/>
          <p:cNvSpPr txBox="1"/>
          <p:nvPr/>
        </p:nvSpPr>
        <p:spPr>
          <a:xfrm>
            <a:off x="3658285"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Easier governance</a:t>
            </a:r>
          </a:p>
        </p:txBody>
      </p:sp>
      <p:sp>
        <p:nvSpPr>
          <p:cNvPr id="40" name="TextBox 39"/>
          <p:cNvSpPr txBox="1"/>
          <p:nvPr/>
        </p:nvSpPr>
        <p:spPr>
          <a:xfrm>
            <a:off x="3493693" y="3831336"/>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41" name="TextBox 40"/>
          <p:cNvSpPr txBox="1"/>
          <p:nvPr/>
        </p:nvSpPr>
        <p:spPr>
          <a:xfrm>
            <a:off x="3493693" y="4059936"/>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2" name="TextBox 41"/>
          <p:cNvSpPr txBox="1"/>
          <p:nvPr/>
        </p:nvSpPr>
        <p:spPr>
          <a:xfrm>
            <a:off x="3658285" y="4059936"/>
            <a:ext cx="2259253" cy="246888"/>
          </a:xfrm>
          <a:prstGeom prst="rect">
            <a:avLst/>
          </a:prstGeom>
          <a:noFill/>
        </p:spPr>
        <p:txBody>
          <a:bodyPr wrap="square" lIns="0" tIns="0" rIns="0" bIns="0" anchor="t">
            <a:spAutoFit/>
          </a:bodyPr>
          <a:lstStyle/>
          <a:p>
            <a:pPr algn="l"/>
            <a:r>
              <a:rPr sz="950" b="0" i="0">
                <a:solidFill>
                  <a:srgbClr val="1E293B"/>
                </a:solidFill>
                <a:latin typeface="Calibri"/>
              </a:rPr>
              <a:t>Still creates a bottleneck</a:t>
            </a:r>
          </a:p>
        </p:txBody>
      </p:sp>
      <p:sp>
        <p:nvSpPr>
          <p:cNvPr id="43" name="TextBox 42"/>
          <p:cNvSpPr txBox="1"/>
          <p:nvPr/>
        </p:nvSpPr>
        <p:spPr>
          <a:xfrm>
            <a:off x="3493693" y="4306824"/>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4" name="TextBox 43"/>
          <p:cNvSpPr txBox="1"/>
          <p:nvPr/>
        </p:nvSpPr>
        <p:spPr>
          <a:xfrm>
            <a:off x="3658285" y="4306824"/>
            <a:ext cx="2259253" cy="246888"/>
          </a:xfrm>
          <a:prstGeom prst="rect">
            <a:avLst/>
          </a:prstGeom>
          <a:noFill/>
        </p:spPr>
        <p:txBody>
          <a:bodyPr wrap="square" lIns="0" tIns="0" rIns="0" bIns="0" anchor="t">
            <a:spAutoFit/>
          </a:bodyPr>
          <a:lstStyle/>
          <a:p>
            <a:pPr algn="l"/>
            <a:r>
              <a:rPr sz="950" b="0" i="0">
                <a:solidFill>
                  <a:srgbClr val="1E293B"/>
                </a:solidFill>
                <a:latin typeface="Calibri"/>
              </a:rPr>
              <a:t>CoE becomes a new silo</a:t>
            </a:r>
          </a:p>
        </p:txBody>
      </p:sp>
      <p:sp>
        <p:nvSpPr>
          <p:cNvPr id="45" name="TextBox 44"/>
          <p:cNvSpPr txBox="1"/>
          <p:nvPr/>
        </p:nvSpPr>
        <p:spPr>
          <a:xfrm>
            <a:off x="3493693"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6" name="TextBox 45"/>
          <p:cNvSpPr txBox="1"/>
          <p:nvPr/>
        </p:nvSpPr>
        <p:spPr>
          <a:xfrm>
            <a:off x="3658285"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No real Ops empowerment</a:t>
            </a:r>
          </a:p>
        </p:txBody>
      </p:sp>
      <p:sp>
        <p:nvSpPr>
          <p:cNvPr id="47" name="TextBox 46"/>
          <p:cNvSpPr txBox="1"/>
          <p:nvPr/>
        </p:nvSpPr>
        <p:spPr>
          <a:xfrm>
            <a:off x="3493693"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8" name="TextBox 47"/>
          <p:cNvSpPr txBox="1"/>
          <p:nvPr/>
        </p:nvSpPr>
        <p:spPr>
          <a:xfrm>
            <a:off x="3658285"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Slow to scale</a:t>
            </a:r>
          </a:p>
        </p:txBody>
      </p:sp>
      <p:sp>
        <p:nvSpPr>
          <p:cNvPr id="49" name="Rectangle 48"/>
          <p:cNvSpPr/>
          <p:nvPr/>
        </p:nvSpPr>
        <p:spPr>
          <a:xfrm>
            <a:off x="3383965" y="5577840"/>
            <a:ext cx="2570149" cy="411480"/>
          </a:xfrm>
          <a:prstGeom prst="rect">
            <a:avLst/>
          </a:prstGeom>
          <a:solidFill>
            <a:srgbClr val="DC2626"/>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383965"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REJECTED</a:t>
            </a:r>
          </a:p>
        </p:txBody>
      </p:sp>
      <p:sp>
        <p:nvSpPr>
          <p:cNvPr id="51" name="TextBox 50"/>
          <p:cNvSpPr txBox="1"/>
          <p:nvPr/>
        </p:nvSpPr>
        <p:spPr>
          <a:xfrm>
            <a:off x="3383965"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Replaces one bottleneck with another</a:t>
            </a:r>
          </a:p>
        </p:txBody>
      </p:sp>
      <p:sp>
        <p:nvSpPr>
          <p:cNvPr id="52" name="Rectangle 51"/>
          <p:cNvSpPr/>
          <p:nvPr/>
        </p:nvSpPr>
        <p:spPr>
          <a:xfrm>
            <a:off x="6164427"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64427" y="1920240"/>
            <a:ext cx="2716453" cy="86868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164427" y="192024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47307"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Spotify-style Tribes</a:t>
            </a:r>
          </a:p>
        </p:txBody>
      </p:sp>
      <p:sp>
        <p:nvSpPr>
          <p:cNvPr id="56" name="TextBox 55"/>
          <p:cNvSpPr txBox="1"/>
          <p:nvPr/>
        </p:nvSpPr>
        <p:spPr>
          <a:xfrm>
            <a:off x="6347307"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Tribes, Chapters, Guilds — full Spotify model</a:t>
            </a:r>
          </a:p>
        </p:txBody>
      </p:sp>
      <p:sp>
        <p:nvSpPr>
          <p:cNvPr id="57" name="TextBox 56"/>
          <p:cNvSpPr txBox="1"/>
          <p:nvPr/>
        </p:nvSpPr>
        <p:spPr>
          <a:xfrm>
            <a:off x="6347307"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58" name="TextBox 57"/>
          <p:cNvSpPr txBox="1"/>
          <p:nvPr/>
        </p:nvSpPr>
        <p:spPr>
          <a:xfrm>
            <a:off x="6347307"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59" name="TextBox 58"/>
          <p:cNvSpPr txBox="1"/>
          <p:nvPr/>
        </p:nvSpPr>
        <p:spPr>
          <a:xfrm>
            <a:off x="6511899"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Strong autonomy</a:t>
            </a:r>
          </a:p>
        </p:txBody>
      </p:sp>
      <p:sp>
        <p:nvSpPr>
          <p:cNvPr id="60" name="TextBox 59"/>
          <p:cNvSpPr txBox="1"/>
          <p:nvPr/>
        </p:nvSpPr>
        <p:spPr>
          <a:xfrm>
            <a:off x="6347307"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61" name="TextBox 60"/>
          <p:cNvSpPr txBox="1"/>
          <p:nvPr/>
        </p:nvSpPr>
        <p:spPr>
          <a:xfrm>
            <a:off x="6511899"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Talent retention</a:t>
            </a:r>
          </a:p>
        </p:txBody>
      </p:sp>
      <p:sp>
        <p:nvSpPr>
          <p:cNvPr id="62" name="TextBox 61"/>
          <p:cNvSpPr txBox="1"/>
          <p:nvPr/>
        </p:nvSpPr>
        <p:spPr>
          <a:xfrm>
            <a:off x="6347307" y="3648456"/>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63" name="TextBox 62"/>
          <p:cNvSpPr txBox="1"/>
          <p:nvPr/>
        </p:nvSpPr>
        <p:spPr>
          <a:xfrm>
            <a:off x="6511899" y="3648456"/>
            <a:ext cx="2259253" cy="246888"/>
          </a:xfrm>
          <a:prstGeom prst="rect">
            <a:avLst/>
          </a:prstGeom>
          <a:noFill/>
        </p:spPr>
        <p:txBody>
          <a:bodyPr wrap="square" lIns="0" tIns="0" rIns="0" bIns="0" anchor="t">
            <a:spAutoFit/>
          </a:bodyPr>
          <a:lstStyle/>
          <a:p>
            <a:pPr algn="l"/>
            <a:r>
              <a:rPr sz="950" b="0" i="0">
                <a:solidFill>
                  <a:srgbClr val="1E293B"/>
                </a:solidFill>
                <a:latin typeface="Calibri"/>
              </a:rPr>
              <a:t>Engineering culture</a:t>
            </a:r>
          </a:p>
        </p:txBody>
      </p:sp>
      <p:sp>
        <p:nvSpPr>
          <p:cNvPr id="64" name="TextBox 63"/>
          <p:cNvSpPr txBox="1"/>
          <p:nvPr/>
        </p:nvSpPr>
        <p:spPr>
          <a:xfrm>
            <a:off x="6347307" y="4078224"/>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65" name="TextBox 64"/>
          <p:cNvSpPr txBox="1"/>
          <p:nvPr/>
        </p:nvSpPr>
        <p:spPr>
          <a:xfrm>
            <a:off x="6347307" y="4306824"/>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66" name="TextBox 65"/>
          <p:cNvSpPr txBox="1"/>
          <p:nvPr/>
        </p:nvSpPr>
        <p:spPr>
          <a:xfrm>
            <a:off x="6511899" y="4306824"/>
            <a:ext cx="2259253" cy="246888"/>
          </a:xfrm>
          <a:prstGeom prst="rect">
            <a:avLst/>
          </a:prstGeom>
          <a:noFill/>
        </p:spPr>
        <p:txBody>
          <a:bodyPr wrap="square" lIns="0" tIns="0" rIns="0" bIns="0" anchor="t">
            <a:spAutoFit/>
          </a:bodyPr>
          <a:lstStyle/>
          <a:p>
            <a:pPr algn="l"/>
            <a:r>
              <a:rPr sz="950" b="0" i="0">
                <a:solidFill>
                  <a:srgbClr val="1E293B"/>
                </a:solidFill>
                <a:latin typeface="Calibri"/>
              </a:rPr>
              <a:t>Heavy org redesign upfront</a:t>
            </a:r>
          </a:p>
        </p:txBody>
      </p:sp>
      <p:sp>
        <p:nvSpPr>
          <p:cNvPr id="67" name="TextBox 66"/>
          <p:cNvSpPr txBox="1"/>
          <p:nvPr/>
        </p:nvSpPr>
        <p:spPr>
          <a:xfrm>
            <a:off x="6347307"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68" name="TextBox 67"/>
          <p:cNvSpPr txBox="1"/>
          <p:nvPr/>
        </p:nvSpPr>
        <p:spPr>
          <a:xfrm>
            <a:off x="6511899"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Spotify itself walked back from it</a:t>
            </a:r>
          </a:p>
        </p:txBody>
      </p:sp>
      <p:sp>
        <p:nvSpPr>
          <p:cNvPr id="69" name="TextBox 68"/>
          <p:cNvSpPr txBox="1"/>
          <p:nvPr/>
        </p:nvSpPr>
        <p:spPr>
          <a:xfrm>
            <a:off x="6347307"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70" name="TextBox 69"/>
          <p:cNvSpPr txBox="1"/>
          <p:nvPr/>
        </p:nvSpPr>
        <p:spPr>
          <a:xfrm>
            <a:off x="6511899"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Hard for regulated banks</a:t>
            </a:r>
          </a:p>
        </p:txBody>
      </p:sp>
      <p:sp>
        <p:nvSpPr>
          <p:cNvPr id="71" name="TextBox 70"/>
          <p:cNvSpPr txBox="1"/>
          <p:nvPr/>
        </p:nvSpPr>
        <p:spPr>
          <a:xfrm>
            <a:off x="6347307" y="5047488"/>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72" name="TextBox 71"/>
          <p:cNvSpPr txBox="1"/>
          <p:nvPr/>
        </p:nvSpPr>
        <p:spPr>
          <a:xfrm>
            <a:off x="6511899" y="5047488"/>
            <a:ext cx="2259253" cy="246888"/>
          </a:xfrm>
          <a:prstGeom prst="rect">
            <a:avLst/>
          </a:prstGeom>
          <a:noFill/>
        </p:spPr>
        <p:txBody>
          <a:bodyPr wrap="square" lIns="0" tIns="0" rIns="0" bIns="0" anchor="t">
            <a:spAutoFit/>
          </a:bodyPr>
          <a:lstStyle/>
          <a:p>
            <a:pPr algn="l"/>
            <a:r>
              <a:rPr sz="950" b="0" i="0">
                <a:solidFill>
                  <a:srgbClr val="1E293B"/>
                </a:solidFill>
                <a:latin typeface="Calibri"/>
              </a:rPr>
              <a:t>Chapter/Tribe terminology confusing</a:t>
            </a:r>
          </a:p>
        </p:txBody>
      </p:sp>
      <p:sp>
        <p:nvSpPr>
          <p:cNvPr id="73" name="Rectangle 72"/>
          <p:cNvSpPr/>
          <p:nvPr/>
        </p:nvSpPr>
        <p:spPr>
          <a:xfrm>
            <a:off x="6237579" y="5577840"/>
            <a:ext cx="2570149" cy="411480"/>
          </a:xfrm>
          <a:prstGeom prst="rect">
            <a:avLst/>
          </a:prstGeom>
          <a:solidFill>
            <a:srgbClr val="003DA5"/>
          </a:solidFill>
          <a:ln w="1270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237579"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PARTIAL ADOPT</a:t>
            </a:r>
          </a:p>
        </p:txBody>
      </p:sp>
      <p:sp>
        <p:nvSpPr>
          <p:cNvPr id="75" name="TextBox 74"/>
          <p:cNvSpPr txBox="1"/>
          <p:nvPr/>
        </p:nvSpPr>
        <p:spPr>
          <a:xfrm>
            <a:off x="6237579"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Adopt principles, not the labels</a:t>
            </a:r>
          </a:p>
        </p:txBody>
      </p:sp>
      <p:sp>
        <p:nvSpPr>
          <p:cNvPr id="76" name="Rectangle 75"/>
          <p:cNvSpPr/>
          <p:nvPr/>
        </p:nvSpPr>
        <p:spPr>
          <a:xfrm>
            <a:off x="9018041"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018041" y="1920240"/>
            <a:ext cx="2716453" cy="8686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9018041" y="1920240"/>
            <a:ext cx="2716453" cy="1371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8963177" y="1865376"/>
            <a:ext cx="2826181" cy="427024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200921"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Flat Peer-Squad</a:t>
            </a:r>
          </a:p>
        </p:txBody>
      </p:sp>
      <p:sp>
        <p:nvSpPr>
          <p:cNvPr id="81" name="TextBox 80"/>
          <p:cNvSpPr txBox="1"/>
          <p:nvPr/>
        </p:nvSpPr>
        <p:spPr>
          <a:xfrm>
            <a:off x="9200921"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One team owns each capability end-to-end</a:t>
            </a:r>
          </a:p>
        </p:txBody>
      </p:sp>
      <p:sp>
        <p:nvSpPr>
          <p:cNvPr id="82" name="TextBox 81"/>
          <p:cNvSpPr txBox="1"/>
          <p:nvPr/>
        </p:nvSpPr>
        <p:spPr>
          <a:xfrm>
            <a:off x="9200921"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83" name="TextBox 82"/>
          <p:cNvSpPr txBox="1"/>
          <p:nvPr/>
        </p:nvSpPr>
        <p:spPr>
          <a:xfrm>
            <a:off x="9200921"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84" name="TextBox 83"/>
          <p:cNvSpPr txBox="1"/>
          <p:nvPr/>
        </p:nvSpPr>
        <p:spPr>
          <a:xfrm>
            <a:off x="9365513"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Real end-to-end ownership</a:t>
            </a:r>
          </a:p>
        </p:txBody>
      </p:sp>
      <p:sp>
        <p:nvSpPr>
          <p:cNvPr id="85" name="TextBox 84"/>
          <p:cNvSpPr txBox="1"/>
          <p:nvPr/>
        </p:nvSpPr>
        <p:spPr>
          <a:xfrm>
            <a:off x="9200921"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86" name="TextBox 85"/>
          <p:cNvSpPr txBox="1"/>
          <p:nvPr/>
        </p:nvSpPr>
        <p:spPr>
          <a:xfrm>
            <a:off x="9365513"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Ops empowered, not displaced</a:t>
            </a:r>
          </a:p>
        </p:txBody>
      </p:sp>
      <p:sp>
        <p:nvSpPr>
          <p:cNvPr id="87" name="TextBox 86"/>
          <p:cNvSpPr txBox="1"/>
          <p:nvPr/>
        </p:nvSpPr>
        <p:spPr>
          <a:xfrm>
            <a:off x="9200921" y="3648456"/>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88" name="TextBox 87"/>
          <p:cNvSpPr txBox="1"/>
          <p:nvPr/>
        </p:nvSpPr>
        <p:spPr>
          <a:xfrm>
            <a:off x="9365513" y="3648456"/>
            <a:ext cx="2259253" cy="246888"/>
          </a:xfrm>
          <a:prstGeom prst="rect">
            <a:avLst/>
          </a:prstGeom>
          <a:noFill/>
        </p:spPr>
        <p:txBody>
          <a:bodyPr wrap="square" lIns="0" tIns="0" rIns="0" bIns="0" anchor="t">
            <a:spAutoFit/>
          </a:bodyPr>
          <a:lstStyle/>
          <a:p>
            <a:pPr algn="l"/>
            <a:r>
              <a:rPr sz="950" b="0" i="0">
                <a:solidFill>
                  <a:srgbClr val="1E293B"/>
                </a:solidFill>
                <a:latin typeface="Calibri"/>
              </a:rPr>
              <a:t>No bottleneck team</a:t>
            </a:r>
          </a:p>
        </p:txBody>
      </p:sp>
      <p:sp>
        <p:nvSpPr>
          <p:cNvPr id="89" name="TextBox 88"/>
          <p:cNvSpPr txBox="1"/>
          <p:nvPr/>
        </p:nvSpPr>
        <p:spPr>
          <a:xfrm>
            <a:off x="9200921" y="3895344"/>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90" name="TextBox 89"/>
          <p:cNvSpPr txBox="1"/>
          <p:nvPr/>
        </p:nvSpPr>
        <p:spPr>
          <a:xfrm>
            <a:off x="9365513" y="3895344"/>
            <a:ext cx="2259253" cy="246888"/>
          </a:xfrm>
          <a:prstGeom prst="rect">
            <a:avLst/>
          </a:prstGeom>
          <a:noFill/>
        </p:spPr>
        <p:txBody>
          <a:bodyPr wrap="square" lIns="0" tIns="0" rIns="0" bIns="0" anchor="t">
            <a:spAutoFit/>
          </a:bodyPr>
          <a:lstStyle/>
          <a:p>
            <a:pPr algn="l"/>
            <a:r>
              <a:rPr sz="950" b="0" i="0">
                <a:solidFill>
                  <a:srgbClr val="1E293B"/>
                </a:solidFill>
                <a:latin typeface="Calibri"/>
              </a:rPr>
              <a:t>Proven at AWS, Netflix, JPMC</a:t>
            </a:r>
          </a:p>
        </p:txBody>
      </p:sp>
      <p:sp>
        <p:nvSpPr>
          <p:cNvPr id="91" name="TextBox 90"/>
          <p:cNvSpPr txBox="1"/>
          <p:nvPr/>
        </p:nvSpPr>
        <p:spPr>
          <a:xfrm>
            <a:off x="9200921" y="4325112"/>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92" name="TextBox 91"/>
          <p:cNvSpPr txBox="1"/>
          <p:nvPr/>
        </p:nvSpPr>
        <p:spPr>
          <a:xfrm>
            <a:off x="9200921"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93" name="TextBox 92"/>
          <p:cNvSpPr txBox="1"/>
          <p:nvPr/>
        </p:nvSpPr>
        <p:spPr>
          <a:xfrm>
            <a:off x="9365513"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Requires platform investment</a:t>
            </a:r>
          </a:p>
        </p:txBody>
      </p:sp>
      <p:sp>
        <p:nvSpPr>
          <p:cNvPr id="94" name="TextBox 93"/>
          <p:cNvSpPr txBox="1"/>
          <p:nvPr/>
        </p:nvSpPr>
        <p:spPr>
          <a:xfrm>
            <a:off x="9200921"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95" name="TextBox 94"/>
          <p:cNvSpPr txBox="1"/>
          <p:nvPr/>
        </p:nvSpPr>
        <p:spPr>
          <a:xfrm>
            <a:off x="9365513"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Cultural shift for managers</a:t>
            </a:r>
          </a:p>
        </p:txBody>
      </p:sp>
      <p:sp>
        <p:nvSpPr>
          <p:cNvPr id="96" name="Rectangle 95"/>
          <p:cNvSpPr/>
          <p:nvPr/>
        </p:nvSpPr>
        <p:spPr>
          <a:xfrm>
            <a:off x="9091193" y="5577840"/>
            <a:ext cx="2570149" cy="411480"/>
          </a:xfrm>
          <a:prstGeom prst="rect">
            <a:avLst/>
          </a:prstGeom>
          <a:solidFill>
            <a:srgbClr val="10B981"/>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9091193"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CHOSEN</a:t>
            </a:r>
          </a:p>
        </p:txBody>
      </p:sp>
      <p:sp>
        <p:nvSpPr>
          <p:cNvPr id="98" name="TextBox 97"/>
          <p:cNvSpPr txBox="1"/>
          <p:nvPr/>
        </p:nvSpPr>
        <p:spPr>
          <a:xfrm>
            <a:off x="9091193"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Best fit · proven at scale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WHAT IT FEELS LIKE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A Week in the Life — SQL Server Engineer</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Same engineer. Same skills. Two very different weeks. The model change isn't abstract — it shows up Monday morning.</a:t>
            </a:r>
          </a:p>
        </p:txBody>
      </p:sp>
      <p:sp>
        <p:nvSpPr>
          <p:cNvPr id="8" name="Rectangle 7"/>
          <p:cNvSpPr/>
          <p:nvPr/>
        </p:nvSpPr>
        <p:spPr>
          <a:xfrm>
            <a:off x="457200" y="1874519"/>
            <a:ext cx="5532120" cy="4206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74519"/>
            <a:ext cx="5532120" cy="73152"/>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039112"/>
            <a:ext cx="5074920" cy="228600"/>
          </a:xfrm>
          <a:prstGeom prst="rect">
            <a:avLst/>
          </a:prstGeom>
          <a:noFill/>
        </p:spPr>
        <p:txBody>
          <a:bodyPr wrap="square" lIns="0" tIns="0" rIns="0" bIns="0" anchor="t">
            <a:spAutoFit/>
          </a:bodyPr>
          <a:lstStyle/>
          <a:p>
            <a:pPr algn="l"/>
            <a:r>
              <a:rPr sz="1100" b="1" i="0" spc="300">
                <a:solidFill>
                  <a:srgbClr val="002B7F"/>
                </a:solidFill>
                <a:latin typeface="Calibri"/>
              </a:rPr>
              <a:t>TODAY</a:t>
            </a:r>
          </a:p>
        </p:txBody>
      </p:sp>
      <p:sp>
        <p:nvSpPr>
          <p:cNvPr id="11" name="TextBox 10"/>
          <p:cNvSpPr txBox="1"/>
          <p:nvPr/>
        </p:nvSpPr>
        <p:spPr>
          <a:xfrm>
            <a:off x="685800" y="2267712"/>
            <a:ext cx="5074920" cy="320040"/>
          </a:xfrm>
          <a:prstGeom prst="rect">
            <a:avLst/>
          </a:prstGeom>
          <a:noFill/>
        </p:spPr>
        <p:txBody>
          <a:bodyPr wrap="square" lIns="0" tIns="0" rIns="0" bIns="0" anchor="t">
            <a:spAutoFit/>
          </a:bodyPr>
          <a:lstStyle/>
          <a:p>
            <a:pPr algn="l"/>
            <a:r>
              <a:rPr sz="1400" b="1" i="0">
                <a:solidFill>
                  <a:srgbClr val="1E293B"/>
                </a:solidFill>
                <a:latin typeface="Georgia"/>
              </a:rPr>
              <a:t>Maria — Ops, SQL Server Vertical</a:t>
            </a:r>
          </a:p>
        </p:txBody>
      </p:sp>
      <p:sp>
        <p:nvSpPr>
          <p:cNvPr id="12" name="Rectangle 11"/>
          <p:cNvSpPr/>
          <p:nvPr/>
        </p:nvSpPr>
        <p:spPr>
          <a:xfrm>
            <a:off x="685800" y="2770632"/>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770632"/>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MON</a:t>
            </a:r>
          </a:p>
        </p:txBody>
      </p:sp>
      <p:sp>
        <p:nvSpPr>
          <p:cNvPr id="14" name="TextBox 13"/>
          <p:cNvSpPr txBox="1"/>
          <p:nvPr/>
        </p:nvSpPr>
        <p:spPr>
          <a:xfrm>
            <a:off x="1234440" y="2743199"/>
            <a:ext cx="4572000" cy="493775"/>
          </a:xfrm>
          <a:prstGeom prst="rect">
            <a:avLst/>
          </a:prstGeom>
          <a:noFill/>
        </p:spPr>
        <p:txBody>
          <a:bodyPr wrap="square" lIns="0" tIns="0" rIns="0" bIns="0" anchor="t">
            <a:spAutoFit/>
          </a:bodyPr>
          <a:lstStyle/>
          <a:p>
            <a:pPr algn="l"/>
            <a:r>
              <a:rPr sz="1000" b="0" i="0">
                <a:solidFill>
                  <a:srgbClr val="1E293B"/>
                </a:solidFill>
                <a:latin typeface="Calibri"/>
              </a:rPr>
              <a:t>7am page · DB locked up · runbook is stale · escalates to Eng who built it 3 years ago</a:t>
            </a:r>
          </a:p>
        </p:txBody>
      </p:sp>
      <p:sp>
        <p:nvSpPr>
          <p:cNvPr id="15" name="Rectangle 14"/>
          <p:cNvSpPr/>
          <p:nvPr/>
        </p:nvSpPr>
        <p:spPr>
          <a:xfrm>
            <a:off x="685800" y="3355848"/>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355848"/>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TUE</a:t>
            </a:r>
          </a:p>
        </p:txBody>
      </p:sp>
      <p:sp>
        <p:nvSpPr>
          <p:cNvPr id="17" name="TextBox 16"/>
          <p:cNvSpPr txBox="1"/>
          <p:nvPr/>
        </p:nvSpPr>
        <p:spPr>
          <a:xfrm>
            <a:off x="1234440" y="3328415"/>
            <a:ext cx="4572000" cy="493775"/>
          </a:xfrm>
          <a:prstGeom prst="rect">
            <a:avLst/>
          </a:prstGeom>
          <a:noFill/>
        </p:spPr>
        <p:txBody>
          <a:bodyPr wrap="square" lIns="0" tIns="0" rIns="0" bIns="0" anchor="t">
            <a:spAutoFit/>
          </a:bodyPr>
          <a:lstStyle/>
          <a:p>
            <a:pPr algn="l"/>
            <a:r>
              <a:rPr sz="1000" b="0" i="0">
                <a:solidFill>
                  <a:srgbClr val="1E293B"/>
                </a:solidFill>
                <a:latin typeface="Calibri"/>
              </a:rPr>
              <a:t>Fixes incident with help from someone she found on Slack · documents in Confluence · ticket filed for "real fix"</a:t>
            </a:r>
          </a:p>
        </p:txBody>
      </p:sp>
      <p:sp>
        <p:nvSpPr>
          <p:cNvPr id="18" name="Rectangle 17"/>
          <p:cNvSpPr/>
          <p:nvPr/>
        </p:nvSpPr>
        <p:spPr>
          <a:xfrm>
            <a:off x="685800" y="3941063"/>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941063"/>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WED</a:t>
            </a:r>
          </a:p>
        </p:txBody>
      </p:sp>
      <p:sp>
        <p:nvSpPr>
          <p:cNvPr id="20" name="TextBox 19"/>
          <p:cNvSpPr txBox="1"/>
          <p:nvPr/>
        </p:nvSpPr>
        <p:spPr>
          <a:xfrm>
            <a:off x="1234440" y="3913631"/>
            <a:ext cx="4572000" cy="493775"/>
          </a:xfrm>
          <a:prstGeom prst="rect">
            <a:avLst/>
          </a:prstGeom>
          <a:noFill/>
        </p:spPr>
        <p:txBody>
          <a:bodyPr wrap="square" lIns="0" tIns="0" rIns="0" bIns="0" anchor="t">
            <a:spAutoFit/>
          </a:bodyPr>
          <a:lstStyle/>
          <a:p>
            <a:pPr algn="l"/>
            <a:r>
              <a:rPr sz="1000" b="0" i="0">
                <a:solidFill>
                  <a:srgbClr val="1E293B"/>
                </a:solidFill>
                <a:latin typeface="Calibri"/>
              </a:rPr>
              <a:t>New project request — has to wait for Engineering ticket to provision new instance · 4 days SLA</a:t>
            </a:r>
          </a:p>
        </p:txBody>
      </p:sp>
      <p:sp>
        <p:nvSpPr>
          <p:cNvPr id="21" name="Rectangle 20"/>
          <p:cNvSpPr/>
          <p:nvPr/>
        </p:nvSpPr>
        <p:spPr>
          <a:xfrm>
            <a:off x="685800" y="4526279"/>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4526279"/>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THU</a:t>
            </a:r>
          </a:p>
        </p:txBody>
      </p:sp>
      <p:sp>
        <p:nvSpPr>
          <p:cNvPr id="23" name="TextBox 22"/>
          <p:cNvSpPr txBox="1"/>
          <p:nvPr/>
        </p:nvSpPr>
        <p:spPr>
          <a:xfrm>
            <a:off x="1234440" y="4498847"/>
            <a:ext cx="4572000" cy="493775"/>
          </a:xfrm>
          <a:prstGeom prst="rect">
            <a:avLst/>
          </a:prstGeom>
          <a:noFill/>
        </p:spPr>
        <p:txBody>
          <a:bodyPr wrap="square" lIns="0" tIns="0" rIns="0" bIns="0" anchor="t">
            <a:spAutoFit/>
          </a:bodyPr>
          <a:lstStyle/>
          <a:p>
            <a:pPr algn="l"/>
            <a:r>
              <a:rPr sz="1000" b="0" i="0">
                <a:solidFill>
                  <a:srgbClr val="1E293B"/>
                </a:solidFill>
                <a:latin typeface="Calibri"/>
              </a:rPr>
              <a:t>Catches up on backlog · audit asks for evidence on a control · spends hours pulling screenshots</a:t>
            </a:r>
          </a:p>
        </p:txBody>
      </p:sp>
      <p:sp>
        <p:nvSpPr>
          <p:cNvPr id="24" name="Rectangle 23"/>
          <p:cNvSpPr/>
          <p:nvPr/>
        </p:nvSpPr>
        <p:spPr>
          <a:xfrm>
            <a:off x="685800" y="5111496"/>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 y="5111496"/>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FRI</a:t>
            </a:r>
          </a:p>
        </p:txBody>
      </p:sp>
      <p:sp>
        <p:nvSpPr>
          <p:cNvPr id="26" name="TextBox 25"/>
          <p:cNvSpPr txBox="1"/>
          <p:nvPr/>
        </p:nvSpPr>
        <p:spPr>
          <a:xfrm>
            <a:off x="1234440" y="5084064"/>
            <a:ext cx="4572000" cy="493775"/>
          </a:xfrm>
          <a:prstGeom prst="rect">
            <a:avLst/>
          </a:prstGeom>
          <a:noFill/>
        </p:spPr>
        <p:txBody>
          <a:bodyPr wrap="square" lIns="0" tIns="0" rIns="0" bIns="0" anchor="t">
            <a:spAutoFit/>
          </a:bodyPr>
          <a:lstStyle/>
          <a:p>
            <a:pPr algn="l"/>
            <a:r>
              <a:rPr sz="1000" b="0" i="0">
                <a:solidFill>
                  <a:srgbClr val="1E293B"/>
                </a:solidFill>
                <a:latin typeface="Calibri"/>
              </a:rPr>
              <a:t>On-call rotation handoff · the 3 tickets she filed sit in Eng backlog · nothing she shipped this week</a:t>
            </a:r>
          </a:p>
        </p:txBody>
      </p:sp>
      <p:sp>
        <p:nvSpPr>
          <p:cNvPr id="27" name="Rectangle 26"/>
          <p:cNvSpPr/>
          <p:nvPr/>
        </p:nvSpPr>
        <p:spPr>
          <a:xfrm>
            <a:off x="685800" y="5623559"/>
            <a:ext cx="5074920" cy="347472"/>
          </a:xfrm>
          <a:prstGeom prst="rect">
            <a:avLst/>
          </a:prstGeom>
          <a:solidFill>
            <a:srgbClr val="FEE2E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 y="5623559"/>
            <a:ext cx="5074920" cy="347472"/>
          </a:xfrm>
          <a:prstGeom prst="rect">
            <a:avLst/>
          </a:prstGeom>
          <a:noFill/>
        </p:spPr>
        <p:txBody>
          <a:bodyPr wrap="square" lIns="0" tIns="0" rIns="0" bIns="0" anchor="ctr">
            <a:spAutoFit/>
          </a:bodyPr>
          <a:lstStyle/>
          <a:p>
            <a:pPr algn="ctr"/>
            <a:r>
              <a:rPr sz="1100" b="1" i="1">
                <a:solidFill>
                  <a:srgbClr val="DC2626"/>
                </a:solidFill>
                <a:latin typeface="Calibri"/>
              </a:rPr>
              <a:t>Reactive · isolated · powerless to fix root cause</a:t>
            </a:r>
          </a:p>
        </p:txBody>
      </p:sp>
      <p:sp>
        <p:nvSpPr>
          <p:cNvPr id="29" name="Rectangle 28"/>
          <p:cNvSpPr/>
          <p:nvPr/>
        </p:nvSpPr>
        <p:spPr>
          <a:xfrm>
            <a:off x="6199632" y="1874519"/>
            <a:ext cx="5532120" cy="4206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199632" y="1874519"/>
            <a:ext cx="553212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28232" y="2039112"/>
            <a:ext cx="5074920" cy="228600"/>
          </a:xfrm>
          <a:prstGeom prst="rect">
            <a:avLst/>
          </a:prstGeom>
          <a:noFill/>
        </p:spPr>
        <p:txBody>
          <a:bodyPr wrap="square" lIns="0" tIns="0" rIns="0" bIns="0" anchor="t">
            <a:spAutoFit/>
          </a:bodyPr>
          <a:lstStyle/>
          <a:p>
            <a:pPr algn="l"/>
            <a:r>
              <a:rPr sz="1100" b="1" i="0" spc="300">
                <a:solidFill>
                  <a:srgbClr val="001F5C"/>
                </a:solidFill>
                <a:latin typeface="Calibri"/>
              </a:rPr>
              <a:t>IN THE NEW MODEL</a:t>
            </a:r>
          </a:p>
        </p:txBody>
      </p:sp>
      <p:sp>
        <p:nvSpPr>
          <p:cNvPr id="32" name="TextBox 31"/>
          <p:cNvSpPr txBox="1"/>
          <p:nvPr/>
        </p:nvSpPr>
        <p:spPr>
          <a:xfrm>
            <a:off x="6428232" y="2267712"/>
            <a:ext cx="5074920" cy="320040"/>
          </a:xfrm>
          <a:prstGeom prst="rect">
            <a:avLst/>
          </a:prstGeom>
          <a:noFill/>
        </p:spPr>
        <p:txBody>
          <a:bodyPr wrap="square" lIns="0" tIns="0" rIns="0" bIns="0" anchor="t">
            <a:spAutoFit/>
          </a:bodyPr>
          <a:lstStyle/>
          <a:p>
            <a:pPr algn="l"/>
            <a:r>
              <a:rPr sz="1400" b="1" i="0">
                <a:solidFill>
                  <a:srgbClr val="001F5C"/>
                </a:solidFill>
                <a:latin typeface="Georgia"/>
              </a:rPr>
              <a:t>Maria — Ops, SQL Server Pod</a:t>
            </a:r>
          </a:p>
        </p:txBody>
      </p:sp>
      <p:sp>
        <p:nvSpPr>
          <p:cNvPr id="33" name="Rectangle 32"/>
          <p:cNvSpPr/>
          <p:nvPr/>
        </p:nvSpPr>
        <p:spPr>
          <a:xfrm>
            <a:off x="6428232" y="2770632"/>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28232" y="2770632"/>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MON</a:t>
            </a:r>
          </a:p>
        </p:txBody>
      </p:sp>
      <p:sp>
        <p:nvSpPr>
          <p:cNvPr id="35" name="TextBox 34"/>
          <p:cNvSpPr txBox="1"/>
          <p:nvPr/>
        </p:nvSpPr>
        <p:spPr>
          <a:xfrm>
            <a:off x="6976872" y="2743199"/>
            <a:ext cx="4572000" cy="493775"/>
          </a:xfrm>
          <a:prstGeom prst="rect">
            <a:avLst/>
          </a:prstGeom>
          <a:noFill/>
        </p:spPr>
        <p:txBody>
          <a:bodyPr wrap="square" lIns="0" tIns="0" rIns="0" bIns="0" anchor="t">
            <a:spAutoFit/>
          </a:bodyPr>
          <a:lstStyle/>
          <a:p>
            <a:pPr algn="l"/>
            <a:r>
              <a:rPr sz="1000" b="0" i="0">
                <a:solidFill>
                  <a:srgbClr val="1E293B"/>
                </a:solidFill>
                <a:latin typeface="Calibri"/>
              </a:rPr>
              <a:t>7am page · pod-built AI agent already mitigated · Maria reviews and approves in 10 min</a:t>
            </a:r>
          </a:p>
        </p:txBody>
      </p:sp>
      <p:sp>
        <p:nvSpPr>
          <p:cNvPr id="36" name="Rectangle 35"/>
          <p:cNvSpPr/>
          <p:nvPr/>
        </p:nvSpPr>
        <p:spPr>
          <a:xfrm>
            <a:off x="6428232" y="3355848"/>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28232" y="3355848"/>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TUE</a:t>
            </a:r>
          </a:p>
        </p:txBody>
      </p:sp>
      <p:sp>
        <p:nvSpPr>
          <p:cNvPr id="38" name="TextBox 37"/>
          <p:cNvSpPr txBox="1"/>
          <p:nvPr/>
        </p:nvSpPr>
        <p:spPr>
          <a:xfrm>
            <a:off x="6976872" y="3328415"/>
            <a:ext cx="4572000" cy="493775"/>
          </a:xfrm>
          <a:prstGeom prst="rect">
            <a:avLst/>
          </a:prstGeom>
          <a:noFill/>
        </p:spPr>
        <p:txBody>
          <a:bodyPr wrap="square" lIns="0" tIns="0" rIns="0" bIns="0" anchor="t">
            <a:spAutoFit/>
          </a:bodyPr>
          <a:lstStyle/>
          <a:p>
            <a:pPr algn="l"/>
            <a:r>
              <a:rPr sz="1000" b="0" i="0">
                <a:solidFill>
                  <a:srgbClr val="1E293B"/>
                </a:solidFill>
                <a:latin typeface="Calibri"/>
              </a:rPr>
              <a:t>Pod standup · Maria flags repeat issue · IntelOps teammate starts on prevention agent that afternoon</a:t>
            </a:r>
          </a:p>
        </p:txBody>
      </p:sp>
      <p:sp>
        <p:nvSpPr>
          <p:cNvPr id="39" name="Rectangle 38"/>
          <p:cNvSpPr/>
          <p:nvPr/>
        </p:nvSpPr>
        <p:spPr>
          <a:xfrm>
            <a:off x="6428232" y="3941063"/>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28232" y="3941063"/>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WED</a:t>
            </a:r>
          </a:p>
        </p:txBody>
      </p:sp>
      <p:sp>
        <p:nvSpPr>
          <p:cNvPr id="41" name="TextBox 40"/>
          <p:cNvSpPr txBox="1"/>
          <p:nvPr/>
        </p:nvSpPr>
        <p:spPr>
          <a:xfrm>
            <a:off x="6976872" y="3913631"/>
            <a:ext cx="4572000" cy="493775"/>
          </a:xfrm>
          <a:prstGeom prst="rect">
            <a:avLst/>
          </a:prstGeom>
          <a:noFill/>
        </p:spPr>
        <p:txBody>
          <a:bodyPr wrap="square" lIns="0" tIns="0" rIns="0" bIns="0" anchor="t">
            <a:spAutoFit/>
          </a:bodyPr>
          <a:lstStyle/>
          <a:p>
            <a:pPr algn="l"/>
            <a:r>
              <a:rPr sz="1000" b="0" i="0">
                <a:solidFill>
                  <a:srgbClr val="1E293B"/>
                </a:solidFill>
                <a:latin typeface="Calibri"/>
              </a:rPr>
              <a:t>New project request — Maria provisions via Zephyr module the pod built · same-day</a:t>
            </a:r>
          </a:p>
        </p:txBody>
      </p:sp>
      <p:sp>
        <p:nvSpPr>
          <p:cNvPr id="42" name="Rectangle 41"/>
          <p:cNvSpPr/>
          <p:nvPr/>
        </p:nvSpPr>
        <p:spPr>
          <a:xfrm>
            <a:off x="6428232" y="4526279"/>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28232" y="4526279"/>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THU</a:t>
            </a:r>
          </a:p>
        </p:txBody>
      </p:sp>
      <p:sp>
        <p:nvSpPr>
          <p:cNvPr id="44" name="TextBox 43"/>
          <p:cNvSpPr txBox="1"/>
          <p:nvPr/>
        </p:nvSpPr>
        <p:spPr>
          <a:xfrm>
            <a:off x="6976872" y="4498847"/>
            <a:ext cx="4572000" cy="493775"/>
          </a:xfrm>
          <a:prstGeom prst="rect">
            <a:avLst/>
          </a:prstGeom>
          <a:noFill/>
        </p:spPr>
        <p:txBody>
          <a:bodyPr wrap="square" lIns="0" tIns="0" rIns="0" bIns="0" anchor="t">
            <a:spAutoFit/>
          </a:bodyPr>
          <a:lstStyle/>
          <a:p>
            <a:pPr algn="l"/>
            <a:r>
              <a:rPr sz="1000" b="0" i="0">
                <a:solidFill>
                  <a:srgbClr val="1E293B"/>
                </a:solidFill>
                <a:latin typeface="Calibri"/>
              </a:rPr>
              <a:t>Audit asks for evidence — Maria points to live dashboard · evidence is the running system</a:t>
            </a:r>
          </a:p>
        </p:txBody>
      </p:sp>
      <p:sp>
        <p:nvSpPr>
          <p:cNvPr id="45" name="Rectangle 44"/>
          <p:cNvSpPr/>
          <p:nvPr/>
        </p:nvSpPr>
        <p:spPr>
          <a:xfrm>
            <a:off x="6428232" y="5111496"/>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28232" y="5111496"/>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FRI</a:t>
            </a:r>
          </a:p>
        </p:txBody>
      </p:sp>
      <p:sp>
        <p:nvSpPr>
          <p:cNvPr id="47" name="TextBox 46"/>
          <p:cNvSpPr txBox="1"/>
          <p:nvPr/>
        </p:nvSpPr>
        <p:spPr>
          <a:xfrm>
            <a:off x="6976872" y="5084064"/>
            <a:ext cx="4572000" cy="493775"/>
          </a:xfrm>
          <a:prstGeom prst="rect">
            <a:avLst/>
          </a:prstGeom>
          <a:noFill/>
        </p:spPr>
        <p:txBody>
          <a:bodyPr wrap="square" lIns="0" tIns="0" rIns="0" bIns="0" anchor="t">
            <a:spAutoFit/>
          </a:bodyPr>
          <a:lstStyle/>
          <a:p>
            <a:pPr algn="l"/>
            <a:r>
              <a:rPr sz="1000" b="0" i="0">
                <a:solidFill>
                  <a:srgbClr val="1E293B"/>
                </a:solidFill>
                <a:latin typeface="Calibri"/>
              </a:rPr>
              <a:t>Pod ships prevention agent · 2 incidents prevented before weekend · Maria pair-programmed on it</a:t>
            </a:r>
          </a:p>
        </p:txBody>
      </p:sp>
      <p:sp>
        <p:nvSpPr>
          <p:cNvPr id="48" name="Rectangle 47"/>
          <p:cNvSpPr/>
          <p:nvPr/>
        </p:nvSpPr>
        <p:spPr>
          <a:xfrm>
            <a:off x="6428232" y="5623559"/>
            <a:ext cx="5074920" cy="347472"/>
          </a:xfrm>
          <a:prstGeom prst="rect">
            <a:avLst/>
          </a:prstGeom>
          <a:solidFill>
            <a:srgbClr val="D1FAE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28232" y="5623559"/>
            <a:ext cx="5074920" cy="347472"/>
          </a:xfrm>
          <a:prstGeom prst="rect">
            <a:avLst/>
          </a:prstGeom>
          <a:noFill/>
        </p:spPr>
        <p:txBody>
          <a:bodyPr wrap="square" lIns="0" tIns="0" rIns="0" bIns="0" anchor="ctr">
            <a:spAutoFit/>
          </a:bodyPr>
          <a:lstStyle/>
          <a:p>
            <a:pPr algn="ctr"/>
            <a:r>
              <a:rPr sz="1100" b="1" i="1">
                <a:solidFill>
                  <a:srgbClr val="047857"/>
                </a:solidFill>
                <a:latin typeface="Calibri"/>
              </a:rPr>
              <a:t>Proactive · embedded · shipping prevention, not just fixes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WHAT SUCCESS LOOKS LIKE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Year-One Scorecard — Month 12</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Mock-up of the dashboard we'll publish at month 12. Real squads, real numbers, real accountability — everyone in the org can see how their squad is doing.</a:t>
            </a:r>
          </a:p>
        </p:txBody>
      </p:sp>
      <p:sp>
        <p:nvSpPr>
          <p:cNvPr id="8" name="Rectangle 7"/>
          <p:cNvSpPr/>
          <p:nvPr/>
        </p:nvSpPr>
        <p:spPr>
          <a:xfrm>
            <a:off x="457200"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-45%</a:t>
            </a:r>
          </a:p>
        </p:txBody>
      </p:sp>
      <p:sp>
        <p:nvSpPr>
          <p:cNvPr id="11" name="TextBox 10"/>
          <p:cNvSpPr txBox="1"/>
          <p:nvPr/>
        </p:nvSpPr>
        <p:spPr>
          <a:xfrm>
            <a:off x="594360"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Manual toil reduction</a:t>
            </a:r>
          </a:p>
        </p:txBody>
      </p:sp>
      <p:sp>
        <p:nvSpPr>
          <p:cNvPr id="12" name="TextBox 11"/>
          <p:cNvSpPr txBox="1"/>
          <p:nvPr/>
        </p:nvSpPr>
        <p:spPr>
          <a:xfrm>
            <a:off x="594360"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across pilot squads</a:t>
            </a:r>
          </a:p>
        </p:txBody>
      </p:sp>
      <p:sp>
        <p:nvSpPr>
          <p:cNvPr id="13" name="Rectangle 12"/>
          <p:cNvSpPr/>
          <p:nvPr/>
        </p:nvSpPr>
        <p:spPr>
          <a:xfrm>
            <a:off x="3317671"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17671"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54831"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-38%</a:t>
            </a:r>
          </a:p>
        </p:txBody>
      </p:sp>
      <p:sp>
        <p:nvSpPr>
          <p:cNvPr id="16" name="TextBox 15"/>
          <p:cNvSpPr txBox="1"/>
          <p:nvPr/>
        </p:nvSpPr>
        <p:spPr>
          <a:xfrm>
            <a:off x="3454831"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MTTR improvement</a:t>
            </a:r>
          </a:p>
        </p:txBody>
      </p:sp>
      <p:sp>
        <p:nvSpPr>
          <p:cNvPr id="17" name="TextBox 16"/>
          <p:cNvSpPr txBox="1"/>
          <p:nvPr/>
        </p:nvSpPr>
        <p:spPr>
          <a:xfrm>
            <a:off x="3454831"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mean time to resolve</a:t>
            </a:r>
          </a:p>
        </p:txBody>
      </p:sp>
      <p:sp>
        <p:nvSpPr>
          <p:cNvPr id="18" name="Rectangle 17"/>
          <p:cNvSpPr/>
          <p:nvPr/>
        </p:nvSpPr>
        <p:spPr>
          <a:xfrm>
            <a:off x="6178143"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78143"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15303"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+62%</a:t>
            </a:r>
          </a:p>
        </p:txBody>
      </p:sp>
      <p:sp>
        <p:nvSpPr>
          <p:cNvPr id="21" name="TextBox 20"/>
          <p:cNvSpPr txBox="1"/>
          <p:nvPr/>
        </p:nvSpPr>
        <p:spPr>
          <a:xfrm>
            <a:off x="6315303"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Self-service adoption</a:t>
            </a:r>
          </a:p>
        </p:txBody>
      </p:sp>
      <p:sp>
        <p:nvSpPr>
          <p:cNvPr id="22" name="TextBox 21"/>
          <p:cNvSpPr txBox="1"/>
          <p:nvPr/>
        </p:nvSpPr>
        <p:spPr>
          <a:xfrm>
            <a:off x="6315303"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platform requests handled w/o tickets</a:t>
            </a:r>
          </a:p>
        </p:txBody>
      </p:sp>
      <p:sp>
        <p:nvSpPr>
          <p:cNvPr id="23" name="Rectangle 22"/>
          <p:cNvSpPr/>
          <p:nvPr/>
        </p:nvSpPr>
        <p:spPr>
          <a:xfrm>
            <a:off x="9038615"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38615"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75775"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Flat</a:t>
            </a:r>
          </a:p>
        </p:txBody>
      </p:sp>
      <p:sp>
        <p:nvSpPr>
          <p:cNvPr id="26" name="TextBox 25"/>
          <p:cNvSpPr txBox="1"/>
          <p:nvPr/>
        </p:nvSpPr>
        <p:spPr>
          <a:xfrm>
            <a:off x="9175775"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FTE count</a:t>
            </a:r>
          </a:p>
        </p:txBody>
      </p:sp>
      <p:sp>
        <p:nvSpPr>
          <p:cNvPr id="27" name="TextBox 26"/>
          <p:cNvSpPr txBox="1"/>
          <p:nvPr/>
        </p:nvSpPr>
        <p:spPr>
          <a:xfrm>
            <a:off x="9175775"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no headcount growth · same people, different shape</a:t>
            </a:r>
          </a:p>
        </p:txBody>
      </p:sp>
      <p:sp>
        <p:nvSpPr>
          <p:cNvPr id="28" name="TextBox 27"/>
          <p:cNvSpPr txBox="1"/>
          <p:nvPr/>
        </p:nvSpPr>
        <p:spPr>
          <a:xfrm>
            <a:off x="457200" y="3108959"/>
            <a:ext cx="11274552" cy="228600"/>
          </a:xfrm>
          <a:prstGeom prst="rect">
            <a:avLst/>
          </a:prstGeom>
          <a:noFill/>
        </p:spPr>
        <p:txBody>
          <a:bodyPr wrap="square" lIns="0" tIns="0" rIns="0" bIns="0" anchor="t">
            <a:spAutoFit/>
          </a:bodyPr>
          <a:lstStyle/>
          <a:p>
            <a:pPr algn="l"/>
            <a:r>
              <a:rPr sz="1000" b="1" i="0" spc="300">
                <a:solidFill>
                  <a:srgbClr val="003DA5"/>
                </a:solidFill>
                <a:latin typeface="Calibri"/>
              </a:rPr>
              <a:t>PER-SQUAD PERFORMANCE  ·  PILOT COHORT (Q1 LAUNCH)</a:t>
            </a:r>
          </a:p>
        </p:txBody>
      </p:sp>
      <p:sp>
        <p:nvSpPr>
          <p:cNvPr id="29" name="Rectangle 28"/>
          <p:cNvSpPr/>
          <p:nvPr/>
        </p:nvSpPr>
        <p:spPr>
          <a:xfrm>
            <a:off x="457200" y="3401567"/>
            <a:ext cx="11109960" cy="3657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3401567"/>
            <a:ext cx="1828799" cy="365760"/>
          </a:xfrm>
          <a:prstGeom prst="rect">
            <a:avLst/>
          </a:prstGeom>
          <a:noFill/>
        </p:spPr>
        <p:txBody>
          <a:bodyPr wrap="square" lIns="0" tIns="0" rIns="0" bIns="0" anchor="ctr">
            <a:spAutoFit/>
          </a:bodyPr>
          <a:lstStyle/>
          <a:p>
            <a:pPr algn="l"/>
            <a:r>
              <a:rPr sz="1000" b="1" i="0" spc="200">
                <a:solidFill>
                  <a:srgbClr val="FEDF01"/>
                </a:solidFill>
                <a:latin typeface="Calibri"/>
              </a:rPr>
              <a:t>SQUAD</a:t>
            </a:r>
          </a:p>
        </p:txBody>
      </p:sp>
      <p:sp>
        <p:nvSpPr>
          <p:cNvPr id="31" name="TextBox 30"/>
          <p:cNvSpPr txBox="1"/>
          <p:nvPr/>
        </p:nvSpPr>
        <p:spPr>
          <a:xfrm>
            <a:off x="2697479"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TOIL ↓</a:t>
            </a:r>
          </a:p>
        </p:txBody>
      </p:sp>
      <p:sp>
        <p:nvSpPr>
          <p:cNvPr id="32" name="TextBox 31"/>
          <p:cNvSpPr txBox="1"/>
          <p:nvPr/>
        </p:nvSpPr>
        <p:spPr>
          <a:xfrm>
            <a:off x="416052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MTTR ↓</a:t>
            </a:r>
          </a:p>
        </p:txBody>
      </p:sp>
      <p:sp>
        <p:nvSpPr>
          <p:cNvPr id="33" name="TextBox 32"/>
          <p:cNvSpPr txBox="1"/>
          <p:nvPr/>
        </p:nvSpPr>
        <p:spPr>
          <a:xfrm>
            <a:off x="562356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AGENTS</a:t>
            </a:r>
          </a:p>
        </p:txBody>
      </p:sp>
      <p:sp>
        <p:nvSpPr>
          <p:cNvPr id="34" name="TextBox 33"/>
          <p:cNvSpPr txBox="1"/>
          <p:nvPr/>
        </p:nvSpPr>
        <p:spPr>
          <a:xfrm>
            <a:off x="708660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SELF-SVC</a:t>
            </a:r>
          </a:p>
        </p:txBody>
      </p:sp>
      <p:sp>
        <p:nvSpPr>
          <p:cNvPr id="35" name="TextBox 34"/>
          <p:cNvSpPr txBox="1"/>
          <p:nvPr/>
        </p:nvSpPr>
        <p:spPr>
          <a:xfrm>
            <a:off x="854964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AUDIT HRS ↓</a:t>
            </a:r>
          </a:p>
        </p:txBody>
      </p:sp>
      <p:sp>
        <p:nvSpPr>
          <p:cNvPr id="36" name="TextBox 35"/>
          <p:cNvSpPr txBox="1"/>
          <p:nvPr/>
        </p:nvSpPr>
        <p:spPr>
          <a:xfrm>
            <a:off x="10012680" y="3401567"/>
            <a:ext cx="1417320" cy="365760"/>
          </a:xfrm>
          <a:prstGeom prst="rect">
            <a:avLst/>
          </a:prstGeom>
          <a:noFill/>
        </p:spPr>
        <p:txBody>
          <a:bodyPr wrap="square" lIns="0" tIns="0" rIns="0" bIns="0" anchor="ctr">
            <a:spAutoFit/>
          </a:bodyPr>
          <a:lstStyle/>
          <a:p>
            <a:pPr algn="l"/>
            <a:r>
              <a:rPr sz="1000" b="1" i="0" spc="200">
                <a:solidFill>
                  <a:srgbClr val="FEDF01"/>
                </a:solidFill>
                <a:latin typeface="Calibri"/>
              </a:rPr>
              <a:t>STATUS</a:t>
            </a:r>
          </a:p>
        </p:txBody>
      </p:sp>
      <p:sp>
        <p:nvSpPr>
          <p:cNvPr id="37" name="Rectangle 36"/>
          <p:cNvSpPr/>
          <p:nvPr/>
        </p:nvSpPr>
        <p:spPr>
          <a:xfrm>
            <a:off x="457200" y="3767327"/>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4360" y="3767327"/>
            <a:ext cx="1828799" cy="320040"/>
          </a:xfrm>
          <a:prstGeom prst="rect">
            <a:avLst/>
          </a:prstGeom>
          <a:noFill/>
        </p:spPr>
        <p:txBody>
          <a:bodyPr wrap="square" lIns="0" tIns="0" rIns="0" bIns="0" anchor="ctr">
            <a:spAutoFit/>
          </a:bodyPr>
          <a:lstStyle/>
          <a:p>
            <a:pPr algn="l"/>
            <a:r>
              <a:rPr sz="1100" b="1" i="0">
                <a:solidFill>
                  <a:srgbClr val="001F5C"/>
                </a:solidFill>
                <a:latin typeface="Calibri"/>
              </a:rPr>
              <a:t>SQL Server</a:t>
            </a:r>
          </a:p>
        </p:txBody>
      </p:sp>
      <p:sp>
        <p:nvSpPr>
          <p:cNvPr id="39" name="TextBox 38"/>
          <p:cNvSpPr txBox="1"/>
          <p:nvPr/>
        </p:nvSpPr>
        <p:spPr>
          <a:xfrm>
            <a:off x="2697479"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-52%</a:t>
            </a:r>
          </a:p>
        </p:txBody>
      </p:sp>
      <p:sp>
        <p:nvSpPr>
          <p:cNvPr id="40" name="TextBox 39"/>
          <p:cNvSpPr txBox="1"/>
          <p:nvPr/>
        </p:nvSpPr>
        <p:spPr>
          <a:xfrm>
            <a:off x="416052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-41%</a:t>
            </a:r>
          </a:p>
        </p:txBody>
      </p:sp>
      <p:sp>
        <p:nvSpPr>
          <p:cNvPr id="41" name="TextBox 40"/>
          <p:cNvSpPr txBox="1"/>
          <p:nvPr/>
        </p:nvSpPr>
        <p:spPr>
          <a:xfrm>
            <a:off x="562356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6</a:t>
            </a:r>
          </a:p>
        </p:txBody>
      </p:sp>
      <p:sp>
        <p:nvSpPr>
          <p:cNvPr id="42" name="TextBox 41"/>
          <p:cNvSpPr txBox="1"/>
          <p:nvPr/>
        </p:nvSpPr>
        <p:spPr>
          <a:xfrm>
            <a:off x="708660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+71%</a:t>
            </a:r>
          </a:p>
        </p:txBody>
      </p:sp>
      <p:sp>
        <p:nvSpPr>
          <p:cNvPr id="43" name="TextBox 42"/>
          <p:cNvSpPr txBox="1"/>
          <p:nvPr/>
        </p:nvSpPr>
        <p:spPr>
          <a:xfrm>
            <a:off x="854964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-83%</a:t>
            </a:r>
          </a:p>
        </p:txBody>
      </p:sp>
      <p:sp>
        <p:nvSpPr>
          <p:cNvPr id="44" name="Rectangle 43"/>
          <p:cNvSpPr/>
          <p:nvPr/>
        </p:nvSpPr>
        <p:spPr>
          <a:xfrm>
            <a:off x="10104119" y="382219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04119" y="382219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46" name="Rectangle 45"/>
          <p:cNvSpPr/>
          <p:nvPr/>
        </p:nvSpPr>
        <p:spPr>
          <a:xfrm>
            <a:off x="457200" y="4087367"/>
            <a:ext cx="11109960" cy="32004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94360" y="4087367"/>
            <a:ext cx="1828799" cy="320040"/>
          </a:xfrm>
          <a:prstGeom prst="rect">
            <a:avLst/>
          </a:prstGeom>
          <a:noFill/>
        </p:spPr>
        <p:txBody>
          <a:bodyPr wrap="square" lIns="0" tIns="0" rIns="0" bIns="0" anchor="ctr">
            <a:spAutoFit/>
          </a:bodyPr>
          <a:lstStyle/>
          <a:p>
            <a:pPr algn="l"/>
            <a:r>
              <a:rPr sz="1100" b="1" i="0">
                <a:solidFill>
                  <a:srgbClr val="001F5C"/>
                </a:solidFill>
                <a:latin typeface="Calibri"/>
              </a:rPr>
              <a:t>Kubernetes</a:t>
            </a:r>
          </a:p>
        </p:txBody>
      </p:sp>
      <p:sp>
        <p:nvSpPr>
          <p:cNvPr id="48" name="TextBox 47"/>
          <p:cNvSpPr txBox="1"/>
          <p:nvPr/>
        </p:nvSpPr>
        <p:spPr>
          <a:xfrm>
            <a:off x="2697479"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-48%</a:t>
            </a:r>
          </a:p>
        </p:txBody>
      </p:sp>
      <p:sp>
        <p:nvSpPr>
          <p:cNvPr id="49" name="TextBox 48"/>
          <p:cNvSpPr txBox="1"/>
          <p:nvPr/>
        </p:nvSpPr>
        <p:spPr>
          <a:xfrm>
            <a:off x="416052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-35%</a:t>
            </a:r>
          </a:p>
        </p:txBody>
      </p:sp>
      <p:sp>
        <p:nvSpPr>
          <p:cNvPr id="50" name="TextBox 49"/>
          <p:cNvSpPr txBox="1"/>
          <p:nvPr/>
        </p:nvSpPr>
        <p:spPr>
          <a:xfrm>
            <a:off x="562356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5</a:t>
            </a:r>
          </a:p>
        </p:txBody>
      </p:sp>
      <p:sp>
        <p:nvSpPr>
          <p:cNvPr id="51" name="TextBox 50"/>
          <p:cNvSpPr txBox="1"/>
          <p:nvPr/>
        </p:nvSpPr>
        <p:spPr>
          <a:xfrm>
            <a:off x="708660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+68%</a:t>
            </a:r>
          </a:p>
        </p:txBody>
      </p:sp>
      <p:sp>
        <p:nvSpPr>
          <p:cNvPr id="52" name="TextBox 51"/>
          <p:cNvSpPr txBox="1"/>
          <p:nvPr/>
        </p:nvSpPr>
        <p:spPr>
          <a:xfrm>
            <a:off x="854964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-79%</a:t>
            </a:r>
          </a:p>
        </p:txBody>
      </p:sp>
      <p:sp>
        <p:nvSpPr>
          <p:cNvPr id="53" name="Rectangle 52"/>
          <p:cNvSpPr/>
          <p:nvPr/>
        </p:nvSpPr>
        <p:spPr>
          <a:xfrm>
            <a:off x="10104119" y="414223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104119" y="414223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55" name="Rectangle 54"/>
          <p:cNvSpPr/>
          <p:nvPr/>
        </p:nvSpPr>
        <p:spPr>
          <a:xfrm>
            <a:off x="457200" y="4407407"/>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94360" y="4407407"/>
            <a:ext cx="1828799" cy="320040"/>
          </a:xfrm>
          <a:prstGeom prst="rect">
            <a:avLst/>
          </a:prstGeom>
          <a:noFill/>
        </p:spPr>
        <p:txBody>
          <a:bodyPr wrap="square" lIns="0" tIns="0" rIns="0" bIns="0" anchor="ctr">
            <a:spAutoFit/>
          </a:bodyPr>
          <a:lstStyle/>
          <a:p>
            <a:pPr algn="l"/>
            <a:r>
              <a:rPr sz="1100" b="1" i="0">
                <a:solidFill>
                  <a:srgbClr val="001F5C"/>
                </a:solidFill>
                <a:latin typeface="Calibri"/>
              </a:rPr>
              <a:t>Storage</a:t>
            </a:r>
          </a:p>
        </p:txBody>
      </p:sp>
      <p:sp>
        <p:nvSpPr>
          <p:cNvPr id="57" name="TextBox 56"/>
          <p:cNvSpPr txBox="1"/>
          <p:nvPr/>
        </p:nvSpPr>
        <p:spPr>
          <a:xfrm>
            <a:off x="2697479"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-43%</a:t>
            </a:r>
          </a:p>
        </p:txBody>
      </p:sp>
      <p:sp>
        <p:nvSpPr>
          <p:cNvPr id="58" name="TextBox 57"/>
          <p:cNvSpPr txBox="1"/>
          <p:nvPr/>
        </p:nvSpPr>
        <p:spPr>
          <a:xfrm>
            <a:off x="416052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-32%</a:t>
            </a:r>
          </a:p>
        </p:txBody>
      </p:sp>
      <p:sp>
        <p:nvSpPr>
          <p:cNvPr id="59" name="TextBox 58"/>
          <p:cNvSpPr txBox="1"/>
          <p:nvPr/>
        </p:nvSpPr>
        <p:spPr>
          <a:xfrm>
            <a:off x="562356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4</a:t>
            </a:r>
          </a:p>
        </p:txBody>
      </p:sp>
      <p:sp>
        <p:nvSpPr>
          <p:cNvPr id="60" name="TextBox 59"/>
          <p:cNvSpPr txBox="1"/>
          <p:nvPr/>
        </p:nvSpPr>
        <p:spPr>
          <a:xfrm>
            <a:off x="708660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+58%</a:t>
            </a:r>
          </a:p>
        </p:txBody>
      </p:sp>
      <p:sp>
        <p:nvSpPr>
          <p:cNvPr id="61" name="TextBox 60"/>
          <p:cNvSpPr txBox="1"/>
          <p:nvPr/>
        </p:nvSpPr>
        <p:spPr>
          <a:xfrm>
            <a:off x="854964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-72%</a:t>
            </a:r>
          </a:p>
        </p:txBody>
      </p:sp>
      <p:sp>
        <p:nvSpPr>
          <p:cNvPr id="62" name="Rectangle 61"/>
          <p:cNvSpPr/>
          <p:nvPr/>
        </p:nvSpPr>
        <p:spPr>
          <a:xfrm>
            <a:off x="10104119" y="446227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104119" y="446227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64" name="Rectangle 63"/>
          <p:cNvSpPr/>
          <p:nvPr/>
        </p:nvSpPr>
        <p:spPr>
          <a:xfrm>
            <a:off x="457200" y="4727447"/>
            <a:ext cx="11109960" cy="32004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94360" y="4727447"/>
            <a:ext cx="1828799" cy="320040"/>
          </a:xfrm>
          <a:prstGeom prst="rect">
            <a:avLst/>
          </a:prstGeom>
          <a:noFill/>
        </p:spPr>
        <p:txBody>
          <a:bodyPr wrap="square" lIns="0" tIns="0" rIns="0" bIns="0" anchor="ctr">
            <a:spAutoFit/>
          </a:bodyPr>
          <a:lstStyle/>
          <a:p>
            <a:pPr algn="l"/>
            <a:r>
              <a:rPr sz="1100" b="1" i="0">
                <a:solidFill>
                  <a:srgbClr val="001F5C"/>
                </a:solidFill>
                <a:latin typeface="Calibri"/>
              </a:rPr>
              <a:t>Network</a:t>
            </a:r>
          </a:p>
        </p:txBody>
      </p:sp>
      <p:sp>
        <p:nvSpPr>
          <p:cNvPr id="66" name="TextBox 65"/>
          <p:cNvSpPr txBox="1"/>
          <p:nvPr/>
        </p:nvSpPr>
        <p:spPr>
          <a:xfrm>
            <a:off x="2697479"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-31%</a:t>
            </a:r>
          </a:p>
        </p:txBody>
      </p:sp>
      <p:sp>
        <p:nvSpPr>
          <p:cNvPr id="67" name="TextBox 66"/>
          <p:cNvSpPr txBox="1"/>
          <p:nvPr/>
        </p:nvSpPr>
        <p:spPr>
          <a:xfrm>
            <a:off x="416052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-22%</a:t>
            </a:r>
          </a:p>
        </p:txBody>
      </p:sp>
      <p:sp>
        <p:nvSpPr>
          <p:cNvPr id="68" name="TextBox 67"/>
          <p:cNvSpPr txBox="1"/>
          <p:nvPr/>
        </p:nvSpPr>
        <p:spPr>
          <a:xfrm>
            <a:off x="562356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3</a:t>
            </a:r>
          </a:p>
        </p:txBody>
      </p:sp>
      <p:sp>
        <p:nvSpPr>
          <p:cNvPr id="69" name="TextBox 68"/>
          <p:cNvSpPr txBox="1"/>
          <p:nvPr/>
        </p:nvSpPr>
        <p:spPr>
          <a:xfrm>
            <a:off x="708660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+44%</a:t>
            </a:r>
          </a:p>
        </p:txBody>
      </p:sp>
      <p:sp>
        <p:nvSpPr>
          <p:cNvPr id="70" name="TextBox 69"/>
          <p:cNvSpPr txBox="1"/>
          <p:nvPr/>
        </p:nvSpPr>
        <p:spPr>
          <a:xfrm>
            <a:off x="854964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-58%</a:t>
            </a:r>
          </a:p>
        </p:txBody>
      </p:sp>
      <p:sp>
        <p:nvSpPr>
          <p:cNvPr id="71" name="Rectangle 70"/>
          <p:cNvSpPr/>
          <p:nvPr/>
        </p:nvSpPr>
        <p:spPr>
          <a:xfrm>
            <a:off x="10104119" y="4782311"/>
            <a:ext cx="1234440" cy="210311"/>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104119" y="4782311"/>
            <a:ext cx="1234440" cy="210311"/>
          </a:xfrm>
          <a:prstGeom prst="rect">
            <a:avLst/>
          </a:prstGeom>
          <a:noFill/>
        </p:spPr>
        <p:txBody>
          <a:bodyPr wrap="square" lIns="0" tIns="0" rIns="0" bIns="0" anchor="ctr">
            <a:spAutoFit/>
          </a:bodyPr>
          <a:lstStyle/>
          <a:p>
            <a:pPr algn="ctr"/>
            <a:r>
              <a:rPr sz="900" b="1" i="0" spc="100">
                <a:solidFill>
                  <a:srgbClr val="001F5C"/>
                </a:solidFill>
                <a:latin typeface="Calibri"/>
              </a:rPr>
              <a:t>AT RISK</a:t>
            </a:r>
          </a:p>
        </p:txBody>
      </p:sp>
      <p:sp>
        <p:nvSpPr>
          <p:cNvPr id="73" name="Rectangle 72"/>
          <p:cNvSpPr/>
          <p:nvPr/>
        </p:nvSpPr>
        <p:spPr>
          <a:xfrm>
            <a:off x="457200" y="5047488"/>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94360" y="5047488"/>
            <a:ext cx="1828799" cy="320040"/>
          </a:xfrm>
          <a:prstGeom prst="rect">
            <a:avLst/>
          </a:prstGeom>
          <a:noFill/>
        </p:spPr>
        <p:txBody>
          <a:bodyPr wrap="square" lIns="0" tIns="0" rIns="0" bIns="0" anchor="ctr">
            <a:spAutoFit/>
          </a:bodyPr>
          <a:lstStyle/>
          <a:p>
            <a:pPr algn="l"/>
            <a:r>
              <a:rPr sz="1100" b="1" i="0">
                <a:solidFill>
                  <a:srgbClr val="001F5C"/>
                </a:solidFill>
                <a:latin typeface="Calibri"/>
              </a:rPr>
              <a:t>Compute</a:t>
            </a:r>
          </a:p>
        </p:txBody>
      </p:sp>
      <p:sp>
        <p:nvSpPr>
          <p:cNvPr id="75" name="TextBox 74"/>
          <p:cNvSpPr txBox="1"/>
          <p:nvPr/>
        </p:nvSpPr>
        <p:spPr>
          <a:xfrm>
            <a:off x="2697479"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-39%</a:t>
            </a:r>
          </a:p>
        </p:txBody>
      </p:sp>
      <p:sp>
        <p:nvSpPr>
          <p:cNvPr id="76" name="TextBox 75"/>
          <p:cNvSpPr txBox="1"/>
          <p:nvPr/>
        </p:nvSpPr>
        <p:spPr>
          <a:xfrm>
            <a:off x="416052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-28%</a:t>
            </a:r>
          </a:p>
        </p:txBody>
      </p:sp>
      <p:sp>
        <p:nvSpPr>
          <p:cNvPr id="77" name="TextBox 76"/>
          <p:cNvSpPr txBox="1"/>
          <p:nvPr/>
        </p:nvSpPr>
        <p:spPr>
          <a:xfrm>
            <a:off x="562356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4</a:t>
            </a:r>
          </a:p>
        </p:txBody>
      </p:sp>
      <p:sp>
        <p:nvSpPr>
          <p:cNvPr id="78" name="TextBox 77"/>
          <p:cNvSpPr txBox="1"/>
          <p:nvPr/>
        </p:nvSpPr>
        <p:spPr>
          <a:xfrm>
            <a:off x="708660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+55%</a:t>
            </a:r>
          </a:p>
        </p:txBody>
      </p:sp>
      <p:sp>
        <p:nvSpPr>
          <p:cNvPr id="79" name="TextBox 78"/>
          <p:cNvSpPr txBox="1"/>
          <p:nvPr/>
        </p:nvSpPr>
        <p:spPr>
          <a:xfrm>
            <a:off x="854964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-65%</a:t>
            </a:r>
          </a:p>
        </p:txBody>
      </p:sp>
      <p:sp>
        <p:nvSpPr>
          <p:cNvPr id="80" name="Rectangle 79"/>
          <p:cNvSpPr/>
          <p:nvPr/>
        </p:nvSpPr>
        <p:spPr>
          <a:xfrm>
            <a:off x="10104119" y="510235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104119" y="510235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82" name="Rectangle 81"/>
          <p:cNvSpPr/>
          <p:nvPr/>
        </p:nvSpPr>
        <p:spPr>
          <a:xfrm>
            <a:off x="457200" y="5367527"/>
            <a:ext cx="11109960" cy="32004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94360" y="5367527"/>
            <a:ext cx="1828799" cy="320040"/>
          </a:xfrm>
          <a:prstGeom prst="rect">
            <a:avLst/>
          </a:prstGeom>
          <a:noFill/>
        </p:spPr>
        <p:txBody>
          <a:bodyPr wrap="square" lIns="0" tIns="0" rIns="0" bIns="0" anchor="ctr">
            <a:spAutoFit/>
          </a:bodyPr>
          <a:lstStyle/>
          <a:p>
            <a:pPr algn="l"/>
            <a:r>
              <a:rPr sz="1100" b="1" i="0">
                <a:solidFill>
                  <a:srgbClr val="001F5C"/>
                </a:solidFill>
                <a:latin typeface="Calibri"/>
              </a:rPr>
              <a:t>Compliance</a:t>
            </a:r>
          </a:p>
        </p:txBody>
      </p:sp>
      <p:sp>
        <p:nvSpPr>
          <p:cNvPr id="84" name="TextBox 83"/>
          <p:cNvSpPr txBox="1"/>
          <p:nvPr/>
        </p:nvSpPr>
        <p:spPr>
          <a:xfrm>
            <a:off x="2697479"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85" name="TextBox 84"/>
          <p:cNvSpPr txBox="1"/>
          <p:nvPr/>
        </p:nvSpPr>
        <p:spPr>
          <a:xfrm>
            <a:off x="416052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86" name="TextBox 85"/>
          <p:cNvSpPr txBox="1"/>
          <p:nvPr/>
        </p:nvSpPr>
        <p:spPr>
          <a:xfrm>
            <a:off x="562356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8</a:t>
            </a:r>
          </a:p>
        </p:txBody>
      </p:sp>
      <p:sp>
        <p:nvSpPr>
          <p:cNvPr id="87" name="TextBox 86"/>
          <p:cNvSpPr txBox="1"/>
          <p:nvPr/>
        </p:nvSpPr>
        <p:spPr>
          <a:xfrm>
            <a:off x="708660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+82%</a:t>
            </a:r>
          </a:p>
        </p:txBody>
      </p:sp>
      <p:sp>
        <p:nvSpPr>
          <p:cNvPr id="88" name="TextBox 87"/>
          <p:cNvSpPr txBox="1"/>
          <p:nvPr/>
        </p:nvSpPr>
        <p:spPr>
          <a:xfrm>
            <a:off x="854964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-91%</a:t>
            </a:r>
          </a:p>
        </p:txBody>
      </p:sp>
      <p:sp>
        <p:nvSpPr>
          <p:cNvPr id="89" name="Rectangle 88"/>
          <p:cNvSpPr/>
          <p:nvPr/>
        </p:nvSpPr>
        <p:spPr>
          <a:xfrm>
            <a:off x="10104119" y="542239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0104119" y="542239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AHEAD</a:t>
            </a:r>
          </a:p>
        </p:txBody>
      </p:sp>
      <p:sp>
        <p:nvSpPr>
          <p:cNvPr id="91" name="Rectangle 90"/>
          <p:cNvSpPr/>
          <p:nvPr/>
        </p:nvSpPr>
        <p:spPr>
          <a:xfrm>
            <a:off x="457200" y="5687567"/>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94360" y="5687567"/>
            <a:ext cx="1828799" cy="320040"/>
          </a:xfrm>
          <a:prstGeom prst="rect">
            <a:avLst/>
          </a:prstGeom>
          <a:noFill/>
        </p:spPr>
        <p:txBody>
          <a:bodyPr wrap="square" lIns="0" tIns="0" rIns="0" bIns="0" anchor="ctr">
            <a:spAutoFit/>
          </a:bodyPr>
          <a:lstStyle/>
          <a:p>
            <a:pPr algn="l"/>
            <a:r>
              <a:rPr sz="1100" b="1" i="0">
                <a:solidFill>
                  <a:srgbClr val="001F5C"/>
                </a:solidFill>
                <a:latin typeface="Calibri"/>
              </a:rPr>
              <a:t>Optimization</a:t>
            </a:r>
          </a:p>
        </p:txBody>
      </p:sp>
      <p:sp>
        <p:nvSpPr>
          <p:cNvPr id="93" name="TextBox 92"/>
          <p:cNvSpPr txBox="1"/>
          <p:nvPr/>
        </p:nvSpPr>
        <p:spPr>
          <a:xfrm>
            <a:off x="2697479"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94" name="TextBox 93"/>
          <p:cNvSpPr txBox="1"/>
          <p:nvPr/>
        </p:nvSpPr>
        <p:spPr>
          <a:xfrm>
            <a:off x="416052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95" name="TextBox 94"/>
          <p:cNvSpPr txBox="1"/>
          <p:nvPr/>
        </p:nvSpPr>
        <p:spPr>
          <a:xfrm>
            <a:off x="562356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5</a:t>
            </a:r>
          </a:p>
        </p:txBody>
      </p:sp>
      <p:sp>
        <p:nvSpPr>
          <p:cNvPr id="96" name="TextBox 95"/>
          <p:cNvSpPr txBox="1"/>
          <p:nvPr/>
        </p:nvSpPr>
        <p:spPr>
          <a:xfrm>
            <a:off x="708660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+74%</a:t>
            </a:r>
          </a:p>
        </p:txBody>
      </p:sp>
      <p:sp>
        <p:nvSpPr>
          <p:cNvPr id="97" name="TextBox 96"/>
          <p:cNvSpPr txBox="1"/>
          <p:nvPr/>
        </p:nvSpPr>
        <p:spPr>
          <a:xfrm>
            <a:off x="854964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98" name="Rectangle 97"/>
          <p:cNvSpPr/>
          <p:nvPr/>
        </p:nvSpPr>
        <p:spPr>
          <a:xfrm>
            <a:off x="10104119" y="574243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10104119" y="574243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100" name="TextBox 99"/>
          <p:cNvSpPr txBox="1"/>
          <p:nvPr/>
        </p:nvSpPr>
        <p:spPr>
          <a:xfrm>
            <a:off x="457200" y="6144767"/>
            <a:ext cx="11274552" cy="201168"/>
          </a:xfrm>
          <a:prstGeom prst="rect">
            <a:avLst/>
          </a:prstGeom>
          <a:noFill/>
        </p:spPr>
        <p:txBody>
          <a:bodyPr wrap="square" lIns="0" tIns="0" rIns="0" bIns="0" anchor="t">
            <a:spAutoFit/>
          </a:bodyPr>
          <a:lstStyle/>
          <a:p>
            <a:pPr algn="l"/>
            <a:r>
              <a:rPr sz="850" b="0" i="1">
                <a:solidFill>
                  <a:srgbClr val="64748B"/>
                </a:solidFill>
                <a:latin typeface="Calibri"/>
              </a:rPr>
              <a:t>ILLUSTRATIVE — actual targets per squad will be set during Wave 1 chartering. Compliance/Optimization scored on adoption + agents shipped (no MTTR/toil baseline).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1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Amazon / AWS  —  Two-Pizza Teams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200" b="1" i="1" dirty="0">
                <a:solidFill>
                  <a:srgbClr val="FEDF01"/>
                </a:solidFill>
                <a:latin typeface="Georgia" pitchFamily="34" charset="0"/>
                <a:ea typeface="Georgia" pitchFamily="34" charset="-122"/>
                <a:cs typeface="Georgia" pitchFamily="34" charset="-120"/>
              </a:rPr>
              <a:t>“You build it, you run it.”</a:t>
            </a:r>
            <a:endParaRPr lang="en-US" sz="22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Werner Vogels, CTO Amazon  ·  ACM Queue, 2006</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Two-pizza teams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Teams sized so two pizzas can feed them — typically 6–10 engineers. Each team owns one service end-to-end.</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Full ownership of the lifecycle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Build, deploy, monitor, on-call, customer support. No separate ops team to throw work over to.</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Service-oriented architecture as the wedge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Every team exposes its capability as a service consumed by other teams via API. Teams are peers — no hierarchy.</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API-first contracts between teams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Jeff Bezos’ famous 2002 mandate: “All teams will expose their data and functionality through service interfaces.”</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200+</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AWS services, each owned by a two-pizza team</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1000s</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of deploys per day across AWS</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 yrs</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operating this model continuously</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AWS is the canonical reference. SQL Server Squad, Compute Squad, Storage Squad — every name in our model maps directly to a two-pizza team pattern. Their API-first contracts between teams are exactly what the Zephyr Control Plane formalizes for us.</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2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Netflix  —  Full-Cycle Developers + Paved Road</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200" b="1" i="1" dirty="0">
                <a:solidFill>
                  <a:srgbClr val="FEDF01"/>
                </a:solidFill>
                <a:latin typeface="Georgia" pitchFamily="34" charset="0"/>
                <a:ea typeface="Georgia" pitchFamily="34" charset="-122"/>
                <a:cs typeface="Georgia" pitchFamily="34" charset="-120"/>
              </a:rPr>
              <a:t>“Operate what you build.”</a:t>
            </a:r>
            <a:endParaRPr lang="en-US" sz="22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Netflix Engineering Blog, 2018  ·  Full-cycle developers + paved-road platform</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Full-cycle developers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Every engineer owns design, build, test, deploy, operate, support, retire. “Developers feel the pain when their code breaks at 2 AM.”</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Centralized paved-road tooling</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Spinnaker (CD), Titus (containers), Atlas (telemetry), chaos engineering — built and maintained by a small platform team for everyone else.</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Freedom + responsibility culture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Teams are autonomous within paved-road guardrails. Step off the paved road, you own the consequences.</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Resilience engineered in, not added on</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Chaos Monkey embedded in production. Each team is expected to make its service resilient — not pass that work to a separate SRE org.</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1000s</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of microservices, each owned by one team</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270M</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subscribers served — global scale</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&lt;1 hr</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median deploy time from commit to prod</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Netflix is the blueprint for the “paved road + autonomy” pattern. Zephyr Control Plane plays the role of Spinnaker + Atlas combined — the central thing teams build on, while keeping squad-level ownership of the service.</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3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JPMorgan Chase  —  Platform-as-Product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000" b="1" i="1" dirty="0">
                <a:solidFill>
                  <a:srgbClr val="FEDF01"/>
                </a:solidFill>
                <a:latin typeface="Georgia" pitchFamily="34" charset="0"/>
                <a:ea typeface="Georgia" pitchFamily="34" charset="-122"/>
                <a:cs typeface="Georgia" pitchFamily="34" charset="-120"/>
              </a:rPr>
              <a:t>“We run infrastructure as a product, not as projects.”</a:t>
            </a:r>
            <a:endParaRPr lang="en-US" sz="20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Darrin Alves, CIO of Infrastructure Platforms, JPMorgan Chase</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Infrastructure organized as platforms, not as ops silos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Dedicated CIO of Infrastructure Platforms reporting line. Each platform (compute, network, storage, data) is a product with a PM, roadmap, internal customers.</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AI embedded across the infra estate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“20–30 use cases where AI augments anomaly detection.” AI is a horizontal capability shipped inside every platform — not a separate AI team.</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Regulated environment, same model</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Fed-supervised, OCC-supervised, global G-SIB. Compliance built into the platforms as paved-road controls — same Assurance-as-Code pattern we propose.</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Persistent funding, not project budgets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Platform teams funded continuously against OKRs. No annual project recompetition that breaks team continuity.</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55,000+</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technologists working in platform/product orgs</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Flat</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infrastructure cost despite +50% compute growth since 2019</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year-over-year improvement in feature delivery speed</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Most directly comparable to RBC: regulated G-SIB, similar scale, same constraints (OSFI / Fed). They proved the model works in a heavily-supervised environment — without compromising regulatory posture.</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QUANTIFIED BENEFITS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the Data Says — Realistic Targets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029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Aggregated from DORA 2024, McKinsey ING transformation, Bain product-operating-model research, Forrester IDP studies, and named case studies (Capital One, JPMC, Netflix, USAA, Booking.com).</a:t>
            </a:r>
            <a:endParaRPr lang="en-US" sz="1100" dirty="0"/>
          </a:p>
        </p:txBody>
      </p:sp>
      <p:graphicFrame>
        <p:nvGraphicFramePr>
          <p:cNvPr id="8" name="Chart 0"/>
          <p:cNvGraphicFramePr/>
          <p:nvPr/>
        </p:nvGraphicFramePr>
        <p:xfrm>
          <a:off x="457200" y="1920240"/>
          <a:ext cx="621792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6949440" y="1920240"/>
            <a:ext cx="4846320" cy="365760"/>
          </a:xfrm>
          <a:prstGeom prst="rect">
            <a:avLst/>
          </a:prstGeom>
          <a:noFill/>
          <a:ln/>
        </p:spPr>
        <p:txBody>
          <a:bodyPr wrap="square" lIns="0" tIns="0" rIns="0" bIns="0" rtlCol="0" anchor="ctr"/>
          <a:lstStyle/>
          <a:p>
            <a:pPr marL="0" indent="0">
              <a:buNone/>
            </a:pPr>
            <a:r>
              <a:rPr lang="en-US" sz="1400" b="1" dirty="0">
                <a:solidFill>
                  <a:srgbClr val="003DA5"/>
                </a:solidFill>
                <a:latin typeface="Georgia" pitchFamily="34" charset="0"/>
                <a:ea typeface="Georgia" pitchFamily="34" charset="-122"/>
                <a:cs typeface="Georgia" pitchFamily="34" charset="-120"/>
              </a:rPr>
              <a:t>Evidence from peer organizations</a:t>
            </a:r>
            <a:endParaRPr lang="en-US" sz="1400" dirty="0"/>
          </a:p>
        </p:txBody>
      </p:sp>
      <p:sp>
        <p:nvSpPr>
          <p:cNvPr id="10" name="Shape 6"/>
          <p:cNvSpPr/>
          <p:nvPr/>
        </p:nvSpPr>
        <p:spPr>
          <a:xfrm>
            <a:off x="6949440" y="2423160"/>
            <a:ext cx="4846320" cy="420624"/>
          </a:xfrm>
          <a:prstGeom prst="rect">
            <a:avLst/>
          </a:prstGeom>
          <a:solidFill>
            <a:srgbClr val="F4F6F9"/>
          </a:solidFill>
          <a:ln w="6350">
            <a:solidFill>
              <a:srgbClr val="E2E8F0"/>
            </a:solidFill>
            <a:prstDash val="solid"/>
          </a:ln>
        </p:spPr>
        <p:txBody>
          <a:bodyPr/>
          <a:lstStyle/>
          <a:p>
            <a:endParaRPr lang="en-US"/>
          </a:p>
        </p:txBody>
      </p:sp>
      <p:sp>
        <p:nvSpPr>
          <p:cNvPr id="11" name="Shape 7"/>
          <p:cNvSpPr/>
          <p:nvPr/>
        </p:nvSpPr>
        <p:spPr>
          <a:xfrm>
            <a:off x="6949440" y="2423160"/>
            <a:ext cx="54864" cy="420624"/>
          </a:xfrm>
          <a:prstGeom prst="rect">
            <a:avLst/>
          </a:prstGeom>
          <a:solidFill>
            <a:srgbClr val="FEDF01"/>
          </a:solidFill>
          <a:ln w="12700">
            <a:solidFill>
              <a:srgbClr val="FEDF01"/>
            </a:solidFill>
            <a:prstDash val="solid"/>
          </a:ln>
        </p:spPr>
        <p:txBody>
          <a:bodyPr/>
          <a:lstStyle/>
          <a:p>
            <a:endParaRPr lang="en-US"/>
          </a:p>
        </p:txBody>
      </p:sp>
      <p:sp>
        <p:nvSpPr>
          <p:cNvPr id="12" name="Text 8"/>
          <p:cNvSpPr/>
          <p:nvPr/>
        </p:nvSpPr>
        <p:spPr>
          <a:xfrm>
            <a:off x="7114032" y="2468880"/>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ING (McKinsey)</a:t>
            </a:r>
            <a:endParaRPr lang="en-US" sz="950" dirty="0"/>
          </a:p>
        </p:txBody>
      </p:sp>
      <p:sp>
        <p:nvSpPr>
          <p:cNvPr id="13" name="Text 9"/>
          <p:cNvSpPr/>
          <p:nvPr/>
        </p:nvSpPr>
        <p:spPr>
          <a:xfrm>
            <a:off x="8641080" y="2468880"/>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Release cadence 5–6×/yr  →  every 2–3 weeks</a:t>
            </a:r>
            <a:endParaRPr lang="en-US" sz="1050" dirty="0"/>
          </a:p>
        </p:txBody>
      </p:sp>
      <p:sp>
        <p:nvSpPr>
          <p:cNvPr id="14" name="Shape 10"/>
          <p:cNvSpPr/>
          <p:nvPr/>
        </p:nvSpPr>
        <p:spPr>
          <a:xfrm>
            <a:off x="6949440" y="2889504"/>
            <a:ext cx="4846320" cy="420624"/>
          </a:xfrm>
          <a:prstGeom prst="rect">
            <a:avLst/>
          </a:prstGeom>
          <a:solidFill>
            <a:srgbClr val="F4F6F9"/>
          </a:solidFill>
          <a:ln w="6350">
            <a:solidFill>
              <a:srgbClr val="E2E8F0"/>
            </a:solidFill>
            <a:prstDash val="solid"/>
          </a:ln>
        </p:spPr>
        <p:txBody>
          <a:bodyPr/>
          <a:lstStyle/>
          <a:p>
            <a:endParaRPr lang="en-US"/>
          </a:p>
        </p:txBody>
      </p:sp>
      <p:sp>
        <p:nvSpPr>
          <p:cNvPr id="15" name="Shape 11"/>
          <p:cNvSpPr/>
          <p:nvPr/>
        </p:nvSpPr>
        <p:spPr>
          <a:xfrm>
            <a:off x="6949440" y="2889504"/>
            <a:ext cx="54864" cy="420624"/>
          </a:xfrm>
          <a:prstGeom prst="rect">
            <a:avLst/>
          </a:prstGeom>
          <a:solidFill>
            <a:srgbClr val="FEDF01"/>
          </a:solidFill>
          <a:ln w="12700">
            <a:solidFill>
              <a:srgbClr val="FEDF01"/>
            </a:solidFill>
            <a:prstDash val="solid"/>
          </a:ln>
        </p:spPr>
        <p:txBody>
          <a:bodyPr/>
          <a:lstStyle/>
          <a:p>
            <a:endParaRPr lang="en-US"/>
          </a:p>
        </p:txBody>
      </p:sp>
      <p:sp>
        <p:nvSpPr>
          <p:cNvPr id="16" name="Text 12"/>
          <p:cNvSpPr/>
          <p:nvPr/>
        </p:nvSpPr>
        <p:spPr>
          <a:xfrm>
            <a:off x="7114032" y="2935224"/>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Bain (product OM)</a:t>
            </a:r>
            <a:endParaRPr lang="en-US" sz="950" dirty="0"/>
          </a:p>
        </p:txBody>
      </p:sp>
      <p:sp>
        <p:nvSpPr>
          <p:cNvPr id="17" name="Text 13"/>
          <p:cNvSpPr/>
          <p:nvPr/>
        </p:nvSpPr>
        <p:spPr>
          <a:xfrm>
            <a:off x="8641080" y="2935224"/>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Up to 60% dev-time reduction  ·  36% cost reduction</a:t>
            </a:r>
            <a:endParaRPr lang="en-US" sz="1050" dirty="0"/>
          </a:p>
        </p:txBody>
      </p:sp>
      <p:sp>
        <p:nvSpPr>
          <p:cNvPr id="18" name="Shape 14"/>
          <p:cNvSpPr/>
          <p:nvPr/>
        </p:nvSpPr>
        <p:spPr>
          <a:xfrm>
            <a:off x="6949440" y="3355848"/>
            <a:ext cx="4846320" cy="420624"/>
          </a:xfrm>
          <a:prstGeom prst="rect">
            <a:avLst/>
          </a:prstGeom>
          <a:solidFill>
            <a:srgbClr val="F4F6F9"/>
          </a:solidFill>
          <a:ln w="6350">
            <a:solidFill>
              <a:srgbClr val="E2E8F0"/>
            </a:solidFill>
            <a:prstDash val="solid"/>
          </a:ln>
        </p:spPr>
        <p:txBody>
          <a:bodyPr/>
          <a:lstStyle/>
          <a:p>
            <a:endParaRPr lang="en-US"/>
          </a:p>
        </p:txBody>
      </p:sp>
      <p:sp>
        <p:nvSpPr>
          <p:cNvPr id="19" name="Shape 15"/>
          <p:cNvSpPr/>
          <p:nvPr/>
        </p:nvSpPr>
        <p:spPr>
          <a:xfrm>
            <a:off x="6949440" y="3355848"/>
            <a:ext cx="54864" cy="420624"/>
          </a:xfrm>
          <a:prstGeom prst="rect">
            <a:avLst/>
          </a:prstGeom>
          <a:solidFill>
            <a:srgbClr val="FEDF01"/>
          </a:solidFill>
          <a:ln w="12700">
            <a:solidFill>
              <a:srgbClr val="FEDF01"/>
            </a:solidFill>
            <a:prstDash val="solid"/>
          </a:ln>
        </p:spPr>
        <p:txBody>
          <a:bodyPr/>
          <a:lstStyle/>
          <a:p>
            <a:endParaRPr lang="en-US"/>
          </a:p>
        </p:txBody>
      </p:sp>
      <p:sp>
        <p:nvSpPr>
          <p:cNvPr id="20" name="Text 16"/>
          <p:cNvSpPr/>
          <p:nvPr/>
        </p:nvSpPr>
        <p:spPr>
          <a:xfrm>
            <a:off x="7114032" y="3401568"/>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Booking.com</a:t>
            </a:r>
            <a:endParaRPr lang="en-US" sz="950" dirty="0"/>
          </a:p>
        </p:txBody>
      </p:sp>
      <p:sp>
        <p:nvSpPr>
          <p:cNvPr id="21" name="Text 17"/>
          <p:cNvSpPr/>
          <p:nvPr/>
        </p:nvSpPr>
        <p:spPr>
          <a:xfrm>
            <a:off x="8641080" y="3401568"/>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+16% throughput across 3,500 engineers</a:t>
            </a:r>
            <a:endParaRPr lang="en-US" sz="1050" dirty="0"/>
          </a:p>
        </p:txBody>
      </p:sp>
      <p:sp>
        <p:nvSpPr>
          <p:cNvPr id="22" name="Shape 18"/>
          <p:cNvSpPr/>
          <p:nvPr/>
        </p:nvSpPr>
        <p:spPr>
          <a:xfrm>
            <a:off x="6949440" y="3822192"/>
            <a:ext cx="4846320" cy="420624"/>
          </a:xfrm>
          <a:prstGeom prst="rect">
            <a:avLst/>
          </a:prstGeom>
          <a:solidFill>
            <a:srgbClr val="F4F6F9"/>
          </a:solidFill>
          <a:ln w="6350">
            <a:solidFill>
              <a:srgbClr val="E2E8F0"/>
            </a:solidFill>
            <a:prstDash val="solid"/>
          </a:ln>
        </p:spPr>
        <p:txBody>
          <a:bodyPr/>
          <a:lstStyle/>
          <a:p>
            <a:endParaRPr lang="en-US"/>
          </a:p>
        </p:txBody>
      </p:sp>
      <p:sp>
        <p:nvSpPr>
          <p:cNvPr id="23" name="Shape 19"/>
          <p:cNvSpPr/>
          <p:nvPr/>
        </p:nvSpPr>
        <p:spPr>
          <a:xfrm>
            <a:off x="6949440" y="3822192"/>
            <a:ext cx="54864" cy="420624"/>
          </a:xfrm>
          <a:prstGeom prst="rect">
            <a:avLst/>
          </a:prstGeom>
          <a:solidFill>
            <a:srgbClr val="FEDF01"/>
          </a:solidFill>
          <a:ln w="12700">
            <a:solidFill>
              <a:srgbClr val="FEDF01"/>
            </a:solidFill>
            <a:prstDash val="solid"/>
          </a:ln>
        </p:spPr>
        <p:txBody>
          <a:bodyPr/>
          <a:lstStyle/>
          <a:p>
            <a:endParaRPr lang="en-US"/>
          </a:p>
        </p:txBody>
      </p:sp>
      <p:sp>
        <p:nvSpPr>
          <p:cNvPr id="24" name="Text 20"/>
          <p:cNvSpPr/>
          <p:nvPr/>
        </p:nvSpPr>
        <p:spPr>
          <a:xfrm>
            <a:off x="7114032" y="3867912"/>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USAA</a:t>
            </a:r>
            <a:endParaRPr lang="en-US" sz="950" dirty="0"/>
          </a:p>
        </p:txBody>
      </p:sp>
      <p:sp>
        <p:nvSpPr>
          <p:cNvPr id="25" name="Text 21"/>
          <p:cNvSpPr/>
          <p:nvPr/>
        </p:nvSpPr>
        <p:spPr>
          <a:xfrm>
            <a:off x="8641080" y="3867912"/>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25% faster delivery, higher predictability &amp; quality</a:t>
            </a:r>
            <a:endParaRPr lang="en-US" sz="1050" dirty="0"/>
          </a:p>
        </p:txBody>
      </p:sp>
      <p:sp>
        <p:nvSpPr>
          <p:cNvPr id="26" name="Shape 22"/>
          <p:cNvSpPr/>
          <p:nvPr/>
        </p:nvSpPr>
        <p:spPr>
          <a:xfrm>
            <a:off x="6949440" y="4288536"/>
            <a:ext cx="4846320" cy="420624"/>
          </a:xfrm>
          <a:prstGeom prst="rect">
            <a:avLst/>
          </a:prstGeom>
          <a:solidFill>
            <a:srgbClr val="F4F6F9"/>
          </a:solidFill>
          <a:ln w="6350">
            <a:solidFill>
              <a:srgbClr val="E2E8F0"/>
            </a:solidFill>
            <a:prstDash val="solid"/>
          </a:ln>
        </p:spPr>
        <p:txBody>
          <a:bodyPr/>
          <a:lstStyle/>
          <a:p>
            <a:endParaRPr lang="en-US"/>
          </a:p>
        </p:txBody>
      </p:sp>
      <p:sp>
        <p:nvSpPr>
          <p:cNvPr id="27" name="Shape 23"/>
          <p:cNvSpPr/>
          <p:nvPr/>
        </p:nvSpPr>
        <p:spPr>
          <a:xfrm>
            <a:off x="6949440" y="4288536"/>
            <a:ext cx="54864" cy="420624"/>
          </a:xfrm>
          <a:prstGeom prst="rect">
            <a:avLst/>
          </a:prstGeom>
          <a:solidFill>
            <a:srgbClr val="FEDF01"/>
          </a:solidFill>
          <a:ln w="12700">
            <a:solidFill>
              <a:srgbClr val="FEDF01"/>
            </a:solidFill>
            <a:prstDash val="solid"/>
          </a:ln>
        </p:spPr>
        <p:txBody>
          <a:bodyPr/>
          <a:lstStyle/>
          <a:p>
            <a:endParaRPr lang="en-US"/>
          </a:p>
        </p:txBody>
      </p:sp>
      <p:sp>
        <p:nvSpPr>
          <p:cNvPr id="28" name="Text 24"/>
          <p:cNvSpPr/>
          <p:nvPr/>
        </p:nvSpPr>
        <p:spPr>
          <a:xfrm>
            <a:off x="7114032" y="4334256"/>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JPMC Infra Plat.</a:t>
            </a:r>
            <a:endParaRPr lang="en-US" sz="950" dirty="0"/>
          </a:p>
        </p:txBody>
      </p:sp>
      <p:sp>
        <p:nvSpPr>
          <p:cNvPr id="29" name="Text 25"/>
          <p:cNvSpPr/>
          <p:nvPr/>
        </p:nvSpPr>
        <p:spPr>
          <a:xfrm>
            <a:off x="8641080" y="4334256"/>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Flat infra cost despite +50% compute/storage growth</a:t>
            </a:r>
            <a:endParaRPr lang="en-US" sz="1050" dirty="0"/>
          </a:p>
        </p:txBody>
      </p:sp>
      <p:sp>
        <p:nvSpPr>
          <p:cNvPr id="30" name="Shape 26"/>
          <p:cNvSpPr/>
          <p:nvPr/>
        </p:nvSpPr>
        <p:spPr>
          <a:xfrm>
            <a:off x="6949440" y="4754880"/>
            <a:ext cx="4846320" cy="420624"/>
          </a:xfrm>
          <a:prstGeom prst="rect">
            <a:avLst/>
          </a:prstGeom>
          <a:solidFill>
            <a:srgbClr val="F4F6F9"/>
          </a:solidFill>
          <a:ln w="6350">
            <a:solidFill>
              <a:srgbClr val="E2E8F0"/>
            </a:solidFill>
            <a:prstDash val="solid"/>
          </a:ln>
        </p:spPr>
        <p:txBody>
          <a:bodyPr/>
          <a:lstStyle/>
          <a:p>
            <a:endParaRPr lang="en-US"/>
          </a:p>
        </p:txBody>
      </p:sp>
      <p:sp>
        <p:nvSpPr>
          <p:cNvPr id="31" name="Shape 27"/>
          <p:cNvSpPr/>
          <p:nvPr/>
        </p:nvSpPr>
        <p:spPr>
          <a:xfrm>
            <a:off x="6949440" y="4754880"/>
            <a:ext cx="54864" cy="420624"/>
          </a:xfrm>
          <a:prstGeom prst="rect">
            <a:avLst/>
          </a:prstGeom>
          <a:solidFill>
            <a:srgbClr val="FEDF01"/>
          </a:solidFill>
          <a:ln w="12700">
            <a:solidFill>
              <a:srgbClr val="FEDF01"/>
            </a:solidFill>
            <a:prstDash val="solid"/>
          </a:ln>
        </p:spPr>
        <p:txBody>
          <a:bodyPr/>
          <a:lstStyle/>
          <a:p>
            <a:endParaRPr lang="en-US"/>
          </a:p>
        </p:txBody>
      </p:sp>
      <p:sp>
        <p:nvSpPr>
          <p:cNvPr id="32" name="Text 28"/>
          <p:cNvSpPr/>
          <p:nvPr/>
        </p:nvSpPr>
        <p:spPr>
          <a:xfrm>
            <a:off x="7114032" y="4800600"/>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Forrester IDP</a:t>
            </a:r>
            <a:endParaRPr lang="en-US" sz="950" dirty="0"/>
          </a:p>
        </p:txBody>
      </p:sp>
      <p:sp>
        <p:nvSpPr>
          <p:cNvPr id="33" name="Text 29"/>
          <p:cNvSpPr/>
          <p:nvPr/>
        </p:nvSpPr>
        <p:spPr>
          <a:xfrm>
            <a:off x="8641080" y="4800600"/>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77% report measurable time-to-market gains</a:t>
            </a:r>
            <a:endParaRPr lang="en-US" sz="1050" dirty="0"/>
          </a:p>
        </p:txBody>
      </p:sp>
      <p:sp>
        <p:nvSpPr>
          <p:cNvPr id="34" name="Shape 30"/>
          <p:cNvSpPr/>
          <p:nvPr/>
        </p:nvSpPr>
        <p:spPr>
          <a:xfrm>
            <a:off x="6949440" y="5221224"/>
            <a:ext cx="4846320" cy="420624"/>
          </a:xfrm>
          <a:prstGeom prst="rect">
            <a:avLst/>
          </a:prstGeom>
          <a:solidFill>
            <a:srgbClr val="F4F6F9"/>
          </a:solidFill>
          <a:ln w="6350">
            <a:solidFill>
              <a:srgbClr val="E2E8F0"/>
            </a:solidFill>
            <a:prstDash val="solid"/>
          </a:ln>
        </p:spPr>
        <p:txBody>
          <a:bodyPr/>
          <a:lstStyle/>
          <a:p>
            <a:endParaRPr lang="en-US"/>
          </a:p>
        </p:txBody>
      </p:sp>
      <p:sp>
        <p:nvSpPr>
          <p:cNvPr id="35" name="Shape 31"/>
          <p:cNvSpPr/>
          <p:nvPr/>
        </p:nvSpPr>
        <p:spPr>
          <a:xfrm>
            <a:off x="6949440" y="5221224"/>
            <a:ext cx="54864" cy="420624"/>
          </a:xfrm>
          <a:prstGeom prst="rect">
            <a:avLst/>
          </a:prstGeom>
          <a:solidFill>
            <a:srgbClr val="FEDF01"/>
          </a:solidFill>
          <a:ln w="12700">
            <a:solidFill>
              <a:srgbClr val="FEDF01"/>
            </a:solidFill>
            <a:prstDash val="solid"/>
          </a:ln>
        </p:spPr>
        <p:txBody>
          <a:bodyPr/>
          <a:lstStyle/>
          <a:p>
            <a:endParaRPr lang="en-US"/>
          </a:p>
        </p:txBody>
      </p:sp>
      <p:sp>
        <p:nvSpPr>
          <p:cNvPr id="36" name="Text 32"/>
          <p:cNvSpPr/>
          <p:nvPr/>
        </p:nvSpPr>
        <p:spPr>
          <a:xfrm>
            <a:off x="7114032" y="5266944"/>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DORA 2024</a:t>
            </a:r>
            <a:endParaRPr lang="en-US" sz="950" dirty="0"/>
          </a:p>
        </p:txBody>
      </p:sp>
      <p:sp>
        <p:nvSpPr>
          <p:cNvPr id="37" name="Text 33"/>
          <p:cNvSpPr/>
          <p:nvPr/>
        </p:nvSpPr>
        <p:spPr>
          <a:xfrm>
            <a:off x="8641080" y="5266944"/>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IDPs lift productivity, team &amp; org performance</a:t>
            </a:r>
            <a:endParaRPr lang="en-US" sz="1050" dirty="0"/>
          </a:p>
        </p:txBody>
      </p:sp>
      <p:sp>
        <p:nvSpPr>
          <p:cNvPr id="38" name="Text 34"/>
          <p:cNvSpPr/>
          <p:nvPr/>
        </p:nvSpPr>
        <p:spPr>
          <a:xfrm>
            <a:off x="457200" y="6217920"/>
            <a:ext cx="11247120" cy="274320"/>
          </a:xfrm>
          <a:prstGeom prst="rect">
            <a:avLst/>
          </a:prstGeom>
          <a:noFill/>
          <a:ln/>
        </p:spPr>
        <p:txBody>
          <a:bodyPr wrap="square" lIns="0" tIns="0" rIns="0" bIns="0" rtlCol="0" anchor="ctr"/>
          <a:lstStyle/>
          <a:p>
            <a:pPr marL="0" indent="0" algn="ctr">
              <a:buNone/>
            </a:pPr>
            <a:r>
              <a:rPr lang="en-US" sz="1050" i="1" dirty="0">
                <a:solidFill>
                  <a:srgbClr val="F59E0B"/>
                </a:solidFill>
                <a:latin typeface="Calibri" pitchFamily="34" charset="0"/>
                <a:ea typeface="Calibri" pitchFamily="34" charset="-122"/>
                <a:cs typeface="Calibri" pitchFamily="34" charset="-120"/>
              </a:rPr>
              <a:t>⚠  Expect a J-curve dip in months 4–9 before recovery. Communicate this to executive sponsors before kickoff.</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PROGRAM ACCELERATION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Powering Programs Already in Flight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371600"/>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57200" y="1371600"/>
            <a:ext cx="109728" cy="233172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731520" y="1645920"/>
            <a:ext cx="640080" cy="640080"/>
          </a:xfrm>
          <a:prstGeom prst="ellipse">
            <a:avLst/>
          </a:prstGeom>
          <a:solidFill>
            <a:srgbClr val="003DA5"/>
          </a:solidFill>
          <a:ln w="12700">
            <a:solidFill>
              <a:srgbClr val="003DA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41248" y="1755648"/>
            <a:ext cx="420624" cy="420624"/>
          </a:xfrm>
          <a:prstGeom prst="rect">
            <a:avLst/>
          </a:prstGeom>
        </p:spPr>
      </p:pic>
      <p:sp>
        <p:nvSpPr>
          <p:cNvPr id="11" name="Text 7"/>
          <p:cNvSpPr/>
          <p:nvPr/>
        </p:nvSpPr>
        <p:spPr>
          <a:xfrm>
            <a:off x="1508760" y="1645920"/>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Zephyr On-Prem IaC</a:t>
            </a:r>
            <a:endParaRPr lang="en-US" sz="1600" dirty="0"/>
          </a:p>
        </p:txBody>
      </p:sp>
      <p:sp>
        <p:nvSpPr>
          <p:cNvPr id="12" name="Text 8"/>
          <p:cNvSpPr/>
          <p:nvPr/>
        </p:nvSpPr>
        <p:spPr>
          <a:xfrm>
            <a:off x="1508760" y="2011680"/>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34 platforms today span all four verticals</a:t>
            </a:r>
            <a:endParaRPr lang="en-US" sz="1050" dirty="0"/>
          </a:p>
        </p:txBody>
      </p:sp>
      <p:sp>
        <p:nvSpPr>
          <p:cNvPr id="13" name="Text 9"/>
          <p:cNvSpPr/>
          <p:nvPr/>
        </p:nvSpPr>
        <p:spPr>
          <a:xfrm>
            <a:off x="731520" y="2377440"/>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Group into 6–10 stream-aligned squads inside the Zephyr &amp; Lifecycle Tribe. A central Zephyr IaC Platform team owns module registry, contribution model, and golden paths. Embedded MLEs ship AI agents for module generation and drift remediation.</a:t>
            </a:r>
            <a:endParaRPr lang="en-US" sz="1100" dirty="0"/>
          </a:p>
        </p:txBody>
      </p:sp>
      <p:sp>
        <p:nvSpPr>
          <p:cNvPr id="14" name="Shape 10"/>
          <p:cNvSpPr/>
          <p:nvPr/>
        </p:nvSpPr>
        <p:spPr>
          <a:xfrm>
            <a:off x="640080" y="3337560"/>
            <a:ext cx="5166360" cy="274320"/>
          </a:xfrm>
          <a:prstGeom prst="rect">
            <a:avLst/>
          </a:prstGeom>
          <a:solidFill>
            <a:srgbClr val="FFF1A8"/>
          </a:solidFill>
          <a:ln w="12700">
            <a:solidFill>
              <a:srgbClr val="FEDF01"/>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731520" y="3374136"/>
            <a:ext cx="201168" cy="201168"/>
          </a:xfrm>
          <a:prstGeom prst="rect">
            <a:avLst/>
          </a:prstGeom>
        </p:spPr>
      </p:pic>
      <p:sp>
        <p:nvSpPr>
          <p:cNvPr id="16" name="Text 11"/>
          <p:cNvSpPr/>
          <p:nvPr/>
        </p:nvSpPr>
        <p:spPr>
          <a:xfrm>
            <a:off x="1005840" y="3337560"/>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Faster module velocity · single roadmap · fewer integration bottlenecks</a:t>
            </a:r>
            <a:endParaRPr lang="en-US" sz="1050" dirty="0"/>
          </a:p>
        </p:txBody>
      </p:sp>
      <p:sp>
        <p:nvSpPr>
          <p:cNvPr id="17" name="Shape 12"/>
          <p:cNvSpPr/>
          <p:nvPr/>
        </p:nvSpPr>
        <p:spPr>
          <a:xfrm>
            <a:off x="6153912" y="1371600"/>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3"/>
          <p:cNvSpPr/>
          <p:nvPr/>
        </p:nvSpPr>
        <p:spPr>
          <a:xfrm>
            <a:off x="6153912" y="1371600"/>
            <a:ext cx="109728" cy="2331720"/>
          </a:xfrm>
          <a:prstGeom prst="rect">
            <a:avLst/>
          </a:prstGeom>
          <a:solidFill>
            <a:srgbClr val="003DA5"/>
          </a:solidFill>
          <a:ln w="12700">
            <a:solidFill>
              <a:srgbClr val="003DA5"/>
            </a:solidFill>
            <a:prstDash val="solid"/>
          </a:ln>
        </p:spPr>
        <p:txBody>
          <a:bodyPr/>
          <a:lstStyle/>
          <a:p>
            <a:endParaRPr lang="en-US"/>
          </a:p>
        </p:txBody>
      </p:sp>
      <p:sp>
        <p:nvSpPr>
          <p:cNvPr id="19" name="Shape 14"/>
          <p:cNvSpPr/>
          <p:nvPr/>
        </p:nvSpPr>
        <p:spPr>
          <a:xfrm>
            <a:off x="6428232" y="1645920"/>
            <a:ext cx="640080" cy="640080"/>
          </a:xfrm>
          <a:prstGeom prst="ellipse">
            <a:avLst/>
          </a:prstGeom>
          <a:solidFill>
            <a:srgbClr val="003DA5"/>
          </a:solidFill>
          <a:ln w="12700">
            <a:solidFill>
              <a:srgbClr val="003DA5"/>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537960" y="1755648"/>
            <a:ext cx="420624" cy="420624"/>
          </a:xfrm>
          <a:prstGeom prst="rect">
            <a:avLst/>
          </a:prstGeom>
        </p:spPr>
      </p:pic>
      <p:sp>
        <p:nvSpPr>
          <p:cNvPr id="21" name="Text 15"/>
          <p:cNvSpPr/>
          <p:nvPr/>
        </p:nvSpPr>
        <p:spPr>
          <a:xfrm>
            <a:off x="7205472" y="1645920"/>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Private Cloud Lifecycle</a:t>
            </a:r>
            <a:endParaRPr lang="en-US" sz="1600" dirty="0"/>
          </a:p>
        </p:txBody>
      </p:sp>
      <p:sp>
        <p:nvSpPr>
          <p:cNvPr id="22" name="Text 16"/>
          <p:cNvSpPr/>
          <p:nvPr/>
        </p:nvSpPr>
        <p:spPr>
          <a:xfrm>
            <a:off x="7205472" y="2011680"/>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Canonical "you build it, you run it" candidate</a:t>
            </a:r>
            <a:endParaRPr lang="en-US" sz="1050" dirty="0"/>
          </a:p>
        </p:txBody>
      </p:sp>
      <p:sp>
        <p:nvSpPr>
          <p:cNvPr id="23" name="Text 17"/>
          <p:cNvSpPr/>
          <p:nvPr/>
        </p:nvSpPr>
        <p:spPr>
          <a:xfrm>
            <a:off x="6428232" y="2377440"/>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Sits as a Tier-2 capability platform consumed by Foundation platforms. Embedded SRE pod, embedded FinOps engineer, AIOps integrated for predictive lifecycle (capacity, EOL, patch).</a:t>
            </a:r>
            <a:endParaRPr lang="en-US" sz="1100" dirty="0"/>
          </a:p>
        </p:txBody>
      </p:sp>
      <p:sp>
        <p:nvSpPr>
          <p:cNvPr id="24" name="Shape 18"/>
          <p:cNvSpPr/>
          <p:nvPr/>
        </p:nvSpPr>
        <p:spPr>
          <a:xfrm>
            <a:off x="6336792" y="3337560"/>
            <a:ext cx="5166360" cy="274320"/>
          </a:xfrm>
          <a:prstGeom prst="rect">
            <a:avLst/>
          </a:prstGeom>
          <a:solidFill>
            <a:srgbClr val="FFF1A8"/>
          </a:solidFill>
          <a:ln w="12700">
            <a:solidFill>
              <a:srgbClr val="FEDF01"/>
            </a:solidFill>
            <a:prstDash val="solid"/>
          </a:ln>
        </p:spPr>
        <p:txBody>
          <a:bodyPr/>
          <a:lstStyle/>
          <a:p>
            <a:endParaRPr lang="en-US"/>
          </a:p>
        </p:txBody>
      </p:sp>
      <p:pic>
        <p:nvPicPr>
          <p:cNvPr id="25" name="Image 4" descr="preencoded.png"/>
          <p:cNvPicPr>
            <a:picLocks noChangeAspect="1"/>
          </p:cNvPicPr>
          <p:nvPr/>
        </p:nvPicPr>
        <p:blipFill>
          <a:blip r:embed="rId5"/>
          <a:stretch>
            <a:fillRect/>
          </a:stretch>
        </p:blipFill>
        <p:spPr>
          <a:xfrm>
            <a:off x="6428232" y="3374136"/>
            <a:ext cx="201168" cy="201168"/>
          </a:xfrm>
          <a:prstGeom prst="rect">
            <a:avLst/>
          </a:prstGeom>
        </p:spPr>
      </p:pic>
      <p:sp>
        <p:nvSpPr>
          <p:cNvPr id="26" name="Text 19"/>
          <p:cNvSpPr/>
          <p:nvPr/>
        </p:nvSpPr>
        <p:spPr>
          <a:xfrm>
            <a:off x="6702552" y="3337560"/>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Predictive lifecycle · reduced ops overhead · clear consumer SLOs</a:t>
            </a:r>
            <a:endParaRPr lang="en-US" sz="1050" dirty="0"/>
          </a:p>
        </p:txBody>
      </p:sp>
      <p:sp>
        <p:nvSpPr>
          <p:cNvPr id="27" name="Shape 20"/>
          <p:cNvSpPr/>
          <p:nvPr/>
        </p:nvSpPr>
        <p:spPr>
          <a:xfrm>
            <a:off x="457200" y="3867912"/>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8" name="Shape 21"/>
          <p:cNvSpPr/>
          <p:nvPr/>
        </p:nvSpPr>
        <p:spPr>
          <a:xfrm>
            <a:off x="457200" y="3867912"/>
            <a:ext cx="109728" cy="2331720"/>
          </a:xfrm>
          <a:prstGeom prst="rect">
            <a:avLst/>
          </a:prstGeom>
          <a:solidFill>
            <a:srgbClr val="003DA5"/>
          </a:solidFill>
          <a:ln w="12700">
            <a:solidFill>
              <a:srgbClr val="003DA5"/>
            </a:solidFill>
            <a:prstDash val="solid"/>
          </a:ln>
        </p:spPr>
        <p:txBody>
          <a:bodyPr/>
          <a:lstStyle/>
          <a:p>
            <a:endParaRPr lang="en-US"/>
          </a:p>
        </p:txBody>
      </p:sp>
      <p:sp>
        <p:nvSpPr>
          <p:cNvPr id="29" name="Shape 22"/>
          <p:cNvSpPr/>
          <p:nvPr/>
        </p:nvSpPr>
        <p:spPr>
          <a:xfrm>
            <a:off x="731520" y="4142232"/>
            <a:ext cx="640080" cy="640080"/>
          </a:xfrm>
          <a:prstGeom prst="ellipse">
            <a:avLst/>
          </a:prstGeom>
          <a:solidFill>
            <a:srgbClr val="003DA5"/>
          </a:solidFill>
          <a:ln w="12700">
            <a:solidFill>
              <a:srgbClr val="003DA5"/>
            </a:solidFill>
            <a:prstDash val="solid"/>
          </a:ln>
        </p:spPr>
        <p:txBody>
          <a:bodyPr/>
          <a:lstStyle/>
          <a:p>
            <a:endParaRPr lang="en-US"/>
          </a:p>
        </p:txBody>
      </p:sp>
      <p:pic>
        <p:nvPicPr>
          <p:cNvPr id="30" name="Image 5" descr="preencoded.png"/>
          <p:cNvPicPr>
            <a:picLocks noChangeAspect="1"/>
          </p:cNvPicPr>
          <p:nvPr/>
        </p:nvPicPr>
        <p:blipFill>
          <a:blip r:embed="rId7"/>
          <a:stretch>
            <a:fillRect/>
          </a:stretch>
        </p:blipFill>
        <p:spPr>
          <a:xfrm>
            <a:off x="841248" y="4251960"/>
            <a:ext cx="420624" cy="420624"/>
          </a:xfrm>
          <a:prstGeom prst="rect">
            <a:avLst/>
          </a:prstGeom>
        </p:spPr>
      </p:pic>
      <p:sp>
        <p:nvSpPr>
          <p:cNvPr id="31" name="Text 23"/>
          <p:cNvSpPr/>
          <p:nvPr/>
        </p:nvSpPr>
        <p:spPr>
          <a:xfrm>
            <a:off x="1508760" y="4142232"/>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AI Agents for Infra Automation</a:t>
            </a:r>
            <a:endParaRPr lang="en-US" sz="1600" dirty="0"/>
          </a:p>
        </p:txBody>
      </p:sp>
      <p:sp>
        <p:nvSpPr>
          <p:cNvPr id="32" name="Text 24"/>
          <p:cNvSpPr/>
          <p:nvPr/>
        </p:nvSpPr>
        <p:spPr>
          <a:xfrm>
            <a:off x="1508760" y="4507992"/>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Risk: agents trapped in a single vertical</a:t>
            </a:r>
            <a:endParaRPr lang="en-US" sz="1050" dirty="0"/>
          </a:p>
        </p:txBody>
      </p:sp>
      <p:sp>
        <p:nvSpPr>
          <p:cNvPr id="33" name="Text 25"/>
          <p:cNvSpPr/>
          <p:nvPr/>
        </p:nvSpPr>
        <p:spPr>
          <a:xfrm>
            <a:off x="731520" y="4873752"/>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Distribute the work — ML Platform team provides agent runtime, eval harness &amp; guardrails. Embedded MLEs ship agents into Zephyr &amp; Observability. AI/ML Guild governs cross-org standards (mirrors USAA AI-pod model &amp; JPMC's distributed pattern).</a:t>
            </a:r>
            <a:endParaRPr lang="en-US" sz="1100" dirty="0"/>
          </a:p>
        </p:txBody>
      </p:sp>
      <p:sp>
        <p:nvSpPr>
          <p:cNvPr id="34" name="Shape 26"/>
          <p:cNvSpPr/>
          <p:nvPr/>
        </p:nvSpPr>
        <p:spPr>
          <a:xfrm>
            <a:off x="640080" y="5833872"/>
            <a:ext cx="5166360" cy="274320"/>
          </a:xfrm>
          <a:prstGeom prst="rect">
            <a:avLst/>
          </a:prstGeom>
          <a:solidFill>
            <a:srgbClr val="FFF1A8"/>
          </a:solidFill>
          <a:ln w="12700">
            <a:solidFill>
              <a:srgbClr val="FEDF01"/>
            </a:solidFill>
            <a:prstDash val="solid"/>
          </a:ln>
        </p:spPr>
        <p:txBody>
          <a:bodyPr/>
          <a:lstStyle/>
          <a:p>
            <a:endParaRPr lang="en-US"/>
          </a:p>
        </p:txBody>
      </p:sp>
      <p:pic>
        <p:nvPicPr>
          <p:cNvPr id="35" name="Image 6" descr="preencoded.png"/>
          <p:cNvPicPr>
            <a:picLocks noChangeAspect="1"/>
          </p:cNvPicPr>
          <p:nvPr/>
        </p:nvPicPr>
        <p:blipFill>
          <a:blip r:embed="rId5"/>
          <a:stretch>
            <a:fillRect/>
          </a:stretch>
        </p:blipFill>
        <p:spPr>
          <a:xfrm>
            <a:off x="731520" y="5870448"/>
            <a:ext cx="201168" cy="201168"/>
          </a:xfrm>
          <a:prstGeom prst="rect">
            <a:avLst/>
          </a:prstGeom>
        </p:spPr>
      </p:pic>
      <p:sp>
        <p:nvSpPr>
          <p:cNvPr id="36" name="Text 27"/>
          <p:cNvSpPr/>
          <p:nvPr/>
        </p:nvSpPr>
        <p:spPr>
          <a:xfrm>
            <a:off x="1005840" y="5833872"/>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Pervasive AI capability · shared platform · governed responsibly</a:t>
            </a:r>
            <a:endParaRPr lang="en-US" sz="1050" dirty="0"/>
          </a:p>
        </p:txBody>
      </p:sp>
      <p:sp>
        <p:nvSpPr>
          <p:cNvPr id="37" name="Shape 28"/>
          <p:cNvSpPr/>
          <p:nvPr/>
        </p:nvSpPr>
        <p:spPr>
          <a:xfrm>
            <a:off x="6153912" y="3867912"/>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8" name="Shape 29"/>
          <p:cNvSpPr/>
          <p:nvPr/>
        </p:nvSpPr>
        <p:spPr>
          <a:xfrm>
            <a:off x="6153912" y="3867912"/>
            <a:ext cx="109728" cy="2331720"/>
          </a:xfrm>
          <a:prstGeom prst="rect">
            <a:avLst/>
          </a:prstGeom>
          <a:solidFill>
            <a:srgbClr val="003DA5"/>
          </a:solidFill>
          <a:ln w="12700">
            <a:solidFill>
              <a:srgbClr val="003DA5"/>
            </a:solidFill>
            <a:prstDash val="solid"/>
          </a:ln>
        </p:spPr>
        <p:txBody>
          <a:bodyPr/>
          <a:lstStyle/>
          <a:p>
            <a:endParaRPr lang="en-US"/>
          </a:p>
        </p:txBody>
      </p:sp>
      <p:sp>
        <p:nvSpPr>
          <p:cNvPr id="39" name="Shape 30"/>
          <p:cNvSpPr/>
          <p:nvPr/>
        </p:nvSpPr>
        <p:spPr>
          <a:xfrm>
            <a:off x="6428232" y="4142232"/>
            <a:ext cx="640080" cy="640080"/>
          </a:xfrm>
          <a:prstGeom prst="ellipse">
            <a:avLst/>
          </a:prstGeom>
          <a:solidFill>
            <a:srgbClr val="003DA5"/>
          </a:solidFill>
          <a:ln w="12700">
            <a:solidFill>
              <a:srgbClr val="003DA5"/>
            </a:solidFill>
            <a:prstDash val="solid"/>
          </a:ln>
        </p:spPr>
        <p:txBody>
          <a:bodyPr/>
          <a:lstStyle/>
          <a:p>
            <a:endParaRPr lang="en-US"/>
          </a:p>
        </p:txBody>
      </p:sp>
      <p:pic>
        <p:nvPicPr>
          <p:cNvPr id="40" name="Image 7" descr="preencoded.png"/>
          <p:cNvPicPr>
            <a:picLocks noChangeAspect="1"/>
          </p:cNvPicPr>
          <p:nvPr/>
        </p:nvPicPr>
        <p:blipFill>
          <a:blip r:embed="rId8"/>
          <a:stretch>
            <a:fillRect/>
          </a:stretch>
        </p:blipFill>
        <p:spPr>
          <a:xfrm>
            <a:off x="6537960" y="4251960"/>
            <a:ext cx="420624" cy="420624"/>
          </a:xfrm>
          <a:prstGeom prst="rect">
            <a:avLst/>
          </a:prstGeom>
        </p:spPr>
      </p:pic>
      <p:sp>
        <p:nvSpPr>
          <p:cNvPr id="41" name="Text 31"/>
          <p:cNvSpPr/>
          <p:nvPr/>
        </p:nvSpPr>
        <p:spPr>
          <a:xfrm>
            <a:off x="7205472" y="4142232"/>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Regulatory &amp; Assurance Workflows</a:t>
            </a:r>
            <a:endParaRPr lang="en-US" sz="1600" dirty="0"/>
          </a:p>
        </p:txBody>
      </p:sp>
      <p:sp>
        <p:nvSpPr>
          <p:cNvPr id="42" name="Text 32"/>
          <p:cNvSpPr/>
          <p:nvPr/>
        </p:nvSpPr>
        <p:spPr>
          <a:xfrm>
            <a:off x="7205472" y="4507992"/>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Process-by-process attestation today</a:t>
            </a:r>
            <a:endParaRPr lang="en-US" sz="1050" dirty="0"/>
          </a:p>
        </p:txBody>
      </p:sp>
      <p:sp>
        <p:nvSpPr>
          <p:cNvPr id="43" name="Text 33"/>
          <p:cNvSpPr/>
          <p:nvPr/>
        </p:nvSpPr>
        <p:spPr>
          <a:xfrm>
            <a:off x="6428232" y="4873752"/>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Implement as Assurance-as-Code — a Tier-2 platform shipping compliance controls as paved-road features of IaC and CI/CD. Security &amp; Compliance Chapter governs control taxonomy. Single control plane vs. siloed processes.</a:t>
            </a:r>
            <a:endParaRPr lang="en-US" sz="1100" dirty="0"/>
          </a:p>
        </p:txBody>
      </p:sp>
      <p:sp>
        <p:nvSpPr>
          <p:cNvPr id="44" name="Shape 34"/>
          <p:cNvSpPr/>
          <p:nvPr/>
        </p:nvSpPr>
        <p:spPr>
          <a:xfrm>
            <a:off x="6336792" y="5833872"/>
            <a:ext cx="5166360" cy="274320"/>
          </a:xfrm>
          <a:prstGeom prst="rect">
            <a:avLst/>
          </a:prstGeom>
          <a:solidFill>
            <a:srgbClr val="FFF1A8"/>
          </a:solidFill>
          <a:ln w="12700">
            <a:solidFill>
              <a:srgbClr val="FEDF01"/>
            </a:solidFill>
            <a:prstDash val="solid"/>
          </a:ln>
        </p:spPr>
        <p:txBody>
          <a:bodyPr/>
          <a:lstStyle/>
          <a:p>
            <a:endParaRPr lang="en-US"/>
          </a:p>
        </p:txBody>
      </p:sp>
      <p:pic>
        <p:nvPicPr>
          <p:cNvPr id="45" name="Image 8" descr="preencoded.png"/>
          <p:cNvPicPr>
            <a:picLocks noChangeAspect="1"/>
          </p:cNvPicPr>
          <p:nvPr/>
        </p:nvPicPr>
        <p:blipFill>
          <a:blip r:embed="rId5"/>
          <a:stretch>
            <a:fillRect/>
          </a:stretch>
        </p:blipFill>
        <p:spPr>
          <a:xfrm>
            <a:off x="6428232" y="5870448"/>
            <a:ext cx="201168" cy="201168"/>
          </a:xfrm>
          <a:prstGeom prst="rect">
            <a:avLst/>
          </a:prstGeom>
        </p:spPr>
      </p:pic>
      <p:sp>
        <p:nvSpPr>
          <p:cNvPr id="46" name="Text 35"/>
          <p:cNvSpPr/>
          <p:nvPr/>
        </p:nvSpPr>
        <p:spPr>
          <a:xfrm>
            <a:off x="6702552" y="5833872"/>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Single regulator-facing control plane · audit-ready by default</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TRANSITION ROADMAP</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Three Waves Over 18–24 Months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554480"/>
            <a:ext cx="11274552" cy="411480"/>
          </a:xfrm>
          <a:prstGeom prst="rect">
            <a:avLst/>
          </a:prstGeom>
          <a:solidFill>
            <a:srgbClr val="F4F6F9"/>
          </a:solidFill>
          <a:ln w="12700">
            <a:solidFill>
              <a:srgbClr val="E2E8F0"/>
            </a:solidFill>
            <a:prstDash val="solid"/>
          </a:ln>
        </p:spPr>
        <p:txBody>
          <a:bodyPr/>
          <a:lstStyle/>
          <a:p>
            <a:endParaRPr lang="en-US"/>
          </a:p>
        </p:txBody>
      </p:sp>
      <p:sp>
        <p:nvSpPr>
          <p:cNvPr id="8" name="Shape 5"/>
          <p:cNvSpPr/>
          <p:nvPr/>
        </p:nvSpPr>
        <p:spPr>
          <a:xfrm>
            <a:off x="457200" y="1554480"/>
            <a:ext cx="3017520" cy="411480"/>
          </a:xfrm>
          <a:prstGeom prst="rect">
            <a:avLst/>
          </a:prstGeom>
          <a:solidFill>
            <a:srgbClr val="002B7F"/>
          </a:solidFill>
          <a:ln w="12700">
            <a:solidFill>
              <a:srgbClr val="002B7F"/>
            </a:solidFill>
            <a:prstDash val="solid"/>
          </a:ln>
        </p:spPr>
        <p:txBody>
          <a:bodyPr/>
          <a:lstStyle/>
          <a:p>
            <a:endParaRPr lang="en-US"/>
          </a:p>
        </p:txBody>
      </p:sp>
      <p:sp>
        <p:nvSpPr>
          <p:cNvPr id="9" name="Shape 6"/>
          <p:cNvSpPr/>
          <p:nvPr/>
        </p:nvSpPr>
        <p:spPr>
          <a:xfrm>
            <a:off x="3474720" y="1554480"/>
            <a:ext cx="3840480" cy="411480"/>
          </a:xfrm>
          <a:prstGeom prst="rect">
            <a:avLst/>
          </a:prstGeom>
          <a:solidFill>
            <a:srgbClr val="003DA5"/>
          </a:solidFill>
          <a:ln w="12700">
            <a:solidFill>
              <a:srgbClr val="003DA5"/>
            </a:solidFill>
            <a:prstDash val="solid"/>
          </a:ln>
        </p:spPr>
        <p:txBody>
          <a:bodyPr/>
          <a:lstStyle/>
          <a:p>
            <a:endParaRPr lang="en-US"/>
          </a:p>
        </p:txBody>
      </p:sp>
      <p:sp>
        <p:nvSpPr>
          <p:cNvPr id="10" name="Shape 7"/>
          <p:cNvSpPr/>
          <p:nvPr/>
        </p:nvSpPr>
        <p:spPr>
          <a:xfrm>
            <a:off x="7315200" y="1554480"/>
            <a:ext cx="4416552" cy="411480"/>
          </a:xfrm>
          <a:prstGeom prst="rect">
            <a:avLst/>
          </a:prstGeom>
          <a:solidFill>
            <a:srgbClr val="1A55BC"/>
          </a:solidFill>
          <a:ln w="12700">
            <a:solidFill>
              <a:srgbClr val="1A55BC"/>
            </a:solidFill>
            <a:prstDash val="solid"/>
          </a:ln>
        </p:spPr>
        <p:txBody>
          <a:bodyPr/>
          <a:lstStyle/>
          <a:p>
            <a:endParaRPr lang="en-US"/>
          </a:p>
        </p:txBody>
      </p:sp>
      <p:sp>
        <p:nvSpPr>
          <p:cNvPr id="11" name="Text 8"/>
          <p:cNvSpPr/>
          <p:nvPr/>
        </p:nvSpPr>
        <p:spPr>
          <a:xfrm>
            <a:off x="457200" y="1554480"/>
            <a:ext cx="301752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1  ·  Months 0–6  ·  Foundation</a:t>
            </a:r>
            <a:endParaRPr lang="en-US" sz="1000" dirty="0"/>
          </a:p>
        </p:txBody>
      </p:sp>
      <p:sp>
        <p:nvSpPr>
          <p:cNvPr id="12" name="Text 9"/>
          <p:cNvSpPr/>
          <p:nvPr/>
        </p:nvSpPr>
        <p:spPr>
          <a:xfrm>
            <a:off x="3474720" y="1554480"/>
            <a:ext cx="384048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2  ·  Months 6–12  ·  Expand</a:t>
            </a:r>
            <a:endParaRPr lang="en-US" sz="1000" dirty="0"/>
          </a:p>
        </p:txBody>
      </p:sp>
      <p:sp>
        <p:nvSpPr>
          <p:cNvPr id="13" name="Text 10"/>
          <p:cNvSpPr/>
          <p:nvPr/>
        </p:nvSpPr>
        <p:spPr>
          <a:xfrm>
            <a:off x="7315200" y="1554480"/>
            <a:ext cx="4416552"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3  ·  Months 12–18+  ·  Scale &amp; Optimize</a:t>
            </a:r>
            <a:endParaRPr lang="en-US" sz="1000" dirty="0"/>
          </a:p>
        </p:txBody>
      </p:sp>
      <p:sp>
        <p:nvSpPr>
          <p:cNvPr id="14" name="Text 11"/>
          <p:cNvSpPr/>
          <p:nvPr/>
        </p:nvSpPr>
        <p:spPr>
          <a:xfrm>
            <a:off x="457200" y="2194560"/>
            <a:ext cx="2971800" cy="365760"/>
          </a:xfrm>
          <a:prstGeom prst="rect">
            <a:avLst/>
          </a:prstGeom>
          <a:noFill/>
          <a:ln/>
        </p:spPr>
        <p:txBody>
          <a:bodyPr wrap="square" lIns="0" tIns="0" rIns="0" bIns="0" rtlCol="0" anchor="ctr"/>
          <a:lstStyle/>
          <a:p>
            <a:pPr marL="0" indent="0">
              <a:buNone/>
            </a:pPr>
            <a:r>
              <a:rPr lang="en-US" sz="1600" b="1" dirty="0">
                <a:solidFill>
                  <a:srgbClr val="002B7F"/>
                </a:solidFill>
                <a:latin typeface="Georgia" pitchFamily="34" charset="0"/>
                <a:ea typeface="Georgia" pitchFamily="34" charset="-122"/>
                <a:cs typeface="Georgia" pitchFamily="34" charset="-120"/>
              </a:rPr>
              <a:t>Foundation &amp; Pilot</a:t>
            </a:r>
            <a:endParaRPr lang="en-US" sz="1600" dirty="0"/>
          </a:p>
        </p:txBody>
      </p:sp>
      <p:sp>
        <p:nvSpPr>
          <p:cNvPr id="15" name="Text 12"/>
          <p:cNvSpPr/>
          <p:nvPr/>
        </p:nvSpPr>
        <p:spPr>
          <a:xfrm>
            <a:off x="457200" y="2651760"/>
            <a:ext cx="297180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Transformation Office (~20 FTE, time-boxed)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Publish Operating Model Charter &amp; decision rights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Baseline DORA / DevEx / CNCF maturity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Choose 2–3 lighthouse pilots — Zephyr IaC + 1 Foundation platform + 1 stream squad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Architecture, SRE, AI/ML Guilds (week-one signal)</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First Quarterly Business Review</a:t>
            </a:r>
            <a:endParaRPr lang="en-US" sz="1100" dirty="0"/>
          </a:p>
        </p:txBody>
      </p:sp>
      <p:sp>
        <p:nvSpPr>
          <p:cNvPr id="16" name="Shape 13"/>
          <p:cNvSpPr/>
          <p:nvPr/>
        </p:nvSpPr>
        <p:spPr>
          <a:xfrm>
            <a:off x="457200" y="5897880"/>
            <a:ext cx="2971800" cy="365760"/>
          </a:xfrm>
          <a:prstGeom prst="rect">
            <a:avLst/>
          </a:prstGeom>
          <a:solidFill>
            <a:srgbClr val="002B7F"/>
          </a:solidFill>
          <a:ln w="12700">
            <a:solidFill>
              <a:srgbClr val="002B7F"/>
            </a:solidFill>
            <a:prstDash val="solid"/>
          </a:ln>
        </p:spPr>
        <p:txBody>
          <a:bodyPr/>
          <a:lstStyle/>
          <a:p>
            <a:endParaRPr lang="en-US"/>
          </a:p>
        </p:txBody>
      </p:sp>
      <p:sp>
        <p:nvSpPr>
          <p:cNvPr id="17" name="Text 14"/>
          <p:cNvSpPr/>
          <p:nvPr/>
        </p:nvSpPr>
        <p:spPr>
          <a:xfrm>
            <a:off x="457200" y="5897880"/>
            <a:ext cx="2971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Pilots in steady state · J-curve managed</a:t>
            </a:r>
            <a:endParaRPr lang="en-US" sz="1100" dirty="0"/>
          </a:p>
        </p:txBody>
      </p:sp>
      <p:sp>
        <p:nvSpPr>
          <p:cNvPr id="18" name="Text 15"/>
          <p:cNvSpPr/>
          <p:nvPr/>
        </p:nvSpPr>
        <p:spPr>
          <a:xfrm>
            <a:off x="3520440" y="2194560"/>
            <a:ext cx="374904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Expand</a:t>
            </a:r>
            <a:endParaRPr lang="en-US" sz="1600" dirty="0"/>
          </a:p>
        </p:txBody>
      </p:sp>
      <p:sp>
        <p:nvSpPr>
          <p:cNvPr id="19" name="Text 16"/>
          <p:cNvSpPr/>
          <p:nvPr/>
        </p:nvSpPr>
        <p:spPr>
          <a:xfrm>
            <a:off x="3520440" y="2651760"/>
            <a:ext cx="374904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Roll model to 3–4 of the 5–7 Tribes (Compute, Zephyr, DevEx, Reliability)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Dissolve legacy Architecture &amp; AI/IM verticals; redirect headcount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AIOps / Incident Intel platform as Tier-2 product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Internal tech-radar refresh for golden-path tools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Pivot funding: persistent platforms; project funding only for enabling work</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Update career ladders — portable Principal track</a:t>
            </a:r>
            <a:endParaRPr lang="en-US" sz="1100" dirty="0"/>
          </a:p>
        </p:txBody>
      </p:sp>
      <p:sp>
        <p:nvSpPr>
          <p:cNvPr id="20" name="Shape 17"/>
          <p:cNvSpPr/>
          <p:nvPr/>
        </p:nvSpPr>
        <p:spPr>
          <a:xfrm>
            <a:off x="3520440" y="5897880"/>
            <a:ext cx="3749040" cy="365760"/>
          </a:xfrm>
          <a:prstGeom prst="rect">
            <a:avLst/>
          </a:prstGeom>
          <a:solidFill>
            <a:srgbClr val="003DA5"/>
          </a:solidFill>
          <a:ln w="12700">
            <a:solidFill>
              <a:srgbClr val="003DA5"/>
            </a:solidFill>
            <a:prstDash val="solid"/>
          </a:ln>
        </p:spPr>
        <p:txBody>
          <a:bodyPr/>
          <a:lstStyle/>
          <a:p>
            <a:endParaRPr lang="en-US"/>
          </a:p>
        </p:txBody>
      </p:sp>
      <p:sp>
        <p:nvSpPr>
          <p:cNvPr id="21" name="Text 18"/>
          <p:cNvSpPr/>
          <p:nvPr/>
        </p:nvSpPr>
        <p:spPr>
          <a:xfrm>
            <a:off x="3520440" y="5897880"/>
            <a:ext cx="37490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DORA top-quartile in pilot tribes</a:t>
            </a:r>
            <a:endParaRPr lang="en-US" sz="1100" dirty="0"/>
          </a:p>
        </p:txBody>
      </p:sp>
      <p:sp>
        <p:nvSpPr>
          <p:cNvPr id="22" name="Text 19"/>
          <p:cNvSpPr/>
          <p:nvPr/>
        </p:nvSpPr>
        <p:spPr>
          <a:xfrm>
            <a:off x="7406640" y="2194560"/>
            <a:ext cx="4325112" cy="365760"/>
          </a:xfrm>
          <a:prstGeom prst="rect">
            <a:avLst/>
          </a:prstGeom>
          <a:noFill/>
          <a:ln/>
        </p:spPr>
        <p:txBody>
          <a:bodyPr wrap="square" lIns="0" tIns="0" rIns="0" bIns="0" rtlCol="0" anchor="ctr"/>
          <a:lstStyle/>
          <a:p>
            <a:pPr marL="0" indent="0">
              <a:buNone/>
            </a:pPr>
            <a:r>
              <a:rPr lang="en-US" sz="1600" b="1" dirty="0">
                <a:solidFill>
                  <a:srgbClr val="1A55BC"/>
                </a:solidFill>
                <a:latin typeface="Georgia" pitchFamily="34" charset="0"/>
                <a:ea typeface="Georgia" pitchFamily="34" charset="-122"/>
                <a:cs typeface="Georgia" pitchFamily="34" charset="-120"/>
              </a:rPr>
              <a:t>Scale &amp; Optimize</a:t>
            </a:r>
            <a:endParaRPr lang="en-US" sz="1600" dirty="0"/>
          </a:p>
        </p:txBody>
      </p:sp>
      <p:sp>
        <p:nvSpPr>
          <p:cNvPr id="23" name="Text 20"/>
          <p:cNvSpPr/>
          <p:nvPr/>
        </p:nvSpPr>
        <p:spPr>
          <a:xfrm>
            <a:off x="7406640" y="2651760"/>
            <a:ext cx="4325112"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Remaining Tribes converted; Transformation Office shrinks to 3–5 FTE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80%+ of teams cleanly classified by Team Topologies type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Target outcomes realised: 15–25% FTE reclaimed · 30–50% MTTR reduction</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DevEx NPS visibly trending up across all tribes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≥60% of teams using ≥1 AI agent / AIOps feature daily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Annual operating-model health check becomes a permanent ritual</a:t>
            </a:r>
            <a:endParaRPr lang="en-US" sz="1100" dirty="0"/>
          </a:p>
        </p:txBody>
      </p:sp>
      <p:sp>
        <p:nvSpPr>
          <p:cNvPr id="24" name="Shape 21"/>
          <p:cNvSpPr/>
          <p:nvPr/>
        </p:nvSpPr>
        <p:spPr>
          <a:xfrm>
            <a:off x="7406640" y="5897880"/>
            <a:ext cx="4325112" cy="365760"/>
          </a:xfrm>
          <a:prstGeom prst="rect">
            <a:avLst/>
          </a:prstGeom>
          <a:solidFill>
            <a:srgbClr val="1A55BC"/>
          </a:solidFill>
          <a:ln w="12700">
            <a:solidFill>
              <a:srgbClr val="1A55BC"/>
            </a:solidFill>
            <a:prstDash val="solid"/>
          </a:ln>
        </p:spPr>
        <p:txBody>
          <a:bodyPr/>
          <a:lstStyle/>
          <a:p>
            <a:endParaRPr lang="en-US"/>
          </a:p>
        </p:txBody>
      </p:sp>
      <p:sp>
        <p:nvSpPr>
          <p:cNvPr id="25" name="Text 22"/>
          <p:cNvSpPr/>
          <p:nvPr/>
        </p:nvSpPr>
        <p:spPr>
          <a:xfrm>
            <a:off x="7406640" y="5897880"/>
            <a:ext cx="4325112"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Steady state · compounding gains</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RISK MANAGEMENT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Top Risks &amp; How We Mitigate Each</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3657600" cy="45720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21792" y="1417320"/>
            <a:ext cx="3383280"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RISK</a:t>
            </a:r>
            <a:endParaRPr lang="en-US" sz="1100" dirty="0"/>
          </a:p>
        </p:txBody>
      </p:sp>
      <p:sp>
        <p:nvSpPr>
          <p:cNvPr id="9" name="Shape 6"/>
          <p:cNvSpPr/>
          <p:nvPr/>
        </p:nvSpPr>
        <p:spPr>
          <a:xfrm>
            <a:off x="4114800" y="1417320"/>
            <a:ext cx="1371600" cy="457200"/>
          </a:xfrm>
          <a:prstGeom prst="rect">
            <a:avLst/>
          </a:prstGeom>
          <a:solidFill>
            <a:srgbClr val="1E293B"/>
          </a:solidFill>
          <a:ln w="12700">
            <a:solidFill>
              <a:srgbClr val="1E293B"/>
            </a:solidFill>
            <a:prstDash val="solid"/>
          </a:ln>
        </p:spPr>
        <p:txBody>
          <a:bodyPr/>
          <a:lstStyle/>
          <a:p>
            <a:endParaRPr lang="en-US"/>
          </a:p>
        </p:txBody>
      </p:sp>
      <p:sp>
        <p:nvSpPr>
          <p:cNvPr id="10" name="Text 7"/>
          <p:cNvSpPr/>
          <p:nvPr/>
        </p:nvSpPr>
        <p:spPr>
          <a:xfrm>
            <a:off x="4279392" y="1417320"/>
            <a:ext cx="1097280"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LIKELIHOOD</a:t>
            </a:r>
            <a:endParaRPr lang="en-US" sz="1100" dirty="0"/>
          </a:p>
        </p:txBody>
      </p:sp>
      <p:sp>
        <p:nvSpPr>
          <p:cNvPr id="11" name="Shape 8"/>
          <p:cNvSpPr/>
          <p:nvPr/>
        </p:nvSpPr>
        <p:spPr>
          <a:xfrm>
            <a:off x="5486400" y="1417320"/>
            <a:ext cx="6248095" cy="457200"/>
          </a:xfrm>
          <a:prstGeom prst="rect">
            <a:avLst/>
          </a:prstGeom>
          <a:solidFill>
            <a:srgbClr val="1E293B"/>
          </a:solidFill>
          <a:ln w="12700">
            <a:solidFill>
              <a:srgbClr val="1E293B"/>
            </a:solidFill>
            <a:prstDash val="solid"/>
          </a:ln>
        </p:spPr>
        <p:txBody>
          <a:bodyPr/>
          <a:lstStyle/>
          <a:p>
            <a:endParaRPr lang="en-US"/>
          </a:p>
        </p:txBody>
      </p:sp>
      <p:sp>
        <p:nvSpPr>
          <p:cNvPr id="12" name="Text 9"/>
          <p:cNvSpPr/>
          <p:nvPr/>
        </p:nvSpPr>
        <p:spPr>
          <a:xfrm>
            <a:off x="5650992" y="1417320"/>
            <a:ext cx="5973775"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MITIGATION</a:t>
            </a:r>
            <a:endParaRPr lang="en-US" sz="1100" dirty="0"/>
          </a:p>
        </p:txBody>
      </p:sp>
      <p:sp>
        <p:nvSpPr>
          <p:cNvPr id="13" name="Shape 10"/>
          <p:cNvSpPr/>
          <p:nvPr/>
        </p:nvSpPr>
        <p:spPr>
          <a:xfrm>
            <a:off x="457200" y="1417320"/>
            <a:ext cx="11277295" cy="54864"/>
          </a:xfrm>
          <a:prstGeom prst="rect">
            <a:avLst/>
          </a:prstGeom>
          <a:solidFill>
            <a:srgbClr val="FEDF01"/>
          </a:solidFill>
          <a:ln w="12700">
            <a:solidFill>
              <a:srgbClr val="FEDF01"/>
            </a:solidFill>
            <a:prstDash val="solid"/>
          </a:ln>
        </p:spPr>
        <p:txBody>
          <a:bodyPr/>
          <a:lstStyle/>
          <a:p>
            <a:endParaRPr lang="en-US"/>
          </a:p>
        </p:txBody>
      </p:sp>
      <p:sp>
        <p:nvSpPr>
          <p:cNvPr id="14" name="Shape 11"/>
          <p:cNvSpPr/>
          <p:nvPr/>
        </p:nvSpPr>
        <p:spPr>
          <a:xfrm>
            <a:off x="457200" y="1874520"/>
            <a:ext cx="11277295" cy="502920"/>
          </a:xfrm>
          <a:prstGeom prst="rect">
            <a:avLst/>
          </a:prstGeom>
          <a:solidFill>
            <a:srgbClr val="F4F6F9"/>
          </a:solidFill>
          <a:ln w="6350">
            <a:solidFill>
              <a:srgbClr val="E2E8F0"/>
            </a:solidFill>
            <a:prstDash val="solid"/>
          </a:ln>
        </p:spPr>
        <p:txBody>
          <a:bodyPr/>
          <a:lstStyle/>
          <a:p>
            <a:endParaRPr lang="en-US"/>
          </a:p>
        </p:txBody>
      </p:sp>
      <p:sp>
        <p:nvSpPr>
          <p:cNvPr id="15" name="Text 12"/>
          <p:cNvSpPr/>
          <p:nvPr/>
        </p:nvSpPr>
        <p:spPr>
          <a:xfrm>
            <a:off x="621792" y="187452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J-curve dip in delivery during platform rollout</a:t>
            </a:r>
            <a:endParaRPr lang="en-US" sz="1100" dirty="0"/>
          </a:p>
        </p:txBody>
      </p:sp>
      <p:sp>
        <p:nvSpPr>
          <p:cNvPr id="16" name="Shape 13"/>
          <p:cNvSpPr/>
          <p:nvPr/>
        </p:nvSpPr>
        <p:spPr>
          <a:xfrm>
            <a:off x="4297680" y="1965960"/>
            <a:ext cx="1005840" cy="320040"/>
          </a:xfrm>
          <a:prstGeom prst="rect">
            <a:avLst/>
          </a:prstGeom>
          <a:solidFill>
            <a:srgbClr val="DC2626"/>
          </a:solidFill>
          <a:ln w="12700">
            <a:solidFill>
              <a:srgbClr val="DC2626"/>
            </a:solidFill>
            <a:prstDash val="solid"/>
          </a:ln>
        </p:spPr>
        <p:txBody>
          <a:bodyPr/>
          <a:lstStyle/>
          <a:p>
            <a:endParaRPr lang="en-US"/>
          </a:p>
        </p:txBody>
      </p:sp>
      <p:sp>
        <p:nvSpPr>
          <p:cNvPr id="17" name="Text 14"/>
          <p:cNvSpPr/>
          <p:nvPr/>
        </p:nvSpPr>
        <p:spPr>
          <a:xfrm>
            <a:off x="4297680" y="196596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18" name="Text 15"/>
          <p:cNvSpPr/>
          <p:nvPr/>
        </p:nvSpPr>
        <p:spPr>
          <a:xfrm>
            <a:off x="5650992" y="187452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Communicate explicitly to leadership · ring-fence pilots · publish recovery curves</a:t>
            </a:r>
            <a:endParaRPr lang="en-US" sz="1050" dirty="0"/>
          </a:p>
        </p:txBody>
      </p:sp>
      <p:sp>
        <p:nvSpPr>
          <p:cNvPr id="19" name="Shape 16"/>
          <p:cNvSpPr/>
          <p:nvPr/>
        </p:nvSpPr>
        <p:spPr>
          <a:xfrm>
            <a:off x="457200" y="2377440"/>
            <a:ext cx="11277295" cy="502920"/>
          </a:xfrm>
          <a:prstGeom prst="rect">
            <a:avLst/>
          </a:prstGeom>
          <a:solidFill>
            <a:srgbClr val="FFFFFF"/>
          </a:solidFill>
          <a:ln w="6350">
            <a:solidFill>
              <a:srgbClr val="E2E8F0"/>
            </a:solidFill>
            <a:prstDash val="solid"/>
          </a:ln>
        </p:spPr>
        <p:txBody>
          <a:bodyPr/>
          <a:lstStyle/>
          <a:p>
            <a:endParaRPr lang="en-US"/>
          </a:p>
        </p:txBody>
      </p:sp>
      <p:sp>
        <p:nvSpPr>
          <p:cNvPr id="20" name="Text 17"/>
          <p:cNvSpPr/>
          <p:nvPr/>
        </p:nvSpPr>
        <p:spPr>
          <a:xfrm>
            <a:off x="621792" y="237744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Cargo-culting Spotify (rename without changing decisions)</a:t>
            </a:r>
            <a:endParaRPr lang="en-US" sz="1100" dirty="0"/>
          </a:p>
        </p:txBody>
      </p:sp>
      <p:sp>
        <p:nvSpPr>
          <p:cNvPr id="21" name="Shape 18"/>
          <p:cNvSpPr/>
          <p:nvPr/>
        </p:nvSpPr>
        <p:spPr>
          <a:xfrm>
            <a:off x="4297680" y="2468880"/>
            <a:ext cx="1005840" cy="320040"/>
          </a:xfrm>
          <a:prstGeom prst="rect">
            <a:avLst/>
          </a:prstGeom>
          <a:solidFill>
            <a:srgbClr val="DC2626"/>
          </a:solidFill>
          <a:ln w="12700">
            <a:solidFill>
              <a:srgbClr val="DC2626"/>
            </a:solidFill>
            <a:prstDash val="solid"/>
          </a:ln>
        </p:spPr>
        <p:txBody>
          <a:bodyPr/>
          <a:lstStyle/>
          <a:p>
            <a:endParaRPr lang="en-US"/>
          </a:p>
        </p:txBody>
      </p:sp>
      <p:sp>
        <p:nvSpPr>
          <p:cNvPr id="22" name="Text 19"/>
          <p:cNvSpPr/>
          <p:nvPr/>
        </p:nvSpPr>
        <p:spPr>
          <a:xfrm>
            <a:off x="4297680" y="246888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23" name="Text 20"/>
          <p:cNvSpPr/>
          <p:nvPr/>
        </p:nvSpPr>
        <p:spPr>
          <a:xfrm>
            <a:off x="5650992" y="237744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Pair every name change with decision-rights change · single Engineering Lead per team</a:t>
            </a:r>
            <a:endParaRPr lang="en-US" sz="1050" dirty="0"/>
          </a:p>
        </p:txBody>
      </p:sp>
      <p:sp>
        <p:nvSpPr>
          <p:cNvPr id="24" name="Shape 21"/>
          <p:cNvSpPr/>
          <p:nvPr/>
        </p:nvSpPr>
        <p:spPr>
          <a:xfrm>
            <a:off x="457200" y="2880360"/>
            <a:ext cx="11277295" cy="502920"/>
          </a:xfrm>
          <a:prstGeom prst="rect">
            <a:avLst/>
          </a:prstGeom>
          <a:solidFill>
            <a:srgbClr val="F4F6F9"/>
          </a:solidFill>
          <a:ln w="6350">
            <a:solidFill>
              <a:srgbClr val="E2E8F0"/>
            </a:solidFill>
            <a:prstDash val="solid"/>
          </a:ln>
        </p:spPr>
        <p:txBody>
          <a:bodyPr/>
          <a:lstStyle/>
          <a:p>
            <a:endParaRPr lang="en-US"/>
          </a:p>
        </p:txBody>
      </p:sp>
      <p:sp>
        <p:nvSpPr>
          <p:cNvPr id="25" name="Text 22"/>
          <p:cNvSpPr/>
          <p:nvPr/>
        </p:nvSpPr>
        <p:spPr>
          <a:xfrm>
            <a:off x="621792" y="288036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Reverse Conway producing wrong architecture</a:t>
            </a:r>
            <a:endParaRPr lang="en-US" sz="1100" dirty="0"/>
          </a:p>
        </p:txBody>
      </p:sp>
      <p:sp>
        <p:nvSpPr>
          <p:cNvPr id="26" name="Shape 23"/>
          <p:cNvSpPr/>
          <p:nvPr/>
        </p:nvSpPr>
        <p:spPr>
          <a:xfrm>
            <a:off x="4297680" y="2971800"/>
            <a:ext cx="1005840" cy="320040"/>
          </a:xfrm>
          <a:prstGeom prst="rect">
            <a:avLst/>
          </a:prstGeom>
          <a:solidFill>
            <a:srgbClr val="F59E0B"/>
          </a:solidFill>
          <a:ln w="12700">
            <a:solidFill>
              <a:srgbClr val="F59E0B"/>
            </a:solidFill>
            <a:prstDash val="solid"/>
          </a:ln>
        </p:spPr>
        <p:txBody>
          <a:bodyPr/>
          <a:lstStyle/>
          <a:p>
            <a:endParaRPr lang="en-US"/>
          </a:p>
        </p:txBody>
      </p:sp>
      <p:sp>
        <p:nvSpPr>
          <p:cNvPr id="27" name="Text 24"/>
          <p:cNvSpPr/>
          <p:nvPr/>
        </p:nvSpPr>
        <p:spPr>
          <a:xfrm>
            <a:off x="4297680" y="297180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8" name="Text 25"/>
          <p:cNvSpPr/>
          <p:nvPr/>
        </p:nvSpPr>
        <p:spPr>
          <a:xfrm>
            <a:off x="5650992" y="288036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Draw target architecture FIRST, reorg to match (Inverse Conway Maneuver)</a:t>
            </a:r>
            <a:endParaRPr lang="en-US" sz="1050" dirty="0"/>
          </a:p>
        </p:txBody>
      </p:sp>
      <p:sp>
        <p:nvSpPr>
          <p:cNvPr id="29" name="Shape 26"/>
          <p:cNvSpPr/>
          <p:nvPr/>
        </p:nvSpPr>
        <p:spPr>
          <a:xfrm>
            <a:off x="457200" y="3383280"/>
            <a:ext cx="11277295" cy="502920"/>
          </a:xfrm>
          <a:prstGeom prst="rect">
            <a:avLst/>
          </a:prstGeom>
          <a:solidFill>
            <a:srgbClr val="FFFFFF"/>
          </a:solidFill>
          <a:ln w="6350">
            <a:solidFill>
              <a:srgbClr val="E2E8F0"/>
            </a:solidFill>
            <a:prstDash val="solid"/>
          </a:ln>
        </p:spPr>
        <p:txBody>
          <a:bodyPr/>
          <a:lstStyle/>
          <a:p>
            <a:endParaRPr lang="en-US"/>
          </a:p>
        </p:txBody>
      </p:sp>
      <p:sp>
        <p:nvSpPr>
          <p:cNvPr id="30" name="Text 27"/>
          <p:cNvSpPr/>
          <p:nvPr/>
        </p:nvSpPr>
        <p:spPr>
          <a:xfrm>
            <a:off x="621792" y="338328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Matrix burnout (engineers serving two masters)</a:t>
            </a:r>
            <a:endParaRPr lang="en-US" sz="1100" dirty="0"/>
          </a:p>
        </p:txBody>
      </p:sp>
      <p:sp>
        <p:nvSpPr>
          <p:cNvPr id="31" name="Shape 28"/>
          <p:cNvSpPr/>
          <p:nvPr/>
        </p:nvSpPr>
        <p:spPr>
          <a:xfrm>
            <a:off x="4297680" y="3474720"/>
            <a:ext cx="1005840" cy="320040"/>
          </a:xfrm>
          <a:prstGeom prst="rect">
            <a:avLst/>
          </a:prstGeom>
          <a:solidFill>
            <a:srgbClr val="F59E0B"/>
          </a:solidFill>
          <a:ln w="12700">
            <a:solidFill>
              <a:srgbClr val="F59E0B"/>
            </a:solidFill>
            <a:prstDash val="solid"/>
          </a:ln>
        </p:spPr>
        <p:txBody>
          <a:bodyPr/>
          <a:lstStyle/>
          <a:p>
            <a:endParaRPr lang="en-US"/>
          </a:p>
        </p:txBody>
      </p:sp>
      <p:sp>
        <p:nvSpPr>
          <p:cNvPr id="32" name="Text 29"/>
          <p:cNvSpPr/>
          <p:nvPr/>
        </p:nvSpPr>
        <p:spPr>
          <a:xfrm>
            <a:off x="4297680" y="347472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3" name="Text 30"/>
          <p:cNvSpPr/>
          <p:nvPr/>
        </p:nvSpPr>
        <p:spPr>
          <a:xfrm>
            <a:off x="5650992" y="338328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Single solid-line Engineering Lead · Guilds influence-based, not authority-based</a:t>
            </a:r>
            <a:endParaRPr lang="en-US" sz="1050" dirty="0"/>
          </a:p>
        </p:txBody>
      </p:sp>
      <p:sp>
        <p:nvSpPr>
          <p:cNvPr id="34" name="Shape 31"/>
          <p:cNvSpPr/>
          <p:nvPr/>
        </p:nvSpPr>
        <p:spPr>
          <a:xfrm>
            <a:off x="457200" y="3886200"/>
            <a:ext cx="11277295" cy="502920"/>
          </a:xfrm>
          <a:prstGeom prst="rect">
            <a:avLst/>
          </a:prstGeom>
          <a:solidFill>
            <a:srgbClr val="F4F6F9"/>
          </a:solidFill>
          <a:ln w="6350">
            <a:solidFill>
              <a:srgbClr val="E2E8F0"/>
            </a:solidFill>
            <a:prstDash val="solid"/>
          </a:ln>
        </p:spPr>
        <p:txBody>
          <a:bodyPr/>
          <a:lstStyle/>
          <a:p>
            <a:endParaRPr lang="en-US"/>
          </a:p>
        </p:txBody>
      </p:sp>
      <p:sp>
        <p:nvSpPr>
          <p:cNvPr id="35" name="Text 32"/>
          <p:cNvSpPr/>
          <p:nvPr/>
        </p:nvSpPr>
        <p:spPr>
          <a:xfrm>
            <a:off x="621792" y="388620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Loss of functional depth in Architecture / AI</a:t>
            </a:r>
            <a:endParaRPr lang="en-US" sz="1100" dirty="0"/>
          </a:p>
        </p:txBody>
      </p:sp>
      <p:sp>
        <p:nvSpPr>
          <p:cNvPr id="36" name="Shape 33"/>
          <p:cNvSpPr/>
          <p:nvPr/>
        </p:nvSpPr>
        <p:spPr>
          <a:xfrm>
            <a:off x="4297680" y="3977640"/>
            <a:ext cx="1005840" cy="320040"/>
          </a:xfrm>
          <a:prstGeom prst="rect">
            <a:avLst/>
          </a:prstGeom>
          <a:solidFill>
            <a:srgbClr val="F59E0B"/>
          </a:solidFill>
          <a:ln w="12700">
            <a:solidFill>
              <a:srgbClr val="F59E0B"/>
            </a:solidFill>
            <a:prstDash val="solid"/>
          </a:ln>
        </p:spPr>
        <p:txBody>
          <a:bodyPr/>
          <a:lstStyle/>
          <a:p>
            <a:endParaRPr lang="en-US"/>
          </a:p>
        </p:txBody>
      </p:sp>
      <p:sp>
        <p:nvSpPr>
          <p:cNvPr id="37" name="Text 34"/>
          <p:cNvSpPr/>
          <p:nvPr/>
        </p:nvSpPr>
        <p:spPr>
          <a:xfrm>
            <a:off x="4297680" y="397764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8" name="Text 35"/>
          <p:cNvSpPr/>
          <p:nvPr/>
        </p:nvSpPr>
        <p:spPr>
          <a:xfrm>
            <a:off x="5650992" y="388620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Strong Guilds + senior IC ladder + protected guild time (~10%)</a:t>
            </a:r>
            <a:endParaRPr lang="en-US" sz="1050" dirty="0"/>
          </a:p>
        </p:txBody>
      </p:sp>
      <p:sp>
        <p:nvSpPr>
          <p:cNvPr id="39" name="Shape 36"/>
          <p:cNvSpPr/>
          <p:nvPr/>
        </p:nvSpPr>
        <p:spPr>
          <a:xfrm>
            <a:off x="457200" y="4389120"/>
            <a:ext cx="11277295" cy="502920"/>
          </a:xfrm>
          <a:prstGeom prst="rect">
            <a:avLst/>
          </a:prstGeom>
          <a:solidFill>
            <a:srgbClr val="FFFFFF"/>
          </a:solidFill>
          <a:ln w="6350">
            <a:solidFill>
              <a:srgbClr val="E2E8F0"/>
            </a:solidFill>
            <a:prstDash val="solid"/>
          </a:ln>
        </p:spPr>
        <p:txBody>
          <a:bodyPr/>
          <a:lstStyle/>
          <a:p>
            <a:endParaRPr lang="en-US"/>
          </a:p>
        </p:txBody>
      </p:sp>
      <p:sp>
        <p:nvSpPr>
          <p:cNvPr id="40" name="Text 37"/>
          <p:cNvSpPr/>
          <p:nvPr/>
        </p:nvSpPr>
        <p:spPr>
          <a:xfrm>
            <a:off x="621792" y="438912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Regulatory / assurance gaps during reorg</a:t>
            </a:r>
            <a:endParaRPr lang="en-US" sz="1100" dirty="0"/>
          </a:p>
        </p:txBody>
      </p:sp>
      <p:sp>
        <p:nvSpPr>
          <p:cNvPr id="41" name="Shape 38"/>
          <p:cNvSpPr/>
          <p:nvPr/>
        </p:nvSpPr>
        <p:spPr>
          <a:xfrm>
            <a:off x="4297680" y="4480560"/>
            <a:ext cx="1005840" cy="320040"/>
          </a:xfrm>
          <a:prstGeom prst="rect">
            <a:avLst/>
          </a:prstGeom>
          <a:solidFill>
            <a:srgbClr val="DC2626"/>
          </a:solidFill>
          <a:ln w="12700">
            <a:solidFill>
              <a:srgbClr val="DC2626"/>
            </a:solidFill>
            <a:prstDash val="solid"/>
          </a:ln>
        </p:spPr>
        <p:txBody>
          <a:bodyPr/>
          <a:lstStyle/>
          <a:p>
            <a:endParaRPr lang="en-US"/>
          </a:p>
        </p:txBody>
      </p:sp>
      <p:sp>
        <p:nvSpPr>
          <p:cNvPr id="42" name="Text 39"/>
          <p:cNvSpPr/>
          <p:nvPr/>
        </p:nvSpPr>
        <p:spPr>
          <a:xfrm>
            <a:off x="4297680" y="448056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43" name="Text 40"/>
          <p:cNvSpPr/>
          <p:nvPr/>
        </p:nvSpPr>
        <p:spPr>
          <a:xfrm>
            <a:off x="5650992" y="438912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Make Assurance-as-Code platform a Wave-1 priority · keep current attestations live</a:t>
            </a:r>
            <a:endParaRPr lang="en-US" sz="1050" dirty="0"/>
          </a:p>
        </p:txBody>
      </p:sp>
      <p:sp>
        <p:nvSpPr>
          <p:cNvPr id="44" name="Shape 41"/>
          <p:cNvSpPr/>
          <p:nvPr/>
        </p:nvSpPr>
        <p:spPr>
          <a:xfrm>
            <a:off x="457200" y="4892040"/>
            <a:ext cx="11277295" cy="502920"/>
          </a:xfrm>
          <a:prstGeom prst="rect">
            <a:avLst/>
          </a:prstGeom>
          <a:solidFill>
            <a:srgbClr val="F4F6F9"/>
          </a:solidFill>
          <a:ln w="6350">
            <a:solidFill>
              <a:srgbClr val="E2E8F0"/>
            </a:solidFill>
            <a:prstDash val="solid"/>
          </a:ln>
        </p:spPr>
        <p:txBody>
          <a:bodyPr/>
          <a:lstStyle/>
          <a:p>
            <a:endParaRPr lang="en-US"/>
          </a:p>
        </p:txBody>
      </p:sp>
      <p:sp>
        <p:nvSpPr>
          <p:cNvPr id="45" name="Text 42"/>
          <p:cNvSpPr/>
          <p:nvPr/>
        </p:nvSpPr>
        <p:spPr>
          <a:xfrm>
            <a:off x="621792" y="489204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Operating-model leakage (gains don't materialize)</a:t>
            </a:r>
            <a:endParaRPr lang="en-US" sz="1100" dirty="0"/>
          </a:p>
        </p:txBody>
      </p:sp>
      <p:sp>
        <p:nvSpPr>
          <p:cNvPr id="46" name="Shape 43"/>
          <p:cNvSpPr/>
          <p:nvPr/>
        </p:nvSpPr>
        <p:spPr>
          <a:xfrm>
            <a:off x="4297680" y="4983480"/>
            <a:ext cx="1005840" cy="320040"/>
          </a:xfrm>
          <a:prstGeom prst="rect">
            <a:avLst/>
          </a:prstGeom>
          <a:solidFill>
            <a:srgbClr val="F59E0B"/>
          </a:solidFill>
          <a:ln w="12700">
            <a:solidFill>
              <a:srgbClr val="F59E0B"/>
            </a:solidFill>
            <a:prstDash val="solid"/>
          </a:ln>
        </p:spPr>
        <p:txBody>
          <a:bodyPr/>
          <a:lstStyle/>
          <a:p>
            <a:endParaRPr lang="en-US"/>
          </a:p>
        </p:txBody>
      </p:sp>
      <p:sp>
        <p:nvSpPr>
          <p:cNvPr id="47" name="Text 44"/>
          <p:cNvSpPr/>
          <p:nvPr/>
        </p:nvSpPr>
        <p:spPr>
          <a:xfrm>
            <a:off x="4297680" y="498348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48" name="Text 45"/>
          <p:cNvSpPr/>
          <p:nvPr/>
        </p:nvSpPr>
        <p:spPr>
          <a:xfrm>
            <a:off x="5650992" y="489204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Track FTE redirection · tie OKRs to business outcomes · cost-to-serve metric</a:t>
            </a:r>
            <a:endParaRPr lang="en-US" sz="1050" dirty="0"/>
          </a:p>
        </p:txBody>
      </p:sp>
      <p:sp>
        <p:nvSpPr>
          <p:cNvPr id="49" name="Shape 46"/>
          <p:cNvSpPr/>
          <p:nvPr/>
        </p:nvSpPr>
        <p:spPr>
          <a:xfrm>
            <a:off x="457200" y="5394960"/>
            <a:ext cx="11277295" cy="502920"/>
          </a:xfrm>
          <a:prstGeom prst="rect">
            <a:avLst/>
          </a:prstGeom>
          <a:solidFill>
            <a:srgbClr val="FFFFFF"/>
          </a:solidFill>
          <a:ln w="6350">
            <a:solidFill>
              <a:srgbClr val="E2E8F0"/>
            </a:solidFill>
            <a:prstDash val="solid"/>
          </a:ln>
        </p:spPr>
        <p:txBody>
          <a:bodyPr/>
          <a:lstStyle/>
          <a:p>
            <a:endParaRPr lang="en-US"/>
          </a:p>
        </p:txBody>
      </p:sp>
      <p:sp>
        <p:nvSpPr>
          <p:cNvPr id="50" name="Text 47"/>
          <p:cNvSpPr/>
          <p:nvPr/>
        </p:nvSpPr>
        <p:spPr>
          <a:xfrm>
            <a:off x="621792" y="539496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Autonomy without alignment (decisions drift)</a:t>
            </a:r>
            <a:endParaRPr lang="en-US" sz="1100" dirty="0"/>
          </a:p>
        </p:txBody>
      </p:sp>
      <p:sp>
        <p:nvSpPr>
          <p:cNvPr id="51" name="Shape 48"/>
          <p:cNvSpPr/>
          <p:nvPr/>
        </p:nvSpPr>
        <p:spPr>
          <a:xfrm>
            <a:off x="4297680" y="5486400"/>
            <a:ext cx="1005840" cy="320040"/>
          </a:xfrm>
          <a:prstGeom prst="rect">
            <a:avLst/>
          </a:prstGeom>
          <a:solidFill>
            <a:srgbClr val="DC2626"/>
          </a:solidFill>
          <a:ln w="12700">
            <a:solidFill>
              <a:srgbClr val="DC2626"/>
            </a:solidFill>
            <a:prstDash val="solid"/>
          </a:ln>
        </p:spPr>
        <p:txBody>
          <a:bodyPr/>
          <a:lstStyle/>
          <a:p>
            <a:endParaRPr lang="en-US"/>
          </a:p>
        </p:txBody>
      </p:sp>
      <p:sp>
        <p:nvSpPr>
          <p:cNvPr id="52" name="Text 49"/>
          <p:cNvSpPr/>
          <p:nvPr/>
        </p:nvSpPr>
        <p:spPr>
          <a:xfrm>
            <a:off x="4297680" y="548640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53" name="Text 50"/>
          <p:cNvSpPr/>
          <p:nvPr/>
        </p:nvSpPr>
        <p:spPr>
          <a:xfrm>
            <a:off x="5650992" y="539496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Quarterly Business Reviews · explicit OKR cascade · transparent dependency board</a:t>
            </a:r>
            <a:endParaRPr lang="en-US" sz="1050" dirty="0"/>
          </a:p>
        </p:txBody>
      </p:sp>
      <p:sp>
        <p:nvSpPr>
          <p:cNvPr id="54" name="Shape 51"/>
          <p:cNvSpPr/>
          <p:nvPr/>
        </p:nvSpPr>
        <p:spPr>
          <a:xfrm>
            <a:off x="457200" y="6080760"/>
            <a:ext cx="11277295" cy="457200"/>
          </a:xfrm>
          <a:prstGeom prst="rect">
            <a:avLst/>
          </a:prstGeom>
          <a:solidFill>
            <a:srgbClr val="001F5C"/>
          </a:solidFill>
          <a:ln w="12700">
            <a:solidFill>
              <a:srgbClr val="001F5C"/>
            </a:solidFill>
            <a:prstDash val="solid"/>
          </a:ln>
        </p:spPr>
        <p:txBody>
          <a:bodyPr/>
          <a:lstStyle/>
          <a:p>
            <a:endParaRPr lang="en-US"/>
          </a:p>
        </p:txBody>
      </p:sp>
      <p:pic>
        <p:nvPicPr>
          <p:cNvPr id="55" name="Image 1" descr="preencoded.png"/>
          <p:cNvPicPr>
            <a:picLocks noChangeAspect="1"/>
          </p:cNvPicPr>
          <p:nvPr/>
        </p:nvPicPr>
        <p:blipFill>
          <a:blip r:embed="rId4"/>
          <a:stretch>
            <a:fillRect/>
          </a:stretch>
        </p:blipFill>
        <p:spPr>
          <a:xfrm>
            <a:off x="640080" y="6199632"/>
            <a:ext cx="219456" cy="219456"/>
          </a:xfrm>
          <a:prstGeom prst="rect">
            <a:avLst/>
          </a:prstGeom>
        </p:spPr>
      </p:pic>
      <p:sp>
        <p:nvSpPr>
          <p:cNvPr id="56" name="Text 52"/>
          <p:cNvSpPr/>
          <p:nvPr/>
        </p:nvSpPr>
        <p:spPr>
          <a:xfrm>
            <a:off x="914400" y="6080760"/>
            <a:ext cx="10820095" cy="457200"/>
          </a:xfrm>
          <a:prstGeom prst="rect">
            <a:avLst/>
          </a:prstGeom>
          <a:noFill/>
          <a:ln/>
        </p:spPr>
        <p:txBody>
          <a:bodyPr wrap="square" lIns="0" tIns="0" rIns="0" bIns="0" rtlCol="0" anchor="ctr"/>
          <a:lstStyle/>
          <a:p>
            <a:pPr marL="0" indent="0">
              <a:buNone/>
            </a:pPr>
            <a:r>
              <a:rPr lang="en-US" sz="1100" b="1" i="1" dirty="0">
                <a:solidFill>
                  <a:srgbClr val="FFFFFF"/>
                </a:solidFill>
                <a:latin typeface="Calibri" pitchFamily="34" charset="0"/>
                <a:ea typeface="Calibri" pitchFamily="34" charset="-122"/>
                <a:cs typeface="Calibri" pitchFamily="34" charset="-120"/>
              </a:rPr>
              <a:t>McKinsey: only 24% of operating-model transformations are highly successful — winners change structure, funding, technical practices, and metrics SIMULTANEOUSLY.</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HOW WE MEASURE SUCCESS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Leading &amp; Lagging Indicators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57200" y="1417320"/>
            <a:ext cx="5532120" cy="50292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457200" y="1417320"/>
            <a:ext cx="553212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640080" y="1536192"/>
            <a:ext cx="5166360" cy="365760"/>
          </a:xfrm>
          <a:prstGeom prst="rect">
            <a:avLst/>
          </a:prstGeom>
          <a:noFill/>
          <a:ln/>
        </p:spPr>
        <p:txBody>
          <a:bodyPr wrap="square" lIns="0" tIns="0" rIns="0" bIns="0"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LEADING INDICATORS</a:t>
            </a:r>
            <a:endParaRPr lang="en-US" sz="1400" dirty="0"/>
          </a:p>
        </p:txBody>
      </p:sp>
      <p:sp>
        <p:nvSpPr>
          <p:cNvPr id="11" name="Shape 8"/>
          <p:cNvSpPr/>
          <p:nvPr/>
        </p:nvSpPr>
        <p:spPr>
          <a:xfrm>
            <a:off x="640080" y="2103120"/>
            <a:ext cx="5166360" cy="502920"/>
          </a:xfrm>
          <a:prstGeom prst="rect">
            <a:avLst/>
          </a:prstGeom>
          <a:solidFill>
            <a:srgbClr val="F4F6F9"/>
          </a:solidFill>
          <a:ln w="6350">
            <a:solidFill>
              <a:srgbClr val="E2E8F0"/>
            </a:solidFill>
            <a:prstDash val="solid"/>
          </a:ln>
        </p:spPr>
        <p:txBody>
          <a:bodyPr/>
          <a:lstStyle/>
          <a:p>
            <a:endParaRPr lang="en-US"/>
          </a:p>
        </p:txBody>
      </p:sp>
      <p:sp>
        <p:nvSpPr>
          <p:cNvPr id="12" name="Text 9"/>
          <p:cNvSpPr/>
          <p:nvPr/>
        </p:nvSpPr>
        <p:spPr>
          <a:xfrm>
            <a:off x="777240" y="210312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Platform adoption %</a:t>
            </a:r>
            <a:endParaRPr lang="en-US" sz="1100" dirty="0"/>
          </a:p>
        </p:txBody>
      </p:sp>
      <p:sp>
        <p:nvSpPr>
          <p:cNvPr id="13" name="Text 10"/>
          <p:cNvSpPr/>
          <p:nvPr/>
        </p:nvSpPr>
        <p:spPr>
          <a:xfrm>
            <a:off x="3017520" y="210312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Active teams using each Tier-2 platform</a:t>
            </a:r>
            <a:endParaRPr lang="en-US" sz="1050" dirty="0"/>
          </a:p>
        </p:txBody>
      </p:sp>
      <p:sp>
        <p:nvSpPr>
          <p:cNvPr id="14" name="Shape 11"/>
          <p:cNvSpPr/>
          <p:nvPr/>
        </p:nvSpPr>
        <p:spPr>
          <a:xfrm>
            <a:off x="640080" y="2651760"/>
            <a:ext cx="5166360" cy="502920"/>
          </a:xfrm>
          <a:prstGeom prst="rect">
            <a:avLst/>
          </a:prstGeom>
          <a:solidFill>
            <a:srgbClr val="FFFFFF"/>
          </a:solidFill>
          <a:ln w="6350">
            <a:solidFill>
              <a:srgbClr val="E2E8F0"/>
            </a:solidFill>
            <a:prstDash val="solid"/>
          </a:ln>
        </p:spPr>
        <p:txBody>
          <a:bodyPr/>
          <a:lstStyle/>
          <a:p>
            <a:endParaRPr lang="en-US"/>
          </a:p>
        </p:txBody>
      </p:sp>
      <p:sp>
        <p:nvSpPr>
          <p:cNvPr id="15" name="Text 12"/>
          <p:cNvSpPr/>
          <p:nvPr/>
        </p:nvSpPr>
        <p:spPr>
          <a:xfrm>
            <a:off x="777240" y="265176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DevEx NPS</a:t>
            </a:r>
            <a:endParaRPr lang="en-US" sz="1100" dirty="0"/>
          </a:p>
        </p:txBody>
      </p:sp>
      <p:sp>
        <p:nvSpPr>
          <p:cNvPr id="16" name="Text 13"/>
          <p:cNvSpPr/>
          <p:nvPr/>
        </p:nvSpPr>
        <p:spPr>
          <a:xfrm>
            <a:off x="3017520" y="265176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Developer satisfaction (SPACE / DX Core 4)</a:t>
            </a:r>
            <a:endParaRPr lang="en-US" sz="1050" dirty="0"/>
          </a:p>
        </p:txBody>
      </p:sp>
      <p:sp>
        <p:nvSpPr>
          <p:cNvPr id="17" name="Shape 14"/>
          <p:cNvSpPr/>
          <p:nvPr/>
        </p:nvSpPr>
        <p:spPr>
          <a:xfrm>
            <a:off x="640080" y="3200400"/>
            <a:ext cx="5166360" cy="502920"/>
          </a:xfrm>
          <a:prstGeom prst="rect">
            <a:avLst/>
          </a:prstGeom>
          <a:solidFill>
            <a:srgbClr val="F4F6F9"/>
          </a:solidFill>
          <a:ln w="6350">
            <a:solidFill>
              <a:srgbClr val="E2E8F0"/>
            </a:solidFill>
            <a:prstDash val="solid"/>
          </a:ln>
        </p:spPr>
        <p:txBody>
          <a:bodyPr/>
          <a:lstStyle/>
          <a:p>
            <a:endParaRPr lang="en-US"/>
          </a:p>
        </p:txBody>
      </p:sp>
      <p:sp>
        <p:nvSpPr>
          <p:cNvPr id="18" name="Text 15"/>
          <p:cNvSpPr/>
          <p:nvPr/>
        </p:nvSpPr>
        <p:spPr>
          <a:xfrm>
            <a:off x="777240" y="320040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Team Topologies fit %</a:t>
            </a:r>
            <a:endParaRPr lang="en-US" sz="1100" dirty="0"/>
          </a:p>
        </p:txBody>
      </p:sp>
      <p:sp>
        <p:nvSpPr>
          <p:cNvPr id="19" name="Text 16"/>
          <p:cNvSpPr/>
          <p:nvPr/>
        </p:nvSpPr>
        <p:spPr>
          <a:xfrm>
            <a:off x="3017520" y="320040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Teams cleanly classifiable by type</a:t>
            </a:r>
            <a:endParaRPr lang="en-US" sz="1050" dirty="0"/>
          </a:p>
        </p:txBody>
      </p:sp>
      <p:sp>
        <p:nvSpPr>
          <p:cNvPr id="20" name="Shape 17"/>
          <p:cNvSpPr/>
          <p:nvPr/>
        </p:nvSpPr>
        <p:spPr>
          <a:xfrm>
            <a:off x="640080" y="3749040"/>
            <a:ext cx="5166360" cy="502920"/>
          </a:xfrm>
          <a:prstGeom prst="rect">
            <a:avLst/>
          </a:prstGeom>
          <a:solidFill>
            <a:srgbClr val="FFFFFF"/>
          </a:solidFill>
          <a:ln w="6350">
            <a:solidFill>
              <a:srgbClr val="E2E8F0"/>
            </a:solidFill>
            <a:prstDash val="solid"/>
          </a:ln>
        </p:spPr>
        <p:txBody>
          <a:bodyPr/>
          <a:lstStyle/>
          <a:p>
            <a:endParaRPr lang="en-US"/>
          </a:p>
        </p:txBody>
      </p:sp>
      <p:sp>
        <p:nvSpPr>
          <p:cNvPr id="21" name="Text 18"/>
          <p:cNvSpPr/>
          <p:nvPr/>
        </p:nvSpPr>
        <p:spPr>
          <a:xfrm>
            <a:off x="777240" y="374904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Inner-loop / outer-loop %</a:t>
            </a:r>
            <a:endParaRPr lang="en-US" sz="1100" dirty="0"/>
          </a:p>
        </p:txBody>
      </p:sp>
      <p:sp>
        <p:nvSpPr>
          <p:cNvPr id="22" name="Text 19"/>
          <p:cNvSpPr/>
          <p:nvPr/>
        </p:nvSpPr>
        <p:spPr>
          <a:xfrm>
            <a:off x="3017520" y="374904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Time on coding vs. coordination</a:t>
            </a:r>
            <a:endParaRPr lang="en-US" sz="1050" dirty="0"/>
          </a:p>
        </p:txBody>
      </p:sp>
      <p:sp>
        <p:nvSpPr>
          <p:cNvPr id="23" name="Shape 20"/>
          <p:cNvSpPr/>
          <p:nvPr/>
        </p:nvSpPr>
        <p:spPr>
          <a:xfrm>
            <a:off x="640080" y="4297680"/>
            <a:ext cx="5166360" cy="502920"/>
          </a:xfrm>
          <a:prstGeom prst="rect">
            <a:avLst/>
          </a:prstGeom>
          <a:solidFill>
            <a:srgbClr val="F4F6F9"/>
          </a:solidFill>
          <a:ln w="6350">
            <a:solidFill>
              <a:srgbClr val="E2E8F0"/>
            </a:solidFill>
            <a:prstDash val="solid"/>
          </a:ln>
        </p:spPr>
        <p:txBody>
          <a:bodyPr/>
          <a:lstStyle/>
          <a:p>
            <a:endParaRPr lang="en-US"/>
          </a:p>
        </p:txBody>
      </p:sp>
      <p:sp>
        <p:nvSpPr>
          <p:cNvPr id="24" name="Text 21"/>
          <p:cNvSpPr/>
          <p:nvPr/>
        </p:nvSpPr>
        <p:spPr>
          <a:xfrm>
            <a:off x="777240" y="429768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ADR throughput</a:t>
            </a:r>
            <a:endParaRPr lang="en-US" sz="1100" dirty="0"/>
          </a:p>
        </p:txBody>
      </p:sp>
      <p:sp>
        <p:nvSpPr>
          <p:cNvPr id="25" name="Text 22"/>
          <p:cNvSpPr/>
          <p:nvPr/>
        </p:nvSpPr>
        <p:spPr>
          <a:xfrm>
            <a:off x="3017520" y="429768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Architecture Guild output cadence</a:t>
            </a:r>
            <a:endParaRPr lang="en-US" sz="1050" dirty="0"/>
          </a:p>
        </p:txBody>
      </p:sp>
      <p:sp>
        <p:nvSpPr>
          <p:cNvPr id="26" name="Shape 23"/>
          <p:cNvSpPr/>
          <p:nvPr/>
        </p:nvSpPr>
        <p:spPr>
          <a:xfrm>
            <a:off x="640080" y="4846320"/>
            <a:ext cx="5166360" cy="502920"/>
          </a:xfrm>
          <a:prstGeom prst="rect">
            <a:avLst/>
          </a:prstGeom>
          <a:solidFill>
            <a:srgbClr val="FFFFFF"/>
          </a:solidFill>
          <a:ln w="6350">
            <a:solidFill>
              <a:srgbClr val="E2E8F0"/>
            </a:solidFill>
            <a:prstDash val="solid"/>
          </a:ln>
        </p:spPr>
        <p:txBody>
          <a:bodyPr/>
          <a:lstStyle/>
          <a:p>
            <a:endParaRPr lang="en-US"/>
          </a:p>
        </p:txBody>
      </p:sp>
      <p:sp>
        <p:nvSpPr>
          <p:cNvPr id="27" name="Text 24"/>
          <p:cNvSpPr/>
          <p:nvPr/>
        </p:nvSpPr>
        <p:spPr>
          <a:xfrm>
            <a:off x="777240" y="484632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Reference-arch reuse</a:t>
            </a:r>
            <a:endParaRPr lang="en-US" sz="1100" dirty="0"/>
          </a:p>
        </p:txBody>
      </p:sp>
      <p:sp>
        <p:nvSpPr>
          <p:cNvPr id="28" name="Text 25"/>
          <p:cNvSpPr/>
          <p:nvPr/>
        </p:nvSpPr>
        <p:spPr>
          <a:xfrm>
            <a:off x="3017520" y="484632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Adoption of golden-path patterns</a:t>
            </a:r>
            <a:endParaRPr lang="en-US" sz="1050" dirty="0"/>
          </a:p>
        </p:txBody>
      </p:sp>
      <p:sp>
        <p:nvSpPr>
          <p:cNvPr id="29" name="Shape 26"/>
          <p:cNvSpPr/>
          <p:nvPr/>
        </p:nvSpPr>
        <p:spPr>
          <a:xfrm>
            <a:off x="640080" y="5394960"/>
            <a:ext cx="5166360" cy="502920"/>
          </a:xfrm>
          <a:prstGeom prst="rect">
            <a:avLst/>
          </a:prstGeom>
          <a:solidFill>
            <a:srgbClr val="F4F6F9"/>
          </a:solidFill>
          <a:ln w="6350">
            <a:solidFill>
              <a:srgbClr val="E2E8F0"/>
            </a:solidFill>
            <a:prstDash val="solid"/>
          </a:ln>
        </p:spPr>
        <p:txBody>
          <a:bodyPr/>
          <a:lstStyle/>
          <a:p>
            <a:endParaRPr lang="en-US"/>
          </a:p>
        </p:txBody>
      </p:sp>
      <p:sp>
        <p:nvSpPr>
          <p:cNvPr id="30" name="Text 27"/>
          <p:cNvSpPr/>
          <p:nvPr/>
        </p:nvSpPr>
        <p:spPr>
          <a:xfrm>
            <a:off x="777240" y="539496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Guild participation</a:t>
            </a:r>
            <a:endParaRPr lang="en-US" sz="1100" dirty="0"/>
          </a:p>
        </p:txBody>
      </p:sp>
      <p:sp>
        <p:nvSpPr>
          <p:cNvPr id="31" name="Text 28"/>
          <p:cNvSpPr/>
          <p:nvPr/>
        </p:nvSpPr>
        <p:spPr>
          <a:xfrm>
            <a:off x="3017520" y="539496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engineers active in 1+ Guild</a:t>
            </a:r>
            <a:endParaRPr lang="en-US" sz="1050" dirty="0"/>
          </a:p>
        </p:txBody>
      </p:sp>
      <p:sp>
        <p:nvSpPr>
          <p:cNvPr id="32" name="Shape 29"/>
          <p:cNvSpPr/>
          <p:nvPr/>
        </p:nvSpPr>
        <p:spPr>
          <a:xfrm>
            <a:off x="6199632" y="141732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3" name="Shape 30"/>
          <p:cNvSpPr/>
          <p:nvPr/>
        </p:nvSpPr>
        <p:spPr>
          <a:xfrm>
            <a:off x="6199632" y="1417320"/>
            <a:ext cx="5532120" cy="502920"/>
          </a:xfrm>
          <a:prstGeom prst="rect">
            <a:avLst/>
          </a:prstGeom>
          <a:solidFill>
            <a:srgbClr val="002B7F"/>
          </a:solidFill>
          <a:ln w="12700">
            <a:solidFill>
              <a:srgbClr val="002B7F"/>
            </a:solidFill>
            <a:prstDash val="solid"/>
          </a:ln>
        </p:spPr>
        <p:txBody>
          <a:bodyPr/>
          <a:lstStyle/>
          <a:p>
            <a:endParaRPr lang="en-US"/>
          </a:p>
        </p:txBody>
      </p:sp>
      <p:sp>
        <p:nvSpPr>
          <p:cNvPr id="34" name="Shape 31"/>
          <p:cNvSpPr/>
          <p:nvPr/>
        </p:nvSpPr>
        <p:spPr>
          <a:xfrm>
            <a:off x="6199632" y="1417320"/>
            <a:ext cx="5532120" cy="73152"/>
          </a:xfrm>
          <a:prstGeom prst="rect">
            <a:avLst/>
          </a:prstGeom>
          <a:solidFill>
            <a:srgbClr val="FEDF01"/>
          </a:solidFill>
          <a:ln w="12700">
            <a:solidFill>
              <a:srgbClr val="FEDF01"/>
            </a:solidFill>
            <a:prstDash val="solid"/>
          </a:ln>
        </p:spPr>
        <p:txBody>
          <a:bodyPr/>
          <a:lstStyle/>
          <a:p>
            <a:endParaRPr lang="en-US"/>
          </a:p>
        </p:txBody>
      </p:sp>
      <p:sp>
        <p:nvSpPr>
          <p:cNvPr id="35" name="Text 32"/>
          <p:cNvSpPr/>
          <p:nvPr/>
        </p:nvSpPr>
        <p:spPr>
          <a:xfrm>
            <a:off x="6382512" y="1536192"/>
            <a:ext cx="5166360" cy="365760"/>
          </a:xfrm>
          <a:prstGeom prst="rect">
            <a:avLst/>
          </a:prstGeom>
          <a:noFill/>
          <a:ln/>
        </p:spPr>
        <p:txBody>
          <a:bodyPr wrap="square" lIns="0" tIns="0" rIns="0" bIns="0"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LAGGING INDICATORS</a:t>
            </a:r>
            <a:endParaRPr lang="en-US" sz="1400" dirty="0"/>
          </a:p>
        </p:txBody>
      </p:sp>
      <p:sp>
        <p:nvSpPr>
          <p:cNvPr id="36" name="Shape 33"/>
          <p:cNvSpPr/>
          <p:nvPr/>
        </p:nvSpPr>
        <p:spPr>
          <a:xfrm>
            <a:off x="6382512" y="2103120"/>
            <a:ext cx="5166360" cy="502920"/>
          </a:xfrm>
          <a:prstGeom prst="rect">
            <a:avLst/>
          </a:prstGeom>
          <a:solidFill>
            <a:srgbClr val="F4F6F9"/>
          </a:solidFill>
          <a:ln w="6350">
            <a:solidFill>
              <a:srgbClr val="E2E8F0"/>
            </a:solidFill>
            <a:prstDash val="solid"/>
          </a:ln>
        </p:spPr>
        <p:txBody>
          <a:bodyPr/>
          <a:lstStyle/>
          <a:p>
            <a:endParaRPr lang="en-US"/>
          </a:p>
        </p:txBody>
      </p:sp>
      <p:sp>
        <p:nvSpPr>
          <p:cNvPr id="37" name="Text 34"/>
          <p:cNvSpPr/>
          <p:nvPr/>
        </p:nvSpPr>
        <p:spPr>
          <a:xfrm>
            <a:off x="6519672" y="210312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DORA 4 metrics</a:t>
            </a:r>
            <a:endParaRPr lang="en-US" sz="1100" dirty="0"/>
          </a:p>
        </p:txBody>
      </p:sp>
      <p:sp>
        <p:nvSpPr>
          <p:cNvPr id="38" name="Text 35"/>
          <p:cNvSpPr/>
          <p:nvPr/>
        </p:nvSpPr>
        <p:spPr>
          <a:xfrm>
            <a:off x="8732520" y="210312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Lead time · deploy freq · CFR · MTTR</a:t>
            </a:r>
            <a:endParaRPr lang="en-US" sz="1050" dirty="0"/>
          </a:p>
        </p:txBody>
      </p:sp>
      <p:sp>
        <p:nvSpPr>
          <p:cNvPr id="39" name="Shape 36"/>
          <p:cNvSpPr/>
          <p:nvPr/>
        </p:nvSpPr>
        <p:spPr>
          <a:xfrm>
            <a:off x="6382512" y="2651760"/>
            <a:ext cx="5166360" cy="502920"/>
          </a:xfrm>
          <a:prstGeom prst="rect">
            <a:avLst/>
          </a:prstGeom>
          <a:solidFill>
            <a:srgbClr val="FFFFFF"/>
          </a:solidFill>
          <a:ln w="6350">
            <a:solidFill>
              <a:srgbClr val="E2E8F0"/>
            </a:solidFill>
            <a:prstDash val="solid"/>
          </a:ln>
        </p:spPr>
        <p:txBody>
          <a:bodyPr/>
          <a:lstStyle/>
          <a:p>
            <a:endParaRPr lang="en-US"/>
          </a:p>
        </p:txBody>
      </p:sp>
      <p:sp>
        <p:nvSpPr>
          <p:cNvPr id="40" name="Text 37"/>
          <p:cNvSpPr/>
          <p:nvPr/>
        </p:nvSpPr>
        <p:spPr>
          <a:xfrm>
            <a:off x="6519672" y="265176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FTE % on toil</a:t>
            </a:r>
            <a:endParaRPr lang="en-US" sz="1100" dirty="0"/>
          </a:p>
        </p:txBody>
      </p:sp>
      <p:sp>
        <p:nvSpPr>
          <p:cNvPr id="41" name="Text 38"/>
          <p:cNvSpPr/>
          <p:nvPr/>
        </p:nvSpPr>
        <p:spPr>
          <a:xfrm>
            <a:off x="8732520" y="265176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 50% (Google SRE cap)</a:t>
            </a:r>
            <a:endParaRPr lang="en-US" sz="1050" dirty="0"/>
          </a:p>
        </p:txBody>
      </p:sp>
      <p:sp>
        <p:nvSpPr>
          <p:cNvPr id="42" name="Shape 39"/>
          <p:cNvSpPr/>
          <p:nvPr/>
        </p:nvSpPr>
        <p:spPr>
          <a:xfrm>
            <a:off x="6382512" y="3200400"/>
            <a:ext cx="5166360" cy="502920"/>
          </a:xfrm>
          <a:prstGeom prst="rect">
            <a:avLst/>
          </a:prstGeom>
          <a:solidFill>
            <a:srgbClr val="F4F6F9"/>
          </a:solidFill>
          <a:ln w="6350">
            <a:solidFill>
              <a:srgbClr val="E2E8F0"/>
            </a:solidFill>
            <a:prstDash val="solid"/>
          </a:ln>
        </p:spPr>
        <p:txBody>
          <a:bodyPr/>
          <a:lstStyle/>
          <a:p>
            <a:endParaRPr lang="en-US"/>
          </a:p>
        </p:txBody>
      </p:sp>
      <p:sp>
        <p:nvSpPr>
          <p:cNvPr id="43" name="Text 40"/>
          <p:cNvSpPr/>
          <p:nvPr/>
        </p:nvSpPr>
        <p:spPr>
          <a:xfrm>
            <a:off x="6519672" y="320040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Cost per deployment</a:t>
            </a:r>
            <a:endParaRPr lang="en-US" sz="1100" dirty="0"/>
          </a:p>
        </p:txBody>
      </p:sp>
      <p:sp>
        <p:nvSpPr>
          <p:cNvPr id="44" name="Text 41"/>
          <p:cNvSpPr/>
          <p:nvPr/>
        </p:nvSpPr>
        <p:spPr>
          <a:xfrm>
            <a:off x="8732520" y="320040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FinOps unit-economics view</a:t>
            </a:r>
            <a:endParaRPr lang="en-US" sz="1050" dirty="0"/>
          </a:p>
        </p:txBody>
      </p:sp>
      <p:sp>
        <p:nvSpPr>
          <p:cNvPr id="45" name="Shape 42"/>
          <p:cNvSpPr/>
          <p:nvPr/>
        </p:nvSpPr>
        <p:spPr>
          <a:xfrm>
            <a:off x="6382512" y="3749040"/>
            <a:ext cx="5166360" cy="502920"/>
          </a:xfrm>
          <a:prstGeom prst="rect">
            <a:avLst/>
          </a:prstGeom>
          <a:solidFill>
            <a:srgbClr val="FFFFFF"/>
          </a:solidFill>
          <a:ln w="6350">
            <a:solidFill>
              <a:srgbClr val="E2E8F0"/>
            </a:solidFill>
            <a:prstDash val="solid"/>
          </a:ln>
        </p:spPr>
        <p:txBody>
          <a:bodyPr/>
          <a:lstStyle/>
          <a:p>
            <a:endParaRPr lang="en-US"/>
          </a:p>
        </p:txBody>
      </p:sp>
      <p:sp>
        <p:nvSpPr>
          <p:cNvPr id="46" name="Text 43"/>
          <p:cNvSpPr/>
          <p:nvPr/>
        </p:nvSpPr>
        <p:spPr>
          <a:xfrm>
            <a:off x="6519672" y="374904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Provisioning lead time</a:t>
            </a:r>
            <a:endParaRPr lang="en-US" sz="1100" dirty="0"/>
          </a:p>
        </p:txBody>
      </p:sp>
      <p:sp>
        <p:nvSpPr>
          <p:cNvPr id="47" name="Text 44"/>
          <p:cNvSpPr/>
          <p:nvPr/>
        </p:nvSpPr>
        <p:spPr>
          <a:xfrm>
            <a:off x="8732520" y="374904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Request → live infra</a:t>
            </a:r>
            <a:endParaRPr lang="en-US" sz="1050" dirty="0"/>
          </a:p>
        </p:txBody>
      </p:sp>
      <p:sp>
        <p:nvSpPr>
          <p:cNvPr id="48" name="Shape 45"/>
          <p:cNvSpPr/>
          <p:nvPr/>
        </p:nvSpPr>
        <p:spPr>
          <a:xfrm>
            <a:off x="6382512" y="4297680"/>
            <a:ext cx="5166360" cy="502920"/>
          </a:xfrm>
          <a:prstGeom prst="rect">
            <a:avLst/>
          </a:prstGeom>
          <a:solidFill>
            <a:srgbClr val="F4F6F9"/>
          </a:solidFill>
          <a:ln w="6350">
            <a:solidFill>
              <a:srgbClr val="E2E8F0"/>
            </a:solidFill>
            <a:prstDash val="solid"/>
          </a:ln>
        </p:spPr>
        <p:txBody>
          <a:bodyPr/>
          <a:lstStyle/>
          <a:p>
            <a:endParaRPr lang="en-US"/>
          </a:p>
        </p:txBody>
      </p:sp>
      <p:sp>
        <p:nvSpPr>
          <p:cNvPr id="49" name="Text 46"/>
          <p:cNvSpPr/>
          <p:nvPr/>
        </p:nvSpPr>
        <p:spPr>
          <a:xfrm>
            <a:off x="6519672" y="429768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High-sev incident rate</a:t>
            </a:r>
            <a:endParaRPr lang="en-US" sz="1100" dirty="0"/>
          </a:p>
        </p:txBody>
      </p:sp>
      <p:sp>
        <p:nvSpPr>
          <p:cNvPr id="50" name="Text 47"/>
          <p:cNvSpPr/>
          <p:nvPr/>
        </p:nvSpPr>
        <p:spPr>
          <a:xfrm>
            <a:off x="8732520" y="429768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Volume + severity distribution</a:t>
            </a:r>
            <a:endParaRPr lang="en-US" sz="1050" dirty="0"/>
          </a:p>
        </p:txBody>
      </p:sp>
      <p:sp>
        <p:nvSpPr>
          <p:cNvPr id="51" name="Shape 48"/>
          <p:cNvSpPr/>
          <p:nvPr/>
        </p:nvSpPr>
        <p:spPr>
          <a:xfrm>
            <a:off x="6382512" y="4846320"/>
            <a:ext cx="5166360" cy="502920"/>
          </a:xfrm>
          <a:prstGeom prst="rect">
            <a:avLst/>
          </a:prstGeom>
          <a:solidFill>
            <a:srgbClr val="FFFFFF"/>
          </a:solidFill>
          <a:ln w="6350">
            <a:solidFill>
              <a:srgbClr val="E2E8F0"/>
            </a:solidFill>
            <a:prstDash val="solid"/>
          </a:ln>
        </p:spPr>
        <p:txBody>
          <a:bodyPr/>
          <a:lstStyle/>
          <a:p>
            <a:endParaRPr lang="en-US"/>
          </a:p>
        </p:txBody>
      </p:sp>
      <p:sp>
        <p:nvSpPr>
          <p:cNvPr id="52" name="Text 49"/>
          <p:cNvSpPr/>
          <p:nvPr/>
        </p:nvSpPr>
        <p:spPr>
          <a:xfrm>
            <a:off x="6519672" y="484632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Audit exception rate</a:t>
            </a:r>
            <a:endParaRPr lang="en-US" sz="1100" dirty="0"/>
          </a:p>
        </p:txBody>
      </p:sp>
      <p:sp>
        <p:nvSpPr>
          <p:cNvPr id="53" name="Text 50"/>
          <p:cNvSpPr/>
          <p:nvPr/>
        </p:nvSpPr>
        <p:spPr>
          <a:xfrm>
            <a:off x="8732520" y="484632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Regulatory compliance posture</a:t>
            </a:r>
            <a:endParaRPr lang="en-US" sz="1050" dirty="0"/>
          </a:p>
        </p:txBody>
      </p:sp>
      <p:sp>
        <p:nvSpPr>
          <p:cNvPr id="54" name="Shape 51"/>
          <p:cNvSpPr/>
          <p:nvPr/>
        </p:nvSpPr>
        <p:spPr>
          <a:xfrm>
            <a:off x="6382512" y="5394960"/>
            <a:ext cx="5166360" cy="502920"/>
          </a:xfrm>
          <a:prstGeom prst="rect">
            <a:avLst/>
          </a:prstGeom>
          <a:solidFill>
            <a:srgbClr val="F4F6F9"/>
          </a:solidFill>
          <a:ln w="6350">
            <a:solidFill>
              <a:srgbClr val="E2E8F0"/>
            </a:solidFill>
            <a:prstDash val="solid"/>
          </a:ln>
        </p:spPr>
        <p:txBody>
          <a:bodyPr/>
          <a:lstStyle/>
          <a:p>
            <a:endParaRPr lang="en-US"/>
          </a:p>
        </p:txBody>
      </p:sp>
      <p:sp>
        <p:nvSpPr>
          <p:cNvPr id="55" name="Text 52"/>
          <p:cNvSpPr/>
          <p:nvPr/>
        </p:nvSpPr>
        <p:spPr>
          <a:xfrm>
            <a:off x="6519672" y="539496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Voluntary attrition</a:t>
            </a:r>
            <a:endParaRPr lang="en-US" sz="1100" dirty="0"/>
          </a:p>
        </p:txBody>
      </p:sp>
      <p:sp>
        <p:nvSpPr>
          <p:cNvPr id="56" name="Text 53"/>
          <p:cNvSpPr/>
          <p:nvPr/>
        </p:nvSpPr>
        <p:spPr>
          <a:xfrm>
            <a:off x="8732520" y="539496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ING-style 80+ engagement</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DECISIONS REQUESTED</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Recommended Next Steps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To move from proposal to mobilization, we recommend the following four decisions over the next 30 days.</a:t>
            </a:r>
            <a:endParaRPr lang="en-US" sz="1300" dirty="0"/>
          </a:p>
        </p:txBody>
      </p:sp>
      <p:sp>
        <p:nvSpPr>
          <p:cNvPr id="8" name="Shape 5"/>
          <p:cNvSpPr/>
          <p:nvPr/>
        </p:nvSpPr>
        <p:spPr>
          <a:xfrm>
            <a:off x="454000"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54000"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1" name="Text 8"/>
          <p:cNvSpPr/>
          <p:nvPr/>
        </p:nvSpPr>
        <p:spPr>
          <a:xfrm>
            <a:off x="682600"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01</a:t>
            </a:r>
            <a:endParaRPr lang="en-US" sz="5600" dirty="0"/>
          </a:p>
        </p:txBody>
      </p:sp>
      <p:sp>
        <p:nvSpPr>
          <p:cNvPr id="12" name="Text 9"/>
          <p:cNvSpPr/>
          <p:nvPr/>
        </p:nvSpPr>
        <p:spPr>
          <a:xfrm>
            <a:off x="682600"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Endorse the target operating model</a:t>
            </a:r>
            <a:endParaRPr lang="en-US" sz="1500" dirty="0"/>
          </a:p>
        </p:txBody>
      </p:sp>
      <p:sp>
        <p:nvSpPr>
          <p:cNvPr id="13" name="Text 10"/>
          <p:cNvSpPr/>
          <p:nvPr/>
        </p:nvSpPr>
        <p:spPr>
          <a:xfrm>
            <a:off x="682600"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Approve the team-of-teams lattice (4 Team-Topologies types · 5–7 Tribes · embedded SRE/Architecture/AI · Guilds for craft).</a:t>
            </a:r>
            <a:endParaRPr lang="en-US" sz="1100" dirty="0"/>
          </a:p>
        </p:txBody>
      </p:sp>
      <p:sp>
        <p:nvSpPr>
          <p:cNvPr id="14" name="Shape 11"/>
          <p:cNvSpPr/>
          <p:nvPr/>
        </p:nvSpPr>
        <p:spPr>
          <a:xfrm>
            <a:off x="636880"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15" name="Text 12"/>
          <p:cNvSpPr/>
          <p:nvPr/>
        </p:nvSpPr>
        <p:spPr>
          <a:xfrm>
            <a:off x="636880"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Yes / No / Refine</a:t>
            </a:r>
            <a:endParaRPr lang="en-US" sz="1050" dirty="0"/>
          </a:p>
        </p:txBody>
      </p:sp>
      <p:sp>
        <p:nvSpPr>
          <p:cNvPr id="16" name="Shape 13"/>
          <p:cNvSpPr/>
          <p:nvPr/>
        </p:nvSpPr>
        <p:spPr>
          <a:xfrm>
            <a:off x="3316072"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17" name="Shape 14"/>
          <p:cNvSpPr/>
          <p:nvPr/>
        </p:nvSpPr>
        <p:spPr>
          <a:xfrm>
            <a:off x="3316072"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18" name="Shape 15"/>
          <p:cNvSpPr/>
          <p:nvPr/>
        </p:nvSpPr>
        <p:spPr>
          <a:xfrm>
            <a:off x="3316072"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9" name="Text 16"/>
          <p:cNvSpPr/>
          <p:nvPr/>
        </p:nvSpPr>
        <p:spPr>
          <a:xfrm>
            <a:off x="3544672"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02</a:t>
            </a:r>
            <a:endParaRPr lang="en-US" sz="5600" dirty="0"/>
          </a:p>
        </p:txBody>
      </p:sp>
      <p:sp>
        <p:nvSpPr>
          <p:cNvPr id="20" name="Text 17"/>
          <p:cNvSpPr/>
          <p:nvPr/>
        </p:nvSpPr>
        <p:spPr>
          <a:xfrm>
            <a:off x="3544672"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Stand up the Transformation Office</a:t>
            </a:r>
            <a:endParaRPr lang="en-US" sz="1500" dirty="0"/>
          </a:p>
        </p:txBody>
      </p:sp>
      <p:sp>
        <p:nvSpPr>
          <p:cNvPr id="21" name="Text 18"/>
          <p:cNvSpPr/>
          <p:nvPr/>
        </p:nvSpPr>
        <p:spPr>
          <a:xfrm>
            <a:off x="3544672"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Time-boxed for 18 months. ~20 FTE. Sponsor + steering committee + change leads + OKR steward + comms.</a:t>
            </a:r>
            <a:endParaRPr lang="en-US" sz="1100" dirty="0"/>
          </a:p>
        </p:txBody>
      </p:sp>
      <p:sp>
        <p:nvSpPr>
          <p:cNvPr id="22" name="Shape 19"/>
          <p:cNvSpPr/>
          <p:nvPr/>
        </p:nvSpPr>
        <p:spPr>
          <a:xfrm>
            <a:off x="3498952"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23" name="Text 20"/>
          <p:cNvSpPr/>
          <p:nvPr/>
        </p:nvSpPr>
        <p:spPr>
          <a:xfrm>
            <a:off x="3498952"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Approve charter &amp; seats</a:t>
            </a:r>
            <a:endParaRPr lang="en-US" sz="1050" dirty="0"/>
          </a:p>
        </p:txBody>
      </p:sp>
      <p:sp>
        <p:nvSpPr>
          <p:cNvPr id="24" name="Shape 21"/>
          <p:cNvSpPr/>
          <p:nvPr/>
        </p:nvSpPr>
        <p:spPr>
          <a:xfrm>
            <a:off x="6178144"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25" name="Shape 22"/>
          <p:cNvSpPr/>
          <p:nvPr/>
        </p:nvSpPr>
        <p:spPr>
          <a:xfrm>
            <a:off x="6178144"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26" name="Shape 23"/>
          <p:cNvSpPr/>
          <p:nvPr/>
        </p:nvSpPr>
        <p:spPr>
          <a:xfrm>
            <a:off x="6178144"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27" name="Text 24"/>
          <p:cNvSpPr/>
          <p:nvPr/>
        </p:nvSpPr>
        <p:spPr>
          <a:xfrm>
            <a:off x="6406744"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03</a:t>
            </a:r>
            <a:endParaRPr lang="en-US" sz="5600" dirty="0"/>
          </a:p>
        </p:txBody>
      </p:sp>
      <p:sp>
        <p:nvSpPr>
          <p:cNvPr id="28" name="Text 25"/>
          <p:cNvSpPr/>
          <p:nvPr/>
        </p:nvSpPr>
        <p:spPr>
          <a:xfrm>
            <a:off x="6406744"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Select Wave-1 lighthouse pilots</a:t>
            </a:r>
            <a:endParaRPr lang="en-US" sz="1500" dirty="0"/>
          </a:p>
        </p:txBody>
      </p:sp>
      <p:sp>
        <p:nvSpPr>
          <p:cNvPr id="29" name="Text 26"/>
          <p:cNvSpPr/>
          <p:nvPr/>
        </p:nvSpPr>
        <p:spPr>
          <a:xfrm>
            <a:off x="6406744"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Recommend Zephyr IaC as Tier-2 lead product + one Foundation platform (Compute/Container) + one stream-aligned squad.</a:t>
            </a:r>
            <a:endParaRPr lang="en-US" sz="1100" dirty="0"/>
          </a:p>
        </p:txBody>
      </p:sp>
      <p:sp>
        <p:nvSpPr>
          <p:cNvPr id="30" name="Shape 27"/>
          <p:cNvSpPr/>
          <p:nvPr/>
        </p:nvSpPr>
        <p:spPr>
          <a:xfrm>
            <a:off x="6361024"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31" name="Text 28"/>
          <p:cNvSpPr/>
          <p:nvPr/>
        </p:nvSpPr>
        <p:spPr>
          <a:xfrm>
            <a:off x="6361024"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Confirm pilot scope</a:t>
            </a:r>
            <a:endParaRPr lang="en-US" sz="1050" dirty="0"/>
          </a:p>
        </p:txBody>
      </p:sp>
      <p:sp>
        <p:nvSpPr>
          <p:cNvPr id="32" name="Shape 29"/>
          <p:cNvSpPr/>
          <p:nvPr/>
        </p:nvSpPr>
        <p:spPr>
          <a:xfrm>
            <a:off x="9040216"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33" name="Shape 30"/>
          <p:cNvSpPr/>
          <p:nvPr/>
        </p:nvSpPr>
        <p:spPr>
          <a:xfrm>
            <a:off x="9040216"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34" name="Shape 31"/>
          <p:cNvSpPr/>
          <p:nvPr/>
        </p:nvSpPr>
        <p:spPr>
          <a:xfrm>
            <a:off x="9040216"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35" name="Text 32"/>
          <p:cNvSpPr/>
          <p:nvPr/>
        </p:nvSpPr>
        <p:spPr>
          <a:xfrm>
            <a:off x="9268816"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04</a:t>
            </a:r>
            <a:endParaRPr lang="en-US" sz="5600" dirty="0"/>
          </a:p>
        </p:txBody>
      </p:sp>
      <p:sp>
        <p:nvSpPr>
          <p:cNvPr id="36" name="Text 33"/>
          <p:cNvSpPr/>
          <p:nvPr/>
        </p:nvSpPr>
        <p:spPr>
          <a:xfrm>
            <a:off x="9268816"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Approve baseline measurement</a:t>
            </a:r>
            <a:endParaRPr lang="en-US" sz="1500" dirty="0"/>
          </a:p>
        </p:txBody>
      </p:sp>
      <p:sp>
        <p:nvSpPr>
          <p:cNvPr id="37" name="Text 34"/>
          <p:cNvSpPr/>
          <p:nvPr/>
        </p:nvSpPr>
        <p:spPr>
          <a:xfrm>
            <a:off x="9268816"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Run DORA, DevEx, and CNCF Platform Engineering Maturity baselines in next 60 days. Publish openly to set the bar.</a:t>
            </a:r>
            <a:endParaRPr lang="en-US" sz="1100" dirty="0"/>
          </a:p>
        </p:txBody>
      </p:sp>
      <p:sp>
        <p:nvSpPr>
          <p:cNvPr id="38" name="Shape 35"/>
          <p:cNvSpPr/>
          <p:nvPr/>
        </p:nvSpPr>
        <p:spPr>
          <a:xfrm>
            <a:off x="9223096"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39" name="Text 36"/>
          <p:cNvSpPr/>
          <p:nvPr/>
        </p:nvSpPr>
        <p:spPr>
          <a:xfrm>
            <a:off x="9223096"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Approve survey &amp; tooling spend</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3">
    <p:bg>
      <p:bgPr>
        <a:solidFill>
          <a:srgbClr val="001F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777240" y="640080"/>
            <a:ext cx="595192" cy="777240"/>
          </a:xfrm>
          <a:prstGeom prst="rect">
            <a:avLst/>
          </a:prstGeom>
        </p:spPr>
      </p:pic>
      <p:sp>
        <p:nvSpPr>
          <p:cNvPr id="4" name="Text 1"/>
          <p:cNvSpPr/>
          <p:nvPr/>
        </p:nvSpPr>
        <p:spPr>
          <a:xfrm>
            <a:off x="777240" y="2194560"/>
            <a:ext cx="10972800" cy="822960"/>
          </a:xfrm>
          <a:prstGeom prst="rect">
            <a:avLst/>
          </a:prstGeom>
          <a:noFill/>
          <a:ln/>
        </p:spPr>
        <p:txBody>
          <a:bodyPr wrap="square" lIns="0" tIns="0" rIns="0" bIns="0" rtlCol="0" anchor="ctr"/>
          <a:lstStyle/>
          <a:p>
            <a:pPr marL="0" indent="0">
              <a:buNone/>
            </a:pPr>
            <a:r>
              <a:rPr lang="en-US" sz="4400" i="1" dirty="0">
                <a:solidFill>
                  <a:srgbClr val="C9D6EE"/>
                </a:solidFill>
                <a:latin typeface="Georgia" pitchFamily="34" charset="0"/>
                <a:ea typeface="Georgia" pitchFamily="34" charset="-122"/>
                <a:cs typeface="Georgia" pitchFamily="34" charset="-120"/>
              </a:rPr>
              <a:t>From four towers</a:t>
            </a:r>
            <a:endParaRPr lang="en-US" sz="4400" dirty="0"/>
          </a:p>
        </p:txBody>
      </p:sp>
      <p:sp>
        <p:nvSpPr>
          <p:cNvPr id="5" name="Text 2"/>
          <p:cNvSpPr/>
          <p:nvPr/>
        </p:nvSpPr>
        <p:spPr>
          <a:xfrm>
            <a:off x="777240" y="2971800"/>
            <a:ext cx="10972800" cy="1097280"/>
          </a:xfrm>
          <a:prstGeom prst="rect">
            <a:avLst/>
          </a:prstGeom>
          <a:noFill/>
          <a:ln/>
        </p:spPr>
        <p:txBody>
          <a:bodyPr wrap="square" lIns="0" tIns="0" rIns="0" bIns="0" rtlCol="0" anchor="ctr"/>
          <a:lstStyle/>
          <a:p>
            <a:pPr marL="0" indent="0">
              <a:buNone/>
            </a:pPr>
            <a:r>
              <a:rPr lang="en-US" sz="8000" b="1" dirty="0">
                <a:solidFill>
                  <a:srgbClr val="FEDF01"/>
                </a:solidFill>
                <a:latin typeface="Georgia" pitchFamily="34" charset="0"/>
                <a:ea typeface="Georgia" pitchFamily="34" charset="-122"/>
                <a:cs typeface="Georgia" pitchFamily="34" charset="-120"/>
              </a:rPr>
              <a:t>to flow.</a:t>
            </a:r>
            <a:endParaRPr lang="en-US" sz="8000" dirty="0"/>
          </a:p>
        </p:txBody>
      </p:sp>
      <p:sp>
        <p:nvSpPr>
          <p:cNvPr id="6" name="Text 3"/>
          <p:cNvSpPr/>
          <p:nvPr/>
        </p:nvSpPr>
        <p:spPr>
          <a:xfrm>
            <a:off x="777240" y="4297680"/>
            <a:ext cx="10607040" cy="11887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 horizontal operating model that reduces friction, reclaims FTE capacity, and accelerates Zephyr, Private Cloud Lifecycle, AI agents, and regulatory programs — without losing the depth that today's verticals provide.</a:t>
            </a:r>
            <a:endParaRPr lang="en-US" sz="1700" dirty="0"/>
          </a:p>
        </p:txBody>
      </p:sp>
      <p:sp>
        <p:nvSpPr>
          <p:cNvPr id="7" name="Shape 4"/>
          <p:cNvSpPr/>
          <p:nvPr/>
        </p:nvSpPr>
        <p:spPr>
          <a:xfrm>
            <a:off x="777240" y="5669280"/>
            <a:ext cx="2743200" cy="0"/>
          </a:xfrm>
          <a:prstGeom prst="line">
            <a:avLst/>
          </a:prstGeom>
          <a:noFill/>
          <a:ln w="25400">
            <a:solidFill>
              <a:srgbClr val="FEDF01"/>
            </a:solidFill>
            <a:prstDash val="solid"/>
          </a:ln>
        </p:spPr>
        <p:txBody>
          <a:bodyPr/>
          <a:lstStyle/>
          <a:p>
            <a:endParaRPr lang="en-US"/>
          </a:p>
        </p:txBody>
      </p:sp>
      <p:sp>
        <p:nvSpPr>
          <p:cNvPr id="8" name="Text 5"/>
          <p:cNvSpPr/>
          <p:nvPr/>
        </p:nvSpPr>
        <p:spPr>
          <a:xfrm>
            <a:off x="777240" y="5806440"/>
            <a:ext cx="10058400" cy="457200"/>
          </a:xfrm>
          <a:prstGeom prst="rect">
            <a:avLst/>
          </a:prstGeom>
          <a:noFill/>
          <a:ln/>
        </p:spPr>
        <p:txBody>
          <a:bodyPr wrap="square" lIns="0" tIns="0" rIns="0" bIns="0" rtlCol="0" anchor="ctr"/>
          <a:lstStyle/>
          <a:p>
            <a:pPr marL="0" indent="0">
              <a:buNone/>
            </a:pPr>
            <a:r>
              <a:rPr lang="en-US" sz="1600" i="1" dirty="0">
                <a:solidFill>
                  <a:srgbClr val="FEDF01"/>
                </a:solidFill>
                <a:latin typeface="Calibri" pitchFamily="34" charset="0"/>
                <a:ea typeface="Calibri" pitchFamily="34" charset="-122"/>
                <a:cs typeface="Calibri" pitchFamily="34" charset="-120"/>
              </a:rPr>
              <a:t>Discussion welcomed.</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6  ·  APPENDIX</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For our team,</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not the room.</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Stakeholder reactions, anticipated pushback, and the responses we'll give in 1:1s. This section is internal prep — six personas, six honest conversations to be ready for.</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Internal only. Do not circulate.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Jikin Shah  —  SVP, Technology Infrastructure</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Tech Infrastructure end-to-end · ultimately accountable to CTO, CIO, and Board for stability, cost, and regulatory posture.</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JS</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Jikin Shah</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SVP, Technology Infrastructure</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“I'm aligned on the direction — but I need to be able to tell the Board this won't blow up on my watch.”</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this fail spectacularly in a way that costs me credibility?</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Regulatory exposure during transition</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OSFI, internal audit, and the Risk Committee will ask hard questions. If anything fails during the pilot, it lands on me — not the squads.</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Quarterly commitments to CTO</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Existing roadmap commitments (Zephyr, AIOps program, hardware refresh) cannot slip. The reorg can't be an excuse for missing the plan.</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Cost / FTE optics</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Finance will ask if this is a cost-cutting exercise in disguise, or if headcount creeps up. Either narrative is bad.</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Bridge step (3a) explicitly designed for zero org change — failure mode is "quietly dissolve," not "public reorg reversed."</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Compliance Squad ships Zephyr Assurance — audit posture strengthens, not weakens. We have a clear regulator narrative.</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FTE stays flat. Same people, different shape. We pre-empt the cost-cutting concern explicitly in the comms plan.</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Quarterly commitments protected — pilot runs alongside, not instead of, current roadmap. Wave 1 squads stay on existing OKRs.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Rob Vanchanahem  —  SVP, Platform Services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all Operations across Platform Services. ~1,200 people in his org. Direct reports include Scott Stanley and the broader Ops leadership.</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RV</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Rob Vanchanahem</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SVP, Platform Services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“So you're telling me my entire org dissolves into pods. What's my job in the new model?”</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Am I being managed out, or am I being given something bigger?</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Personal role ambiguity</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In the target state, his SVP-of-Ops role doesn't exist as such. He needs a credible path to a role he'd actually want.</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Loss of operational control</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"If something breaks at 3am and the squad is asleep, who answers? Who do I call? Right now my Ops org owns it. In the new model, that's blurry."</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Trust in pod-level Ops quality</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Believes today's centralized Ops has hard-won operational maturity. Worries pods will reinvent the wheel — badly.</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Target role: SVP of Capability Squads (or equivalent) — owns the portfolio of squads, sets standards, runs the squad-leadership council. Bigger surface, not smaller.</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On-call stays with Ops in every squad — Ops members keep the pager. Pod composition reinforces ops discipline, doesn't dilute it.</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Existing operational standards become Compliance Squad / Optimization Squad products. Rob's org's hard-won knowledge gets codified, not lost.</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Pilot squads are staffed with current Ops senior engineers — they bring the bar with them.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Scott Stanley  —  Managing Director, Platforms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Database, Compute, and Storage Operations under Rob. Three direct reports: Sara O'Neil, Paul Gage, Dan Considine.</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SS</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Scott Stanley</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Managing Director, Platforms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“My three lines of business become five pods that don't report to me. What do I actually run?”</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I built this org. What's my legacy if it gets split up?</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Reporting line disappears</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In the target model, Sara/Paul/Dan are pod leads who report into Squad leads, not into Scott. His current span of control evaporates.</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Cross-platform coordination</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"DB depends on Storage which depends on Compute. Today I sit at that intersection and force alignment. Who does that when we're three separate squads?"</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Career narrative for his team</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Has spent years building career paths for his MD-track engineers. Worried those ladders break in a flatter org.</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Target role: Squad-of-Squads lead OR Platform Domain Lead — owns Database+Compute+Storage as a domain across pods. Same scope, different lever.</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Cross-platform coordination becomes a Squad Leadership Council (chaired by Scott or peer) — standing forum, lighter than today's escalation grind.</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Communities of Practice (DBA CoP, Storage CoP, Compute CoP) preserve craft mastery and career ladders across pods — Scott sponsors these.</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His current investment in talent isn't lost; the same people now own end-to-end outcomes under his stewardship.</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Sara O'Neil  —  Director, Database Operations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Database Ops across SQL Server, Oracle, Postgres, Mongo, Sybase. ~80 DBAs and ops engineers. Reports to Scott Stanley.</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SO</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Sara O'Neil</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Director, Database Operations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“My DBAs are going to land in three different pods. I lose visibility, they lose their team, and on-call quality drops.”</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my best people leave because they no longer feel part of something?</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Team identity breaks</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Today, "Sara's DBAs" is a cultural unit with shared standards, peer review, and mentorship. Distributing them across SQL/NoSQL/Legacy pods fractures that.</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On-call coverage math</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"With 80 DBAs in one rotation, the pager load is manageable. Split into three pods of 25 — am I going to burn out my senior DBAs faster?"</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Skills consistency across pods</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Worries that pod-level Ops will diverge in practice — one pod gets it right, another doesn't — and there's no center to enforce the standard.</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DBA Community of Practice (chaired by Sara or peer) preserves identity, runs standards, mentors across pods. Engineers belong to BOTH a pod AND a CoP.</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On-call rotation modeled before launch — pod size of 8-12 with AI agents on first response shrinks page volume by 50-70% (slide 12). Math works out.</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Sara herself owns DBA practice standards as Squad / CoP lead — her authority moves from line management to craft governance. Same influence, fewer 1:1s.</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Pilot pods (SQL Server, K8s, Storage) are exactly where Sara's people land — she helps charter them. She's not a victim of the change; she's a designer.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Paul Gage  —  Director, Compute Operations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Compute Ops across Linux, Windows, AIX. ~120 engineers spanning OS support, patching, hardening, hardware lifecycle. Reports to Scott Stanley.</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PG</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Paul Gage</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Director, Compute Operations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“Linux, Windows, and AIX are three different worlds. One Compute Pod can't possibly own all three well.”</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deep OS expertise survive in a model that prizes generalists?</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AIX is a special case</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AIX is legacy, sunsetting, with a small graybeard population. He doesn't want them lumped into a "Compute Pod" where their craft gets ignored — or worse, accelerated into retirement.</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Patch &amp; hardening as a horizontal</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"My patch team patches everything. If they're inside one pod, do they still patch the others? If they're a separate pod, that's a new bottleneck."</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OS hardening expertise loss</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Concerned that pod-level Ops engineers won't maintain the depth in OS-level forensics, kernel tuning, etc. — these are CoE-style skills.</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Compute Squad has multiple pods: Linux Pod, Windows Pod, AIX Legacy Pod. Same model as Database (SQL / NoSQL / Legacy). AIX gets its own dignified home.</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Patch &amp; vulnerability remediation is a product shipped by Compliance Squad (via Zephyr Assurance) — every pod consumes it. Patch becomes paved-road, not a separate pod.</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OS Hardening CoP led by Paul (or peer) preserves depth and certifies practitioners across pods. CoP-led training is part of the model.</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Paul co-chairs Compute Squad chartering — he owns the AIX runway plan, the Linux/Windows split, and the hardening standards. Architect of the change.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Dan Considine  —  Director, Storage Operations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Storage Ops across SAN, NAS, object storage, backup. ~60 engineers. Reports to Scott Stanley.</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DC</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Dan Considine</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Director, Storage Operations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“Storage is plumbing — it serves every other team. If we're a peer squad, how do priorities get set when DB and Compute both need us?”</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my squad be everyone's servant and no one's priority?</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Demand prioritization across squads</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"Today I prioritize based on my queue. In the new model, every other squad will think their request is #1. Who arbitrates?"</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Backup &amp; DR ownership</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Backup spans every system. Worries it becomes a hot-potato no pod fully owns — until something fails and everyone points at Storage.</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Capital planning visibility</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Storage refresh is a multi-year capex story. In a flat model, who carries that conversation to Finance and the architecture board?</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Storage Squad is funded as a product team with a roadmap, internal SLAs, and a quarterly demand-management process. Not on-demand — pre-committed capacity per consuming squad.</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Backup/DR sits inside Storage Squad explicitly — clear ownership, dedicated pod, codified runbooks. No hot-potato.</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Capex planning runs through Squad Leadership Council quarterly. Dan owns the Storage capex story end-to-end and presents it himself.</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Optimization Squad provides cross-squad capacity forecasts (Zephyr Optimize) — Dan sees demand 6-12 months out, not in firefight mode.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10994</Words>
  <Application>Microsoft Macintosh PowerPoint</Application>
  <PresentationFormat>Widescreen</PresentationFormat>
  <Paragraphs>1766</Paragraphs>
  <Slides>55</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Model Transformation</dc:title>
  <dc:subject>PptxGenJS Presentation</dc:subject>
  <dc:creator>Technology Infrastructure</dc:creator>
  <cp:lastModifiedBy>Dhwanil Raval</cp:lastModifiedBy>
  <cp:revision>2</cp:revision>
  <dcterms:created xsi:type="dcterms:W3CDTF">2026-05-14T12:21:57Z</dcterms:created>
  <dcterms:modified xsi:type="dcterms:W3CDTF">2026-05-18T21:37:55Z</dcterms:modified>
</cp:coreProperties>
</file>