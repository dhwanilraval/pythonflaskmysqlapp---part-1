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01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051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097280" cy="1435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STEERING COMMITTEE  ·  INAUGURAL SESSION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 On-Prem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685800" y="4069080"/>
            <a:ext cx="548640" cy="54864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6EE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private cloud through code, compliance, optimization, and AI.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4132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IaC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832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5413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6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Compliance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264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541324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08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Optimization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869680" y="5212080"/>
            <a:ext cx="2468880" cy="777240"/>
          </a:xfrm>
          <a:prstGeom prst="rect">
            <a:avLst/>
          </a:prstGeom>
          <a:solidFill>
            <a:srgbClr val="001F47"/>
          </a:solidFill>
          <a:ln w="12700">
            <a:solidFill>
              <a:srgbClr val="FEDF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272" y="5413248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64040" y="5212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ZephyrAI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Steering Committee  ·  Q2 FY26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 ·  90 MINUTES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session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76272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91072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sought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176272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meeting objectives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91072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68512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on purpose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13232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0:05–0:15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76272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&amp; RAG dashboard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91072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68512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situational awareness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3232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0:15–0:35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176272" y="3200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highlights (5 min each)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91072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68512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cross-cutting issues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0:35–0:50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176272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dependencies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291072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Director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668512" y="3703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blockers to escalate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13232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0:50–1:15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2176272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deep-dive (rotating)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291072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Lead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668512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platform asks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13232" y="4709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1:15–1:25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2176272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parking lot, watchlist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6291072" y="4709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8668512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commitments &amp; deferrals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13232" y="5212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1:25–1:30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2176272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 &amp; next meeting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6291072" y="5212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8668512" y="5212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date and pre-reads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126480"/>
            <a:ext cx="228600" cy="2286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097280" y="5989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distributed 48 hours in advance · Decisions captured live · One platform deep-dive per meeting (rotating)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PROGRAM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workstreams, one program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645920" y="178308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645920" y="178308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82880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2880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IaC + policy-as-code governance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88036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45920" y="288036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645920" y="288036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828800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82880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visibility via Zephyr Assurance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9776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1645920" y="397764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645920" y="397764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828800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8288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home-of-best-fit, rationalization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074920"/>
            <a:ext cx="1097280" cy="9601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507492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645920" y="5074920"/>
            <a:ext cx="4846320" cy="9601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645920" y="5074920"/>
            <a:ext cx="54864" cy="9601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82880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ZephyrAI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828800" y="5577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 for platform ops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matrix — workstreams × platforms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9552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9552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8696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8696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7840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7840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698480" y="2194560"/>
            <a:ext cx="91440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6984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858000" y="256032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949440" y="25603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9552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330184" y="268376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8696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244584" y="268376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97840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158984" y="268376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698480" y="25603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1073384" y="268376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858000" y="297180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949440" y="2971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9552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8330184" y="309524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88696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9244584" y="309524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97840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0158984" y="309524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698480" y="297180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1073384" y="309524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6858000" y="338328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949440" y="33832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9552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8330184" y="35067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88696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9244584" y="35067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97840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0158984" y="35067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0698480" y="33832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1073384" y="350672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6858000" y="379476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6949440" y="37947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79552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8330184" y="391820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88696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9244584" y="391820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97840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10158984" y="391820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10698480" y="37947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1073384" y="391820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6858000" y="4206240"/>
            <a:ext cx="10972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6949440" y="42062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79552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330184" y="43296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88696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9244584" y="43296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97840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10158984" y="43296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10698480" y="420624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11073384" y="432968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6858000" y="4837176"/>
            <a:ext cx="137160" cy="137160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705916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8138160" y="4837176"/>
            <a:ext cx="137160" cy="137160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833932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418320" y="4837176"/>
            <a:ext cx="137160" cy="137160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961948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6108192"/>
            <a:ext cx="228600" cy="228600"/>
          </a:xfrm>
          <a:prstGeom prst="rect">
            <a:avLst/>
          </a:prstGeom>
        </p:spPr>
      </p:pic>
      <p:sp>
        <p:nvSpPr>
          <p:cNvPr id="97" name="Text 93"/>
          <p:cNvSpPr/>
          <p:nvPr/>
        </p:nvSpPr>
        <p:spPr>
          <a:xfrm>
            <a:off x="1051560" y="5989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is the foundation — Compliance, Optimization, and ZephyrAI all operate on the codified estate.</a:t>
            </a:r>
            <a:endParaRPr lang="en-US" sz="1200" dirty="0"/>
          </a:p>
        </p:txBody>
      </p:sp>
      <p:sp>
        <p:nvSpPr>
          <p:cNvPr id="98" name="Text 94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PROGRAM HEALTH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health at a glance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14984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19456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" y="2194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IaC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16352" y="233172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16352" y="25420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79392" y="233172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79392" y="25420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42432" y="233172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42432" y="25420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05472" y="233172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205472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dep risk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59952" y="233172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759952" y="25420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open req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149840" y="21945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▬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548640" y="297180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3232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Compliance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81635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816352" y="33192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7939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279392" y="33192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74243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742432" y="33192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20547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205472" y="3319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759952" y="310896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59952" y="33192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staffed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149840" y="2971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▲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548640" y="374904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13232" y="3749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Optimization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2816352" y="388620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816352" y="4096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slipping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279392" y="388620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279392" y="4096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asks growing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742432" y="388620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742432" y="4096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205472" y="388620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205472" y="40965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adoption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759952" y="3886200"/>
            <a:ext cx="164592" cy="16459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759952" y="40965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 reqs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0149840" y="37490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</a:t>
            </a:r>
            <a:endParaRPr lang="en-US" sz="2400" dirty="0"/>
          </a:p>
        </p:txBody>
      </p:sp>
      <p:sp>
        <p:nvSpPr>
          <p:cNvPr id="53" name="Shape 50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13232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ZephyrAI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2816352" y="466344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816352" y="4873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279392" y="4663440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279392" y="4873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742432" y="466344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5742432" y="4873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 ▲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205472" y="466344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205472" y="48737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759952" y="4663440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759952" y="48737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hire pending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10149840" y="45262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7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▬</a:t>
            </a:r>
            <a:endParaRPr lang="en-US" sz="2400" dirty="0"/>
          </a:p>
        </p:txBody>
      </p:sp>
      <p:sp>
        <p:nvSpPr>
          <p:cNvPr id="66" name="Shape 63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777240" y="57150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TELLS US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and Compliance are healthy. Optimization needs attention on staffing and BU adoption. ZephyrAI is steady but watch budget.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WORKSTREAM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— Zephyr IaC + policy-as-code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infrastructure provisioning across the on-prem estate through the Zephyr IaC product line, with governance enforced as code.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IaC modules — compute, network, storage, identity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framework — guardrails at pipeline gates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integration — change approval, SoD encoded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+ ZOP migration partnership for legacy estate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Tagging, naming, secrets, module-versioning standards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CI/CD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landing zones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self-service portal (FY27)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IaC modules GA (compute, network); PaC v1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identity modules GA; governance gates live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EPS+ZOP migration wave 1; policy library top 20 controls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estate under code; second migration wave underway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(gates), Optimization (tagging), ZephyrAI (action interface)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(CMDB accuracy), Security (control catalog)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estate under Zephyr IaC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changes flowing through governed pipeline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caught pre-deploy vs. post-deploy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lead time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Platform Engineers · Release Engineers · Security Engineering liaison · Governance/Risk liaison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inaccuracy delaying coded coverage of legacy estate.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WORKSTREAM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— Zephyr Assurance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compliance visibility through Zephyr Assurance, with vulnerability and patch management already live and expanding.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Assurance product line — single pane for posture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Vulnerability &amp; Patch Management — LIVE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Control-to-evidence mapping for top frameworks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evidence collection feeding Audit/GRC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 monitoring across codified estate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controls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&amp; DLP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 vendor risk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&amp; Patch Mgmt expansion; assurance dashboard v1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#1 control-to-code; evidence automation pilot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#2 mapped; exception workflow live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platforms monitored; first automated audit cycle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Audit, GRC, regulators (evidence feed)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(pipeline gates), Platform teams (asset inventory)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coverage % under continuous monitoring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time-to-evidence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remediated within SLA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per cycle (trend)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GRC Engineers · Security Architects · Compliance Analysts · Internal Audit liaison · Vuln Mgmt SMEs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 pace gated by manual control interpretation work.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WORKSTREAM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— capacity &amp; rationalization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utilization, consumption visibility, and platform rationalization through partnership with the Capacity Management platform.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Mgmt partnership — utilization &amp; recommendations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Home-of-best-fit workload placement program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rationalization — retire redundant platforms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tracking — workloads moving to target platforms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/ showback to business units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procurement strategy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FinOps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license negotiation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Mgmt integration live; rationalization candidates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retirement wave; home-of-best-fit recs engine GA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Showback live to top BUs; second retirement wave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target: $X reclaimed, N platforms retired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(chargeback), Platform teams (rationalization roadmap)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(tagging), Capacity Mgmt (telemetry), Platform teams (workload owners)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 by platform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workloads relocated to home-of-best-fit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redundant platforms retired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reclaimed (annualized)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Capacity Engineers · Platform Engineers · FinOps Analyst · Finance Business Partner · Migration Engineers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Workload-owner identification gaps stalling retirement waves.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WORKSTREAM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ZephyrAI — agents for platform ops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86000" cy="45262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822960" y="3474720"/>
            <a:ext cx="17373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04488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that bring efficiencies to platform operations — agentic automation that does the work. Prediction &amp; observability are out of scope (Intelligent Ops program).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80160" y="5349240"/>
            <a:ext cx="822960" cy="8229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55138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IN-SCOPE FY26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17520" y="205740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Patching Agent (paired with Assurance)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 Agent (Q2 pilot)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Recertification Agent (Q3 pilot)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Reclamation Agent (Q4 pilot)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platform — execution, guardrails, audit trail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36118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OUT-OF-SCOPE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17520" y="3886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prediction (Intelligent Ops)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AI / generative content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infrastructure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0175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MILESTONES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01752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74720" y="5056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Patching Agent at 'recommend'; platform v1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017520" y="5330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0" y="5312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Patching at 'act w/ approval'; Cert agent pilot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17520" y="5586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74720" y="5568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Recert pilot; first agent autonomous (where safe)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017520" y="58430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474720" y="5824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in production; FY27 backlog prioritized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89520" y="1783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589520" y="205740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to: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(toil reduction), Compliance (faster remediation)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5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from: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(action interface), Compliance (vuln signal), Platform teams (runbook handoff)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31546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89520" y="34290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agents in production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eligible toil tasks executed by agents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Agent-handled vs. human-handled actions (by category)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hours reclaimed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589520" y="46634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PERSONAS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89520" y="4937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 · Tech Lead · Delivery Lead · ML/AI Engineers · Platform Engineers · SRE liaison · Product Manager · Security review partner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589520" y="5806440"/>
            <a:ext cx="443484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589520" y="5806440"/>
            <a:ext cx="54864" cy="6400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7772400" y="58613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772400" y="60624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threshold to move agents from 'recommend' to 'act' — guardrails must be defensible.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CROSS-PLATFORM DEPENDENCIES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platforms wait on each other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84832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39312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what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28432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 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91472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3232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84832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39312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segmentation for new HA tier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28432" y="2194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509760" y="236372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8408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084832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39312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storage policy for archive offload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28432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09760" y="2866644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8408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084832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39312" y="3200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Top-of-rack refresh in zone 3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028432" y="3200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09760" y="336956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78408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232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084832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639312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 for messaging brokers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28432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509760" y="3872484"/>
            <a:ext cx="164592" cy="164592"/>
          </a:xfrm>
          <a:prstGeom prst="ellipse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784080" y="3703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13232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084832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639312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of legacy hosts blocking SAN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028432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9760" y="4375404"/>
            <a:ext cx="164592" cy="16459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78408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13232" y="4709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2084832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3639312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tagging standard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028432" y="4709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9509760" y="4878324"/>
            <a:ext cx="164592" cy="164592"/>
          </a:xfrm>
          <a:prstGeom prst="ellipse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9784080" y="4709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23560"/>
            <a:ext cx="228600" cy="22860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109728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Inter-platform blockers don't get raised by platform leads alone — this view forces them into the open.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·  DATABASE METRICS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— what we track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dimensions tracked across all engines — these roll up into the headline RAG status.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116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&amp; DR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stay up? Will it survive failure?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4008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/ SLA per engine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events (planned / unplanned)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success rate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drill posture · last test date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4899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4899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20116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6047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8615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queries fast enough?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44043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 p95 / p99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query count (trend)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saturation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ratio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problematic queries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934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4934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1168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6082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&amp; Growth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8650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ahead of demand?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24078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utilization %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Days-to-full projection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CPU / memory headroom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vs forecast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utilization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949690" y="192024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949690" y="192024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850" y="201168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61170" y="192024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086850" y="237744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Patched, controlled, audit-ready?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041130" y="269748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% (Vuln &amp; Patch Mgmt)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engine count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reviews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coverage (rest / transit)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864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54864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43400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012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&amp; Drift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8580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estate codified and converging?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64008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estate under Zephyr IaC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 per month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(caught vs missed)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provision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success rate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334899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334899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4343400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76047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Incidents &amp; Toil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348615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burning, and how much human time?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344043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/ P2 incident count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by severity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hours per week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auto-resolved by agents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bugs raised by Ops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14934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614934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343400"/>
            <a:ext cx="201168" cy="20116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56082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Optimization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628650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spending what we should?</a:t>
            </a:r>
            <a:endParaRPr lang="en-US" sz="950" dirty="0"/>
          </a:p>
        </p:txBody>
      </p:sp>
      <p:sp>
        <p:nvSpPr>
          <p:cNvPr id="48" name="Text 38"/>
          <p:cNvSpPr/>
          <p:nvPr/>
        </p:nvSpPr>
        <p:spPr>
          <a:xfrm>
            <a:off x="624078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costs (trend)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opportunities open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reclaimed (annualized)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relocated · home-of-best-fit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Showback adoption %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8949690" y="4251960"/>
            <a:ext cx="266319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8949690" y="4251960"/>
            <a:ext cx="2663190" cy="38404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6850" y="4343400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361170" y="4251960"/>
            <a:ext cx="2205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&amp; Modernization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9086850" y="4709160"/>
            <a:ext cx="23888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old, leaving, joining?</a:t>
            </a:r>
            <a:endParaRPr lang="en-US" sz="950" dirty="0"/>
          </a:p>
        </p:txBody>
      </p:sp>
      <p:sp>
        <p:nvSpPr>
          <p:cNvPr id="54" name="Text 43"/>
          <p:cNvSpPr/>
          <p:nvPr/>
        </p:nvSpPr>
        <p:spPr>
          <a:xfrm>
            <a:off x="9041130" y="5029200"/>
            <a:ext cx="248031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versions in production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engines remaining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completed this quarter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Decommissions completed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onboardings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one product team per platform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Operations are one team — here's the case, and why Ops sit at the table as dedicated members.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96640" cy="15544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864" cy="15544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34440" y="2039112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outcomes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2423160"/>
            <a:ext cx="277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builds. Operations runs. Both own whether the platform succeeds. Splitting them creates handoff gaps where accountability dilutes — neither side fully owns the result.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82440" y="1874520"/>
            <a:ext cx="3596640" cy="15544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2440" y="1874520"/>
            <a:ext cx="54864" cy="15544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653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968240" y="2039112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reality on the table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68240" y="2423160"/>
            <a:ext cx="277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bring real-world context into every planning conversation. Issues come back as prioritized bugs the team commits to fixing — not tickets queued in a separate system that engineering 'gets to when they get to it.'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16240" y="1874520"/>
            <a:ext cx="3596640" cy="15544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16240" y="1874520"/>
            <a:ext cx="54864" cy="15544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991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702040" y="2039112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 with workstreams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02040" y="2423160"/>
            <a:ext cx="277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IaC, Compliance, Optimization, ZephyrAI all act on the platform. With one product team, workstreams engage a single backlog instead of negotiating across silos.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724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OPERATIONS ARE DEDICATED MEMBERS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7804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consulted. Not on retainer. Members of the team.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9728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awareness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1323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know what's being built because they're in the planning room from day one. No surprises in production — no 'we didn't know about that change.'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34899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34899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51358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89763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become bugs, not tickets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51358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the team commits to fixing it in sprint. Production pain is engineering's pain — tracked and prioritized the same way as feature work.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4934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4934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31393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669798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design from day one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31393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 account for runbooks, alerting, capacity, and incident response — because Ops voices are present when those decisions are made.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949690" y="4297680"/>
            <a:ext cx="2663190" cy="210312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949690" y="4297680"/>
            <a:ext cx="266319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114282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9498330" y="4297680"/>
            <a:ext cx="202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Continuity of ownership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114282" y="4846320"/>
            <a:ext cx="238887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team that designs the runbook is the one that executes it. No 'throw it over the wall,' no learning the system from outside.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what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named owners on the platform team. Same model applies to each platform.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prioritization · platform demand · business interface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8892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8892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260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Lead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· blockers · dependencies · delivery commitments to steering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2608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92608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920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663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6636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design · code review · technical direction · line management &amp; coaching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6636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6636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6948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26948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406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Engineers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0664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IaC modules · automation · integrations · agent contributions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40664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40664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06640" y="3749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509760" y="1920240"/>
            <a:ext cx="21031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509760" y="1920240"/>
            <a:ext cx="21031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6469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/ SRE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64692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members · run platform · on-call · incident response · production issues raised as prioritized bugs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646920" y="3337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6469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646920" y="3749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[Name]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77240" y="50749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WORK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backlog · joint sprint planning · Operations members are dedicated, not consulted · production issues raised as prioritized bugs · architecture &amp; security liaisons embedded · workstreams engage the team, not individuals.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 ·  RESOURCING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Resourcing for TI Engineering, EPS &amp; Squad #4 — 2026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total roles across five service families · staffing organized into Build (A–D) and Platform Support (E–F).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16916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40280" y="1920240"/>
            <a:ext cx="53035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402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1920240"/>
            <a:ext cx="2651760" cy="3657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438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SUPPORT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195560" y="1920240"/>
            <a:ext cx="141732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286000"/>
            <a:ext cx="169164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286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40280" y="228600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56916" y="236829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56916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66160" y="228600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082796" y="236829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82796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92040" y="228600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08676" y="236829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08676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17920" y="228600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734556" y="236829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734556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543800" y="228600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060436" y="236829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60436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869680" y="228600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9386316" y="236829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386316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0195560" y="2286000"/>
            <a:ext cx="141732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1955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2743200"/>
            <a:ext cx="169164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486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40280" y="274320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24028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3566160" y="274320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56616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892040" y="274320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89204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217920" y="274320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21792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543800" y="274320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54380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869680" y="274320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86968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10195560" y="2743200"/>
            <a:ext cx="141732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019556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48640" y="3154680"/>
            <a:ext cx="169164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48640" y="3154680"/>
            <a:ext cx="16916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240280" y="315468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24028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3566160" y="315468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56616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4892040" y="315468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89204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6217920" y="315468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21792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7543800" y="315468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54380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8869680" y="3154680"/>
            <a:ext cx="132588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86968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10195560" y="3154680"/>
            <a:ext cx="1417320" cy="41148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0195560" y="3154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548640" y="3566160"/>
            <a:ext cx="169164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48640" y="3566160"/>
            <a:ext cx="16916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2240280" y="356616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24028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3566160" y="356616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356616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4892040" y="356616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489204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6217920" y="356616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21792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7543800" y="356616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754380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8869680" y="356616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8869680" y="3566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0195560" y="3566160"/>
            <a:ext cx="141732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10195560" y="3566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3" name="Shape 80"/>
          <p:cNvSpPr/>
          <p:nvPr/>
        </p:nvSpPr>
        <p:spPr>
          <a:xfrm>
            <a:off x="548640" y="3977640"/>
            <a:ext cx="16916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548640" y="3977640"/>
            <a:ext cx="16916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2240280" y="3977640"/>
            <a:ext cx="13258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224028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7" name="Shape 84"/>
          <p:cNvSpPr/>
          <p:nvPr/>
        </p:nvSpPr>
        <p:spPr>
          <a:xfrm>
            <a:off x="3566160" y="3977640"/>
            <a:ext cx="13258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356616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9" name="Shape 86"/>
          <p:cNvSpPr/>
          <p:nvPr/>
        </p:nvSpPr>
        <p:spPr>
          <a:xfrm>
            <a:off x="4892040" y="3977640"/>
            <a:ext cx="13258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489204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1" name="Shape 88"/>
          <p:cNvSpPr/>
          <p:nvPr/>
        </p:nvSpPr>
        <p:spPr>
          <a:xfrm>
            <a:off x="6217920" y="3977640"/>
            <a:ext cx="13258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621792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3" name="Shape 90"/>
          <p:cNvSpPr/>
          <p:nvPr/>
        </p:nvSpPr>
        <p:spPr>
          <a:xfrm>
            <a:off x="7543800" y="3977640"/>
            <a:ext cx="13258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754380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5" name="Shape 92"/>
          <p:cNvSpPr/>
          <p:nvPr/>
        </p:nvSpPr>
        <p:spPr>
          <a:xfrm>
            <a:off x="8869680" y="3977640"/>
            <a:ext cx="132588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886968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7" name="Shape 94"/>
          <p:cNvSpPr/>
          <p:nvPr/>
        </p:nvSpPr>
        <p:spPr>
          <a:xfrm>
            <a:off x="10195560" y="3977640"/>
            <a:ext cx="14173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1019556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99" name="Shape 96"/>
          <p:cNvSpPr/>
          <p:nvPr/>
        </p:nvSpPr>
        <p:spPr>
          <a:xfrm>
            <a:off x="548640" y="4389120"/>
            <a:ext cx="169164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548640" y="4389120"/>
            <a:ext cx="16916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Hosting &amp; Mainframe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240280" y="438912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224028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3" name="Shape 100"/>
          <p:cNvSpPr/>
          <p:nvPr/>
        </p:nvSpPr>
        <p:spPr>
          <a:xfrm>
            <a:off x="3566160" y="438912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/>
          <p:nvPr/>
        </p:nvSpPr>
        <p:spPr>
          <a:xfrm>
            <a:off x="356616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05" name="Shape 102"/>
          <p:cNvSpPr/>
          <p:nvPr/>
        </p:nvSpPr>
        <p:spPr>
          <a:xfrm>
            <a:off x="4892040" y="438912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3"/>
          <p:cNvSpPr/>
          <p:nvPr/>
        </p:nvSpPr>
        <p:spPr>
          <a:xfrm>
            <a:off x="489204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7" name="Shape 104"/>
          <p:cNvSpPr/>
          <p:nvPr/>
        </p:nvSpPr>
        <p:spPr>
          <a:xfrm>
            <a:off x="6217920" y="438912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621792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9" name="Shape 106"/>
          <p:cNvSpPr/>
          <p:nvPr/>
        </p:nvSpPr>
        <p:spPr>
          <a:xfrm>
            <a:off x="7543800" y="438912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7"/>
          <p:cNvSpPr/>
          <p:nvPr/>
        </p:nvSpPr>
        <p:spPr>
          <a:xfrm>
            <a:off x="754380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1" name="Shape 108"/>
          <p:cNvSpPr/>
          <p:nvPr/>
        </p:nvSpPr>
        <p:spPr>
          <a:xfrm>
            <a:off x="8869680" y="4389120"/>
            <a:ext cx="132588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9"/>
          <p:cNvSpPr/>
          <p:nvPr/>
        </p:nvSpPr>
        <p:spPr>
          <a:xfrm>
            <a:off x="886968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13" name="Shape 110"/>
          <p:cNvSpPr/>
          <p:nvPr/>
        </p:nvSpPr>
        <p:spPr>
          <a:xfrm>
            <a:off x="10195560" y="4389120"/>
            <a:ext cx="1417320" cy="41148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10195560" y="4389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115" name="Shape 112"/>
          <p:cNvSpPr/>
          <p:nvPr/>
        </p:nvSpPr>
        <p:spPr>
          <a:xfrm>
            <a:off x="548640" y="4800600"/>
            <a:ext cx="169164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3"/>
          <p:cNvSpPr/>
          <p:nvPr/>
        </p:nvSpPr>
        <p:spPr>
          <a:xfrm>
            <a:off x="548640" y="4800600"/>
            <a:ext cx="1691640" cy="502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117" name="Shape 114"/>
          <p:cNvSpPr/>
          <p:nvPr/>
        </p:nvSpPr>
        <p:spPr>
          <a:xfrm>
            <a:off x="2240280" y="4800600"/>
            <a:ext cx="13258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5"/>
          <p:cNvSpPr/>
          <p:nvPr/>
        </p:nvSpPr>
        <p:spPr>
          <a:xfrm>
            <a:off x="224028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400" dirty="0"/>
          </a:p>
        </p:txBody>
      </p:sp>
      <p:sp>
        <p:nvSpPr>
          <p:cNvPr id="119" name="Shape 116"/>
          <p:cNvSpPr/>
          <p:nvPr/>
        </p:nvSpPr>
        <p:spPr>
          <a:xfrm>
            <a:off x="3566160" y="4800600"/>
            <a:ext cx="13258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7"/>
          <p:cNvSpPr/>
          <p:nvPr/>
        </p:nvSpPr>
        <p:spPr>
          <a:xfrm>
            <a:off x="356616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121" name="Shape 118"/>
          <p:cNvSpPr/>
          <p:nvPr/>
        </p:nvSpPr>
        <p:spPr>
          <a:xfrm>
            <a:off x="4892040" y="4800600"/>
            <a:ext cx="13258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9"/>
          <p:cNvSpPr/>
          <p:nvPr/>
        </p:nvSpPr>
        <p:spPr>
          <a:xfrm>
            <a:off x="489204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400" dirty="0"/>
          </a:p>
        </p:txBody>
      </p:sp>
      <p:sp>
        <p:nvSpPr>
          <p:cNvPr id="123" name="Shape 120"/>
          <p:cNvSpPr/>
          <p:nvPr/>
        </p:nvSpPr>
        <p:spPr>
          <a:xfrm>
            <a:off x="6217920" y="4800600"/>
            <a:ext cx="13258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21"/>
          <p:cNvSpPr/>
          <p:nvPr/>
        </p:nvSpPr>
        <p:spPr>
          <a:xfrm>
            <a:off x="621792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125" name="Shape 122"/>
          <p:cNvSpPr/>
          <p:nvPr/>
        </p:nvSpPr>
        <p:spPr>
          <a:xfrm>
            <a:off x="7543800" y="4800600"/>
            <a:ext cx="13258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3"/>
          <p:cNvSpPr/>
          <p:nvPr/>
        </p:nvSpPr>
        <p:spPr>
          <a:xfrm>
            <a:off x="754380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7" name="Shape 124"/>
          <p:cNvSpPr/>
          <p:nvPr/>
        </p:nvSpPr>
        <p:spPr>
          <a:xfrm>
            <a:off x="8869680" y="4800600"/>
            <a:ext cx="13258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5"/>
          <p:cNvSpPr/>
          <p:nvPr/>
        </p:nvSpPr>
        <p:spPr>
          <a:xfrm>
            <a:off x="8869680" y="4800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1400" dirty="0"/>
          </a:p>
        </p:txBody>
      </p:sp>
      <p:sp>
        <p:nvSpPr>
          <p:cNvPr id="129" name="Shape 126"/>
          <p:cNvSpPr/>
          <p:nvPr/>
        </p:nvSpPr>
        <p:spPr>
          <a:xfrm>
            <a:off x="10195560" y="4800600"/>
            <a:ext cx="141732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7"/>
          <p:cNvSpPr/>
          <p:nvPr/>
        </p:nvSpPr>
        <p:spPr>
          <a:xfrm>
            <a:off x="10195560" y="4800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</a:t>
            </a:r>
            <a:endParaRPr lang="en-US" sz="1800" dirty="0"/>
          </a:p>
        </p:txBody>
      </p:sp>
      <p:sp>
        <p:nvSpPr>
          <p:cNvPr id="131" name="Shape 128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548640" y="5532120"/>
            <a:ext cx="54864" cy="77724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0"/>
          <p:cNvSpPr/>
          <p:nvPr/>
        </p:nvSpPr>
        <p:spPr>
          <a:xfrm>
            <a:off x="777240" y="56052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CATEGORIES MEAN</a:t>
            </a:r>
            <a:endParaRPr lang="en-US" sz="900" dirty="0"/>
          </a:p>
        </p:txBody>
      </p:sp>
      <p:sp>
        <p:nvSpPr>
          <p:cNvPr id="134" name="Shape 131"/>
          <p:cNvSpPr/>
          <p:nvPr/>
        </p:nvSpPr>
        <p:spPr>
          <a:xfrm>
            <a:off x="777240" y="5888736"/>
            <a:ext cx="292608" cy="292608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2"/>
          <p:cNvSpPr/>
          <p:nvPr/>
        </p:nvSpPr>
        <p:spPr>
          <a:xfrm>
            <a:off x="77724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36" name="Text 133"/>
          <p:cNvSpPr/>
          <p:nvPr/>
        </p:nvSpPr>
        <p:spPr>
          <a:xfrm>
            <a:off x="1143000" y="58887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engaged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2606040" y="5888736"/>
            <a:ext cx="292608" cy="292608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5"/>
          <p:cNvSpPr/>
          <p:nvPr/>
        </p:nvSpPr>
        <p:spPr>
          <a:xfrm>
            <a:off x="260604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300" dirty="0"/>
          </a:p>
        </p:txBody>
      </p:sp>
      <p:sp>
        <p:nvSpPr>
          <p:cNvPr id="139" name="Text 136"/>
          <p:cNvSpPr/>
          <p:nvPr/>
        </p:nvSpPr>
        <p:spPr>
          <a:xfrm>
            <a:off x="2971800" y="58887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→ ZOP (Build)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4434840" y="5888736"/>
            <a:ext cx="292608" cy="292608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Text 138"/>
          <p:cNvSpPr/>
          <p:nvPr/>
        </p:nvSpPr>
        <p:spPr>
          <a:xfrm>
            <a:off x="443484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300" dirty="0"/>
          </a:p>
        </p:txBody>
      </p:sp>
      <p:sp>
        <p:nvSpPr>
          <p:cNvPr id="142" name="Text 139"/>
          <p:cNvSpPr/>
          <p:nvPr/>
        </p:nvSpPr>
        <p:spPr>
          <a:xfrm>
            <a:off x="4800600" y="58887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 avail.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6263640" y="5888736"/>
            <a:ext cx="292608" cy="292608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1"/>
          <p:cNvSpPr/>
          <p:nvPr/>
        </p:nvSpPr>
        <p:spPr>
          <a:xfrm>
            <a:off x="626364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300" dirty="0"/>
          </a:p>
        </p:txBody>
      </p:sp>
      <p:sp>
        <p:nvSpPr>
          <p:cNvPr id="145" name="Text 142"/>
          <p:cNvSpPr/>
          <p:nvPr/>
        </p:nvSpPr>
        <p:spPr>
          <a:xfrm>
            <a:off x="6629400" y="58887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dev required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8092440" y="5888736"/>
            <a:ext cx="292608" cy="292608"/>
          </a:xfrm>
          <a:prstGeom prst="ellipse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144"/>
          <p:cNvSpPr/>
          <p:nvPr/>
        </p:nvSpPr>
        <p:spPr>
          <a:xfrm>
            <a:off x="809244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48" name="Text 145"/>
          <p:cNvSpPr/>
          <p:nvPr/>
        </p:nvSpPr>
        <p:spPr>
          <a:xfrm>
            <a:off x="8458200" y="58887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 avail.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9921240" y="5888736"/>
            <a:ext cx="292608" cy="292608"/>
          </a:xfrm>
          <a:prstGeom prst="ellipse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Text 147"/>
          <p:cNvSpPr/>
          <p:nvPr/>
        </p:nvSpPr>
        <p:spPr>
          <a:xfrm>
            <a:off x="9921240" y="5888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300" dirty="0"/>
          </a:p>
        </p:txBody>
      </p:sp>
      <p:sp>
        <p:nvSpPr>
          <p:cNvPr id="151" name="Text 148"/>
          <p:cNvSpPr/>
          <p:nvPr/>
        </p:nvSpPr>
        <p:spPr>
          <a:xfrm>
            <a:off x="10287000" y="58887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→ ZOP (Support)</a:t>
            </a:r>
            <a:endParaRPr lang="en-US" sz="950" dirty="0"/>
          </a:p>
        </p:txBody>
      </p:sp>
      <p:sp>
        <p:nvSpPr>
          <p:cNvPr id="152" name="Text 149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 ·  RESOURCING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Squad — 7 members named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from existing BAU resources (B) + 5 from existing platform support (F) — all 100% allocated, moving into Zephyr On-Prem squads in 2026.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596640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3596640" cy="5943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76600" y="198424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7660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42360" y="20391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224028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from B  +  2 from 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1520" y="2889504"/>
            <a:ext cx="292608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28895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97280" y="2852928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Candice Ellsworth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3182112"/>
            <a:ext cx="292608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318211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" y="3145536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Rebecca J Sogard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3474720"/>
            <a:ext cx="292608" cy="201168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" y="34747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280" y="3438144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Danny Pelicano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3767328"/>
            <a:ext cx="292608" cy="201168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1520" y="376732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" y="3730752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Almirante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1520" y="452628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31520" y="461772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31520" y="4855464"/>
            <a:ext cx="332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for SQL Server implementation · Ansible automation for build &amp; on-going maintenance · operational guardrails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282440" y="1874520"/>
            <a:ext cx="3596640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282440" y="1874520"/>
            <a:ext cx="3596640" cy="5943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465320" y="192024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010400" y="198424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01040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376160" y="20391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465320" y="224028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from F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465320" y="260604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465320" y="2889504"/>
            <a:ext cx="292608" cy="201168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465320" y="28895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31080" y="2852928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Yili (Lisa) Zhu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465320" y="3182112"/>
            <a:ext cx="292608" cy="201168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65320" y="318211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831080" y="3145536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Sally Bao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465320" y="452628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465320" y="461772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465320" y="4855464"/>
            <a:ext cx="332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for operational requirements · feedback bridge between application &amp; engineering teams · automated patch rollout · Ansible automation for on-going maintenance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016240" y="1874520"/>
            <a:ext cx="3596640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8016240" y="1874520"/>
            <a:ext cx="3596640" cy="5943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199120" y="192024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10744200" y="198424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74420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1109960" y="20391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199120" y="224028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from F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199120" y="260604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199120" y="2889504"/>
            <a:ext cx="292608" cy="201168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199120" y="28895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564880" y="2852928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Sandeep Ranabotu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564880" y="3099816"/>
            <a:ext cx="295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Technical Specialist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8199120" y="452628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8199120" y="4617720"/>
            <a:ext cx="332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8199120" y="4855464"/>
            <a:ext cx="332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for operational requirements · feedback bridge between application &amp; engineering teams · guidance on tooling for patching · operational guardrails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777240" y="6199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ACROSS ALL 7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77240" y="638251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Subject-matter expertise · communication between operational and engineering teams · scripting and operational tool design · operational guardrails.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 ·  RESOURCING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Squad — 4 members named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full-time software developer (D) for VMaaS · 3 operations leads (F) for Windows, Linux, VMware — all 4 dedicated to running the Compute platform as one team.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463540" cy="21717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635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1993392"/>
            <a:ext cx="548640" cy="2286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09260" y="1993392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0926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1929384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 Mathew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2185416"/>
            <a:ext cx="4046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 · VMaaS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" y="2587752"/>
            <a:ext cx="5143500" cy="27432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651760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258775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50% — request 100% allocation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13232" y="2953512"/>
            <a:ext cx="5189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85800" y="3182112"/>
            <a:ext cx="5189220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new VMaaS platform features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and maintenance for platform microservices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and resolve service-level issues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infrastructure teams on integration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platform scalability and performance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49340" y="1874520"/>
            <a:ext cx="5463540" cy="21717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49340" y="1874520"/>
            <a:ext cx="54635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332220" y="1993392"/>
            <a:ext cx="548640" cy="2286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332220" y="1993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1109960" y="1993392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110996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972300" y="1929384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Stephen Luk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972300" y="2185416"/>
            <a:ext cx="4046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Operations Lead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313932" y="2651760"/>
            <a:ext cx="5189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86500" y="2880360"/>
            <a:ext cx="51892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and technical support for Windows-related inquiries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Windows deployment operations and infrastructure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optimize Windows gold image and configurations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Windows gold images across the platform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and enhance Windows deployment automation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48640" y="4183380"/>
            <a:ext cx="5463540" cy="21717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48640" y="4183380"/>
            <a:ext cx="54635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731520" y="4302252"/>
            <a:ext cx="548640" cy="2286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31520" y="43022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509260" y="4302252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509260" y="43022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371600" y="4238244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Esha Patel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1371600" y="4494276"/>
            <a:ext cx="4046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Operations Lead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713232" y="4960620"/>
            <a:ext cx="5189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85800" y="5189220"/>
            <a:ext cx="51892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and technical support for Linux-related inquiries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Linux deployment operations and infrastructure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optimize Linux gold image and configurations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Linux gold images across the platform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and enhance Linux deployment automation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149340" y="4183380"/>
            <a:ext cx="5463540" cy="21717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6149340" y="4183380"/>
            <a:ext cx="54635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6332220" y="4302252"/>
            <a:ext cx="548640" cy="2286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332220" y="43022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11109960" y="4302252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11109960" y="43022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6972300" y="4238244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Dilip Bellara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6972300" y="4494276"/>
            <a:ext cx="4046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Infrastructure Lead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313932" y="4960620"/>
            <a:ext cx="5189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6286500" y="5189220"/>
            <a:ext cx="51892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and optimize vRealize Automation platform operations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manage VMaaS-related infrastructure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upgrade vRealize Suite to current versions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elevated-privilege support and escalation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compliance and security across VMware components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 ·  RESOURCING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Map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squads above covers 64 roles via reallocation. The remaining 11 roles in column D require $3.5MM PAR — partially via IBM Statement of Work.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6916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240280" y="1874520"/>
            <a:ext cx="5303520" cy="36576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4028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1874520"/>
            <a:ext cx="2651760" cy="3657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4380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SUPPORT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195560" y="1874520"/>
            <a:ext cx="141732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40280" y="224028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56916" y="232257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5691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566160" y="224028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082796" y="232257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8279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92040" y="224028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08676" y="232257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0867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17920" y="224028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734556" y="232257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73455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543800" y="224028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060436" y="232257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6043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869680" y="2240280"/>
            <a:ext cx="132588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9386316" y="2322576"/>
            <a:ext cx="292608" cy="292608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386316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0195560" y="2240280"/>
            <a:ext cx="1417320" cy="457200"/>
          </a:xfrm>
          <a:prstGeom prst="rect">
            <a:avLst/>
          </a:prstGeom>
          <a:solidFill>
            <a:srgbClr val="0031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19556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2697480"/>
            <a:ext cx="169164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4864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40280" y="269748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24028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3566160" y="269748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56616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892040" y="269748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89204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217920" y="2697480"/>
            <a:ext cx="1325880" cy="365760"/>
          </a:xfrm>
          <a:prstGeom prst="rect">
            <a:avLst/>
          </a:prstGeom>
          <a:solidFill>
            <a:srgbClr val="FFEBA0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21792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543800" y="269748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54380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869680" y="269748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86968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10195560" y="2697480"/>
            <a:ext cx="141732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019556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48640" y="3063240"/>
            <a:ext cx="169164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4864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240280" y="306324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24028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3566160" y="306324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56616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4892040" y="306324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89204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6217920" y="3063240"/>
            <a:ext cx="1325880" cy="365760"/>
          </a:xfrm>
          <a:prstGeom prst="rect">
            <a:avLst/>
          </a:prstGeom>
          <a:solidFill>
            <a:srgbClr val="FFEBA0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21792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7543800" y="306324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54380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8869680" y="3063240"/>
            <a:ext cx="132588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86968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10195560" y="3063240"/>
            <a:ext cx="1417320" cy="365760"/>
          </a:xfrm>
          <a:prstGeom prst="rect">
            <a:avLst/>
          </a:prstGeom>
          <a:solidFill>
            <a:srgbClr val="FFF8DD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019556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548640" y="3429000"/>
            <a:ext cx="16916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48640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2240280" y="342900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24028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3566160" y="342900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356616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4892040" y="342900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489204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6217920" y="3429000"/>
            <a:ext cx="1325880" cy="365760"/>
          </a:xfrm>
          <a:prstGeom prst="rect">
            <a:avLst/>
          </a:prstGeom>
          <a:solidFill>
            <a:srgbClr val="FFEBA0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21792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7543800" y="342900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754380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8869680" y="342900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886968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0195560" y="3429000"/>
            <a:ext cx="141732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101955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3" name="Shape 80"/>
          <p:cNvSpPr/>
          <p:nvPr/>
        </p:nvSpPr>
        <p:spPr>
          <a:xfrm>
            <a:off x="548640" y="3794760"/>
            <a:ext cx="16916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548640" y="3794760"/>
            <a:ext cx="169164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2240280" y="3794760"/>
            <a:ext cx="1325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224028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7" name="Shape 84"/>
          <p:cNvSpPr/>
          <p:nvPr/>
        </p:nvSpPr>
        <p:spPr>
          <a:xfrm>
            <a:off x="3566160" y="3794760"/>
            <a:ext cx="1325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356616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9" name="Shape 86"/>
          <p:cNvSpPr/>
          <p:nvPr/>
        </p:nvSpPr>
        <p:spPr>
          <a:xfrm>
            <a:off x="4892040" y="3794760"/>
            <a:ext cx="1325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489204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1" name="Shape 88"/>
          <p:cNvSpPr/>
          <p:nvPr/>
        </p:nvSpPr>
        <p:spPr>
          <a:xfrm>
            <a:off x="6217920" y="3794760"/>
            <a:ext cx="1325880" cy="365760"/>
          </a:xfrm>
          <a:prstGeom prst="rect">
            <a:avLst/>
          </a:prstGeom>
          <a:solidFill>
            <a:srgbClr val="FFEBA0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621792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3" name="Shape 90"/>
          <p:cNvSpPr/>
          <p:nvPr/>
        </p:nvSpPr>
        <p:spPr>
          <a:xfrm>
            <a:off x="7543800" y="3794760"/>
            <a:ext cx="1325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754380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5" name="Shape 92"/>
          <p:cNvSpPr/>
          <p:nvPr/>
        </p:nvSpPr>
        <p:spPr>
          <a:xfrm>
            <a:off x="8869680" y="3794760"/>
            <a:ext cx="132588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886968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7" name="Shape 94"/>
          <p:cNvSpPr/>
          <p:nvPr/>
        </p:nvSpPr>
        <p:spPr>
          <a:xfrm>
            <a:off x="10195560" y="3794760"/>
            <a:ext cx="14173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1019556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99" name="Shape 96"/>
          <p:cNvSpPr/>
          <p:nvPr/>
        </p:nvSpPr>
        <p:spPr>
          <a:xfrm>
            <a:off x="548640" y="4160520"/>
            <a:ext cx="16916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7"/>
          <p:cNvSpPr/>
          <p:nvPr/>
        </p:nvSpPr>
        <p:spPr>
          <a:xfrm>
            <a:off x="54864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Hosting &amp; Mainframe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240280" y="416052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224028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3" name="Shape 100"/>
          <p:cNvSpPr/>
          <p:nvPr/>
        </p:nvSpPr>
        <p:spPr>
          <a:xfrm>
            <a:off x="3566160" y="416052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/>
          <p:nvPr/>
        </p:nvSpPr>
        <p:spPr>
          <a:xfrm>
            <a:off x="356616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05" name="Shape 102"/>
          <p:cNvSpPr/>
          <p:nvPr/>
        </p:nvSpPr>
        <p:spPr>
          <a:xfrm>
            <a:off x="4892040" y="416052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3"/>
          <p:cNvSpPr/>
          <p:nvPr/>
        </p:nvSpPr>
        <p:spPr>
          <a:xfrm>
            <a:off x="489204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7" name="Shape 104"/>
          <p:cNvSpPr/>
          <p:nvPr/>
        </p:nvSpPr>
        <p:spPr>
          <a:xfrm>
            <a:off x="6217920" y="4160520"/>
            <a:ext cx="1325880" cy="365760"/>
          </a:xfrm>
          <a:prstGeom prst="rect">
            <a:avLst/>
          </a:prstGeom>
          <a:solidFill>
            <a:srgbClr val="FFEBA0"/>
          </a:solidFill>
          <a:ln w="10160">
            <a:solidFill>
              <a:srgbClr val="C9A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621792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9" name="Shape 106"/>
          <p:cNvSpPr/>
          <p:nvPr/>
        </p:nvSpPr>
        <p:spPr>
          <a:xfrm>
            <a:off x="7543800" y="416052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7"/>
          <p:cNvSpPr/>
          <p:nvPr/>
        </p:nvSpPr>
        <p:spPr>
          <a:xfrm>
            <a:off x="754380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1" name="Shape 108"/>
          <p:cNvSpPr/>
          <p:nvPr/>
        </p:nvSpPr>
        <p:spPr>
          <a:xfrm>
            <a:off x="8869680" y="4160520"/>
            <a:ext cx="132588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9"/>
          <p:cNvSpPr/>
          <p:nvPr/>
        </p:nvSpPr>
        <p:spPr>
          <a:xfrm>
            <a:off x="886968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13" name="Shape 110"/>
          <p:cNvSpPr/>
          <p:nvPr/>
        </p:nvSpPr>
        <p:spPr>
          <a:xfrm>
            <a:off x="10195560" y="4160520"/>
            <a:ext cx="141732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10195560" y="4160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115" name="Shape 112"/>
          <p:cNvSpPr/>
          <p:nvPr/>
        </p:nvSpPr>
        <p:spPr>
          <a:xfrm>
            <a:off x="548640" y="4526280"/>
            <a:ext cx="1691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3"/>
          <p:cNvSpPr/>
          <p:nvPr/>
        </p:nvSpPr>
        <p:spPr>
          <a:xfrm>
            <a:off x="54864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117" name="Shape 114"/>
          <p:cNvSpPr/>
          <p:nvPr/>
        </p:nvSpPr>
        <p:spPr>
          <a:xfrm>
            <a:off x="2240280" y="4526280"/>
            <a:ext cx="13258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5"/>
          <p:cNvSpPr/>
          <p:nvPr/>
        </p:nvSpPr>
        <p:spPr>
          <a:xfrm>
            <a:off x="224028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400" dirty="0"/>
          </a:p>
        </p:txBody>
      </p:sp>
      <p:sp>
        <p:nvSpPr>
          <p:cNvPr id="119" name="Shape 116"/>
          <p:cNvSpPr/>
          <p:nvPr/>
        </p:nvSpPr>
        <p:spPr>
          <a:xfrm>
            <a:off x="3566160" y="4526280"/>
            <a:ext cx="13258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7"/>
          <p:cNvSpPr/>
          <p:nvPr/>
        </p:nvSpPr>
        <p:spPr>
          <a:xfrm>
            <a:off x="356616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121" name="Shape 118"/>
          <p:cNvSpPr/>
          <p:nvPr/>
        </p:nvSpPr>
        <p:spPr>
          <a:xfrm>
            <a:off x="4892040" y="4526280"/>
            <a:ext cx="13258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9"/>
          <p:cNvSpPr/>
          <p:nvPr/>
        </p:nvSpPr>
        <p:spPr>
          <a:xfrm>
            <a:off x="489204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400" dirty="0"/>
          </a:p>
        </p:txBody>
      </p:sp>
      <p:sp>
        <p:nvSpPr>
          <p:cNvPr id="123" name="Shape 120"/>
          <p:cNvSpPr/>
          <p:nvPr/>
        </p:nvSpPr>
        <p:spPr>
          <a:xfrm>
            <a:off x="6217920" y="4526280"/>
            <a:ext cx="13258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21"/>
          <p:cNvSpPr/>
          <p:nvPr/>
        </p:nvSpPr>
        <p:spPr>
          <a:xfrm>
            <a:off x="621792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125" name="Shape 122"/>
          <p:cNvSpPr/>
          <p:nvPr/>
        </p:nvSpPr>
        <p:spPr>
          <a:xfrm>
            <a:off x="7543800" y="4526280"/>
            <a:ext cx="13258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3"/>
          <p:cNvSpPr/>
          <p:nvPr/>
        </p:nvSpPr>
        <p:spPr>
          <a:xfrm>
            <a:off x="754380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7" name="Shape 124"/>
          <p:cNvSpPr/>
          <p:nvPr/>
        </p:nvSpPr>
        <p:spPr>
          <a:xfrm>
            <a:off x="8869680" y="4526280"/>
            <a:ext cx="13258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5"/>
          <p:cNvSpPr/>
          <p:nvPr/>
        </p:nvSpPr>
        <p:spPr>
          <a:xfrm>
            <a:off x="886968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1400" dirty="0"/>
          </a:p>
        </p:txBody>
      </p:sp>
      <p:sp>
        <p:nvSpPr>
          <p:cNvPr id="129" name="Shape 126"/>
          <p:cNvSpPr/>
          <p:nvPr/>
        </p:nvSpPr>
        <p:spPr>
          <a:xfrm>
            <a:off x="10195560" y="4526280"/>
            <a:ext cx="141732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7"/>
          <p:cNvSpPr/>
          <p:nvPr/>
        </p:nvSpPr>
        <p:spPr>
          <a:xfrm>
            <a:off x="10195560" y="4526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</a:t>
            </a:r>
            <a:endParaRPr lang="en-US" sz="1700" dirty="0"/>
          </a:p>
        </p:txBody>
      </p:sp>
      <p:sp>
        <p:nvSpPr>
          <p:cNvPr id="131" name="Shape 128"/>
          <p:cNvSpPr/>
          <p:nvPr/>
        </p:nvSpPr>
        <p:spPr>
          <a:xfrm>
            <a:off x="548640" y="5212080"/>
            <a:ext cx="5463540" cy="10058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548640" y="5212080"/>
            <a:ext cx="54864" cy="1005840"/>
          </a:xfrm>
          <a:prstGeom prst="rect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0"/>
          <p:cNvSpPr/>
          <p:nvPr/>
        </p:nvSpPr>
        <p:spPr>
          <a:xfrm>
            <a:off x="777240" y="5303520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COVERED BY REALLOCATION</a:t>
            </a:r>
            <a:endParaRPr lang="en-US" sz="1000" dirty="0"/>
          </a:p>
        </p:txBody>
      </p:sp>
      <p:sp>
        <p:nvSpPr>
          <p:cNvPr id="134" name="Text 131"/>
          <p:cNvSpPr/>
          <p:nvPr/>
        </p:nvSpPr>
        <p:spPr>
          <a:xfrm>
            <a:off x="777240" y="5541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 roles</a:t>
            </a:r>
            <a:endParaRPr lang="en-US" sz="2600" dirty="0"/>
          </a:p>
        </p:txBody>
      </p:sp>
      <p:sp>
        <p:nvSpPr>
          <p:cNvPr id="135" name="Text 132"/>
          <p:cNvSpPr/>
          <p:nvPr/>
        </p:nvSpPr>
        <p:spPr>
          <a:xfrm>
            <a:off x="2606040" y="5596128"/>
            <a:ext cx="3360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+ B + E + F</a:t>
            </a:r>
            <a:endParaRPr lang="en-US" sz="1300" dirty="0"/>
          </a:p>
        </p:txBody>
      </p:sp>
      <p:sp>
        <p:nvSpPr>
          <p:cNvPr id="136" name="Text 133"/>
          <p:cNvSpPr/>
          <p:nvPr/>
        </p:nvSpPr>
        <p:spPr>
          <a:xfrm>
            <a:off x="777240" y="5925312"/>
            <a:ext cx="5189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·moving into Zephyr On-Prem squads · Reusing existing skills</a:t>
            </a:r>
            <a:endParaRPr lang="en-US" sz="1100" dirty="0"/>
          </a:p>
        </p:txBody>
      </p:sp>
      <p:sp>
        <p:nvSpPr>
          <p:cNvPr id="137" name="Shape 134"/>
          <p:cNvSpPr/>
          <p:nvPr/>
        </p:nvSpPr>
        <p:spPr>
          <a:xfrm>
            <a:off x="6149340" y="5212080"/>
            <a:ext cx="5463540" cy="10058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5"/>
          <p:cNvSpPr/>
          <p:nvPr/>
        </p:nvSpPr>
        <p:spPr>
          <a:xfrm>
            <a:off x="6149340" y="5212080"/>
            <a:ext cx="54864" cy="1005840"/>
          </a:xfrm>
          <a:prstGeom prst="rect">
            <a:avLst/>
          </a:prstGeom>
          <a:solidFill>
            <a:srgbClr val="C9A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6"/>
          <p:cNvSpPr/>
          <p:nvPr/>
        </p:nvSpPr>
        <p:spPr>
          <a:xfrm>
            <a:off x="6377940" y="5303520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  REQUIRES $3.5MM PAR</a:t>
            </a:r>
            <a:endParaRPr lang="en-US" sz="1000" dirty="0"/>
          </a:p>
        </p:txBody>
      </p:sp>
      <p:sp>
        <p:nvSpPr>
          <p:cNvPr id="140" name="Text 137"/>
          <p:cNvSpPr/>
          <p:nvPr/>
        </p:nvSpPr>
        <p:spPr>
          <a:xfrm>
            <a:off x="6377940" y="5541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roles</a:t>
            </a:r>
            <a:endParaRPr lang="en-US" sz="2600" dirty="0"/>
          </a:p>
        </p:txBody>
      </p:sp>
      <p:sp>
        <p:nvSpPr>
          <p:cNvPr id="141" name="Text 138"/>
          <p:cNvSpPr/>
          <p:nvPr/>
        </p:nvSpPr>
        <p:spPr>
          <a:xfrm>
            <a:off x="8206740" y="559612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D — Full-time Software Dev</a:t>
            </a:r>
            <a:endParaRPr lang="en-US" sz="1300" dirty="0"/>
          </a:p>
        </p:txBody>
      </p:sp>
      <p:sp>
        <p:nvSpPr>
          <p:cNvPr id="142" name="Text 139"/>
          <p:cNvSpPr/>
          <p:nvPr/>
        </p:nvSpPr>
        <p:spPr>
          <a:xfrm>
            <a:off x="6377940" y="5925312"/>
            <a:ext cx="5097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$3.5MM funding ask · partially covered by IBM Statement of Work.</a:t>
            </a:r>
            <a:endParaRPr lang="en-US" sz="1100" dirty="0"/>
          </a:p>
        </p:txBody>
      </p:sp>
      <p:sp>
        <p:nvSpPr>
          <p:cNvPr id="143" name="Text 14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we draw from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models that inform our operating choices — we synthesize, we don't copy.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44068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5468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Treynor Sloss, 2003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4688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68833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as engineering discipline. Error budgets bound speed-vs-stability. ≤50% toil cap for sustainable operations.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338328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34747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TAKE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" y="369417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· error-budget policy · blameless postmortems · toil cap discipline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72200" y="1920240"/>
            <a:ext cx="544068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5508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Topologies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77824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Skelton &amp; Pais, 2019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24688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55080" y="268833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team types organized for fast flow of value. Cognitive load as design constraint. Team APIs.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55080" y="338328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55080" y="34747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TAKE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55080" y="369417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type · Team API publication · cognitive-load awareness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29768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4297680"/>
            <a:ext cx="544068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3152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Platform-as-a-Product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15468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Platforms WG · Thoughtworks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1520" y="48463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31520" y="506577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platform with PM, roadmap, internal customers, adoption metrics. Paved roads — not mandates.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" y="576072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1520" y="58521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TAKE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1520" y="607161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mindset · paved-road thinking · adoption-first measurement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72200" y="429768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172200" y="4297680"/>
            <a:ext cx="5440680" cy="45720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35508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ITIL 4 + DORA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77824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Axelos 2019 · Forsgren et al 2018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355080" y="48463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55080" y="506577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Standard Changes via paved-road pipelines. DORA Four Keys as the joint metric set.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355080" y="576072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355080" y="58521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TAKE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355080" y="607161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Modernized change enablement · Four Keys metrics · pipeline-based controls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peers and big tech run platform teams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nine companies — what stands out, and where Zephyr sits.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064240" cy="5029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29968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Model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73168" y="18745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</a:t>
            </a:r>
            <a:endParaRPr lang="en-US" sz="1000" dirty="0"/>
          </a:p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on-call?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61888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Posture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18745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Distinguishing Practice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377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57400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SRE org · embedded per service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23774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(SRE)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52360" y="237744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halts launches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27432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057400" y="27432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Full-cycle devs + central CORE SRE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00600" y="27432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27432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All-cloud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52360" y="274320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only for streaming KPIs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5800" y="31089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057400" y="31089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Two-pizza teams own end-to-end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00600" y="31089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(every)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89320" y="31089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All-cloud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52360" y="310896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of Errors postmortem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34747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057400" y="34747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Production Engineering + dev teams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00600" y="34747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89320" y="34747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All-cloud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452360" y="347472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Engineering pattern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85800" y="384048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Bank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057400" y="38404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platforms · 2-in-a-box leadership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00600" y="384048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989320" y="3840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Private-cloud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452360" y="384048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SRE; 8 published principles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85800" y="42062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057400" y="4206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· 'you build it, you own it'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800600" y="420624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989320" y="42062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All-AWS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7452360" y="420624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Gates pipeline as SoD control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solidFill>
            <a:srgbClr val="E6EEF8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48640" y="4572000"/>
            <a:ext cx="54864" cy="36576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85800" y="45720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2057400" y="45720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SRE / Production-Engineering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800600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989320" y="45720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7452360" y="457200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published analogue to RBC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85800" y="49377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2057400" y="493776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+ Core Engineering function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800600" y="49377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989320" y="49377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7452360" y="493776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 tradition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685800" y="53035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JPMC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2057400" y="53035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by LOB + horizontal infra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800600" y="53035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5989320" y="5303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7452360" y="530352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Gaia private cloud at scale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777240" y="5952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STANDS OUT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7772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have engineers involved in production response — they differ on who carries the primary pager and how dedicated the ops function is to a single team.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Zephyr lands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Unconventional by big-tech standards — well-grounded in regulated-enterprise practice.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11064240" cy="8686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4864" cy="8686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POSITION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closest to large regulated enterprises that combine product-team accountability with dedicated operations seats — not to cloud-native unicorns where every engineer carries the pager.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266319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2663190" cy="6400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3232" y="3017520"/>
            <a:ext cx="2434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CSG International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3232" y="3337560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Build/Run team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3749040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Dev and Ops in one cross-functional team with a shared backlog and named ops engineers per platform.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3232" y="4690872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Prugh, DevOps Enterprise Summit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348990" y="2971800"/>
            <a:ext cx="266319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48990" y="2971800"/>
            <a:ext cx="2663190" cy="6400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513582" y="3017520"/>
            <a:ext cx="2434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 Bank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13582" y="3337560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2-in-a-box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513582" y="3749040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product platforms with joint business + tech leadership; dedicated SRE function with eight published principles.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513582" y="4690872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GANDALF strategy, MD Cloud Engineering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149340" y="2971800"/>
            <a:ext cx="266319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149340" y="2971800"/>
            <a:ext cx="2663190" cy="6400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13932" y="3017520"/>
            <a:ext cx="2434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Goldman Sachs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13932" y="3337560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13932" y="3749040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dedicated Production Support and Systems Engineering roles alongside business-line engineering.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13932" y="4690872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 · ~3,000 engineers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949690" y="2971800"/>
            <a:ext cx="266319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949690" y="2971800"/>
            <a:ext cx="2663190" cy="6400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114282" y="3017520"/>
            <a:ext cx="2434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Barclays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114282" y="3337560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Production-Eng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14282" y="3749040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SRE function carries the pager in trading platforms, IAM, and dev platforms — closest published analogue.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114282" y="4690872"/>
            <a:ext cx="2434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in Investment Banking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8640" y="5166360"/>
            <a:ext cx="5463540" cy="12344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48640" y="5166360"/>
            <a:ext cx="54864" cy="1234440"/>
          </a:xfrm>
          <a:prstGeom prst="rect">
            <a:avLst/>
          </a:prstGeom>
          <a:solidFill>
            <a:srgbClr val="1F8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77240" y="5239512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WHAT WE ADOPT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77240" y="5486400"/>
            <a:ext cx="5189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Topologies platform team · Google SLOs and error budgets · Platform-as-a-Product mindset · ITIL 4 standard changes · Team APIs · DORA Four Keys.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149340" y="5166360"/>
            <a:ext cx="5463540" cy="123444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149340" y="5166360"/>
            <a:ext cx="54864" cy="12344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377940" y="5239512"/>
            <a:ext cx="5189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WHAT WE DON'T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377940" y="5486400"/>
            <a:ext cx="5189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Full-cycle developer on-call · CAB-as-gate · Spotify squad model · centralized shared-pool ops · sysadmin ticket queues separate from engineering backlog.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Engineers not on-call — the case and the safeguards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most contested choice. Here's the rationale, and how we preserve the engineering–operations feedback loop.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40680" cy="402336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440680" cy="50292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0391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OPS-ONLY ON-CALL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344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separation of duties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234440" y="2852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OSFI B-13 and EU DORA Article 17 require independence of change-approver and change-implementer.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3444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and works-council constraints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234440" y="3694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paging rotations for engineers trigger negotiated-pay implications and policy review in the Canadian context.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4242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234440" y="4242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and skill specialization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234440" y="4535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SREs are more efficient at ops than developers doing it part-time. "One SRE replaces two SWEs doing the same work" — Treynor.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5084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234440" y="5084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Follow-the-sun sustainability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234440" y="5376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SRE Workbook itself endorses follow-the-sun ops as the only sustainable way to avoid night shifts at scale.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72200" y="1920240"/>
            <a:ext cx="5440680" cy="402336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72200" y="1920240"/>
            <a:ext cx="5440680" cy="50292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0" y="20391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PRESERVE THE FEEDBACK LOOP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580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Issues raised as prioritized bugs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858000" y="2852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issue enters the same backlog as feature work. Severity drives priority. Team commits to fixes in sprint.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85800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Error-budget policy co-signed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58000" y="3694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Tech Lead + Ops Lead sign a policy. Budget exhaustion triggers feature freeze until reliability is restored.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0" y="4242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858000" y="4242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Daytime engineering escalation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858000" y="4535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maintain a 24/7 escalation path. Ops can engage engineering during business hours with no ticket queue.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00800" y="5084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6858000" y="5084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"Return the pager" option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858000" y="5376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SLOs persistently miss, ops can return the pager to engineering. Makes engineers' commitment to operability concrete.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E6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published peers: Barclays SRE/Production-Engineering · Goldman Sachs Systems Engineering · DBS dedicated SRE function — all combine product-team accountability with dedicated ops in a regulated context.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risks we must manage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with this operating model — and how we mitigate.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as human abstraction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48716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2697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absorbs production pain that should reach engineering. Engineers drift away from operational reality.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324612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3375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35478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Error-budget policy with feature freeze when budget burns · option to return the pager · track production-bug % of sprint capacity as leading indicator.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192024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192024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72200" y="192024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7220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as ticket-handling sysadmin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48716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55080" y="26974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ops seats are filled by traditional sysadmins, the team bottlenecks on tickets. Backlog fills with low-value items.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55080" y="324612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55080" y="33375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55080" y="35478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SREs against software-engineering bar · pay on engineering scale · enforce 50% toil cap per Google SRE.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429768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" y="429768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8640" y="429768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18872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backlogs masquerading as one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" y="48646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1520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shared backlog, ops work can drift into a parallel queue invisible to the Product Owner.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315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31520" y="57150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59253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items as first-class stories with story points and acceptance criteria · joint DORA Four Keys + SLO + toil % metrics.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72200" y="4297680"/>
            <a:ext cx="544068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172200" y="4297680"/>
            <a:ext cx="544068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172200" y="4297680"/>
            <a:ext cx="502920" cy="45720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17220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6812280" y="4297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nobody uses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355080" y="48646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355080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platform teams without internal-customer feedback build the wrong things at the wrong time.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35508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55080" y="571500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355080" y="59253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Team API · treat platform as product with PM and adoption metrics · start with Thinnest Viable Platform.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 ·  OPERATING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Anti-patterns we avoid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documented across industry — and how we steer clear.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391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9202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Wall of confusion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1520" y="248716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1520" y="269748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declare DONE at feature-complete. Ops inherit non-operable software.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29184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31520" y="338328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" y="359359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in the planning room from day one. Operability is part of every story's definition of done.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82440" y="192024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82440" y="192024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0391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85360" y="19202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as interrupt sink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465320" y="248716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465320" y="269748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engineering time, ops becomes pure firefighting → burnout → exit.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465320" y="329184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465320" y="338328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465320" y="359359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toil cap. Ops contribute platform improvements that reduce future incidents.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016240" y="192024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016240" y="192024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0" y="203911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19160" y="192024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backlogs as one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199120" y="248716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199120" y="269748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has its own ticket queue; standup discusses features only; production work invisible to PO.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199120" y="329184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8199120" y="338328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199120" y="359359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backlog. Ops items are first-class stories with story points.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8640" y="425196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425196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70832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51560" y="42519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SRE / rebranded sysadmin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31520" y="481888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31520" y="502920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renamed without changing behavior. Devs still throw feature-complete code over the wall.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315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731520" y="57150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731520" y="592531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 hired against engineering bar. Same pay scale. Toil cap discipline.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282440" y="425196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4282440" y="425196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437083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785360" y="42519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CAB as approval gate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4465320" y="481888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4465320" y="502920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delay mechanism with no quality benefit. DORA: 2.6× correlation with low performance.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44653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4465320" y="57150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4465320" y="592531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Changes via paved-road pipeline. CAB only for material or novel changes.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8016240" y="4251960"/>
            <a:ext cx="35966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8016240" y="4251960"/>
            <a:ext cx="3596640" cy="45720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0" y="4370832"/>
            <a:ext cx="219456" cy="219456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519160" y="42519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Postmortem AIs that rot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8199120" y="4818888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8199120" y="5029200"/>
            <a:ext cx="323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error-budget visibility, action items lose to feature work every sprint.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8199120" y="5623560"/>
            <a:ext cx="36576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/>
          <p:nvPr/>
        </p:nvSpPr>
        <p:spPr>
          <a:xfrm>
            <a:off x="8199120" y="5715000"/>
            <a:ext cx="323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8B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AVOID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8199120" y="5925312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are first-class backlog items with named owners, due dates, and steering visibility.</a:t>
            </a:r>
            <a:endParaRPr lang="en-US" sz="1000" dirty="0"/>
          </a:p>
        </p:txBody>
      </p:sp>
      <p:sp>
        <p:nvSpPr>
          <p:cNvPr id="61" name="Text 5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 ·  PLATFORM STATUS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platform — status update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92808"/>
            <a:ext cx="365760" cy="36576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9659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75488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PERIOD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YYYY]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2376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RAG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223760" y="2075688"/>
            <a:ext cx="256032" cy="256032"/>
          </a:xfrm>
          <a:prstGeom prst="ellipse">
            <a:avLst/>
          </a:prstGeom>
          <a:solidFill>
            <a:srgbClr val="5B67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5438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G/Y/R ]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856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UPDATED  ·  NEXT REVIEW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05256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[Date]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514600"/>
            <a:ext cx="5349240" cy="132588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48640" y="2514600"/>
            <a:ext cx="54864" cy="132588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25877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1520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FTE + [N] contractors  ·  Personas: Engineering, Operations, Delivery, Architecture, Security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393192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WORKSTREAM TOUCHPOINTS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864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10070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90881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190881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46087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90881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26898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26898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2104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26898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29150" y="4206240"/>
            <a:ext cx="126873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629150" y="4206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181219" y="4498848"/>
            <a:ext cx="164592" cy="164592"/>
          </a:xfrm>
          <a:prstGeom prst="ellipse">
            <a:avLst/>
          </a:prstGeom>
          <a:solidFill>
            <a:srgbClr val="5B67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629150" y="4663440"/>
            <a:ext cx="1268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status ]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40" y="498348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TREND (LAST 4 MONTHS)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4864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9436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9436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coverage 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1323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102641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75895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133959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07213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65277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38531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190881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195453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95453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incidents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07340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238658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211912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269976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243230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01294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274548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326898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331470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# ]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331470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audit findings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343357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374675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347929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05993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379247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437311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10565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9"/>
          <p:cNvSpPr/>
          <p:nvPr/>
        </p:nvSpPr>
        <p:spPr>
          <a:xfrm>
            <a:off x="4629150" y="5257800"/>
            <a:ext cx="1268730" cy="91440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674870" y="5312664"/>
            <a:ext cx="11772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 % ]</a:t>
            </a:r>
            <a:endParaRPr lang="en-US" sz="1400" dirty="0"/>
          </a:p>
        </p:txBody>
      </p:sp>
      <p:sp>
        <p:nvSpPr>
          <p:cNvPr id="75" name="Text 71"/>
          <p:cNvSpPr/>
          <p:nvPr/>
        </p:nvSpPr>
        <p:spPr>
          <a:xfrm>
            <a:off x="4674870" y="5623560"/>
            <a:ext cx="117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850" dirty="0"/>
          </a:p>
        </p:txBody>
      </p:sp>
      <p:sp>
        <p:nvSpPr>
          <p:cNvPr id="76" name="Shape 72"/>
          <p:cNvSpPr/>
          <p:nvPr/>
        </p:nvSpPr>
        <p:spPr>
          <a:xfrm>
            <a:off x="4793742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5106924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839462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5420106" y="5971032"/>
            <a:ext cx="91440" cy="91440"/>
          </a:xfrm>
          <a:prstGeom prst="ellipse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5152644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7"/>
          <p:cNvSpPr/>
          <p:nvPr/>
        </p:nvSpPr>
        <p:spPr>
          <a:xfrm>
            <a:off x="5733288" y="5971032"/>
            <a:ext cx="91440" cy="91440"/>
          </a:xfrm>
          <a:prstGeom prst="ellipse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8"/>
          <p:cNvSpPr/>
          <p:nvPr/>
        </p:nvSpPr>
        <p:spPr>
          <a:xfrm>
            <a:off x="5465826" y="6016752"/>
            <a:ext cx="313182" cy="0"/>
          </a:xfrm>
          <a:prstGeom prst="line">
            <a:avLst/>
          </a:prstGeom>
          <a:noFill/>
          <a:ln w="12700">
            <a:solidFill>
              <a:srgbClr val="0051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/>
          <p:nvPr/>
        </p:nvSpPr>
        <p:spPr>
          <a:xfrm>
            <a:off x="6126480" y="2514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 — LAST 30 DAYS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6126480" y="2788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Accomplishment ] — [ workstream ]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BLOCKERS &amp; RISKS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8458200" y="3657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severity · owner · ETA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6126480" y="3931920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6126480" y="3931920"/>
            <a:ext cx="54864" cy="29260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626364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052560" y="3931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91" name="Text 87"/>
          <p:cNvSpPr/>
          <p:nvPr/>
        </p:nvSpPr>
        <p:spPr>
          <a:xfrm>
            <a:off x="946404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2" name="Text 88"/>
          <p:cNvSpPr/>
          <p:nvPr/>
        </p:nvSpPr>
        <p:spPr>
          <a:xfrm>
            <a:off x="106527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3" name="Shape 89"/>
          <p:cNvSpPr/>
          <p:nvPr/>
        </p:nvSpPr>
        <p:spPr>
          <a:xfrm>
            <a:off x="6126480" y="4261104"/>
            <a:ext cx="5486400" cy="292608"/>
          </a:xfrm>
          <a:prstGeom prst="rect">
            <a:avLst/>
          </a:prstGeom>
          <a:solidFill>
            <a:srgbClr val="F6F8FB"/>
          </a:solidFill>
          <a:ln w="508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6126480" y="4261104"/>
            <a:ext cx="54864" cy="292608"/>
          </a:xfrm>
          <a:prstGeom prst="rect">
            <a:avLst/>
          </a:prstGeom>
          <a:solidFill>
            <a:srgbClr val="C9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/>
          <p:nvPr/>
        </p:nvSpPr>
        <p:spPr>
          <a:xfrm>
            <a:off x="6263640" y="4261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Blocker 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052560" y="4261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97" name="Text 93"/>
          <p:cNvSpPr/>
          <p:nvPr/>
        </p:nvSpPr>
        <p:spPr>
          <a:xfrm>
            <a:off x="9464040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10652760" y="4261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Date 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612648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 — KEY DELIVERABLES</a:t>
            </a: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6126480" y="495604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Deliverable ] — by [ date ] — [ workstream ]</a:t>
            </a:r>
            <a:endParaRPr lang="en-US" sz="1100" dirty="0"/>
          </a:p>
        </p:txBody>
      </p:sp>
      <p:sp>
        <p:nvSpPr>
          <p:cNvPr id="101" name="Shape 97"/>
          <p:cNvSpPr/>
          <p:nvPr/>
        </p:nvSpPr>
        <p:spPr>
          <a:xfrm>
            <a:off x="6126480" y="5824728"/>
            <a:ext cx="5486400" cy="59436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/>
          <p:nvPr/>
        </p:nvSpPr>
        <p:spPr>
          <a:xfrm>
            <a:off x="6309360" y="5879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DF0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FROM STEERING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30936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needed, by when ]</a:t>
            </a:r>
            <a:endParaRPr lang="en-US" sz="1100" dirty="0"/>
          </a:p>
        </p:txBody>
      </p:sp>
      <p:sp>
        <p:nvSpPr>
          <p:cNvPr id="104" name="Text 100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51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  ·  CLOSEOUT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· Parking lot · Watchlist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57200" cy="45720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611880" cy="41605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611880" cy="640080"/>
          </a:xfrm>
          <a:prstGeom prst="rect">
            <a:avLst/>
          </a:prstGeom>
          <a:solidFill>
            <a:srgbClr val="0051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856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MADE TODAY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live · distributed within 24 hours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2633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3218688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2918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3877056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950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" y="4535424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46085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Decision ] · [ Owner ] · [ By when ]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25112" y="1783080"/>
            <a:ext cx="3611880" cy="41605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25112" y="1783080"/>
            <a:ext cx="3611880" cy="640080"/>
          </a:xfrm>
          <a:prstGeom prst="rect">
            <a:avLst/>
          </a:prstGeom>
          <a:solidFill>
            <a:srgbClr val="C9A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07992" y="1856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1F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PARKING LOT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07992" y="2148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· reviewed at start of next meeting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07992" y="2560320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07992" y="2633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07992" y="3218688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07992" y="32918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07992" y="3877056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07992" y="3950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07992" y="4535424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07992" y="46085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Topic ] · [ Owner ] · [ Returns ]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101584" y="1783080"/>
            <a:ext cx="3611880" cy="4160520"/>
          </a:xfrm>
          <a:prstGeom prst="rect">
            <a:avLst/>
          </a:prstGeom>
          <a:solidFill>
            <a:srgbClr val="F6F8FB"/>
          </a:solidFill>
          <a:ln w="63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101584" y="1783080"/>
            <a:ext cx="3611880" cy="640080"/>
          </a:xfrm>
          <a:prstGeom prst="rect">
            <a:avLst/>
          </a:prstGeom>
          <a:solidFill>
            <a:srgbClr val="001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84464" y="1856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STEERING WATCHLIST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284464" y="2148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ED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chair wants you to know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284464" y="2560320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84464" y="2633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consolidation — 3 monitoring tools, study underway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284464" y="3218688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284464" y="32918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risk — 2 of 4 Tech Leads are SPOFs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284464" y="3877056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84464" y="3950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horizon — new data residency rule expected Q4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284464" y="4535424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84464" y="460857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review — agents moving 'recommend' → 'act' Q3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284464" y="5193792"/>
            <a:ext cx="3246120" cy="36576"/>
          </a:xfrm>
          <a:prstGeom prst="rect">
            <a:avLst/>
          </a:prstGeom>
          <a:solidFill>
            <a:srgbClr val="FEDF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84464" y="526694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 — SOC 2 fieldwork begins in 8 weeks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steering meeting: [Date]  ·  Pre-read distributed [Date - 2]  ·  Parking lot reviewed at the top of the next session.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1430000" y="6583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6583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On-Prem  ·  Steering Committee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5760</Words>
  <Application>Microsoft Macintosh PowerPoint</Application>
  <PresentationFormat>Widescreen</PresentationFormat>
  <Paragraphs>1201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Zephyr On-Prem Steering Committee</dc:title>
  <dc:subject>PptxGenJS Presentation</dc:subject>
  <dc:creator>Dhwanil</dc:creator>
  <cp:lastModifiedBy>Dhwanil Raval</cp:lastModifiedBy>
  <cp:revision>3</cp:revision>
  <dcterms:created xsi:type="dcterms:W3CDTF">2026-04-27T02:26:18Z</dcterms:created>
  <dcterms:modified xsi:type="dcterms:W3CDTF">2026-04-27T02:28:25Z</dcterms:modified>
</cp:coreProperties>
</file>