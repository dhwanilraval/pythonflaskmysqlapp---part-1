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embeddedFontLst>
    <p:embeddedFont>
      <p:font typeface="Inter" panose="02000503000000020004"/>
      <p:regular r:id="rId4"/>
      <p:bold r:id="rId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27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792" y="1220688"/>
            <a:ext cx="3121075" cy="4731990"/>
          </a:xfrm>
          <a:prstGeom prst="rect">
            <a:avLst/>
          </a:prstGeom>
        </p:spPr>
      </p:pic>
      <p:sp>
        <p:nvSpPr>
          <p:cNvPr id="4" name="SK-1-text-3"/>
          <p:cNvSpPr/>
          <p:nvPr/>
        </p:nvSpPr>
        <p:spPr>
          <a:xfrm>
            <a:off x="451098" y="260598"/>
            <a:ext cx="9683115" cy="5417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Zephyr On-Prem Cloud</a:t>
            </a:r>
            <a:endParaRPr lang="en-US" sz="3450" dirty="0"/>
          </a:p>
        </p:txBody>
      </p:sp>
      <p:sp>
        <p:nvSpPr>
          <p:cNvPr id="5" name="SK-1-text-4"/>
          <p:cNvSpPr/>
          <p:nvPr/>
        </p:nvSpPr>
        <p:spPr>
          <a:xfrm>
            <a:off x="597396" y="1261765"/>
            <a:ext cx="1780222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</a:t>
            </a:r>
            <a:endParaRPr lang="en-US" sz="1540" dirty="0"/>
          </a:p>
        </p:txBody>
      </p:sp>
      <p:sp>
        <p:nvSpPr>
          <p:cNvPr id="6" name="SK-1-text-5"/>
          <p:cNvSpPr/>
          <p:nvPr/>
        </p:nvSpPr>
        <p:spPr>
          <a:xfrm>
            <a:off x="560784" y="1625203"/>
            <a:ext cx="6681788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consumers experience</a:t>
            </a:r>
            <a:endParaRPr lang="en-US" sz="1725" dirty="0"/>
          </a:p>
        </p:txBody>
      </p:sp>
      <p:sp>
        <p:nvSpPr>
          <p:cNvPr id="7" name="SK-1-text-6"/>
          <p:cNvSpPr/>
          <p:nvPr/>
        </p:nvSpPr>
        <p:spPr>
          <a:xfrm>
            <a:off x="548580" y="2002482"/>
            <a:ext cx="884301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r>
              <a:rPr lang="en-US" sz="1125" dirty="0">
                <a:solidFill>
                  <a:srgbClr val="FFFFFF"/>
                </a:solidFill>
                <a:latin typeface="Inter" pitchFamily="34" charset="0"/>
              </a:rPr>
              <a:t>Self-service, on demand — provision in minutes, not weeks</a:t>
            </a:r>
          </a:p>
        </p:txBody>
      </p:sp>
      <p:sp>
        <p:nvSpPr>
          <p:cNvPr id="8" name="SK-1-text-7"/>
          <p:cNvSpPr/>
          <p:nvPr/>
        </p:nvSpPr>
        <p:spPr>
          <a:xfrm>
            <a:off x="548580" y="2317998"/>
            <a:ext cx="3340596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 consistent experience — same way of working</a:t>
            </a:r>
            <a:endParaRPr lang="en-US" sz="1125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on-prem and cloud</a:t>
            </a:r>
            <a:endParaRPr lang="en-US" sz="1125" dirty="0"/>
          </a:p>
        </p:txBody>
      </p:sp>
      <p:sp>
        <p:nvSpPr>
          <p:cNvPr id="9" name="SK-1-text-8"/>
          <p:cNvSpPr/>
          <p:nvPr/>
        </p:nvSpPr>
        <p:spPr>
          <a:xfrm>
            <a:off x="642073" y="3322736"/>
            <a:ext cx="1540193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Producer</a:t>
            </a:r>
            <a:endParaRPr lang="en-US" sz="1575" dirty="0"/>
          </a:p>
        </p:txBody>
      </p:sp>
      <p:sp>
        <p:nvSpPr>
          <p:cNvPr id="10" name="SK-1-text-9"/>
          <p:cNvSpPr/>
          <p:nvPr/>
        </p:nvSpPr>
        <p:spPr>
          <a:xfrm>
            <a:off x="548580" y="3878164"/>
            <a:ext cx="7733348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goes into building Cloud Provider</a:t>
            </a:r>
            <a:endParaRPr lang="en-US" sz="1600" dirty="0"/>
          </a:p>
        </p:txBody>
      </p:sp>
      <p:sp>
        <p:nvSpPr>
          <p:cNvPr id="11" name="SK-1-text-10"/>
          <p:cNvSpPr/>
          <p:nvPr/>
        </p:nvSpPr>
        <p:spPr>
          <a:xfrm>
            <a:off x="548580" y="4268987"/>
            <a:ext cx="3267373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1350"/>
              </a:lnSpc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Platform engineering &amp; IaC — self-service catalogue,</a:t>
            </a:r>
            <a:endParaRPr lang="en-US" sz="1125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policy-as-code, APIs, Platform Automation </a:t>
            </a:r>
            <a:endParaRPr lang="en-US" sz="1125" dirty="0"/>
          </a:p>
        </p:txBody>
      </p:sp>
      <p:sp>
        <p:nvSpPr>
          <p:cNvPr id="12" name="SK-1-text-11"/>
          <p:cNvSpPr/>
          <p:nvPr/>
        </p:nvSpPr>
        <p:spPr>
          <a:xfrm>
            <a:off x="548580" y="4838255"/>
            <a:ext cx="3364855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Capacity, operations &amp; reliability — provisioning,</a:t>
            </a:r>
            <a:endParaRPr lang="en-US" sz="1125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monitoring, incident response, DR</a:t>
            </a:r>
            <a:endParaRPr lang="en-US" sz="1125" dirty="0"/>
          </a:p>
        </p:txBody>
      </p:sp>
      <p:sp>
        <p:nvSpPr>
          <p:cNvPr id="13" name="SK-1-text-12"/>
          <p:cNvSpPr/>
          <p:nvPr/>
        </p:nvSpPr>
        <p:spPr>
          <a:xfrm>
            <a:off x="548580" y="5393830"/>
            <a:ext cx="3450282" cy="432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Patch &amp; lifecycle — patching, upgrades, hardware</a:t>
            </a:r>
            <a:endParaRPr lang="en-US" sz="1125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end-of-life</a:t>
            </a:r>
            <a:endParaRPr lang="en-US" sz="1125" dirty="0"/>
          </a:p>
        </p:txBody>
      </p:sp>
      <p:sp>
        <p:nvSpPr>
          <p:cNvPr id="14" name="SK-1-text-13"/>
          <p:cNvSpPr/>
          <p:nvPr/>
        </p:nvSpPr>
        <p:spPr>
          <a:xfrm>
            <a:off x="8241655" y="1529209"/>
            <a:ext cx="3011388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Secure &amp; compliant by default — guardrails</a:t>
            </a:r>
            <a:endParaRPr lang="en-US" sz="1125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never have to see with policy as code</a:t>
            </a:r>
            <a:endParaRPr lang="en-US" sz="1125" dirty="0"/>
          </a:p>
        </p:txBody>
      </p:sp>
      <p:sp>
        <p:nvSpPr>
          <p:cNvPr id="15" name="SK-1-text-14"/>
          <p:cNvSpPr/>
          <p:nvPr/>
        </p:nvSpPr>
        <p:spPr>
          <a:xfrm>
            <a:off x="8241655" y="2098477"/>
            <a:ext cx="3194298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Reliable &amp; always-on — SLA-backed services</a:t>
            </a:r>
            <a:endParaRPr lang="en-US" sz="1125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just work</a:t>
            </a:r>
            <a:endParaRPr lang="en-US" sz="1125" dirty="0"/>
          </a:p>
        </p:txBody>
      </p:sp>
      <p:sp>
        <p:nvSpPr>
          <p:cNvPr id="16" name="SK-1-text-15"/>
          <p:cNvSpPr/>
          <p:nvPr/>
        </p:nvSpPr>
        <p:spPr>
          <a:xfrm>
            <a:off x="8231580" y="3576339"/>
            <a:ext cx="3316188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Security &amp; compliance — vulnerability</a:t>
            </a:r>
            <a:endParaRPr lang="en-US" sz="1125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management, controls monitoring, audit evidence</a:t>
            </a:r>
            <a:endParaRPr lang="en-US" sz="1125" dirty="0"/>
          </a:p>
        </p:txBody>
      </p:sp>
      <p:sp>
        <p:nvSpPr>
          <p:cNvPr id="17" name="SK-1-text-16"/>
          <p:cNvSpPr/>
          <p:nvPr/>
        </p:nvSpPr>
        <p:spPr>
          <a:xfrm>
            <a:off x="8231580" y="4138760"/>
            <a:ext cx="3316188" cy="4388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Optimization &amp; cost — rationalization, migrations,</a:t>
            </a:r>
            <a:endParaRPr lang="en-US" sz="1125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right-sizing, showback</a:t>
            </a:r>
            <a:endParaRPr lang="en-US" sz="1125" dirty="0"/>
          </a:p>
        </p:txBody>
      </p:sp>
      <p:sp>
        <p:nvSpPr>
          <p:cNvPr id="18" name="SK-1-text-17"/>
          <p:cNvSpPr/>
          <p:nvPr/>
        </p:nvSpPr>
        <p:spPr>
          <a:xfrm>
            <a:off x="8231580" y="4714874"/>
            <a:ext cx="2816275" cy="4388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Vendor, governance &amp; people — licensing,</a:t>
            </a:r>
            <a:endParaRPr lang="en-US" sz="1125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standards, risk, skills and staffing</a:t>
            </a:r>
            <a:endParaRPr lang="en-US" sz="1125" dirty="0"/>
          </a:p>
        </p:txBody>
      </p:sp>
      <p:sp>
        <p:nvSpPr>
          <p:cNvPr id="19" name="SK-1-text-18"/>
          <p:cNvSpPr/>
          <p:nvPr/>
        </p:nvSpPr>
        <p:spPr>
          <a:xfrm>
            <a:off x="3088630" y="6206430"/>
            <a:ext cx="5965775" cy="34974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2175" dirty="0">
                <a:solidFill>
                  <a:srgbClr val="FFFFFF"/>
                </a:solidFill>
              </a:rPr>
              <a:t>“RBC is becoming cloud provider like AWS/Azure”</a:t>
            </a:r>
            <a:endParaRPr lang="en-US" sz="21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161</Words>
  <Application>Microsoft Macintosh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Inter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Dhwanil Raval</cp:lastModifiedBy>
  <cp:revision>2</cp:revision>
  <dcterms:created xsi:type="dcterms:W3CDTF">2026-07-10T21:03:57Z</dcterms:created>
  <dcterms:modified xsi:type="dcterms:W3CDTF">2026-07-10T21:12:06Z</dcterms:modified>
</cp:coreProperties>
</file>