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22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OPERATIONS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DBaaS Auto Patching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 Overview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1097280" cy="45720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database patching across the enterprise — predictable, auditable, and operator-light.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 ·  Platform Engineering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database patching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patching is high-frequency, high-risk, and unevenly executed across estates. Manual workflows trade engineering cycles for operational drag — and create audit gaps that surface in regulatory cycles.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auto-patching workflow replaces ad-hoc, ticket-driven patching with a scheduled, governed, end-to-end pipeline.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2788920" cy="246888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27889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37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50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toil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2743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coordination per patch cycle.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052560" y="1463040"/>
            <a:ext cx="2788920" cy="246888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052560" y="1463040"/>
            <a:ext cx="27889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811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281160" y="2743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records strain regulatory audits.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4069080"/>
            <a:ext cx="2788920" cy="246888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26480" y="4069080"/>
            <a:ext cx="27889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43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55080" y="5349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windows collide with business hours.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52560" y="4069080"/>
            <a:ext cx="2788920" cy="246888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052560" y="4069080"/>
            <a:ext cx="27889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43434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4937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scale path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81160" y="5349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scope cannot follow fleet growth.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 Process. Persist. Each layer has a single responsibility, and orchestrates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703320" cy="105156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16712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Service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Time-driven orchestration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4023360"/>
            <a:ext cx="45720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hourly jobs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+ executes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 the loop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43400" y="1874520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43400" y="1874520"/>
            <a:ext cx="3703320" cy="10515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1772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167128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772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61772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control flow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617720" y="4023360"/>
            <a:ext cx="45720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61772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execution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229600" y="1874520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229600" y="1874520"/>
            <a:ext cx="3703320" cy="105156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50392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2167128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0392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503920" y="3611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history, configuration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503920" y="4023360"/>
            <a:ext cx="45720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503920" y="42062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targets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metadata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 patching topology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417320"/>
            <a:ext cx="5760720" cy="1417320"/>
          </a:xfrm>
          <a:prstGeom prst="rect">
            <a:avLst/>
          </a:prstGeom>
          <a:solidFill>
            <a:srgbClr val="E6EEF8"/>
          </a:solidFill>
          <a:ln w="12700">
            <a:solidFill>
              <a:srgbClr val="0051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5087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0" y="1472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Service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6160" y="1874520"/>
            <a:ext cx="2286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A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6616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Scheduling Job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(Hourly)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22860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1A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Execution Job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(Hourly)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063240"/>
            <a:ext cx="11277295" cy="2194560"/>
          </a:xfrm>
          <a:prstGeom prst="rect">
            <a:avLst/>
          </a:prstGeom>
          <a:solidFill>
            <a:srgbClr val="FFF7DC"/>
          </a:solidFill>
          <a:ln w="12700">
            <a:solidFill>
              <a:srgbClr val="F2C7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5468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3118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566160"/>
            <a:ext cx="33375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2C70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3566160"/>
            <a:ext cx="333756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68680" y="3675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Patch Updates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60120" y="4069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eligible instances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maintenance windows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patch schedule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34840" y="3566160"/>
            <a:ext cx="33375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2C70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434840" y="3566160"/>
            <a:ext cx="333756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0" y="3675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Reminders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663440" y="4069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before patch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before patch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38160" y="3566160"/>
            <a:ext cx="33375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2C70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38160" y="3566160"/>
            <a:ext cx="333756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8275320" y="3675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Patch Updates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366760" y="40690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patch readiness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patch actions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patching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440680"/>
            <a:ext cx="3017520" cy="1143000"/>
          </a:xfrm>
          <a:prstGeom prst="rect">
            <a:avLst/>
          </a:prstGeom>
          <a:solidFill>
            <a:srgbClr val="F6E6E8"/>
          </a:solidFill>
          <a:ln w="12700">
            <a:solidFill>
              <a:srgbClr val="B053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532120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2960" y="5495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31520" y="5852160"/>
            <a:ext cx="24688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B0535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731520" y="5852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(Stakeholders)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57600" y="5440680"/>
            <a:ext cx="8076895" cy="1143000"/>
          </a:xfrm>
          <a:prstGeom prst="rect">
            <a:avLst/>
          </a:prstGeom>
          <a:solidFill>
            <a:srgbClr val="E7F1EA"/>
          </a:solidFill>
          <a:ln w="12700">
            <a:solidFill>
              <a:srgbClr val="3B8A5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553212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023360" y="5495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3794760" y="5852160"/>
            <a:ext cx="24688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B8A5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3794760" y="5852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Instances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(Patch targets)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446520" y="5852160"/>
            <a:ext cx="24688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B8A5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6446520" y="5852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History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(Audit trail)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9098280" y="5852160"/>
            <a:ext cx="246888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B8A5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9098280" y="5852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Metadata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(Rules &amp; settings)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4709160" y="2651760"/>
            <a:ext cx="0" cy="91440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3143250" y="299008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3143250" y="2990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7452360" y="2651760"/>
            <a:ext cx="2354580" cy="91440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8218170" y="299008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8218170" y="2990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4069080" y="4274820"/>
            <a:ext cx="365760" cy="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3840480" y="415594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3840480" y="41559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5074920" y="4983480"/>
            <a:ext cx="0" cy="86868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3634740" y="529894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3634740" y="52989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1280160" y="4983480"/>
            <a:ext cx="3749040" cy="86868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/>
          <p:nvPr/>
        </p:nvSpPr>
        <p:spPr>
          <a:xfrm>
            <a:off x="2743200" y="529894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2743200" y="52989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read/update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8686800" y="4983480"/>
            <a:ext cx="0" cy="86868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1"/>
          <p:cNvSpPr/>
          <p:nvPr/>
        </p:nvSpPr>
        <p:spPr>
          <a:xfrm>
            <a:off x="6972300" y="529894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6972300" y="52989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read/update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9806940" y="4983480"/>
            <a:ext cx="0" cy="86868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4"/>
          <p:cNvSpPr/>
          <p:nvPr/>
        </p:nvSpPr>
        <p:spPr>
          <a:xfrm>
            <a:off x="8332470" y="529894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/>
          <p:nvPr/>
        </p:nvSpPr>
        <p:spPr>
          <a:xfrm>
            <a:off x="8332470" y="52989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62" name="Shape 56"/>
          <p:cNvSpPr/>
          <p:nvPr/>
        </p:nvSpPr>
        <p:spPr>
          <a:xfrm>
            <a:off x="11109960" y="4983480"/>
            <a:ext cx="0" cy="868680"/>
          </a:xfrm>
          <a:prstGeom prst="line">
            <a:avLst/>
          </a:prstGeom>
          <a:noFill/>
          <a:ln w="15875">
            <a:solidFill>
              <a:srgbClr val="5A667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7"/>
          <p:cNvSpPr/>
          <p:nvPr/>
        </p:nvSpPr>
        <p:spPr>
          <a:xfrm>
            <a:off x="10309860" y="5298948"/>
            <a:ext cx="822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8"/>
          <p:cNvSpPr/>
          <p:nvPr/>
        </p:nvSpPr>
        <p:spPr>
          <a:xfrm>
            <a:off x="10309860" y="52989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800" dirty="0"/>
          </a:p>
        </p:txBody>
      </p:sp>
      <p:sp>
        <p:nvSpPr>
          <p:cNvPr id="65" name="Shape 5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67" name="Text 61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Service — time-driven orchestration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hourly jobs form the heartbeat of the system. They run unattended, decoupled, and idempotent — each pass evaluates only what is due.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5029200" cy="146304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1463040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— granular enough for tight maintenance windows, coarse enough to amortize cost.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jobs — scheduling failure cannot block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passes — safe to retry on any failure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triggers — fully time-driven, no ticket dependency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5669280" cy="233172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73152" cy="233172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502920" cy="5029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515600" y="1828800"/>
            <a:ext cx="914400" cy="320040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51560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9516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Scheduling Job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355080" y="24688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hour: enumerate eligible DB instances, compute maintenance windows from policy, and write the patch schedule.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0" y="4069080"/>
            <a:ext cx="5669280" cy="233172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35040" y="4069080"/>
            <a:ext cx="73152" cy="233172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389120"/>
            <a:ext cx="502920" cy="502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0515600" y="4389120"/>
            <a:ext cx="914400" cy="320040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10515600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995160" y="4389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Execution Job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355080" y="502920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hour: pick up due schedules, validate readiness, create patch actions, and execute against targets.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 — where the work happens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03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703320" cy="50292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640080" cy="640080"/>
          </a:xfrm>
          <a:prstGeom prst="ellipse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58191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463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17320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Patch Updates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3456432"/>
            <a:ext cx="36576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5661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eligible instances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maintenance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patch schedule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5440680"/>
            <a:ext cx="315468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55046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8680" y="5760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schedule per instance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1463040"/>
            <a:ext cx="3703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43400" y="1463040"/>
            <a:ext cx="3703320" cy="50292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8191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26280" y="1463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303520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Reminders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6177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17720" y="3456432"/>
            <a:ext cx="36576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663440" y="35661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 day stakeholder notification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T-24 hour stakeholder notification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recipients from metadata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617720" y="5440680"/>
            <a:ext cx="315468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754880" y="55046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754880" y="5760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visibility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229600" y="1463040"/>
            <a:ext cx="3703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8229600" y="1463040"/>
            <a:ext cx="3703320" cy="50292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8458200" y="2240280"/>
            <a:ext cx="640080" cy="640080"/>
          </a:xfrm>
          <a:prstGeom prst="ellipse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8458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0" y="1581912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412480" y="1463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189720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Patch Updates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850392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503920" y="3456432"/>
            <a:ext cx="36576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8549640" y="35661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patch readiness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patch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patching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8503920" y="5440680"/>
            <a:ext cx="315468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8641080" y="55046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8641080" y="5760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instances + audit record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 + INTEGRATIONS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&amp; External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the Processing Layer reads from or writes to a deliberately small set of data stores — and the only external surface is stakeholder email.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788920" cy="82296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3317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Instances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targets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640080" cy="292608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931920"/>
            <a:ext cx="640080" cy="292608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1520" y="4480560"/>
            <a:ext cx="2240280" cy="1828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4617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 which instances exist, their version, and patch state.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83280" y="2148840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83280" y="2148840"/>
            <a:ext cx="2788920" cy="8229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33172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66160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History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56616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566160" y="3931920"/>
            <a:ext cx="640080" cy="292608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6616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57600" y="4480560"/>
            <a:ext cx="2240280" cy="1828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611880" y="4617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 of every patch attempt, outcome, and timestamp.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09360" y="2148840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309360" y="2148840"/>
            <a:ext cx="2788920" cy="822960"/>
          </a:xfrm>
          <a:prstGeom prst="rect">
            <a:avLst/>
          </a:prstGeom>
          <a:solidFill>
            <a:srgbClr val="0051A5"/>
          </a:solidFill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233172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92240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Metadata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49224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settings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492240" y="3931920"/>
            <a:ext cx="640080" cy="292608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49224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583680" y="4480560"/>
            <a:ext cx="2240280" cy="1828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537960" y="4617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windows, stakeholder routing, eligibility rules, policy.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235440" y="2148840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9235440" y="2148840"/>
            <a:ext cx="2788920" cy="822960"/>
          </a:xfrm>
          <a:prstGeom prst="rect">
            <a:avLst/>
          </a:prstGeom>
          <a:solidFill>
            <a:srgbClr val="8B3A45"/>
          </a:solidFill>
          <a:ln w="12700">
            <a:solidFill>
              <a:srgbClr val="8B3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0" y="2331720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418320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941832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418320" y="3931920"/>
            <a:ext cx="640080" cy="292608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941832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9509760" y="4480560"/>
            <a:ext cx="2240280" cy="1828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9464040" y="46177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delivery channel — the only system outside the patching boundary.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patch, from schedule to audit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48740" y="3794760"/>
            <a:ext cx="9494215" cy="54864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691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3255264"/>
            <a:ext cx="1691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− weeks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Job identifies the instance is due for patching.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30452" y="3291840"/>
            <a:ext cx="36576" cy="50292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5860" y="3639312"/>
            <a:ext cx="365760" cy="365760"/>
          </a:xfrm>
          <a:prstGeom prst="ellipse">
            <a:avLst/>
          </a:prstGeom>
          <a:solidFill>
            <a:srgbClr val="FEDF01"/>
          </a:solidFill>
          <a:ln w="1905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6586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1763" y="4297680"/>
            <a:ext cx="1691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01763" y="4297680"/>
            <a:ext cx="1691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38923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−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8923" y="4709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38923" y="5166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calculated; patch schedule written.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9295" y="3849624"/>
            <a:ext cx="36576" cy="44805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64703" y="3639312"/>
            <a:ext cx="365760" cy="365760"/>
          </a:xfrm>
          <a:prstGeom prst="ellipse">
            <a:avLst/>
          </a:prstGeom>
          <a:solidFill>
            <a:srgbClr val="FEDF01"/>
          </a:solidFill>
          <a:ln w="1905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64703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00606" y="1463040"/>
            <a:ext cx="1691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00606" y="3255264"/>
            <a:ext cx="1691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7766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− 3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7766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reminder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7766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 by email.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8138" y="3291840"/>
            <a:ext cx="36576" cy="50292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63546" y="3639312"/>
            <a:ext cx="365760" cy="365760"/>
          </a:xfrm>
          <a:prstGeom prst="ellipse">
            <a:avLst/>
          </a:prstGeom>
          <a:solidFill>
            <a:srgbClr val="FEDF01"/>
          </a:solidFill>
          <a:ln w="1905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63546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449" y="4297680"/>
            <a:ext cx="1691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99449" y="4297680"/>
            <a:ext cx="1691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36609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− 24 hrs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36609" y="4709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reminder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36609" y="5166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stakeholder email; readiness checks staged.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26981" y="3849624"/>
            <a:ext cx="36576" cy="44805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62389" y="3639312"/>
            <a:ext cx="365760" cy="365760"/>
          </a:xfrm>
          <a:prstGeom prst="ellipse">
            <a:avLst/>
          </a:prstGeom>
          <a:solidFill>
            <a:srgbClr val="FEDF01"/>
          </a:solidFill>
          <a:ln w="1905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62389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98292" y="1463040"/>
            <a:ext cx="1691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098292" y="3255264"/>
            <a:ext cx="1691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35452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35452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executed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35452" y="2331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Job validates, creates actions, and patches the instance.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25824" y="3291840"/>
            <a:ext cx="36576" cy="50292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761232" y="3639312"/>
            <a:ext cx="365760" cy="365760"/>
          </a:xfrm>
          <a:prstGeom prst="ellipse">
            <a:avLst/>
          </a:prstGeom>
          <a:solidFill>
            <a:srgbClr val="FEDF01"/>
          </a:solidFill>
          <a:ln w="1905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61232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997135" y="4297680"/>
            <a:ext cx="1691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997135" y="4297680"/>
            <a:ext cx="1691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134295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minutes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34295" y="4709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134295" y="5166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appended to Patch History audit trail.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824667" y="3849624"/>
            <a:ext cx="36576" cy="44805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660075" y="3639312"/>
            <a:ext cx="365760" cy="365760"/>
          </a:xfrm>
          <a:prstGeom prst="ellipse">
            <a:avLst/>
          </a:prstGeom>
          <a:solidFill>
            <a:srgbClr val="FEDF01"/>
          </a:solidFill>
          <a:ln w="1905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660075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164592" cy="164592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workflow delivers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03320" cy="2103120"/>
          </a:xfrm>
          <a:prstGeom prst="rect">
            <a:avLst/>
          </a:prstGeom>
          <a:solidFill>
            <a:srgbClr val="0A3D74"/>
          </a:solidFill>
          <a:ln w="12700">
            <a:solidFill>
              <a:srgbClr val="0A3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7033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patches scheduled, executed and recorded automatically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703320" cy="2103120"/>
          </a:xfrm>
          <a:prstGeom prst="rect">
            <a:avLst/>
          </a:prstGeom>
          <a:solidFill>
            <a:srgbClr val="0A3D74"/>
          </a:solidFill>
          <a:ln w="12700">
            <a:solidFill>
              <a:srgbClr val="0A3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554480"/>
            <a:ext cx="37033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828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T−3d / T−24h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09160" y="2788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 cadence, every cycle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1554480"/>
            <a:ext cx="3703320" cy="2103120"/>
          </a:xfrm>
          <a:prstGeom prst="rect">
            <a:avLst/>
          </a:prstGeom>
          <a:solidFill>
            <a:srgbClr val="0A3D74"/>
          </a:solidFill>
          <a:ln w="12700">
            <a:solidFill>
              <a:srgbClr val="0A3D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1554480"/>
            <a:ext cx="3703320" cy="54864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0" y="1828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595360" y="2788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captured in Patch History for every 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15968"/>
            <a:ext cx="548640" cy="36576"/>
          </a:xfrm>
          <a:prstGeom prst="rect">
            <a:avLst/>
          </a:prstGeom>
          <a:solidFill>
            <a:srgbClr val="FEDF01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►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pilot fleet — measure cycle time vs. manual baseline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►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Patch History to regulatory reporting (ITAM / VPM audit cycles)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►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Configuration &amp; Metadata to support per-business-unit policy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►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 enterprise default for new DBaaS instances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1E40"/>
          </a:solidFill>
          <a:ln w="12700">
            <a:solidFill>
              <a:srgbClr val="00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 |  Technology &amp; Operations  |  DBaaS Auto Patching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56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883</Words>
  <Application>Microsoft Macintosh PowerPoint</Application>
  <PresentationFormat>Widescreen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DBaaS Auto Patching</dc:title>
  <dc:subject>PptxGenJS Presentation</dc:subject>
  <dc:creator>RBC Technology &amp; Operations</dc:creator>
  <cp:lastModifiedBy>Dhwanil Raval</cp:lastModifiedBy>
  <cp:revision>3</cp:revision>
  <dcterms:created xsi:type="dcterms:W3CDTF">2026-05-12T18:47:16Z</dcterms:created>
  <dcterms:modified xsi:type="dcterms:W3CDTF">2026-05-13T12:05:13Z</dcterms:modified>
</cp:coreProperties>
</file>