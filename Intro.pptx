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2"/>
    <p:restoredTop sz="94637"/>
  </p:normalViewPr>
  <p:slideViewPr>
    <p:cSldViewPr snapToGrid="0" snapToObjects="1">
      <p:cViewPr>
        <p:scale>
          <a:sx n="198" d="100"/>
          <a:sy n="198" d="100"/>
        </p:scale>
        <p:origin x="165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7D6"/>
                </a:solidFill>
                <a:latin typeface="Trebuchet MS"/>
              </a:rPr>
              <a:t>ZEPHYR ON-PREM  ·  PROGRAM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B1026"/>
                </a:solidFill>
                <a:latin typeface="Trebuchet MS"/>
              </a:rPr>
              <a:t>One codified foundation. Three workstreams.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070"/>
                </a:solidFill>
                <a:latin typeface="Calibri"/>
              </a:rPr>
              <a:t>Zephyr On-Prem extends RBC’s infrastructure control plane across the on-prem estate — provisioned, governed, and continuously improved as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6464"/>
            <a:ext cx="3575304" cy="39136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1664208"/>
            <a:ext cx="585216" cy="585216"/>
          </a:xfrm>
          <a:prstGeom prst="ellipse">
            <a:avLst/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66420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&lt;/&gt;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23865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44E0"/>
                </a:solidFill>
                <a:latin typeface="Trebuchet MS"/>
              </a:rPr>
              <a:t>01  </a:t>
            </a:r>
            <a:r>
              <a:rPr sz="1500" b="1" i="0">
                <a:solidFill>
                  <a:srgbClr val="0B1026"/>
                </a:solidFill>
                <a:latin typeface="Trebuchet MS"/>
              </a:rPr>
              <a:t>IaC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2386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E44E0"/>
                </a:solidFill>
                <a:latin typeface="Trebuchet MS"/>
              </a:rPr>
              <a:t>Codifying the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32304"/>
            <a:ext cx="30266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3B8C"/>
                </a:solidFill>
                <a:latin typeface="Trebuchet MS"/>
              </a:rPr>
              <a:t>WHAT IT COVERS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2807208"/>
            <a:ext cx="100584" cy="100584"/>
          </a:xfrm>
          <a:prstGeom prst="ellipse">
            <a:avLst/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Hybrid Cloud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2770632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A single control plane that provisions and governs on-prem and cloud infrastructure as code, giving developers one consistent, self-serve experience.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406139"/>
            <a:ext cx="100584" cy="100584"/>
          </a:xfrm>
          <a:prstGeom prst="ellipse">
            <a:avLst/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42132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Policy-as-code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43300"/>
            <a:ext cx="2770632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Security, compliance and operational guardrails codified and enforced automatically at every pipeline gate — no manual sign-offs.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" y="4005072"/>
            <a:ext cx="100584" cy="100584"/>
          </a:xfrm>
          <a:prstGeom prst="ellipse">
            <a:avLst/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941064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Patch acceleration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2770632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Automated, code-driven patching that clears the legacy backlog faster and keeps the estate current and defensible.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" y="4604004"/>
            <a:ext cx="100584" cy="100584"/>
          </a:xfrm>
          <a:prstGeom prst="ellipse">
            <a:avLst/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539996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Agentic PIV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41164"/>
            <a:ext cx="2770632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Agents automate platform integrity verification, moving from recommend to act-with-approval as guardrails mature.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1426464"/>
            <a:ext cx="3575304" cy="39136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1664208"/>
            <a:ext cx="585216" cy="585216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166420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1700784"/>
            <a:ext cx="23865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A4CC7"/>
                </a:solidFill>
                <a:latin typeface="Trebuchet MS"/>
              </a:rPr>
              <a:t>02  </a:t>
            </a:r>
            <a:r>
              <a:rPr sz="1500" b="1" i="0">
                <a:solidFill>
                  <a:srgbClr val="0B1026"/>
                </a:solidFill>
                <a:latin typeface="Trebuchet MS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1993392"/>
            <a:ext cx="2386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A4CC7"/>
                </a:solidFill>
                <a:latin typeface="Trebuchet MS"/>
              </a:rPr>
              <a:t>Regulatory &amp; audit-ready assurance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432304"/>
            <a:ext cx="30266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3B8C"/>
                </a:solidFill>
                <a:latin typeface="Trebuchet MS"/>
              </a:rPr>
              <a:t>WHAT IT COVERS</a:t>
            </a:r>
          </a:p>
        </p:txBody>
      </p:sp>
      <p:sp>
        <p:nvSpPr>
          <p:cNvPr id="31" name="Oval 30"/>
          <p:cNvSpPr/>
          <p:nvPr/>
        </p:nvSpPr>
        <p:spPr>
          <a:xfrm>
            <a:off x="4636008" y="2807208"/>
            <a:ext cx="100584" cy="100584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55464" y="2743200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Patch &amp; vulnerability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5464" y="2944368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One continuously-updated view of patch and vulnerability posture across every platform, with SLA-tracked remediation.</a:t>
            </a:r>
          </a:p>
        </p:txBody>
      </p:sp>
      <p:sp>
        <p:nvSpPr>
          <p:cNvPr id="34" name="Oval 33"/>
          <p:cNvSpPr/>
          <p:nvPr/>
        </p:nvSpPr>
        <p:spPr>
          <a:xfrm>
            <a:off x="4636008" y="3286353"/>
            <a:ext cx="100584" cy="100584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55464" y="3222345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Config intelligence — TLS 1.3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3423513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Assesses estate readiness for modern cryptography and drives a prioritized path off deprecated protocols.</a:t>
            </a:r>
          </a:p>
        </p:txBody>
      </p:sp>
      <p:sp>
        <p:nvSpPr>
          <p:cNvPr id="37" name="Oval 36"/>
          <p:cNvSpPr/>
          <p:nvPr/>
        </p:nvSpPr>
        <p:spPr>
          <a:xfrm>
            <a:off x="4636008" y="3765499"/>
            <a:ext cx="100584" cy="100584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55464" y="3701491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TSS validation &amp;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5464" y="3902659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Automated validation of Technology Security Standards with continuous, evidence-backed compliance reporting.</a:t>
            </a:r>
          </a:p>
        </p:txBody>
      </p:sp>
      <p:sp>
        <p:nvSpPr>
          <p:cNvPr id="40" name="Oval 39"/>
          <p:cNvSpPr/>
          <p:nvPr/>
        </p:nvSpPr>
        <p:spPr>
          <a:xfrm>
            <a:off x="4636008" y="4244644"/>
            <a:ext cx="100584" cy="100584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55464" y="4180636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Enterprise backup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5464" y="4381804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Proves backups actually restore through automated restore-tests, capturing audit-ready evidence.</a:t>
            </a:r>
          </a:p>
        </p:txBody>
      </p:sp>
      <p:sp>
        <p:nvSpPr>
          <p:cNvPr id="43" name="Oval 42"/>
          <p:cNvSpPr/>
          <p:nvPr/>
        </p:nvSpPr>
        <p:spPr>
          <a:xfrm>
            <a:off x="4636008" y="4723790"/>
            <a:ext cx="100584" cy="100584"/>
          </a:xfrm>
          <a:prstGeom prst="ellipse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55464" y="4659782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IT asset management (ITAM)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5464" y="4860950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Reconciled, accurate inventory and ownership for every asset — the foundation for coverage and retirements.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5008" y="1426464"/>
            <a:ext cx="3575304" cy="39136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375904" y="1664208"/>
            <a:ext cx="585216" cy="585216"/>
          </a:xfrm>
          <a:prstGeom prst="ellipse">
            <a:avLst/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75904" y="166420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9136" y="1700784"/>
            <a:ext cx="23865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43C8E"/>
                </a:solidFill>
                <a:latin typeface="Trebuchet MS"/>
              </a:rPr>
              <a:t>03  </a:t>
            </a:r>
            <a:r>
              <a:rPr sz="1500" b="1" i="0">
                <a:solidFill>
                  <a:srgbClr val="0B1026"/>
                </a:solidFill>
                <a:latin typeface="Trebuchet MS"/>
              </a:rPr>
              <a:t>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89136" y="1993392"/>
            <a:ext cx="2386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43C8E"/>
                </a:solidFill>
                <a:latin typeface="Trebuchet MS"/>
              </a:rPr>
              <a:t>Retire, migrate &amp; reclaim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4" y="2432304"/>
            <a:ext cx="30266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3B8C"/>
                </a:solidFill>
                <a:latin typeface="Trebuchet MS"/>
              </a:rPr>
              <a:t>WHAT IT COVERS</a:t>
            </a:r>
          </a:p>
        </p:txBody>
      </p:sp>
      <p:sp>
        <p:nvSpPr>
          <p:cNvPr id="52" name="Oval 51"/>
          <p:cNvSpPr/>
          <p:nvPr/>
        </p:nvSpPr>
        <p:spPr>
          <a:xfrm>
            <a:off x="8394192" y="2807208"/>
            <a:ext cx="100584" cy="100584"/>
          </a:xfrm>
          <a:prstGeom prst="ellipse">
            <a:avLst/>
          </a:prstGeom>
          <a:solidFill>
            <a:srgbClr val="C4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13648" y="2743200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Tanium retirement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3648" y="2944368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Consolidate endpoint capabilities onto standard tooling and reclaim licensing and operational cost.</a:t>
            </a:r>
          </a:p>
        </p:txBody>
      </p:sp>
      <p:sp>
        <p:nvSpPr>
          <p:cNvPr id="55" name="Oval 54"/>
          <p:cNvSpPr/>
          <p:nvPr/>
        </p:nvSpPr>
        <p:spPr>
          <a:xfrm>
            <a:off x="8394192" y="3286353"/>
            <a:ext cx="100584" cy="100584"/>
          </a:xfrm>
          <a:prstGeom prst="ellipse">
            <a:avLst/>
          </a:prstGeom>
          <a:solidFill>
            <a:srgbClr val="C4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13648" y="3222345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Oracle → PostgreSQL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648" y="3423513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Migrate eligible databases to PostgreSQL to cut licensing spend and reduce vendor lock-in.</a:t>
            </a:r>
          </a:p>
        </p:txBody>
      </p:sp>
      <p:sp>
        <p:nvSpPr>
          <p:cNvPr id="58" name="Oval 57"/>
          <p:cNvSpPr/>
          <p:nvPr/>
        </p:nvSpPr>
        <p:spPr>
          <a:xfrm>
            <a:off x="8394192" y="3765499"/>
            <a:ext cx="100584" cy="100584"/>
          </a:xfrm>
          <a:prstGeom prst="ellipse">
            <a:avLst/>
          </a:prstGeom>
          <a:solidFill>
            <a:srgbClr val="C4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13648" y="3701491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Citrix retirement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902659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Shift remote-access workloads to standard patterns, reducing overhead and attack surface.</a:t>
            </a:r>
          </a:p>
        </p:txBody>
      </p:sp>
      <p:sp>
        <p:nvSpPr>
          <p:cNvPr id="61" name="Oval 60"/>
          <p:cNvSpPr/>
          <p:nvPr/>
        </p:nvSpPr>
        <p:spPr>
          <a:xfrm>
            <a:off x="8394192" y="4244644"/>
            <a:ext cx="100584" cy="100584"/>
          </a:xfrm>
          <a:prstGeom prst="ellipse">
            <a:avLst/>
          </a:prstGeom>
          <a:solidFill>
            <a:srgbClr val="C4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13648" y="4180636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Snare → Fluent Bit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13648" y="4381804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Replace Snare log forwarding on Windows with a lighter, open Fluent Bit pipeline.</a:t>
            </a:r>
          </a:p>
        </p:txBody>
      </p:sp>
      <p:sp>
        <p:nvSpPr>
          <p:cNvPr id="64" name="Oval 63"/>
          <p:cNvSpPr/>
          <p:nvPr/>
        </p:nvSpPr>
        <p:spPr>
          <a:xfrm>
            <a:off x="8394192" y="4723790"/>
            <a:ext cx="100584" cy="100584"/>
          </a:xfrm>
          <a:prstGeom prst="ellipse">
            <a:avLst/>
          </a:prstGeom>
          <a:solidFill>
            <a:srgbClr val="C4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13648" y="4659782"/>
            <a:ext cx="2770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1026"/>
                </a:solidFill>
                <a:latin typeface="Calibri"/>
              </a:rPr>
              <a:t>Diamanti retirement (EPS)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3648" y="4860950"/>
            <a:ext cx="2770632" cy="314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A7F93"/>
                </a:solidFill>
                <a:latin typeface="Calibri"/>
              </a:rPr>
              <a:t>Migrate workloads off niche hyperconverged infrastructure onto standard platforms, jointly with EPS.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394960"/>
            <a:ext cx="11091672" cy="512064"/>
          </a:xfrm>
          <a:prstGeom prst="roundRect">
            <a:avLst>
              <a:gd name="adj" fmla="val 5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48640" y="5394960"/>
            <a:ext cx="137160" cy="512064"/>
          </a:xfrm>
          <a:prstGeom prst="rect">
            <a:avLst/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9536" y="547725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ONE UNIFIED ESTATE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" y="567842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B9BEE6"/>
                </a:solidFill>
                <a:latin typeface="Calibri"/>
              </a:rPr>
              <a:t>the shared foundation all workstreams build 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92040" y="5532120"/>
            <a:ext cx="1108252" cy="246888"/>
          </a:xfrm>
          <a:prstGeom prst="roundRect">
            <a:avLst>
              <a:gd name="adj" fmla="val 50000"/>
            </a:avLst>
          </a:prstGeom>
          <a:solidFill>
            <a:srgbClr val="25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92040" y="5532120"/>
            <a:ext cx="110825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D7DBF5"/>
                </a:solidFill>
                <a:latin typeface="Trebuchet MS"/>
              </a:rPr>
              <a:t>Public Cloud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46596" y="5532120"/>
            <a:ext cx="1177747" cy="246888"/>
          </a:xfrm>
          <a:prstGeom prst="roundRect">
            <a:avLst>
              <a:gd name="adj" fmla="val 50000"/>
            </a:avLst>
          </a:prstGeom>
          <a:solidFill>
            <a:srgbClr val="25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46596" y="5532120"/>
            <a:ext cx="117774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D7DBF5"/>
                </a:solidFill>
                <a:latin typeface="Trebuchet MS"/>
              </a:rPr>
              <a:t>Private Cloud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70648" y="5532120"/>
            <a:ext cx="899769" cy="246888"/>
          </a:xfrm>
          <a:prstGeom prst="roundRect">
            <a:avLst>
              <a:gd name="adj" fmla="val 50000"/>
            </a:avLst>
          </a:prstGeom>
          <a:solidFill>
            <a:srgbClr val="25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470648" y="5532120"/>
            <a:ext cx="89976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D7DBF5"/>
                </a:solidFill>
                <a:latin typeface="Trebuchet MS"/>
              </a:rPr>
              <a:t>RBC Cloud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16721" y="5532120"/>
            <a:ext cx="899769" cy="246888"/>
          </a:xfrm>
          <a:prstGeom prst="roundRect">
            <a:avLst>
              <a:gd name="adj" fmla="val 50000"/>
            </a:avLst>
          </a:prstGeom>
          <a:solidFill>
            <a:srgbClr val="25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16721" y="5532120"/>
            <a:ext cx="89976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D7DBF5"/>
                </a:solidFill>
                <a:latin typeface="Trebuchet MS"/>
              </a:rPr>
              <a:t>Mainframe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8640" y="6016752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212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601675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Driven by Infrastructure as Code, these three workstreams lay the foundation for TI’s AI and automation transformation — </a:t>
            </a:r>
            <a:r>
              <a:rPr sz="1150" b="1" i="0">
                <a:solidFill>
                  <a:srgbClr val="FFE9B0"/>
                </a:solidFill>
                <a:latin typeface="Calibri"/>
              </a:rPr>
              <a:t>repeatable, resilient, and 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372</Words>
  <Application>Microsoft Macintosh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Dhwanil Raval</cp:lastModifiedBy>
  <cp:revision>1</cp:revision>
  <dcterms:created xsi:type="dcterms:W3CDTF">2013-01-27T09:14:16Z</dcterms:created>
  <dcterms:modified xsi:type="dcterms:W3CDTF">2026-07-10T14:43:11Z</dcterms:modified>
  <cp:category/>
</cp:coreProperties>
</file>