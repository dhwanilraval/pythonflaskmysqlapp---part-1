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400"/>
          </a:solidFill>
          <a:ln/>
        </p:spPr>
      </p:sp>
      <p:pic>
        <p:nvPicPr>
          <p:cNvPr id="3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28600"/>
            <a:ext cx="1280160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 &amp; Infrastructure Right-Sizing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154680"/>
            <a:ext cx="5029200" cy="36576"/>
          </a:xfrm>
          <a:prstGeom prst="rect">
            <a:avLst/>
          </a:prstGeom>
          <a:solidFill>
            <a:srgbClr val="F5C400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Quarter Product Roadmap  ·  FY2026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Operations  ·  Infrastructure Platform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PRODUCT VISION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77240"/>
            <a:ext cx="8503920" cy="960120"/>
          </a:xfrm>
          <a:prstGeom prst="rect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777240"/>
            <a:ext cx="164592" cy="96012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8229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integrates intelligent Capacity Management into RBC's private cloud to eliminate infrastructure waste, recommend right-sized workloads, and deliver autonomous cost optimization — powered by the Zephyr On-Prem IaC platform.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0040" y="1874520"/>
            <a:ext cx="2651760" cy="2971800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874520"/>
            <a:ext cx="2651760" cy="5486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1148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6072" y="2962656"/>
            <a:ext cx="2139696" cy="23774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" y="2962656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 Platform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6072" y="3255264"/>
            <a:ext cx="2139696" cy="237744"/>
          </a:xfrm>
          <a:prstGeom prst="rect">
            <a:avLst/>
          </a:prstGeom>
          <a:solidFill>
            <a:srgbClr val="0D3C7A"/>
          </a:solidFill>
          <a:ln/>
        </p:spPr>
      </p:sp>
      <p:sp>
        <p:nvSpPr>
          <p:cNvPr id="15" name="Text 12"/>
          <p:cNvSpPr/>
          <p:nvPr/>
        </p:nvSpPr>
        <p:spPr>
          <a:xfrm>
            <a:off x="576072" y="325526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CMP Dashboards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visibility across private cloud capacity, utilization trends, and waste signals — real-time and historical.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46120" y="1874520"/>
            <a:ext cx="2651760" cy="2971800"/>
          </a:xfrm>
          <a:prstGeom prst="rect">
            <a:avLst/>
          </a:prstGeom>
          <a:solidFill>
            <a:srgbClr val="1A5CB0"/>
          </a:solidFill>
          <a:ln w="6350">
            <a:solidFill>
              <a:srgbClr val="1A5CB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6120" y="1874520"/>
            <a:ext cx="2651760" cy="5486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19" name="Text 16"/>
          <p:cNvSpPr/>
          <p:nvPr/>
        </p:nvSpPr>
        <p:spPr>
          <a:xfrm>
            <a:off x="324612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33756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502152" y="2962656"/>
            <a:ext cx="2139696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3502152" y="2962656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 Platform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38328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right-sizing recommendations per workload, product, and environment with financial impact modeling.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1874520"/>
            <a:ext cx="2651760" cy="2971800"/>
          </a:xfrm>
          <a:prstGeom prst="rect">
            <a:avLst/>
          </a:prstGeom>
          <a:solidFill>
            <a:srgbClr val="F4F6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1874520"/>
            <a:ext cx="2651760" cy="5486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26" name="Text 23"/>
          <p:cNvSpPr/>
          <p:nvPr/>
        </p:nvSpPr>
        <p:spPr>
          <a:xfrm>
            <a:off x="6172200" y="1965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26364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28232" y="2962656"/>
            <a:ext cx="2139696" cy="237744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29" name="Text 26"/>
          <p:cNvSpPr/>
          <p:nvPr/>
        </p:nvSpPr>
        <p:spPr>
          <a:xfrm>
            <a:off x="6428232" y="2962656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28232" y="3255264"/>
            <a:ext cx="2139696" cy="237744"/>
          </a:xfrm>
          <a:prstGeom prst="rect">
            <a:avLst/>
          </a:prstGeom>
          <a:solidFill>
            <a:srgbClr val="0D3C7A"/>
          </a:solidFill>
          <a:ln/>
        </p:spPr>
      </p:sp>
      <p:sp>
        <p:nvSpPr>
          <p:cNvPr id="31" name="Text 28"/>
          <p:cNvSpPr/>
          <p:nvPr/>
        </p:nvSpPr>
        <p:spPr>
          <a:xfrm>
            <a:off x="6428232" y="325526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Actions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30936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IaC-native remediation playbooks that execute approved changes with full audit trail and rollback capability.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34" name="Text 3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RBC Technology &amp; Operations  ·  Infrastructure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Q1 2026 ROADMAP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49808"/>
            <a:ext cx="8503920" cy="914400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795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Q1 2026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Observe &amp; Understand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Phase:  Discover · Baseline · Instrument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801368"/>
            <a:ext cx="2606040" cy="64008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12" name="Shape 9"/>
          <p:cNvSpPr/>
          <p:nvPr/>
        </p:nvSpPr>
        <p:spPr>
          <a:xfrm>
            <a:off x="13441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Telemetry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monitoring stack (Dynatrace, Prometheus)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CPU, memory, storage, &amp; network baselines per workload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capacity taxonomy across product tiers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632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63240" y="1801368"/>
            <a:ext cx="2606040" cy="64008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18" name="Shape 15"/>
          <p:cNvSpPr/>
          <p:nvPr/>
        </p:nvSpPr>
        <p:spPr>
          <a:xfrm>
            <a:off x="40873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73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729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278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all private cloud resources via Zephyr IaC registry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classify workloads by criticality, environment &amp; owner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resource consumption to product &amp; cost centre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1801368"/>
            <a:ext cx="2606040" cy="64008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24" name="Shape 21"/>
          <p:cNvSpPr/>
          <p:nvPr/>
        </p:nvSpPr>
        <p:spPr>
          <a:xfrm>
            <a:off x="68305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05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161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710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right-sizing data model &amp; optimization schema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FinOps standards &amp; RBC chargeback model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steering WG with T&amp;O product owners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29" name="Shape 26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solidFill>
            <a:srgbClr val="0D3C7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727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Quarter Milestone:  Capacity baseline published for all registered private cloud workloads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Q2 2026 ROADMAP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49808"/>
            <a:ext cx="8503920" cy="914400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795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Q2 2026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Recommend &amp; Prioritize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Phase:  Analyze · Model · Recommend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801368"/>
            <a:ext cx="2606040" cy="64008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12" name="Shape 9"/>
          <p:cNvSpPr/>
          <p:nvPr/>
        </p:nvSpPr>
        <p:spPr>
          <a:xfrm>
            <a:off x="13441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Recommendation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right-sizing models on Q1 baseline telemetry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per-workload resize recommendations with confidence score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$ savings potential per recommendation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632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63240" y="1801368"/>
            <a:ext cx="2606040" cy="64008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18" name="Shape 15"/>
          <p:cNvSpPr/>
          <p:nvPr/>
        </p:nvSpPr>
        <p:spPr>
          <a:xfrm>
            <a:off x="40873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73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729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278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 with Zephyr IaC module library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connectors for VMware vSphere, OpenShift &amp; bare-metal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 for recommendation approvals workflow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1801368"/>
            <a:ext cx="2606040" cy="64008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24" name="Shape 21"/>
          <p:cNvSpPr/>
          <p:nvPr/>
        </p:nvSpPr>
        <p:spPr>
          <a:xfrm>
            <a:off x="68305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05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161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710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product owners to view &amp; accept recommendations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modelling with before/after cost projections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capacity health scorecard (capacity utilization vs. target)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29" name="Shape 26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solidFill>
            <a:srgbClr val="0D3C7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727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Quarter Milestone:  First wave of right-sizing recommendations delivered with quantified savings opportunity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Q3 2026 ROADMAP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749808"/>
            <a:ext cx="8503920" cy="914400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795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Q3 2026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Automate &amp; Sustain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Phase:  Execute · Validate · Scale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1801368"/>
            <a:ext cx="2606040" cy="64008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12" name="Shape 9"/>
          <p:cNvSpPr/>
          <p:nvPr/>
        </p:nvSpPr>
        <p:spPr>
          <a:xfrm>
            <a:off x="13441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97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IaC-native playbooks execute approved right-sizing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for low-risk workloads (non-prod) with guardrails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trail, rollback, and DR-safe change sequencing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632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63240" y="1801368"/>
            <a:ext cx="2606040" cy="64008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18" name="Shape 15"/>
          <p:cNvSpPr/>
          <p:nvPr/>
        </p:nvSpPr>
        <p:spPr>
          <a:xfrm>
            <a:off x="40873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73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729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Loop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278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Post-remediation validation with performance SLO verification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to retrain ML models on real-world outcomes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capacity review cadence (bi-weekly automated reports)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1801368"/>
            <a:ext cx="26060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1801368"/>
            <a:ext cx="2606040" cy="64008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24" name="Shape 21"/>
          <p:cNvSpPr/>
          <p:nvPr/>
        </p:nvSpPr>
        <p:spPr>
          <a:xfrm>
            <a:off x="6830568" y="1920240"/>
            <a:ext cx="548640" cy="548640"/>
          </a:xfrm>
          <a:prstGeom prst="ellipse">
            <a:avLst/>
          </a:prstGeom>
          <a:solidFill>
            <a:srgbClr val="EB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05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16168" y="2542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71032" y="2999232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remaining product groups &amp; infra domains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cross-cloud workloads (hybrid optimization)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FY27 savings targets &amp; capacity efficiency KPIs to leadership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29" name="Shape 26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solidFill>
            <a:srgbClr val="0D3C7A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727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Quarter Milestone:  Autonomous right-sizing active for non-prod; $X.XM annualized savings validated &amp; reported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THREE QUARTER TIMELINE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08760" y="749808"/>
            <a:ext cx="2148840" cy="530352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6" name="Text 3"/>
          <p:cNvSpPr/>
          <p:nvPr/>
        </p:nvSpPr>
        <p:spPr>
          <a:xfrm>
            <a:off x="1508760" y="749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08760" y="1024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Understand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0480" y="749808"/>
            <a:ext cx="2148840" cy="530352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0" y="749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024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&amp; Prioritize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72200" y="749808"/>
            <a:ext cx="2148840" cy="530352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7498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1024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Sustain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440" y="1399032"/>
            <a:ext cx="8915400" cy="493776"/>
          </a:xfrm>
          <a:prstGeom prst="rect">
            <a:avLst/>
          </a:prstGeom>
          <a:solidFill>
            <a:srgbClr val="EBF2FB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4592" y="145389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Telemetry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45336" y="1490472"/>
            <a:ext cx="2075688" cy="329184"/>
          </a:xfrm>
          <a:prstGeom prst="rect">
            <a:avLst/>
          </a:prstGeom>
          <a:solidFill>
            <a:srgbClr val="1A6FC4">
              <a:alpha val="2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581912" y="14813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monitoring; set baselines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77056" y="1490472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913632" y="14813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into ML engine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08776" y="1490472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245352" y="14813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telemetry &amp; feedback loop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1440" y="1929384"/>
            <a:ext cx="89154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4592" y="19842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IaC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545336" y="2020824"/>
            <a:ext cx="2075688" cy="329184"/>
          </a:xfrm>
          <a:prstGeom prst="rect">
            <a:avLst/>
          </a:prstGeom>
          <a:solidFill>
            <a:srgbClr val="1A6FC4">
              <a:alpha val="2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581912" y="20116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resource discovery &amp; tagging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77056" y="2020824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913632" y="20116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module integration (vSphere, OCP)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08776" y="2020824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245352" y="2011680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Cross-cloud &amp; hybrid scope expansion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1440" y="2459736"/>
            <a:ext cx="8915400" cy="493776"/>
          </a:xfrm>
          <a:prstGeom prst="rect">
            <a:avLst/>
          </a:prstGeom>
          <a:solidFill>
            <a:srgbClr val="EBF2FB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25146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508760" y="2532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877056" y="2551176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3913632" y="2542032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right-sizing engine + portal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08776" y="2551176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245352" y="2542032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&amp; remediate (guardrailed)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1440" y="2990088"/>
            <a:ext cx="89154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64592" y="304495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508760" y="30632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877056" y="3081528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3913632" y="3072384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approval workflow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08776" y="3081528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45352" y="3072384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playbooks + rollback + audit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1440" y="3520440"/>
            <a:ext cx="8915400" cy="493776"/>
          </a:xfrm>
          <a:prstGeom prst="rect">
            <a:avLst/>
          </a:prstGeom>
          <a:solidFill>
            <a:srgbClr val="EBF2FB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4592" y="35753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KPIs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545336" y="3611880"/>
            <a:ext cx="2075688" cy="329184"/>
          </a:xfrm>
          <a:prstGeom prst="rect">
            <a:avLst/>
          </a:prstGeom>
          <a:solidFill>
            <a:srgbClr val="1A6FC4">
              <a:alpha val="1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581912" y="3602736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baseline report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877056" y="3611880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3913632" y="3602736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opportunity dashboard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208776" y="3611880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6245352" y="3602736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targets &amp; leadership reporting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1440" y="4050792"/>
            <a:ext cx="8915400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64592" y="41056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1545336" y="4142232"/>
            <a:ext cx="2075688" cy="329184"/>
          </a:xfrm>
          <a:prstGeom prst="rect">
            <a:avLst/>
          </a:prstGeom>
          <a:solidFill>
            <a:srgbClr val="1A6FC4">
              <a:alpha val="10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581912" y="41330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WG established; data model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877056" y="4142232"/>
            <a:ext cx="2075688" cy="329184"/>
          </a:xfrm>
          <a:prstGeom prst="rect">
            <a:avLst/>
          </a:prstGeom>
          <a:solidFill>
            <a:srgbClr val="1A8C60">
              <a:alpha val="25000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3913632" y="41330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alignment; chargeback model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208776" y="4142232"/>
            <a:ext cx="2075688" cy="329184"/>
          </a:xfrm>
          <a:prstGeom prst="rect">
            <a:avLst/>
          </a:prstGeom>
          <a:solidFill>
            <a:srgbClr val="9B4DCA">
              <a:alpha val="25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6245352" y="41330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automation &amp; compliance checks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61" name="Text 5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RBC Technology &amp; Operations  ·  Infrastructure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 ·  SUCCESS METRICS &amp; KPIs</a:t>
            </a:r>
            <a:endParaRPr lang="en-US" sz="1300" dirty="0"/>
          </a:p>
        </p:txBody>
      </p:sp>
      <p:pic>
        <p:nvPicPr>
          <p:cNvPr id="4" name="Image 0" descr="/home/claude/rb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5720"/>
            <a:ext cx="73152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Optimize will be measured against three dimensions of value — Efficiency, Velocity, and Financial Impact — tracked quarterly through the RBC FinOps &amp; Infrastructure governance cadence.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89888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389888"/>
            <a:ext cx="2651760" cy="54864"/>
          </a:xfrm>
          <a:prstGeom prst="rect">
            <a:avLst/>
          </a:prstGeom>
          <a:solidFill>
            <a:srgbClr val="1A6FC4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6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EFFICIENCY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11480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over-provisioned compute across registered workloads by Q3 EOQ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389888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89888"/>
            <a:ext cx="2651760" cy="54864"/>
          </a:xfrm>
          <a:prstGeom prst="rect">
            <a:avLst/>
          </a:prstGeom>
          <a:solidFill>
            <a:srgbClr val="1A8C60"/>
          </a:solidFill>
          <a:ln/>
        </p:spPr>
      </p:sp>
      <p:sp>
        <p:nvSpPr>
          <p:cNvPr id="13" name="Text 10"/>
          <p:cNvSpPr/>
          <p:nvPr/>
        </p:nvSpPr>
        <p:spPr>
          <a:xfrm>
            <a:off x="335584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8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37560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$XM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337560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infrastructure savings identified &amp; validated by right-sizing engine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72200" y="1389888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389888"/>
            <a:ext cx="2651760" cy="54864"/>
          </a:xfrm>
          <a:prstGeom prst="rect">
            <a:avLst/>
          </a:prstGeom>
          <a:solidFill>
            <a:srgbClr val="9B4DCA"/>
          </a:solidFill>
          <a:ln/>
        </p:spPr>
      </p:sp>
      <p:sp>
        <p:nvSpPr>
          <p:cNvPr id="18" name="Text 15"/>
          <p:cNvSpPr/>
          <p:nvPr/>
        </p:nvSpPr>
        <p:spPr>
          <a:xfrm>
            <a:off x="628192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4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COVERAGE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63640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263640" y="22677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workloads inventoried, tagged, and baselined by Q1 EOQ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28346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834640"/>
            <a:ext cx="2651760" cy="54864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23" name="Text 20"/>
          <p:cNvSpPr/>
          <p:nvPr/>
        </p:nvSpPr>
        <p:spPr>
          <a:xfrm>
            <a:off x="42976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AUTOMATION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32186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hrs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411480" y="3712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from recommendation approval to change execution via IaC playbook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28346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2834640"/>
            <a:ext cx="26517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335584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37560" y="32186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3337560" y="3712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precision rate (no post-remediation SLO degradation)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72200" y="283464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72200" y="2834640"/>
            <a:ext cx="2651760" cy="54864"/>
          </a:xfrm>
          <a:prstGeom prst="rect">
            <a:avLst/>
          </a:prstGeom>
          <a:solidFill>
            <a:srgbClr val="1A5CB0"/>
          </a:solidFill>
          <a:ln/>
        </p:spPr>
      </p:sp>
      <p:sp>
        <p:nvSpPr>
          <p:cNvPr id="33" name="Text 30"/>
          <p:cNvSpPr/>
          <p:nvPr/>
        </p:nvSpPr>
        <p:spPr>
          <a:xfrm>
            <a:off x="6281928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ADOPTION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263640" y="32186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3200" dirty="0"/>
          </a:p>
        </p:txBody>
      </p:sp>
      <p:sp>
        <p:nvSpPr>
          <p:cNvPr id="35" name="Text 32"/>
          <p:cNvSpPr/>
          <p:nvPr/>
        </p:nvSpPr>
        <p:spPr>
          <a:xfrm>
            <a:off x="6263640" y="3712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acceptance rate of right-sizing recommendations by Q3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2FB"/>
          </a:solidFill>
          <a:ln/>
        </p:spPr>
      </p:sp>
      <p:sp>
        <p:nvSpPr>
          <p:cNvPr id="37" name="Text 3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RBC Technology &amp; Operations  ·  Infrastructure Platform Engineering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Zephyr Optimize – Three Quarter Roadmap</dc:title>
  <dc:subject>PptxGenJS Presentation</dc:subject>
  <dc:creator>PptxGenJS</dc:creator>
  <cp:lastModifiedBy>PptxGenJS</cp:lastModifiedBy>
  <cp:revision>1</cp:revision>
  <dcterms:created xsi:type="dcterms:W3CDTF">2026-05-05T02:43:52Z</dcterms:created>
  <dcterms:modified xsi:type="dcterms:W3CDTF">2026-05-05T02:43:52Z</dcterms:modified>
</cp:coreProperties>
</file>