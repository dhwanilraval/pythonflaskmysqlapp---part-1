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1" r:id="rId3"/>
    <p:sldId id="262" r:id="rId4"/>
    <p:sldId id="264" r:id="rId5"/>
    <p:sldId id="265" r:id="rId6"/>
    <p:sldId id="266" r:id="rId7"/>
    <p:sldId id="268" r:id="rId8"/>
    <p:sldId id="269" r:id="rId9"/>
    <p:sldId id="257" r:id="rId10"/>
    <p:sldId id="259"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p:restoredTop sz="94610"/>
  </p:normalViewPr>
  <p:slideViewPr>
    <p:cSldViewPr snapToGrid="0" snapToObjects="1">
      <p:cViewPr varScale="1">
        <p:scale>
          <a:sx n="114" d="100"/>
          <a:sy n="114" d="100"/>
        </p:scale>
        <p:origin x="4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09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828800"/>
            <a:ext cx="10058400" cy="274320"/>
          </a:xfrm>
          <a:prstGeom prst="rect">
            <a:avLst/>
          </a:prstGeom>
          <a:noFill/>
          <a:ln/>
        </p:spPr>
        <p:txBody>
          <a:bodyPr wrap="square" lIns="0" tIns="0" rIns="0" bIns="0" rtlCol="0" anchor="ctr"/>
          <a:lstStyle/>
          <a:p>
            <a:pPr marL="0" indent="0">
              <a:buNone/>
            </a:pPr>
            <a:r>
              <a:rPr lang="en-US" sz="1100" b="1" kern="0" spc="280" dirty="0">
                <a:solidFill>
                  <a:srgbClr val="FFD200"/>
                </a:solidFill>
                <a:latin typeface="Calibri" pitchFamily="34" charset="0"/>
                <a:ea typeface="Calibri" pitchFamily="34" charset="-122"/>
                <a:cs typeface="Calibri" pitchFamily="34" charset="-120"/>
              </a:rPr>
              <a:t>TECHNOLOGY INFRASTRUCTURE</a:t>
            </a:r>
            <a:endParaRPr lang="en-US" sz="1100" dirty="0"/>
          </a:p>
        </p:txBody>
      </p:sp>
      <p:sp>
        <p:nvSpPr>
          <p:cNvPr id="4" name="Text 2"/>
          <p:cNvSpPr/>
          <p:nvPr/>
        </p:nvSpPr>
        <p:spPr>
          <a:xfrm>
            <a:off x="566928" y="2212848"/>
            <a:ext cx="1078992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The RBC Cloud Operating Model</a:t>
            </a:r>
            <a:endParaRPr lang="en-US" sz="5000" dirty="0"/>
          </a:p>
        </p:txBody>
      </p:sp>
      <p:sp>
        <p:nvSpPr>
          <p:cNvPr id="5" name="Text 3"/>
          <p:cNvSpPr/>
          <p:nvPr/>
        </p:nvSpPr>
        <p:spPr>
          <a:xfrm>
            <a:off x="566928" y="3145536"/>
            <a:ext cx="10515600" cy="365760"/>
          </a:xfrm>
          <a:prstGeom prst="rect">
            <a:avLst/>
          </a:prstGeom>
          <a:noFill/>
          <a:ln/>
        </p:spPr>
        <p:txBody>
          <a:bodyPr wrap="square" lIns="0" tIns="0" rIns="0" bIns="0" rtlCol="0" anchor="ctr"/>
          <a:lstStyle/>
          <a:p>
            <a:pPr marL="0" indent="0">
              <a:buNone/>
            </a:pPr>
            <a:r>
              <a:rPr lang="en-US" sz="1900" dirty="0">
                <a:solidFill>
                  <a:srgbClr val="9FB6D6"/>
                </a:solidFill>
                <a:latin typeface="Cambria" pitchFamily="34" charset="0"/>
                <a:ea typeface="Cambria" pitchFamily="34" charset="-122"/>
                <a:cs typeface="Cambria" pitchFamily="34" charset="-120"/>
              </a:rPr>
              <a:t>SQL Server Pod — the first service through</a:t>
            </a:r>
            <a:endParaRPr lang="en-US" sz="1900" dirty="0"/>
          </a:p>
        </p:txBody>
      </p:sp>
      <p:sp>
        <p:nvSpPr>
          <p:cNvPr id="6" name="Shape 4"/>
          <p:cNvSpPr/>
          <p:nvPr/>
        </p:nvSpPr>
        <p:spPr>
          <a:xfrm>
            <a:off x="566928" y="3749040"/>
            <a:ext cx="2194560" cy="27432"/>
          </a:xfrm>
          <a:prstGeom prst="rect">
            <a:avLst/>
          </a:prstGeom>
          <a:solidFill>
            <a:srgbClr val="1B6FC4"/>
          </a:solidFill>
          <a:ln/>
        </p:spPr>
        <p:txBody>
          <a:bodyPr/>
          <a:lstStyle/>
          <a:p>
            <a:endParaRPr lang="en-US"/>
          </a:p>
        </p:txBody>
      </p:sp>
      <p:sp>
        <p:nvSpPr>
          <p:cNvPr id="7" name="Text 5"/>
          <p:cNvSpPr/>
          <p:nvPr/>
        </p:nvSpPr>
        <p:spPr>
          <a:xfrm>
            <a:off x="566928" y="4005072"/>
            <a:ext cx="8778240" cy="548640"/>
          </a:xfrm>
          <a:prstGeom prst="rect">
            <a:avLst/>
          </a:prstGeom>
          <a:noFill/>
          <a:ln/>
        </p:spPr>
        <p:txBody>
          <a:bodyPr wrap="square" lIns="0" tIns="0" rIns="0" bIns="0" rtlCol="0" anchor="ctr"/>
          <a:lstStyle/>
          <a:p>
            <a:pPr marL="0" indent="0">
              <a:lnSpc>
                <a:spcPts val="1900"/>
              </a:lnSpc>
              <a:buNone/>
            </a:pPr>
            <a:r>
              <a:rPr lang="en-US" sz="1300" i="1" dirty="0">
                <a:solidFill>
                  <a:srgbClr val="C9D8EE"/>
                </a:solidFill>
                <a:latin typeface="Calibri" pitchFamily="34" charset="0"/>
                <a:ea typeface="Calibri" pitchFamily="34" charset="-122"/>
                <a:cs typeface="Calibri" pitchFamily="34" charset="-120"/>
              </a:rPr>
              <a:t>who's in it · what they'll do · how it operates and is governed · what good looks like</a:t>
            </a:r>
            <a:endParaRPr lang="en-US" sz="1300" dirty="0"/>
          </a:p>
        </p:txBody>
      </p:sp>
      <p:sp>
        <p:nvSpPr>
          <p:cNvPr id="8" name="Text 6"/>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WHO'S IN IT  ·  THE CORE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Inside the pod</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Dedicated. Carrying the pager. This is the whole core — everyone else is a contract.</a:t>
            </a:r>
            <a:endParaRPr lang="en-US" sz="1200" dirty="0"/>
          </a:p>
        </p:txBody>
      </p:sp>
      <p:sp>
        <p:nvSpPr>
          <p:cNvPr id="5" name="Shape 3"/>
          <p:cNvSpPr/>
          <p:nvPr/>
        </p:nvSpPr>
        <p:spPr>
          <a:xfrm>
            <a:off x="566928" y="1828800"/>
            <a:ext cx="11027664" cy="365760"/>
          </a:xfrm>
          <a:prstGeom prst="rect">
            <a:avLst/>
          </a:prstGeom>
          <a:solidFill>
            <a:srgbClr val="0B2350"/>
          </a:solidFill>
          <a:ln/>
        </p:spPr>
        <p:txBody>
          <a:bodyPr/>
          <a:lstStyle/>
          <a:p>
            <a:endParaRPr lang="en-US"/>
          </a:p>
        </p:txBody>
      </p:sp>
      <p:sp>
        <p:nvSpPr>
          <p:cNvPr id="6" name="Text 4"/>
          <p:cNvSpPr/>
          <p:nvPr/>
        </p:nvSpPr>
        <p:spPr>
          <a:xfrm>
            <a:off x="676656" y="1920240"/>
            <a:ext cx="192024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ROLE</a:t>
            </a:r>
            <a:endParaRPr lang="en-US" sz="800" dirty="0"/>
          </a:p>
        </p:txBody>
      </p:sp>
      <p:sp>
        <p:nvSpPr>
          <p:cNvPr id="7" name="Text 5"/>
          <p:cNvSpPr/>
          <p:nvPr/>
        </p:nvSpPr>
        <p:spPr>
          <a:xfrm>
            <a:off x="2779776" y="1920240"/>
            <a:ext cx="530352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WHAT THEY DO IN THE POD</a:t>
            </a:r>
            <a:endParaRPr lang="en-US" sz="800" dirty="0"/>
          </a:p>
        </p:txBody>
      </p:sp>
      <p:sp>
        <p:nvSpPr>
          <p:cNvPr id="8" name="Text 6"/>
          <p:cNvSpPr/>
          <p:nvPr/>
        </p:nvSpPr>
        <p:spPr>
          <a:xfrm>
            <a:off x="8266176" y="1920240"/>
            <a:ext cx="3255264"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WHAT THEY OWN</a:t>
            </a:r>
            <a:endParaRPr lang="en-US" sz="800" dirty="0"/>
          </a:p>
        </p:txBody>
      </p:sp>
      <p:sp>
        <p:nvSpPr>
          <p:cNvPr id="9" name="Shape 7"/>
          <p:cNvSpPr/>
          <p:nvPr/>
        </p:nvSpPr>
        <p:spPr>
          <a:xfrm>
            <a:off x="566928" y="2212848"/>
            <a:ext cx="11027664" cy="457200"/>
          </a:xfrm>
          <a:prstGeom prst="rect">
            <a:avLst/>
          </a:prstGeom>
          <a:solidFill>
            <a:srgbClr val="F4F7FB"/>
          </a:solidFill>
          <a:ln w="5080">
            <a:solidFill>
              <a:srgbClr val="D7DDE5"/>
            </a:solidFill>
            <a:prstDash val="solid"/>
          </a:ln>
        </p:spPr>
        <p:txBody>
          <a:bodyPr/>
          <a:lstStyle/>
          <a:p>
            <a:endParaRPr lang="en-US"/>
          </a:p>
        </p:txBody>
      </p:sp>
      <p:sp>
        <p:nvSpPr>
          <p:cNvPr id="10" name="Text 8"/>
          <p:cNvSpPr/>
          <p:nvPr/>
        </p:nvSpPr>
        <p:spPr>
          <a:xfrm>
            <a:off x="676656" y="2276856"/>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Pod Lead</a:t>
            </a:r>
            <a:endParaRPr lang="en-US" sz="880" dirty="0"/>
          </a:p>
        </p:txBody>
      </p:sp>
      <p:sp>
        <p:nvSpPr>
          <p:cNvPr id="11" name="Text 9"/>
          <p:cNvSpPr/>
          <p:nvPr/>
        </p:nvSpPr>
        <p:spPr>
          <a:xfrm>
            <a:off x="2779776" y="2276856"/>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Owns the roadmap and the outcome. Decides who burns toil, week to week. Presents the BAU breakdown at day 15 and carries/tracks the story to the program</a:t>
            </a:r>
            <a:endParaRPr lang="en-US" sz="880" dirty="0"/>
          </a:p>
        </p:txBody>
      </p:sp>
      <p:sp>
        <p:nvSpPr>
          <p:cNvPr id="12" name="Text 10"/>
          <p:cNvSpPr/>
          <p:nvPr/>
        </p:nvSpPr>
        <p:spPr>
          <a:xfrm>
            <a:off x="8266176" y="2276856"/>
            <a:ext cx="3255264" cy="347472"/>
          </a:xfrm>
          <a:prstGeom prst="rect">
            <a:avLst/>
          </a:prstGeom>
          <a:noFill/>
          <a:ln/>
        </p:spPr>
        <p:txBody>
          <a:bodyPr wrap="square" lIns="0" tIns="0" rIns="0" bIns="0" rtlCol="0" anchor="ctr"/>
          <a:lstStyle/>
          <a:p>
            <a:pPr>
              <a:lnSpc>
                <a:spcPts val="1150"/>
              </a:lnSpc>
            </a:pPr>
            <a:r>
              <a:rPr lang="en-US" sz="880" dirty="0">
                <a:solidFill>
                  <a:srgbClr val="1E252E"/>
                </a:solidFill>
                <a:latin typeface="Calibri" pitchFamily="34" charset="0"/>
                <a:ea typeface="Calibri" pitchFamily="34" charset="-122"/>
                <a:cs typeface="Calibri" pitchFamily="34" charset="-120"/>
              </a:rPr>
              <a:t>Own toil reduction · escalation · KPIs · Outcomes</a:t>
            </a:r>
            <a:endParaRPr lang="en-US" sz="880" dirty="0"/>
          </a:p>
        </p:txBody>
      </p:sp>
      <p:sp>
        <p:nvSpPr>
          <p:cNvPr id="13" name="Shape 11"/>
          <p:cNvSpPr/>
          <p:nvPr/>
        </p:nvSpPr>
        <p:spPr>
          <a:xfrm>
            <a:off x="566928" y="2706624"/>
            <a:ext cx="11027664" cy="457200"/>
          </a:xfrm>
          <a:prstGeom prst="rect">
            <a:avLst/>
          </a:prstGeom>
          <a:solidFill>
            <a:srgbClr val="FFFFFF"/>
          </a:solidFill>
          <a:ln w="5080">
            <a:solidFill>
              <a:srgbClr val="D7DDE5"/>
            </a:solidFill>
            <a:prstDash val="solid"/>
          </a:ln>
        </p:spPr>
        <p:txBody>
          <a:bodyPr/>
          <a:lstStyle/>
          <a:p>
            <a:endParaRPr lang="en-US"/>
          </a:p>
        </p:txBody>
      </p:sp>
      <p:sp>
        <p:nvSpPr>
          <p:cNvPr id="14" name="Text 12"/>
          <p:cNvSpPr/>
          <p:nvPr/>
        </p:nvSpPr>
        <p:spPr>
          <a:xfrm>
            <a:off x="676656" y="2770632"/>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Engineering &amp; Architecture</a:t>
            </a:r>
            <a:endParaRPr lang="en-US" sz="880" dirty="0"/>
          </a:p>
        </p:txBody>
      </p:sp>
      <p:sp>
        <p:nvSpPr>
          <p:cNvPr id="15" name="Text 13"/>
          <p:cNvSpPr/>
          <p:nvPr/>
        </p:nvSpPr>
        <p:spPr>
          <a:xfrm>
            <a:off x="2779776" y="2770632"/>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Authors the golden modules, the IaC and the SQL-specific policy-as-code. Publishes to the registry, SQL Server Engineering, Architecture Pattern</a:t>
            </a:r>
            <a:endParaRPr lang="en-US" sz="880" dirty="0"/>
          </a:p>
        </p:txBody>
      </p:sp>
      <p:sp>
        <p:nvSpPr>
          <p:cNvPr id="16" name="Text 14"/>
          <p:cNvSpPr/>
          <p:nvPr/>
        </p:nvSpPr>
        <p:spPr>
          <a:xfrm>
            <a:off x="8266176" y="2770632"/>
            <a:ext cx="3255264" cy="347472"/>
          </a:xfrm>
          <a:prstGeom prst="rect">
            <a:avLst/>
          </a:prstGeom>
          <a:noFill/>
          <a:ln/>
        </p:spPr>
        <p:txBody>
          <a:bodyPr wrap="square" lIns="0" tIns="0" rIns="0" bIns="0" rtlCol="0" anchor="ctr"/>
          <a:lstStyle/>
          <a:p>
            <a:pPr>
              <a:lnSpc>
                <a:spcPts val="1150"/>
              </a:lnSpc>
            </a:pPr>
            <a:r>
              <a:rPr lang="en-US" sz="880" dirty="0">
                <a:solidFill>
                  <a:srgbClr val="1E252E"/>
                </a:solidFill>
                <a:latin typeface="Calibri" pitchFamily="34" charset="0"/>
                <a:ea typeface="Calibri" pitchFamily="34" charset="-122"/>
                <a:cs typeface="Calibri" pitchFamily="34" charset="-120"/>
              </a:rPr>
              <a:t>APIs· offering spec · policy rules · Pattern · </a:t>
            </a:r>
            <a:r>
              <a:rPr lang="en-US" sz="880" dirty="0" err="1">
                <a:solidFill>
                  <a:srgbClr val="1E252E"/>
                </a:solidFill>
                <a:latin typeface="Calibri" pitchFamily="34" charset="0"/>
                <a:ea typeface="Calibri" pitchFamily="34" charset="-122"/>
                <a:cs typeface="Calibri" pitchFamily="34" charset="-120"/>
              </a:rPr>
              <a:t>IaC</a:t>
            </a:r>
            <a:r>
              <a:rPr lang="en-US" sz="880" dirty="0">
                <a:solidFill>
                  <a:srgbClr val="1E252E"/>
                </a:solidFill>
                <a:latin typeface="Calibri" pitchFamily="34" charset="0"/>
                <a:ea typeface="Calibri" pitchFamily="34" charset="-122"/>
                <a:cs typeface="Calibri" pitchFamily="34" charset="-120"/>
              </a:rPr>
              <a:t> Modules</a:t>
            </a:r>
            <a:endParaRPr lang="en-US" sz="880" dirty="0"/>
          </a:p>
        </p:txBody>
      </p:sp>
      <p:sp>
        <p:nvSpPr>
          <p:cNvPr id="17" name="Shape 15"/>
          <p:cNvSpPr/>
          <p:nvPr/>
        </p:nvSpPr>
        <p:spPr>
          <a:xfrm>
            <a:off x="566928" y="3200400"/>
            <a:ext cx="11027664" cy="457200"/>
          </a:xfrm>
          <a:prstGeom prst="rect">
            <a:avLst/>
          </a:prstGeom>
          <a:solidFill>
            <a:srgbClr val="F4F7FB"/>
          </a:solidFill>
          <a:ln w="5080">
            <a:solidFill>
              <a:srgbClr val="D7DDE5"/>
            </a:solidFill>
            <a:prstDash val="solid"/>
          </a:ln>
        </p:spPr>
        <p:txBody>
          <a:bodyPr/>
          <a:lstStyle/>
          <a:p>
            <a:endParaRPr lang="en-US"/>
          </a:p>
        </p:txBody>
      </p:sp>
      <p:sp>
        <p:nvSpPr>
          <p:cNvPr id="18" name="Text 16"/>
          <p:cNvSpPr/>
          <p:nvPr/>
        </p:nvSpPr>
        <p:spPr>
          <a:xfrm>
            <a:off x="676656" y="3264408"/>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SQL Ops</a:t>
            </a:r>
            <a:endParaRPr lang="en-US" sz="880" dirty="0"/>
          </a:p>
        </p:txBody>
      </p:sp>
      <p:sp>
        <p:nvSpPr>
          <p:cNvPr id="19" name="Text 17"/>
          <p:cNvSpPr/>
          <p:nvPr/>
        </p:nvSpPr>
        <p:spPr>
          <a:xfrm>
            <a:off x="2779776" y="3264408"/>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Runs it. Day-2, on-call, manual tasks , the actual incidents. Knows what hurts because they feel it — which is why the toil list starts here</a:t>
            </a:r>
            <a:endParaRPr lang="en-US" sz="880" dirty="0"/>
          </a:p>
        </p:txBody>
      </p:sp>
      <p:sp>
        <p:nvSpPr>
          <p:cNvPr id="20" name="Text 18"/>
          <p:cNvSpPr/>
          <p:nvPr/>
        </p:nvSpPr>
        <p:spPr>
          <a:xfrm>
            <a:off x="8266176" y="3264408"/>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Run · day-2 actions · the pager</a:t>
            </a:r>
            <a:endParaRPr lang="en-US" sz="880" dirty="0"/>
          </a:p>
        </p:txBody>
      </p:sp>
      <p:sp>
        <p:nvSpPr>
          <p:cNvPr id="21" name="Shape 19"/>
          <p:cNvSpPr/>
          <p:nvPr/>
        </p:nvSpPr>
        <p:spPr>
          <a:xfrm>
            <a:off x="566928" y="3694176"/>
            <a:ext cx="11027664" cy="457200"/>
          </a:xfrm>
          <a:prstGeom prst="rect">
            <a:avLst/>
          </a:prstGeom>
          <a:solidFill>
            <a:srgbClr val="FFFFFF"/>
          </a:solidFill>
          <a:ln w="5080">
            <a:solidFill>
              <a:srgbClr val="D7DDE5"/>
            </a:solidFill>
            <a:prstDash val="solid"/>
          </a:ln>
        </p:spPr>
        <p:txBody>
          <a:bodyPr/>
          <a:lstStyle/>
          <a:p>
            <a:endParaRPr lang="en-US"/>
          </a:p>
        </p:txBody>
      </p:sp>
      <p:sp>
        <p:nvSpPr>
          <p:cNvPr id="22" name="Text 20"/>
          <p:cNvSpPr/>
          <p:nvPr/>
        </p:nvSpPr>
        <p:spPr>
          <a:xfrm>
            <a:off x="676656" y="3758184"/>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SQL SMEs</a:t>
            </a:r>
            <a:endParaRPr lang="en-US" sz="880" dirty="0"/>
          </a:p>
        </p:txBody>
      </p:sp>
      <p:sp>
        <p:nvSpPr>
          <p:cNvPr id="23" name="Text 21"/>
          <p:cNvSpPr/>
          <p:nvPr/>
        </p:nvSpPr>
        <p:spPr>
          <a:xfrm>
            <a:off x="2779776" y="3758184"/>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Operational Expertise and SCON Experience: HA/DR topology, tuning, upgrade paths. Evolving into platform engineers — authoring the automation for work they've done by hand for years</a:t>
            </a:r>
            <a:endParaRPr lang="en-US" sz="880" dirty="0"/>
          </a:p>
        </p:txBody>
      </p:sp>
      <p:sp>
        <p:nvSpPr>
          <p:cNvPr id="24" name="Text 22"/>
          <p:cNvSpPr/>
          <p:nvPr/>
        </p:nvSpPr>
        <p:spPr>
          <a:xfrm>
            <a:off x="8266176" y="3758184"/>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Operational standards · versions · HA/DR tiers</a:t>
            </a:r>
            <a:endParaRPr lang="en-US" sz="880" dirty="0"/>
          </a:p>
        </p:txBody>
      </p:sp>
      <p:sp>
        <p:nvSpPr>
          <p:cNvPr id="25" name="Shape 23"/>
          <p:cNvSpPr/>
          <p:nvPr/>
        </p:nvSpPr>
        <p:spPr>
          <a:xfrm>
            <a:off x="566928" y="4187952"/>
            <a:ext cx="11027664" cy="457200"/>
          </a:xfrm>
          <a:prstGeom prst="rect">
            <a:avLst/>
          </a:prstGeom>
          <a:solidFill>
            <a:srgbClr val="F4F7FB"/>
          </a:solidFill>
          <a:ln w="5080">
            <a:solidFill>
              <a:srgbClr val="D7DDE5"/>
            </a:solidFill>
            <a:prstDash val="solid"/>
          </a:ln>
        </p:spPr>
        <p:txBody>
          <a:bodyPr/>
          <a:lstStyle/>
          <a:p>
            <a:endParaRPr lang="en-US"/>
          </a:p>
        </p:txBody>
      </p:sp>
      <p:sp>
        <p:nvSpPr>
          <p:cNvPr id="26" name="Text 24"/>
          <p:cNvSpPr/>
          <p:nvPr/>
        </p:nvSpPr>
        <p:spPr>
          <a:xfrm>
            <a:off x="676656" y="4251960"/>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SQL DBAs</a:t>
            </a:r>
            <a:endParaRPr lang="en-US" sz="880" dirty="0"/>
          </a:p>
        </p:txBody>
      </p:sp>
      <p:sp>
        <p:nvSpPr>
          <p:cNvPr id="27" name="Text 25"/>
          <p:cNvSpPr/>
          <p:nvPr/>
        </p:nvSpPr>
        <p:spPr>
          <a:xfrm>
            <a:off x="2779776" y="4251960"/>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Performs DBA tasks and Operations such as database restores, application schema management, performance turning</a:t>
            </a:r>
            <a:endParaRPr lang="en-US" sz="880" dirty="0"/>
          </a:p>
        </p:txBody>
      </p:sp>
      <p:sp>
        <p:nvSpPr>
          <p:cNvPr id="28" name="Text 26"/>
          <p:cNvSpPr/>
          <p:nvPr/>
        </p:nvSpPr>
        <p:spPr>
          <a:xfrm>
            <a:off x="8266176" y="4251960"/>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SLOs · error budgets · incident command</a:t>
            </a:r>
            <a:endParaRPr lang="en-US" sz="880" dirty="0"/>
          </a:p>
        </p:txBody>
      </p:sp>
      <p:sp>
        <p:nvSpPr>
          <p:cNvPr id="29" name="Shape 27"/>
          <p:cNvSpPr/>
          <p:nvPr/>
        </p:nvSpPr>
        <p:spPr>
          <a:xfrm>
            <a:off x="566928" y="4681728"/>
            <a:ext cx="11027664" cy="457200"/>
          </a:xfrm>
          <a:prstGeom prst="rect">
            <a:avLst/>
          </a:prstGeom>
          <a:solidFill>
            <a:srgbClr val="FFFFFF"/>
          </a:solidFill>
          <a:ln w="5080">
            <a:solidFill>
              <a:srgbClr val="D7DDE5"/>
            </a:solidFill>
            <a:prstDash val="solid"/>
          </a:ln>
        </p:spPr>
        <p:txBody>
          <a:bodyPr/>
          <a:lstStyle/>
          <a:p>
            <a:endParaRPr lang="en-US"/>
          </a:p>
        </p:txBody>
      </p:sp>
      <p:sp>
        <p:nvSpPr>
          <p:cNvPr id="30" name="Text 28"/>
          <p:cNvSpPr/>
          <p:nvPr/>
        </p:nvSpPr>
        <p:spPr>
          <a:xfrm>
            <a:off x="676656" y="4745736"/>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cs typeface="Calibri" pitchFamily="34" charset="-120"/>
              </a:rPr>
              <a:t>Agent Developer</a:t>
            </a:r>
            <a:endParaRPr lang="en-US" sz="880" dirty="0"/>
          </a:p>
        </p:txBody>
      </p:sp>
      <p:sp>
        <p:nvSpPr>
          <p:cNvPr id="31" name="Text 29"/>
          <p:cNvSpPr/>
          <p:nvPr/>
        </p:nvSpPr>
        <p:spPr>
          <a:xfrm>
            <a:off x="2779776" y="4745736"/>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Builds the agents that predict, prevent and auto-remediate incidents, and the triage that kills alert noise and enhance/summarize the alert/incident. Rides existing AIOps (</a:t>
            </a:r>
            <a:r>
              <a:rPr lang="en-US" sz="880" dirty="0" err="1">
                <a:solidFill>
                  <a:srgbClr val="1E252E"/>
                </a:solidFill>
                <a:latin typeface="Calibri" pitchFamily="34" charset="0"/>
                <a:ea typeface="Calibri" pitchFamily="34" charset="-122"/>
                <a:cs typeface="Calibri" pitchFamily="34" charset="-120"/>
              </a:rPr>
              <a:t>IntOps</a:t>
            </a:r>
            <a:r>
              <a:rPr lang="en-US" sz="880" dirty="0">
                <a:solidFill>
                  <a:srgbClr val="1E252E"/>
                </a:solidFill>
                <a:latin typeface="Calibri" pitchFamily="34" charset="0"/>
                <a:ea typeface="Calibri" pitchFamily="34" charset="-122"/>
                <a:cs typeface="Calibri" pitchFamily="34" charset="-120"/>
              </a:rPr>
              <a:t>_ platform; does not rebuild it</a:t>
            </a:r>
            <a:endParaRPr lang="en-US" sz="880" dirty="0"/>
          </a:p>
        </p:txBody>
      </p:sp>
      <p:sp>
        <p:nvSpPr>
          <p:cNvPr id="32" name="Text 30"/>
          <p:cNvSpPr/>
          <p:nvPr/>
        </p:nvSpPr>
        <p:spPr>
          <a:xfrm>
            <a:off x="8266176" y="4745736"/>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SQL prevention agents · alert triage</a:t>
            </a:r>
            <a:endParaRPr lang="en-US" sz="880" dirty="0"/>
          </a:p>
        </p:txBody>
      </p:sp>
      <p:sp>
        <p:nvSpPr>
          <p:cNvPr id="33" name="Shape 31"/>
          <p:cNvSpPr/>
          <p:nvPr/>
        </p:nvSpPr>
        <p:spPr>
          <a:xfrm>
            <a:off x="566928" y="5175504"/>
            <a:ext cx="11027664" cy="457200"/>
          </a:xfrm>
          <a:prstGeom prst="rect">
            <a:avLst/>
          </a:prstGeom>
          <a:solidFill>
            <a:srgbClr val="F4F7FB"/>
          </a:solidFill>
          <a:ln w="5080">
            <a:solidFill>
              <a:srgbClr val="D7DDE5"/>
            </a:solidFill>
            <a:prstDash val="solid"/>
          </a:ln>
        </p:spPr>
        <p:txBody>
          <a:bodyPr/>
          <a:lstStyle/>
          <a:p>
            <a:endParaRPr lang="en-US"/>
          </a:p>
        </p:txBody>
      </p:sp>
      <p:sp>
        <p:nvSpPr>
          <p:cNvPr id="34" name="Text 32"/>
          <p:cNvSpPr/>
          <p:nvPr/>
        </p:nvSpPr>
        <p:spPr>
          <a:xfrm>
            <a:off x="676656" y="5239512"/>
            <a:ext cx="1920240" cy="347472"/>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Tigers — Risk &amp; Compliance</a:t>
            </a:r>
            <a:endParaRPr lang="en-US" sz="880" dirty="0"/>
          </a:p>
        </p:txBody>
      </p:sp>
      <p:sp>
        <p:nvSpPr>
          <p:cNvPr id="35" name="Text 33"/>
          <p:cNvSpPr/>
          <p:nvPr/>
        </p:nvSpPr>
        <p:spPr>
          <a:xfrm>
            <a:off x="2779776" y="5239512"/>
            <a:ext cx="5303520"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Builds evidence into the work instead of assembling it afterwards. Runs the evidence drill. Independent enough to call rubber-stamping when it sees it</a:t>
            </a:r>
            <a:endParaRPr lang="en-US" sz="880" dirty="0"/>
          </a:p>
        </p:txBody>
      </p:sp>
      <p:sp>
        <p:nvSpPr>
          <p:cNvPr id="36" name="Text 34"/>
          <p:cNvSpPr/>
          <p:nvPr/>
        </p:nvSpPr>
        <p:spPr>
          <a:xfrm>
            <a:off x="8266176" y="5239512"/>
            <a:ext cx="3255264" cy="347472"/>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Controls · evidence · the rejection-rate KRI</a:t>
            </a:r>
            <a:endParaRPr lang="en-US" sz="880" dirty="0"/>
          </a:p>
        </p:txBody>
      </p:sp>
      <p:sp>
        <p:nvSpPr>
          <p:cNvPr id="37" name="Shape 35"/>
          <p:cNvSpPr/>
          <p:nvPr/>
        </p:nvSpPr>
        <p:spPr>
          <a:xfrm>
            <a:off x="566928" y="5779008"/>
            <a:ext cx="11027664" cy="658368"/>
          </a:xfrm>
          <a:prstGeom prst="rect">
            <a:avLst/>
          </a:prstGeom>
          <a:solidFill>
            <a:srgbClr val="0B2350"/>
          </a:solidFill>
          <a:ln/>
        </p:spPr>
        <p:txBody>
          <a:bodyPr/>
          <a:lstStyle/>
          <a:p>
            <a:endParaRPr lang="en-US"/>
          </a:p>
        </p:txBody>
      </p:sp>
      <p:sp>
        <p:nvSpPr>
          <p:cNvPr id="38" name="Text 36"/>
          <p:cNvSpPr/>
          <p:nvPr/>
        </p:nvSpPr>
        <p:spPr>
          <a:xfrm>
            <a:off x="768096" y="5907024"/>
            <a:ext cx="10625328" cy="438912"/>
          </a:xfrm>
          <a:prstGeom prst="rect">
            <a:avLst/>
          </a:prstGeom>
          <a:noFill/>
          <a:ln/>
        </p:spPr>
        <p:txBody>
          <a:bodyPr wrap="square" lIns="0" tIns="0" rIns="0" bIns="0" rtlCol="0" anchor="ctr"/>
          <a:lstStyle/>
          <a:p>
            <a:pPr marL="0" indent="0">
              <a:lnSpc>
                <a:spcPts val="1450"/>
              </a:lnSpc>
              <a:buNone/>
            </a:pPr>
            <a:r>
              <a:rPr lang="en-US" sz="1020" b="1" dirty="0">
                <a:solidFill>
                  <a:srgbClr val="FFD200"/>
                </a:solidFill>
                <a:latin typeface="Calibri" pitchFamily="34" charset="0"/>
                <a:ea typeface="Calibri" pitchFamily="34" charset="-122"/>
                <a:cs typeface="Calibri" pitchFamily="34" charset="-120"/>
              </a:rPr>
              <a:t>Automation is what all of them do. </a:t>
            </a:r>
            <a:r>
              <a:rPr lang="en-US" sz="1020" dirty="0">
                <a:solidFill>
                  <a:srgbClr val="E8EFF9"/>
                </a:solidFill>
                <a:latin typeface="Calibri" pitchFamily="34" charset="0"/>
                <a:ea typeface="Calibri" pitchFamily="34" charset="-122"/>
                <a:cs typeface="Calibri" pitchFamily="34" charset="-120"/>
              </a:rPr>
              <a:t>There is no automation team and no automation engineers on this list — anyone automates, the pod lead decides who, and agents lower the authoring bar so domain knowledge is the qualification rather than IaC fluency. A DBA who has patched by hand for ten years is the right person to automate patching.</a:t>
            </a:r>
            <a:endParaRPr lang="en-US" sz="1020" dirty="0"/>
          </a:p>
        </p:txBody>
      </p:sp>
      <p:sp>
        <p:nvSpPr>
          <p:cNvPr id="39" name="Text 37"/>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THEY'LL DO</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Reduce the toil of running SQL Server</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In operations, compliance and incidents — by owning the engine end-to-end and automating our own toil. The person who feels the toil is the person who eliminates it.</a:t>
            </a:r>
            <a:endParaRPr lang="en-US" sz="1200" dirty="0"/>
          </a:p>
        </p:txBody>
      </p:sp>
      <p:sp>
        <p:nvSpPr>
          <p:cNvPr id="5" name="Shape 3"/>
          <p:cNvSpPr/>
          <p:nvPr/>
        </p:nvSpPr>
        <p:spPr>
          <a:xfrm>
            <a:off x="566928" y="1847088"/>
            <a:ext cx="3520440" cy="384048"/>
          </a:xfrm>
          <a:prstGeom prst="rect">
            <a:avLst/>
          </a:prstGeom>
          <a:solidFill>
            <a:srgbClr val="005DAA"/>
          </a:solidFill>
          <a:ln/>
        </p:spPr>
        <p:txBody>
          <a:bodyPr/>
          <a:lstStyle/>
          <a:p>
            <a:endParaRPr lang="en-US"/>
          </a:p>
        </p:txBody>
      </p:sp>
      <p:sp>
        <p:nvSpPr>
          <p:cNvPr id="6" name="Text 4"/>
          <p:cNvSpPr/>
          <p:nvPr/>
        </p:nvSpPr>
        <p:spPr>
          <a:xfrm>
            <a:off x="713232"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OPERATIONS TOIL</a:t>
            </a:r>
            <a:endParaRPr lang="en-US" sz="900" dirty="0"/>
          </a:p>
        </p:txBody>
      </p:sp>
      <p:sp>
        <p:nvSpPr>
          <p:cNvPr id="7" name="Shape 5"/>
          <p:cNvSpPr/>
          <p:nvPr/>
        </p:nvSpPr>
        <p:spPr>
          <a:xfrm>
            <a:off x="566928"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8" name="Text 6"/>
          <p:cNvSpPr/>
          <p:nvPr/>
        </p:nvSpPr>
        <p:spPr>
          <a:xfrm>
            <a:off x="713232"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Provisioning · Patching · Access · Restores</a:t>
            </a:r>
            <a:endParaRPr lang="en-US" sz="920" dirty="0"/>
          </a:p>
        </p:txBody>
      </p:sp>
      <p:sp>
        <p:nvSpPr>
          <p:cNvPr id="9" name="Shape 7"/>
          <p:cNvSpPr/>
          <p:nvPr/>
        </p:nvSpPr>
        <p:spPr>
          <a:xfrm>
            <a:off x="713232" y="2798064"/>
            <a:ext cx="3200400" cy="18288"/>
          </a:xfrm>
          <a:prstGeom prst="rect">
            <a:avLst/>
          </a:prstGeom>
          <a:solidFill>
            <a:srgbClr val="D7DDE5"/>
          </a:solidFill>
          <a:ln/>
        </p:spPr>
        <p:txBody>
          <a:bodyPr/>
          <a:lstStyle/>
          <a:p>
            <a:endParaRPr lang="en-US"/>
          </a:p>
        </p:txBody>
      </p:sp>
      <p:sp>
        <p:nvSpPr>
          <p:cNvPr id="10" name="Text 8"/>
          <p:cNvSpPr/>
          <p:nvPr/>
        </p:nvSpPr>
        <p:spPr>
          <a:xfrm>
            <a:off x="713232"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APIs· self-service · policy-as-code</a:t>
            </a:r>
            <a:endParaRPr lang="en-US" sz="880" dirty="0"/>
          </a:p>
        </p:txBody>
      </p:sp>
      <p:sp>
        <p:nvSpPr>
          <p:cNvPr id="11" name="Shape 9"/>
          <p:cNvSpPr/>
          <p:nvPr/>
        </p:nvSpPr>
        <p:spPr>
          <a:xfrm>
            <a:off x="4297680" y="1847088"/>
            <a:ext cx="3520440" cy="384048"/>
          </a:xfrm>
          <a:prstGeom prst="rect">
            <a:avLst/>
          </a:prstGeom>
          <a:solidFill>
            <a:srgbClr val="1B6FC4"/>
          </a:solidFill>
          <a:ln/>
        </p:spPr>
        <p:txBody>
          <a:bodyPr/>
          <a:lstStyle/>
          <a:p>
            <a:endParaRPr lang="en-US"/>
          </a:p>
        </p:txBody>
      </p:sp>
      <p:sp>
        <p:nvSpPr>
          <p:cNvPr id="12" name="Text 10"/>
          <p:cNvSpPr/>
          <p:nvPr/>
        </p:nvSpPr>
        <p:spPr>
          <a:xfrm>
            <a:off x="4443984"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COMPLIANCE TOIL</a:t>
            </a:r>
            <a:endParaRPr lang="en-US" sz="900" dirty="0"/>
          </a:p>
        </p:txBody>
      </p:sp>
      <p:sp>
        <p:nvSpPr>
          <p:cNvPr id="13" name="Shape 11"/>
          <p:cNvSpPr/>
          <p:nvPr/>
        </p:nvSpPr>
        <p:spPr>
          <a:xfrm>
            <a:off x="4297680"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14" name="Text 12"/>
          <p:cNvSpPr/>
          <p:nvPr/>
        </p:nvSpPr>
        <p:spPr>
          <a:xfrm>
            <a:off x="4443984"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Evidence assembly · audit prep · drift · exceptions</a:t>
            </a:r>
            <a:endParaRPr lang="en-US" sz="920" dirty="0"/>
          </a:p>
        </p:txBody>
      </p:sp>
      <p:sp>
        <p:nvSpPr>
          <p:cNvPr id="15" name="Shape 13"/>
          <p:cNvSpPr/>
          <p:nvPr/>
        </p:nvSpPr>
        <p:spPr>
          <a:xfrm>
            <a:off x="4443984" y="2798064"/>
            <a:ext cx="3200400" cy="18288"/>
          </a:xfrm>
          <a:prstGeom prst="rect">
            <a:avLst/>
          </a:prstGeom>
          <a:solidFill>
            <a:srgbClr val="D7DDE5"/>
          </a:solidFill>
          <a:ln/>
        </p:spPr>
        <p:txBody>
          <a:bodyPr/>
          <a:lstStyle/>
          <a:p>
            <a:endParaRPr lang="en-US"/>
          </a:p>
        </p:txBody>
      </p:sp>
      <p:sp>
        <p:nvSpPr>
          <p:cNvPr id="16" name="Text 14"/>
          <p:cNvSpPr/>
          <p:nvPr/>
        </p:nvSpPr>
        <p:spPr>
          <a:xfrm>
            <a:off x="4443984"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Evidence automation · compliant by construction</a:t>
            </a:r>
            <a:endParaRPr lang="en-US" sz="880" dirty="0"/>
          </a:p>
        </p:txBody>
      </p:sp>
      <p:sp>
        <p:nvSpPr>
          <p:cNvPr id="17" name="Shape 15"/>
          <p:cNvSpPr/>
          <p:nvPr/>
        </p:nvSpPr>
        <p:spPr>
          <a:xfrm>
            <a:off x="8028432" y="1847088"/>
            <a:ext cx="3520440" cy="384048"/>
          </a:xfrm>
          <a:prstGeom prst="rect">
            <a:avLst/>
          </a:prstGeom>
          <a:solidFill>
            <a:srgbClr val="4C9A2A"/>
          </a:solidFill>
          <a:ln/>
        </p:spPr>
        <p:txBody>
          <a:bodyPr/>
          <a:lstStyle/>
          <a:p>
            <a:endParaRPr lang="en-US"/>
          </a:p>
        </p:txBody>
      </p:sp>
      <p:sp>
        <p:nvSpPr>
          <p:cNvPr id="18" name="Text 16"/>
          <p:cNvSpPr/>
          <p:nvPr/>
        </p:nvSpPr>
        <p:spPr>
          <a:xfrm>
            <a:off x="8174736"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INCIDENT TOIL</a:t>
            </a:r>
            <a:endParaRPr lang="en-US" sz="900" dirty="0"/>
          </a:p>
        </p:txBody>
      </p:sp>
      <p:sp>
        <p:nvSpPr>
          <p:cNvPr id="19" name="Shape 17"/>
          <p:cNvSpPr/>
          <p:nvPr/>
        </p:nvSpPr>
        <p:spPr>
          <a:xfrm>
            <a:off x="8028432"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20" name="Text 18"/>
          <p:cNvSpPr/>
          <p:nvPr/>
        </p:nvSpPr>
        <p:spPr>
          <a:xfrm>
            <a:off x="8174736"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Alert triage · repetitive response · known-error firefighting</a:t>
            </a:r>
            <a:endParaRPr lang="en-US" sz="920" dirty="0"/>
          </a:p>
        </p:txBody>
      </p:sp>
      <p:sp>
        <p:nvSpPr>
          <p:cNvPr id="21" name="Shape 19"/>
          <p:cNvSpPr/>
          <p:nvPr/>
        </p:nvSpPr>
        <p:spPr>
          <a:xfrm>
            <a:off x="8174736" y="2798064"/>
            <a:ext cx="3200400" cy="18288"/>
          </a:xfrm>
          <a:prstGeom prst="rect">
            <a:avLst/>
          </a:prstGeom>
          <a:solidFill>
            <a:srgbClr val="D7DDE5"/>
          </a:solidFill>
          <a:ln/>
        </p:spPr>
        <p:txBody>
          <a:bodyPr/>
          <a:lstStyle/>
          <a:p>
            <a:endParaRPr lang="en-US"/>
          </a:p>
        </p:txBody>
      </p:sp>
      <p:sp>
        <p:nvSpPr>
          <p:cNvPr id="22" name="Text 20"/>
          <p:cNvSpPr/>
          <p:nvPr/>
        </p:nvSpPr>
        <p:spPr>
          <a:xfrm>
            <a:off x="8174736"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Prevention agents · alert triage · SRE practice</a:t>
            </a:r>
            <a:endParaRPr lang="en-US" sz="880" dirty="0"/>
          </a:p>
        </p:txBody>
      </p:sp>
      <p:sp>
        <p:nvSpPr>
          <p:cNvPr id="23" name="Shape 21"/>
          <p:cNvSpPr/>
          <p:nvPr/>
        </p:nvSpPr>
        <p:spPr>
          <a:xfrm>
            <a:off x="566928" y="3419856"/>
            <a:ext cx="11027664" cy="310896"/>
          </a:xfrm>
          <a:prstGeom prst="rect">
            <a:avLst/>
          </a:prstGeom>
          <a:solidFill>
            <a:srgbClr val="FFD200"/>
          </a:solidFill>
          <a:ln/>
        </p:spPr>
        <p:txBody>
          <a:bodyPr/>
          <a:lstStyle/>
          <a:p>
            <a:endParaRPr lang="en-US"/>
          </a:p>
        </p:txBody>
      </p:sp>
      <p:sp>
        <p:nvSpPr>
          <p:cNvPr id="24" name="Text 22"/>
          <p:cNvSpPr/>
          <p:nvPr/>
        </p:nvSpPr>
        <p:spPr>
          <a:xfrm>
            <a:off x="566928" y="3474720"/>
            <a:ext cx="11027664" cy="201168"/>
          </a:xfrm>
          <a:prstGeom prst="rect">
            <a:avLst/>
          </a:prstGeom>
          <a:noFill/>
          <a:ln/>
        </p:spPr>
        <p:txBody>
          <a:bodyPr wrap="square" lIns="0" tIns="0" rIns="0" bIns="0" rtlCol="0" anchor="ctr"/>
          <a:lstStyle/>
          <a:p>
            <a:pPr marL="0" indent="0" algn="ctr">
              <a:buNone/>
            </a:pPr>
            <a:r>
              <a:rPr lang="en-US" sz="850" b="1" kern="0" spc="130" dirty="0">
                <a:solidFill>
                  <a:srgbClr val="0B2350"/>
                </a:solidFill>
                <a:latin typeface="Calibri" pitchFamily="34" charset="0"/>
                <a:ea typeface="Calibri" pitchFamily="34" charset="-122"/>
                <a:cs typeface="Calibri" pitchFamily="34" charset="-120"/>
              </a:rPr>
              <a:t>NORTH STAR  —  TOIL %  ·  THE SHARE OF POD CAPACITY SPENT ON MANUAL, REPETITIVE, AUTOMATABLE, REACTIVE WORK</a:t>
            </a:r>
            <a:endParaRPr lang="en-US" sz="850" dirty="0"/>
          </a:p>
        </p:txBody>
      </p:sp>
      <p:sp>
        <p:nvSpPr>
          <p:cNvPr id="25" name="Text 23"/>
          <p:cNvSpPr/>
          <p:nvPr/>
        </p:nvSpPr>
        <p:spPr>
          <a:xfrm>
            <a:off x="566928" y="3877056"/>
            <a:ext cx="11027664" cy="182880"/>
          </a:xfrm>
          <a:prstGeom prst="rect">
            <a:avLst/>
          </a:prstGeom>
          <a:noFill/>
          <a:ln/>
        </p:spPr>
        <p:txBody>
          <a:bodyPr wrap="square" lIns="0" tIns="0" rIns="0" bIns="0" rtlCol="0" anchor="ctr"/>
          <a:lstStyle/>
          <a:p>
            <a:pPr marL="0" indent="0">
              <a:buNone/>
            </a:pPr>
            <a:r>
              <a:rPr lang="en-US" sz="850" b="1" kern="0" spc="160" dirty="0">
                <a:solidFill>
                  <a:srgbClr val="C9A227"/>
                </a:solidFill>
                <a:latin typeface="Calibri" pitchFamily="34" charset="0"/>
                <a:ea typeface="Calibri" pitchFamily="34" charset="-122"/>
                <a:cs typeface="Calibri" pitchFamily="34" charset="-120"/>
              </a:rPr>
              <a:t>AND FOUR BUILD TRACKS RUN ALONGSIDE IT</a:t>
            </a:r>
            <a:endParaRPr lang="en-US" sz="850" dirty="0"/>
          </a:p>
        </p:txBody>
      </p:sp>
      <p:sp>
        <p:nvSpPr>
          <p:cNvPr id="26" name="Shape 24"/>
          <p:cNvSpPr/>
          <p:nvPr/>
        </p:nvSpPr>
        <p:spPr>
          <a:xfrm>
            <a:off x="56692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27" name="Shape 25"/>
          <p:cNvSpPr/>
          <p:nvPr/>
        </p:nvSpPr>
        <p:spPr>
          <a:xfrm>
            <a:off x="566928" y="4133088"/>
            <a:ext cx="36576" cy="713232"/>
          </a:xfrm>
          <a:prstGeom prst="rect">
            <a:avLst/>
          </a:prstGeom>
          <a:solidFill>
            <a:srgbClr val="005DAA"/>
          </a:solidFill>
          <a:ln/>
        </p:spPr>
        <p:txBody>
          <a:bodyPr/>
          <a:lstStyle/>
          <a:p>
            <a:endParaRPr lang="en-US"/>
          </a:p>
        </p:txBody>
      </p:sp>
      <p:sp>
        <p:nvSpPr>
          <p:cNvPr id="28" name="Text 26"/>
          <p:cNvSpPr/>
          <p:nvPr/>
        </p:nvSpPr>
        <p:spPr>
          <a:xfrm>
            <a:off x="71323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01   SQL Always On build-out</a:t>
            </a:r>
            <a:endParaRPr lang="en-US" sz="1150" dirty="0"/>
          </a:p>
        </p:txBody>
      </p:sp>
      <p:sp>
        <p:nvSpPr>
          <p:cNvPr id="29" name="Text 27"/>
          <p:cNvSpPr/>
          <p:nvPr/>
        </p:nvSpPr>
        <p:spPr>
          <a:xfrm>
            <a:off x="71323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Automate  target deployment pattern</a:t>
            </a:r>
            <a:endParaRPr lang="en-US" sz="840" dirty="0"/>
          </a:p>
        </p:txBody>
      </p:sp>
      <p:sp>
        <p:nvSpPr>
          <p:cNvPr id="30" name="Text 28"/>
          <p:cNvSpPr/>
          <p:nvPr/>
        </p:nvSpPr>
        <p:spPr>
          <a:xfrm>
            <a:off x="317754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337870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2" name="Shape 30"/>
          <p:cNvSpPr/>
          <p:nvPr/>
        </p:nvSpPr>
        <p:spPr>
          <a:xfrm>
            <a:off x="3378708" y="4133088"/>
            <a:ext cx="36576" cy="713232"/>
          </a:xfrm>
          <a:prstGeom prst="rect">
            <a:avLst/>
          </a:prstGeom>
          <a:solidFill>
            <a:srgbClr val="005DAA"/>
          </a:solidFill>
          <a:ln/>
        </p:spPr>
        <p:txBody>
          <a:bodyPr/>
          <a:lstStyle/>
          <a:p>
            <a:endParaRPr lang="en-US"/>
          </a:p>
        </p:txBody>
      </p:sp>
      <p:sp>
        <p:nvSpPr>
          <p:cNvPr id="33" name="Text 31"/>
          <p:cNvSpPr/>
          <p:nvPr/>
        </p:nvSpPr>
        <p:spPr>
          <a:xfrm>
            <a:off x="352501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02   Operationalize it</a:t>
            </a:r>
            <a:endParaRPr lang="en-US" sz="1150" dirty="0"/>
          </a:p>
        </p:txBody>
      </p:sp>
      <p:sp>
        <p:nvSpPr>
          <p:cNvPr id="34" name="Text 32"/>
          <p:cNvSpPr/>
          <p:nvPr/>
        </p:nvSpPr>
        <p:spPr>
          <a:xfrm>
            <a:off x="352501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Runbooks, monitoring, day-2, support, Training</a:t>
            </a:r>
            <a:endParaRPr lang="en-US" sz="840" dirty="0"/>
          </a:p>
        </p:txBody>
      </p:sp>
      <p:sp>
        <p:nvSpPr>
          <p:cNvPr id="35" name="Text 33"/>
          <p:cNvSpPr/>
          <p:nvPr/>
        </p:nvSpPr>
        <p:spPr>
          <a:xfrm>
            <a:off x="598932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619048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7" name="Shape 35"/>
          <p:cNvSpPr/>
          <p:nvPr/>
        </p:nvSpPr>
        <p:spPr>
          <a:xfrm>
            <a:off x="6190488" y="4133088"/>
            <a:ext cx="36576" cy="713232"/>
          </a:xfrm>
          <a:prstGeom prst="rect">
            <a:avLst/>
          </a:prstGeom>
          <a:solidFill>
            <a:srgbClr val="005DAA"/>
          </a:solidFill>
          <a:ln/>
        </p:spPr>
        <p:txBody>
          <a:bodyPr/>
          <a:lstStyle/>
          <a:p>
            <a:endParaRPr lang="en-US"/>
          </a:p>
        </p:txBody>
      </p:sp>
      <p:sp>
        <p:nvSpPr>
          <p:cNvPr id="38" name="Text 36"/>
          <p:cNvSpPr/>
          <p:nvPr/>
        </p:nvSpPr>
        <p:spPr>
          <a:xfrm>
            <a:off x="633679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03   Migration tooling</a:t>
            </a:r>
            <a:endParaRPr lang="en-US" sz="1150" dirty="0"/>
          </a:p>
        </p:txBody>
      </p:sp>
      <p:sp>
        <p:nvSpPr>
          <p:cNvPr id="39" name="Text 37"/>
          <p:cNvSpPr/>
          <p:nvPr/>
        </p:nvSpPr>
        <p:spPr>
          <a:xfrm>
            <a:off x="633679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The means to move at volume</a:t>
            </a:r>
            <a:endParaRPr lang="en-US" sz="840" dirty="0"/>
          </a:p>
        </p:txBody>
      </p:sp>
      <p:sp>
        <p:nvSpPr>
          <p:cNvPr id="40" name="Text 38"/>
          <p:cNvSpPr/>
          <p:nvPr/>
        </p:nvSpPr>
        <p:spPr>
          <a:xfrm>
            <a:off x="880110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900226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42" name="Shape 40"/>
          <p:cNvSpPr/>
          <p:nvPr/>
        </p:nvSpPr>
        <p:spPr>
          <a:xfrm>
            <a:off x="9002268" y="4133088"/>
            <a:ext cx="36576" cy="713232"/>
          </a:xfrm>
          <a:prstGeom prst="rect">
            <a:avLst/>
          </a:prstGeom>
          <a:solidFill>
            <a:srgbClr val="005DAA"/>
          </a:solidFill>
          <a:ln/>
        </p:spPr>
        <p:txBody>
          <a:bodyPr/>
          <a:lstStyle/>
          <a:p>
            <a:endParaRPr lang="en-US"/>
          </a:p>
        </p:txBody>
      </p:sp>
      <p:sp>
        <p:nvSpPr>
          <p:cNvPr id="43" name="Text 41"/>
          <p:cNvSpPr/>
          <p:nvPr/>
        </p:nvSpPr>
        <p:spPr>
          <a:xfrm>
            <a:off x="914857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04   Actual migration</a:t>
            </a:r>
            <a:endParaRPr lang="en-US" sz="1150" dirty="0"/>
          </a:p>
        </p:txBody>
      </p:sp>
      <p:sp>
        <p:nvSpPr>
          <p:cNvPr id="44" name="Text 42"/>
          <p:cNvSpPr/>
          <p:nvPr/>
        </p:nvSpPr>
        <p:spPr>
          <a:xfrm>
            <a:off x="914857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Where the toil number comes from</a:t>
            </a:r>
            <a:endParaRPr lang="en-US" sz="840" dirty="0"/>
          </a:p>
        </p:txBody>
      </p:sp>
      <p:sp>
        <p:nvSpPr>
          <p:cNvPr id="45" name="Shape 43"/>
          <p:cNvSpPr/>
          <p:nvPr/>
        </p:nvSpPr>
        <p:spPr>
          <a:xfrm>
            <a:off x="566928" y="5029200"/>
            <a:ext cx="11027664" cy="932688"/>
          </a:xfrm>
          <a:prstGeom prst="rect">
            <a:avLst/>
          </a:prstGeom>
          <a:solidFill>
            <a:srgbClr val="0B2350"/>
          </a:solidFill>
          <a:ln/>
        </p:spPr>
        <p:txBody>
          <a:bodyPr/>
          <a:lstStyle/>
          <a:p>
            <a:endParaRPr lang="en-US"/>
          </a:p>
        </p:txBody>
      </p:sp>
      <p:sp>
        <p:nvSpPr>
          <p:cNvPr id="46" name="Text 44"/>
          <p:cNvSpPr/>
          <p:nvPr/>
        </p:nvSpPr>
        <p:spPr>
          <a:xfrm>
            <a:off x="768096" y="5148072"/>
            <a:ext cx="7315200" cy="182880"/>
          </a:xfrm>
          <a:prstGeom prst="rect">
            <a:avLst/>
          </a:prstGeom>
          <a:noFill/>
          <a:ln/>
        </p:spPr>
        <p:txBody>
          <a:bodyPr wrap="square" lIns="0" tIns="0" rIns="0" bIns="0" rtlCol="0" anchor="ctr"/>
          <a:lstStyle/>
          <a:p>
            <a:pPr marL="0" indent="0">
              <a:buNone/>
            </a:pPr>
            <a:r>
              <a:rPr lang="en-US" sz="850" b="1" kern="0" spc="170" dirty="0">
                <a:solidFill>
                  <a:srgbClr val="FFD200"/>
                </a:solidFill>
                <a:latin typeface="Calibri" pitchFamily="34" charset="0"/>
                <a:ea typeface="Calibri" pitchFamily="34" charset="-122"/>
                <a:cs typeface="Calibri" pitchFamily="34" charset="-120"/>
              </a:rPr>
              <a:t>HOW WE CHOOSE WHAT TO KILL FIRST</a:t>
            </a:r>
            <a:endParaRPr lang="en-US" sz="850" dirty="0"/>
          </a:p>
        </p:txBody>
      </p:sp>
      <p:sp>
        <p:nvSpPr>
          <p:cNvPr id="47" name="Text 45"/>
          <p:cNvSpPr/>
          <p:nvPr/>
        </p:nvSpPr>
        <p:spPr>
          <a:xfrm>
            <a:off x="768096" y="5358384"/>
            <a:ext cx="10625328" cy="512064"/>
          </a:xfrm>
          <a:prstGeom prst="rect">
            <a:avLst/>
          </a:prstGeom>
          <a:noFill/>
          <a:ln/>
        </p:spPr>
        <p:txBody>
          <a:bodyPr wrap="square" lIns="0" tIns="0" rIns="0" bIns="0" rtlCol="0" anchor="ctr"/>
          <a:lstStyle/>
          <a:p>
            <a:pPr marL="0" indent="0">
              <a:lnSpc>
                <a:spcPts val="1450"/>
              </a:lnSpc>
              <a:buNone/>
            </a:pPr>
            <a:r>
              <a:rPr lang="en-US" sz="1040" b="1" dirty="0">
                <a:solidFill>
                  <a:srgbClr val="FFD200"/>
                </a:solidFill>
                <a:latin typeface="Calibri" pitchFamily="34" charset="0"/>
                <a:ea typeface="Calibri" pitchFamily="34" charset="-122"/>
                <a:cs typeface="Calibri" pitchFamily="34" charset="-120"/>
              </a:rPr>
              <a:t>Volume × time × does it survive. </a:t>
            </a:r>
            <a:r>
              <a:rPr lang="en-US" sz="1040" dirty="0">
                <a:solidFill>
                  <a:srgbClr val="E8EFF9"/>
                </a:solidFill>
                <a:latin typeface="Calibri" pitchFamily="34" charset="0"/>
                <a:ea typeface="Calibri" pitchFamily="34" charset="-122"/>
                <a:cs typeface="Calibri" pitchFamily="34" charset="-120"/>
              </a:rPr>
              <a:t>We measure BAU, rank it by what it actually costs us, and filter for what carries into Always On — compliance automation, incident patterns and evidence all survive the migration; automating the legacy pattern does not. Don't automate what you're about to delete. Then review weekly until the category is at zero, because shipping the automation is not the same as eliminating the toil.</a:t>
            </a:r>
            <a:endParaRPr lang="en-US" sz="104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OPERATES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One board, one front door, one loop</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u="sng" dirty="0">
                <a:solidFill>
                  <a:srgbClr val="5C6773"/>
                </a:solidFill>
                <a:latin typeface="Calibri" pitchFamily="34" charset="0"/>
                <a:ea typeface="Calibri" pitchFamily="34" charset="-122"/>
                <a:cs typeface="Calibri" pitchFamily="34" charset="-120"/>
              </a:rPr>
              <a:t>If work reaches the pod any other way, none of it is measurable — and unmeasurable is how a pilot fails ambiguously. </a:t>
            </a:r>
            <a:r>
              <a:rPr lang="en-US" sz="1200" b="1" i="1" u="sng" dirty="0">
                <a:solidFill>
                  <a:srgbClr val="5C6773"/>
                </a:solidFill>
                <a:latin typeface="Calibri" pitchFamily="34" charset="0"/>
                <a:ea typeface="Calibri" pitchFamily="34" charset="-122"/>
                <a:cs typeface="Calibri" pitchFamily="34" charset="-120"/>
              </a:rPr>
              <a:t>Bring everything to Pod, don’t pick and choose.</a:t>
            </a:r>
            <a:endParaRPr lang="en-US" sz="1200" b="1" u="sng" dirty="0"/>
          </a:p>
        </p:txBody>
      </p:sp>
      <p:sp>
        <p:nvSpPr>
          <p:cNvPr id="5" name="Shape 3"/>
          <p:cNvSpPr/>
          <p:nvPr/>
        </p:nvSpPr>
        <p:spPr>
          <a:xfrm>
            <a:off x="566928" y="1847088"/>
            <a:ext cx="2040941" cy="493776"/>
          </a:xfrm>
          <a:prstGeom prst="rect">
            <a:avLst/>
          </a:prstGeom>
          <a:solidFill>
            <a:srgbClr val="005DAA"/>
          </a:solidFill>
          <a:ln/>
        </p:spPr>
        <p:txBody>
          <a:bodyPr/>
          <a:lstStyle/>
          <a:p>
            <a:endParaRPr lang="en-US"/>
          </a:p>
        </p:txBody>
      </p:sp>
      <p:sp>
        <p:nvSpPr>
          <p:cNvPr id="6" name="Text 4"/>
          <p:cNvSpPr/>
          <p:nvPr/>
        </p:nvSpPr>
        <p:spPr>
          <a:xfrm>
            <a:off x="694944"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01</a:t>
            </a:r>
            <a:endParaRPr lang="en-US" sz="750" dirty="0"/>
          </a:p>
        </p:txBody>
      </p:sp>
      <p:sp>
        <p:nvSpPr>
          <p:cNvPr id="7" name="Text 5"/>
          <p:cNvSpPr/>
          <p:nvPr/>
        </p:nvSpPr>
        <p:spPr>
          <a:xfrm>
            <a:off x="694944"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CAPTURE</a:t>
            </a:r>
            <a:endParaRPr lang="en-US" sz="1400" dirty="0"/>
          </a:p>
        </p:txBody>
      </p:sp>
      <p:sp>
        <p:nvSpPr>
          <p:cNvPr id="8" name="Shape 6"/>
          <p:cNvSpPr/>
          <p:nvPr/>
        </p:nvSpPr>
        <p:spPr>
          <a:xfrm>
            <a:off x="566928"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9" name="Text 7"/>
          <p:cNvSpPr/>
          <p:nvPr/>
        </p:nvSpPr>
        <p:spPr>
          <a:xfrm>
            <a:off x="713232"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BAU split into three categories — manual tasks, compliance, incident response. Pod lead presents it at day 15</a:t>
            </a:r>
            <a:endParaRPr lang="en-US" sz="840" dirty="0"/>
          </a:p>
        </p:txBody>
      </p:sp>
      <p:sp>
        <p:nvSpPr>
          <p:cNvPr id="10" name="Text 8"/>
          <p:cNvSpPr/>
          <p:nvPr/>
        </p:nvSpPr>
        <p:spPr>
          <a:xfrm>
            <a:off x="2607869"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699309" y="1847088"/>
            <a:ext cx="2040941" cy="493776"/>
          </a:xfrm>
          <a:prstGeom prst="rect">
            <a:avLst/>
          </a:prstGeom>
          <a:solidFill>
            <a:srgbClr val="1B6FC4"/>
          </a:solidFill>
          <a:ln/>
        </p:spPr>
        <p:txBody>
          <a:bodyPr/>
          <a:lstStyle/>
          <a:p>
            <a:endParaRPr lang="en-US"/>
          </a:p>
        </p:txBody>
      </p:sp>
      <p:sp>
        <p:nvSpPr>
          <p:cNvPr id="12" name="Text 10"/>
          <p:cNvSpPr/>
          <p:nvPr/>
        </p:nvSpPr>
        <p:spPr>
          <a:xfrm>
            <a:off x="2827325"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02</a:t>
            </a:r>
            <a:endParaRPr lang="en-US" sz="750" dirty="0"/>
          </a:p>
        </p:txBody>
      </p:sp>
      <p:sp>
        <p:nvSpPr>
          <p:cNvPr id="13" name="Text 11"/>
          <p:cNvSpPr/>
          <p:nvPr/>
        </p:nvSpPr>
        <p:spPr>
          <a:xfrm>
            <a:off x="2827325"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RANK</a:t>
            </a:r>
            <a:endParaRPr lang="en-US" sz="1400" dirty="0"/>
          </a:p>
        </p:txBody>
      </p:sp>
      <p:sp>
        <p:nvSpPr>
          <p:cNvPr id="14" name="Shape 12"/>
          <p:cNvSpPr/>
          <p:nvPr/>
        </p:nvSpPr>
        <p:spPr>
          <a:xfrm>
            <a:off x="2699309"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15" name="Text 13"/>
          <p:cNvSpPr/>
          <p:nvPr/>
        </p:nvSpPr>
        <p:spPr>
          <a:xfrm>
            <a:off x="2845613"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Volume × time × does it survive. Computed, not argued</a:t>
            </a:r>
            <a:endParaRPr lang="en-US" sz="840" dirty="0"/>
          </a:p>
        </p:txBody>
      </p:sp>
      <p:sp>
        <p:nvSpPr>
          <p:cNvPr id="16" name="Text 14"/>
          <p:cNvSpPr/>
          <p:nvPr/>
        </p:nvSpPr>
        <p:spPr>
          <a:xfrm>
            <a:off x="474025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4831690" y="1847088"/>
            <a:ext cx="2040941" cy="493776"/>
          </a:xfrm>
          <a:prstGeom prst="rect">
            <a:avLst/>
          </a:prstGeom>
          <a:solidFill>
            <a:srgbClr val="FFD200"/>
          </a:solidFill>
          <a:ln/>
        </p:spPr>
        <p:txBody>
          <a:bodyPr/>
          <a:lstStyle/>
          <a:p>
            <a:endParaRPr lang="en-US"/>
          </a:p>
        </p:txBody>
      </p:sp>
      <p:sp>
        <p:nvSpPr>
          <p:cNvPr id="18" name="Text 16"/>
          <p:cNvSpPr/>
          <p:nvPr/>
        </p:nvSpPr>
        <p:spPr>
          <a:xfrm>
            <a:off x="4959706" y="1901952"/>
            <a:ext cx="457200" cy="164592"/>
          </a:xfrm>
          <a:prstGeom prst="rect">
            <a:avLst/>
          </a:prstGeom>
          <a:noFill/>
          <a:ln/>
        </p:spPr>
        <p:txBody>
          <a:bodyPr wrap="square" lIns="0" tIns="0" rIns="0" bIns="0" rtlCol="0" anchor="ctr"/>
          <a:lstStyle/>
          <a:p>
            <a:pPr marL="0" indent="0">
              <a:buNone/>
            </a:pPr>
            <a:r>
              <a:rPr lang="en-US" sz="750" b="1" dirty="0">
                <a:solidFill>
                  <a:srgbClr val="0B2350"/>
                </a:solidFill>
                <a:latin typeface="Calibri" pitchFamily="34" charset="0"/>
                <a:ea typeface="Calibri" pitchFamily="34" charset="-122"/>
                <a:cs typeface="Calibri" pitchFamily="34" charset="-120"/>
              </a:rPr>
              <a:t>03</a:t>
            </a:r>
            <a:endParaRPr lang="en-US" sz="750" dirty="0"/>
          </a:p>
        </p:txBody>
      </p:sp>
      <p:sp>
        <p:nvSpPr>
          <p:cNvPr id="19" name="Text 17"/>
          <p:cNvSpPr/>
          <p:nvPr/>
        </p:nvSpPr>
        <p:spPr>
          <a:xfrm>
            <a:off x="4959706" y="2057400"/>
            <a:ext cx="1784909" cy="237744"/>
          </a:xfrm>
          <a:prstGeom prst="rect">
            <a:avLst/>
          </a:prstGeom>
          <a:noFill/>
          <a:ln/>
        </p:spPr>
        <p:txBody>
          <a:bodyPr wrap="square" lIns="0" tIns="0" rIns="0" bIns="0" rtlCol="0" anchor="ctr"/>
          <a:lstStyle/>
          <a:p>
            <a:pPr marL="0" indent="0">
              <a:buNone/>
            </a:pPr>
            <a:r>
              <a:rPr lang="en-US" sz="1400" b="1" dirty="0">
                <a:solidFill>
                  <a:srgbClr val="0B2350"/>
                </a:solidFill>
                <a:latin typeface="Cambria" pitchFamily="34" charset="0"/>
                <a:ea typeface="Cambria" pitchFamily="34" charset="-122"/>
                <a:cs typeface="Cambria" pitchFamily="34" charset="-120"/>
              </a:rPr>
              <a:t>ELIMINATE</a:t>
            </a:r>
            <a:endParaRPr lang="en-US" sz="1400" dirty="0"/>
          </a:p>
        </p:txBody>
      </p:sp>
      <p:sp>
        <p:nvSpPr>
          <p:cNvPr id="20" name="Shape 18"/>
          <p:cNvSpPr/>
          <p:nvPr/>
        </p:nvSpPr>
        <p:spPr>
          <a:xfrm>
            <a:off x="483169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1" name="Text 19"/>
          <p:cNvSpPr/>
          <p:nvPr/>
        </p:nvSpPr>
        <p:spPr>
          <a:xfrm>
            <a:off x="497799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Automate the top of the list. Agents propose, a human decides</a:t>
            </a:r>
            <a:endParaRPr lang="en-US" sz="840" dirty="0"/>
          </a:p>
        </p:txBody>
      </p:sp>
      <p:sp>
        <p:nvSpPr>
          <p:cNvPr id="22" name="Text 20"/>
          <p:cNvSpPr/>
          <p:nvPr/>
        </p:nvSpPr>
        <p:spPr>
          <a:xfrm>
            <a:off x="687263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6964070" y="1847088"/>
            <a:ext cx="2040941" cy="493776"/>
          </a:xfrm>
          <a:prstGeom prst="rect">
            <a:avLst/>
          </a:prstGeom>
          <a:solidFill>
            <a:srgbClr val="4C9A2A"/>
          </a:solidFill>
          <a:ln/>
        </p:spPr>
        <p:txBody>
          <a:bodyPr/>
          <a:lstStyle/>
          <a:p>
            <a:endParaRPr lang="en-US"/>
          </a:p>
        </p:txBody>
      </p:sp>
      <p:sp>
        <p:nvSpPr>
          <p:cNvPr id="24" name="Text 22"/>
          <p:cNvSpPr/>
          <p:nvPr/>
        </p:nvSpPr>
        <p:spPr>
          <a:xfrm>
            <a:off x="7092086"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04</a:t>
            </a:r>
            <a:endParaRPr lang="en-US" sz="750" dirty="0"/>
          </a:p>
        </p:txBody>
      </p:sp>
      <p:sp>
        <p:nvSpPr>
          <p:cNvPr id="25" name="Text 23"/>
          <p:cNvSpPr/>
          <p:nvPr/>
        </p:nvSpPr>
        <p:spPr>
          <a:xfrm>
            <a:off x="7092086"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VERIFY</a:t>
            </a:r>
            <a:endParaRPr lang="en-US" sz="1400" dirty="0"/>
          </a:p>
        </p:txBody>
      </p:sp>
      <p:sp>
        <p:nvSpPr>
          <p:cNvPr id="26" name="Shape 24"/>
          <p:cNvSpPr/>
          <p:nvPr/>
        </p:nvSpPr>
        <p:spPr>
          <a:xfrm>
            <a:off x="696407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7" name="Text 25"/>
          <p:cNvSpPr/>
          <p:nvPr/>
        </p:nvSpPr>
        <p:spPr>
          <a:xfrm>
            <a:off x="711037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Weekly, on Mission Control, against baseline. Did the volume actually drop?</a:t>
            </a:r>
            <a:endParaRPr lang="en-US" sz="840" dirty="0"/>
          </a:p>
        </p:txBody>
      </p:sp>
      <p:sp>
        <p:nvSpPr>
          <p:cNvPr id="28" name="Text 26"/>
          <p:cNvSpPr/>
          <p:nvPr/>
        </p:nvSpPr>
        <p:spPr>
          <a:xfrm>
            <a:off x="9005011"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9096451" y="1847088"/>
            <a:ext cx="2040941" cy="493776"/>
          </a:xfrm>
          <a:prstGeom prst="rect">
            <a:avLst/>
          </a:prstGeom>
          <a:solidFill>
            <a:srgbClr val="0B2350"/>
          </a:solidFill>
          <a:ln/>
        </p:spPr>
        <p:txBody>
          <a:bodyPr/>
          <a:lstStyle/>
          <a:p>
            <a:endParaRPr lang="en-US"/>
          </a:p>
        </p:txBody>
      </p:sp>
      <p:sp>
        <p:nvSpPr>
          <p:cNvPr id="30" name="Text 28"/>
          <p:cNvSpPr/>
          <p:nvPr/>
        </p:nvSpPr>
        <p:spPr>
          <a:xfrm>
            <a:off x="9224467"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05</a:t>
            </a:r>
            <a:endParaRPr lang="en-US" sz="750" dirty="0"/>
          </a:p>
        </p:txBody>
      </p:sp>
      <p:sp>
        <p:nvSpPr>
          <p:cNvPr id="31" name="Text 29"/>
          <p:cNvSpPr/>
          <p:nvPr/>
        </p:nvSpPr>
        <p:spPr>
          <a:xfrm>
            <a:off x="9224467"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CLOSE</a:t>
            </a:r>
            <a:endParaRPr lang="en-US" sz="1400" dirty="0"/>
          </a:p>
        </p:txBody>
      </p:sp>
      <p:sp>
        <p:nvSpPr>
          <p:cNvPr id="32" name="Shape 30"/>
          <p:cNvSpPr/>
          <p:nvPr/>
        </p:nvSpPr>
        <p:spPr>
          <a:xfrm>
            <a:off x="9096451"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33" name="Text 31"/>
          <p:cNvSpPr/>
          <p:nvPr/>
        </p:nvSpPr>
        <p:spPr>
          <a:xfrm>
            <a:off x="9242755"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Only at zero. Then the next category rises</a:t>
            </a:r>
            <a:endParaRPr lang="en-US" sz="840" dirty="0"/>
          </a:p>
        </p:txBody>
      </p:sp>
      <p:sp>
        <p:nvSpPr>
          <p:cNvPr id="34" name="Shape 32"/>
          <p:cNvSpPr/>
          <p:nvPr/>
        </p:nvSpPr>
        <p:spPr>
          <a:xfrm>
            <a:off x="566928" y="3511296"/>
            <a:ext cx="11027664" cy="274320"/>
          </a:xfrm>
          <a:prstGeom prst="rect">
            <a:avLst/>
          </a:prstGeom>
          <a:solidFill>
            <a:srgbClr val="0B2350"/>
          </a:solidFill>
          <a:ln/>
        </p:spPr>
        <p:txBody>
          <a:bodyPr/>
          <a:lstStyle/>
          <a:p>
            <a:endParaRPr lang="en-US"/>
          </a:p>
        </p:txBody>
      </p:sp>
      <p:sp>
        <p:nvSpPr>
          <p:cNvPr id="35" name="Text 33"/>
          <p:cNvSpPr/>
          <p:nvPr/>
        </p:nvSpPr>
        <p:spPr>
          <a:xfrm>
            <a:off x="566928" y="3557016"/>
            <a:ext cx="11027664" cy="182880"/>
          </a:xfrm>
          <a:prstGeom prst="rect">
            <a:avLst/>
          </a:prstGeom>
          <a:noFill/>
          <a:ln/>
        </p:spPr>
        <p:txBody>
          <a:bodyPr wrap="square" lIns="0" tIns="0" rIns="0" bIns="0" rtlCol="0" anchor="ctr"/>
          <a:lstStyle/>
          <a:p>
            <a:pPr marL="0" indent="0" algn="ctr">
              <a:buNone/>
            </a:pPr>
            <a:r>
              <a:rPr lang="en-US" sz="850" b="1" kern="0" spc="160" dirty="0">
                <a:solidFill>
                  <a:srgbClr val="FFD200"/>
                </a:solidFill>
                <a:latin typeface="Calibri" pitchFamily="34" charset="0"/>
                <a:ea typeface="Calibri" pitchFamily="34" charset="-122"/>
                <a:cs typeface="Calibri" pitchFamily="34" charset="-120"/>
              </a:rPr>
              <a:t>↺   WEEKLY, UNTIL THE CATEGORY IS AT ZERO  —  THEN THE NEXT ONE</a:t>
            </a:r>
            <a:endParaRPr lang="en-US" sz="850" dirty="0"/>
          </a:p>
        </p:txBody>
      </p:sp>
      <p:sp>
        <p:nvSpPr>
          <p:cNvPr id="36" name="Shape 34"/>
          <p:cNvSpPr/>
          <p:nvPr/>
        </p:nvSpPr>
        <p:spPr>
          <a:xfrm>
            <a:off x="56692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37" name="Text 35"/>
          <p:cNvSpPr/>
          <p:nvPr/>
        </p:nvSpPr>
        <p:spPr>
          <a:xfrm>
            <a:off x="73152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THE BOARD</a:t>
            </a:r>
            <a:endParaRPr lang="en-US" sz="820" dirty="0"/>
          </a:p>
        </p:txBody>
      </p:sp>
      <p:sp>
        <p:nvSpPr>
          <p:cNvPr id="38" name="Text 36"/>
          <p:cNvSpPr/>
          <p:nvPr/>
        </p:nvSpPr>
        <p:spPr>
          <a:xfrm>
            <a:off x="73152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work lives</a:t>
            </a:r>
            <a:endParaRPr lang="en-US" sz="1350" dirty="0"/>
          </a:p>
        </p:txBody>
      </p:sp>
      <p:sp>
        <p:nvSpPr>
          <p:cNvPr id="39" name="Text 37"/>
          <p:cNvSpPr/>
          <p:nvPr/>
        </p:nvSpPr>
        <p:spPr>
          <a:xfrm>
            <a:off x="76809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Single front door, triaged by the pod lead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Five work types; toil elimination is protected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Every item tagged toil-vs-value — that tagging is what makes the north star possible</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board is the status. No parallel status decks</a:t>
            </a:r>
            <a:endParaRPr lang="en-US" sz="920" dirty="0"/>
          </a:p>
        </p:txBody>
      </p:sp>
      <p:sp>
        <p:nvSpPr>
          <p:cNvPr id="40" name="Shape 38"/>
          <p:cNvSpPr/>
          <p:nvPr/>
        </p:nvSpPr>
        <p:spPr>
          <a:xfrm>
            <a:off x="449884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41" name="Text 39"/>
          <p:cNvSpPr/>
          <p:nvPr/>
        </p:nvSpPr>
        <p:spPr>
          <a:xfrm>
            <a:off x="466344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MISSION CONTROL</a:t>
            </a:r>
            <a:endParaRPr lang="en-US" sz="820" dirty="0"/>
          </a:p>
        </p:txBody>
      </p:sp>
      <p:sp>
        <p:nvSpPr>
          <p:cNvPr id="42" name="Text 40"/>
          <p:cNvSpPr/>
          <p:nvPr/>
        </p:nvSpPr>
        <p:spPr>
          <a:xfrm>
            <a:off x="466344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the truth shows up</a:t>
            </a:r>
            <a:endParaRPr lang="en-US" sz="1350" dirty="0"/>
          </a:p>
        </p:txBody>
      </p:sp>
      <p:sp>
        <p:nvSpPr>
          <p:cNvPr id="43" name="Text 41"/>
          <p:cNvSpPr/>
          <p:nvPr/>
        </p:nvSpPr>
        <p:spPr>
          <a:xfrm>
            <a:off x="470001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Toil reduction · incident reduction · KRI triggers</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One view, three audiences: pod, contract review, program</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Only as honest as the board beneath it</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exec report is a Mission Control view, not a deck</a:t>
            </a:r>
            <a:endParaRPr lang="en-US" sz="920" dirty="0"/>
          </a:p>
        </p:txBody>
      </p:sp>
      <p:sp>
        <p:nvSpPr>
          <p:cNvPr id="44" name="Shape 42"/>
          <p:cNvSpPr/>
          <p:nvPr/>
        </p:nvSpPr>
        <p:spPr>
          <a:xfrm>
            <a:off x="8430768" y="3968496"/>
            <a:ext cx="3730752" cy="1956816"/>
          </a:xfrm>
          <a:prstGeom prst="rect">
            <a:avLst/>
          </a:prstGeom>
          <a:solidFill>
            <a:srgbClr val="0B2350"/>
          </a:solidFill>
          <a:ln w="7620">
            <a:solidFill>
              <a:srgbClr val="D7DDE5"/>
            </a:solidFill>
            <a:prstDash val="solid"/>
          </a:ln>
        </p:spPr>
        <p:txBody>
          <a:bodyPr/>
          <a:lstStyle/>
          <a:p>
            <a:endParaRPr lang="en-US"/>
          </a:p>
        </p:txBody>
      </p:sp>
      <p:sp>
        <p:nvSpPr>
          <p:cNvPr id="45" name="Text 43"/>
          <p:cNvSpPr/>
          <p:nvPr/>
        </p:nvSpPr>
        <p:spPr>
          <a:xfrm>
            <a:off x="8595360" y="4105656"/>
            <a:ext cx="3401568" cy="164592"/>
          </a:xfrm>
          <a:prstGeom prst="rect">
            <a:avLst/>
          </a:prstGeom>
          <a:noFill/>
          <a:ln/>
        </p:spPr>
        <p:txBody>
          <a:bodyPr wrap="square" lIns="0" tIns="0" rIns="0" bIns="0" rtlCol="0" anchor="ctr"/>
          <a:lstStyle/>
          <a:p>
            <a:pPr marL="0" indent="0">
              <a:buNone/>
            </a:pPr>
            <a:r>
              <a:rPr lang="en-US" sz="820" b="1" kern="0" spc="150" dirty="0">
                <a:solidFill>
                  <a:srgbClr val="FFD200"/>
                </a:solidFill>
                <a:latin typeface="Calibri" pitchFamily="34" charset="0"/>
                <a:ea typeface="Calibri" pitchFamily="34" charset="-122"/>
                <a:cs typeface="Calibri" pitchFamily="34" charset="-120"/>
              </a:rPr>
              <a:t>SIDE-CHANNEL WORK</a:t>
            </a:r>
            <a:endParaRPr lang="en-US" sz="820" dirty="0"/>
          </a:p>
        </p:txBody>
      </p:sp>
      <p:sp>
        <p:nvSpPr>
          <p:cNvPr id="46" name="Text 44"/>
          <p:cNvSpPr/>
          <p:nvPr/>
        </p:nvSpPr>
        <p:spPr>
          <a:xfrm>
            <a:off x="8595360" y="4297680"/>
            <a:ext cx="3401568" cy="25603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canary</a:t>
            </a:r>
            <a:endParaRPr lang="en-US" sz="1350" dirty="0"/>
          </a:p>
        </p:txBody>
      </p:sp>
      <p:sp>
        <p:nvSpPr>
          <p:cNvPr id="47" name="Text 45"/>
          <p:cNvSpPr/>
          <p:nvPr/>
        </p:nvSpPr>
        <p:spPr>
          <a:xfrm>
            <a:off x="8631936" y="4599432"/>
            <a:ext cx="3346704"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Work that bypassed the front door — we measure it deliberately</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A Teams DM to a DBA, a hallway ask, a favour</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Rising side-channel % is the leading indicator that the org is rejecting the model</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It is the first KRI to fire and the cheapest to act on</a:t>
            </a:r>
            <a:endParaRPr lang="en-US" sz="92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IT'S GOVERNED</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Pod · contract · program</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Three tiers. No new governance apparatus — the program tier is the RBC Cloud Program that already exists.</a:t>
            </a:r>
            <a:endParaRPr lang="en-US" sz="1200" dirty="0"/>
          </a:p>
        </p:txBody>
      </p:sp>
      <p:sp>
        <p:nvSpPr>
          <p:cNvPr id="5" name="Shape 3"/>
          <p:cNvSpPr/>
          <p:nvPr/>
        </p:nvSpPr>
        <p:spPr>
          <a:xfrm>
            <a:off x="566928" y="1828800"/>
            <a:ext cx="2926080" cy="1188720"/>
          </a:xfrm>
          <a:prstGeom prst="rect">
            <a:avLst/>
          </a:prstGeom>
          <a:solidFill>
            <a:srgbClr val="0B2350"/>
          </a:solidFill>
          <a:ln/>
        </p:spPr>
        <p:txBody>
          <a:bodyPr/>
          <a:lstStyle/>
          <a:p>
            <a:endParaRPr lang="en-US"/>
          </a:p>
        </p:txBody>
      </p:sp>
      <p:sp>
        <p:nvSpPr>
          <p:cNvPr id="6" name="Text 4"/>
          <p:cNvSpPr/>
          <p:nvPr/>
        </p:nvSpPr>
        <p:spPr>
          <a:xfrm>
            <a:off x="731520" y="2084832"/>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POD</a:t>
            </a:r>
            <a:endParaRPr lang="en-US" sz="1700" dirty="0"/>
          </a:p>
        </p:txBody>
      </p:sp>
      <p:sp>
        <p:nvSpPr>
          <p:cNvPr id="7" name="Text 5"/>
          <p:cNvSpPr/>
          <p:nvPr/>
        </p:nvSpPr>
        <p:spPr>
          <a:xfrm>
            <a:off x="731520" y="2414016"/>
            <a:ext cx="2615184" cy="182880"/>
          </a:xfrm>
          <a:prstGeom prst="rect">
            <a:avLst/>
          </a:prstGeom>
          <a:noFill/>
          <a:ln/>
        </p:spPr>
        <p:txBody>
          <a:bodyPr wrap="square" lIns="0" tIns="0" rIns="0" bIns="0" rtlCol="0" anchor="ctr"/>
          <a:lstStyle/>
          <a:p>
            <a:pPr marL="0" indent="0">
              <a:buNone/>
            </a:pPr>
            <a:r>
              <a:rPr lang="en-US" sz="900" i="1" dirty="0">
                <a:solidFill>
                  <a:srgbClr val="AEC3E0"/>
                </a:solidFill>
                <a:latin typeface="Calibri" pitchFamily="34" charset="0"/>
                <a:ea typeface="Calibri" pitchFamily="34" charset="-122"/>
                <a:cs typeface="Calibri" pitchFamily="34" charset="-120"/>
              </a:rPr>
              <a:t>Daily → bi-weekly</a:t>
            </a:r>
            <a:endParaRPr lang="en-US" sz="900" dirty="0"/>
          </a:p>
        </p:txBody>
      </p:sp>
      <p:sp>
        <p:nvSpPr>
          <p:cNvPr id="8" name="Text 6"/>
          <p:cNvSpPr/>
          <p:nvPr/>
        </p:nvSpPr>
        <p:spPr>
          <a:xfrm>
            <a:off x="731520" y="2688336"/>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work</a:t>
            </a:r>
            <a:endParaRPr lang="en-US" sz="860" dirty="0"/>
          </a:p>
        </p:txBody>
      </p:sp>
      <p:sp>
        <p:nvSpPr>
          <p:cNvPr id="9" name="Shape 7"/>
          <p:cNvSpPr/>
          <p:nvPr/>
        </p:nvSpPr>
        <p:spPr>
          <a:xfrm>
            <a:off x="3621024" y="1828800"/>
            <a:ext cx="8540496" cy="1188720"/>
          </a:xfrm>
          <a:prstGeom prst="rect">
            <a:avLst/>
          </a:prstGeom>
          <a:solidFill>
            <a:srgbClr val="F4F7FB"/>
          </a:solidFill>
          <a:ln w="6350">
            <a:solidFill>
              <a:srgbClr val="D7DDE5"/>
            </a:solidFill>
            <a:prstDash val="solid"/>
          </a:ln>
        </p:spPr>
        <p:txBody>
          <a:bodyPr/>
          <a:lstStyle/>
          <a:p>
            <a:endParaRPr lang="en-US"/>
          </a:p>
        </p:txBody>
      </p:sp>
      <p:sp>
        <p:nvSpPr>
          <p:cNvPr id="10" name="Text 8"/>
          <p:cNvSpPr/>
          <p:nvPr/>
        </p:nvSpPr>
        <p:spPr>
          <a:xfrm>
            <a:off x="3803904" y="1938528"/>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Daily standup — 15 min, the board only</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Weekly backlog refinement · weekly ops review — SLOs, incidents, drift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Bi-weekly planning · demo · retro — the demo is a working catalog request, not slides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lead owns the roadmap, the outcome, and who burns toil</a:t>
            </a:r>
            <a:endParaRPr lang="en-US" sz="920" dirty="0"/>
          </a:p>
        </p:txBody>
      </p:sp>
      <p:sp>
        <p:nvSpPr>
          <p:cNvPr id="11" name="Text 9"/>
          <p:cNvSpPr/>
          <p:nvPr/>
        </p:nvSpPr>
        <p:spPr>
          <a:xfrm>
            <a:off x="1938528" y="3008376"/>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66928" y="3145536"/>
            <a:ext cx="2926080" cy="1188720"/>
          </a:xfrm>
          <a:prstGeom prst="rect">
            <a:avLst/>
          </a:prstGeom>
          <a:solidFill>
            <a:srgbClr val="005DAA"/>
          </a:solidFill>
          <a:ln/>
        </p:spPr>
        <p:txBody>
          <a:bodyPr/>
          <a:lstStyle/>
          <a:p>
            <a:endParaRPr lang="en-US"/>
          </a:p>
        </p:txBody>
      </p:sp>
      <p:sp>
        <p:nvSpPr>
          <p:cNvPr id="13" name="Text 11"/>
          <p:cNvSpPr/>
          <p:nvPr/>
        </p:nvSpPr>
        <p:spPr>
          <a:xfrm>
            <a:off x="731520" y="3401568"/>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CONTRACT</a:t>
            </a:r>
            <a:endParaRPr lang="en-US" sz="1700" dirty="0"/>
          </a:p>
        </p:txBody>
      </p:sp>
      <p:sp>
        <p:nvSpPr>
          <p:cNvPr id="14" name="Text 12"/>
          <p:cNvSpPr/>
          <p:nvPr/>
        </p:nvSpPr>
        <p:spPr>
          <a:xfrm>
            <a:off x="731520" y="3730752"/>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15" name="Text 13"/>
          <p:cNvSpPr/>
          <p:nvPr/>
        </p:nvSpPr>
        <p:spPr>
          <a:xfrm>
            <a:off x="731520" y="4005072"/>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seams</a:t>
            </a:r>
            <a:endParaRPr lang="en-US" sz="860" dirty="0"/>
          </a:p>
        </p:txBody>
      </p:sp>
      <p:sp>
        <p:nvSpPr>
          <p:cNvPr id="16" name="Shape 14"/>
          <p:cNvSpPr/>
          <p:nvPr/>
        </p:nvSpPr>
        <p:spPr>
          <a:xfrm>
            <a:off x="3621024" y="3145536"/>
            <a:ext cx="8540496" cy="1188720"/>
          </a:xfrm>
          <a:prstGeom prst="rect">
            <a:avLst/>
          </a:prstGeom>
          <a:solidFill>
            <a:srgbClr val="FFFFFF"/>
          </a:solidFill>
          <a:ln w="6350">
            <a:solidFill>
              <a:srgbClr val="D7DDE5"/>
            </a:solidFill>
            <a:prstDash val="solid"/>
          </a:ln>
        </p:spPr>
        <p:txBody>
          <a:bodyPr/>
          <a:lstStyle/>
          <a:p>
            <a:endParaRPr lang="en-US"/>
          </a:p>
        </p:txBody>
      </p:sp>
      <p:sp>
        <p:nvSpPr>
          <p:cNvPr id="17" name="Text 15"/>
          <p:cNvSpPr/>
          <p:nvPr/>
        </p:nvSpPr>
        <p:spPr>
          <a:xfrm>
            <a:off x="3803904" y="3255264"/>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 Zephyr / IntOps / Capacity liaisons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Are the contracts actually delivering?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Gaps reviewed, prioritized, dated — they live in Zephyr's backlog, not a pod spreadsheet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meeting nobody schedules and everybody needs</a:t>
            </a:r>
            <a:endParaRPr lang="en-US" sz="920" dirty="0"/>
          </a:p>
        </p:txBody>
      </p:sp>
      <p:sp>
        <p:nvSpPr>
          <p:cNvPr id="18" name="Text 16"/>
          <p:cNvSpPr/>
          <p:nvPr/>
        </p:nvSpPr>
        <p:spPr>
          <a:xfrm>
            <a:off x="1938528" y="4325112"/>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66928" y="4462272"/>
            <a:ext cx="2926080" cy="1188720"/>
          </a:xfrm>
          <a:prstGeom prst="rect">
            <a:avLst/>
          </a:prstGeom>
          <a:solidFill>
            <a:srgbClr val="4C9A2A"/>
          </a:solidFill>
          <a:ln/>
        </p:spPr>
        <p:txBody>
          <a:bodyPr/>
          <a:lstStyle/>
          <a:p>
            <a:endParaRPr lang="en-US"/>
          </a:p>
        </p:txBody>
      </p:sp>
      <p:sp>
        <p:nvSpPr>
          <p:cNvPr id="20" name="Text 18"/>
          <p:cNvSpPr/>
          <p:nvPr/>
        </p:nvSpPr>
        <p:spPr>
          <a:xfrm>
            <a:off x="731520" y="4718304"/>
            <a:ext cx="2615184" cy="29260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RBC CLOUD PROGRAM</a:t>
            </a:r>
            <a:endParaRPr lang="en-US" sz="1300" dirty="0"/>
          </a:p>
        </p:txBody>
      </p:sp>
      <p:sp>
        <p:nvSpPr>
          <p:cNvPr id="21" name="Text 19"/>
          <p:cNvSpPr/>
          <p:nvPr/>
        </p:nvSpPr>
        <p:spPr>
          <a:xfrm>
            <a:off x="731520" y="5047488"/>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22" name="Text 20"/>
          <p:cNvSpPr/>
          <p:nvPr/>
        </p:nvSpPr>
        <p:spPr>
          <a:xfrm>
            <a:off x="731520" y="5321808"/>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verdict</a:t>
            </a:r>
            <a:endParaRPr lang="en-US" sz="860" dirty="0"/>
          </a:p>
        </p:txBody>
      </p:sp>
      <p:sp>
        <p:nvSpPr>
          <p:cNvPr id="23" name="Shape 21"/>
          <p:cNvSpPr/>
          <p:nvPr/>
        </p:nvSpPr>
        <p:spPr>
          <a:xfrm>
            <a:off x="3621024" y="4462272"/>
            <a:ext cx="8540496" cy="1188720"/>
          </a:xfrm>
          <a:prstGeom prst="rect">
            <a:avLst/>
          </a:prstGeom>
          <a:solidFill>
            <a:srgbClr val="F4F7FB"/>
          </a:solidFill>
          <a:ln w="6350">
            <a:solidFill>
              <a:srgbClr val="D7DDE5"/>
            </a:solidFill>
            <a:prstDash val="solid"/>
          </a:ln>
        </p:spPr>
        <p:txBody>
          <a:bodyPr/>
          <a:lstStyle/>
          <a:p>
            <a:endParaRPr lang="en-US"/>
          </a:p>
        </p:txBody>
      </p:sp>
      <p:sp>
        <p:nvSpPr>
          <p:cNvPr id="24" name="Text 22"/>
          <p:cNvSpPr/>
          <p:nvPr/>
        </p:nvSpPr>
        <p:spPr>
          <a:xfrm>
            <a:off x="3803904" y="4572000"/>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Monthly status on the horizontal pod — standing agenda item, own RAG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KRI escalations land here</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Cross-pod dependencies and gap prioritization</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30/60/90 gates and the GO / ADJUST / STOP verdict</a:t>
            </a:r>
            <a:endParaRPr lang="en-US" sz="920" dirty="0"/>
          </a:p>
        </p:txBody>
      </p:sp>
      <p:sp>
        <p:nvSpPr>
          <p:cNvPr id="25" name="Shape 23"/>
          <p:cNvSpPr/>
          <p:nvPr/>
        </p:nvSpPr>
        <p:spPr>
          <a:xfrm>
            <a:off x="566928" y="5815584"/>
            <a:ext cx="5632704" cy="566928"/>
          </a:xfrm>
          <a:prstGeom prst="rect">
            <a:avLst/>
          </a:prstGeom>
          <a:solidFill>
            <a:srgbClr val="EEF2F8"/>
          </a:solidFill>
          <a:ln/>
        </p:spPr>
        <p:txBody>
          <a:bodyPr/>
          <a:lstStyle/>
          <a:p>
            <a:endParaRPr lang="en-US"/>
          </a:p>
        </p:txBody>
      </p:sp>
      <p:sp>
        <p:nvSpPr>
          <p:cNvPr id="26" name="Text 24"/>
          <p:cNvSpPr/>
          <p:nvPr/>
        </p:nvSpPr>
        <p:spPr>
          <a:xfrm>
            <a:off x="731520"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1E252E"/>
                </a:solidFill>
                <a:latin typeface="Calibri" pitchFamily="34" charset="0"/>
                <a:ea typeface="Calibri" pitchFamily="34" charset="-122"/>
                <a:cs typeface="Calibri" pitchFamily="34" charset="-120"/>
              </a:rPr>
              <a:t>One pipe, not three. The monthly program report is the same Mission Control view the pod reads daily. If anyone assembles a program pack by hand, the pod has generated exactly the toil it exists to eliminate.</a:t>
            </a:r>
            <a:endParaRPr lang="en-US" sz="940" dirty="0"/>
          </a:p>
        </p:txBody>
      </p:sp>
      <p:sp>
        <p:nvSpPr>
          <p:cNvPr id="27" name="Shape 25"/>
          <p:cNvSpPr/>
          <p:nvPr/>
        </p:nvSpPr>
        <p:spPr>
          <a:xfrm>
            <a:off x="6528816" y="5815584"/>
            <a:ext cx="5632704" cy="566928"/>
          </a:xfrm>
          <a:prstGeom prst="rect">
            <a:avLst/>
          </a:prstGeom>
          <a:solidFill>
            <a:srgbClr val="0B2350"/>
          </a:solidFill>
          <a:ln/>
        </p:spPr>
        <p:txBody>
          <a:bodyPr/>
          <a:lstStyle/>
          <a:p>
            <a:endParaRPr lang="en-US"/>
          </a:p>
        </p:txBody>
      </p:sp>
      <p:sp>
        <p:nvSpPr>
          <p:cNvPr id="28" name="Text 26"/>
          <p:cNvSpPr/>
          <p:nvPr/>
        </p:nvSpPr>
        <p:spPr>
          <a:xfrm>
            <a:off x="6693408"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E8EFF9"/>
                </a:solidFill>
                <a:latin typeface="Calibri" pitchFamily="34" charset="0"/>
                <a:ea typeface="Calibri" pitchFamily="34" charset="-122"/>
                <a:cs typeface="Calibri" pitchFamily="34" charset="-120"/>
              </a:rPr>
              <a:t>The pod doesn't own the verdict. A pod grading its own pilot is worthless — the verdict sits with program governance, against criteria agreed on day 0.</a:t>
            </a:r>
            <a:endParaRPr lang="en-US" sz="940" dirty="0"/>
          </a:p>
        </p:txBody>
      </p:sp>
      <p:sp>
        <p:nvSpPr>
          <p:cNvPr id="29" name="Text 27"/>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EXPECTED OUTCOME  ·  KPIS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good looks like</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The rule: if it can't be pulled automatically from Jira, Git, the registry, Mission Control or telemetry — it isn't on the list. Hand-collected metrics die in week three.</a:t>
            </a:r>
            <a:endParaRPr lang="en-US" sz="1200" dirty="0"/>
          </a:p>
        </p:txBody>
      </p:sp>
      <p:sp>
        <p:nvSpPr>
          <p:cNvPr id="5" name="Shape 3"/>
          <p:cNvSpPr/>
          <p:nvPr/>
        </p:nvSpPr>
        <p:spPr>
          <a:xfrm>
            <a:off x="566928" y="1792224"/>
            <a:ext cx="11027664" cy="475488"/>
          </a:xfrm>
          <a:prstGeom prst="rect">
            <a:avLst/>
          </a:prstGeom>
          <a:solidFill>
            <a:srgbClr val="FFD200"/>
          </a:solidFill>
          <a:ln/>
        </p:spPr>
        <p:txBody>
          <a:bodyPr/>
          <a:lstStyle/>
          <a:p>
            <a:endParaRPr lang="en-US"/>
          </a:p>
        </p:txBody>
      </p:sp>
      <p:sp>
        <p:nvSpPr>
          <p:cNvPr id="6" name="Text 4"/>
          <p:cNvSpPr/>
          <p:nvPr/>
        </p:nvSpPr>
        <p:spPr>
          <a:xfrm>
            <a:off x="768096" y="1883664"/>
            <a:ext cx="1463040" cy="182880"/>
          </a:xfrm>
          <a:prstGeom prst="rect">
            <a:avLst/>
          </a:prstGeom>
          <a:noFill/>
          <a:ln/>
        </p:spPr>
        <p:txBody>
          <a:bodyPr wrap="square" lIns="0" tIns="0" rIns="0" bIns="0" rtlCol="0" anchor="ctr"/>
          <a:lstStyle/>
          <a:p>
            <a:pPr marL="0" indent="0">
              <a:buNone/>
            </a:pPr>
            <a:r>
              <a:rPr lang="en-US" sz="800" b="1" kern="0" spc="160" dirty="0">
                <a:solidFill>
                  <a:srgbClr val="0B2350"/>
                </a:solidFill>
                <a:latin typeface="Calibri" pitchFamily="34" charset="0"/>
                <a:ea typeface="Calibri" pitchFamily="34" charset="-122"/>
                <a:cs typeface="Calibri" pitchFamily="34" charset="-120"/>
              </a:rPr>
              <a:t>NORTH STAR</a:t>
            </a:r>
            <a:endParaRPr lang="en-US" sz="800" dirty="0"/>
          </a:p>
        </p:txBody>
      </p:sp>
      <p:sp>
        <p:nvSpPr>
          <p:cNvPr id="7" name="Text 5"/>
          <p:cNvSpPr/>
          <p:nvPr/>
        </p:nvSpPr>
        <p:spPr>
          <a:xfrm>
            <a:off x="2304288" y="1865376"/>
            <a:ext cx="9052560" cy="274320"/>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Toil %  —  the share of pod capacity spent on manual, repetitive, automatable, reactive work</a:t>
            </a:r>
            <a:endParaRPr lang="en-US" sz="1350" dirty="0"/>
          </a:p>
        </p:txBody>
      </p:sp>
      <p:sp>
        <p:nvSpPr>
          <p:cNvPr id="8" name="Shape 6"/>
          <p:cNvSpPr/>
          <p:nvPr/>
        </p:nvSpPr>
        <p:spPr>
          <a:xfrm>
            <a:off x="566928" y="2414016"/>
            <a:ext cx="11027664" cy="365760"/>
          </a:xfrm>
          <a:prstGeom prst="rect">
            <a:avLst/>
          </a:prstGeom>
          <a:solidFill>
            <a:srgbClr val="0B2350"/>
          </a:solidFill>
          <a:ln/>
        </p:spPr>
        <p:txBody>
          <a:bodyPr/>
          <a:lstStyle/>
          <a:p>
            <a:endParaRPr lang="en-US"/>
          </a:p>
        </p:txBody>
      </p:sp>
      <p:sp>
        <p:nvSpPr>
          <p:cNvPr id="9" name="Text 7"/>
          <p:cNvSpPr/>
          <p:nvPr/>
        </p:nvSpPr>
        <p:spPr>
          <a:xfrm>
            <a:off x="676656" y="2505456"/>
            <a:ext cx="475488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KPI</a:t>
            </a:r>
            <a:endParaRPr lang="en-US" sz="800" dirty="0"/>
          </a:p>
        </p:txBody>
      </p:sp>
      <p:sp>
        <p:nvSpPr>
          <p:cNvPr id="10" name="Text 8"/>
          <p:cNvSpPr/>
          <p:nvPr/>
        </p:nvSpPr>
        <p:spPr>
          <a:xfrm>
            <a:off x="5614416" y="2505456"/>
            <a:ext cx="256032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POOL</a:t>
            </a:r>
            <a:endParaRPr lang="en-US" sz="800" dirty="0"/>
          </a:p>
        </p:txBody>
      </p:sp>
      <p:sp>
        <p:nvSpPr>
          <p:cNvPr id="11" name="Text 9"/>
          <p:cNvSpPr/>
          <p:nvPr/>
        </p:nvSpPr>
        <p:spPr>
          <a:xfrm>
            <a:off x="8357616" y="2505456"/>
            <a:ext cx="3163824"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SOURCE</a:t>
            </a:r>
            <a:endParaRPr lang="en-US" sz="800" dirty="0"/>
          </a:p>
        </p:txBody>
      </p:sp>
      <p:sp>
        <p:nvSpPr>
          <p:cNvPr id="12" name="Shape 10"/>
          <p:cNvSpPr/>
          <p:nvPr/>
        </p:nvSpPr>
        <p:spPr>
          <a:xfrm>
            <a:off x="566928" y="2798064"/>
            <a:ext cx="11027664" cy="329184"/>
          </a:xfrm>
          <a:prstGeom prst="rect">
            <a:avLst/>
          </a:prstGeom>
          <a:solidFill>
            <a:srgbClr val="F4F7FB"/>
          </a:solidFill>
          <a:ln w="5080">
            <a:solidFill>
              <a:srgbClr val="D7DDE5"/>
            </a:solidFill>
            <a:prstDash val="solid"/>
          </a:ln>
        </p:spPr>
        <p:txBody>
          <a:bodyPr/>
          <a:lstStyle/>
          <a:p>
            <a:endParaRPr lang="en-US"/>
          </a:p>
        </p:txBody>
      </p:sp>
      <p:sp>
        <p:nvSpPr>
          <p:cNvPr id="13" name="Text 11"/>
          <p:cNvSpPr/>
          <p:nvPr/>
        </p:nvSpPr>
        <p:spPr>
          <a:xfrm>
            <a:off x="676656" y="28620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estate migrated · % codified — the multiplier on every other number</a:t>
            </a:r>
            <a:endParaRPr lang="en-US" sz="880" dirty="0"/>
          </a:p>
        </p:txBody>
      </p:sp>
      <p:sp>
        <p:nvSpPr>
          <p:cNvPr id="14" name="Text 12"/>
          <p:cNvSpPr/>
          <p:nvPr/>
        </p:nvSpPr>
        <p:spPr>
          <a:xfrm>
            <a:off x="5614416" y="28620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Coverage</a:t>
            </a:r>
            <a:endParaRPr lang="en-US" sz="880" dirty="0"/>
          </a:p>
        </p:txBody>
      </p:sp>
      <p:sp>
        <p:nvSpPr>
          <p:cNvPr id="15" name="Text 13"/>
          <p:cNvSpPr/>
          <p:nvPr/>
        </p:nvSpPr>
        <p:spPr>
          <a:xfrm>
            <a:off x="8357616" y="28620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Mission Control · registry</a:t>
            </a:r>
            <a:endParaRPr lang="en-US" sz="880" dirty="0"/>
          </a:p>
        </p:txBody>
      </p:sp>
      <p:sp>
        <p:nvSpPr>
          <p:cNvPr id="16" name="Shape 14"/>
          <p:cNvSpPr/>
          <p:nvPr/>
        </p:nvSpPr>
        <p:spPr>
          <a:xfrm>
            <a:off x="566928" y="3163824"/>
            <a:ext cx="11027664" cy="329184"/>
          </a:xfrm>
          <a:prstGeom prst="rect">
            <a:avLst/>
          </a:prstGeom>
          <a:solidFill>
            <a:srgbClr val="FFFFFF"/>
          </a:solidFill>
          <a:ln w="5080">
            <a:solidFill>
              <a:srgbClr val="D7DDE5"/>
            </a:solidFill>
            <a:prstDash val="solid"/>
          </a:ln>
        </p:spPr>
        <p:txBody>
          <a:bodyPr/>
          <a:lstStyle/>
          <a:p>
            <a:endParaRPr lang="en-US"/>
          </a:p>
        </p:txBody>
      </p:sp>
      <p:sp>
        <p:nvSpPr>
          <p:cNvPr id="17" name="Text 15"/>
          <p:cNvSpPr/>
          <p:nvPr/>
        </p:nvSpPr>
        <p:spPr>
          <a:xfrm>
            <a:off x="676656" y="32278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Provisioning lead time · self-service rate</a:t>
            </a:r>
            <a:endParaRPr lang="en-US" sz="880" dirty="0"/>
          </a:p>
        </p:txBody>
      </p:sp>
      <p:sp>
        <p:nvSpPr>
          <p:cNvPr id="18" name="Text 16"/>
          <p:cNvSpPr/>
          <p:nvPr/>
        </p:nvSpPr>
        <p:spPr>
          <a:xfrm>
            <a:off x="5614416" y="32278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19" name="Text 17"/>
          <p:cNvSpPr/>
          <p:nvPr/>
        </p:nvSpPr>
        <p:spPr>
          <a:xfrm>
            <a:off x="8357616" y="32278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 Jira</a:t>
            </a:r>
            <a:endParaRPr lang="en-US" sz="880" dirty="0"/>
          </a:p>
        </p:txBody>
      </p:sp>
      <p:sp>
        <p:nvSpPr>
          <p:cNvPr id="20" name="Shape 18"/>
          <p:cNvSpPr/>
          <p:nvPr/>
        </p:nvSpPr>
        <p:spPr>
          <a:xfrm>
            <a:off x="566928" y="3529584"/>
            <a:ext cx="11027664" cy="329184"/>
          </a:xfrm>
          <a:prstGeom prst="rect">
            <a:avLst/>
          </a:prstGeom>
          <a:solidFill>
            <a:srgbClr val="F4F7FB"/>
          </a:solidFill>
          <a:ln w="5080">
            <a:solidFill>
              <a:srgbClr val="D7DDE5"/>
            </a:solidFill>
            <a:prstDash val="solid"/>
          </a:ln>
        </p:spPr>
        <p:txBody>
          <a:bodyPr/>
          <a:lstStyle/>
          <a:p>
            <a:endParaRPr lang="en-US"/>
          </a:p>
        </p:txBody>
      </p:sp>
      <p:sp>
        <p:nvSpPr>
          <p:cNvPr id="21" name="Text 19"/>
          <p:cNvSpPr/>
          <p:nvPr/>
        </p:nvSpPr>
        <p:spPr>
          <a:xfrm>
            <a:off x="676656" y="35935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Patch cycle time · SLA compliance</a:t>
            </a:r>
            <a:endParaRPr lang="en-US" sz="880" dirty="0"/>
          </a:p>
        </p:txBody>
      </p:sp>
      <p:sp>
        <p:nvSpPr>
          <p:cNvPr id="22" name="Text 20"/>
          <p:cNvSpPr/>
          <p:nvPr/>
        </p:nvSpPr>
        <p:spPr>
          <a:xfrm>
            <a:off x="5614416" y="35935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3" name="Text 21"/>
          <p:cNvSpPr/>
          <p:nvPr/>
        </p:nvSpPr>
        <p:spPr>
          <a:xfrm>
            <a:off x="8357616" y="35935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24" name="Shape 22"/>
          <p:cNvSpPr/>
          <p:nvPr/>
        </p:nvSpPr>
        <p:spPr>
          <a:xfrm>
            <a:off x="566928" y="3895344"/>
            <a:ext cx="11027664" cy="329184"/>
          </a:xfrm>
          <a:prstGeom prst="rect">
            <a:avLst/>
          </a:prstGeom>
          <a:solidFill>
            <a:srgbClr val="FFFFFF"/>
          </a:solidFill>
          <a:ln w="5080">
            <a:solidFill>
              <a:srgbClr val="D7DDE5"/>
            </a:solidFill>
            <a:prstDash val="solid"/>
          </a:ln>
        </p:spPr>
        <p:txBody>
          <a:bodyPr/>
          <a:lstStyle/>
          <a:p>
            <a:endParaRPr lang="en-US"/>
          </a:p>
        </p:txBody>
      </p:sp>
      <p:sp>
        <p:nvSpPr>
          <p:cNvPr id="25" name="Text 23"/>
          <p:cNvSpPr/>
          <p:nvPr/>
        </p:nvSpPr>
        <p:spPr>
          <a:xfrm>
            <a:off x="676656" y="39593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Golden module reuse — provisions through it, not modules published</a:t>
            </a:r>
            <a:endParaRPr lang="en-US" sz="880" dirty="0"/>
          </a:p>
        </p:txBody>
      </p:sp>
      <p:sp>
        <p:nvSpPr>
          <p:cNvPr id="26" name="Text 24"/>
          <p:cNvSpPr/>
          <p:nvPr/>
        </p:nvSpPr>
        <p:spPr>
          <a:xfrm>
            <a:off x="5614416" y="39593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7" name="Text 25"/>
          <p:cNvSpPr/>
          <p:nvPr/>
        </p:nvSpPr>
        <p:spPr>
          <a:xfrm>
            <a:off x="8357616" y="39593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registry</a:t>
            </a:r>
            <a:endParaRPr lang="en-US" sz="880" dirty="0"/>
          </a:p>
        </p:txBody>
      </p:sp>
      <p:sp>
        <p:nvSpPr>
          <p:cNvPr id="28" name="Shape 26"/>
          <p:cNvSpPr/>
          <p:nvPr/>
        </p:nvSpPr>
        <p:spPr>
          <a:xfrm>
            <a:off x="566928" y="4261104"/>
            <a:ext cx="11027664" cy="329184"/>
          </a:xfrm>
          <a:prstGeom prst="rect">
            <a:avLst/>
          </a:prstGeom>
          <a:solidFill>
            <a:srgbClr val="F4F7FB"/>
          </a:solidFill>
          <a:ln w="5080">
            <a:solidFill>
              <a:srgbClr val="D7DDE5"/>
            </a:solidFill>
            <a:prstDash val="solid"/>
          </a:ln>
        </p:spPr>
        <p:txBody>
          <a:bodyPr/>
          <a:lstStyle/>
          <a:p>
            <a:endParaRPr lang="en-US"/>
          </a:p>
        </p:txBody>
      </p:sp>
      <p:sp>
        <p:nvSpPr>
          <p:cNvPr id="29" name="Text 27"/>
          <p:cNvSpPr/>
          <p:nvPr/>
        </p:nvSpPr>
        <p:spPr>
          <a:xfrm>
            <a:off x="676656" y="432511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person-hours per audit cycle</a:t>
            </a:r>
            <a:endParaRPr lang="en-US" sz="880" dirty="0"/>
          </a:p>
        </p:txBody>
      </p:sp>
      <p:sp>
        <p:nvSpPr>
          <p:cNvPr id="30" name="Text 28"/>
          <p:cNvSpPr/>
          <p:nvPr/>
        </p:nvSpPr>
        <p:spPr>
          <a:xfrm>
            <a:off x="5614416" y="432511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1" name="Text 29"/>
          <p:cNvSpPr/>
          <p:nvPr/>
        </p:nvSpPr>
        <p:spPr>
          <a:xfrm>
            <a:off x="8357616" y="432511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Tigers + Jira</a:t>
            </a:r>
            <a:endParaRPr lang="en-US" sz="880" dirty="0"/>
          </a:p>
        </p:txBody>
      </p:sp>
      <p:sp>
        <p:nvSpPr>
          <p:cNvPr id="32" name="Shape 30"/>
          <p:cNvSpPr/>
          <p:nvPr/>
        </p:nvSpPr>
        <p:spPr>
          <a:xfrm>
            <a:off x="566928" y="4626864"/>
            <a:ext cx="11027664" cy="329184"/>
          </a:xfrm>
          <a:prstGeom prst="rect">
            <a:avLst/>
          </a:prstGeom>
          <a:solidFill>
            <a:srgbClr val="FFFFFF"/>
          </a:solidFill>
          <a:ln w="5080">
            <a:solidFill>
              <a:srgbClr val="D7DDE5"/>
            </a:solidFill>
            <a:prstDash val="solid"/>
          </a:ln>
        </p:spPr>
        <p:txBody>
          <a:bodyPr/>
          <a:lstStyle/>
          <a:p>
            <a:endParaRPr lang="en-US"/>
          </a:p>
        </p:txBody>
      </p:sp>
      <p:sp>
        <p:nvSpPr>
          <p:cNvPr id="33" name="Text 31"/>
          <p:cNvSpPr/>
          <p:nvPr/>
        </p:nvSpPr>
        <p:spPr>
          <a:xfrm>
            <a:off x="676656" y="46908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auto-assembly % · drift remediation time</a:t>
            </a:r>
            <a:endParaRPr lang="en-US" sz="880" dirty="0"/>
          </a:p>
        </p:txBody>
      </p:sp>
      <p:sp>
        <p:nvSpPr>
          <p:cNvPr id="34" name="Text 32"/>
          <p:cNvSpPr/>
          <p:nvPr/>
        </p:nvSpPr>
        <p:spPr>
          <a:xfrm>
            <a:off x="5614416" y="46908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5" name="Text 33"/>
          <p:cNvSpPr/>
          <p:nvPr/>
        </p:nvSpPr>
        <p:spPr>
          <a:xfrm>
            <a:off x="8357616" y="46908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36" name="Shape 34"/>
          <p:cNvSpPr/>
          <p:nvPr/>
        </p:nvSpPr>
        <p:spPr>
          <a:xfrm>
            <a:off x="566928" y="4992624"/>
            <a:ext cx="11027664" cy="329184"/>
          </a:xfrm>
          <a:prstGeom prst="rect">
            <a:avLst/>
          </a:prstGeom>
          <a:solidFill>
            <a:srgbClr val="F4F7FB"/>
          </a:solidFill>
          <a:ln w="5080">
            <a:solidFill>
              <a:srgbClr val="D7DDE5"/>
            </a:solidFill>
            <a:prstDash val="solid"/>
          </a:ln>
        </p:spPr>
        <p:txBody>
          <a:bodyPr/>
          <a:lstStyle/>
          <a:p>
            <a:endParaRPr lang="en-US"/>
          </a:p>
        </p:txBody>
      </p:sp>
      <p:sp>
        <p:nvSpPr>
          <p:cNvPr id="37" name="Text 35"/>
          <p:cNvSpPr/>
          <p:nvPr/>
        </p:nvSpPr>
        <p:spPr>
          <a:xfrm>
            <a:off x="676656" y="50566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Alert-to-incident ratio · incidents · MTTR · repeat-incident %</a:t>
            </a:r>
            <a:endParaRPr lang="en-US" sz="880" dirty="0"/>
          </a:p>
        </p:txBody>
      </p:sp>
      <p:sp>
        <p:nvSpPr>
          <p:cNvPr id="38" name="Text 36"/>
          <p:cNvSpPr/>
          <p:nvPr/>
        </p:nvSpPr>
        <p:spPr>
          <a:xfrm>
            <a:off x="5614416" y="50566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Incidents</a:t>
            </a:r>
            <a:endParaRPr lang="en-US" sz="880" dirty="0"/>
          </a:p>
        </p:txBody>
      </p:sp>
      <p:sp>
        <p:nvSpPr>
          <p:cNvPr id="39" name="Text 37"/>
          <p:cNvSpPr/>
          <p:nvPr/>
        </p:nvSpPr>
        <p:spPr>
          <a:xfrm>
            <a:off x="8357616" y="50566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IntOps</a:t>
            </a:r>
            <a:endParaRPr lang="en-US" sz="880" dirty="0"/>
          </a:p>
        </p:txBody>
      </p:sp>
      <p:sp>
        <p:nvSpPr>
          <p:cNvPr id="40" name="Shape 38"/>
          <p:cNvSpPr/>
          <p:nvPr/>
        </p:nvSpPr>
        <p:spPr>
          <a:xfrm>
            <a:off x="566928" y="5358384"/>
            <a:ext cx="11027664" cy="329184"/>
          </a:xfrm>
          <a:prstGeom prst="rect">
            <a:avLst/>
          </a:prstGeom>
          <a:solidFill>
            <a:srgbClr val="FFFFFF"/>
          </a:solidFill>
          <a:ln w="5080">
            <a:solidFill>
              <a:srgbClr val="D7DDE5"/>
            </a:solidFill>
            <a:prstDash val="solid"/>
          </a:ln>
        </p:spPr>
        <p:txBody>
          <a:bodyPr/>
          <a:lstStyle/>
          <a:p>
            <a:endParaRPr lang="en-US"/>
          </a:p>
        </p:txBody>
      </p:sp>
      <p:sp>
        <p:nvSpPr>
          <p:cNvPr id="41" name="Text 39"/>
          <p:cNvSpPr/>
          <p:nvPr/>
        </p:nvSpPr>
        <p:spPr>
          <a:xfrm>
            <a:off x="676656" y="54223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Agent PRs proposed / approved / rejected</a:t>
            </a:r>
            <a:endParaRPr lang="en-US" sz="880" dirty="0"/>
          </a:p>
        </p:txBody>
      </p:sp>
      <p:sp>
        <p:nvSpPr>
          <p:cNvPr id="42" name="Text 40"/>
          <p:cNvSpPr/>
          <p:nvPr/>
        </p:nvSpPr>
        <p:spPr>
          <a:xfrm>
            <a:off x="5614416" y="54223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Agentic leverage</a:t>
            </a:r>
            <a:endParaRPr lang="en-US" sz="880" dirty="0"/>
          </a:p>
        </p:txBody>
      </p:sp>
      <p:sp>
        <p:nvSpPr>
          <p:cNvPr id="43" name="Text 41"/>
          <p:cNvSpPr/>
          <p:nvPr/>
        </p:nvSpPr>
        <p:spPr>
          <a:xfrm>
            <a:off x="8357616" y="54223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GitHub</a:t>
            </a:r>
            <a:endParaRPr lang="en-US" sz="880" dirty="0"/>
          </a:p>
        </p:txBody>
      </p:sp>
      <p:sp>
        <p:nvSpPr>
          <p:cNvPr id="44" name="Shape 42"/>
          <p:cNvSpPr/>
          <p:nvPr/>
        </p:nvSpPr>
        <p:spPr>
          <a:xfrm>
            <a:off x="566928" y="5724144"/>
            <a:ext cx="11027664" cy="329184"/>
          </a:xfrm>
          <a:prstGeom prst="rect">
            <a:avLst/>
          </a:prstGeom>
          <a:solidFill>
            <a:srgbClr val="F4F7FB"/>
          </a:solidFill>
          <a:ln w="5080">
            <a:solidFill>
              <a:srgbClr val="D7DDE5"/>
            </a:solidFill>
            <a:prstDash val="solid"/>
          </a:ln>
        </p:spPr>
        <p:txBody>
          <a:bodyPr/>
          <a:lstStyle/>
          <a:p>
            <a:endParaRPr lang="en-US"/>
          </a:p>
        </p:txBody>
      </p:sp>
      <p:sp>
        <p:nvSpPr>
          <p:cNvPr id="45" name="Text 43"/>
          <p:cNvSpPr/>
          <p:nvPr/>
        </p:nvSpPr>
        <p:spPr>
          <a:xfrm>
            <a:off x="676656" y="57881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work through the front door · Zephyr pull-ins per week</a:t>
            </a:r>
            <a:endParaRPr lang="en-US" sz="880" dirty="0"/>
          </a:p>
        </p:txBody>
      </p:sp>
      <p:sp>
        <p:nvSpPr>
          <p:cNvPr id="46" name="Text 44"/>
          <p:cNvSpPr/>
          <p:nvPr/>
        </p:nvSpPr>
        <p:spPr>
          <a:xfrm>
            <a:off x="5614416" y="57881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Model health</a:t>
            </a:r>
            <a:endParaRPr lang="en-US" sz="880" dirty="0"/>
          </a:p>
        </p:txBody>
      </p:sp>
      <p:sp>
        <p:nvSpPr>
          <p:cNvPr id="47" name="Text 45"/>
          <p:cNvSpPr/>
          <p:nvPr/>
        </p:nvSpPr>
        <p:spPr>
          <a:xfrm>
            <a:off x="8357616" y="57881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Jira · pod board</a:t>
            </a:r>
            <a:endParaRPr lang="en-US" sz="880" dirty="0"/>
          </a:p>
        </p:txBody>
      </p:sp>
      <p:sp>
        <p:nvSpPr>
          <p:cNvPr id="48" name="Shape 46"/>
          <p:cNvSpPr/>
          <p:nvPr/>
        </p:nvSpPr>
        <p:spPr>
          <a:xfrm>
            <a:off x="566928" y="5742432"/>
            <a:ext cx="11027664" cy="457200"/>
          </a:xfrm>
          <a:prstGeom prst="rect">
            <a:avLst/>
          </a:prstGeom>
          <a:solidFill>
            <a:srgbClr val="EEF2F8"/>
          </a:solidFill>
          <a:ln/>
        </p:spPr>
        <p:txBody>
          <a:bodyPr/>
          <a:lstStyle/>
          <a:p>
            <a:endParaRPr lang="en-US"/>
          </a:p>
        </p:txBody>
      </p:sp>
      <p:sp>
        <p:nvSpPr>
          <p:cNvPr id="49" name="Text 47"/>
          <p:cNvSpPr/>
          <p:nvPr/>
        </p:nvSpPr>
        <p:spPr>
          <a:xfrm>
            <a:off x="768096" y="5870448"/>
            <a:ext cx="10625328" cy="237744"/>
          </a:xfrm>
          <a:prstGeom prst="rect">
            <a:avLst/>
          </a:prstGeom>
          <a:noFill/>
          <a:ln/>
        </p:spPr>
        <p:txBody>
          <a:bodyPr wrap="square" lIns="0" tIns="0" rIns="0" bIns="0" rtlCol="0" anchor="ctr"/>
          <a:lstStyle/>
          <a:p>
            <a:pPr marL="0" indent="0">
              <a:lnSpc>
                <a:spcPts val="1450"/>
              </a:lnSpc>
              <a:buNone/>
            </a:pPr>
            <a:r>
              <a:rPr lang="en-US" sz="1000" b="1" dirty="0">
                <a:solidFill>
                  <a:srgbClr val="0B2350"/>
                </a:solidFill>
                <a:latin typeface="Calibri" pitchFamily="34" charset="0"/>
                <a:ea typeface="Calibri" pitchFamily="34" charset="-122"/>
                <a:cs typeface="Calibri" pitchFamily="34" charset="-120"/>
              </a:rPr>
              <a:t>Consumption, not production. </a:t>
            </a:r>
            <a:r>
              <a:rPr lang="en-US" sz="1000" dirty="0">
                <a:solidFill>
                  <a:srgbClr val="1E252E"/>
                </a:solidFill>
                <a:latin typeface="Calibri" pitchFamily="34" charset="0"/>
                <a:ea typeface="Calibri" pitchFamily="34" charset="-122"/>
                <a:cs typeface="Calibri" pitchFamily="34" charset="-120"/>
              </a:rPr>
              <a:t>"Modules published" is vanity — it measures our effort. "Provisions through the module" is real — it measures whether anyone consumed what we built. The model's whole claim is that things get consumed, not built twice.</a:t>
            </a:r>
            <a:endParaRPr lang="en-US" sz="1000" dirty="0"/>
          </a:p>
        </p:txBody>
      </p:sp>
      <p:sp>
        <p:nvSpPr>
          <p:cNvPr id="50" name="Text 48"/>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463040"/>
            <a:ext cx="9144000" cy="274320"/>
          </a:xfrm>
          <a:prstGeom prst="rect">
            <a:avLst/>
          </a:prstGeom>
          <a:noFill/>
          <a:ln/>
        </p:spPr>
        <p:txBody>
          <a:bodyPr wrap="square" lIns="0" tIns="0" rIns="0" bIns="0" rtlCol="0" anchor="ctr"/>
          <a:lstStyle/>
          <a:p>
            <a:pPr marL="0" indent="0">
              <a:buNone/>
            </a:pPr>
            <a:r>
              <a:rPr lang="en-US" sz="1050" b="1" kern="0" spc="300" dirty="0">
                <a:solidFill>
                  <a:srgbClr val="FFD200"/>
                </a:solidFill>
                <a:latin typeface="Calibri" pitchFamily="34" charset="0"/>
                <a:ea typeface="Calibri" pitchFamily="34" charset="-122"/>
                <a:cs typeface="Calibri" pitchFamily="34" charset="-120"/>
              </a:rPr>
              <a:t>WHAT WE'RE ACTUALLY DOING</a:t>
            </a:r>
            <a:endParaRPr lang="en-US" sz="1050" dirty="0"/>
          </a:p>
        </p:txBody>
      </p:sp>
      <p:sp>
        <p:nvSpPr>
          <p:cNvPr id="4" name="Text 2"/>
          <p:cNvSpPr/>
          <p:nvPr/>
        </p:nvSpPr>
        <p:spPr>
          <a:xfrm>
            <a:off x="566928" y="1865376"/>
            <a:ext cx="10424160" cy="1280160"/>
          </a:xfrm>
          <a:prstGeom prst="rect">
            <a:avLst/>
          </a:prstGeom>
          <a:noFill/>
          <a:ln/>
        </p:spPr>
        <p:txBody>
          <a:bodyPr wrap="square" lIns="0" tIns="0" rIns="0" bIns="0" rtlCol="0" anchor="ctr"/>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One engine, owned end-to-end,</a:t>
            </a:r>
            <a:endParaRPr lang="en-US" sz="3600" dirty="0"/>
          </a:p>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automating its own toil.</a:t>
            </a:r>
            <a:endParaRPr lang="en-US" sz="3600" dirty="0"/>
          </a:p>
        </p:txBody>
      </p:sp>
      <p:sp>
        <p:nvSpPr>
          <p:cNvPr id="5" name="Shape 3"/>
          <p:cNvSpPr/>
          <p:nvPr/>
        </p:nvSpPr>
        <p:spPr>
          <a:xfrm>
            <a:off x="566928" y="3291840"/>
            <a:ext cx="2194560" cy="27432"/>
          </a:xfrm>
          <a:prstGeom prst="rect">
            <a:avLst/>
          </a:prstGeom>
          <a:solidFill>
            <a:srgbClr val="1B6FC4"/>
          </a:solidFill>
          <a:ln/>
        </p:spPr>
        <p:txBody>
          <a:bodyPr/>
          <a:lstStyle/>
          <a:p>
            <a:endParaRPr lang="en-US"/>
          </a:p>
        </p:txBody>
      </p:sp>
      <p:sp>
        <p:nvSpPr>
          <p:cNvPr id="6" name="Text 4"/>
          <p:cNvSpPr/>
          <p:nvPr/>
        </p:nvSpPr>
        <p:spPr>
          <a:xfrm>
            <a:off x="566928" y="3547872"/>
            <a:ext cx="8595360" cy="1097280"/>
          </a:xfrm>
          <a:prstGeom prst="rect">
            <a:avLst/>
          </a:prstGeom>
          <a:noFill/>
          <a:ln/>
        </p:spPr>
        <p:txBody>
          <a:bodyPr wrap="square" lIns="0" tIns="0" rIns="0" bIns="0" rtlCol="0" anchor="ctr"/>
          <a:lstStyle/>
          <a:p>
            <a:pPr marL="0" indent="0">
              <a:lnSpc>
                <a:spcPts val="1900"/>
              </a:lnSpc>
              <a:buNone/>
            </a:pPr>
            <a:r>
              <a:rPr lang="en-US" sz="1250" i="1" dirty="0">
                <a:solidFill>
                  <a:srgbClr val="C9D8EE"/>
                </a:solidFill>
                <a:latin typeface="Calibri" pitchFamily="34" charset="0"/>
                <a:ea typeface="Calibri" pitchFamily="34" charset="-122"/>
                <a:cs typeface="Calibri" pitchFamily="34" charset="-120"/>
              </a:rPr>
              <a:t>We're not creating a gatekeeper and we're not taking ownership away from anyone. We're standing up RBC Cloud so every service team moves faster on the things they'd otherwise each rebuild — and gets leverage, consistency, and one voice to the regulator in return. SQL Server goes first. The pattern is what the next engine inherits.</a:t>
            </a:r>
            <a:endParaRPr lang="en-US" sz="1250" dirty="0"/>
          </a:p>
        </p:txBody>
      </p:sp>
      <p:sp>
        <p:nvSpPr>
          <p:cNvPr id="7" name="Text 5"/>
          <p:cNvSpPr/>
          <p:nvPr/>
        </p:nvSpPr>
        <p:spPr>
          <a:xfrm>
            <a:off x="566928"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NORTH STAR</a:t>
            </a:r>
            <a:endParaRPr lang="en-US" sz="800" dirty="0"/>
          </a:p>
        </p:txBody>
      </p:sp>
      <p:sp>
        <p:nvSpPr>
          <p:cNvPr id="8" name="Text 6"/>
          <p:cNvSpPr/>
          <p:nvPr/>
        </p:nvSpPr>
        <p:spPr>
          <a:xfrm>
            <a:off x="566928"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Toil %</a:t>
            </a:r>
            <a:endParaRPr lang="en-US" sz="1400" dirty="0"/>
          </a:p>
        </p:txBody>
      </p:sp>
      <p:sp>
        <p:nvSpPr>
          <p:cNvPr id="9" name="Text 7"/>
          <p:cNvSpPr/>
          <p:nvPr/>
        </p:nvSpPr>
        <p:spPr>
          <a:xfrm>
            <a:off x="3364992"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MEMBERS</a:t>
            </a:r>
            <a:endParaRPr lang="en-US" sz="800" dirty="0"/>
          </a:p>
        </p:txBody>
      </p:sp>
      <p:sp>
        <p:nvSpPr>
          <p:cNvPr id="10" name="Text 8"/>
          <p:cNvSpPr/>
          <p:nvPr/>
        </p:nvSpPr>
        <p:spPr>
          <a:xfrm>
            <a:off x="3364992"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Dedicated pod, named liaisons</a:t>
            </a:r>
            <a:endParaRPr lang="en-US" sz="1400" dirty="0"/>
          </a:p>
        </p:txBody>
      </p:sp>
      <p:sp>
        <p:nvSpPr>
          <p:cNvPr id="11" name="Text 9"/>
          <p:cNvSpPr/>
          <p:nvPr/>
        </p:nvSpPr>
        <p:spPr>
          <a:xfrm>
            <a:off x="6163056"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GOVERNANCE</a:t>
            </a:r>
            <a:endParaRPr lang="en-US" sz="800" dirty="0"/>
          </a:p>
        </p:txBody>
      </p:sp>
      <p:sp>
        <p:nvSpPr>
          <p:cNvPr id="12" name="Text 10"/>
          <p:cNvSpPr/>
          <p:nvPr/>
        </p:nvSpPr>
        <p:spPr>
          <a:xfrm>
            <a:off x="6163056"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RBC Cloud  Program</a:t>
            </a:r>
            <a:endParaRPr lang="en-US" sz="1400" dirty="0"/>
          </a:p>
        </p:txBody>
      </p:sp>
      <p:sp>
        <p:nvSpPr>
          <p:cNvPr id="13" name="Text 11"/>
          <p:cNvSpPr/>
          <p:nvPr/>
        </p:nvSpPr>
        <p:spPr>
          <a:xfrm>
            <a:off x="8961120"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FIRST DELIVERABLE</a:t>
            </a:r>
            <a:endParaRPr lang="en-US" sz="800" dirty="0"/>
          </a:p>
        </p:txBody>
      </p:sp>
      <p:sp>
        <p:nvSpPr>
          <p:cNvPr id="14" name="Text 12"/>
          <p:cNvSpPr/>
          <p:nvPr/>
        </p:nvSpPr>
        <p:spPr>
          <a:xfrm>
            <a:off x="8961120"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BAU breakdown, day 15</a:t>
            </a:r>
            <a:endParaRPr lang="en-US" sz="1400" dirty="0"/>
          </a:p>
        </p:txBody>
      </p:sp>
      <p:sp>
        <p:nvSpPr>
          <p:cNvPr id="15" name="Text 13"/>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  |  Technology Infrastructure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1733"/>
        </a:solidFill>
        <a:effectLst/>
      </p:bgPr>
    </p:bg>
    <p:spTree>
      <p:nvGrpSpPr>
        <p:cNvPr id="1" name=""/>
        <p:cNvGrpSpPr/>
        <p:nvPr/>
      </p:nvGrpSpPr>
      <p:grpSpPr>
        <a:xfrm>
          <a:off x="0" y="0"/>
          <a:ext cx="0" cy="0"/>
          <a:chOff x="0" y="0"/>
          <a:chExt cx="0" cy="0"/>
        </a:xfrm>
      </p:grpSpPr>
      <p:sp>
        <p:nvSpPr>
          <p:cNvPr id="3" name="Rectangle 2"/>
          <p:cNvSpPr/>
          <p:nvPr/>
        </p:nvSpPr>
        <p:spPr>
          <a:xfrm>
            <a:off x="0" y="0"/>
            <a:ext cx="12161520" cy="82296"/>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743200"/>
            <a:ext cx="9144000" cy="365760"/>
          </a:xfrm>
          <a:prstGeom prst="rect">
            <a:avLst/>
          </a:prstGeom>
          <a:noFill/>
        </p:spPr>
        <p:txBody>
          <a:bodyPr wrap="square">
            <a:spAutoFit/>
          </a:bodyPr>
          <a:lstStyle/>
          <a:p>
            <a:r>
              <a:rPr sz="1300" b="1" i="0">
                <a:solidFill>
                  <a:srgbClr val="FFD200"/>
                </a:solidFill>
                <a:latin typeface="Calibri"/>
              </a:rPr>
              <a:t>APPENDIX</a:t>
            </a:r>
          </a:p>
        </p:txBody>
      </p:sp>
      <p:sp>
        <p:nvSpPr>
          <p:cNvPr id="5" name="TextBox 4"/>
          <p:cNvSpPr txBox="1"/>
          <p:nvPr/>
        </p:nvSpPr>
        <p:spPr>
          <a:xfrm>
            <a:off x="566928" y="3200400"/>
            <a:ext cx="10515600" cy="914400"/>
          </a:xfrm>
          <a:prstGeom prst="rect">
            <a:avLst/>
          </a:prstGeom>
          <a:noFill/>
        </p:spPr>
        <p:txBody>
          <a:bodyPr wrap="square">
            <a:spAutoFit/>
          </a:bodyPr>
          <a:lstStyle/>
          <a:p>
            <a:r>
              <a:rPr sz="4000" b="1" i="0">
                <a:solidFill>
                  <a:srgbClr val="FFFFFF"/>
                </a:solidFill>
                <a:latin typeface="Cambria"/>
              </a:rPr>
              <a:t>Supporting detail</a:t>
            </a:r>
          </a:p>
        </p:txBody>
      </p:sp>
      <p:sp>
        <p:nvSpPr>
          <p:cNvPr id="6" name="TextBox 5"/>
          <p:cNvSpPr txBox="1"/>
          <p:nvPr/>
        </p:nvSpPr>
        <p:spPr>
          <a:xfrm>
            <a:off x="566928" y="4206240"/>
            <a:ext cx="8778240" cy="457200"/>
          </a:xfrm>
          <a:prstGeom prst="rect">
            <a:avLst/>
          </a:prstGeom>
          <a:noFill/>
        </p:spPr>
        <p:txBody>
          <a:bodyPr wrap="square">
            <a:spAutoFit/>
          </a:bodyPr>
          <a:lstStyle/>
          <a:p>
            <a:r>
              <a:rPr sz="1300" b="0" i="1">
                <a:solidFill>
                  <a:srgbClr val="9FB6D6"/>
                </a:solidFill>
                <a:latin typeface="Calibri"/>
              </a:rPr>
              <a:t>What RBC Cloud is · how the pod works with other TI programs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IT 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RBC Cloud is</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Not a reorg with new labels. The RBC Cloud way of working: shared capability underneath every service, consumed as a product, instead of every tower solving the same problem alone.</a:t>
            </a:r>
            <a:endParaRPr lang="en-US" sz="1200" dirty="0"/>
          </a:p>
        </p:txBody>
      </p:sp>
      <p:sp>
        <p:nvSpPr>
          <p:cNvPr id="5" name="Shape 3"/>
          <p:cNvSpPr/>
          <p:nvPr/>
        </p:nvSpPr>
        <p:spPr>
          <a:xfrm>
            <a:off x="566928" y="1865376"/>
            <a:ext cx="5029200" cy="2651760"/>
          </a:xfrm>
          <a:prstGeom prst="rect">
            <a:avLst/>
          </a:prstGeom>
          <a:solidFill>
            <a:srgbClr val="FFFFFF"/>
          </a:solidFill>
          <a:ln w="7620">
            <a:solidFill>
              <a:srgbClr val="D7DDE5"/>
            </a:solidFill>
            <a:prstDash val="solid"/>
          </a:ln>
        </p:spPr>
        <p:txBody>
          <a:bodyPr/>
          <a:lstStyle/>
          <a:p>
            <a:endParaRPr lang="en-US"/>
          </a:p>
        </p:txBody>
      </p:sp>
      <p:sp>
        <p:nvSpPr>
          <p:cNvPr id="6" name="Text 4"/>
          <p:cNvSpPr/>
          <p:nvPr/>
        </p:nvSpPr>
        <p:spPr>
          <a:xfrm>
            <a:off x="749808" y="1993392"/>
            <a:ext cx="4206240" cy="182880"/>
          </a:xfrm>
          <a:prstGeom prst="rect">
            <a:avLst/>
          </a:prstGeom>
          <a:noFill/>
          <a:ln/>
        </p:spPr>
        <p:txBody>
          <a:bodyPr wrap="square" lIns="0" tIns="0" rIns="0" bIns="0" rtlCol="0" anchor="ctr"/>
          <a:lstStyle/>
          <a:p>
            <a:pPr marL="0" indent="0">
              <a:buNone/>
            </a:pPr>
            <a:r>
              <a:rPr lang="en-US" sz="820" b="1" kern="0" spc="150" dirty="0">
                <a:solidFill>
                  <a:srgbClr val="C0392B"/>
                </a:solidFill>
                <a:latin typeface="Calibri" pitchFamily="34" charset="0"/>
                <a:ea typeface="Calibri" pitchFamily="34" charset="-122"/>
                <a:cs typeface="Calibri" pitchFamily="34" charset="-120"/>
              </a:rPr>
              <a:t>TODAY  ·  VERTICAL TOWERS</a:t>
            </a:r>
            <a:endParaRPr lang="en-US" sz="820" dirty="0"/>
          </a:p>
        </p:txBody>
      </p:sp>
      <p:sp>
        <p:nvSpPr>
          <p:cNvPr id="7" name="Text 5"/>
          <p:cNvSpPr/>
          <p:nvPr/>
        </p:nvSpPr>
        <p:spPr>
          <a:xfrm>
            <a:off x="749808" y="2212848"/>
            <a:ext cx="4663440" cy="274320"/>
          </a:xfrm>
          <a:prstGeom prst="rect">
            <a:avLst/>
          </a:prstGeom>
          <a:noFill/>
          <a:ln/>
        </p:spPr>
        <p:txBody>
          <a:bodyPr wrap="square" lIns="0" tIns="0" rIns="0" bIns="0" rtlCol="0" anchor="ctr"/>
          <a:lstStyle/>
          <a:p>
            <a:pPr marL="0" indent="0">
              <a:buNone/>
            </a:pPr>
            <a:r>
              <a:rPr lang="en-US" sz="1500" b="1" dirty="0">
                <a:solidFill>
                  <a:srgbClr val="0B2350"/>
                </a:solidFill>
                <a:latin typeface="Cambria" pitchFamily="34" charset="0"/>
                <a:ea typeface="Cambria" pitchFamily="34" charset="-122"/>
                <a:cs typeface="Cambria" pitchFamily="34" charset="-120"/>
              </a:rPr>
              <a:t>Every engine solves it alone</a:t>
            </a:r>
            <a:endParaRPr lang="en-US" sz="1500" dirty="0"/>
          </a:p>
        </p:txBody>
      </p:sp>
      <p:sp>
        <p:nvSpPr>
          <p:cNvPr id="8" name="Text 6"/>
          <p:cNvSpPr/>
          <p:nvPr/>
        </p:nvSpPr>
        <p:spPr>
          <a:xfrm>
            <a:off x="786384" y="2578608"/>
            <a:ext cx="4590288"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Provisioning, patching, backup and compliance rebuilt per engine</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Different standards, different evidence, different answers to the same audit question</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Build and run sit in different teams — the seam is where things break</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Effort scales with engine count, not with value</a:t>
            </a:r>
            <a:endParaRPr lang="en-US" sz="980" dirty="0"/>
          </a:p>
        </p:txBody>
      </p:sp>
      <p:sp>
        <p:nvSpPr>
          <p:cNvPr id="9" name="Text 7"/>
          <p:cNvSpPr/>
          <p:nvPr/>
        </p:nvSpPr>
        <p:spPr>
          <a:xfrm>
            <a:off x="5797296" y="2962656"/>
            <a:ext cx="640080" cy="365760"/>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565392" y="1865376"/>
            <a:ext cx="5596128" cy="2651760"/>
          </a:xfrm>
          <a:prstGeom prst="rect">
            <a:avLst/>
          </a:prstGeom>
          <a:solidFill>
            <a:srgbClr val="0B2350"/>
          </a:solidFill>
          <a:ln/>
        </p:spPr>
        <p:txBody>
          <a:bodyPr/>
          <a:lstStyle/>
          <a:p>
            <a:endParaRPr lang="en-US"/>
          </a:p>
        </p:txBody>
      </p:sp>
      <p:sp>
        <p:nvSpPr>
          <p:cNvPr id="11" name="Text 9"/>
          <p:cNvSpPr/>
          <p:nvPr/>
        </p:nvSpPr>
        <p:spPr>
          <a:xfrm>
            <a:off x="6748272" y="1993392"/>
            <a:ext cx="4206240" cy="182880"/>
          </a:xfrm>
          <a:prstGeom prst="rect">
            <a:avLst/>
          </a:prstGeom>
          <a:noFill/>
          <a:ln/>
        </p:spPr>
        <p:txBody>
          <a:bodyPr wrap="square" lIns="0" tIns="0" rIns="0" bIns="0" rtlCol="0" anchor="ctr"/>
          <a:lstStyle/>
          <a:p>
            <a:pPr marL="0" indent="0">
              <a:buNone/>
            </a:pPr>
            <a:r>
              <a:rPr lang="en-US" sz="820" b="1" kern="0" spc="150" dirty="0">
                <a:solidFill>
                  <a:srgbClr val="4C9A2A"/>
                </a:solidFill>
                <a:latin typeface="Calibri" pitchFamily="34" charset="0"/>
                <a:ea typeface="Calibri" pitchFamily="34" charset="-122"/>
                <a:cs typeface="Calibri" pitchFamily="34" charset="-120"/>
              </a:rPr>
              <a:t>TARGET  ·  RBC CLOUD</a:t>
            </a:r>
            <a:endParaRPr lang="en-US" sz="820" dirty="0"/>
          </a:p>
        </p:txBody>
      </p:sp>
      <p:sp>
        <p:nvSpPr>
          <p:cNvPr id="12" name="Text 10"/>
          <p:cNvSpPr/>
          <p:nvPr/>
        </p:nvSpPr>
        <p:spPr>
          <a:xfrm>
            <a:off x="6748272" y="2212848"/>
            <a:ext cx="5212080"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One RBC Cloud layer, many services</a:t>
            </a:r>
            <a:endParaRPr lang="en-US" sz="1500" dirty="0"/>
          </a:p>
        </p:txBody>
      </p:sp>
      <p:sp>
        <p:nvSpPr>
          <p:cNvPr id="13" name="Text 11"/>
          <p:cNvSpPr/>
          <p:nvPr/>
        </p:nvSpPr>
        <p:spPr>
          <a:xfrm>
            <a:off x="6784848" y="2578608"/>
            <a:ext cx="5157216"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RBC Cloud shared services — control plane, compliance, optimization — built once, consumed by all</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A pod owns its service end-to-end: build and run, one backlog, one pager</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Horizontal defines the standard and aggregates the signal; the pod implements and remediates</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Consume the RBC Cloud paved road; don't rebuild it</a:t>
            </a:r>
            <a:endParaRPr lang="en-US" sz="980" dirty="0"/>
          </a:p>
        </p:txBody>
      </p:sp>
      <p:sp>
        <p:nvSpPr>
          <p:cNvPr id="14" name="Shape 12"/>
          <p:cNvSpPr/>
          <p:nvPr/>
        </p:nvSpPr>
        <p:spPr>
          <a:xfrm>
            <a:off x="566928" y="4718304"/>
            <a:ext cx="11027664" cy="1060704"/>
          </a:xfrm>
          <a:prstGeom prst="rect">
            <a:avLst/>
          </a:prstGeom>
          <a:solidFill>
            <a:srgbClr val="EEF2F8"/>
          </a:solidFill>
          <a:ln/>
        </p:spPr>
        <p:txBody>
          <a:bodyPr/>
          <a:lstStyle/>
          <a:p>
            <a:endParaRPr lang="en-US"/>
          </a:p>
        </p:txBody>
      </p:sp>
      <p:sp>
        <p:nvSpPr>
          <p:cNvPr id="15" name="Text 13"/>
          <p:cNvSpPr/>
          <p:nvPr/>
        </p:nvSpPr>
        <p:spPr>
          <a:xfrm>
            <a:off x="768096" y="4837176"/>
            <a:ext cx="7315200" cy="182880"/>
          </a:xfrm>
          <a:prstGeom prst="rect">
            <a:avLst/>
          </a:prstGeom>
          <a:noFill/>
          <a:ln/>
        </p:spPr>
        <p:txBody>
          <a:bodyPr wrap="square" lIns="0" tIns="0" rIns="0" bIns="0" rtlCol="0" anchor="ctr"/>
          <a:lstStyle/>
          <a:p>
            <a:pPr marL="0" indent="0">
              <a:buNone/>
            </a:pPr>
            <a:r>
              <a:rPr lang="en-US" sz="850" b="1" kern="0" spc="170" dirty="0">
                <a:solidFill>
                  <a:srgbClr val="C9A227"/>
                </a:solidFill>
                <a:latin typeface="Calibri" pitchFamily="34" charset="0"/>
                <a:ea typeface="Calibri" pitchFamily="34" charset="-122"/>
                <a:cs typeface="Calibri" pitchFamily="34" charset="-120"/>
              </a:rPr>
              <a:t>THE DISTINCTION THAT GETS MISSED</a:t>
            </a:r>
            <a:endParaRPr lang="en-US" sz="850" dirty="0"/>
          </a:p>
        </p:txBody>
      </p:sp>
      <p:sp>
        <p:nvSpPr>
          <p:cNvPr id="16" name="Text 14"/>
          <p:cNvSpPr/>
          <p:nvPr/>
        </p:nvSpPr>
        <p:spPr>
          <a:xfrm>
            <a:off x="768096" y="5047488"/>
            <a:ext cx="10625328" cy="640080"/>
          </a:xfrm>
          <a:prstGeom prst="rect">
            <a:avLst/>
          </a:prstGeom>
          <a:noFill/>
          <a:ln/>
        </p:spPr>
        <p:txBody>
          <a:bodyPr wrap="square" lIns="0" tIns="0" rIns="0" bIns="0" rtlCol="0" anchor="ctr"/>
          <a:lstStyle/>
          <a:p>
            <a:pPr marL="0" indent="0">
              <a:lnSpc>
                <a:spcPts val="1450"/>
              </a:lnSpc>
              <a:buNone/>
            </a:pPr>
            <a:r>
              <a:rPr lang="en-US" sz="1060" b="1" dirty="0">
                <a:solidFill>
                  <a:srgbClr val="0B2350"/>
                </a:solidFill>
                <a:latin typeface="Calibri" pitchFamily="34" charset="0"/>
                <a:ea typeface="Calibri" pitchFamily="34" charset="-122"/>
                <a:cs typeface="Calibri" pitchFamily="34" charset="-120"/>
              </a:rPr>
              <a:t>Different axis, not competition. </a:t>
            </a:r>
            <a:r>
              <a:rPr lang="en-US" sz="1060" dirty="0">
                <a:solidFill>
                  <a:srgbClr val="1E252E"/>
                </a:solidFill>
                <a:latin typeface="Calibri" pitchFamily="34" charset="0"/>
                <a:ea typeface="Calibri" pitchFamily="34" charset="-122"/>
                <a:cs typeface="Calibri" pitchFamily="34" charset="-120"/>
              </a:rPr>
              <a:t>A product team owns one service vertically, top to bottom, and keeps owning it. RBC Cloud is the substrate every service builds on — it doesn't run anyone's product, it makes them faster and consistent with each other by removing the infrastructure, compliance and tooling each team would otherwise rebuild. They're tenants; this is the building. Routing everything through one team is the tower we're dismantling — the opposite of how RBC Cloud works.</a:t>
            </a:r>
            <a:endParaRPr lang="en-US" sz="1060" dirty="0"/>
          </a:p>
        </p:txBody>
      </p:sp>
      <p:sp>
        <p:nvSpPr>
          <p:cNvPr id="17" name="Text 15"/>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WORKS WITH OTHER TI PRODUCTS</a:t>
            </a:r>
            <a:endParaRPr lang="en-US" sz="1050" dirty="0"/>
          </a:p>
        </p:txBody>
      </p:sp>
      <p:sp>
        <p:nvSpPr>
          <p:cNvPr id="3" name="Text 1"/>
          <p:cNvSpPr/>
          <p:nvPr/>
        </p:nvSpPr>
        <p:spPr>
          <a:xfrm>
            <a:off x="566928" y="603504"/>
            <a:ext cx="11027664" cy="548640"/>
          </a:xfrm>
          <a:prstGeom prst="rect">
            <a:avLst/>
          </a:prstGeom>
          <a:noFill/>
          <a:ln/>
        </p:spPr>
        <p:txBody>
          <a:bodyPr wrap="square" lIns="0" tIns="0" rIns="0" bIns="0" rtlCol="0" anchor="ctr"/>
          <a:lstStyle/>
          <a:p>
            <a:pPr marL="0" indent="0">
              <a:buNone/>
            </a:pPr>
            <a:r>
              <a:rPr lang="en-US" sz="2900" b="1" dirty="0">
                <a:solidFill>
                  <a:srgbClr val="0B2350"/>
                </a:solidFill>
                <a:latin typeface="Cambria" pitchFamily="34" charset="0"/>
                <a:ea typeface="Cambria" pitchFamily="34" charset="-122"/>
                <a:cs typeface="Cambria" pitchFamily="34" charset="-120"/>
              </a:rPr>
              <a:t>SQL Server Pod </a:t>
            </a:r>
            <a:r>
              <a:rPr lang="en-US" sz="2900" b="1" dirty="0">
                <a:solidFill>
                  <a:srgbClr val="005DAA"/>
                </a:solidFill>
                <a:latin typeface="Cambria" pitchFamily="34" charset="0"/>
                <a:ea typeface="Cambria" pitchFamily="34" charset="-122"/>
                <a:cs typeface="Cambria" pitchFamily="34" charset="-120"/>
              </a:rPr>
              <a:t>↔ </a:t>
            </a:r>
            <a:r>
              <a:rPr lang="en-US" sz="2900" b="1" dirty="0">
                <a:solidFill>
                  <a:srgbClr val="0B2350"/>
                </a:solidFill>
                <a:latin typeface="Cambria" pitchFamily="34" charset="0"/>
                <a:ea typeface="Cambria" pitchFamily="34" charset="-122"/>
                <a:cs typeface="Cambria" pitchFamily="34" charset="-120"/>
              </a:rPr>
              <a:t>Zephyr · CMP · Intelligent Ops</a:t>
            </a:r>
            <a:endParaRPr lang="en-US" sz="2900" dirty="0"/>
          </a:p>
        </p:txBody>
      </p:sp>
      <p:sp>
        <p:nvSpPr>
          <p:cNvPr id="4" name="Text 2"/>
          <p:cNvSpPr/>
          <p:nvPr/>
        </p:nvSpPr>
        <p:spPr>
          <a:xfrm>
            <a:off x="566928" y="1188720"/>
            <a:ext cx="11027664" cy="402336"/>
          </a:xfrm>
          <a:prstGeom prst="rect">
            <a:avLst/>
          </a:prstGeom>
          <a:noFill/>
          <a:ln/>
        </p:spPr>
        <p:txBody>
          <a:bodyPr wrap="square" lIns="0" tIns="0" rIns="0" bIns="0" rtlCol="0" anchor="ctr"/>
          <a:lstStyle/>
          <a:p>
            <a:pPr marL="0" indent="0">
              <a:lnSpc>
                <a:spcPts val="1450"/>
              </a:lnSpc>
              <a:buNone/>
            </a:pPr>
            <a:r>
              <a:rPr lang="en-US" sz="1100" i="1" dirty="0">
                <a:solidFill>
                  <a:srgbClr val="5C6773"/>
                </a:solidFill>
                <a:latin typeface="Calibri" pitchFamily="34" charset="0"/>
                <a:ea typeface="Calibri" pitchFamily="34" charset="-122"/>
                <a:cs typeface="Calibri" pitchFamily="34" charset="-120"/>
              </a:rPr>
              <a:t>Three cross-cutting squads. Three two-way contracts. Each ships a product the pod consumes; the pod emits signals — and gaps — the cross-cutting squad turns into next-gen automation. No tickets, no gates.</a:t>
            </a:r>
            <a:endParaRPr lang="en-US" sz="1100" dirty="0"/>
          </a:p>
        </p:txBody>
      </p:sp>
      <p:sp>
        <p:nvSpPr>
          <p:cNvPr id="5" name="Shape 3"/>
          <p:cNvSpPr/>
          <p:nvPr/>
        </p:nvSpPr>
        <p:spPr>
          <a:xfrm>
            <a:off x="566928" y="1664208"/>
            <a:ext cx="3200400" cy="45720"/>
          </a:xfrm>
          <a:prstGeom prst="rect">
            <a:avLst/>
          </a:prstGeom>
          <a:solidFill>
            <a:srgbClr val="FFD200"/>
          </a:solidFill>
          <a:ln/>
        </p:spPr>
        <p:txBody>
          <a:bodyPr/>
          <a:lstStyle/>
          <a:p>
            <a:endParaRPr lang="en-US"/>
          </a:p>
        </p:txBody>
      </p:sp>
      <p:sp>
        <p:nvSpPr>
          <p:cNvPr id="6" name="Shape 4"/>
          <p:cNvSpPr/>
          <p:nvPr/>
        </p:nvSpPr>
        <p:spPr>
          <a:xfrm>
            <a:off x="566928" y="1709928"/>
            <a:ext cx="3200400" cy="1307592"/>
          </a:xfrm>
          <a:prstGeom prst="rect">
            <a:avLst/>
          </a:prstGeom>
          <a:solidFill>
            <a:srgbClr val="0B2350"/>
          </a:solidFill>
          <a:ln/>
        </p:spPr>
        <p:txBody>
          <a:bodyPr/>
          <a:lstStyle/>
          <a:p>
            <a:endParaRPr lang="en-US"/>
          </a:p>
        </p:txBody>
      </p:sp>
      <p:sp>
        <p:nvSpPr>
          <p:cNvPr id="7" name="Text 5"/>
          <p:cNvSpPr/>
          <p:nvPr/>
        </p:nvSpPr>
        <p:spPr>
          <a:xfrm>
            <a:off x="694944" y="1746504"/>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ZEPHYR HYBRID CLOUD</a:t>
            </a:r>
            <a:endParaRPr lang="en-US" sz="700" dirty="0"/>
          </a:p>
        </p:txBody>
      </p:sp>
      <p:sp>
        <p:nvSpPr>
          <p:cNvPr id="8" name="Text 6"/>
          <p:cNvSpPr/>
          <p:nvPr/>
        </p:nvSpPr>
        <p:spPr>
          <a:xfrm>
            <a:off x="694944" y="1883664"/>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Zephyr Control Plane</a:t>
            </a:r>
            <a:endParaRPr lang="en-US" sz="1200" dirty="0"/>
          </a:p>
        </p:txBody>
      </p:sp>
      <p:sp>
        <p:nvSpPr>
          <p:cNvPr id="9" name="Text 7"/>
          <p:cNvSpPr/>
          <p:nvPr/>
        </p:nvSpPr>
        <p:spPr>
          <a:xfrm>
            <a:off x="694944" y="2093976"/>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Substrate · APIs · UX · Policy</a:t>
            </a:r>
            <a:endParaRPr lang="en-US" sz="680" dirty="0"/>
          </a:p>
        </p:txBody>
      </p:sp>
      <p:sp>
        <p:nvSpPr>
          <p:cNvPr id="10" name="Text 8"/>
          <p:cNvSpPr/>
          <p:nvPr/>
        </p:nvSpPr>
        <p:spPr>
          <a:xfrm>
            <a:off x="694944" y="2240280"/>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1" name="Text 9"/>
          <p:cNvSpPr/>
          <p:nvPr/>
        </p:nvSpPr>
        <p:spPr>
          <a:xfrm>
            <a:off x="731520" y="2368296"/>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Module registry &amp; control plane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Self-service developer portal</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Policy engine · lifecycle · evidence</a:t>
            </a:r>
            <a:endParaRPr lang="en-US" sz="740" dirty="0"/>
          </a:p>
        </p:txBody>
      </p:sp>
      <p:sp>
        <p:nvSpPr>
          <p:cNvPr id="12" name="Shape 10"/>
          <p:cNvSpPr/>
          <p:nvPr/>
        </p:nvSpPr>
        <p:spPr>
          <a:xfrm>
            <a:off x="566928" y="3145536"/>
            <a:ext cx="3200400" cy="45720"/>
          </a:xfrm>
          <a:prstGeom prst="rect">
            <a:avLst/>
          </a:prstGeom>
          <a:solidFill>
            <a:srgbClr val="FFD200"/>
          </a:solidFill>
          <a:ln/>
        </p:spPr>
        <p:txBody>
          <a:bodyPr/>
          <a:lstStyle/>
          <a:p>
            <a:endParaRPr lang="en-US"/>
          </a:p>
        </p:txBody>
      </p:sp>
      <p:sp>
        <p:nvSpPr>
          <p:cNvPr id="13" name="Shape 11"/>
          <p:cNvSpPr/>
          <p:nvPr/>
        </p:nvSpPr>
        <p:spPr>
          <a:xfrm>
            <a:off x="566928" y="3191256"/>
            <a:ext cx="3200400" cy="1307592"/>
          </a:xfrm>
          <a:prstGeom prst="rect">
            <a:avLst/>
          </a:prstGeom>
          <a:solidFill>
            <a:srgbClr val="0B2350"/>
          </a:solidFill>
          <a:ln/>
        </p:spPr>
        <p:txBody>
          <a:bodyPr/>
          <a:lstStyle/>
          <a:p>
            <a:endParaRPr lang="en-US"/>
          </a:p>
        </p:txBody>
      </p:sp>
      <p:sp>
        <p:nvSpPr>
          <p:cNvPr id="14" name="Text 12"/>
          <p:cNvSpPr/>
          <p:nvPr/>
        </p:nvSpPr>
        <p:spPr>
          <a:xfrm>
            <a:off x="694944" y="3227832"/>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OPTIMIZATION</a:t>
            </a:r>
            <a:endParaRPr lang="en-US" sz="700" dirty="0"/>
          </a:p>
        </p:txBody>
      </p:sp>
      <p:sp>
        <p:nvSpPr>
          <p:cNvPr id="15" name="Text 13"/>
          <p:cNvSpPr/>
          <p:nvPr/>
        </p:nvSpPr>
        <p:spPr>
          <a:xfrm>
            <a:off x="694944" y="3364992"/>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Capacity Management</a:t>
            </a:r>
            <a:endParaRPr lang="en-US" sz="1200" dirty="0"/>
          </a:p>
        </p:txBody>
      </p:sp>
      <p:sp>
        <p:nvSpPr>
          <p:cNvPr id="16" name="Text 14"/>
          <p:cNvSpPr/>
          <p:nvPr/>
        </p:nvSpPr>
        <p:spPr>
          <a:xfrm>
            <a:off x="694944" y="3575304"/>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Capacity · forecasting · rightsizing</a:t>
            </a:r>
            <a:endParaRPr lang="en-US" sz="680" dirty="0"/>
          </a:p>
        </p:txBody>
      </p:sp>
      <p:sp>
        <p:nvSpPr>
          <p:cNvPr id="17" name="Text 15"/>
          <p:cNvSpPr/>
          <p:nvPr/>
        </p:nvSpPr>
        <p:spPr>
          <a:xfrm>
            <a:off x="694944" y="3721608"/>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8" name="Text 16"/>
          <p:cNvSpPr/>
          <p:nvPr/>
        </p:nvSpPr>
        <p:spPr>
          <a:xfrm>
            <a:off x="731520" y="3849624"/>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Rightsizing agents</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Capacity forecast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Home-of-Best-Fit advisor</a:t>
            </a:r>
            <a:endParaRPr lang="en-US" sz="740" dirty="0"/>
          </a:p>
        </p:txBody>
      </p:sp>
      <p:sp>
        <p:nvSpPr>
          <p:cNvPr id="19" name="Shape 17"/>
          <p:cNvSpPr/>
          <p:nvPr/>
        </p:nvSpPr>
        <p:spPr>
          <a:xfrm>
            <a:off x="566928" y="4626864"/>
            <a:ext cx="3200400" cy="45720"/>
          </a:xfrm>
          <a:prstGeom prst="rect">
            <a:avLst/>
          </a:prstGeom>
          <a:solidFill>
            <a:srgbClr val="FFD200"/>
          </a:solidFill>
          <a:ln/>
        </p:spPr>
        <p:txBody>
          <a:bodyPr/>
          <a:lstStyle/>
          <a:p>
            <a:endParaRPr lang="en-US"/>
          </a:p>
        </p:txBody>
      </p:sp>
      <p:sp>
        <p:nvSpPr>
          <p:cNvPr id="20" name="Shape 18"/>
          <p:cNvSpPr/>
          <p:nvPr/>
        </p:nvSpPr>
        <p:spPr>
          <a:xfrm>
            <a:off x="566928" y="4672584"/>
            <a:ext cx="3200400" cy="1307592"/>
          </a:xfrm>
          <a:prstGeom prst="rect">
            <a:avLst/>
          </a:prstGeom>
          <a:solidFill>
            <a:srgbClr val="0B2350"/>
          </a:solidFill>
          <a:ln/>
        </p:spPr>
        <p:txBody>
          <a:bodyPr/>
          <a:lstStyle/>
          <a:p>
            <a:endParaRPr lang="en-US"/>
          </a:p>
        </p:txBody>
      </p:sp>
      <p:sp>
        <p:nvSpPr>
          <p:cNvPr id="21" name="Text 19"/>
          <p:cNvSpPr/>
          <p:nvPr/>
        </p:nvSpPr>
        <p:spPr>
          <a:xfrm>
            <a:off x="694944" y="4709160"/>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INTELLIGENT OPS</a:t>
            </a:r>
            <a:endParaRPr lang="en-US" sz="700" dirty="0"/>
          </a:p>
        </p:txBody>
      </p:sp>
      <p:sp>
        <p:nvSpPr>
          <p:cNvPr id="22" name="Text 20"/>
          <p:cNvSpPr/>
          <p:nvPr/>
        </p:nvSpPr>
        <p:spPr>
          <a:xfrm>
            <a:off x="694944" y="4846320"/>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AIOps Platform</a:t>
            </a:r>
            <a:endParaRPr lang="en-US" sz="1200" dirty="0"/>
          </a:p>
        </p:txBody>
      </p:sp>
      <p:sp>
        <p:nvSpPr>
          <p:cNvPr id="23" name="Text 21"/>
          <p:cNvSpPr/>
          <p:nvPr/>
        </p:nvSpPr>
        <p:spPr>
          <a:xfrm>
            <a:off x="694944" y="5056632"/>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The substrate — not the people</a:t>
            </a:r>
            <a:endParaRPr lang="en-US" sz="680" dirty="0"/>
          </a:p>
        </p:txBody>
      </p:sp>
      <p:sp>
        <p:nvSpPr>
          <p:cNvPr id="24" name="Text 22"/>
          <p:cNvSpPr/>
          <p:nvPr/>
        </p:nvSpPr>
        <p:spPr>
          <a:xfrm>
            <a:off x="694944" y="5202936"/>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25" name="Text 23"/>
          <p:cNvSpPr/>
          <p:nvPr/>
        </p:nvSpPr>
        <p:spPr>
          <a:xfrm>
            <a:off x="731520" y="5330952"/>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Telemetry backplane · data · chatbot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Agent framework &amp; runtime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IntOps engineers sit in the pod core</a:t>
            </a:r>
            <a:endParaRPr lang="en-US" sz="740" dirty="0"/>
          </a:p>
        </p:txBody>
      </p:sp>
      <p:sp>
        <p:nvSpPr>
          <p:cNvPr id="26" name="Text 24"/>
          <p:cNvSpPr/>
          <p:nvPr/>
        </p:nvSpPr>
        <p:spPr>
          <a:xfrm>
            <a:off x="3858768" y="1810512"/>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27" name="Shape 25"/>
          <p:cNvSpPr/>
          <p:nvPr/>
        </p:nvSpPr>
        <p:spPr>
          <a:xfrm>
            <a:off x="3877056" y="2011680"/>
            <a:ext cx="1975104" cy="32004"/>
          </a:xfrm>
          <a:prstGeom prst="rect">
            <a:avLst/>
          </a:prstGeom>
          <a:solidFill>
            <a:srgbClr val="FFD200"/>
          </a:solidFill>
          <a:ln/>
        </p:spPr>
        <p:txBody>
          <a:bodyPr/>
          <a:lstStyle/>
          <a:p>
            <a:endParaRPr lang="en-US"/>
          </a:p>
        </p:txBody>
      </p:sp>
      <p:sp>
        <p:nvSpPr>
          <p:cNvPr id="28" name="Text 26"/>
          <p:cNvSpPr/>
          <p:nvPr/>
        </p:nvSpPr>
        <p:spPr>
          <a:xfrm>
            <a:off x="3858768" y="2084832"/>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APIs · Portal · Primitives</a:t>
            </a:r>
            <a:endParaRPr lang="en-US" sz="740" dirty="0"/>
          </a:p>
        </p:txBody>
      </p:sp>
      <p:sp>
        <p:nvSpPr>
          <p:cNvPr id="29" name="Text 27"/>
          <p:cNvSpPr/>
          <p:nvPr/>
        </p:nvSpPr>
        <p:spPr>
          <a:xfrm>
            <a:off x="3858768" y="2322576"/>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0" name="Shape 28"/>
          <p:cNvSpPr/>
          <p:nvPr/>
        </p:nvSpPr>
        <p:spPr>
          <a:xfrm>
            <a:off x="3877056" y="2523744"/>
            <a:ext cx="1975104" cy="32004"/>
          </a:xfrm>
          <a:prstGeom prst="rect">
            <a:avLst/>
          </a:prstGeom>
          <a:solidFill>
            <a:srgbClr val="4C9A2A"/>
          </a:solidFill>
          <a:ln/>
        </p:spPr>
        <p:txBody>
          <a:bodyPr/>
          <a:lstStyle/>
          <a:p>
            <a:endParaRPr lang="en-US"/>
          </a:p>
        </p:txBody>
      </p:sp>
      <p:sp>
        <p:nvSpPr>
          <p:cNvPr id="31" name="Text 29"/>
          <p:cNvSpPr/>
          <p:nvPr/>
        </p:nvSpPr>
        <p:spPr>
          <a:xfrm>
            <a:off x="3858768" y="2596896"/>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IaC modules · Offering spec · Gaps</a:t>
            </a:r>
            <a:endParaRPr lang="en-US" sz="740" dirty="0"/>
          </a:p>
        </p:txBody>
      </p:sp>
      <p:sp>
        <p:nvSpPr>
          <p:cNvPr id="32" name="Text 30"/>
          <p:cNvSpPr/>
          <p:nvPr/>
        </p:nvSpPr>
        <p:spPr>
          <a:xfrm>
            <a:off x="3858768" y="3291840"/>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3" name="Shape 31"/>
          <p:cNvSpPr/>
          <p:nvPr/>
        </p:nvSpPr>
        <p:spPr>
          <a:xfrm>
            <a:off x="3877056" y="3493008"/>
            <a:ext cx="1975104" cy="32004"/>
          </a:xfrm>
          <a:prstGeom prst="rect">
            <a:avLst/>
          </a:prstGeom>
          <a:solidFill>
            <a:srgbClr val="FFD200"/>
          </a:solidFill>
          <a:ln/>
        </p:spPr>
        <p:txBody>
          <a:bodyPr/>
          <a:lstStyle/>
          <a:p>
            <a:endParaRPr lang="en-US"/>
          </a:p>
        </p:txBody>
      </p:sp>
      <p:sp>
        <p:nvSpPr>
          <p:cNvPr id="34" name="Text 32"/>
          <p:cNvSpPr/>
          <p:nvPr/>
        </p:nvSpPr>
        <p:spPr>
          <a:xfrm>
            <a:off x="3858768" y="3566160"/>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Forecasts · Rightsizing PRs</a:t>
            </a:r>
            <a:endParaRPr lang="en-US" sz="740" dirty="0"/>
          </a:p>
        </p:txBody>
      </p:sp>
      <p:sp>
        <p:nvSpPr>
          <p:cNvPr id="35" name="Text 33"/>
          <p:cNvSpPr/>
          <p:nvPr/>
        </p:nvSpPr>
        <p:spPr>
          <a:xfrm>
            <a:off x="3858768" y="3803904"/>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6" name="Shape 34"/>
          <p:cNvSpPr/>
          <p:nvPr/>
        </p:nvSpPr>
        <p:spPr>
          <a:xfrm>
            <a:off x="3877056" y="4005072"/>
            <a:ext cx="1975104" cy="32004"/>
          </a:xfrm>
          <a:prstGeom prst="rect">
            <a:avLst/>
          </a:prstGeom>
          <a:solidFill>
            <a:srgbClr val="4C9A2A"/>
          </a:solidFill>
          <a:ln/>
        </p:spPr>
        <p:txBody>
          <a:bodyPr/>
          <a:lstStyle/>
          <a:p>
            <a:endParaRPr lang="en-US"/>
          </a:p>
        </p:txBody>
      </p:sp>
      <p:sp>
        <p:nvSpPr>
          <p:cNvPr id="37" name="Text 35"/>
          <p:cNvSpPr/>
          <p:nvPr/>
        </p:nvSpPr>
        <p:spPr>
          <a:xfrm>
            <a:off x="3858768" y="4078224"/>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Cost · Workload patterns</a:t>
            </a:r>
            <a:endParaRPr lang="en-US" sz="740" dirty="0"/>
          </a:p>
        </p:txBody>
      </p:sp>
      <p:sp>
        <p:nvSpPr>
          <p:cNvPr id="38" name="Text 36"/>
          <p:cNvSpPr/>
          <p:nvPr/>
        </p:nvSpPr>
        <p:spPr>
          <a:xfrm>
            <a:off x="3858768" y="4773168"/>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9" name="Shape 37"/>
          <p:cNvSpPr/>
          <p:nvPr/>
        </p:nvSpPr>
        <p:spPr>
          <a:xfrm>
            <a:off x="3877056" y="4974336"/>
            <a:ext cx="1975104" cy="32004"/>
          </a:xfrm>
          <a:prstGeom prst="rect">
            <a:avLst/>
          </a:prstGeom>
          <a:solidFill>
            <a:srgbClr val="FFD200"/>
          </a:solidFill>
          <a:ln/>
        </p:spPr>
        <p:txBody>
          <a:bodyPr/>
          <a:lstStyle/>
          <a:p>
            <a:endParaRPr lang="en-US"/>
          </a:p>
        </p:txBody>
      </p:sp>
      <p:sp>
        <p:nvSpPr>
          <p:cNvPr id="40" name="Text 38"/>
          <p:cNvSpPr/>
          <p:nvPr/>
        </p:nvSpPr>
        <p:spPr>
          <a:xfrm>
            <a:off x="3858768" y="5047488"/>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Tooling · Prevention signals</a:t>
            </a:r>
            <a:endParaRPr lang="en-US" sz="740" dirty="0"/>
          </a:p>
        </p:txBody>
      </p:sp>
      <p:sp>
        <p:nvSpPr>
          <p:cNvPr id="41" name="Text 39"/>
          <p:cNvSpPr/>
          <p:nvPr/>
        </p:nvSpPr>
        <p:spPr>
          <a:xfrm>
            <a:off x="3858768" y="5285232"/>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42" name="Shape 40"/>
          <p:cNvSpPr/>
          <p:nvPr/>
        </p:nvSpPr>
        <p:spPr>
          <a:xfrm>
            <a:off x="3877056" y="5486400"/>
            <a:ext cx="1975104" cy="32004"/>
          </a:xfrm>
          <a:prstGeom prst="rect">
            <a:avLst/>
          </a:prstGeom>
          <a:solidFill>
            <a:srgbClr val="4C9A2A"/>
          </a:solidFill>
          <a:ln/>
        </p:spPr>
        <p:txBody>
          <a:bodyPr/>
          <a:lstStyle/>
          <a:p>
            <a:endParaRPr lang="en-US"/>
          </a:p>
        </p:txBody>
      </p:sp>
      <p:sp>
        <p:nvSpPr>
          <p:cNvPr id="43" name="Text 41"/>
          <p:cNvSpPr/>
          <p:nvPr/>
        </p:nvSpPr>
        <p:spPr>
          <a:xfrm>
            <a:off x="3858768" y="5559552"/>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Platform agent · Gaps</a:t>
            </a:r>
            <a:endParaRPr lang="en-US" sz="740" dirty="0"/>
          </a:p>
        </p:txBody>
      </p:sp>
      <p:sp>
        <p:nvSpPr>
          <p:cNvPr id="44" name="Shape 42"/>
          <p:cNvSpPr/>
          <p:nvPr/>
        </p:nvSpPr>
        <p:spPr>
          <a:xfrm>
            <a:off x="5998464" y="1664208"/>
            <a:ext cx="2286000" cy="4315968"/>
          </a:xfrm>
          <a:prstGeom prst="rect">
            <a:avLst/>
          </a:prstGeom>
          <a:solidFill>
            <a:srgbClr val="FFD200"/>
          </a:solidFill>
          <a:ln/>
        </p:spPr>
        <p:txBody>
          <a:bodyPr/>
          <a:lstStyle/>
          <a:p>
            <a:endParaRPr lang="en-US"/>
          </a:p>
        </p:txBody>
      </p:sp>
      <p:sp>
        <p:nvSpPr>
          <p:cNvPr id="45" name="Shape 43"/>
          <p:cNvSpPr/>
          <p:nvPr/>
        </p:nvSpPr>
        <p:spPr>
          <a:xfrm>
            <a:off x="6044184" y="1709928"/>
            <a:ext cx="2194560" cy="4224528"/>
          </a:xfrm>
          <a:prstGeom prst="rect">
            <a:avLst/>
          </a:prstGeom>
          <a:solidFill>
            <a:srgbClr val="005DAA"/>
          </a:solidFill>
          <a:ln/>
        </p:spPr>
        <p:txBody>
          <a:bodyPr/>
          <a:lstStyle/>
          <a:p>
            <a:endParaRPr lang="en-US"/>
          </a:p>
        </p:txBody>
      </p:sp>
      <p:sp>
        <p:nvSpPr>
          <p:cNvPr id="46" name="Text 44"/>
          <p:cNvSpPr/>
          <p:nvPr/>
        </p:nvSpPr>
        <p:spPr>
          <a:xfrm>
            <a:off x="6089904" y="1810512"/>
            <a:ext cx="2103120" cy="219456"/>
          </a:xfrm>
          <a:prstGeom prst="rect">
            <a:avLst/>
          </a:prstGeom>
          <a:noFill/>
          <a:ln/>
        </p:spPr>
        <p:txBody>
          <a:bodyPr wrap="square" lIns="0" tIns="0" rIns="0" bIns="0" rtlCol="0" anchor="ctr"/>
          <a:lstStyle/>
          <a:p>
            <a:pPr marL="0" indent="0" algn="ctr">
              <a:buNone/>
            </a:pPr>
            <a:r>
              <a:rPr lang="en-US" sz="950" b="1" kern="0" spc="140" dirty="0">
                <a:solidFill>
                  <a:srgbClr val="FFD200"/>
                </a:solidFill>
                <a:latin typeface="Calibri" pitchFamily="34" charset="0"/>
                <a:ea typeface="Calibri" pitchFamily="34" charset="-122"/>
                <a:cs typeface="Calibri" pitchFamily="34" charset="-120"/>
              </a:rPr>
              <a:t>SQL SERVER POD</a:t>
            </a:r>
            <a:endParaRPr lang="en-US" sz="950" dirty="0"/>
          </a:p>
        </p:txBody>
      </p:sp>
      <p:sp>
        <p:nvSpPr>
          <p:cNvPr id="47" name="Text 45"/>
          <p:cNvSpPr/>
          <p:nvPr/>
        </p:nvSpPr>
        <p:spPr>
          <a:xfrm>
            <a:off x="6089904" y="2011680"/>
            <a:ext cx="2103120" cy="182880"/>
          </a:xfrm>
          <a:prstGeom prst="rect">
            <a:avLst/>
          </a:prstGeom>
          <a:noFill/>
          <a:ln/>
        </p:spPr>
        <p:txBody>
          <a:bodyPr wrap="square" lIns="0" tIns="0" rIns="0" bIns="0" rtlCol="0" anchor="ctr"/>
          <a:lstStyle/>
          <a:p>
            <a:pPr marL="0" indent="0" algn="ctr">
              <a:buNone/>
            </a:pPr>
            <a:r>
              <a:rPr lang="en-US" sz="740" i="1" dirty="0">
                <a:solidFill>
                  <a:srgbClr val="CFE0F5"/>
                </a:solidFill>
                <a:latin typeface="Calibri" pitchFamily="34" charset="0"/>
                <a:ea typeface="Calibri" pitchFamily="34" charset="-122"/>
                <a:cs typeface="Calibri" pitchFamily="34" charset="-120"/>
              </a:rPr>
              <a:t>Fully dedicated · carries the pager</a:t>
            </a:r>
            <a:endParaRPr lang="en-US" sz="740" dirty="0"/>
          </a:p>
        </p:txBody>
      </p:sp>
      <p:sp>
        <p:nvSpPr>
          <p:cNvPr id="48" name="Shape 46"/>
          <p:cNvSpPr/>
          <p:nvPr/>
        </p:nvSpPr>
        <p:spPr>
          <a:xfrm>
            <a:off x="6163056" y="2286000"/>
            <a:ext cx="1956816" cy="402336"/>
          </a:xfrm>
          <a:prstGeom prst="rect">
            <a:avLst/>
          </a:prstGeom>
          <a:solidFill>
            <a:srgbClr val="0B2350"/>
          </a:solidFill>
          <a:ln/>
        </p:spPr>
        <p:txBody>
          <a:bodyPr/>
          <a:lstStyle/>
          <a:p>
            <a:endParaRPr lang="en-US"/>
          </a:p>
        </p:txBody>
      </p:sp>
      <p:sp>
        <p:nvSpPr>
          <p:cNvPr id="49" name="Text 47"/>
          <p:cNvSpPr/>
          <p:nvPr/>
        </p:nvSpPr>
        <p:spPr>
          <a:xfrm>
            <a:off x="6163056" y="238658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Pod Lead</a:t>
            </a:r>
            <a:endParaRPr lang="en-US" sz="1050" dirty="0"/>
          </a:p>
        </p:txBody>
      </p:sp>
      <p:sp>
        <p:nvSpPr>
          <p:cNvPr id="50" name="Shape 48"/>
          <p:cNvSpPr/>
          <p:nvPr/>
        </p:nvSpPr>
        <p:spPr>
          <a:xfrm>
            <a:off x="6163056" y="2770632"/>
            <a:ext cx="1956816" cy="402336"/>
          </a:xfrm>
          <a:prstGeom prst="rect">
            <a:avLst/>
          </a:prstGeom>
          <a:solidFill>
            <a:srgbClr val="0B2350"/>
          </a:solidFill>
          <a:ln/>
        </p:spPr>
        <p:txBody>
          <a:bodyPr/>
          <a:lstStyle/>
          <a:p>
            <a:endParaRPr lang="en-US"/>
          </a:p>
        </p:txBody>
      </p:sp>
      <p:sp>
        <p:nvSpPr>
          <p:cNvPr id="51" name="Text 49"/>
          <p:cNvSpPr/>
          <p:nvPr/>
        </p:nvSpPr>
        <p:spPr>
          <a:xfrm>
            <a:off x="6163056" y="287121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Engineering</a:t>
            </a:r>
            <a:endParaRPr lang="en-US" sz="1050" dirty="0"/>
          </a:p>
        </p:txBody>
      </p:sp>
      <p:sp>
        <p:nvSpPr>
          <p:cNvPr id="52" name="Shape 50"/>
          <p:cNvSpPr/>
          <p:nvPr/>
        </p:nvSpPr>
        <p:spPr>
          <a:xfrm>
            <a:off x="6163056" y="3255264"/>
            <a:ext cx="1956816" cy="402336"/>
          </a:xfrm>
          <a:prstGeom prst="rect">
            <a:avLst/>
          </a:prstGeom>
          <a:solidFill>
            <a:srgbClr val="0B2350"/>
          </a:solidFill>
          <a:ln/>
        </p:spPr>
        <p:txBody>
          <a:bodyPr/>
          <a:lstStyle/>
          <a:p>
            <a:endParaRPr lang="en-US"/>
          </a:p>
        </p:txBody>
      </p:sp>
      <p:sp>
        <p:nvSpPr>
          <p:cNvPr id="53" name="Text 51"/>
          <p:cNvSpPr/>
          <p:nvPr/>
        </p:nvSpPr>
        <p:spPr>
          <a:xfrm>
            <a:off x="6163056" y="3355848"/>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Ops</a:t>
            </a:r>
            <a:endParaRPr lang="en-US" sz="1050" dirty="0"/>
          </a:p>
        </p:txBody>
      </p:sp>
      <p:sp>
        <p:nvSpPr>
          <p:cNvPr id="54" name="Shape 52"/>
          <p:cNvSpPr/>
          <p:nvPr/>
        </p:nvSpPr>
        <p:spPr>
          <a:xfrm>
            <a:off x="6163056" y="3739896"/>
            <a:ext cx="1956816" cy="402336"/>
          </a:xfrm>
          <a:prstGeom prst="rect">
            <a:avLst/>
          </a:prstGeom>
          <a:solidFill>
            <a:srgbClr val="0B2350"/>
          </a:solidFill>
          <a:ln/>
        </p:spPr>
        <p:txBody>
          <a:bodyPr/>
          <a:lstStyle/>
          <a:p>
            <a:endParaRPr lang="en-US"/>
          </a:p>
        </p:txBody>
      </p:sp>
      <p:sp>
        <p:nvSpPr>
          <p:cNvPr id="55" name="Text 53"/>
          <p:cNvSpPr/>
          <p:nvPr/>
        </p:nvSpPr>
        <p:spPr>
          <a:xfrm>
            <a:off x="6163056" y="3840480"/>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SQL SMEs</a:t>
            </a:r>
            <a:endParaRPr lang="en-US" sz="1050" dirty="0"/>
          </a:p>
        </p:txBody>
      </p:sp>
      <p:sp>
        <p:nvSpPr>
          <p:cNvPr id="56" name="Shape 54"/>
          <p:cNvSpPr/>
          <p:nvPr/>
        </p:nvSpPr>
        <p:spPr>
          <a:xfrm>
            <a:off x="6163056" y="4224528"/>
            <a:ext cx="1956816" cy="402336"/>
          </a:xfrm>
          <a:prstGeom prst="rect">
            <a:avLst/>
          </a:prstGeom>
          <a:solidFill>
            <a:srgbClr val="0B2350"/>
          </a:solidFill>
          <a:ln/>
        </p:spPr>
        <p:txBody>
          <a:bodyPr/>
          <a:lstStyle/>
          <a:p>
            <a:endParaRPr lang="en-US"/>
          </a:p>
        </p:txBody>
      </p:sp>
      <p:sp>
        <p:nvSpPr>
          <p:cNvPr id="57" name="Text 55"/>
          <p:cNvSpPr/>
          <p:nvPr/>
        </p:nvSpPr>
        <p:spPr>
          <a:xfrm>
            <a:off x="6163056" y="4325112"/>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SRE</a:t>
            </a:r>
            <a:endParaRPr lang="en-US" sz="1050" dirty="0"/>
          </a:p>
        </p:txBody>
      </p:sp>
      <p:sp>
        <p:nvSpPr>
          <p:cNvPr id="58" name="Shape 56"/>
          <p:cNvSpPr/>
          <p:nvPr/>
        </p:nvSpPr>
        <p:spPr>
          <a:xfrm>
            <a:off x="6163056" y="4709160"/>
            <a:ext cx="1956816" cy="402336"/>
          </a:xfrm>
          <a:prstGeom prst="rect">
            <a:avLst/>
          </a:prstGeom>
          <a:solidFill>
            <a:srgbClr val="0B2350"/>
          </a:solidFill>
          <a:ln/>
        </p:spPr>
        <p:txBody>
          <a:bodyPr/>
          <a:lstStyle/>
          <a:p>
            <a:endParaRPr lang="en-US"/>
          </a:p>
        </p:txBody>
      </p:sp>
      <p:sp>
        <p:nvSpPr>
          <p:cNvPr id="59" name="Text 57"/>
          <p:cNvSpPr/>
          <p:nvPr/>
        </p:nvSpPr>
        <p:spPr>
          <a:xfrm>
            <a:off x="6163056" y="480974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Intelligent Ops</a:t>
            </a:r>
            <a:endParaRPr lang="en-US" sz="1050" dirty="0"/>
          </a:p>
        </p:txBody>
      </p:sp>
      <p:sp>
        <p:nvSpPr>
          <p:cNvPr id="60" name="Shape 58"/>
          <p:cNvSpPr/>
          <p:nvPr/>
        </p:nvSpPr>
        <p:spPr>
          <a:xfrm>
            <a:off x="6163056" y="5193792"/>
            <a:ext cx="1956816" cy="402336"/>
          </a:xfrm>
          <a:prstGeom prst="rect">
            <a:avLst/>
          </a:prstGeom>
          <a:solidFill>
            <a:srgbClr val="0B2350"/>
          </a:solidFill>
          <a:ln/>
        </p:spPr>
        <p:txBody>
          <a:bodyPr/>
          <a:lstStyle/>
          <a:p>
            <a:endParaRPr lang="en-US"/>
          </a:p>
        </p:txBody>
      </p:sp>
      <p:sp>
        <p:nvSpPr>
          <p:cNvPr id="61" name="Text 59"/>
          <p:cNvSpPr/>
          <p:nvPr/>
        </p:nvSpPr>
        <p:spPr>
          <a:xfrm>
            <a:off x="6163056" y="529437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Tigers — R&amp;C</a:t>
            </a:r>
            <a:endParaRPr lang="en-US" sz="1050" dirty="0"/>
          </a:p>
        </p:txBody>
      </p:sp>
      <p:sp>
        <p:nvSpPr>
          <p:cNvPr id="62" name="Text 60"/>
          <p:cNvSpPr/>
          <p:nvPr/>
        </p:nvSpPr>
        <p:spPr>
          <a:xfrm>
            <a:off x="6089904" y="5705856"/>
            <a:ext cx="2103120" cy="182880"/>
          </a:xfrm>
          <a:prstGeom prst="rect">
            <a:avLst/>
          </a:prstGeom>
          <a:noFill/>
          <a:ln/>
        </p:spPr>
        <p:txBody>
          <a:bodyPr wrap="square" lIns="0" tIns="0" rIns="0" bIns="0" rtlCol="0" anchor="ctr"/>
          <a:lstStyle/>
          <a:p>
            <a:pPr marL="0" indent="0" algn="ctr">
              <a:buNone/>
            </a:pPr>
            <a:r>
              <a:rPr lang="en-US" sz="740" b="1" i="1" dirty="0">
                <a:solidFill>
                  <a:srgbClr val="FFD200"/>
                </a:solidFill>
                <a:latin typeface="Calibri" pitchFamily="34" charset="0"/>
                <a:ea typeface="Calibri" pitchFamily="34" charset="-122"/>
                <a:cs typeface="Calibri" pitchFamily="34" charset="-120"/>
              </a:rPr>
              <a:t>Automation is what all of them do</a:t>
            </a:r>
            <a:endParaRPr lang="en-US" sz="740" dirty="0"/>
          </a:p>
        </p:txBody>
      </p:sp>
      <p:sp>
        <p:nvSpPr>
          <p:cNvPr id="63" name="Shape 61"/>
          <p:cNvSpPr/>
          <p:nvPr/>
        </p:nvSpPr>
        <p:spPr>
          <a:xfrm>
            <a:off x="8705088" y="1664208"/>
            <a:ext cx="3456432" cy="45720"/>
          </a:xfrm>
          <a:prstGeom prst="rect">
            <a:avLst/>
          </a:prstGeom>
          <a:solidFill>
            <a:srgbClr val="4C9A2A"/>
          </a:solidFill>
          <a:ln/>
        </p:spPr>
        <p:txBody>
          <a:bodyPr/>
          <a:lstStyle/>
          <a:p>
            <a:endParaRPr lang="en-US"/>
          </a:p>
        </p:txBody>
      </p:sp>
      <p:sp>
        <p:nvSpPr>
          <p:cNvPr id="64" name="Shape 62"/>
          <p:cNvSpPr/>
          <p:nvPr/>
        </p:nvSpPr>
        <p:spPr>
          <a:xfrm>
            <a:off x="8705088" y="1709928"/>
            <a:ext cx="3456432" cy="1307592"/>
          </a:xfrm>
          <a:prstGeom prst="rect">
            <a:avLst/>
          </a:prstGeom>
          <a:solidFill>
            <a:srgbClr val="FFFFFF"/>
          </a:solidFill>
          <a:ln w="7620">
            <a:solidFill>
              <a:srgbClr val="D7DDE5"/>
            </a:solidFill>
            <a:prstDash val="solid"/>
          </a:ln>
        </p:spPr>
        <p:txBody>
          <a:bodyPr/>
          <a:lstStyle/>
          <a:p>
            <a:endParaRPr lang="en-US"/>
          </a:p>
        </p:txBody>
      </p:sp>
      <p:sp>
        <p:nvSpPr>
          <p:cNvPr id="65" name="Text 63"/>
          <p:cNvSpPr/>
          <p:nvPr/>
        </p:nvSpPr>
        <p:spPr>
          <a:xfrm>
            <a:off x="8833104" y="1755648"/>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ZEPHYR CONTROL PLANE</a:t>
            </a:r>
            <a:endParaRPr lang="en-US" sz="700" dirty="0"/>
          </a:p>
        </p:txBody>
      </p:sp>
      <p:sp>
        <p:nvSpPr>
          <p:cNvPr id="66" name="Text 64"/>
          <p:cNvSpPr/>
          <p:nvPr/>
        </p:nvSpPr>
        <p:spPr>
          <a:xfrm>
            <a:off x="8833104" y="1901952"/>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Self-serve by default</a:t>
            </a:r>
            <a:endParaRPr lang="en-US" sz="1250" dirty="0"/>
          </a:p>
        </p:txBody>
      </p:sp>
      <p:sp>
        <p:nvSpPr>
          <p:cNvPr id="67" name="Text 65"/>
          <p:cNvSpPr/>
          <p:nvPr/>
        </p:nvSpPr>
        <p:spPr>
          <a:xfrm>
            <a:off x="8869680" y="2148840"/>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Pod publishes IaC modules &amp; offerings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Self-service via control plane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Policy gates as code · controls inherited</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Evidence auto-generated</a:t>
            </a:r>
            <a:endParaRPr lang="en-US" sz="760" dirty="0"/>
          </a:p>
        </p:txBody>
      </p:sp>
      <p:sp>
        <p:nvSpPr>
          <p:cNvPr id="68" name="Shape 66"/>
          <p:cNvSpPr/>
          <p:nvPr/>
        </p:nvSpPr>
        <p:spPr>
          <a:xfrm>
            <a:off x="8705088" y="3145536"/>
            <a:ext cx="3456432" cy="45720"/>
          </a:xfrm>
          <a:prstGeom prst="rect">
            <a:avLst/>
          </a:prstGeom>
          <a:solidFill>
            <a:srgbClr val="4C9A2A"/>
          </a:solidFill>
          <a:ln/>
        </p:spPr>
        <p:txBody>
          <a:bodyPr/>
          <a:lstStyle/>
          <a:p>
            <a:endParaRPr lang="en-US"/>
          </a:p>
        </p:txBody>
      </p:sp>
      <p:sp>
        <p:nvSpPr>
          <p:cNvPr id="69" name="Shape 67"/>
          <p:cNvSpPr/>
          <p:nvPr/>
        </p:nvSpPr>
        <p:spPr>
          <a:xfrm>
            <a:off x="8705088" y="3191256"/>
            <a:ext cx="3456432" cy="1307592"/>
          </a:xfrm>
          <a:prstGeom prst="rect">
            <a:avLst/>
          </a:prstGeom>
          <a:solidFill>
            <a:srgbClr val="FFFFFF"/>
          </a:solidFill>
          <a:ln w="7620">
            <a:solidFill>
              <a:srgbClr val="D7DDE5"/>
            </a:solidFill>
            <a:prstDash val="solid"/>
          </a:ln>
        </p:spPr>
        <p:txBody>
          <a:bodyPr/>
          <a:lstStyle/>
          <a:p>
            <a:endParaRPr lang="en-US"/>
          </a:p>
        </p:txBody>
      </p:sp>
      <p:sp>
        <p:nvSpPr>
          <p:cNvPr id="70" name="Text 68"/>
          <p:cNvSpPr/>
          <p:nvPr/>
        </p:nvSpPr>
        <p:spPr>
          <a:xfrm>
            <a:off x="8833104" y="3236976"/>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OPTIMIZATION</a:t>
            </a:r>
            <a:endParaRPr lang="en-US" sz="700" dirty="0"/>
          </a:p>
        </p:txBody>
      </p:sp>
      <p:sp>
        <p:nvSpPr>
          <p:cNvPr id="71" name="Text 69"/>
          <p:cNvSpPr/>
          <p:nvPr/>
        </p:nvSpPr>
        <p:spPr>
          <a:xfrm>
            <a:off x="8833104" y="3383280"/>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Rightsized by default</a:t>
            </a:r>
            <a:endParaRPr lang="en-US" sz="1250" dirty="0"/>
          </a:p>
        </p:txBody>
      </p:sp>
      <p:sp>
        <p:nvSpPr>
          <p:cNvPr id="72" name="Text 70"/>
          <p:cNvSpPr/>
          <p:nvPr/>
        </p:nvSpPr>
        <p:spPr>
          <a:xfrm>
            <a:off x="8869680" y="3630168"/>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Capacity headroom visible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Rightsizing PRs in repo</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Real-time usage visibility</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Migration tooling on demand</a:t>
            </a:r>
            <a:endParaRPr lang="en-US" sz="760" dirty="0"/>
          </a:p>
        </p:txBody>
      </p:sp>
      <p:sp>
        <p:nvSpPr>
          <p:cNvPr id="73" name="Shape 71"/>
          <p:cNvSpPr/>
          <p:nvPr/>
        </p:nvSpPr>
        <p:spPr>
          <a:xfrm>
            <a:off x="8705088" y="4626864"/>
            <a:ext cx="3456432" cy="45720"/>
          </a:xfrm>
          <a:prstGeom prst="rect">
            <a:avLst/>
          </a:prstGeom>
          <a:solidFill>
            <a:srgbClr val="4C9A2A"/>
          </a:solidFill>
          <a:ln/>
        </p:spPr>
        <p:txBody>
          <a:bodyPr/>
          <a:lstStyle/>
          <a:p>
            <a:endParaRPr lang="en-US"/>
          </a:p>
        </p:txBody>
      </p:sp>
      <p:sp>
        <p:nvSpPr>
          <p:cNvPr id="74" name="Shape 72"/>
          <p:cNvSpPr/>
          <p:nvPr/>
        </p:nvSpPr>
        <p:spPr>
          <a:xfrm>
            <a:off x="8705088" y="4672584"/>
            <a:ext cx="3456432" cy="1307592"/>
          </a:xfrm>
          <a:prstGeom prst="rect">
            <a:avLst/>
          </a:prstGeom>
          <a:solidFill>
            <a:srgbClr val="FFFFFF"/>
          </a:solidFill>
          <a:ln w="7620">
            <a:solidFill>
              <a:srgbClr val="D7DDE5"/>
            </a:solidFill>
            <a:prstDash val="solid"/>
          </a:ln>
        </p:spPr>
        <p:txBody>
          <a:bodyPr/>
          <a:lstStyle/>
          <a:p>
            <a:endParaRPr lang="en-US"/>
          </a:p>
        </p:txBody>
      </p:sp>
      <p:sp>
        <p:nvSpPr>
          <p:cNvPr id="75" name="Text 73"/>
          <p:cNvSpPr/>
          <p:nvPr/>
        </p:nvSpPr>
        <p:spPr>
          <a:xfrm>
            <a:off x="8833104" y="4718304"/>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INCIDENT PREVENTION</a:t>
            </a:r>
            <a:endParaRPr lang="en-US" sz="700" dirty="0"/>
          </a:p>
        </p:txBody>
      </p:sp>
      <p:sp>
        <p:nvSpPr>
          <p:cNvPr id="76" name="Text 74"/>
          <p:cNvSpPr/>
          <p:nvPr/>
        </p:nvSpPr>
        <p:spPr>
          <a:xfrm>
            <a:off x="8833104" y="4864608"/>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Resilient by default</a:t>
            </a:r>
            <a:endParaRPr lang="en-US" sz="1250" dirty="0"/>
          </a:p>
        </p:txBody>
      </p:sp>
      <p:sp>
        <p:nvSpPr>
          <p:cNvPr id="77" name="Text 75"/>
          <p:cNvSpPr/>
          <p:nvPr/>
        </p:nvSpPr>
        <p:spPr>
          <a:xfrm>
            <a:off x="8869680" y="5111496"/>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Anomalies surfaced before impact</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Remediation proposed as PRs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Alert noise auto-triaged</a:t>
            </a:r>
            <a:endParaRPr lang="en-US" sz="760" dirty="0"/>
          </a:p>
        </p:txBody>
      </p:sp>
      <p:sp>
        <p:nvSpPr>
          <p:cNvPr id="78" name="Text 7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2130</Words>
  <Application>Microsoft Macintosh PowerPoint</Application>
  <PresentationFormat>Widescreen</PresentationFormat>
  <Paragraphs>278</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RBC Cloud Operating Model — SQL Server Pod</dc:title>
  <dc:subject>PptxGenJS Presentation</dc:subject>
  <dc:creator>Technology Infrastructure</dc:creator>
  <cp:lastModifiedBy>Dhwanil Raval</cp:lastModifiedBy>
  <cp:revision>11</cp:revision>
  <dcterms:created xsi:type="dcterms:W3CDTF">2026-07-19T17:12:30Z</dcterms:created>
  <dcterms:modified xsi:type="dcterms:W3CDTF">2026-07-19T21:07:49Z</dcterms:modified>
</cp:coreProperties>
</file>