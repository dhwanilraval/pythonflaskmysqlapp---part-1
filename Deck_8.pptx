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0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051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097280" cy="1435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STEERING COMMITTEE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 On-Prem Program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685800" y="4069080"/>
            <a:ext cx="548640" cy="54864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6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private cloud through code, compliance, optimization, and AI.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4132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IaC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832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5413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Compliance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264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541324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08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Optimization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8696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2" y="541324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640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ZephyrAI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Steering Committee  ·  Q2 FY26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 ·  90 MINUTES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session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76272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91072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sought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176272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meeting objectives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91072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68512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purpose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0:05–0:15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76272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&amp; RAG dashboard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91072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68512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situational awareness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0:15–0:35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176272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highlights (5 min each)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91072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68512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cross-cutting issues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0:35–0:50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176272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dependencies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91072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668512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blockers to escalate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13232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0:50–1:15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2176272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deep-dive (rotating)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29107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Lead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668512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platform asks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13232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1:15–1:25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2176272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parking lot, watchlist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291072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8668512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commitments &amp; deferrals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13232" y="5212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1:25–1:30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2176272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 &amp; next meeting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291072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668512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date and pre-reads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126480"/>
            <a:ext cx="228600" cy="2286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097280" y="5989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distributed 48 hours in advance · Decisions captured live · One platform deep-dive per meeting (rotating)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PROGRAM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workstreams, one program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645920" y="178308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45920" y="178308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2880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288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+ policy-as-code governance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45920" y="288036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645920" y="288036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2880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82880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 via Zephyr Assurance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9776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1645920" y="397764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645920" y="397764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82880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8288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home-of-best-fit, rationalization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07492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50749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645920" y="507492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645920" y="507492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82880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ZephyrAI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82880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 for platform ops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matrix — workstreams × platforms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9552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9552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8696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8696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7840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7840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6984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6984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58000" y="256032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949440" y="25603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9552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330184" y="26837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8696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244584" y="26837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97840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158984" y="268376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6984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1073384" y="268376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858000" y="297180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949440" y="2971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9552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330184" y="309524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8696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9244584" y="309524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97840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0158984" y="309524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6984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1073384" y="309524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6858000" y="338328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949440" y="33832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9552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83301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8696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92445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97840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01589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06984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1073384" y="350672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6858000" y="379476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949440" y="37947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79552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8330184" y="391820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88696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9244584" y="391820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97840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10158984" y="391820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106984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1073384" y="391820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6858000" y="420624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6949440" y="42062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79552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3301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88696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92445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97840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101589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106984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11073384" y="432968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6858000" y="4837176"/>
            <a:ext cx="137160" cy="137160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705916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8138160" y="4837176"/>
            <a:ext cx="137160" cy="137160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833932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418320" y="4837176"/>
            <a:ext cx="137160" cy="137160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961948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6108192"/>
            <a:ext cx="228600" cy="228600"/>
          </a:xfrm>
          <a:prstGeom prst="rect">
            <a:avLst/>
          </a:prstGeom>
        </p:spPr>
      </p:pic>
      <p:sp>
        <p:nvSpPr>
          <p:cNvPr id="97" name="Text 93"/>
          <p:cNvSpPr/>
          <p:nvPr/>
        </p:nvSpPr>
        <p:spPr>
          <a:xfrm>
            <a:off x="105156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is the foundation — Compliance, Optimization, and ZephyrAI all operate on the codified estate.</a:t>
            </a:r>
            <a:endParaRPr lang="en-US" sz="1200" dirty="0"/>
          </a:p>
        </p:txBody>
      </p:sp>
      <p:sp>
        <p:nvSpPr>
          <p:cNvPr id="98" name="Text 9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PROGRAM HEALTH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health at a glance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1498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2194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IaC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1635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1635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7939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7939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4243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4243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05472" y="233172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205472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 risk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59952" y="233172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759952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open req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149840" y="2194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▬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548640" y="297180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Compliance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81635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81635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7939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27939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4243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4243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0547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205472" y="3319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75995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59952" y="3319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staffed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14984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548640" y="374904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13232" y="3749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Optimization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81635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81635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slipping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27939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27939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asks growing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742432" y="388620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74243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20547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205472" y="40965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adoption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759952" y="3886200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759952" y="40965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reqs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0149840" y="37490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2400" dirty="0"/>
          </a:p>
        </p:txBody>
      </p:sp>
      <p:sp>
        <p:nvSpPr>
          <p:cNvPr id="53" name="Shape 50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13232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ZephyrAI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2816352" y="466344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81635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279392" y="466344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27939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74243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74243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▲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20547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205472" y="48737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75995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759952" y="48737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hire pending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10149840" y="45262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▬</a:t>
            </a:r>
            <a:endParaRPr lang="en-US" sz="2400" dirty="0"/>
          </a:p>
        </p:txBody>
      </p:sp>
      <p:sp>
        <p:nvSpPr>
          <p:cNvPr id="66" name="Shape 63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777240" y="5715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TELLS US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and Compliance are healthy. Optimization needs attention on staffing and BU adoption. ZephyrAI is steady but watch budget.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WORKSTREAM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— Zephyr IaC + policy-as-code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infrastructure provisioning across the on-prem estate through the Zephyr IaC product line, with governance enforced as code.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modules — compute, network, storage, identity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framework — guardrails at pipeline gates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integration — change approval, SoD encoded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+ ZOP migration partnership for legacy estate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Tagging, naming, secrets, module-versioning standards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CI/CD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landing zones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self-service portal (FY27)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modules GA (compute, network); PaC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identity modules GA; governance gates live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EPS+ZOP migration wave 1; policy library top 20 controls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estate under code; second migration wave underway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(gates), Optimization (tagging), ZephyrAI (action interface)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(CMDB accuracy), Security (control catalog)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estate under Zephyr IaC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changes flowing through governed pipeline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caught pre-deploy vs. post-deploy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lead time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Platform Engineers · Release Engineers · Security Engineering liaison · Governance/Risk liaison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inaccuracy delaying coded coverage of legacy estate.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WORKSTREAM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— Zephyr Assurance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compliance visibility through Zephyr Assurance, with vulnerability and patch management already live and expanding.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Assurance product line — single pane for posture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Vulnerability &amp; Patch Management — LIVE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Control-to-evidence mapping for top frameworks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evidence collection feeding Audit/GRC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monitoring across codified estate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controls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DLP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vendor risk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&amp; Patch Mgmt expansion; assurance dashboard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#1 control-to-code; evidence automation pilot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#2 mapped; exception workflow live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platforms monitored; first automated audit cycle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Audit, GRC, regulators (evidence feed)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(pipeline gates), Platform teams (asset inventory)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coverage % under continuous monitoring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time-to-evidence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remediated within SLA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per cycle (trend)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GRC Engineers · Security Architects · Compliance Analysts · Internal Audit liaison · Vuln Mgmt SMEs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 pace gated by manual control interpretation work.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WORKSTREAM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— capacity &amp; rationalization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utilization, consumption visibility, and platform rationalization through partnership with the Capacity Management platform.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Mgmt partnership — utilization &amp; recommendations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Home-of-best-fit workload placement program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rationalization — retire redundant platforms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tracking — workloads moving to target platforms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/ showback to business units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 strategy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FinOps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 negotiation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Mgmt integration live; rationalization candidates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retirement wave; home-of-best-fit recs engine GA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live to top BUs; second retirement wave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target: $X reclaimed, N platforms retired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(chargeback), Platform teams (rationalization roadmap)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(tagging), Capacity Mgmt (telemetry), Platform teams (workload owners)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 by platform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workloads relocated to home-of-best-fit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redundant platforms retired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reclaimed (annualized)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Capacity Engineers · Platform Engineers · FinOps Analyst · Finance Business Partner · Migration Engineers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Workload-owner identification gaps stalling retirement waves.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WORKSTREAM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ZephyrAI — agents for platform ops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that bring efficiencies to platform operations — agentic automation that does the work. Prediction &amp; observability are out of scope (Intelligent Ops program).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Patching Agent (paired with Assurance)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Agent (Q2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Recertification Agent (Q3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Reclamation Agent (Q4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 — execution, guardrails, audit trail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prediction (Intelligent Ops)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AI / generative content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infrastructure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Patching Agent at 'recommend'; platform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Patching at 'act w/ approval'; Cert agent pilot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Recert pilot; first agent autonomous (where safe)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in production; FY27 backlog prioritized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(toil reduction), Compliance (faster remediation)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(action interface), Compliance (vuln signal), Platform teams (runbook handoff)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agents in production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eligible toil tasks executed by agents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Agent-handled vs. human-handled actions (by category)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hours reclaimed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ML/AI Engineers · Platform Engineers · SRE liaison · Product Manager · Security review partner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threshold to move agents from 'recommend' to 'act' — guardrails must be defensible.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CROSS-PLATFORM DEPENDENCIES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platforms wait on each other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84832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39312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what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28432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91472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84832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39312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 for new HA tier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28432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509760" y="236372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8408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84832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39312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storage policy for archive offload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28432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09760" y="286664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8408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084832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39312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Top-of-rack refresh in zone 3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028432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09760" y="33695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78408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084832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639312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 for messaging brokers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28432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509760" y="38724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78408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13232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084832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639312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of legacy hosts blocking SAN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028432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9760" y="4375404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78408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13232" y="4709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2084832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3639312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tagging standard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028432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9509760" y="48783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9784080" y="4709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23560"/>
            <a:ext cx="228600" cy="22860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109728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Inter-platform blockers don't get raised by platform leads alone — this view forces them into the open.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·  DATABASE METRICS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— what we track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dimensions tracked across all engines — these roll up into the headline RAG status.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&amp; DR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stay up? Will it survive failure?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4008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/ SLA per engine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events (planned / unplanned)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success rate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drill posture · last test date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4899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4899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20116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6047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8615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queries fast enough?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44043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p95 / p99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query count (trend)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saturation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problematic queries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934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4934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1168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6082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&amp; Growth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8650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ahead of demand?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24078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utilization %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Days-to-full projection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CPU / memory headroom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vs forecast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utilization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94969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94969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850" y="201168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6117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08685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Patched, controlled, audit-ready?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04113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% (Vuln &amp; Patch Mgmt)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engine count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reviews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coverage (rest / transit)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4864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43400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012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&amp; Drift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8580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estate codified and converging?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64008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estate under Zephyr IaC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 per month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(caught vs missed)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provision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 rate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34899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334899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4343400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76047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Incidents &amp; Toil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48615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burning, and how much human time?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344043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/ P2 incident count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by severity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hours per week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auto-resolved by agents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bugs raised by Ops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14934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614934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343400"/>
            <a:ext cx="201168" cy="20116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56082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Optimization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628650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spending what we should?</a:t>
            </a:r>
            <a:endParaRPr lang="en-US" sz="950" dirty="0"/>
          </a:p>
        </p:txBody>
      </p:sp>
      <p:sp>
        <p:nvSpPr>
          <p:cNvPr id="48" name="Text 38"/>
          <p:cNvSpPr/>
          <p:nvPr/>
        </p:nvSpPr>
        <p:spPr>
          <a:xfrm>
            <a:off x="624078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costs (trend)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opportunities open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reclaimed (annualized)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relocated · home-of-best-fit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adoption %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894969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894969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6850" y="4343400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36117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&amp; Modernization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908685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old, leaving, joining?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904113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versions in production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engines remaining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completed this quarter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Decommissions completed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onboardings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one product team per platform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Operations are one team — here's the case, and why Ops sit at the table as dedicated members.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344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outcomes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builds. Operations runs. Both own whether the platform succeeds. Splitting them creates handoff gaps where accountability dilutes — neither side fully owns the result.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824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24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653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9682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reality on the table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682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bring real-world context into every planning conversation. Issues come back as prioritized bugs the team commits to fixing — not tickets queued in a separate system that engineering 'gets to when they get to it.'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162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162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991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7020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 with workstreams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020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IaC, Compliance, Optimization, ZephyrAI all act on the platform. With one product team, workstreams engage a single backlog instead of negotiating across silos.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24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OPERATIONS ARE DEDICATED MEMBERS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7804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consulted. Not on retainer. Members of the team.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awareness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323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know what's being built because they're in the planning room from day one. No surprises in production — no 'we didn't know about that change.'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34899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34899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51358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89763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become bugs, not tickets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51358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the team commits to fixing it in sprint. Production pain is engineering's pain — tracked and prioritized the same way as feature work.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4934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4934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1393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69798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design from day one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31393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account for runbooks, alerting, capacity, and incident response — because Ops voices are present when those decisions are made.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94969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94969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11428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949833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Continuity of ownership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11428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team that designs the runbook is the one that executes it. No 'throw it over the wall,' no learning the system from outside.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·  OPERATING MODEL - DATABASE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what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named owners on the platform team. Same model applies to each platform.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103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 (TBD)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prioritization · service owner . platform demand · business interface · own permit to operate checklist and approvals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8892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8892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260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Lead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· blockers · dependencies · delivery commitments to steering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2608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260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920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663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6636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design · code review · technical direction · management &amp; coaching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6636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6636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Xev</a:t>
            </a: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Gittler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6948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26948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06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0664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IaC modules · automation · integrations · agent contributions · Product certifications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40664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4066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06640" y="385363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"/>
              </a:spcAft>
              <a:buFont typeface="+mj-lt"/>
              <a:buAutoNum type="arabicPeriod"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 Paci</a:t>
            </a:r>
            <a:endParaRPr lang="en-US" sz="1200" dirty="0"/>
          </a:p>
          <a:p>
            <a:pPr marL="228600" indent="-228600">
              <a:spcAft>
                <a:spcPts val="100"/>
              </a:spcAft>
              <a:buFont typeface="+mj-lt"/>
              <a:buAutoNum type="arabicPeriod"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Joravarsinh Sarvaiya</a:t>
            </a:r>
            <a:endParaRPr lang="en-US" sz="1200" dirty="0"/>
          </a:p>
          <a:p>
            <a:pPr marL="228600" indent="-228600">
              <a:spcAft>
                <a:spcPts val="100"/>
              </a:spcAft>
              <a:buFont typeface="+mj-lt"/>
              <a:buAutoNum type="arabicPeriod"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Mohammed</a:t>
            </a:r>
          </a:p>
          <a:p>
            <a:pPr marL="228600" indent="-228600">
              <a:spcAft>
                <a:spcPts val="100"/>
              </a:spcAft>
              <a:buFont typeface="+mj-lt"/>
              <a:buAutoNum type="arabicPeriod"/>
            </a:pPr>
            <a:r>
              <a:rPr lang="en-US" sz="1200" b="1" dirty="0" err="1">
                <a:solidFill>
                  <a:srgbClr val="001F47"/>
                </a:solidFill>
                <a:latin typeface="Trebuchet MS" pitchFamily="34" charset="0"/>
              </a:rPr>
              <a:t>Sthanunathan</a:t>
            </a:r>
            <a:endParaRPr lang="en-US" sz="1200" b="1" dirty="0">
              <a:solidFill>
                <a:srgbClr val="001F47"/>
              </a:solidFill>
              <a:latin typeface="Trebuchet MS" pitchFamily="34" charset="0"/>
            </a:endParaRPr>
          </a:p>
          <a:p>
            <a:pPr marL="228600" indent="-228600">
              <a:spcAft>
                <a:spcPts val="100"/>
              </a:spcAft>
              <a:buFont typeface="+mj-lt"/>
              <a:buAutoNum type="arabicPeriod"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</a:rPr>
              <a:t>Nilesh Patel</a:t>
            </a:r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50976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509760" y="1920240"/>
            <a:ext cx="2103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6469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/ SRE (TBD)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64692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members · run platform · on-call · Automation · incident response · production issues raised as prioritized bugs · backlog contributor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64692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6469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646920" y="3749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77240" y="50749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backlog · joint sprint planning · Operations members are dedicated, not consulted · production issues raised as prioritized bugs · architecture &amp; security liaisons embedded · workstreams engage the team, not individuals.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risks we must manage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with this operating model — and how we mitigate.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human abstraction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48716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absorbs production pain that should reach engineering. Engineers drift away from operational reality.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3375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35478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Error-budget policy with feature freeze when budget burns · option to return the pager · track production-bug % of sprint capacity as leading indicator.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72200" y="192024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7220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ticket-handling sysadmin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48716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55080" y="2697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ops seats are filled by traditional sysadmins, the team bottlenecks on tickets. Backlog fills with low-value items.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55080" y="32461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55080" y="33375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55080" y="35478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SREs against software-engineering bar · pay on engineering scale · enforce 50% toil cap per Google SRE.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" y="429768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8640" y="429768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18872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backlogs masquerading as one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" y="4864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1520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shared backlog, ops work can drift into a parallel queue invisible to the Product Owner.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15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31520" y="57150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59253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items as first-class stories with story points and acceptance criteria · joint DORA Four Keys + SLO + toil % metrics.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7220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172200" y="429768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172200" y="429768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17220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81228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nobody uses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55080" y="4864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55080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platform teams without internal-customer feedback build the wrong things at the wrong time.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35508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55080" y="57150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355080" y="59253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Team API · treat platform as product with PM and adoption metrics · start with Thinnest Viable Platform.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Anti-patterns we avoid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documented across industry — and how we steer clear.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391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 of confusion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15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declare DONE at feature-complete. Ops inherit non-operable software.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 the planning room from day one. Operability is part of every story's definition of done.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824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824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0391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853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interrupt sink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653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4653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engineering time, ops becomes pure firefighting → burnout → exit.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653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4653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4653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toil cap. Ops contribute platform improvements that reduce future incidents.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0162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0162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20391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191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backlogs as one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1991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1991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has its own ticket queue; standup discusses features only; production work invisible to PO.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1991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81991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1991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backlog. Ops items are first-class stories with story points.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70832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515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SRE / rebranded sysadmin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315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315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renamed without changing behavior. Devs still throw feature-complete code over the wall.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315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315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315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hired against engineering bar. Same pay scale. Toil cap discipline.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2824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42824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437083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7853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CAB as approval gate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4653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44653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delay mechanism with no quality benefit. DORA: 2.6× correlation with low performance.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4653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44653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44653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Changes via paved-road pipeline. CAB only for material or novel changes.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80162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80162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4370832"/>
            <a:ext cx="219456" cy="219456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5191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Postmortem AIs that rot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1991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81991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error-budget visibility, action items lose to feature work every sprint.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81991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/>
          <p:nvPr/>
        </p:nvSpPr>
        <p:spPr>
          <a:xfrm>
            <a:off x="81991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81991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are first-class backlog items with named owners, due dates, and steering visibility.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 ·  CLOSEOUT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· Parking lot · Watchlist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61188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MADE 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live · distributed within 24 hours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25112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25112" y="1783080"/>
            <a:ext cx="3611880" cy="640080"/>
          </a:xfrm>
          <a:prstGeom prst="rect">
            <a:avLst/>
          </a:prstGeom>
          <a:solidFill>
            <a:srgbClr val="C9A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07992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PARKING LOT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07992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· reviewed at start of next meeting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07992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07992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07992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07992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07992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07992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07992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07992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01584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101584" y="1783080"/>
            <a:ext cx="361188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84464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STEERING WATCHLIST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84464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chair wants you to know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284464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84464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consolidation — 3 monitoring tools, study underway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84464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84464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risk — 2 of 4 Tech Leads are SPOFs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284464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84464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horizon — new data residency rule expected Q4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284464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84464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review — agents moving 'recommend' → 'act' Q3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284464" y="5193792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84464" y="526694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 — SOC 2 fieldwork begins in 8 weeks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steering meeting: [Date]  ·  Pre-read distributed [Date - 2]  ·  Parking lot reviewed at the top of the next session.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4143</Words>
  <Application>Microsoft Macintosh PowerPoint</Application>
  <PresentationFormat>Widescreen</PresentationFormat>
  <Paragraphs>813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Zephyr On-Prem Steering Committee</dc:title>
  <dc:subject>PptxGenJS Presentation</dc:subject>
  <dc:creator>Dhwanil</dc:creator>
  <cp:lastModifiedBy>Dhwanil Raval</cp:lastModifiedBy>
  <cp:revision>5</cp:revision>
  <dcterms:created xsi:type="dcterms:W3CDTF">2026-04-26T02:55:39Z</dcterms:created>
  <dcterms:modified xsi:type="dcterms:W3CDTF">2026-04-26T18:48:47Z</dcterms:modified>
</cp:coreProperties>
</file>