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47"/>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003168"/>
          </a:solidFill>
          <a:ln/>
        </p:spPr>
      </p:sp>
      <p:sp>
        <p:nvSpPr>
          <p:cNvPr id="3" name="Shape 1"/>
          <p:cNvSpPr/>
          <p:nvPr/>
        </p:nvSpPr>
        <p:spPr>
          <a:xfrm>
            <a:off x="8686800" y="-1828800"/>
            <a:ext cx="6400800" cy="6400800"/>
          </a:xfrm>
          <a:prstGeom prst="ellipse">
            <a:avLst/>
          </a:prstGeom>
          <a:solidFill>
            <a:srgbClr val="0051A5">
              <a:alpha val="30000"/>
            </a:srgbClr>
          </a:solidFill>
          <a:ln/>
        </p:spPr>
      </p:sp>
      <p:pic>
        <p:nvPicPr>
          <p:cNvPr id="4" name="Image 0" descr="preencoded.png">    </p:cNvPr>
          <p:cNvPicPr>
            <a:picLocks noChangeAspect="1"/>
          </p:cNvPicPr>
          <p:nvPr/>
        </p:nvPicPr>
        <p:blipFill>
          <a:blip r:embed="rId1"/>
          <a:stretch>
            <a:fillRect/>
          </a:stretch>
        </p:blipFill>
        <p:spPr>
          <a:xfrm>
            <a:off x="640080" y="548640"/>
            <a:ext cx="1097280" cy="1435608"/>
          </a:xfrm>
          <a:prstGeom prst="rect">
            <a:avLst/>
          </a:prstGeom>
        </p:spPr>
      </p:pic>
      <p:sp>
        <p:nvSpPr>
          <p:cNvPr id="5" name="Text 2"/>
          <p:cNvSpPr/>
          <p:nvPr/>
        </p:nvSpPr>
        <p:spPr>
          <a:xfrm>
            <a:off x="640080" y="2377440"/>
            <a:ext cx="10058400" cy="274320"/>
          </a:xfrm>
          <a:prstGeom prst="rect">
            <a:avLst/>
          </a:prstGeom>
          <a:noFill/>
          <a:ln/>
        </p:spPr>
        <p:txBody>
          <a:bodyPr wrap="square" lIns="0" tIns="0" rIns="0" bIns="0" rtlCol="0" anchor="ctr"/>
          <a:lstStyle/>
          <a:p>
            <a:pPr indent="0" marL="0">
              <a:buNone/>
            </a:pPr>
            <a:r>
              <a:rPr lang="en-US" sz="1200" b="1" spc="600" kern="0" dirty="0">
                <a:solidFill>
                  <a:srgbClr val="FEDF01"/>
                </a:solidFill>
                <a:latin typeface="Trebuchet MS" pitchFamily="34" charset="0"/>
                <a:ea typeface="Trebuchet MS" pitchFamily="34" charset="-122"/>
                <a:cs typeface="Trebuchet MS" pitchFamily="34" charset="-120"/>
              </a:rPr>
              <a:t>EXECUTIVE STEERING COMMITTEE  ·  INAUGURAL SESSION</a:t>
            </a:r>
            <a:endParaRPr lang="en-US" sz="1200" dirty="0"/>
          </a:p>
        </p:txBody>
      </p:sp>
      <p:sp>
        <p:nvSpPr>
          <p:cNvPr id="6" name="Text 3"/>
          <p:cNvSpPr/>
          <p:nvPr/>
        </p:nvSpPr>
        <p:spPr>
          <a:xfrm>
            <a:off x="640080" y="2743200"/>
            <a:ext cx="10972800" cy="1371600"/>
          </a:xfrm>
          <a:prstGeom prst="rect">
            <a:avLst/>
          </a:prstGeom>
          <a:noFill/>
          <a:ln/>
        </p:spPr>
        <p:txBody>
          <a:bodyPr wrap="square" lIns="0" tIns="0" rIns="0" bIns="0" rtlCol="0" anchor="ctr"/>
          <a:lstStyle/>
          <a:p>
            <a:pPr indent="0" marL="0">
              <a:buNone/>
            </a:pPr>
            <a:r>
              <a:rPr lang="en-US" sz="7200" b="1" dirty="0">
                <a:solidFill>
                  <a:srgbClr val="FFFFFF"/>
                </a:solidFill>
                <a:latin typeface="Trebuchet MS" pitchFamily="34" charset="0"/>
                <a:ea typeface="Trebuchet MS" pitchFamily="34" charset="-122"/>
                <a:cs typeface="Trebuchet MS" pitchFamily="34" charset="-120"/>
              </a:rPr>
              <a:t>Zephyr On-Prem</a:t>
            </a:r>
            <a:endParaRPr lang="en-US" sz="7200" dirty="0"/>
          </a:p>
        </p:txBody>
      </p:sp>
      <p:sp>
        <p:nvSpPr>
          <p:cNvPr id="7" name="Shape 4"/>
          <p:cNvSpPr/>
          <p:nvPr/>
        </p:nvSpPr>
        <p:spPr>
          <a:xfrm>
            <a:off x="685800" y="4069080"/>
            <a:ext cx="548640" cy="54864"/>
          </a:xfrm>
          <a:prstGeom prst="rect">
            <a:avLst/>
          </a:prstGeom>
          <a:solidFill>
            <a:srgbClr val="FEDF01"/>
          </a:solidFill>
          <a:ln/>
        </p:spPr>
      </p:sp>
      <p:sp>
        <p:nvSpPr>
          <p:cNvPr id="8" name="Text 5"/>
          <p:cNvSpPr/>
          <p:nvPr/>
        </p:nvSpPr>
        <p:spPr>
          <a:xfrm>
            <a:off x="640080" y="4251960"/>
            <a:ext cx="10972800" cy="548640"/>
          </a:xfrm>
          <a:prstGeom prst="rect">
            <a:avLst/>
          </a:prstGeom>
          <a:noFill/>
          <a:ln/>
        </p:spPr>
        <p:txBody>
          <a:bodyPr wrap="square" lIns="0" tIns="0" rIns="0" bIns="0" rtlCol="0" anchor="ctr"/>
          <a:lstStyle/>
          <a:p>
            <a:pPr indent="0" marL="0">
              <a:buNone/>
            </a:pPr>
            <a:r>
              <a:rPr lang="en-US" sz="2200" i="1" dirty="0">
                <a:solidFill>
                  <a:srgbClr val="E6EEF8"/>
                </a:solidFill>
                <a:latin typeface="Trebuchet MS" pitchFamily="34" charset="0"/>
                <a:ea typeface="Trebuchet MS" pitchFamily="34" charset="-122"/>
                <a:cs typeface="Trebuchet MS" pitchFamily="34" charset="-120"/>
              </a:rPr>
              <a:t>Modernizing the private cloud through code, compliance, optimization, and AI.</a:t>
            </a:r>
            <a:endParaRPr lang="en-US" sz="2200" dirty="0"/>
          </a:p>
        </p:txBody>
      </p:sp>
      <p:sp>
        <p:nvSpPr>
          <p:cNvPr id="9" name="Shape 6"/>
          <p:cNvSpPr/>
          <p:nvPr/>
        </p:nvSpPr>
        <p:spPr>
          <a:xfrm>
            <a:off x="640080" y="5212080"/>
            <a:ext cx="2468880" cy="777240"/>
          </a:xfrm>
          <a:prstGeom prst="rect">
            <a:avLst/>
          </a:prstGeom>
          <a:solidFill>
            <a:srgbClr val="001F47"/>
          </a:solidFill>
          <a:ln w="12700">
            <a:solidFill>
              <a:srgbClr val="FEDF01"/>
            </a:solidFill>
            <a:prstDash val="solid"/>
          </a:ln>
        </p:spPr>
      </p:sp>
      <p:pic>
        <p:nvPicPr>
          <p:cNvPr id="10" name="Image 1" descr="preencoded.png">    </p:cNvPr>
          <p:cNvPicPr>
            <a:picLocks noChangeAspect="1"/>
          </p:cNvPicPr>
          <p:nvPr/>
        </p:nvPicPr>
        <p:blipFill>
          <a:blip r:embed="rId2"/>
          <a:stretch>
            <a:fillRect/>
          </a:stretch>
        </p:blipFill>
        <p:spPr>
          <a:xfrm>
            <a:off x="804672" y="5413248"/>
            <a:ext cx="365760" cy="365760"/>
          </a:xfrm>
          <a:prstGeom prst="rect">
            <a:avLst/>
          </a:prstGeom>
        </p:spPr>
      </p:pic>
      <p:sp>
        <p:nvSpPr>
          <p:cNvPr id="11" name="Text 7"/>
          <p:cNvSpPr/>
          <p:nvPr/>
        </p:nvSpPr>
        <p:spPr>
          <a:xfrm>
            <a:off x="1234440" y="5212080"/>
            <a:ext cx="1874520" cy="7772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01  IaC</a:t>
            </a:r>
            <a:endParaRPr lang="en-US" sz="1400" dirty="0"/>
          </a:p>
        </p:txBody>
      </p:sp>
      <p:sp>
        <p:nvSpPr>
          <p:cNvPr id="12" name="Shape 8"/>
          <p:cNvSpPr/>
          <p:nvPr/>
        </p:nvSpPr>
        <p:spPr>
          <a:xfrm>
            <a:off x="3383280" y="5212080"/>
            <a:ext cx="2468880" cy="777240"/>
          </a:xfrm>
          <a:prstGeom prst="rect">
            <a:avLst/>
          </a:prstGeom>
          <a:solidFill>
            <a:srgbClr val="001F47"/>
          </a:solidFill>
          <a:ln w="12700">
            <a:solidFill>
              <a:srgbClr val="FEDF01"/>
            </a:solidFill>
            <a:prstDash val="solid"/>
          </a:ln>
        </p:spPr>
      </p:sp>
      <p:pic>
        <p:nvPicPr>
          <p:cNvPr id="13" name="Image 2" descr="preencoded.png">    </p:cNvPr>
          <p:cNvPicPr>
            <a:picLocks noChangeAspect="1"/>
          </p:cNvPicPr>
          <p:nvPr/>
        </p:nvPicPr>
        <p:blipFill>
          <a:blip r:embed="rId3"/>
          <a:stretch>
            <a:fillRect/>
          </a:stretch>
        </p:blipFill>
        <p:spPr>
          <a:xfrm>
            <a:off x="3547872" y="5413248"/>
            <a:ext cx="365760" cy="365760"/>
          </a:xfrm>
          <a:prstGeom prst="rect">
            <a:avLst/>
          </a:prstGeom>
        </p:spPr>
      </p:pic>
      <p:sp>
        <p:nvSpPr>
          <p:cNvPr id="14" name="Text 9"/>
          <p:cNvSpPr/>
          <p:nvPr/>
        </p:nvSpPr>
        <p:spPr>
          <a:xfrm>
            <a:off x="3977640" y="5212080"/>
            <a:ext cx="1874520" cy="7772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02  Compliance Reporting</a:t>
            </a:r>
            <a:endParaRPr lang="en-US" sz="1400" dirty="0"/>
          </a:p>
        </p:txBody>
      </p:sp>
      <p:sp>
        <p:nvSpPr>
          <p:cNvPr id="15" name="Shape 10"/>
          <p:cNvSpPr/>
          <p:nvPr/>
        </p:nvSpPr>
        <p:spPr>
          <a:xfrm>
            <a:off x="6126480" y="5212080"/>
            <a:ext cx="2468880" cy="777240"/>
          </a:xfrm>
          <a:prstGeom prst="rect">
            <a:avLst/>
          </a:prstGeom>
          <a:solidFill>
            <a:srgbClr val="001F47"/>
          </a:solidFill>
          <a:ln w="12700">
            <a:solidFill>
              <a:srgbClr val="FEDF01"/>
            </a:solidFill>
            <a:prstDash val="solid"/>
          </a:ln>
        </p:spPr>
      </p:sp>
      <p:pic>
        <p:nvPicPr>
          <p:cNvPr id="16" name="Image 3" descr="preencoded.png">    </p:cNvPr>
          <p:cNvPicPr>
            <a:picLocks noChangeAspect="1"/>
          </p:cNvPicPr>
          <p:nvPr/>
        </p:nvPicPr>
        <p:blipFill>
          <a:blip r:embed="rId4"/>
          <a:stretch>
            <a:fillRect/>
          </a:stretch>
        </p:blipFill>
        <p:spPr>
          <a:xfrm>
            <a:off x="6291072" y="5413248"/>
            <a:ext cx="365760" cy="365760"/>
          </a:xfrm>
          <a:prstGeom prst="rect">
            <a:avLst/>
          </a:prstGeom>
        </p:spPr>
      </p:pic>
      <p:sp>
        <p:nvSpPr>
          <p:cNvPr id="17" name="Text 11"/>
          <p:cNvSpPr/>
          <p:nvPr/>
        </p:nvSpPr>
        <p:spPr>
          <a:xfrm>
            <a:off x="6720840" y="5212080"/>
            <a:ext cx="1874520" cy="7772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03  Optimization</a:t>
            </a:r>
            <a:endParaRPr lang="en-US" sz="1400" dirty="0"/>
          </a:p>
        </p:txBody>
      </p:sp>
      <p:sp>
        <p:nvSpPr>
          <p:cNvPr id="18" name="Shape 12"/>
          <p:cNvSpPr/>
          <p:nvPr/>
        </p:nvSpPr>
        <p:spPr>
          <a:xfrm>
            <a:off x="8869680" y="5212080"/>
            <a:ext cx="2468880" cy="777240"/>
          </a:xfrm>
          <a:prstGeom prst="rect">
            <a:avLst/>
          </a:prstGeom>
          <a:solidFill>
            <a:srgbClr val="001F47"/>
          </a:solidFill>
          <a:ln w="12700">
            <a:solidFill>
              <a:srgbClr val="FEDF01"/>
            </a:solidFill>
            <a:prstDash val="solid"/>
          </a:ln>
        </p:spPr>
      </p:sp>
      <p:pic>
        <p:nvPicPr>
          <p:cNvPr id="19" name="Image 4" descr="preencoded.png">    </p:cNvPr>
          <p:cNvPicPr>
            <a:picLocks noChangeAspect="1"/>
          </p:cNvPicPr>
          <p:nvPr/>
        </p:nvPicPr>
        <p:blipFill>
          <a:blip r:embed="rId5"/>
          <a:stretch>
            <a:fillRect/>
          </a:stretch>
        </p:blipFill>
        <p:spPr>
          <a:xfrm>
            <a:off x="9034272" y="5413248"/>
            <a:ext cx="365760" cy="365760"/>
          </a:xfrm>
          <a:prstGeom prst="rect">
            <a:avLst/>
          </a:prstGeom>
        </p:spPr>
      </p:pic>
      <p:sp>
        <p:nvSpPr>
          <p:cNvPr id="20" name="Text 13"/>
          <p:cNvSpPr/>
          <p:nvPr/>
        </p:nvSpPr>
        <p:spPr>
          <a:xfrm>
            <a:off x="9464040" y="5212080"/>
            <a:ext cx="1874520" cy="7772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04  ZephyrAI</a:t>
            </a:r>
            <a:endParaRPr lang="en-US" sz="1400" dirty="0"/>
          </a:p>
        </p:txBody>
      </p:sp>
      <p:sp>
        <p:nvSpPr>
          <p:cNvPr id="21" name="Text 14"/>
          <p:cNvSpPr/>
          <p:nvPr/>
        </p:nvSpPr>
        <p:spPr>
          <a:xfrm>
            <a:off x="640080" y="6400800"/>
            <a:ext cx="7315200" cy="274320"/>
          </a:xfrm>
          <a:prstGeom prst="rect">
            <a:avLst/>
          </a:prstGeom>
          <a:noFill/>
          <a:ln/>
        </p:spPr>
        <p:txBody>
          <a:bodyPr wrap="square" lIns="0" tIns="0" rIns="0" bIns="0" rtlCol="0" anchor="ctr"/>
          <a:lstStyle/>
          <a:p>
            <a:pPr indent="0" marL="0">
              <a:buNone/>
            </a:pPr>
            <a:r>
              <a:rPr lang="en-US" sz="1100" dirty="0">
                <a:solidFill>
                  <a:srgbClr val="E6EEF8"/>
                </a:solidFill>
                <a:latin typeface="Calibri" pitchFamily="34" charset="0"/>
                <a:ea typeface="Calibri" pitchFamily="34" charset="-122"/>
                <a:cs typeface="Calibri" pitchFamily="34" charset="-120"/>
              </a:rPr>
              <a:t>Prepared for the Steering Committee  ·  Q2 FY26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AGENDA  ·  90 MINUTES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Today's session</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411480"/>
          </a:xfrm>
          <a:prstGeom prst="rect">
            <a:avLst/>
          </a:prstGeom>
          <a:solidFill>
            <a:srgbClr val="0051A5"/>
          </a:solidFill>
          <a:ln/>
        </p:spPr>
      </p:sp>
      <p:sp>
        <p:nvSpPr>
          <p:cNvPr id="7" name="Text 4"/>
          <p:cNvSpPr/>
          <p:nvPr/>
        </p:nvSpPr>
        <p:spPr>
          <a:xfrm>
            <a:off x="713232" y="1783080"/>
            <a:ext cx="128016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Trebuchet MS" pitchFamily="34" charset="0"/>
                <a:ea typeface="Trebuchet MS" pitchFamily="34" charset="-122"/>
                <a:cs typeface="Trebuchet MS" pitchFamily="34" charset="-120"/>
              </a:rPr>
              <a:t>Time</a:t>
            </a:r>
            <a:endParaRPr lang="en-US" sz="1100" dirty="0"/>
          </a:p>
        </p:txBody>
      </p:sp>
      <p:sp>
        <p:nvSpPr>
          <p:cNvPr id="8" name="Text 5"/>
          <p:cNvSpPr/>
          <p:nvPr/>
        </p:nvSpPr>
        <p:spPr>
          <a:xfrm>
            <a:off x="2176272" y="1783080"/>
            <a:ext cx="393192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Trebuchet MS" pitchFamily="34" charset="0"/>
                <a:ea typeface="Trebuchet MS" pitchFamily="34" charset="-122"/>
                <a:cs typeface="Trebuchet MS" pitchFamily="34" charset="-120"/>
              </a:rPr>
              <a:t>Topic</a:t>
            </a:r>
            <a:endParaRPr lang="en-US" sz="1100" dirty="0"/>
          </a:p>
        </p:txBody>
      </p:sp>
      <p:sp>
        <p:nvSpPr>
          <p:cNvPr id="9" name="Text 6"/>
          <p:cNvSpPr/>
          <p:nvPr/>
        </p:nvSpPr>
        <p:spPr>
          <a:xfrm>
            <a:off x="6291072" y="1783080"/>
            <a:ext cx="219456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Trebuchet MS" pitchFamily="34" charset="0"/>
                <a:ea typeface="Trebuchet MS" pitchFamily="34" charset="-122"/>
                <a:cs typeface="Trebuchet MS" pitchFamily="34" charset="-120"/>
              </a:rPr>
              <a:t>Owner</a:t>
            </a:r>
            <a:endParaRPr lang="en-US" sz="1100" dirty="0"/>
          </a:p>
        </p:txBody>
      </p:sp>
      <p:sp>
        <p:nvSpPr>
          <p:cNvPr id="10" name="Text 7"/>
          <p:cNvSpPr/>
          <p:nvPr/>
        </p:nvSpPr>
        <p:spPr>
          <a:xfrm>
            <a:off x="8668512" y="1783080"/>
            <a:ext cx="2926080" cy="4114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Trebuchet MS" pitchFamily="34" charset="0"/>
                <a:ea typeface="Trebuchet MS" pitchFamily="34" charset="-122"/>
                <a:cs typeface="Trebuchet MS" pitchFamily="34" charset="-120"/>
              </a:rPr>
              <a:t>Outcome sought</a:t>
            </a:r>
            <a:endParaRPr lang="en-US" sz="1100" dirty="0"/>
          </a:p>
        </p:txBody>
      </p:sp>
      <p:sp>
        <p:nvSpPr>
          <p:cNvPr id="11" name="Shape 8"/>
          <p:cNvSpPr/>
          <p:nvPr/>
        </p:nvSpPr>
        <p:spPr>
          <a:xfrm>
            <a:off x="548640" y="2194560"/>
            <a:ext cx="11064240" cy="502920"/>
          </a:xfrm>
          <a:prstGeom prst="rect">
            <a:avLst/>
          </a:prstGeom>
          <a:solidFill>
            <a:srgbClr val="F6F8FB"/>
          </a:solidFill>
          <a:ln w="6350">
            <a:solidFill>
              <a:srgbClr val="D6DEE8"/>
            </a:solidFill>
            <a:prstDash val="solid"/>
          </a:ln>
        </p:spPr>
      </p:sp>
      <p:sp>
        <p:nvSpPr>
          <p:cNvPr id="12" name="Text 9"/>
          <p:cNvSpPr/>
          <p:nvPr/>
        </p:nvSpPr>
        <p:spPr>
          <a:xfrm>
            <a:off x="713232" y="219456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0:00–0:05</a:t>
            </a:r>
            <a:endParaRPr lang="en-US" sz="1150" dirty="0"/>
          </a:p>
        </p:txBody>
      </p:sp>
      <p:sp>
        <p:nvSpPr>
          <p:cNvPr id="13" name="Text 10"/>
          <p:cNvSpPr/>
          <p:nvPr/>
        </p:nvSpPr>
        <p:spPr>
          <a:xfrm>
            <a:off x="2176272" y="219456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Welcome &amp; meeting objectives</a:t>
            </a:r>
            <a:endParaRPr lang="en-US" sz="1150" dirty="0"/>
          </a:p>
        </p:txBody>
      </p:sp>
      <p:sp>
        <p:nvSpPr>
          <p:cNvPr id="14" name="Text 11"/>
          <p:cNvSpPr/>
          <p:nvPr/>
        </p:nvSpPr>
        <p:spPr>
          <a:xfrm>
            <a:off x="6291072" y="219456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Chair</a:t>
            </a:r>
            <a:endParaRPr lang="en-US" sz="1150" dirty="0"/>
          </a:p>
        </p:txBody>
      </p:sp>
      <p:sp>
        <p:nvSpPr>
          <p:cNvPr id="15" name="Text 12"/>
          <p:cNvSpPr/>
          <p:nvPr/>
        </p:nvSpPr>
        <p:spPr>
          <a:xfrm>
            <a:off x="8668512" y="219456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Alignment on purpose</a:t>
            </a:r>
            <a:endParaRPr lang="en-US" sz="1150" dirty="0"/>
          </a:p>
        </p:txBody>
      </p:sp>
      <p:sp>
        <p:nvSpPr>
          <p:cNvPr id="16" name="Shape 13"/>
          <p:cNvSpPr/>
          <p:nvPr/>
        </p:nvSpPr>
        <p:spPr>
          <a:xfrm>
            <a:off x="548640" y="2697480"/>
            <a:ext cx="11064240" cy="502920"/>
          </a:xfrm>
          <a:prstGeom prst="rect">
            <a:avLst/>
          </a:prstGeom>
          <a:solidFill>
            <a:srgbClr val="FFFFFF"/>
          </a:solidFill>
          <a:ln w="6350">
            <a:solidFill>
              <a:srgbClr val="D6DEE8"/>
            </a:solidFill>
            <a:prstDash val="solid"/>
          </a:ln>
        </p:spPr>
      </p:sp>
      <p:sp>
        <p:nvSpPr>
          <p:cNvPr id="17" name="Text 14"/>
          <p:cNvSpPr/>
          <p:nvPr/>
        </p:nvSpPr>
        <p:spPr>
          <a:xfrm>
            <a:off x="713232" y="269748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0:05–0:15</a:t>
            </a:r>
            <a:endParaRPr lang="en-US" sz="1150" dirty="0"/>
          </a:p>
        </p:txBody>
      </p:sp>
      <p:sp>
        <p:nvSpPr>
          <p:cNvPr id="18" name="Text 15"/>
          <p:cNvSpPr/>
          <p:nvPr/>
        </p:nvSpPr>
        <p:spPr>
          <a:xfrm>
            <a:off x="2176272" y="269748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Program overview &amp; RAG dashboard</a:t>
            </a:r>
            <a:endParaRPr lang="en-US" sz="1150" dirty="0"/>
          </a:p>
        </p:txBody>
      </p:sp>
      <p:sp>
        <p:nvSpPr>
          <p:cNvPr id="19" name="Text 16"/>
          <p:cNvSpPr/>
          <p:nvPr/>
        </p:nvSpPr>
        <p:spPr>
          <a:xfrm>
            <a:off x="6291072" y="269748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Program Director</a:t>
            </a:r>
            <a:endParaRPr lang="en-US" sz="1150" dirty="0"/>
          </a:p>
        </p:txBody>
      </p:sp>
      <p:sp>
        <p:nvSpPr>
          <p:cNvPr id="20" name="Text 17"/>
          <p:cNvSpPr/>
          <p:nvPr/>
        </p:nvSpPr>
        <p:spPr>
          <a:xfrm>
            <a:off x="8668512" y="269748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Shared situational awareness</a:t>
            </a:r>
            <a:endParaRPr lang="en-US" sz="1150" dirty="0"/>
          </a:p>
        </p:txBody>
      </p:sp>
      <p:sp>
        <p:nvSpPr>
          <p:cNvPr id="21" name="Shape 18"/>
          <p:cNvSpPr/>
          <p:nvPr/>
        </p:nvSpPr>
        <p:spPr>
          <a:xfrm>
            <a:off x="548640" y="3200400"/>
            <a:ext cx="11064240" cy="502920"/>
          </a:xfrm>
          <a:prstGeom prst="rect">
            <a:avLst/>
          </a:prstGeom>
          <a:solidFill>
            <a:srgbClr val="F6F8FB"/>
          </a:solidFill>
          <a:ln w="6350">
            <a:solidFill>
              <a:srgbClr val="D6DEE8"/>
            </a:solidFill>
            <a:prstDash val="solid"/>
          </a:ln>
        </p:spPr>
      </p:sp>
      <p:sp>
        <p:nvSpPr>
          <p:cNvPr id="22" name="Text 19"/>
          <p:cNvSpPr/>
          <p:nvPr/>
        </p:nvSpPr>
        <p:spPr>
          <a:xfrm>
            <a:off x="713232" y="320040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0:15–0:35</a:t>
            </a:r>
            <a:endParaRPr lang="en-US" sz="1150" dirty="0"/>
          </a:p>
        </p:txBody>
      </p:sp>
      <p:sp>
        <p:nvSpPr>
          <p:cNvPr id="23" name="Text 20"/>
          <p:cNvSpPr/>
          <p:nvPr/>
        </p:nvSpPr>
        <p:spPr>
          <a:xfrm>
            <a:off x="2176272" y="320040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Workstream highlights (5 min each)</a:t>
            </a:r>
            <a:endParaRPr lang="en-US" sz="1150" dirty="0"/>
          </a:p>
        </p:txBody>
      </p:sp>
      <p:sp>
        <p:nvSpPr>
          <p:cNvPr id="24" name="Text 21"/>
          <p:cNvSpPr/>
          <p:nvPr/>
        </p:nvSpPr>
        <p:spPr>
          <a:xfrm>
            <a:off x="6291072" y="320040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Workstream Leads</a:t>
            </a:r>
            <a:endParaRPr lang="en-US" sz="1150" dirty="0"/>
          </a:p>
        </p:txBody>
      </p:sp>
      <p:sp>
        <p:nvSpPr>
          <p:cNvPr id="25" name="Text 22"/>
          <p:cNvSpPr/>
          <p:nvPr/>
        </p:nvSpPr>
        <p:spPr>
          <a:xfrm>
            <a:off x="8668512" y="320040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Surface cross-cutting issues</a:t>
            </a:r>
            <a:endParaRPr lang="en-US" sz="1150" dirty="0"/>
          </a:p>
        </p:txBody>
      </p:sp>
      <p:sp>
        <p:nvSpPr>
          <p:cNvPr id="26" name="Shape 23"/>
          <p:cNvSpPr/>
          <p:nvPr/>
        </p:nvSpPr>
        <p:spPr>
          <a:xfrm>
            <a:off x="548640" y="3703320"/>
            <a:ext cx="11064240" cy="502920"/>
          </a:xfrm>
          <a:prstGeom prst="rect">
            <a:avLst/>
          </a:prstGeom>
          <a:solidFill>
            <a:srgbClr val="FFFFFF"/>
          </a:solidFill>
          <a:ln w="6350">
            <a:solidFill>
              <a:srgbClr val="D6DEE8"/>
            </a:solidFill>
            <a:prstDash val="solid"/>
          </a:ln>
        </p:spPr>
      </p:sp>
      <p:sp>
        <p:nvSpPr>
          <p:cNvPr id="27" name="Text 24"/>
          <p:cNvSpPr/>
          <p:nvPr/>
        </p:nvSpPr>
        <p:spPr>
          <a:xfrm>
            <a:off x="713232" y="370332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0:35–0:50</a:t>
            </a:r>
            <a:endParaRPr lang="en-US" sz="1150" dirty="0"/>
          </a:p>
        </p:txBody>
      </p:sp>
      <p:sp>
        <p:nvSpPr>
          <p:cNvPr id="28" name="Text 25"/>
          <p:cNvSpPr/>
          <p:nvPr/>
        </p:nvSpPr>
        <p:spPr>
          <a:xfrm>
            <a:off x="2176272" y="370332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Cross-platform dependencies</a:t>
            </a:r>
            <a:endParaRPr lang="en-US" sz="1150" dirty="0"/>
          </a:p>
        </p:txBody>
      </p:sp>
      <p:sp>
        <p:nvSpPr>
          <p:cNvPr id="29" name="Text 26"/>
          <p:cNvSpPr/>
          <p:nvPr/>
        </p:nvSpPr>
        <p:spPr>
          <a:xfrm>
            <a:off x="6291072" y="370332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Program Director</a:t>
            </a:r>
            <a:endParaRPr lang="en-US" sz="1150" dirty="0"/>
          </a:p>
        </p:txBody>
      </p:sp>
      <p:sp>
        <p:nvSpPr>
          <p:cNvPr id="30" name="Text 27"/>
          <p:cNvSpPr/>
          <p:nvPr/>
        </p:nvSpPr>
        <p:spPr>
          <a:xfrm>
            <a:off x="8668512" y="370332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Identify blockers to escalate</a:t>
            </a:r>
            <a:endParaRPr lang="en-US" sz="1150" dirty="0"/>
          </a:p>
        </p:txBody>
      </p:sp>
      <p:sp>
        <p:nvSpPr>
          <p:cNvPr id="31" name="Shape 28"/>
          <p:cNvSpPr/>
          <p:nvPr/>
        </p:nvSpPr>
        <p:spPr>
          <a:xfrm>
            <a:off x="548640" y="4206240"/>
            <a:ext cx="11064240" cy="502920"/>
          </a:xfrm>
          <a:prstGeom prst="rect">
            <a:avLst/>
          </a:prstGeom>
          <a:solidFill>
            <a:srgbClr val="F6F8FB"/>
          </a:solidFill>
          <a:ln w="6350">
            <a:solidFill>
              <a:srgbClr val="D6DEE8"/>
            </a:solidFill>
            <a:prstDash val="solid"/>
          </a:ln>
        </p:spPr>
      </p:sp>
      <p:sp>
        <p:nvSpPr>
          <p:cNvPr id="32" name="Text 29"/>
          <p:cNvSpPr/>
          <p:nvPr/>
        </p:nvSpPr>
        <p:spPr>
          <a:xfrm>
            <a:off x="713232" y="420624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0:50–1:15</a:t>
            </a:r>
            <a:endParaRPr lang="en-US" sz="1150" dirty="0"/>
          </a:p>
        </p:txBody>
      </p:sp>
      <p:sp>
        <p:nvSpPr>
          <p:cNvPr id="33" name="Text 30"/>
          <p:cNvSpPr/>
          <p:nvPr/>
        </p:nvSpPr>
        <p:spPr>
          <a:xfrm>
            <a:off x="2176272" y="420624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Platform deep-dive (rotating)</a:t>
            </a:r>
            <a:endParaRPr lang="en-US" sz="1150" dirty="0"/>
          </a:p>
        </p:txBody>
      </p:sp>
      <p:sp>
        <p:nvSpPr>
          <p:cNvPr id="34" name="Text 31"/>
          <p:cNvSpPr/>
          <p:nvPr/>
        </p:nvSpPr>
        <p:spPr>
          <a:xfrm>
            <a:off x="6291072" y="420624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Platform Lead</a:t>
            </a:r>
            <a:endParaRPr lang="en-US" sz="1150" dirty="0"/>
          </a:p>
        </p:txBody>
      </p:sp>
      <p:sp>
        <p:nvSpPr>
          <p:cNvPr id="35" name="Text 32"/>
          <p:cNvSpPr/>
          <p:nvPr/>
        </p:nvSpPr>
        <p:spPr>
          <a:xfrm>
            <a:off x="8668512" y="420624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Decisions on platform asks</a:t>
            </a:r>
            <a:endParaRPr lang="en-US" sz="1150" dirty="0"/>
          </a:p>
        </p:txBody>
      </p:sp>
      <p:sp>
        <p:nvSpPr>
          <p:cNvPr id="36" name="Shape 33"/>
          <p:cNvSpPr/>
          <p:nvPr/>
        </p:nvSpPr>
        <p:spPr>
          <a:xfrm>
            <a:off x="548640" y="4709160"/>
            <a:ext cx="11064240" cy="502920"/>
          </a:xfrm>
          <a:prstGeom prst="rect">
            <a:avLst/>
          </a:prstGeom>
          <a:solidFill>
            <a:srgbClr val="FFFFFF"/>
          </a:solidFill>
          <a:ln w="6350">
            <a:solidFill>
              <a:srgbClr val="D6DEE8"/>
            </a:solidFill>
            <a:prstDash val="solid"/>
          </a:ln>
        </p:spPr>
      </p:sp>
      <p:sp>
        <p:nvSpPr>
          <p:cNvPr id="37" name="Text 34"/>
          <p:cNvSpPr/>
          <p:nvPr/>
        </p:nvSpPr>
        <p:spPr>
          <a:xfrm>
            <a:off x="713232" y="470916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1:15–1:25</a:t>
            </a:r>
            <a:endParaRPr lang="en-US" sz="1150" dirty="0"/>
          </a:p>
        </p:txBody>
      </p:sp>
      <p:sp>
        <p:nvSpPr>
          <p:cNvPr id="38" name="Text 35"/>
          <p:cNvSpPr/>
          <p:nvPr/>
        </p:nvSpPr>
        <p:spPr>
          <a:xfrm>
            <a:off x="2176272" y="470916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Decisions, parking lot, watchlist</a:t>
            </a:r>
            <a:endParaRPr lang="en-US" sz="1150" dirty="0"/>
          </a:p>
        </p:txBody>
      </p:sp>
      <p:sp>
        <p:nvSpPr>
          <p:cNvPr id="39" name="Text 36"/>
          <p:cNvSpPr/>
          <p:nvPr/>
        </p:nvSpPr>
        <p:spPr>
          <a:xfrm>
            <a:off x="6291072" y="470916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Chair</a:t>
            </a:r>
            <a:endParaRPr lang="en-US" sz="1150" dirty="0"/>
          </a:p>
        </p:txBody>
      </p:sp>
      <p:sp>
        <p:nvSpPr>
          <p:cNvPr id="40" name="Text 37"/>
          <p:cNvSpPr/>
          <p:nvPr/>
        </p:nvSpPr>
        <p:spPr>
          <a:xfrm>
            <a:off x="8668512" y="470916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Capture commitments &amp; deferrals</a:t>
            </a:r>
            <a:endParaRPr lang="en-US" sz="1150" dirty="0"/>
          </a:p>
        </p:txBody>
      </p:sp>
      <p:sp>
        <p:nvSpPr>
          <p:cNvPr id="41" name="Shape 38"/>
          <p:cNvSpPr/>
          <p:nvPr/>
        </p:nvSpPr>
        <p:spPr>
          <a:xfrm>
            <a:off x="548640" y="5212080"/>
            <a:ext cx="11064240" cy="502920"/>
          </a:xfrm>
          <a:prstGeom prst="rect">
            <a:avLst/>
          </a:prstGeom>
          <a:solidFill>
            <a:srgbClr val="F6F8FB"/>
          </a:solidFill>
          <a:ln w="6350">
            <a:solidFill>
              <a:srgbClr val="D6DEE8"/>
            </a:solidFill>
            <a:prstDash val="solid"/>
          </a:ln>
        </p:spPr>
      </p:sp>
      <p:sp>
        <p:nvSpPr>
          <p:cNvPr id="42" name="Text 39"/>
          <p:cNvSpPr/>
          <p:nvPr/>
        </p:nvSpPr>
        <p:spPr>
          <a:xfrm>
            <a:off x="713232" y="5212080"/>
            <a:ext cx="1280160" cy="502920"/>
          </a:xfrm>
          <a:prstGeom prst="rect">
            <a:avLst/>
          </a:prstGeom>
          <a:noFill/>
          <a:ln/>
        </p:spPr>
        <p:txBody>
          <a:bodyPr wrap="square" lIns="0" tIns="0" rIns="0" bIns="0" rtlCol="0" anchor="ctr"/>
          <a:lstStyle/>
          <a:p>
            <a:pPr indent="0" marL="0">
              <a:buNone/>
            </a:pPr>
            <a:r>
              <a:rPr lang="en-US" sz="1150" b="1" dirty="0">
                <a:solidFill>
                  <a:srgbClr val="0051A5"/>
                </a:solidFill>
                <a:latin typeface="Calibri" pitchFamily="34" charset="0"/>
                <a:ea typeface="Calibri" pitchFamily="34" charset="-122"/>
                <a:cs typeface="Calibri" pitchFamily="34" charset="-120"/>
              </a:rPr>
              <a:t>1:25–1:30</a:t>
            </a:r>
            <a:endParaRPr lang="en-US" sz="1150" dirty="0"/>
          </a:p>
        </p:txBody>
      </p:sp>
      <p:sp>
        <p:nvSpPr>
          <p:cNvPr id="43" name="Text 40"/>
          <p:cNvSpPr/>
          <p:nvPr/>
        </p:nvSpPr>
        <p:spPr>
          <a:xfrm>
            <a:off x="2176272" y="5212080"/>
            <a:ext cx="393192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Closeout &amp; next meeting</a:t>
            </a:r>
            <a:endParaRPr lang="en-US" sz="1150" dirty="0"/>
          </a:p>
        </p:txBody>
      </p:sp>
      <p:sp>
        <p:nvSpPr>
          <p:cNvPr id="44" name="Text 41"/>
          <p:cNvSpPr/>
          <p:nvPr/>
        </p:nvSpPr>
        <p:spPr>
          <a:xfrm>
            <a:off x="6291072" y="5212080"/>
            <a:ext cx="219456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Chair</a:t>
            </a:r>
            <a:endParaRPr lang="en-US" sz="1150" dirty="0"/>
          </a:p>
        </p:txBody>
      </p:sp>
      <p:sp>
        <p:nvSpPr>
          <p:cNvPr id="45" name="Text 42"/>
          <p:cNvSpPr/>
          <p:nvPr/>
        </p:nvSpPr>
        <p:spPr>
          <a:xfrm>
            <a:off x="8668512" y="5212080"/>
            <a:ext cx="2926080" cy="502920"/>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Confirm date and pre-reads</a:t>
            </a:r>
            <a:endParaRPr lang="en-US" sz="1150" dirty="0"/>
          </a:p>
        </p:txBody>
      </p:sp>
      <p:sp>
        <p:nvSpPr>
          <p:cNvPr id="46" name="Shape 43"/>
          <p:cNvSpPr/>
          <p:nvPr/>
        </p:nvSpPr>
        <p:spPr>
          <a:xfrm>
            <a:off x="548640" y="5989320"/>
            <a:ext cx="11064240" cy="502920"/>
          </a:xfrm>
          <a:prstGeom prst="rect">
            <a:avLst/>
          </a:prstGeom>
          <a:solidFill>
            <a:srgbClr val="E6EEF8"/>
          </a:solidFill>
          <a:ln/>
        </p:spPr>
      </p:sp>
      <p:pic>
        <p:nvPicPr>
          <p:cNvPr id="47" name="Image 1" descr="preencoded.png">    </p:cNvPr>
          <p:cNvPicPr>
            <a:picLocks noChangeAspect="1"/>
          </p:cNvPicPr>
          <p:nvPr/>
        </p:nvPicPr>
        <p:blipFill>
          <a:blip r:embed="rId2"/>
          <a:stretch>
            <a:fillRect/>
          </a:stretch>
        </p:blipFill>
        <p:spPr>
          <a:xfrm>
            <a:off x="731520" y="6126480"/>
            <a:ext cx="228600" cy="228600"/>
          </a:xfrm>
          <a:prstGeom prst="rect">
            <a:avLst/>
          </a:prstGeom>
        </p:spPr>
      </p:pic>
      <p:sp>
        <p:nvSpPr>
          <p:cNvPr id="48" name="Text 44"/>
          <p:cNvSpPr/>
          <p:nvPr/>
        </p:nvSpPr>
        <p:spPr>
          <a:xfrm>
            <a:off x="1097280" y="5989320"/>
            <a:ext cx="10332720" cy="502920"/>
          </a:xfrm>
          <a:prstGeom prst="rect">
            <a:avLst/>
          </a:prstGeom>
          <a:noFill/>
          <a:ln/>
        </p:spPr>
        <p:txBody>
          <a:bodyPr wrap="square" lIns="0" tIns="0" rIns="0" bIns="0" rtlCol="0" anchor="ctr"/>
          <a:lstStyle/>
          <a:p>
            <a:pPr indent="0" marL="0">
              <a:buNone/>
            </a:pPr>
            <a:r>
              <a:rPr lang="en-US" sz="1100" i="1" dirty="0">
                <a:solidFill>
                  <a:srgbClr val="003168"/>
                </a:solidFill>
                <a:latin typeface="Calibri" pitchFamily="34" charset="0"/>
                <a:ea typeface="Calibri" pitchFamily="34" charset="-122"/>
                <a:cs typeface="Calibri" pitchFamily="34" charset="-120"/>
              </a:rPr>
              <a:t>Pre-read distributed 48 hours in advance · Decisions captured live · One platform deep-dive per meeting (rotating)</a:t>
            </a:r>
            <a:endParaRPr lang="en-US" sz="1100" dirty="0"/>
          </a:p>
        </p:txBody>
      </p:sp>
      <p:sp>
        <p:nvSpPr>
          <p:cNvPr id="49" name="Text 45"/>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 / 30</a:t>
            </a:r>
            <a:endParaRPr lang="en-US" sz="900" dirty="0"/>
          </a:p>
        </p:txBody>
      </p:sp>
      <p:sp>
        <p:nvSpPr>
          <p:cNvPr id="50" name="Text 46"/>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01  ·  PROGRAM OVERVIEW</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Four workstreams, one program</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097280" cy="960120"/>
          </a:xfrm>
          <a:prstGeom prst="rect">
            <a:avLst/>
          </a:prstGeom>
          <a:solidFill>
            <a:srgbClr val="0051A5"/>
          </a:solidFill>
          <a:ln/>
        </p:spPr>
      </p:sp>
      <p:sp>
        <p:nvSpPr>
          <p:cNvPr id="7" name="Text 4"/>
          <p:cNvSpPr/>
          <p:nvPr/>
        </p:nvSpPr>
        <p:spPr>
          <a:xfrm>
            <a:off x="548640" y="1783080"/>
            <a:ext cx="1097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01</a:t>
            </a:r>
            <a:endParaRPr lang="en-US" sz="3000" dirty="0"/>
          </a:p>
        </p:txBody>
      </p:sp>
      <p:sp>
        <p:nvSpPr>
          <p:cNvPr id="8" name="Shape 5"/>
          <p:cNvSpPr/>
          <p:nvPr/>
        </p:nvSpPr>
        <p:spPr>
          <a:xfrm>
            <a:off x="1645920" y="1783080"/>
            <a:ext cx="4846320" cy="960120"/>
          </a:xfrm>
          <a:prstGeom prst="rect">
            <a:avLst/>
          </a:prstGeom>
          <a:solidFill>
            <a:srgbClr val="F6F8FB"/>
          </a:solidFill>
          <a:ln w="6350">
            <a:solidFill>
              <a:srgbClr val="D6DEE8"/>
            </a:solidFill>
            <a:prstDash val="solid"/>
          </a:ln>
        </p:spPr>
      </p:sp>
      <p:sp>
        <p:nvSpPr>
          <p:cNvPr id="9" name="Shape 6"/>
          <p:cNvSpPr/>
          <p:nvPr/>
        </p:nvSpPr>
        <p:spPr>
          <a:xfrm>
            <a:off x="1645920" y="1783080"/>
            <a:ext cx="54864" cy="960120"/>
          </a:xfrm>
          <a:prstGeom prst="rect">
            <a:avLst/>
          </a:prstGeom>
          <a:solidFill>
            <a:srgbClr val="FEDF01"/>
          </a:solidFill>
          <a:ln/>
        </p:spPr>
      </p:sp>
      <p:sp>
        <p:nvSpPr>
          <p:cNvPr id="10" name="Text 7"/>
          <p:cNvSpPr/>
          <p:nvPr/>
        </p:nvSpPr>
        <p:spPr>
          <a:xfrm>
            <a:off x="1828800" y="1892808"/>
            <a:ext cx="4572000" cy="365760"/>
          </a:xfrm>
          <a:prstGeom prst="rect">
            <a:avLst/>
          </a:prstGeom>
          <a:noFill/>
          <a:ln/>
        </p:spPr>
        <p:txBody>
          <a:bodyPr wrap="square" lIns="0" tIns="0" rIns="0" bIns="0" rtlCol="0" anchor="ctr"/>
          <a:lstStyle/>
          <a:p>
            <a:pPr indent="0" marL="0">
              <a:buNone/>
            </a:pPr>
            <a:r>
              <a:rPr lang="en-US" sz="1700" b="1" dirty="0">
                <a:solidFill>
                  <a:srgbClr val="001F47"/>
                </a:solidFill>
                <a:latin typeface="Trebuchet MS" pitchFamily="34" charset="0"/>
                <a:ea typeface="Trebuchet MS" pitchFamily="34" charset="-122"/>
                <a:cs typeface="Trebuchet MS" pitchFamily="34" charset="-120"/>
              </a:rPr>
              <a:t>IaC</a:t>
            </a:r>
            <a:endParaRPr lang="en-US" sz="1700" dirty="0"/>
          </a:p>
        </p:txBody>
      </p:sp>
      <p:sp>
        <p:nvSpPr>
          <p:cNvPr id="11" name="Text 8"/>
          <p:cNvSpPr/>
          <p:nvPr/>
        </p:nvSpPr>
        <p:spPr>
          <a:xfrm>
            <a:off x="1828800" y="2286000"/>
            <a:ext cx="45720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Zephyr IaC + policy-as-code governance</a:t>
            </a:r>
            <a:endParaRPr lang="en-US" sz="1200" dirty="0"/>
          </a:p>
        </p:txBody>
      </p:sp>
      <p:sp>
        <p:nvSpPr>
          <p:cNvPr id="12" name="Shape 9"/>
          <p:cNvSpPr/>
          <p:nvPr/>
        </p:nvSpPr>
        <p:spPr>
          <a:xfrm>
            <a:off x="548640" y="2880360"/>
            <a:ext cx="1097280" cy="960120"/>
          </a:xfrm>
          <a:prstGeom prst="rect">
            <a:avLst/>
          </a:prstGeom>
          <a:solidFill>
            <a:srgbClr val="0051A5"/>
          </a:solidFill>
          <a:ln/>
        </p:spPr>
      </p:sp>
      <p:sp>
        <p:nvSpPr>
          <p:cNvPr id="13" name="Text 10"/>
          <p:cNvSpPr/>
          <p:nvPr/>
        </p:nvSpPr>
        <p:spPr>
          <a:xfrm>
            <a:off x="548640" y="2880360"/>
            <a:ext cx="1097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02</a:t>
            </a:r>
            <a:endParaRPr lang="en-US" sz="3000" dirty="0"/>
          </a:p>
        </p:txBody>
      </p:sp>
      <p:sp>
        <p:nvSpPr>
          <p:cNvPr id="14" name="Shape 11"/>
          <p:cNvSpPr/>
          <p:nvPr/>
        </p:nvSpPr>
        <p:spPr>
          <a:xfrm>
            <a:off x="1645920" y="2880360"/>
            <a:ext cx="4846320" cy="960120"/>
          </a:xfrm>
          <a:prstGeom prst="rect">
            <a:avLst/>
          </a:prstGeom>
          <a:solidFill>
            <a:srgbClr val="F6F8FB"/>
          </a:solidFill>
          <a:ln w="6350">
            <a:solidFill>
              <a:srgbClr val="D6DEE8"/>
            </a:solidFill>
            <a:prstDash val="solid"/>
          </a:ln>
        </p:spPr>
      </p:sp>
      <p:sp>
        <p:nvSpPr>
          <p:cNvPr id="15" name="Shape 12"/>
          <p:cNvSpPr/>
          <p:nvPr/>
        </p:nvSpPr>
        <p:spPr>
          <a:xfrm>
            <a:off x="1645920" y="2880360"/>
            <a:ext cx="54864" cy="960120"/>
          </a:xfrm>
          <a:prstGeom prst="rect">
            <a:avLst/>
          </a:prstGeom>
          <a:solidFill>
            <a:srgbClr val="FEDF01"/>
          </a:solidFill>
          <a:ln/>
        </p:spPr>
      </p:sp>
      <p:sp>
        <p:nvSpPr>
          <p:cNvPr id="16" name="Text 13"/>
          <p:cNvSpPr/>
          <p:nvPr/>
        </p:nvSpPr>
        <p:spPr>
          <a:xfrm>
            <a:off x="1828800" y="2990088"/>
            <a:ext cx="4572000" cy="365760"/>
          </a:xfrm>
          <a:prstGeom prst="rect">
            <a:avLst/>
          </a:prstGeom>
          <a:noFill/>
          <a:ln/>
        </p:spPr>
        <p:txBody>
          <a:bodyPr wrap="square" lIns="0" tIns="0" rIns="0" bIns="0" rtlCol="0" anchor="ctr"/>
          <a:lstStyle/>
          <a:p>
            <a:pPr indent="0" marL="0">
              <a:buNone/>
            </a:pPr>
            <a:r>
              <a:rPr lang="en-US" sz="1700" b="1" dirty="0">
                <a:solidFill>
                  <a:srgbClr val="001F47"/>
                </a:solidFill>
                <a:latin typeface="Trebuchet MS" pitchFamily="34" charset="0"/>
                <a:ea typeface="Trebuchet MS" pitchFamily="34" charset="-122"/>
                <a:cs typeface="Trebuchet MS" pitchFamily="34" charset="-120"/>
              </a:rPr>
              <a:t>Compliance Reporting</a:t>
            </a:r>
            <a:endParaRPr lang="en-US" sz="1700" dirty="0"/>
          </a:p>
        </p:txBody>
      </p:sp>
      <p:sp>
        <p:nvSpPr>
          <p:cNvPr id="17" name="Text 14"/>
          <p:cNvSpPr/>
          <p:nvPr/>
        </p:nvSpPr>
        <p:spPr>
          <a:xfrm>
            <a:off x="1828800" y="3383280"/>
            <a:ext cx="45720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Centralized reporting via Zephyr Assurance</a:t>
            </a:r>
            <a:endParaRPr lang="en-US" sz="1200" dirty="0"/>
          </a:p>
        </p:txBody>
      </p:sp>
      <p:sp>
        <p:nvSpPr>
          <p:cNvPr id="18" name="Shape 15"/>
          <p:cNvSpPr/>
          <p:nvPr/>
        </p:nvSpPr>
        <p:spPr>
          <a:xfrm>
            <a:off x="548640" y="3977640"/>
            <a:ext cx="1097280" cy="960120"/>
          </a:xfrm>
          <a:prstGeom prst="rect">
            <a:avLst/>
          </a:prstGeom>
          <a:solidFill>
            <a:srgbClr val="0051A5"/>
          </a:solidFill>
          <a:ln/>
        </p:spPr>
      </p:sp>
      <p:sp>
        <p:nvSpPr>
          <p:cNvPr id="19" name="Text 16"/>
          <p:cNvSpPr/>
          <p:nvPr/>
        </p:nvSpPr>
        <p:spPr>
          <a:xfrm>
            <a:off x="548640" y="3977640"/>
            <a:ext cx="1097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03</a:t>
            </a:r>
            <a:endParaRPr lang="en-US" sz="3000" dirty="0"/>
          </a:p>
        </p:txBody>
      </p:sp>
      <p:sp>
        <p:nvSpPr>
          <p:cNvPr id="20" name="Shape 17"/>
          <p:cNvSpPr/>
          <p:nvPr/>
        </p:nvSpPr>
        <p:spPr>
          <a:xfrm>
            <a:off x="1645920" y="3977640"/>
            <a:ext cx="4846320" cy="960120"/>
          </a:xfrm>
          <a:prstGeom prst="rect">
            <a:avLst/>
          </a:prstGeom>
          <a:solidFill>
            <a:srgbClr val="F6F8FB"/>
          </a:solidFill>
          <a:ln w="6350">
            <a:solidFill>
              <a:srgbClr val="D6DEE8"/>
            </a:solidFill>
            <a:prstDash val="solid"/>
          </a:ln>
        </p:spPr>
      </p:sp>
      <p:sp>
        <p:nvSpPr>
          <p:cNvPr id="21" name="Shape 18"/>
          <p:cNvSpPr/>
          <p:nvPr/>
        </p:nvSpPr>
        <p:spPr>
          <a:xfrm>
            <a:off x="1645920" y="3977640"/>
            <a:ext cx="54864" cy="960120"/>
          </a:xfrm>
          <a:prstGeom prst="rect">
            <a:avLst/>
          </a:prstGeom>
          <a:solidFill>
            <a:srgbClr val="FEDF01"/>
          </a:solidFill>
          <a:ln/>
        </p:spPr>
      </p:sp>
      <p:sp>
        <p:nvSpPr>
          <p:cNvPr id="22" name="Text 19"/>
          <p:cNvSpPr/>
          <p:nvPr/>
        </p:nvSpPr>
        <p:spPr>
          <a:xfrm>
            <a:off x="1828800" y="4087368"/>
            <a:ext cx="4572000" cy="365760"/>
          </a:xfrm>
          <a:prstGeom prst="rect">
            <a:avLst/>
          </a:prstGeom>
          <a:noFill/>
          <a:ln/>
        </p:spPr>
        <p:txBody>
          <a:bodyPr wrap="square" lIns="0" tIns="0" rIns="0" bIns="0" rtlCol="0" anchor="ctr"/>
          <a:lstStyle/>
          <a:p>
            <a:pPr indent="0" marL="0">
              <a:buNone/>
            </a:pPr>
            <a:r>
              <a:rPr lang="en-US" sz="1700" b="1" dirty="0">
                <a:solidFill>
                  <a:srgbClr val="001F47"/>
                </a:solidFill>
                <a:latin typeface="Trebuchet MS" pitchFamily="34" charset="0"/>
                <a:ea typeface="Trebuchet MS" pitchFamily="34" charset="-122"/>
                <a:cs typeface="Trebuchet MS" pitchFamily="34" charset="-120"/>
              </a:rPr>
              <a:t>Optimization</a:t>
            </a:r>
            <a:endParaRPr lang="en-US" sz="1700" dirty="0"/>
          </a:p>
        </p:txBody>
      </p:sp>
      <p:sp>
        <p:nvSpPr>
          <p:cNvPr id="23" name="Text 20"/>
          <p:cNvSpPr/>
          <p:nvPr/>
        </p:nvSpPr>
        <p:spPr>
          <a:xfrm>
            <a:off x="1828800" y="4480560"/>
            <a:ext cx="45720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Capacity, home-of-best-fit, rationalization</a:t>
            </a:r>
            <a:endParaRPr lang="en-US" sz="1200" dirty="0"/>
          </a:p>
        </p:txBody>
      </p:sp>
      <p:sp>
        <p:nvSpPr>
          <p:cNvPr id="24" name="Shape 21"/>
          <p:cNvSpPr/>
          <p:nvPr/>
        </p:nvSpPr>
        <p:spPr>
          <a:xfrm>
            <a:off x="548640" y="5074920"/>
            <a:ext cx="1097280" cy="960120"/>
          </a:xfrm>
          <a:prstGeom prst="rect">
            <a:avLst/>
          </a:prstGeom>
          <a:solidFill>
            <a:srgbClr val="0051A5"/>
          </a:solidFill>
          <a:ln/>
        </p:spPr>
      </p:sp>
      <p:sp>
        <p:nvSpPr>
          <p:cNvPr id="25" name="Text 22"/>
          <p:cNvSpPr/>
          <p:nvPr/>
        </p:nvSpPr>
        <p:spPr>
          <a:xfrm>
            <a:off x="548640" y="5074920"/>
            <a:ext cx="1097280" cy="96012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04</a:t>
            </a:r>
            <a:endParaRPr lang="en-US" sz="3000" dirty="0"/>
          </a:p>
        </p:txBody>
      </p:sp>
      <p:sp>
        <p:nvSpPr>
          <p:cNvPr id="26" name="Shape 23"/>
          <p:cNvSpPr/>
          <p:nvPr/>
        </p:nvSpPr>
        <p:spPr>
          <a:xfrm>
            <a:off x="1645920" y="5074920"/>
            <a:ext cx="4846320" cy="960120"/>
          </a:xfrm>
          <a:prstGeom prst="rect">
            <a:avLst/>
          </a:prstGeom>
          <a:solidFill>
            <a:srgbClr val="F6F8FB"/>
          </a:solidFill>
          <a:ln w="6350">
            <a:solidFill>
              <a:srgbClr val="D6DEE8"/>
            </a:solidFill>
            <a:prstDash val="solid"/>
          </a:ln>
        </p:spPr>
      </p:sp>
      <p:sp>
        <p:nvSpPr>
          <p:cNvPr id="27" name="Shape 24"/>
          <p:cNvSpPr/>
          <p:nvPr/>
        </p:nvSpPr>
        <p:spPr>
          <a:xfrm>
            <a:off x="1645920" y="5074920"/>
            <a:ext cx="54864" cy="960120"/>
          </a:xfrm>
          <a:prstGeom prst="rect">
            <a:avLst/>
          </a:prstGeom>
          <a:solidFill>
            <a:srgbClr val="FEDF01"/>
          </a:solidFill>
          <a:ln/>
        </p:spPr>
      </p:sp>
      <p:sp>
        <p:nvSpPr>
          <p:cNvPr id="28" name="Text 25"/>
          <p:cNvSpPr/>
          <p:nvPr/>
        </p:nvSpPr>
        <p:spPr>
          <a:xfrm>
            <a:off x="1828800" y="5184648"/>
            <a:ext cx="4572000" cy="365760"/>
          </a:xfrm>
          <a:prstGeom prst="rect">
            <a:avLst/>
          </a:prstGeom>
          <a:noFill/>
          <a:ln/>
        </p:spPr>
        <p:txBody>
          <a:bodyPr wrap="square" lIns="0" tIns="0" rIns="0" bIns="0" rtlCol="0" anchor="ctr"/>
          <a:lstStyle/>
          <a:p>
            <a:pPr indent="0" marL="0">
              <a:buNone/>
            </a:pPr>
            <a:r>
              <a:rPr lang="en-US" sz="1700" b="1" dirty="0">
                <a:solidFill>
                  <a:srgbClr val="001F47"/>
                </a:solidFill>
                <a:latin typeface="Trebuchet MS" pitchFamily="34" charset="0"/>
                <a:ea typeface="Trebuchet MS" pitchFamily="34" charset="-122"/>
                <a:cs typeface="Trebuchet MS" pitchFamily="34" charset="-120"/>
              </a:rPr>
              <a:t>ZephyrAI</a:t>
            </a:r>
            <a:endParaRPr lang="en-US" sz="1700" dirty="0"/>
          </a:p>
        </p:txBody>
      </p:sp>
      <p:sp>
        <p:nvSpPr>
          <p:cNvPr id="29" name="Text 26"/>
          <p:cNvSpPr/>
          <p:nvPr/>
        </p:nvSpPr>
        <p:spPr>
          <a:xfrm>
            <a:off x="1828800" y="5577840"/>
            <a:ext cx="4572000" cy="4114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Agentic automation for platform ops</a:t>
            </a:r>
            <a:endParaRPr lang="en-US" sz="1200" dirty="0"/>
          </a:p>
        </p:txBody>
      </p:sp>
      <p:sp>
        <p:nvSpPr>
          <p:cNvPr id="30" name="Text 27"/>
          <p:cNvSpPr/>
          <p:nvPr/>
        </p:nvSpPr>
        <p:spPr>
          <a:xfrm>
            <a:off x="6858000" y="1783080"/>
            <a:ext cx="4754880" cy="274320"/>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Coverage matrix — workstreams × platforms</a:t>
            </a:r>
            <a:endParaRPr lang="en-US" sz="1300" dirty="0"/>
          </a:p>
        </p:txBody>
      </p:sp>
      <p:sp>
        <p:nvSpPr>
          <p:cNvPr id="31" name="Shape 28"/>
          <p:cNvSpPr/>
          <p:nvPr/>
        </p:nvSpPr>
        <p:spPr>
          <a:xfrm>
            <a:off x="8412480" y="2194560"/>
            <a:ext cx="800100" cy="365760"/>
          </a:xfrm>
          <a:prstGeom prst="rect">
            <a:avLst/>
          </a:prstGeom>
          <a:solidFill>
            <a:srgbClr val="0051A5"/>
          </a:solidFill>
          <a:ln/>
        </p:spPr>
      </p:sp>
      <p:sp>
        <p:nvSpPr>
          <p:cNvPr id="32" name="Text 29"/>
          <p:cNvSpPr/>
          <p:nvPr/>
        </p:nvSpPr>
        <p:spPr>
          <a:xfrm>
            <a:off x="8412480" y="2194560"/>
            <a:ext cx="8001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IaC</a:t>
            </a:r>
            <a:endParaRPr lang="en-US" sz="1000" dirty="0"/>
          </a:p>
        </p:txBody>
      </p:sp>
      <p:sp>
        <p:nvSpPr>
          <p:cNvPr id="33" name="Shape 30"/>
          <p:cNvSpPr/>
          <p:nvPr/>
        </p:nvSpPr>
        <p:spPr>
          <a:xfrm>
            <a:off x="9212580" y="2194560"/>
            <a:ext cx="800100" cy="365760"/>
          </a:xfrm>
          <a:prstGeom prst="rect">
            <a:avLst/>
          </a:prstGeom>
          <a:solidFill>
            <a:srgbClr val="0051A5"/>
          </a:solidFill>
          <a:ln/>
        </p:spPr>
      </p:sp>
      <p:sp>
        <p:nvSpPr>
          <p:cNvPr id="34" name="Text 31"/>
          <p:cNvSpPr/>
          <p:nvPr/>
        </p:nvSpPr>
        <p:spPr>
          <a:xfrm>
            <a:off x="9212580" y="2194560"/>
            <a:ext cx="8001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Comp.</a:t>
            </a:r>
            <a:endParaRPr lang="en-US" sz="1000" dirty="0"/>
          </a:p>
        </p:txBody>
      </p:sp>
      <p:sp>
        <p:nvSpPr>
          <p:cNvPr id="35" name="Shape 32"/>
          <p:cNvSpPr/>
          <p:nvPr/>
        </p:nvSpPr>
        <p:spPr>
          <a:xfrm>
            <a:off x="10012680" y="2194560"/>
            <a:ext cx="800100" cy="365760"/>
          </a:xfrm>
          <a:prstGeom prst="rect">
            <a:avLst/>
          </a:prstGeom>
          <a:solidFill>
            <a:srgbClr val="0051A5"/>
          </a:solidFill>
          <a:ln/>
        </p:spPr>
      </p:sp>
      <p:sp>
        <p:nvSpPr>
          <p:cNvPr id="36" name="Text 33"/>
          <p:cNvSpPr/>
          <p:nvPr/>
        </p:nvSpPr>
        <p:spPr>
          <a:xfrm>
            <a:off x="10012680" y="2194560"/>
            <a:ext cx="8001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Opt.</a:t>
            </a:r>
            <a:endParaRPr lang="en-US" sz="1000" dirty="0"/>
          </a:p>
        </p:txBody>
      </p:sp>
      <p:sp>
        <p:nvSpPr>
          <p:cNvPr id="37" name="Shape 34"/>
          <p:cNvSpPr/>
          <p:nvPr/>
        </p:nvSpPr>
        <p:spPr>
          <a:xfrm>
            <a:off x="10812780" y="2194560"/>
            <a:ext cx="800100" cy="365760"/>
          </a:xfrm>
          <a:prstGeom prst="rect">
            <a:avLst/>
          </a:prstGeom>
          <a:solidFill>
            <a:srgbClr val="0051A5"/>
          </a:solidFill>
          <a:ln/>
        </p:spPr>
      </p:sp>
      <p:sp>
        <p:nvSpPr>
          <p:cNvPr id="38" name="Text 35"/>
          <p:cNvSpPr/>
          <p:nvPr/>
        </p:nvSpPr>
        <p:spPr>
          <a:xfrm>
            <a:off x="10812780" y="2194560"/>
            <a:ext cx="8001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AI</a:t>
            </a:r>
            <a:endParaRPr lang="en-US" sz="1000" dirty="0"/>
          </a:p>
        </p:txBody>
      </p:sp>
      <p:sp>
        <p:nvSpPr>
          <p:cNvPr id="39" name="Shape 36"/>
          <p:cNvSpPr/>
          <p:nvPr/>
        </p:nvSpPr>
        <p:spPr>
          <a:xfrm>
            <a:off x="6858000" y="2560320"/>
            <a:ext cx="1554480" cy="502920"/>
          </a:xfrm>
          <a:prstGeom prst="rect">
            <a:avLst/>
          </a:prstGeom>
          <a:solidFill>
            <a:srgbClr val="F6F8FB"/>
          </a:solidFill>
          <a:ln w="5080">
            <a:solidFill>
              <a:srgbClr val="D6DEE8"/>
            </a:solidFill>
            <a:prstDash val="solid"/>
          </a:ln>
        </p:spPr>
      </p:sp>
      <p:sp>
        <p:nvSpPr>
          <p:cNvPr id="40" name="Text 37"/>
          <p:cNvSpPr/>
          <p:nvPr/>
        </p:nvSpPr>
        <p:spPr>
          <a:xfrm>
            <a:off x="6949440" y="2606040"/>
            <a:ext cx="1097280" cy="22860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Database</a:t>
            </a:r>
            <a:endParaRPr lang="en-US" sz="1000" dirty="0"/>
          </a:p>
        </p:txBody>
      </p:sp>
      <p:sp>
        <p:nvSpPr>
          <p:cNvPr id="41" name="Shape 38"/>
          <p:cNvSpPr/>
          <p:nvPr/>
        </p:nvSpPr>
        <p:spPr>
          <a:xfrm>
            <a:off x="8138160" y="2633472"/>
            <a:ext cx="201168" cy="201168"/>
          </a:xfrm>
          <a:prstGeom prst="ellipse">
            <a:avLst/>
          </a:prstGeom>
          <a:solidFill>
            <a:srgbClr val="FEDF01"/>
          </a:solidFill>
          <a:ln/>
        </p:spPr>
      </p:sp>
      <p:sp>
        <p:nvSpPr>
          <p:cNvPr id="42" name="Text 39"/>
          <p:cNvSpPr/>
          <p:nvPr/>
        </p:nvSpPr>
        <p:spPr>
          <a:xfrm>
            <a:off x="8138160" y="2633472"/>
            <a:ext cx="201168" cy="201168"/>
          </a:xfrm>
          <a:prstGeom prst="rect">
            <a:avLst/>
          </a:prstGeom>
          <a:noFill/>
          <a:ln/>
        </p:spPr>
        <p:txBody>
          <a:bodyPr wrap="square" lIns="0" tIns="0" rIns="0" bIns="0" rtlCol="0" anchor="ctr"/>
          <a:lstStyle/>
          <a:p>
            <a:pPr algn="ctr" indent="0" marL="0">
              <a:buNone/>
            </a:pPr>
            <a:r>
              <a:rPr lang="en-US" sz="1000" b="1" dirty="0">
                <a:solidFill>
                  <a:srgbClr val="001F47"/>
                </a:solidFill>
                <a:latin typeface="Trebuchet MS" pitchFamily="34" charset="0"/>
                <a:ea typeface="Trebuchet MS" pitchFamily="34" charset="-122"/>
                <a:cs typeface="Trebuchet MS" pitchFamily="34" charset="-120"/>
              </a:rPr>
              <a:t>4</a:t>
            </a:r>
            <a:endParaRPr lang="en-US" sz="1000" dirty="0"/>
          </a:p>
        </p:txBody>
      </p:sp>
      <p:sp>
        <p:nvSpPr>
          <p:cNvPr id="43" name="Text 40"/>
          <p:cNvSpPr/>
          <p:nvPr/>
        </p:nvSpPr>
        <p:spPr>
          <a:xfrm>
            <a:off x="6949440" y="2834640"/>
            <a:ext cx="1417320" cy="228600"/>
          </a:xfrm>
          <a:prstGeom prst="rect">
            <a:avLst/>
          </a:prstGeom>
          <a:noFill/>
          <a:ln/>
        </p:spPr>
        <p:txBody>
          <a:bodyPr wrap="square" lIns="0" tIns="0" rIns="0" bIns="0" rtlCol="0" anchor="ctr"/>
          <a:lstStyle/>
          <a:p>
            <a:pPr indent="0" marL="0">
              <a:buNone/>
            </a:pPr>
            <a:r>
              <a:rPr lang="en-US" sz="750" i="1" dirty="0">
                <a:solidFill>
                  <a:srgbClr val="5B6778"/>
                </a:solidFill>
                <a:latin typeface="Calibri" pitchFamily="34" charset="0"/>
                <a:ea typeface="Calibri" pitchFamily="34" charset="-122"/>
                <a:cs typeface="Calibri" pitchFamily="34" charset="-120"/>
              </a:rPr>
              <a:t>MongoDB · MariaDB · Postgres · SQL Server</a:t>
            </a:r>
            <a:endParaRPr lang="en-US" sz="750" dirty="0"/>
          </a:p>
        </p:txBody>
      </p:sp>
      <p:sp>
        <p:nvSpPr>
          <p:cNvPr id="44" name="Shape 41"/>
          <p:cNvSpPr/>
          <p:nvPr/>
        </p:nvSpPr>
        <p:spPr>
          <a:xfrm>
            <a:off x="8412480" y="2560320"/>
            <a:ext cx="800100" cy="502920"/>
          </a:xfrm>
          <a:prstGeom prst="rect">
            <a:avLst/>
          </a:prstGeom>
          <a:solidFill>
            <a:srgbClr val="FFFFFF"/>
          </a:solidFill>
          <a:ln w="5080">
            <a:solidFill>
              <a:srgbClr val="D6DEE8"/>
            </a:solidFill>
            <a:prstDash val="solid"/>
          </a:ln>
        </p:spPr>
      </p:sp>
      <p:sp>
        <p:nvSpPr>
          <p:cNvPr id="45" name="Shape 42"/>
          <p:cNvSpPr/>
          <p:nvPr/>
        </p:nvSpPr>
        <p:spPr>
          <a:xfrm>
            <a:off x="8730234" y="2729484"/>
            <a:ext cx="164592" cy="164592"/>
          </a:xfrm>
          <a:prstGeom prst="ellipse">
            <a:avLst/>
          </a:prstGeom>
          <a:solidFill>
            <a:srgbClr val="1F8B4C"/>
          </a:solidFill>
          <a:ln/>
        </p:spPr>
      </p:sp>
      <p:sp>
        <p:nvSpPr>
          <p:cNvPr id="46" name="Shape 43"/>
          <p:cNvSpPr/>
          <p:nvPr/>
        </p:nvSpPr>
        <p:spPr>
          <a:xfrm>
            <a:off x="9212580" y="2560320"/>
            <a:ext cx="800100" cy="502920"/>
          </a:xfrm>
          <a:prstGeom prst="rect">
            <a:avLst/>
          </a:prstGeom>
          <a:solidFill>
            <a:srgbClr val="FFFFFF"/>
          </a:solidFill>
          <a:ln w="5080">
            <a:solidFill>
              <a:srgbClr val="D6DEE8"/>
            </a:solidFill>
            <a:prstDash val="solid"/>
          </a:ln>
        </p:spPr>
      </p:sp>
      <p:sp>
        <p:nvSpPr>
          <p:cNvPr id="47" name="Shape 44"/>
          <p:cNvSpPr/>
          <p:nvPr/>
        </p:nvSpPr>
        <p:spPr>
          <a:xfrm>
            <a:off x="9530334" y="2729484"/>
            <a:ext cx="164592" cy="164592"/>
          </a:xfrm>
          <a:prstGeom prst="ellipse">
            <a:avLst/>
          </a:prstGeom>
          <a:solidFill>
            <a:srgbClr val="1F8B4C"/>
          </a:solidFill>
          <a:ln/>
        </p:spPr>
      </p:sp>
      <p:sp>
        <p:nvSpPr>
          <p:cNvPr id="48" name="Shape 45"/>
          <p:cNvSpPr/>
          <p:nvPr/>
        </p:nvSpPr>
        <p:spPr>
          <a:xfrm>
            <a:off x="10012680" y="2560320"/>
            <a:ext cx="800100" cy="502920"/>
          </a:xfrm>
          <a:prstGeom prst="rect">
            <a:avLst/>
          </a:prstGeom>
          <a:solidFill>
            <a:srgbClr val="FFFFFF"/>
          </a:solidFill>
          <a:ln w="5080">
            <a:solidFill>
              <a:srgbClr val="D6DEE8"/>
            </a:solidFill>
            <a:prstDash val="solid"/>
          </a:ln>
        </p:spPr>
      </p:sp>
      <p:sp>
        <p:nvSpPr>
          <p:cNvPr id="49" name="Shape 46"/>
          <p:cNvSpPr/>
          <p:nvPr/>
        </p:nvSpPr>
        <p:spPr>
          <a:xfrm>
            <a:off x="10330434" y="2729484"/>
            <a:ext cx="164592" cy="164592"/>
          </a:xfrm>
          <a:prstGeom prst="ellipse">
            <a:avLst/>
          </a:prstGeom>
          <a:solidFill>
            <a:srgbClr val="C97A00"/>
          </a:solidFill>
          <a:ln/>
        </p:spPr>
      </p:sp>
      <p:sp>
        <p:nvSpPr>
          <p:cNvPr id="50" name="Shape 47"/>
          <p:cNvSpPr/>
          <p:nvPr/>
        </p:nvSpPr>
        <p:spPr>
          <a:xfrm>
            <a:off x="10812780" y="2560320"/>
            <a:ext cx="800100" cy="502920"/>
          </a:xfrm>
          <a:prstGeom prst="rect">
            <a:avLst/>
          </a:prstGeom>
          <a:solidFill>
            <a:srgbClr val="FFFFFF"/>
          </a:solidFill>
          <a:ln w="5080">
            <a:solidFill>
              <a:srgbClr val="D6DEE8"/>
            </a:solidFill>
            <a:prstDash val="solid"/>
          </a:ln>
        </p:spPr>
      </p:sp>
      <p:sp>
        <p:nvSpPr>
          <p:cNvPr id="51" name="Shape 48"/>
          <p:cNvSpPr/>
          <p:nvPr/>
        </p:nvSpPr>
        <p:spPr>
          <a:xfrm>
            <a:off x="11130534" y="2729484"/>
            <a:ext cx="164592" cy="164592"/>
          </a:xfrm>
          <a:prstGeom prst="ellipse">
            <a:avLst/>
          </a:prstGeom>
          <a:solidFill>
            <a:srgbClr val="5B6778"/>
          </a:solidFill>
          <a:ln/>
        </p:spPr>
      </p:sp>
      <p:sp>
        <p:nvSpPr>
          <p:cNvPr id="52" name="Shape 49"/>
          <p:cNvSpPr/>
          <p:nvPr/>
        </p:nvSpPr>
        <p:spPr>
          <a:xfrm>
            <a:off x="6858000" y="3063240"/>
            <a:ext cx="1554480" cy="502920"/>
          </a:xfrm>
          <a:prstGeom prst="rect">
            <a:avLst/>
          </a:prstGeom>
          <a:solidFill>
            <a:srgbClr val="F6F8FB"/>
          </a:solidFill>
          <a:ln w="5080">
            <a:solidFill>
              <a:srgbClr val="D6DEE8"/>
            </a:solidFill>
            <a:prstDash val="solid"/>
          </a:ln>
        </p:spPr>
      </p:sp>
      <p:sp>
        <p:nvSpPr>
          <p:cNvPr id="53" name="Text 50"/>
          <p:cNvSpPr/>
          <p:nvPr/>
        </p:nvSpPr>
        <p:spPr>
          <a:xfrm>
            <a:off x="6949440" y="3108960"/>
            <a:ext cx="1097280" cy="22860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Storage</a:t>
            </a:r>
            <a:endParaRPr lang="en-US" sz="1000" dirty="0"/>
          </a:p>
        </p:txBody>
      </p:sp>
      <p:sp>
        <p:nvSpPr>
          <p:cNvPr id="54" name="Shape 51"/>
          <p:cNvSpPr/>
          <p:nvPr/>
        </p:nvSpPr>
        <p:spPr>
          <a:xfrm>
            <a:off x="8138160" y="3136392"/>
            <a:ext cx="201168" cy="201168"/>
          </a:xfrm>
          <a:prstGeom prst="ellipse">
            <a:avLst/>
          </a:prstGeom>
          <a:solidFill>
            <a:srgbClr val="FEDF01"/>
          </a:solidFill>
          <a:ln/>
        </p:spPr>
      </p:sp>
      <p:sp>
        <p:nvSpPr>
          <p:cNvPr id="55" name="Text 52"/>
          <p:cNvSpPr/>
          <p:nvPr/>
        </p:nvSpPr>
        <p:spPr>
          <a:xfrm>
            <a:off x="8138160" y="3136392"/>
            <a:ext cx="201168" cy="201168"/>
          </a:xfrm>
          <a:prstGeom prst="rect">
            <a:avLst/>
          </a:prstGeom>
          <a:noFill/>
          <a:ln/>
        </p:spPr>
        <p:txBody>
          <a:bodyPr wrap="square" lIns="0" tIns="0" rIns="0" bIns="0" rtlCol="0" anchor="ctr"/>
          <a:lstStyle/>
          <a:p>
            <a:pPr algn="ctr" indent="0" marL="0">
              <a:buNone/>
            </a:pPr>
            <a:r>
              <a:rPr lang="en-US" sz="1000" b="1" dirty="0">
                <a:solidFill>
                  <a:srgbClr val="001F47"/>
                </a:solidFill>
                <a:latin typeface="Trebuchet MS" pitchFamily="34" charset="0"/>
                <a:ea typeface="Trebuchet MS" pitchFamily="34" charset="-122"/>
                <a:cs typeface="Trebuchet MS" pitchFamily="34" charset="-120"/>
              </a:rPr>
              <a:t>3</a:t>
            </a:r>
            <a:endParaRPr lang="en-US" sz="1000" dirty="0"/>
          </a:p>
        </p:txBody>
      </p:sp>
      <p:sp>
        <p:nvSpPr>
          <p:cNvPr id="56" name="Text 53"/>
          <p:cNvSpPr/>
          <p:nvPr/>
        </p:nvSpPr>
        <p:spPr>
          <a:xfrm>
            <a:off x="6949440" y="3337560"/>
            <a:ext cx="1417320" cy="228600"/>
          </a:xfrm>
          <a:prstGeom prst="rect">
            <a:avLst/>
          </a:prstGeom>
          <a:noFill/>
          <a:ln/>
        </p:spPr>
        <p:txBody>
          <a:bodyPr wrap="square" lIns="0" tIns="0" rIns="0" bIns="0" rtlCol="0" anchor="ctr"/>
          <a:lstStyle/>
          <a:p>
            <a:pPr indent="0" marL="0">
              <a:buNone/>
            </a:pPr>
            <a:r>
              <a:rPr lang="en-US" sz="750" i="1" dirty="0">
                <a:solidFill>
                  <a:srgbClr val="5B6778"/>
                </a:solidFill>
                <a:latin typeface="Calibri" pitchFamily="34" charset="0"/>
                <a:ea typeface="Calibri" pitchFamily="34" charset="-122"/>
                <a:cs typeface="Calibri" pitchFamily="34" charset="-120"/>
              </a:rPr>
              <a:t>Dell · Pure · NetApp</a:t>
            </a:r>
            <a:endParaRPr lang="en-US" sz="750" dirty="0"/>
          </a:p>
        </p:txBody>
      </p:sp>
      <p:sp>
        <p:nvSpPr>
          <p:cNvPr id="57" name="Shape 54"/>
          <p:cNvSpPr/>
          <p:nvPr/>
        </p:nvSpPr>
        <p:spPr>
          <a:xfrm>
            <a:off x="8412480" y="3063240"/>
            <a:ext cx="800100" cy="502920"/>
          </a:xfrm>
          <a:prstGeom prst="rect">
            <a:avLst/>
          </a:prstGeom>
          <a:solidFill>
            <a:srgbClr val="FFFFFF"/>
          </a:solidFill>
          <a:ln w="5080">
            <a:solidFill>
              <a:srgbClr val="D6DEE8"/>
            </a:solidFill>
            <a:prstDash val="solid"/>
          </a:ln>
        </p:spPr>
      </p:sp>
      <p:sp>
        <p:nvSpPr>
          <p:cNvPr id="58" name="Shape 55"/>
          <p:cNvSpPr/>
          <p:nvPr/>
        </p:nvSpPr>
        <p:spPr>
          <a:xfrm>
            <a:off x="8730234" y="3232404"/>
            <a:ext cx="164592" cy="164592"/>
          </a:xfrm>
          <a:prstGeom prst="ellipse">
            <a:avLst/>
          </a:prstGeom>
          <a:solidFill>
            <a:srgbClr val="1F8B4C"/>
          </a:solidFill>
          <a:ln/>
        </p:spPr>
      </p:sp>
      <p:sp>
        <p:nvSpPr>
          <p:cNvPr id="59" name="Shape 56"/>
          <p:cNvSpPr/>
          <p:nvPr/>
        </p:nvSpPr>
        <p:spPr>
          <a:xfrm>
            <a:off x="9212580" y="3063240"/>
            <a:ext cx="800100" cy="502920"/>
          </a:xfrm>
          <a:prstGeom prst="rect">
            <a:avLst/>
          </a:prstGeom>
          <a:solidFill>
            <a:srgbClr val="FFFFFF"/>
          </a:solidFill>
          <a:ln w="5080">
            <a:solidFill>
              <a:srgbClr val="D6DEE8"/>
            </a:solidFill>
            <a:prstDash val="solid"/>
          </a:ln>
        </p:spPr>
      </p:sp>
      <p:sp>
        <p:nvSpPr>
          <p:cNvPr id="60" name="Shape 57"/>
          <p:cNvSpPr/>
          <p:nvPr/>
        </p:nvSpPr>
        <p:spPr>
          <a:xfrm>
            <a:off x="9530334" y="3232404"/>
            <a:ext cx="164592" cy="164592"/>
          </a:xfrm>
          <a:prstGeom prst="ellipse">
            <a:avLst/>
          </a:prstGeom>
          <a:solidFill>
            <a:srgbClr val="C97A00"/>
          </a:solidFill>
          <a:ln/>
        </p:spPr>
      </p:sp>
      <p:sp>
        <p:nvSpPr>
          <p:cNvPr id="61" name="Shape 58"/>
          <p:cNvSpPr/>
          <p:nvPr/>
        </p:nvSpPr>
        <p:spPr>
          <a:xfrm>
            <a:off x="10012680" y="3063240"/>
            <a:ext cx="800100" cy="502920"/>
          </a:xfrm>
          <a:prstGeom prst="rect">
            <a:avLst/>
          </a:prstGeom>
          <a:solidFill>
            <a:srgbClr val="FFFFFF"/>
          </a:solidFill>
          <a:ln w="5080">
            <a:solidFill>
              <a:srgbClr val="D6DEE8"/>
            </a:solidFill>
            <a:prstDash val="solid"/>
          </a:ln>
        </p:spPr>
      </p:sp>
      <p:sp>
        <p:nvSpPr>
          <p:cNvPr id="62" name="Shape 59"/>
          <p:cNvSpPr/>
          <p:nvPr/>
        </p:nvSpPr>
        <p:spPr>
          <a:xfrm>
            <a:off x="10330434" y="3232404"/>
            <a:ext cx="164592" cy="164592"/>
          </a:xfrm>
          <a:prstGeom prst="ellipse">
            <a:avLst/>
          </a:prstGeom>
          <a:solidFill>
            <a:srgbClr val="C97A00"/>
          </a:solidFill>
          <a:ln/>
        </p:spPr>
      </p:sp>
      <p:sp>
        <p:nvSpPr>
          <p:cNvPr id="63" name="Shape 60"/>
          <p:cNvSpPr/>
          <p:nvPr/>
        </p:nvSpPr>
        <p:spPr>
          <a:xfrm>
            <a:off x="10812780" y="3063240"/>
            <a:ext cx="800100" cy="502920"/>
          </a:xfrm>
          <a:prstGeom prst="rect">
            <a:avLst/>
          </a:prstGeom>
          <a:solidFill>
            <a:srgbClr val="FFFFFF"/>
          </a:solidFill>
          <a:ln w="5080">
            <a:solidFill>
              <a:srgbClr val="D6DEE8"/>
            </a:solidFill>
            <a:prstDash val="solid"/>
          </a:ln>
        </p:spPr>
      </p:sp>
      <p:sp>
        <p:nvSpPr>
          <p:cNvPr id="64" name="Shape 61"/>
          <p:cNvSpPr/>
          <p:nvPr/>
        </p:nvSpPr>
        <p:spPr>
          <a:xfrm>
            <a:off x="11130534" y="3232404"/>
            <a:ext cx="164592" cy="164592"/>
          </a:xfrm>
          <a:prstGeom prst="ellipse">
            <a:avLst/>
          </a:prstGeom>
          <a:solidFill>
            <a:srgbClr val="5B6778"/>
          </a:solidFill>
          <a:ln/>
        </p:spPr>
      </p:sp>
      <p:sp>
        <p:nvSpPr>
          <p:cNvPr id="65" name="Shape 62"/>
          <p:cNvSpPr/>
          <p:nvPr/>
        </p:nvSpPr>
        <p:spPr>
          <a:xfrm>
            <a:off x="6858000" y="3566160"/>
            <a:ext cx="1554480" cy="502920"/>
          </a:xfrm>
          <a:prstGeom prst="rect">
            <a:avLst/>
          </a:prstGeom>
          <a:solidFill>
            <a:srgbClr val="F6F8FB"/>
          </a:solidFill>
          <a:ln w="5080">
            <a:solidFill>
              <a:srgbClr val="D6DEE8"/>
            </a:solidFill>
            <a:prstDash val="solid"/>
          </a:ln>
        </p:spPr>
      </p:sp>
      <p:sp>
        <p:nvSpPr>
          <p:cNvPr id="66" name="Text 63"/>
          <p:cNvSpPr/>
          <p:nvPr/>
        </p:nvSpPr>
        <p:spPr>
          <a:xfrm>
            <a:off x="6949440" y="3611880"/>
            <a:ext cx="1097280" cy="22860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Compute</a:t>
            </a:r>
            <a:endParaRPr lang="en-US" sz="1000" dirty="0"/>
          </a:p>
        </p:txBody>
      </p:sp>
      <p:sp>
        <p:nvSpPr>
          <p:cNvPr id="67" name="Shape 64"/>
          <p:cNvSpPr/>
          <p:nvPr/>
        </p:nvSpPr>
        <p:spPr>
          <a:xfrm>
            <a:off x="8138160" y="3639312"/>
            <a:ext cx="201168" cy="201168"/>
          </a:xfrm>
          <a:prstGeom prst="ellipse">
            <a:avLst/>
          </a:prstGeom>
          <a:solidFill>
            <a:srgbClr val="FEDF01"/>
          </a:solidFill>
          <a:ln/>
        </p:spPr>
      </p:sp>
      <p:sp>
        <p:nvSpPr>
          <p:cNvPr id="68" name="Text 65"/>
          <p:cNvSpPr/>
          <p:nvPr/>
        </p:nvSpPr>
        <p:spPr>
          <a:xfrm>
            <a:off x="8138160" y="3639312"/>
            <a:ext cx="201168" cy="201168"/>
          </a:xfrm>
          <a:prstGeom prst="rect">
            <a:avLst/>
          </a:prstGeom>
          <a:noFill/>
          <a:ln/>
        </p:spPr>
        <p:txBody>
          <a:bodyPr wrap="square" lIns="0" tIns="0" rIns="0" bIns="0" rtlCol="0" anchor="ctr"/>
          <a:lstStyle/>
          <a:p>
            <a:pPr algn="ctr" indent="0" marL="0">
              <a:buNone/>
            </a:pPr>
            <a:r>
              <a:rPr lang="en-US" sz="1000" b="1" dirty="0">
                <a:solidFill>
                  <a:srgbClr val="001F47"/>
                </a:solidFill>
                <a:latin typeface="Trebuchet MS" pitchFamily="34" charset="0"/>
                <a:ea typeface="Trebuchet MS" pitchFamily="34" charset="-122"/>
                <a:cs typeface="Trebuchet MS" pitchFamily="34" charset="-120"/>
              </a:rPr>
              <a:t>3</a:t>
            </a:r>
            <a:endParaRPr lang="en-US" sz="1000" dirty="0"/>
          </a:p>
        </p:txBody>
      </p:sp>
      <p:sp>
        <p:nvSpPr>
          <p:cNvPr id="69" name="Text 66"/>
          <p:cNvSpPr/>
          <p:nvPr/>
        </p:nvSpPr>
        <p:spPr>
          <a:xfrm>
            <a:off x="6949440" y="3840480"/>
            <a:ext cx="1417320" cy="228600"/>
          </a:xfrm>
          <a:prstGeom prst="rect">
            <a:avLst/>
          </a:prstGeom>
          <a:noFill/>
          <a:ln/>
        </p:spPr>
        <p:txBody>
          <a:bodyPr wrap="square" lIns="0" tIns="0" rIns="0" bIns="0" rtlCol="0" anchor="ctr"/>
          <a:lstStyle/>
          <a:p>
            <a:pPr indent="0" marL="0">
              <a:buNone/>
            </a:pPr>
            <a:r>
              <a:rPr lang="en-US" sz="750" i="1" dirty="0">
                <a:solidFill>
                  <a:srgbClr val="5B6778"/>
                </a:solidFill>
                <a:latin typeface="Calibri" pitchFamily="34" charset="0"/>
                <a:ea typeface="Calibri" pitchFamily="34" charset="-122"/>
                <a:cs typeface="Calibri" pitchFamily="34" charset="-120"/>
              </a:rPr>
              <a:t>VM Linux · VM Windows · VMware</a:t>
            </a:r>
            <a:endParaRPr lang="en-US" sz="750" dirty="0"/>
          </a:p>
        </p:txBody>
      </p:sp>
      <p:sp>
        <p:nvSpPr>
          <p:cNvPr id="70" name="Shape 67"/>
          <p:cNvSpPr/>
          <p:nvPr/>
        </p:nvSpPr>
        <p:spPr>
          <a:xfrm>
            <a:off x="8412480" y="3566160"/>
            <a:ext cx="800100" cy="502920"/>
          </a:xfrm>
          <a:prstGeom prst="rect">
            <a:avLst/>
          </a:prstGeom>
          <a:solidFill>
            <a:srgbClr val="FFFFFF"/>
          </a:solidFill>
          <a:ln w="5080">
            <a:solidFill>
              <a:srgbClr val="D6DEE8"/>
            </a:solidFill>
            <a:prstDash val="solid"/>
          </a:ln>
        </p:spPr>
      </p:sp>
      <p:sp>
        <p:nvSpPr>
          <p:cNvPr id="71" name="Shape 68"/>
          <p:cNvSpPr/>
          <p:nvPr/>
        </p:nvSpPr>
        <p:spPr>
          <a:xfrm>
            <a:off x="8730234" y="3735324"/>
            <a:ext cx="164592" cy="164592"/>
          </a:xfrm>
          <a:prstGeom prst="ellipse">
            <a:avLst/>
          </a:prstGeom>
          <a:solidFill>
            <a:srgbClr val="1F8B4C"/>
          </a:solidFill>
          <a:ln/>
        </p:spPr>
      </p:sp>
      <p:sp>
        <p:nvSpPr>
          <p:cNvPr id="72" name="Shape 69"/>
          <p:cNvSpPr/>
          <p:nvPr/>
        </p:nvSpPr>
        <p:spPr>
          <a:xfrm>
            <a:off x="9212580" y="3566160"/>
            <a:ext cx="800100" cy="502920"/>
          </a:xfrm>
          <a:prstGeom prst="rect">
            <a:avLst/>
          </a:prstGeom>
          <a:solidFill>
            <a:srgbClr val="FFFFFF"/>
          </a:solidFill>
          <a:ln w="5080">
            <a:solidFill>
              <a:srgbClr val="D6DEE8"/>
            </a:solidFill>
            <a:prstDash val="solid"/>
          </a:ln>
        </p:spPr>
      </p:sp>
      <p:sp>
        <p:nvSpPr>
          <p:cNvPr id="73" name="Shape 70"/>
          <p:cNvSpPr/>
          <p:nvPr/>
        </p:nvSpPr>
        <p:spPr>
          <a:xfrm>
            <a:off x="9530334" y="3735324"/>
            <a:ext cx="164592" cy="164592"/>
          </a:xfrm>
          <a:prstGeom prst="ellipse">
            <a:avLst/>
          </a:prstGeom>
          <a:solidFill>
            <a:srgbClr val="1F8B4C"/>
          </a:solidFill>
          <a:ln/>
        </p:spPr>
      </p:sp>
      <p:sp>
        <p:nvSpPr>
          <p:cNvPr id="74" name="Shape 71"/>
          <p:cNvSpPr/>
          <p:nvPr/>
        </p:nvSpPr>
        <p:spPr>
          <a:xfrm>
            <a:off x="10012680" y="3566160"/>
            <a:ext cx="800100" cy="502920"/>
          </a:xfrm>
          <a:prstGeom prst="rect">
            <a:avLst/>
          </a:prstGeom>
          <a:solidFill>
            <a:srgbClr val="FFFFFF"/>
          </a:solidFill>
          <a:ln w="5080">
            <a:solidFill>
              <a:srgbClr val="D6DEE8"/>
            </a:solidFill>
            <a:prstDash val="solid"/>
          </a:ln>
        </p:spPr>
      </p:sp>
      <p:sp>
        <p:nvSpPr>
          <p:cNvPr id="75" name="Shape 72"/>
          <p:cNvSpPr/>
          <p:nvPr/>
        </p:nvSpPr>
        <p:spPr>
          <a:xfrm>
            <a:off x="10330434" y="3735324"/>
            <a:ext cx="164592" cy="164592"/>
          </a:xfrm>
          <a:prstGeom prst="ellipse">
            <a:avLst/>
          </a:prstGeom>
          <a:solidFill>
            <a:srgbClr val="1F8B4C"/>
          </a:solidFill>
          <a:ln/>
        </p:spPr>
      </p:sp>
      <p:sp>
        <p:nvSpPr>
          <p:cNvPr id="76" name="Shape 73"/>
          <p:cNvSpPr/>
          <p:nvPr/>
        </p:nvSpPr>
        <p:spPr>
          <a:xfrm>
            <a:off x="10812780" y="3566160"/>
            <a:ext cx="800100" cy="502920"/>
          </a:xfrm>
          <a:prstGeom prst="rect">
            <a:avLst/>
          </a:prstGeom>
          <a:solidFill>
            <a:srgbClr val="FFFFFF"/>
          </a:solidFill>
          <a:ln w="5080">
            <a:solidFill>
              <a:srgbClr val="D6DEE8"/>
            </a:solidFill>
            <a:prstDash val="solid"/>
          </a:ln>
        </p:spPr>
      </p:sp>
      <p:sp>
        <p:nvSpPr>
          <p:cNvPr id="77" name="Shape 74"/>
          <p:cNvSpPr/>
          <p:nvPr/>
        </p:nvSpPr>
        <p:spPr>
          <a:xfrm>
            <a:off x="11130534" y="3735324"/>
            <a:ext cx="164592" cy="164592"/>
          </a:xfrm>
          <a:prstGeom prst="ellipse">
            <a:avLst/>
          </a:prstGeom>
          <a:solidFill>
            <a:srgbClr val="C97A00"/>
          </a:solidFill>
          <a:ln/>
        </p:spPr>
      </p:sp>
      <p:sp>
        <p:nvSpPr>
          <p:cNvPr id="78" name="Shape 75"/>
          <p:cNvSpPr/>
          <p:nvPr/>
        </p:nvSpPr>
        <p:spPr>
          <a:xfrm>
            <a:off x="6858000" y="4069080"/>
            <a:ext cx="1554480" cy="502920"/>
          </a:xfrm>
          <a:prstGeom prst="rect">
            <a:avLst/>
          </a:prstGeom>
          <a:solidFill>
            <a:srgbClr val="F6F8FB"/>
          </a:solidFill>
          <a:ln w="5080">
            <a:solidFill>
              <a:srgbClr val="D6DEE8"/>
            </a:solidFill>
            <a:prstDash val="solid"/>
          </a:ln>
        </p:spPr>
      </p:sp>
      <p:sp>
        <p:nvSpPr>
          <p:cNvPr id="79" name="Text 76"/>
          <p:cNvSpPr/>
          <p:nvPr/>
        </p:nvSpPr>
        <p:spPr>
          <a:xfrm>
            <a:off x="6949440" y="4114800"/>
            <a:ext cx="1097280" cy="22860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Network</a:t>
            </a:r>
            <a:endParaRPr lang="en-US" sz="1000" dirty="0"/>
          </a:p>
        </p:txBody>
      </p:sp>
      <p:sp>
        <p:nvSpPr>
          <p:cNvPr id="80" name="Shape 77"/>
          <p:cNvSpPr/>
          <p:nvPr/>
        </p:nvSpPr>
        <p:spPr>
          <a:xfrm>
            <a:off x="8138160" y="4142232"/>
            <a:ext cx="201168" cy="201168"/>
          </a:xfrm>
          <a:prstGeom prst="ellipse">
            <a:avLst/>
          </a:prstGeom>
          <a:solidFill>
            <a:srgbClr val="FEDF01"/>
          </a:solidFill>
          <a:ln/>
        </p:spPr>
      </p:sp>
      <p:sp>
        <p:nvSpPr>
          <p:cNvPr id="81" name="Text 78"/>
          <p:cNvSpPr/>
          <p:nvPr/>
        </p:nvSpPr>
        <p:spPr>
          <a:xfrm>
            <a:off x="8138160" y="4142232"/>
            <a:ext cx="201168" cy="201168"/>
          </a:xfrm>
          <a:prstGeom prst="rect">
            <a:avLst/>
          </a:prstGeom>
          <a:noFill/>
          <a:ln/>
        </p:spPr>
        <p:txBody>
          <a:bodyPr wrap="square" lIns="0" tIns="0" rIns="0" bIns="0" rtlCol="0" anchor="ctr"/>
          <a:lstStyle/>
          <a:p>
            <a:pPr algn="ctr" indent="0" marL="0">
              <a:buNone/>
            </a:pPr>
            <a:r>
              <a:rPr lang="en-US" sz="1000" b="1" dirty="0">
                <a:solidFill>
                  <a:srgbClr val="001F47"/>
                </a:solidFill>
                <a:latin typeface="Trebuchet MS" pitchFamily="34" charset="0"/>
                <a:ea typeface="Trebuchet MS" pitchFamily="34" charset="-122"/>
                <a:cs typeface="Trebuchet MS" pitchFamily="34" charset="-120"/>
              </a:rPr>
              <a:t>3</a:t>
            </a:r>
            <a:endParaRPr lang="en-US" sz="1000" dirty="0"/>
          </a:p>
        </p:txBody>
      </p:sp>
      <p:sp>
        <p:nvSpPr>
          <p:cNvPr id="82" name="Text 79"/>
          <p:cNvSpPr/>
          <p:nvPr/>
        </p:nvSpPr>
        <p:spPr>
          <a:xfrm>
            <a:off x="6949440" y="4343400"/>
            <a:ext cx="1417320" cy="228600"/>
          </a:xfrm>
          <a:prstGeom prst="rect">
            <a:avLst/>
          </a:prstGeom>
          <a:noFill/>
          <a:ln/>
        </p:spPr>
        <p:txBody>
          <a:bodyPr wrap="square" lIns="0" tIns="0" rIns="0" bIns="0" rtlCol="0" anchor="ctr"/>
          <a:lstStyle/>
          <a:p>
            <a:pPr indent="0" marL="0">
              <a:buNone/>
            </a:pPr>
            <a:r>
              <a:rPr lang="en-US" sz="750" i="1" dirty="0">
                <a:solidFill>
                  <a:srgbClr val="5B6778"/>
                </a:solidFill>
                <a:latin typeface="Calibri" pitchFamily="34" charset="0"/>
                <a:ea typeface="Calibri" pitchFamily="34" charset="-122"/>
                <a:cs typeface="Calibri" pitchFamily="34" charset="-120"/>
              </a:rPr>
              <a:t>F5 · Cisco/Arista · DNS Vercara</a:t>
            </a:r>
            <a:endParaRPr lang="en-US" sz="750" dirty="0"/>
          </a:p>
        </p:txBody>
      </p:sp>
      <p:sp>
        <p:nvSpPr>
          <p:cNvPr id="83" name="Shape 80"/>
          <p:cNvSpPr/>
          <p:nvPr/>
        </p:nvSpPr>
        <p:spPr>
          <a:xfrm>
            <a:off x="8412480" y="4069080"/>
            <a:ext cx="800100" cy="502920"/>
          </a:xfrm>
          <a:prstGeom prst="rect">
            <a:avLst/>
          </a:prstGeom>
          <a:solidFill>
            <a:srgbClr val="FFFFFF"/>
          </a:solidFill>
          <a:ln w="5080">
            <a:solidFill>
              <a:srgbClr val="D6DEE8"/>
            </a:solidFill>
            <a:prstDash val="solid"/>
          </a:ln>
        </p:spPr>
      </p:sp>
      <p:sp>
        <p:nvSpPr>
          <p:cNvPr id="84" name="Shape 81"/>
          <p:cNvSpPr/>
          <p:nvPr/>
        </p:nvSpPr>
        <p:spPr>
          <a:xfrm>
            <a:off x="8730234" y="4238244"/>
            <a:ext cx="164592" cy="164592"/>
          </a:xfrm>
          <a:prstGeom prst="ellipse">
            <a:avLst/>
          </a:prstGeom>
          <a:solidFill>
            <a:srgbClr val="C97A00"/>
          </a:solidFill>
          <a:ln/>
        </p:spPr>
      </p:sp>
      <p:sp>
        <p:nvSpPr>
          <p:cNvPr id="85" name="Shape 82"/>
          <p:cNvSpPr/>
          <p:nvPr/>
        </p:nvSpPr>
        <p:spPr>
          <a:xfrm>
            <a:off x="9212580" y="4069080"/>
            <a:ext cx="800100" cy="502920"/>
          </a:xfrm>
          <a:prstGeom prst="rect">
            <a:avLst/>
          </a:prstGeom>
          <a:solidFill>
            <a:srgbClr val="FFFFFF"/>
          </a:solidFill>
          <a:ln w="5080">
            <a:solidFill>
              <a:srgbClr val="D6DEE8"/>
            </a:solidFill>
            <a:prstDash val="solid"/>
          </a:ln>
        </p:spPr>
      </p:sp>
      <p:sp>
        <p:nvSpPr>
          <p:cNvPr id="86" name="Shape 83"/>
          <p:cNvSpPr/>
          <p:nvPr/>
        </p:nvSpPr>
        <p:spPr>
          <a:xfrm>
            <a:off x="9530334" y="4238244"/>
            <a:ext cx="164592" cy="164592"/>
          </a:xfrm>
          <a:prstGeom prst="ellipse">
            <a:avLst/>
          </a:prstGeom>
          <a:solidFill>
            <a:srgbClr val="1F8B4C"/>
          </a:solidFill>
          <a:ln/>
        </p:spPr>
      </p:sp>
      <p:sp>
        <p:nvSpPr>
          <p:cNvPr id="87" name="Shape 84"/>
          <p:cNvSpPr/>
          <p:nvPr/>
        </p:nvSpPr>
        <p:spPr>
          <a:xfrm>
            <a:off x="10012680" y="4069080"/>
            <a:ext cx="800100" cy="502920"/>
          </a:xfrm>
          <a:prstGeom prst="rect">
            <a:avLst/>
          </a:prstGeom>
          <a:solidFill>
            <a:srgbClr val="FFFFFF"/>
          </a:solidFill>
          <a:ln w="5080">
            <a:solidFill>
              <a:srgbClr val="D6DEE8"/>
            </a:solidFill>
            <a:prstDash val="solid"/>
          </a:ln>
        </p:spPr>
      </p:sp>
      <p:sp>
        <p:nvSpPr>
          <p:cNvPr id="88" name="Shape 85"/>
          <p:cNvSpPr/>
          <p:nvPr/>
        </p:nvSpPr>
        <p:spPr>
          <a:xfrm>
            <a:off x="10330434" y="4238244"/>
            <a:ext cx="164592" cy="164592"/>
          </a:xfrm>
          <a:prstGeom prst="ellipse">
            <a:avLst/>
          </a:prstGeom>
          <a:solidFill>
            <a:srgbClr val="C97A00"/>
          </a:solidFill>
          <a:ln/>
        </p:spPr>
      </p:sp>
      <p:sp>
        <p:nvSpPr>
          <p:cNvPr id="89" name="Shape 86"/>
          <p:cNvSpPr/>
          <p:nvPr/>
        </p:nvSpPr>
        <p:spPr>
          <a:xfrm>
            <a:off x="10812780" y="4069080"/>
            <a:ext cx="800100" cy="502920"/>
          </a:xfrm>
          <a:prstGeom prst="rect">
            <a:avLst/>
          </a:prstGeom>
          <a:solidFill>
            <a:srgbClr val="FFFFFF"/>
          </a:solidFill>
          <a:ln w="5080">
            <a:solidFill>
              <a:srgbClr val="D6DEE8"/>
            </a:solidFill>
            <a:prstDash val="solid"/>
          </a:ln>
        </p:spPr>
      </p:sp>
      <p:sp>
        <p:nvSpPr>
          <p:cNvPr id="90" name="Shape 87"/>
          <p:cNvSpPr/>
          <p:nvPr/>
        </p:nvSpPr>
        <p:spPr>
          <a:xfrm>
            <a:off x="11130534" y="4238244"/>
            <a:ext cx="164592" cy="164592"/>
          </a:xfrm>
          <a:prstGeom prst="ellipse">
            <a:avLst/>
          </a:prstGeom>
          <a:solidFill>
            <a:srgbClr val="5B6778"/>
          </a:solidFill>
          <a:ln/>
        </p:spPr>
      </p:sp>
      <p:sp>
        <p:nvSpPr>
          <p:cNvPr id="91" name="Shape 88"/>
          <p:cNvSpPr/>
          <p:nvPr/>
        </p:nvSpPr>
        <p:spPr>
          <a:xfrm>
            <a:off x="6858000" y="4572000"/>
            <a:ext cx="1554480" cy="502920"/>
          </a:xfrm>
          <a:prstGeom prst="rect">
            <a:avLst/>
          </a:prstGeom>
          <a:solidFill>
            <a:srgbClr val="F6F8FB"/>
          </a:solidFill>
          <a:ln w="5080">
            <a:solidFill>
              <a:srgbClr val="D6DEE8"/>
            </a:solidFill>
            <a:prstDash val="solid"/>
          </a:ln>
        </p:spPr>
      </p:sp>
      <p:sp>
        <p:nvSpPr>
          <p:cNvPr id="92" name="Text 89"/>
          <p:cNvSpPr/>
          <p:nvPr/>
        </p:nvSpPr>
        <p:spPr>
          <a:xfrm>
            <a:off x="6949440" y="4617720"/>
            <a:ext cx="1097280" cy="22860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Middleware</a:t>
            </a:r>
            <a:endParaRPr lang="en-US" sz="1000" dirty="0"/>
          </a:p>
        </p:txBody>
      </p:sp>
      <p:sp>
        <p:nvSpPr>
          <p:cNvPr id="93" name="Shape 90"/>
          <p:cNvSpPr/>
          <p:nvPr/>
        </p:nvSpPr>
        <p:spPr>
          <a:xfrm>
            <a:off x="8138160" y="4645152"/>
            <a:ext cx="201168" cy="201168"/>
          </a:xfrm>
          <a:prstGeom prst="ellipse">
            <a:avLst/>
          </a:prstGeom>
          <a:solidFill>
            <a:srgbClr val="FEDF01"/>
          </a:solidFill>
          <a:ln/>
        </p:spPr>
      </p:sp>
      <p:sp>
        <p:nvSpPr>
          <p:cNvPr id="94" name="Text 91"/>
          <p:cNvSpPr/>
          <p:nvPr/>
        </p:nvSpPr>
        <p:spPr>
          <a:xfrm>
            <a:off x="8138160" y="4645152"/>
            <a:ext cx="201168" cy="201168"/>
          </a:xfrm>
          <a:prstGeom prst="rect">
            <a:avLst/>
          </a:prstGeom>
          <a:noFill/>
          <a:ln/>
        </p:spPr>
        <p:txBody>
          <a:bodyPr wrap="square" lIns="0" tIns="0" rIns="0" bIns="0" rtlCol="0" anchor="ctr"/>
          <a:lstStyle/>
          <a:p>
            <a:pPr algn="ctr" indent="0" marL="0">
              <a:buNone/>
            </a:pPr>
            <a:r>
              <a:rPr lang="en-US" sz="1000" b="1" dirty="0">
                <a:solidFill>
                  <a:srgbClr val="001F47"/>
                </a:solidFill>
                <a:latin typeface="Trebuchet MS" pitchFamily="34" charset="0"/>
                <a:ea typeface="Trebuchet MS" pitchFamily="34" charset="-122"/>
                <a:cs typeface="Trebuchet MS" pitchFamily="34" charset="-120"/>
              </a:rPr>
              <a:t>5</a:t>
            </a:r>
            <a:endParaRPr lang="en-US" sz="1000" dirty="0"/>
          </a:p>
        </p:txBody>
      </p:sp>
      <p:sp>
        <p:nvSpPr>
          <p:cNvPr id="95" name="Text 92"/>
          <p:cNvSpPr/>
          <p:nvPr/>
        </p:nvSpPr>
        <p:spPr>
          <a:xfrm>
            <a:off x="6949440" y="4846320"/>
            <a:ext cx="1417320" cy="228600"/>
          </a:xfrm>
          <a:prstGeom prst="rect">
            <a:avLst/>
          </a:prstGeom>
          <a:noFill/>
          <a:ln/>
        </p:spPr>
        <p:txBody>
          <a:bodyPr wrap="square" lIns="0" tIns="0" rIns="0" bIns="0" rtlCol="0" anchor="ctr"/>
          <a:lstStyle/>
          <a:p>
            <a:pPr indent="0" marL="0">
              <a:buNone/>
            </a:pPr>
            <a:r>
              <a:rPr lang="en-US" sz="750" i="1" dirty="0">
                <a:solidFill>
                  <a:srgbClr val="5B6778"/>
                </a:solidFill>
                <a:latin typeface="Calibri" pitchFamily="34" charset="0"/>
                <a:ea typeface="Calibri" pitchFamily="34" charset="-122"/>
                <a:cs typeface="Calibri" pitchFamily="34" charset="-120"/>
              </a:rPr>
              <a:t>JMS · JBoss · WebSphere · PEGA · IBM MQ</a:t>
            </a:r>
            <a:endParaRPr lang="en-US" sz="750" dirty="0"/>
          </a:p>
        </p:txBody>
      </p:sp>
      <p:sp>
        <p:nvSpPr>
          <p:cNvPr id="96" name="Shape 93"/>
          <p:cNvSpPr/>
          <p:nvPr/>
        </p:nvSpPr>
        <p:spPr>
          <a:xfrm>
            <a:off x="8412480" y="4572000"/>
            <a:ext cx="800100" cy="502920"/>
          </a:xfrm>
          <a:prstGeom prst="rect">
            <a:avLst/>
          </a:prstGeom>
          <a:solidFill>
            <a:srgbClr val="FFFFFF"/>
          </a:solidFill>
          <a:ln w="5080">
            <a:solidFill>
              <a:srgbClr val="D6DEE8"/>
            </a:solidFill>
            <a:prstDash val="solid"/>
          </a:ln>
        </p:spPr>
      </p:sp>
      <p:sp>
        <p:nvSpPr>
          <p:cNvPr id="97" name="Shape 94"/>
          <p:cNvSpPr/>
          <p:nvPr/>
        </p:nvSpPr>
        <p:spPr>
          <a:xfrm>
            <a:off x="8730234" y="4741164"/>
            <a:ext cx="164592" cy="164592"/>
          </a:xfrm>
          <a:prstGeom prst="ellipse">
            <a:avLst/>
          </a:prstGeom>
          <a:solidFill>
            <a:srgbClr val="C97A00"/>
          </a:solidFill>
          <a:ln/>
        </p:spPr>
      </p:sp>
      <p:sp>
        <p:nvSpPr>
          <p:cNvPr id="98" name="Shape 95"/>
          <p:cNvSpPr/>
          <p:nvPr/>
        </p:nvSpPr>
        <p:spPr>
          <a:xfrm>
            <a:off x="9212580" y="4572000"/>
            <a:ext cx="800100" cy="502920"/>
          </a:xfrm>
          <a:prstGeom prst="rect">
            <a:avLst/>
          </a:prstGeom>
          <a:solidFill>
            <a:srgbClr val="FFFFFF"/>
          </a:solidFill>
          <a:ln w="5080">
            <a:solidFill>
              <a:srgbClr val="D6DEE8"/>
            </a:solidFill>
            <a:prstDash val="solid"/>
          </a:ln>
        </p:spPr>
      </p:sp>
      <p:sp>
        <p:nvSpPr>
          <p:cNvPr id="99" name="Shape 96"/>
          <p:cNvSpPr/>
          <p:nvPr/>
        </p:nvSpPr>
        <p:spPr>
          <a:xfrm>
            <a:off x="9530334" y="4741164"/>
            <a:ext cx="164592" cy="164592"/>
          </a:xfrm>
          <a:prstGeom prst="ellipse">
            <a:avLst/>
          </a:prstGeom>
          <a:solidFill>
            <a:srgbClr val="C97A00"/>
          </a:solidFill>
          <a:ln/>
        </p:spPr>
      </p:sp>
      <p:sp>
        <p:nvSpPr>
          <p:cNvPr id="100" name="Shape 97"/>
          <p:cNvSpPr/>
          <p:nvPr/>
        </p:nvSpPr>
        <p:spPr>
          <a:xfrm>
            <a:off x="10012680" y="4572000"/>
            <a:ext cx="800100" cy="502920"/>
          </a:xfrm>
          <a:prstGeom prst="rect">
            <a:avLst/>
          </a:prstGeom>
          <a:solidFill>
            <a:srgbClr val="FFFFFF"/>
          </a:solidFill>
          <a:ln w="5080">
            <a:solidFill>
              <a:srgbClr val="D6DEE8"/>
            </a:solidFill>
            <a:prstDash val="solid"/>
          </a:ln>
        </p:spPr>
      </p:sp>
      <p:sp>
        <p:nvSpPr>
          <p:cNvPr id="101" name="Shape 98"/>
          <p:cNvSpPr/>
          <p:nvPr/>
        </p:nvSpPr>
        <p:spPr>
          <a:xfrm>
            <a:off x="10330434" y="4741164"/>
            <a:ext cx="164592" cy="164592"/>
          </a:xfrm>
          <a:prstGeom prst="ellipse">
            <a:avLst/>
          </a:prstGeom>
          <a:solidFill>
            <a:srgbClr val="C97A00"/>
          </a:solidFill>
          <a:ln/>
        </p:spPr>
      </p:sp>
      <p:sp>
        <p:nvSpPr>
          <p:cNvPr id="102" name="Shape 99"/>
          <p:cNvSpPr/>
          <p:nvPr/>
        </p:nvSpPr>
        <p:spPr>
          <a:xfrm>
            <a:off x="10812780" y="4572000"/>
            <a:ext cx="800100" cy="502920"/>
          </a:xfrm>
          <a:prstGeom prst="rect">
            <a:avLst/>
          </a:prstGeom>
          <a:solidFill>
            <a:srgbClr val="FFFFFF"/>
          </a:solidFill>
          <a:ln w="5080">
            <a:solidFill>
              <a:srgbClr val="D6DEE8"/>
            </a:solidFill>
            <a:prstDash val="solid"/>
          </a:ln>
        </p:spPr>
      </p:sp>
      <p:sp>
        <p:nvSpPr>
          <p:cNvPr id="103" name="Shape 100"/>
          <p:cNvSpPr/>
          <p:nvPr/>
        </p:nvSpPr>
        <p:spPr>
          <a:xfrm>
            <a:off x="11130534" y="4741164"/>
            <a:ext cx="164592" cy="164592"/>
          </a:xfrm>
          <a:prstGeom prst="ellipse">
            <a:avLst/>
          </a:prstGeom>
          <a:solidFill>
            <a:srgbClr val="5B6778"/>
          </a:solidFill>
          <a:ln/>
        </p:spPr>
      </p:sp>
      <p:sp>
        <p:nvSpPr>
          <p:cNvPr id="104" name="Shape 101"/>
          <p:cNvSpPr/>
          <p:nvPr/>
        </p:nvSpPr>
        <p:spPr>
          <a:xfrm>
            <a:off x="6858000" y="5340096"/>
            <a:ext cx="137160" cy="137160"/>
          </a:xfrm>
          <a:prstGeom prst="ellipse">
            <a:avLst/>
          </a:prstGeom>
          <a:solidFill>
            <a:srgbClr val="1F8B4C"/>
          </a:solidFill>
          <a:ln/>
        </p:spPr>
      </p:sp>
      <p:sp>
        <p:nvSpPr>
          <p:cNvPr id="105" name="Text 102"/>
          <p:cNvSpPr/>
          <p:nvPr/>
        </p:nvSpPr>
        <p:spPr>
          <a:xfrm>
            <a:off x="7059168" y="5303520"/>
            <a:ext cx="1097280" cy="228600"/>
          </a:xfrm>
          <a:prstGeom prst="rect">
            <a:avLst/>
          </a:prstGeom>
          <a:noFill/>
          <a:ln/>
        </p:spPr>
        <p:txBody>
          <a:bodyPr wrap="square" lIns="0" tIns="0" rIns="0" bIns="0" rtlCol="0" anchor="ctr"/>
          <a:lstStyle/>
          <a:p>
            <a:pPr indent="0" marL="0">
              <a:buNone/>
            </a:pPr>
            <a:r>
              <a:rPr lang="en-US" sz="1000" dirty="0">
                <a:solidFill>
                  <a:srgbClr val="5B6778"/>
                </a:solidFill>
                <a:latin typeface="Calibri" pitchFamily="34" charset="0"/>
                <a:ea typeface="Calibri" pitchFamily="34" charset="-122"/>
                <a:cs typeface="Calibri" pitchFamily="34" charset="-120"/>
              </a:rPr>
              <a:t>Active</a:t>
            </a:r>
            <a:endParaRPr lang="en-US" sz="1000" dirty="0"/>
          </a:p>
        </p:txBody>
      </p:sp>
      <p:sp>
        <p:nvSpPr>
          <p:cNvPr id="106" name="Shape 103"/>
          <p:cNvSpPr/>
          <p:nvPr/>
        </p:nvSpPr>
        <p:spPr>
          <a:xfrm>
            <a:off x="8138160" y="5340096"/>
            <a:ext cx="137160" cy="137160"/>
          </a:xfrm>
          <a:prstGeom prst="ellipse">
            <a:avLst/>
          </a:prstGeom>
          <a:solidFill>
            <a:srgbClr val="C97A00"/>
          </a:solidFill>
          <a:ln/>
        </p:spPr>
      </p:sp>
      <p:sp>
        <p:nvSpPr>
          <p:cNvPr id="107" name="Text 104"/>
          <p:cNvSpPr/>
          <p:nvPr/>
        </p:nvSpPr>
        <p:spPr>
          <a:xfrm>
            <a:off x="8339328" y="5303520"/>
            <a:ext cx="1097280" cy="228600"/>
          </a:xfrm>
          <a:prstGeom prst="rect">
            <a:avLst/>
          </a:prstGeom>
          <a:noFill/>
          <a:ln/>
        </p:spPr>
        <p:txBody>
          <a:bodyPr wrap="square" lIns="0" tIns="0" rIns="0" bIns="0" rtlCol="0" anchor="ctr"/>
          <a:lstStyle/>
          <a:p>
            <a:pPr indent="0" marL="0">
              <a:buNone/>
            </a:pPr>
            <a:r>
              <a:rPr lang="en-US" sz="1000" dirty="0">
                <a:solidFill>
                  <a:srgbClr val="5B6778"/>
                </a:solidFill>
                <a:latin typeface="Calibri" pitchFamily="34" charset="0"/>
                <a:ea typeface="Calibri" pitchFamily="34" charset="-122"/>
                <a:cs typeface="Calibri" pitchFamily="34" charset="-120"/>
              </a:rPr>
              <a:t>In progress</a:t>
            </a:r>
            <a:endParaRPr lang="en-US" sz="1000" dirty="0"/>
          </a:p>
        </p:txBody>
      </p:sp>
      <p:sp>
        <p:nvSpPr>
          <p:cNvPr id="108" name="Shape 105"/>
          <p:cNvSpPr/>
          <p:nvPr/>
        </p:nvSpPr>
        <p:spPr>
          <a:xfrm>
            <a:off x="9418320" y="5340096"/>
            <a:ext cx="137160" cy="137160"/>
          </a:xfrm>
          <a:prstGeom prst="ellipse">
            <a:avLst/>
          </a:prstGeom>
          <a:solidFill>
            <a:srgbClr val="5B6778"/>
          </a:solidFill>
          <a:ln/>
        </p:spPr>
      </p:sp>
      <p:sp>
        <p:nvSpPr>
          <p:cNvPr id="109" name="Text 106"/>
          <p:cNvSpPr/>
          <p:nvPr/>
        </p:nvSpPr>
        <p:spPr>
          <a:xfrm>
            <a:off x="9619488" y="5303520"/>
            <a:ext cx="1097280" cy="228600"/>
          </a:xfrm>
          <a:prstGeom prst="rect">
            <a:avLst/>
          </a:prstGeom>
          <a:noFill/>
          <a:ln/>
        </p:spPr>
        <p:txBody>
          <a:bodyPr wrap="square" lIns="0" tIns="0" rIns="0" bIns="0" rtlCol="0" anchor="ctr"/>
          <a:lstStyle/>
          <a:p>
            <a:pPr indent="0" marL="0">
              <a:buNone/>
            </a:pPr>
            <a:r>
              <a:rPr lang="en-US" sz="1000" dirty="0">
                <a:solidFill>
                  <a:srgbClr val="5B6778"/>
                </a:solidFill>
                <a:latin typeface="Calibri" pitchFamily="34" charset="0"/>
                <a:ea typeface="Calibri" pitchFamily="34" charset="-122"/>
                <a:cs typeface="Calibri" pitchFamily="34" charset="-120"/>
              </a:rPr>
              <a:t>Not started</a:t>
            </a:r>
            <a:endParaRPr lang="en-US" sz="1000" dirty="0"/>
          </a:p>
        </p:txBody>
      </p:sp>
      <p:sp>
        <p:nvSpPr>
          <p:cNvPr id="110" name="Shape 107"/>
          <p:cNvSpPr/>
          <p:nvPr/>
        </p:nvSpPr>
        <p:spPr>
          <a:xfrm>
            <a:off x="548640" y="5989320"/>
            <a:ext cx="11064240" cy="457200"/>
          </a:xfrm>
          <a:prstGeom prst="rect">
            <a:avLst/>
          </a:prstGeom>
          <a:solidFill>
            <a:srgbClr val="E6EEF8"/>
          </a:solidFill>
          <a:ln/>
        </p:spPr>
      </p:sp>
      <p:pic>
        <p:nvPicPr>
          <p:cNvPr id="111" name="Image 1" descr="preencoded.png">    </p:cNvPr>
          <p:cNvPicPr>
            <a:picLocks noChangeAspect="1"/>
          </p:cNvPicPr>
          <p:nvPr/>
        </p:nvPicPr>
        <p:blipFill>
          <a:blip r:embed="rId2"/>
          <a:stretch>
            <a:fillRect/>
          </a:stretch>
        </p:blipFill>
        <p:spPr>
          <a:xfrm>
            <a:off x="713232" y="6108192"/>
            <a:ext cx="228600" cy="228600"/>
          </a:xfrm>
          <a:prstGeom prst="rect">
            <a:avLst/>
          </a:prstGeom>
        </p:spPr>
      </p:pic>
      <p:sp>
        <p:nvSpPr>
          <p:cNvPr id="112" name="Text 108"/>
          <p:cNvSpPr/>
          <p:nvPr/>
        </p:nvSpPr>
        <p:spPr>
          <a:xfrm>
            <a:off x="1051560" y="5989320"/>
            <a:ext cx="10424160" cy="457200"/>
          </a:xfrm>
          <a:prstGeom prst="rect">
            <a:avLst/>
          </a:prstGeom>
          <a:noFill/>
          <a:ln/>
        </p:spPr>
        <p:txBody>
          <a:bodyPr wrap="square" lIns="0" tIns="0" rIns="0" bIns="0" rtlCol="0" anchor="ctr"/>
          <a:lstStyle/>
          <a:p>
            <a:pPr indent="0" marL="0">
              <a:buNone/>
            </a:pPr>
            <a:r>
              <a:rPr lang="en-US" sz="1200" i="1" dirty="0">
                <a:solidFill>
                  <a:srgbClr val="001F47"/>
                </a:solidFill>
                <a:latin typeface="Calibri" pitchFamily="34" charset="0"/>
                <a:ea typeface="Calibri" pitchFamily="34" charset="-122"/>
                <a:cs typeface="Calibri" pitchFamily="34" charset="-120"/>
              </a:rPr>
              <a:t>IaC is the foundation — Compliance Reporting, Optimization, and ZephyrAI all operate on the codified estate.</a:t>
            </a:r>
            <a:endParaRPr lang="en-US" sz="1200" dirty="0"/>
          </a:p>
        </p:txBody>
      </p:sp>
      <p:sp>
        <p:nvSpPr>
          <p:cNvPr id="113" name="Text 109"/>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3 / 30</a:t>
            </a:r>
            <a:endParaRPr lang="en-US" sz="900" dirty="0"/>
          </a:p>
        </p:txBody>
      </p:sp>
      <p:sp>
        <p:nvSpPr>
          <p:cNvPr id="114" name="Text 110"/>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02  ·  PROGRAM GOVERNANCE</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Program roles &amp; responsibilities</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Who's accountable, who delivers, and who keeps the program safe and integrated.</a:t>
            </a:r>
            <a:endParaRPr lang="en-US" sz="1300" dirty="0"/>
          </a:p>
        </p:txBody>
      </p:sp>
      <p:sp>
        <p:nvSpPr>
          <p:cNvPr id="7" name="Shape 4"/>
          <p:cNvSpPr/>
          <p:nvPr/>
        </p:nvSpPr>
        <p:spPr>
          <a:xfrm>
            <a:off x="548640" y="1920240"/>
            <a:ext cx="1463040" cy="1280160"/>
          </a:xfrm>
          <a:prstGeom prst="rect">
            <a:avLst/>
          </a:prstGeom>
          <a:solidFill>
            <a:srgbClr val="001F47"/>
          </a:solidFill>
          <a:ln/>
        </p:spPr>
      </p:sp>
      <p:sp>
        <p:nvSpPr>
          <p:cNvPr id="8" name="Text 5"/>
          <p:cNvSpPr/>
          <p:nvPr/>
        </p:nvSpPr>
        <p:spPr>
          <a:xfrm>
            <a:off x="548640" y="2057400"/>
            <a:ext cx="1463040" cy="228600"/>
          </a:xfrm>
          <a:prstGeom prst="rect">
            <a:avLst/>
          </a:prstGeom>
          <a:noFill/>
          <a:ln/>
        </p:spPr>
        <p:txBody>
          <a:bodyPr wrap="square" lIns="0" tIns="0" rIns="0" bIns="0" rtlCol="0" anchor="ctr"/>
          <a:lstStyle/>
          <a:p>
            <a:pPr algn="ctr" indent="0" marL="0">
              <a:buNone/>
            </a:pPr>
            <a:r>
              <a:rPr lang="en-US" sz="1000" b="1" spc="300" kern="0" dirty="0">
                <a:solidFill>
                  <a:srgbClr val="FEDF01"/>
                </a:solidFill>
                <a:latin typeface="Trebuchet MS" pitchFamily="34" charset="0"/>
                <a:ea typeface="Trebuchet MS" pitchFamily="34" charset="-122"/>
                <a:cs typeface="Trebuchet MS" pitchFamily="34" charset="-120"/>
              </a:rPr>
              <a:t>TIER 1</a:t>
            </a:r>
            <a:endParaRPr lang="en-US" sz="1000" dirty="0"/>
          </a:p>
        </p:txBody>
      </p:sp>
      <p:sp>
        <p:nvSpPr>
          <p:cNvPr id="9" name="Text 6"/>
          <p:cNvSpPr/>
          <p:nvPr/>
        </p:nvSpPr>
        <p:spPr>
          <a:xfrm>
            <a:off x="548640" y="2304288"/>
            <a:ext cx="14630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ACCOUNTABILITY</a:t>
            </a:r>
            <a:endParaRPr lang="en-US" sz="1100" dirty="0"/>
          </a:p>
        </p:txBody>
      </p:sp>
      <p:sp>
        <p:nvSpPr>
          <p:cNvPr id="10" name="Text 7"/>
          <p:cNvSpPr/>
          <p:nvPr/>
        </p:nvSpPr>
        <p:spPr>
          <a:xfrm>
            <a:off x="548640" y="2633472"/>
            <a:ext cx="1463040" cy="457200"/>
          </a:xfrm>
          <a:prstGeom prst="rect">
            <a:avLst/>
          </a:prstGeom>
          <a:noFill/>
          <a:ln/>
        </p:spPr>
        <p:txBody>
          <a:bodyPr wrap="square" lIns="0" tIns="0" rIns="0" bIns="0" rtlCol="0" anchor="ctr"/>
          <a:lstStyle/>
          <a:p>
            <a:pPr algn="ctr" indent="0" marL="0">
              <a:buNone/>
            </a:pPr>
            <a:r>
              <a:rPr lang="en-US" sz="950" i="1" dirty="0">
                <a:solidFill>
                  <a:srgbClr val="FEDF01"/>
                </a:solidFill>
                <a:latin typeface="Calibri" pitchFamily="34" charset="0"/>
                <a:ea typeface="Calibri" pitchFamily="34" charset="-122"/>
                <a:cs typeface="Calibri" pitchFamily="34" charset="-120"/>
              </a:rPr>
              <a:t>Owns the outcome</a:t>
            </a:r>
            <a:endParaRPr lang="en-US" sz="950" dirty="0"/>
          </a:p>
        </p:txBody>
      </p:sp>
      <p:sp>
        <p:nvSpPr>
          <p:cNvPr id="11" name="Shape 8"/>
          <p:cNvSpPr/>
          <p:nvPr/>
        </p:nvSpPr>
        <p:spPr>
          <a:xfrm>
            <a:off x="2148840" y="1920240"/>
            <a:ext cx="4663440" cy="1280160"/>
          </a:xfrm>
          <a:prstGeom prst="rect">
            <a:avLst/>
          </a:prstGeom>
          <a:solidFill>
            <a:srgbClr val="FFFFFF"/>
          </a:solidFill>
          <a:ln w="7620">
            <a:solidFill>
              <a:srgbClr val="D6DEE8"/>
            </a:solidFill>
            <a:prstDash val="solid"/>
          </a:ln>
        </p:spPr>
      </p:sp>
      <p:sp>
        <p:nvSpPr>
          <p:cNvPr id="12" name="Shape 9"/>
          <p:cNvSpPr/>
          <p:nvPr/>
        </p:nvSpPr>
        <p:spPr>
          <a:xfrm>
            <a:off x="2148840" y="1920240"/>
            <a:ext cx="4663440" cy="384048"/>
          </a:xfrm>
          <a:prstGeom prst="rect">
            <a:avLst/>
          </a:prstGeom>
          <a:solidFill>
            <a:srgbClr val="0051A5"/>
          </a:solidFill>
          <a:ln/>
        </p:spPr>
      </p:sp>
      <p:sp>
        <p:nvSpPr>
          <p:cNvPr id="13" name="Text 10"/>
          <p:cNvSpPr/>
          <p:nvPr/>
        </p:nvSpPr>
        <p:spPr>
          <a:xfrm>
            <a:off x="2313432" y="1920240"/>
            <a:ext cx="4480560" cy="38404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Program Sponsor</a:t>
            </a:r>
            <a:endParaRPr lang="en-US" sz="1300" dirty="0"/>
          </a:p>
        </p:txBody>
      </p:sp>
      <p:sp>
        <p:nvSpPr>
          <p:cNvPr id="14" name="Text 11"/>
          <p:cNvSpPr/>
          <p:nvPr/>
        </p:nvSpPr>
        <p:spPr>
          <a:xfrm>
            <a:off x="2313432" y="2377440"/>
            <a:ext cx="43891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15" name="Shape 12"/>
          <p:cNvSpPr/>
          <p:nvPr/>
        </p:nvSpPr>
        <p:spPr>
          <a:xfrm>
            <a:off x="2313432" y="2697480"/>
            <a:ext cx="365760" cy="36576"/>
          </a:xfrm>
          <a:prstGeom prst="rect">
            <a:avLst/>
          </a:prstGeom>
          <a:solidFill>
            <a:srgbClr val="FEDF01"/>
          </a:solidFill>
          <a:ln/>
        </p:spPr>
      </p:sp>
      <p:sp>
        <p:nvSpPr>
          <p:cNvPr id="16" name="Text 13"/>
          <p:cNvSpPr/>
          <p:nvPr/>
        </p:nvSpPr>
        <p:spPr>
          <a:xfrm>
            <a:off x="2313432" y="2788920"/>
            <a:ext cx="4389120"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Executive accountability at the bank level. Provides air cover, defends funding, escalation point of last resort.</a:t>
            </a:r>
            <a:endParaRPr lang="en-US" sz="1000" dirty="0"/>
          </a:p>
        </p:txBody>
      </p:sp>
      <p:sp>
        <p:nvSpPr>
          <p:cNvPr id="17" name="Shape 14"/>
          <p:cNvSpPr/>
          <p:nvPr/>
        </p:nvSpPr>
        <p:spPr>
          <a:xfrm>
            <a:off x="6949440" y="1920240"/>
            <a:ext cx="4663440" cy="1280160"/>
          </a:xfrm>
          <a:prstGeom prst="rect">
            <a:avLst/>
          </a:prstGeom>
          <a:solidFill>
            <a:srgbClr val="FFFFFF"/>
          </a:solidFill>
          <a:ln w="7620">
            <a:solidFill>
              <a:srgbClr val="D6DEE8"/>
            </a:solidFill>
            <a:prstDash val="solid"/>
          </a:ln>
        </p:spPr>
      </p:sp>
      <p:sp>
        <p:nvSpPr>
          <p:cNvPr id="18" name="Shape 15"/>
          <p:cNvSpPr/>
          <p:nvPr/>
        </p:nvSpPr>
        <p:spPr>
          <a:xfrm>
            <a:off x="6949440" y="1920240"/>
            <a:ext cx="4663440" cy="384048"/>
          </a:xfrm>
          <a:prstGeom prst="rect">
            <a:avLst/>
          </a:prstGeom>
          <a:solidFill>
            <a:srgbClr val="0051A5"/>
          </a:solidFill>
          <a:ln/>
        </p:spPr>
      </p:sp>
      <p:sp>
        <p:nvSpPr>
          <p:cNvPr id="19" name="Text 16"/>
          <p:cNvSpPr/>
          <p:nvPr/>
        </p:nvSpPr>
        <p:spPr>
          <a:xfrm>
            <a:off x="7114032" y="1920240"/>
            <a:ext cx="4480560" cy="38404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Program Director</a:t>
            </a:r>
            <a:endParaRPr lang="en-US" sz="1300" dirty="0"/>
          </a:p>
        </p:txBody>
      </p:sp>
      <p:sp>
        <p:nvSpPr>
          <p:cNvPr id="20" name="Text 17"/>
          <p:cNvSpPr/>
          <p:nvPr/>
        </p:nvSpPr>
        <p:spPr>
          <a:xfrm>
            <a:off x="7114032" y="2377440"/>
            <a:ext cx="43891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21" name="Shape 18"/>
          <p:cNvSpPr/>
          <p:nvPr/>
        </p:nvSpPr>
        <p:spPr>
          <a:xfrm>
            <a:off x="7114032" y="2697480"/>
            <a:ext cx="365760" cy="36576"/>
          </a:xfrm>
          <a:prstGeom prst="rect">
            <a:avLst/>
          </a:prstGeom>
          <a:solidFill>
            <a:srgbClr val="FEDF01"/>
          </a:solidFill>
          <a:ln/>
        </p:spPr>
      </p:sp>
      <p:sp>
        <p:nvSpPr>
          <p:cNvPr id="22" name="Text 19"/>
          <p:cNvSpPr/>
          <p:nvPr/>
        </p:nvSpPr>
        <p:spPr>
          <a:xfrm>
            <a:off x="7114032" y="2788920"/>
            <a:ext cx="4389120"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Runs the program day-to-day. Owns integrated plan, steering cadence, risks, dependencies, budget.</a:t>
            </a:r>
            <a:endParaRPr lang="en-US" sz="1000" dirty="0"/>
          </a:p>
        </p:txBody>
      </p:sp>
      <p:sp>
        <p:nvSpPr>
          <p:cNvPr id="23" name="Shape 20"/>
          <p:cNvSpPr/>
          <p:nvPr/>
        </p:nvSpPr>
        <p:spPr>
          <a:xfrm>
            <a:off x="548640" y="3337560"/>
            <a:ext cx="1463040" cy="1280160"/>
          </a:xfrm>
          <a:prstGeom prst="rect">
            <a:avLst/>
          </a:prstGeom>
          <a:solidFill>
            <a:srgbClr val="0051A5"/>
          </a:solidFill>
          <a:ln/>
        </p:spPr>
      </p:sp>
      <p:sp>
        <p:nvSpPr>
          <p:cNvPr id="24" name="Text 21"/>
          <p:cNvSpPr/>
          <p:nvPr/>
        </p:nvSpPr>
        <p:spPr>
          <a:xfrm>
            <a:off x="548640" y="3474720"/>
            <a:ext cx="1463040" cy="228600"/>
          </a:xfrm>
          <a:prstGeom prst="rect">
            <a:avLst/>
          </a:prstGeom>
          <a:noFill/>
          <a:ln/>
        </p:spPr>
        <p:txBody>
          <a:bodyPr wrap="square" lIns="0" tIns="0" rIns="0" bIns="0" rtlCol="0" anchor="ctr"/>
          <a:lstStyle/>
          <a:p>
            <a:pPr algn="ctr" indent="0" marL="0">
              <a:buNone/>
            </a:pPr>
            <a:r>
              <a:rPr lang="en-US" sz="1000" b="1" spc="300" kern="0" dirty="0">
                <a:solidFill>
                  <a:srgbClr val="FEDF01"/>
                </a:solidFill>
                <a:latin typeface="Trebuchet MS" pitchFamily="34" charset="0"/>
                <a:ea typeface="Trebuchet MS" pitchFamily="34" charset="-122"/>
                <a:cs typeface="Trebuchet MS" pitchFamily="34" charset="-120"/>
              </a:rPr>
              <a:t>TIER 2</a:t>
            </a:r>
            <a:endParaRPr lang="en-US" sz="1000" dirty="0"/>
          </a:p>
        </p:txBody>
      </p:sp>
      <p:sp>
        <p:nvSpPr>
          <p:cNvPr id="25" name="Text 22"/>
          <p:cNvSpPr/>
          <p:nvPr/>
        </p:nvSpPr>
        <p:spPr>
          <a:xfrm>
            <a:off x="548640" y="3721608"/>
            <a:ext cx="14630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DELIVERY</a:t>
            </a:r>
            <a:endParaRPr lang="en-US" sz="1100" dirty="0"/>
          </a:p>
        </p:txBody>
      </p:sp>
      <p:sp>
        <p:nvSpPr>
          <p:cNvPr id="26" name="Text 23"/>
          <p:cNvSpPr/>
          <p:nvPr/>
        </p:nvSpPr>
        <p:spPr>
          <a:xfrm>
            <a:off x="548640" y="4050792"/>
            <a:ext cx="1463040" cy="457200"/>
          </a:xfrm>
          <a:prstGeom prst="rect">
            <a:avLst/>
          </a:prstGeom>
          <a:noFill/>
          <a:ln/>
        </p:spPr>
        <p:txBody>
          <a:bodyPr wrap="square" lIns="0" tIns="0" rIns="0" bIns="0" rtlCol="0" anchor="ctr"/>
          <a:lstStyle/>
          <a:p>
            <a:pPr algn="ctr" indent="0" marL="0">
              <a:buNone/>
            </a:pPr>
            <a:r>
              <a:rPr lang="en-US" sz="950" i="1" dirty="0">
                <a:solidFill>
                  <a:srgbClr val="FEDF01"/>
                </a:solidFill>
                <a:latin typeface="Calibri" pitchFamily="34" charset="0"/>
                <a:ea typeface="Calibri" pitchFamily="34" charset="-122"/>
                <a:cs typeface="Calibri" pitchFamily="34" charset="-120"/>
              </a:rPr>
              <a:t>Runs each thread</a:t>
            </a:r>
            <a:endParaRPr lang="en-US" sz="950" dirty="0"/>
          </a:p>
        </p:txBody>
      </p:sp>
      <p:sp>
        <p:nvSpPr>
          <p:cNvPr id="27" name="Shape 24"/>
          <p:cNvSpPr/>
          <p:nvPr/>
        </p:nvSpPr>
        <p:spPr>
          <a:xfrm>
            <a:off x="2148840" y="3337560"/>
            <a:ext cx="4663440" cy="1280160"/>
          </a:xfrm>
          <a:prstGeom prst="rect">
            <a:avLst/>
          </a:prstGeom>
          <a:solidFill>
            <a:srgbClr val="FFFFFF"/>
          </a:solidFill>
          <a:ln w="7620">
            <a:solidFill>
              <a:srgbClr val="D6DEE8"/>
            </a:solidFill>
            <a:prstDash val="solid"/>
          </a:ln>
        </p:spPr>
      </p:sp>
      <p:sp>
        <p:nvSpPr>
          <p:cNvPr id="28" name="Shape 25"/>
          <p:cNvSpPr/>
          <p:nvPr/>
        </p:nvSpPr>
        <p:spPr>
          <a:xfrm>
            <a:off x="2148840" y="3337560"/>
            <a:ext cx="4663440" cy="384048"/>
          </a:xfrm>
          <a:prstGeom prst="rect">
            <a:avLst/>
          </a:prstGeom>
          <a:solidFill>
            <a:srgbClr val="0051A5"/>
          </a:solidFill>
          <a:ln/>
        </p:spPr>
      </p:sp>
      <p:sp>
        <p:nvSpPr>
          <p:cNvPr id="29" name="Text 26"/>
          <p:cNvSpPr/>
          <p:nvPr/>
        </p:nvSpPr>
        <p:spPr>
          <a:xfrm>
            <a:off x="2313432" y="3337560"/>
            <a:ext cx="4480560" cy="38404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Workstream Owners (×4)</a:t>
            </a:r>
            <a:endParaRPr lang="en-US" sz="1300" dirty="0"/>
          </a:p>
        </p:txBody>
      </p:sp>
      <p:sp>
        <p:nvSpPr>
          <p:cNvPr id="30" name="Text 27"/>
          <p:cNvSpPr/>
          <p:nvPr/>
        </p:nvSpPr>
        <p:spPr>
          <a:xfrm>
            <a:off x="2313432" y="3794760"/>
            <a:ext cx="43891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31" name="Shape 28"/>
          <p:cNvSpPr/>
          <p:nvPr/>
        </p:nvSpPr>
        <p:spPr>
          <a:xfrm>
            <a:off x="2313432" y="4114800"/>
            <a:ext cx="365760" cy="36576"/>
          </a:xfrm>
          <a:prstGeom prst="rect">
            <a:avLst/>
          </a:prstGeom>
          <a:solidFill>
            <a:srgbClr val="FEDF01"/>
          </a:solidFill>
          <a:ln/>
        </p:spPr>
      </p:sp>
      <p:sp>
        <p:nvSpPr>
          <p:cNvPr id="32" name="Text 29"/>
          <p:cNvSpPr/>
          <p:nvPr/>
        </p:nvSpPr>
        <p:spPr>
          <a:xfrm>
            <a:off x="2313432" y="4206240"/>
            <a:ext cx="4389120"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One each for IaC, Compliance Reporting, Optimization, ZephyrAI. Own roadmap and outcomes for their workstream.</a:t>
            </a:r>
            <a:endParaRPr lang="en-US" sz="1000" dirty="0"/>
          </a:p>
        </p:txBody>
      </p:sp>
      <p:sp>
        <p:nvSpPr>
          <p:cNvPr id="33" name="Shape 30"/>
          <p:cNvSpPr/>
          <p:nvPr/>
        </p:nvSpPr>
        <p:spPr>
          <a:xfrm>
            <a:off x="6949440" y="3337560"/>
            <a:ext cx="4663440" cy="1280160"/>
          </a:xfrm>
          <a:prstGeom prst="rect">
            <a:avLst/>
          </a:prstGeom>
          <a:solidFill>
            <a:srgbClr val="FFFFFF"/>
          </a:solidFill>
          <a:ln w="7620">
            <a:solidFill>
              <a:srgbClr val="D6DEE8"/>
            </a:solidFill>
            <a:prstDash val="solid"/>
          </a:ln>
        </p:spPr>
      </p:sp>
      <p:sp>
        <p:nvSpPr>
          <p:cNvPr id="34" name="Shape 31"/>
          <p:cNvSpPr/>
          <p:nvPr/>
        </p:nvSpPr>
        <p:spPr>
          <a:xfrm>
            <a:off x="6949440" y="3337560"/>
            <a:ext cx="4663440" cy="384048"/>
          </a:xfrm>
          <a:prstGeom prst="rect">
            <a:avLst/>
          </a:prstGeom>
          <a:solidFill>
            <a:srgbClr val="0051A5"/>
          </a:solidFill>
          <a:ln/>
        </p:spPr>
      </p:sp>
      <p:sp>
        <p:nvSpPr>
          <p:cNvPr id="35" name="Text 32"/>
          <p:cNvSpPr/>
          <p:nvPr/>
        </p:nvSpPr>
        <p:spPr>
          <a:xfrm>
            <a:off x="7114032" y="3337560"/>
            <a:ext cx="4480560" cy="38404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Platform Leads (×5)</a:t>
            </a:r>
            <a:endParaRPr lang="en-US" sz="1300" dirty="0"/>
          </a:p>
        </p:txBody>
      </p:sp>
      <p:sp>
        <p:nvSpPr>
          <p:cNvPr id="36" name="Text 33"/>
          <p:cNvSpPr/>
          <p:nvPr/>
        </p:nvSpPr>
        <p:spPr>
          <a:xfrm>
            <a:off x="7114032" y="3794760"/>
            <a:ext cx="43891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37" name="Shape 34"/>
          <p:cNvSpPr/>
          <p:nvPr/>
        </p:nvSpPr>
        <p:spPr>
          <a:xfrm>
            <a:off x="7114032" y="4114800"/>
            <a:ext cx="365760" cy="36576"/>
          </a:xfrm>
          <a:prstGeom prst="rect">
            <a:avLst/>
          </a:prstGeom>
          <a:solidFill>
            <a:srgbClr val="FEDF01"/>
          </a:solidFill>
          <a:ln/>
        </p:spPr>
      </p:sp>
      <p:sp>
        <p:nvSpPr>
          <p:cNvPr id="38" name="Text 35"/>
          <p:cNvSpPr/>
          <p:nvPr/>
        </p:nvSpPr>
        <p:spPr>
          <a:xfrm>
            <a:off x="7114032" y="4206240"/>
            <a:ext cx="4389120"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Database, Compute, Storage, Network, Middleware. Own platform-level delivery and operational outcome.</a:t>
            </a:r>
            <a:endParaRPr lang="en-US" sz="1000" dirty="0"/>
          </a:p>
        </p:txBody>
      </p:sp>
      <p:sp>
        <p:nvSpPr>
          <p:cNvPr id="39" name="Shape 36"/>
          <p:cNvSpPr/>
          <p:nvPr/>
        </p:nvSpPr>
        <p:spPr>
          <a:xfrm>
            <a:off x="548640" y="4754880"/>
            <a:ext cx="1463040" cy="1280160"/>
          </a:xfrm>
          <a:prstGeom prst="rect">
            <a:avLst/>
          </a:prstGeom>
          <a:solidFill>
            <a:srgbClr val="C9AC00"/>
          </a:solidFill>
          <a:ln/>
        </p:spPr>
      </p:sp>
      <p:sp>
        <p:nvSpPr>
          <p:cNvPr id="40" name="Text 37"/>
          <p:cNvSpPr/>
          <p:nvPr/>
        </p:nvSpPr>
        <p:spPr>
          <a:xfrm>
            <a:off x="548640" y="4892040"/>
            <a:ext cx="1463040" cy="228600"/>
          </a:xfrm>
          <a:prstGeom prst="rect">
            <a:avLst/>
          </a:prstGeom>
          <a:noFill/>
          <a:ln/>
        </p:spPr>
        <p:txBody>
          <a:bodyPr wrap="square" lIns="0" tIns="0" rIns="0" bIns="0" rtlCol="0" anchor="ctr"/>
          <a:lstStyle/>
          <a:p>
            <a:pPr algn="ctr" indent="0" marL="0">
              <a:buNone/>
            </a:pPr>
            <a:r>
              <a:rPr lang="en-US" sz="1000" b="1" spc="300" kern="0" dirty="0">
                <a:solidFill>
                  <a:srgbClr val="001F47"/>
                </a:solidFill>
                <a:latin typeface="Trebuchet MS" pitchFamily="34" charset="0"/>
                <a:ea typeface="Trebuchet MS" pitchFamily="34" charset="-122"/>
                <a:cs typeface="Trebuchet MS" pitchFamily="34" charset="-120"/>
              </a:rPr>
              <a:t>TIER 3</a:t>
            </a:r>
            <a:endParaRPr lang="en-US" sz="1000" dirty="0"/>
          </a:p>
        </p:txBody>
      </p:sp>
      <p:sp>
        <p:nvSpPr>
          <p:cNvPr id="41" name="Text 38"/>
          <p:cNvSpPr/>
          <p:nvPr/>
        </p:nvSpPr>
        <p:spPr>
          <a:xfrm>
            <a:off x="548640" y="5138928"/>
            <a:ext cx="1463040" cy="274320"/>
          </a:xfrm>
          <a:prstGeom prst="rect">
            <a:avLst/>
          </a:prstGeom>
          <a:noFill/>
          <a:ln/>
        </p:spPr>
        <p:txBody>
          <a:bodyPr wrap="square" lIns="0" tIns="0" rIns="0" bIns="0" rtlCol="0" anchor="ctr"/>
          <a:lstStyle/>
          <a:p>
            <a:pPr algn="ctr" indent="0" marL="0">
              <a:buNone/>
            </a:pPr>
            <a:r>
              <a:rPr lang="en-US" sz="1100" b="1" dirty="0">
                <a:solidFill>
                  <a:srgbClr val="001F47"/>
                </a:solidFill>
                <a:latin typeface="Trebuchet MS" pitchFamily="34" charset="0"/>
                <a:ea typeface="Trebuchet MS" pitchFamily="34" charset="-122"/>
                <a:cs typeface="Trebuchet MS" pitchFamily="34" charset="-120"/>
              </a:rPr>
              <a:t>CROSS-CUTTING</a:t>
            </a:r>
            <a:endParaRPr lang="en-US" sz="1100" dirty="0"/>
          </a:p>
        </p:txBody>
      </p:sp>
      <p:sp>
        <p:nvSpPr>
          <p:cNvPr id="42" name="Text 39"/>
          <p:cNvSpPr/>
          <p:nvPr/>
        </p:nvSpPr>
        <p:spPr>
          <a:xfrm>
            <a:off x="548640" y="5468112"/>
            <a:ext cx="1463040" cy="457200"/>
          </a:xfrm>
          <a:prstGeom prst="rect">
            <a:avLst/>
          </a:prstGeom>
          <a:noFill/>
          <a:ln/>
        </p:spPr>
        <p:txBody>
          <a:bodyPr wrap="square" lIns="0" tIns="0" rIns="0" bIns="0" rtlCol="0" anchor="ctr"/>
          <a:lstStyle/>
          <a:p>
            <a:pPr algn="ctr" indent="0" marL="0">
              <a:buNone/>
            </a:pPr>
            <a:r>
              <a:rPr lang="en-US" sz="950" i="1" dirty="0">
                <a:solidFill>
                  <a:srgbClr val="001F47"/>
                </a:solidFill>
                <a:latin typeface="Calibri" pitchFamily="34" charset="0"/>
                <a:ea typeface="Calibri" pitchFamily="34" charset="-122"/>
                <a:cs typeface="Calibri" pitchFamily="34" charset="-120"/>
              </a:rPr>
              <a:t>Keeps it safe &amp; integrated</a:t>
            </a:r>
            <a:endParaRPr lang="en-US" sz="950" dirty="0"/>
          </a:p>
        </p:txBody>
      </p:sp>
      <p:sp>
        <p:nvSpPr>
          <p:cNvPr id="43" name="Shape 40"/>
          <p:cNvSpPr/>
          <p:nvPr/>
        </p:nvSpPr>
        <p:spPr>
          <a:xfrm>
            <a:off x="2148840" y="4754880"/>
            <a:ext cx="3063240" cy="1280160"/>
          </a:xfrm>
          <a:prstGeom prst="rect">
            <a:avLst/>
          </a:prstGeom>
          <a:solidFill>
            <a:srgbClr val="FFFFFF"/>
          </a:solidFill>
          <a:ln w="7620">
            <a:solidFill>
              <a:srgbClr val="D6DEE8"/>
            </a:solidFill>
            <a:prstDash val="solid"/>
          </a:ln>
        </p:spPr>
      </p:sp>
      <p:sp>
        <p:nvSpPr>
          <p:cNvPr id="44" name="Shape 41"/>
          <p:cNvSpPr/>
          <p:nvPr/>
        </p:nvSpPr>
        <p:spPr>
          <a:xfrm>
            <a:off x="2148840" y="4754880"/>
            <a:ext cx="3063240" cy="384048"/>
          </a:xfrm>
          <a:prstGeom prst="rect">
            <a:avLst/>
          </a:prstGeom>
          <a:solidFill>
            <a:srgbClr val="0051A5"/>
          </a:solidFill>
          <a:ln/>
        </p:spPr>
      </p:sp>
      <p:sp>
        <p:nvSpPr>
          <p:cNvPr id="45" name="Text 42"/>
          <p:cNvSpPr/>
          <p:nvPr/>
        </p:nvSpPr>
        <p:spPr>
          <a:xfrm>
            <a:off x="2313432" y="4754880"/>
            <a:ext cx="288036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Chief Architect</a:t>
            </a:r>
            <a:endParaRPr lang="en-US" sz="1200" dirty="0"/>
          </a:p>
        </p:txBody>
      </p:sp>
      <p:sp>
        <p:nvSpPr>
          <p:cNvPr id="46" name="Text 43"/>
          <p:cNvSpPr/>
          <p:nvPr/>
        </p:nvSpPr>
        <p:spPr>
          <a:xfrm>
            <a:off x="2313432" y="5212080"/>
            <a:ext cx="27889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47" name="Shape 44"/>
          <p:cNvSpPr/>
          <p:nvPr/>
        </p:nvSpPr>
        <p:spPr>
          <a:xfrm>
            <a:off x="2313432" y="5532120"/>
            <a:ext cx="365760" cy="36576"/>
          </a:xfrm>
          <a:prstGeom prst="rect">
            <a:avLst/>
          </a:prstGeom>
          <a:solidFill>
            <a:srgbClr val="FEDF01"/>
          </a:solidFill>
          <a:ln/>
        </p:spPr>
      </p:sp>
      <p:sp>
        <p:nvSpPr>
          <p:cNvPr id="48" name="Text 45"/>
          <p:cNvSpPr/>
          <p:nvPr/>
        </p:nvSpPr>
        <p:spPr>
          <a:xfrm>
            <a:off x="2313432" y="5623560"/>
            <a:ext cx="2788920" cy="36576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Technical coherence across workstreams. Approves architectural decisions that span platforms.</a:t>
            </a:r>
            <a:endParaRPr lang="en-US" sz="950" dirty="0"/>
          </a:p>
        </p:txBody>
      </p:sp>
      <p:sp>
        <p:nvSpPr>
          <p:cNvPr id="49" name="Shape 46"/>
          <p:cNvSpPr/>
          <p:nvPr/>
        </p:nvSpPr>
        <p:spPr>
          <a:xfrm>
            <a:off x="5349240" y="4754880"/>
            <a:ext cx="3063240" cy="1280160"/>
          </a:xfrm>
          <a:prstGeom prst="rect">
            <a:avLst/>
          </a:prstGeom>
          <a:solidFill>
            <a:srgbClr val="FFFFFF"/>
          </a:solidFill>
          <a:ln w="7620">
            <a:solidFill>
              <a:srgbClr val="D6DEE8"/>
            </a:solidFill>
            <a:prstDash val="solid"/>
          </a:ln>
        </p:spPr>
      </p:sp>
      <p:sp>
        <p:nvSpPr>
          <p:cNvPr id="50" name="Shape 47"/>
          <p:cNvSpPr/>
          <p:nvPr/>
        </p:nvSpPr>
        <p:spPr>
          <a:xfrm>
            <a:off x="5349240" y="4754880"/>
            <a:ext cx="3063240" cy="384048"/>
          </a:xfrm>
          <a:prstGeom prst="rect">
            <a:avLst/>
          </a:prstGeom>
          <a:solidFill>
            <a:srgbClr val="0051A5"/>
          </a:solidFill>
          <a:ln/>
        </p:spPr>
      </p:sp>
      <p:sp>
        <p:nvSpPr>
          <p:cNvPr id="51" name="Text 48"/>
          <p:cNvSpPr/>
          <p:nvPr/>
        </p:nvSpPr>
        <p:spPr>
          <a:xfrm>
            <a:off x="5513832" y="4754880"/>
            <a:ext cx="288036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Security &amp; Risk Lead</a:t>
            </a:r>
            <a:endParaRPr lang="en-US" sz="1200" dirty="0"/>
          </a:p>
        </p:txBody>
      </p:sp>
      <p:sp>
        <p:nvSpPr>
          <p:cNvPr id="52" name="Text 49"/>
          <p:cNvSpPr/>
          <p:nvPr/>
        </p:nvSpPr>
        <p:spPr>
          <a:xfrm>
            <a:off x="5513832" y="5212080"/>
            <a:ext cx="27889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53" name="Shape 50"/>
          <p:cNvSpPr/>
          <p:nvPr/>
        </p:nvSpPr>
        <p:spPr>
          <a:xfrm>
            <a:off x="5513832" y="5532120"/>
            <a:ext cx="365760" cy="36576"/>
          </a:xfrm>
          <a:prstGeom prst="rect">
            <a:avLst/>
          </a:prstGeom>
          <a:solidFill>
            <a:srgbClr val="FEDF01"/>
          </a:solidFill>
          <a:ln/>
        </p:spPr>
      </p:sp>
      <p:sp>
        <p:nvSpPr>
          <p:cNvPr id="54" name="Text 51"/>
          <p:cNvSpPr/>
          <p:nvPr/>
        </p:nvSpPr>
        <p:spPr>
          <a:xfrm>
            <a:off x="5513832" y="5623560"/>
            <a:ext cx="2788920" cy="36576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Threat modeling, control design, audit readiness, OSFI B-13 / regulatory alignment.</a:t>
            </a:r>
            <a:endParaRPr lang="en-US" sz="950" dirty="0"/>
          </a:p>
        </p:txBody>
      </p:sp>
      <p:sp>
        <p:nvSpPr>
          <p:cNvPr id="55" name="Shape 52"/>
          <p:cNvSpPr/>
          <p:nvPr/>
        </p:nvSpPr>
        <p:spPr>
          <a:xfrm>
            <a:off x="8549640" y="4754880"/>
            <a:ext cx="3063240" cy="1280160"/>
          </a:xfrm>
          <a:prstGeom prst="rect">
            <a:avLst/>
          </a:prstGeom>
          <a:solidFill>
            <a:srgbClr val="FFFFFF"/>
          </a:solidFill>
          <a:ln w="7620">
            <a:solidFill>
              <a:srgbClr val="D6DEE8"/>
            </a:solidFill>
            <a:prstDash val="solid"/>
          </a:ln>
        </p:spPr>
      </p:sp>
      <p:sp>
        <p:nvSpPr>
          <p:cNvPr id="56" name="Shape 53"/>
          <p:cNvSpPr/>
          <p:nvPr/>
        </p:nvSpPr>
        <p:spPr>
          <a:xfrm>
            <a:off x="8549640" y="4754880"/>
            <a:ext cx="3063240" cy="384048"/>
          </a:xfrm>
          <a:prstGeom prst="rect">
            <a:avLst/>
          </a:prstGeom>
          <a:solidFill>
            <a:srgbClr val="0051A5"/>
          </a:solidFill>
          <a:ln/>
        </p:spPr>
      </p:sp>
      <p:sp>
        <p:nvSpPr>
          <p:cNvPr id="57" name="Text 54"/>
          <p:cNvSpPr/>
          <p:nvPr/>
        </p:nvSpPr>
        <p:spPr>
          <a:xfrm>
            <a:off x="8714232" y="4754880"/>
            <a:ext cx="288036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Finance / PMO Partner</a:t>
            </a:r>
            <a:endParaRPr lang="en-US" sz="1200" dirty="0"/>
          </a:p>
        </p:txBody>
      </p:sp>
      <p:sp>
        <p:nvSpPr>
          <p:cNvPr id="58" name="Text 55"/>
          <p:cNvSpPr/>
          <p:nvPr/>
        </p:nvSpPr>
        <p:spPr>
          <a:xfrm>
            <a:off x="8714232" y="5212080"/>
            <a:ext cx="2788920" cy="292608"/>
          </a:xfrm>
          <a:prstGeom prst="rect">
            <a:avLst/>
          </a:prstGeom>
          <a:noFill/>
          <a:ln/>
        </p:spPr>
        <p:txBody>
          <a:bodyPr wrap="square" lIns="0" tIns="0" rIns="0" bIns="0" rtlCol="0" anchor="ctr"/>
          <a:lstStyle/>
          <a:p>
            <a:pPr indent="0" marL="0">
              <a:buNone/>
            </a:pPr>
            <a:r>
              <a:rPr lang="en-US" sz="1300" b="1" dirty="0">
                <a:solidFill>
                  <a:srgbClr val="001F47"/>
                </a:solidFill>
                <a:latin typeface="Trebuchet MS" pitchFamily="34" charset="0"/>
                <a:ea typeface="Trebuchet MS" pitchFamily="34" charset="-122"/>
                <a:cs typeface="Trebuchet MS" pitchFamily="34" charset="-120"/>
              </a:rPr>
              <a:t>[Name]</a:t>
            </a:r>
            <a:endParaRPr lang="en-US" sz="1300" dirty="0"/>
          </a:p>
        </p:txBody>
      </p:sp>
      <p:sp>
        <p:nvSpPr>
          <p:cNvPr id="59" name="Shape 56"/>
          <p:cNvSpPr/>
          <p:nvPr/>
        </p:nvSpPr>
        <p:spPr>
          <a:xfrm>
            <a:off x="8714232" y="5532120"/>
            <a:ext cx="365760" cy="36576"/>
          </a:xfrm>
          <a:prstGeom prst="rect">
            <a:avLst/>
          </a:prstGeom>
          <a:solidFill>
            <a:srgbClr val="FEDF01"/>
          </a:solidFill>
          <a:ln/>
        </p:spPr>
      </p:sp>
      <p:sp>
        <p:nvSpPr>
          <p:cNvPr id="60" name="Text 57"/>
          <p:cNvSpPr/>
          <p:nvPr/>
        </p:nvSpPr>
        <p:spPr>
          <a:xfrm>
            <a:off x="8714232" y="5623560"/>
            <a:ext cx="2788920" cy="36576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Owns the PAR, IBM SoW tracking, vendor management, program financial reporting.</a:t>
            </a:r>
            <a:endParaRPr lang="en-US" sz="950" dirty="0"/>
          </a:p>
        </p:txBody>
      </p:sp>
      <p:sp>
        <p:nvSpPr>
          <p:cNvPr id="61" name="Text 58"/>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4 / 30</a:t>
            </a:r>
            <a:endParaRPr lang="en-US" sz="900" dirty="0"/>
          </a:p>
        </p:txBody>
      </p:sp>
      <p:sp>
        <p:nvSpPr>
          <p:cNvPr id="62" name="Text 59"/>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03  ·  PROGRAM HEALTH</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Program health at a glance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411480"/>
          </a:xfrm>
          <a:prstGeom prst="rect">
            <a:avLst/>
          </a:prstGeom>
          <a:solidFill>
            <a:srgbClr val="0051A5"/>
          </a:solidFill>
          <a:ln/>
        </p:spPr>
      </p:sp>
      <p:sp>
        <p:nvSpPr>
          <p:cNvPr id="7" name="Text 4"/>
          <p:cNvSpPr/>
          <p:nvPr/>
        </p:nvSpPr>
        <p:spPr>
          <a:xfrm>
            <a:off x="548640" y="1783080"/>
            <a:ext cx="210312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Workstream</a:t>
            </a:r>
            <a:endParaRPr lang="en-US" sz="1100" dirty="0"/>
          </a:p>
        </p:txBody>
      </p:sp>
      <p:sp>
        <p:nvSpPr>
          <p:cNvPr id="8" name="Text 5"/>
          <p:cNvSpPr/>
          <p:nvPr/>
        </p:nvSpPr>
        <p:spPr>
          <a:xfrm>
            <a:off x="2651760" y="1783080"/>
            <a:ext cx="146304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Schedule</a:t>
            </a:r>
            <a:endParaRPr lang="en-US" sz="1100" dirty="0"/>
          </a:p>
        </p:txBody>
      </p:sp>
      <p:sp>
        <p:nvSpPr>
          <p:cNvPr id="9" name="Text 6"/>
          <p:cNvSpPr/>
          <p:nvPr/>
        </p:nvSpPr>
        <p:spPr>
          <a:xfrm>
            <a:off x="4114800" y="1783080"/>
            <a:ext cx="146304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Scope</a:t>
            </a:r>
            <a:endParaRPr lang="en-US" sz="1100" dirty="0"/>
          </a:p>
        </p:txBody>
      </p:sp>
      <p:sp>
        <p:nvSpPr>
          <p:cNvPr id="10" name="Text 7"/>
          <p:cNvSpPr/>
          <p:nvPr/>
        </p:nvSpPr>
        <p:spPr>
          <a:xfrm>
            <a:off x="5577840" y="1783080"/>
            <a:ext cx="146304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Budget</a:t>
            </a:r>
            <a:endParaRPr lang="en-US" sz="1100" dirty="0"/>
          </a:p>
        </p:txBody>
      </p:sp>
      <p:sp>
        <p:nvSpPr>
          <p:cNvPr id="11" name="Text 8"/>
          <p:cNvSpPr/>
          <p:nvPr/>
        </p:nvSpPr>
        <p:spPr>
          <a:xfrm>
            <a:off x="7040880" y="1783080"/>
            <a:ext cx="155448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Risk</a:t>
            </a:r>
            <a:endParaRPr lang="en-US" sz="1100" dirty="0"/>
          </a:p>
        </p:txBody>
      </p:sp>
      <p:sp>
        <p:nvSpPr>
          <p:cNvPr id="12" name="Text 9"/>
          <p:cNvSpPr/>
          <p:nvPr/>
        </p:nvSpPr>
        <p:spPr>
          <a:xfrm>
            <a:off x="8595360" y="1783080"/>
            <a:ext cx="155448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Resourcing</a:t>
            </a:r>
            <a:endParaRPr lang="en-US" sz="1100" dirty="0"/>
          </a:p>
        </p:txBody>
      </p:sp>
      <p:sp>
        <p:nvSpPr>
          <p:cNvPr id="13" name="Text 10"/>
          <p:cNvSpPr/>
          <p:nvPr/>
        </p:nvSpPr>
        <p:spPr>
          <a:xfrm>
            <a:off x="10149840" y="1783080"/>
            <a:ext cx="1463040" cy="41148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Trend</a:t>
            </a:r>
            <a:endParaRPr lang="en-US" sz="1100" dirty="0"/>
          </a:p>
        </p:txBody>
      </p:sp>
      <p:sp>
        <p:nvSpPr>
          <p:cNvPr id="14" name="Shape 11"/>
          <p:cNvSpPr/>
          <p:nvPr/>
        </p:nvSpPr>
        <p:spPr>
          <a:xfrm>
            <a:off x="548640" y="2194560"/>
            <a:ext cx="11064240" cy="777240"/>
          </a:xfrm>
          <a:prstGeom prst="rect">
            <a:avLst/>
          </a:prstGeom>
          <a:solidFill>
            <a:srgbClr val="F6F8FB"/>
          </a:solidFill>
          <a:ln w="6350">
            <a:solidFill>
              <a:srgbClr val="D6DEE8"/>
            </a:solidFill>
            <a:prstDash val="solid"/>
          </a:ln>
        </p:spPr>
      </p:sp>
      <p:sp>
        <p:nvSpPr>
          <p:cNvPr id="15" name="Text 12"/>
          <p:cNvSpPr/>
          <p:nvPr/>
        </p:nvSpPr>
        <p:spPr>
          <a:xfrm>
            <a:off x="713232" y="2194560"/>
            <a:ext cx="1920240" cy="77724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01  IaC</a:t>
            </a:r>
            <a:endParaRPr lang="en-US" sz="1400" dirty="0"/>
          </a:p>
        </p:txBody>
      </p:sp>
      <p:sp>
        <p:nvSpPr>
          <p:cNvPr id="16" name="Shape 13"/>
          <p:cNvSpPr/>
          <p:nvPr/>
        </p:nvSpPr>
        <p:spPr>
          <a:xfrm>
            <a:off x="2816352" y="2331720"/>
            <a:ext cx="164592" cy="164592"/>
          </a:xfrm>
          <a:prstGeom prst="ellipse">
            <a:avLst/>
          </a:prstGeom>
          <a:solidFill>
            <a:srgbClr val="1F8B4C"/>
          </a:solidFill>
          <a:ln/>
        </p:spPr>
      </p:sp>
      <p:sp>
        <p:nvSpPr>
          <p:cNvPr id="17" name="Text 14"/>
          <p:cNvSpPr/>
          <p:nvPr/>
        </p:nvSpPr>
        <p:spPr>
          <a:xfrm>
            <a:off x="2816352" y="254203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On track</a:t>
            </a:r>
            <a:endParaRPr lang="en-US" sz="1000" dirty="0"/>
          </a:p>
        </p:txBody>
      </p:sp>
      <p:sp>
        <p:nvSpPr>
          <p:cNvPr id="18" name="Shape 15"/>
          <p:cNvSpPr/>
          <p:nvPr/>
        </p:nvSpPr>
        <p:spPr>
          <a:xfrm>
            <a:off x="4279392" y="2331720"/>
            <a:ext cx="164592" cy="164592"/>
          </a:xfrm>
          <a:prstGeom prst="ellipse">
            <a:avLst/>
          </a:prstGeom>
          <a:solidFill>
            <a:srgbClr val="1F8B4C"/>
          </a:solidFill>
          <a:ln/>
        </p:spPr>
      </p:sp>
      <p:sp>
        <p:nvSpPr>
          <p:cNvPr id="19" name="Text 16"/>
          <p:cNvSpPr/>
          <p:nvPr/>
        </p:nvSpPr>
        <p:spPr>
          <a:xfrm>
            <a:off x="4279392" y="254203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Holding</a:t>
            </a:r>
            <a:endParaRPr lang="en-US" sz="1000" dirty="0"/>
          </a:p>
        </p:txBody>
      </p:sp>
      <p:sp>
        <p:nvSpPr>
          <p:cNvPr id="20" name="Shape 17"/>
          <p:cNvSpPr/>
          <p:nvPr/>
        </p:nvSpPr>
        <p:spPr>
          <a:xfrm>
            <a:off x="5742432" y="2331720"/>
            <a:ext cx="164592" cy="164592"/>
          </a:xfrm>
          <a:prstGeom prst="ellipse">
            <a:avLst/>
          </a:prstGeom>
          <a:solidFill>
            <a:srgbClr val="1F8B4C"/>
          </a:solidFill>
          <a:ln/>
        </p:spPr>
      </p:sp>
      <p:sp>
        <p:nvSpPr>
          <p:cNvPr id="21" name="Text 18"/>
          <p:cNvSpPr/>
          <p:nvPr/>
        </p:nvSpPr>
        <p:spPr>
          <a:xfrm>
            <a:off x="5742432" y="254203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Within budget</a:t>
            </a:r>
            <a:endParaRPr lang="en-US" sz="1000" dirty="0"/>
          </a:p>
        </p:txBody>
      </p:sp>
      <p:sp>
        <p:nvSpPr>
          <p:cNvPr id="22" name="Shape 19"/>
          <p:cNvSpPr/>
          <p:nvPr/>
        </p:nvSpPr>
        <p:spPr>
          <a:xfrm>
            <a:off x="7205472" y="2331720"/>
            <a:ext cx="164592" cy="164592"/>
          </a:xfrm>
          <a:prstGeom prst="ellipse">
            <a:avLst/>
          </a:prstGeom>
          <a:solidFill>
            <a:srgbClr val="C97A00"/>
          </a:solidFill>
          <a:ln/>
        </p:spPr>
      </p:sp>
      <p:sp>
        <p:nvSpPr>
          <p:cNvPr id="23" name="Text 20"/>
          <p:cNvSpPr/>
          <p:nvPr/>
        </p:nvSpPr>
        <p:spPr>
          <a:xfrm>
            <a:off x="7205472" y="254203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Vendor dep risk</a:t>
            </a:r>
            <a:endParaRPr lang="en-US" sz="1000" dirty="0"/>
          </a:p>
        </p:txBody>
      </p:sp>
      <p:sp>
        <p:nvSpPr>
          <p:cNvPr id="24" name="Shape 21"/>
          <p:cNvSpPr/>
          <p:nvPr/>
        </p:nvSpPr>
        <p:spPr>
          <a:xfrm>
            <a:off x="8759952" y="2331720"/>
            <a:ext cx="164592" cy="164592"/>
          </a:xfrm>
          <a:prstGeom prst="ellipse">
            <a:avLst/>
          </a:prstGeom>
          <a:solidFill>
            <a:srgbClr val="C97A00"/>
          </a:solidFill>
          <a:ln/>
        </p:spPr>
      </p:sp>
      <p:sp>
        <p:nvSpPr>
          <p:cNvPr id="25" name="Text 22"/>
          <p:cNvSpPr/>
          <p:nvPr/>
        </p:nvSpPr>
        <p:spPr>
          <a:xfrm>
            <a:off x="8759952" y="254203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1 open req</a:t>
            </a:r>
            <a:endParaRPr lang="en-US" sz="1000" dirty="0"/>
          </a:p>
        </p:txBody>
      </p:sp>
      <p:sp>
        <p:nvSpPr>
          <p:cNvPr id="26" name="Text 23"/>
          <p:cNvSpPr/>
          <p:nvPr/>
        </p:nvSpPr>
        <p:spPr>
          <a:xfrm>
            <a:off x="10149840" y="2194560"/>
            <a:ext cx="1463040" cy="777240"/>
          </a:xfrm>
          <a:prstGeom prst="rect">
            <a:avLst/>
          </a:prstGeom>
          <a:noFill/>
          <a:ln/>
        </p:spPr>
        <p:txBody>
          <a:bodyPr wrap="square" lIns="0" tIns="0" rIns="0" bIns="0" rtlCol="0" anchor="ctr"/>
          <a:lstStyle/>
          <a:p>
            <a:pPr algn="ctr" indent="0" marL="0">
              <a:buNone/>
            </a:pPr>
            <a:r>
              <a:rPr lang="en-US" sz="2400" b="1" dirty="0">
                <a:solidFill>
                  <a:srgbClr val="5B6778"/>
                </a:solidFill>
                <a:latin typeface="Trebuchet MS" pitchFamily="34" charset="0"/>
                <a:ea typeface="Trebuchet MS" pitchFamily="34" charset="-122"/>
                <a:cs typeface="Trebuchet MS" pitchFamily="34" charset="-120"/>
              </a:rPr>
              <a:t>▬</a:t>
            </a:r>
            <a:endParaRPr lang="en-US" sz="2400" dirty="0"/>
          </a:p>
        </p:txBody>
      </p:sp>
      <p:sp>
        <p:nvSpPr>
          <p:cNvPr id="27" name="Shape 24"/>
          <p:cNvSpPr/>
          <p:nvPr/>
        </p:nvSpPr>
        <p:spPr>
          <a:xfrm>
            <a:off x="548640" y="2971800"/>
            <a:ext cx="11064240" cy="777240"/>
          </a:xfrm>
          <a:prstGeom prst="rect">
            <a:avLst/>
          </a:prstGeom>
          <a:solidFill>
            <a:srgbClr val="FFFFFF"/>
          </a:solidFill>
          <a:ln w="6350">
            <a:solidFill>
              <a:srgbClr val="D6DEE8"/>
            </a:solidFill>
            <a:prstDash val="solid"/>
          </a:ln>
        </p:spPr>
      </p:sp>
      <p:sp>
        <p:nvSpPr>
          <p:cNvPr id="28" name="Text 25"/>
          <p:cNvSpPr/>
          <p:nvPr/>
        </p:nvSpPr>
        <p:spPr>
          <a:xfrm>
            <a:off x="713232" y="2971800"/>
            <a:ext cx="1920240" cy="77724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02  Compliance</a:t>
            </a:r>
            <a:endParaRPr lang="en-US" sz="1400" dirty="0"/>
          </a:p>
        </p:txBody>
      </p:sp>
      <p:sp>
        <p:nvSpPr>
          <p:cNvPr id="29" name="Shape 26"/>
          <p:cNvSpPr/>
          <p:nvPr/>
        </p:nvSpPr>
        <p:spPr>
          <a:xfrm>
            <a:off x="2816352" y="3108960"/>
            <a:ext cx="164592" cy="164592"/>
          </a:xfrm>
          <a:prstGeom prst="ellipse">
            <a:avLst/>
          </a:prstGeom>
          <a:solidFill>
            <a:srgbClr val="1F8B4C"/>
          </a:solidFill>
          <a:ln/>
        </p:spPr>
      </p:sp>
      <p:sp>
        <p:nvSpPr>
          <p:cNvPr id="30" name="Text 27"/>
          <p:cNvSpPr/>
          <p:nvPr/>
        </p:nvSpPr>
        <p:spPr>
          <a:xfrm>
            <a:off x="2816352" y="331927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On track</a:t>
            </a:r>
            <a:endParaRPr lang="en-US" sz="1000" dirty="0"/>
          </a:p>
        </p:txBody>
      </p:sp>
      <p:sp>
        <p:nvSpPr>
          <p:cNvPr id="31" name="Shape 28"/>
          <p:cNvSpPr/>
          <p:nvPr/>
        </p:nvSpPr>
        <p:spPr>
          <a:xfrm>
            <a:off x="4279392" y="3108960"/>
            <a:ext cx="164592" cy="164592"/>
          </a:xfrm>
          <a:prstGeom prst="ellipse">
            <a:avLst/>
          </a:prstGeom>
          <a:solidFill>
            <a:srgbClr val="1F8B4C"/>
          </a:solidFill>
          <a:ln/>
        </p:spPr>
      </p:sp>
      <p:sp>
        <p:nvSpPr>
          <p:cNvPr id="32" name="Text 29"/>
          <p:cNvSpPr/>
          <p:nvPr/>
        </p:nvSpPr>
        <p:spPr>
          <a:xfrm>
            <a:off x="4279392" y="331927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Holding</a:t>
            </a:r>
            <a:endParaRPr lang="en-US" sz="1000" dirty="0"/>
          </a:p>
        </p:txBody>
      </p:sp>
      <p:sp>
        <p:nvSpPr>
          <p:cNvPr id="33" name="Shape 30"/>
          <p:cNvSpPr/>
          <p:nvPr/>
        </p:nvSpPr>
        <p:spPr>
          <a:xfrm>
            <a:off x="5742432" y="3108960"/>
            <a:ext cx="164592" cy="164592"/>
          </a:xfrm>
          <a:prstGeom prst="ellipse">
            <a:avLst/>
          </a:prstGeom>
          <a:solidFill>
            <a:srgbClr val="1F8B4C"/>
          </a:solidFill>
          <a:ln/>
        </p:spPr>
      </p:sp>
      <p:sp>
        <p:nvSpPr>
          <p:cNvPr id="34" name="Text 31"/>
          <p:cNvSpPr/>
          <p:nvPr/>
        </p:nvSpPr>
        <p:spPr>
          <a:xfrm>
            <a:off x="5742432" y="331927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Within budget</a:t>
            </a:r>
            <a:endParaRPr lang="en-US" sz="1000" dirty="0"/>
          </a:p>
        </p:txBody>
      </p:sp>
      <p:sp>
        <p:nvSpPr>
          <p:cNvPr id="35" name="Shape 32"/>
          <p:cNvSpPr/>
          <p:nvPr/>
        </p:nvSpPr>
        <p:spPr>
          <a:xfrm>
            <a:off x="7205472" y="3108960"/>
            <a:ext cx="164592" cy="164592"/>
          </a:xfrm>
          <a:prstGeom prst="ellipse">
            <a:avLst/>
          </a:prstGeom>
          <a:solidFill>
            <a:srgbClr val="1F8B4C"/>
          </a:solidFill>
          <a:ln/>
        </p:spPr>
      </p:sp>
      <p:sp>
        <p:nvSpPr>
          <p:cNvPr id="36" name="Text 33"/>
          <p:cNvSpPr/>
          <p:nvPr/>
        </p:nvSpPr>
        <p:spPr>
          <a:xfrm>
            <a:off x="7205472" y="331927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Low</a:t>
            </a:r>
            <a:endParaRPr lang="en-US" sz="1000" dirty="0"/>
          </a:p>
        </p:txBody>
      </p:sp>
      <p:sp>
        <p:nvSpPr>
          <p:cNvPr id="37" name="Shape 34"/>
          <p:cNvSpPr/>
          <p:nvPr/>
        </p:nvSpPr>
        <p:spPr>
          <a:xfrm>
            <a:off x="8759952" y="3108960"/>
            <a:ext cx="164592" cy="164592"/>
          </a:xfrm>
          <a:prstGeom prst="ellipse">
            <a:avLst/>
          </a:prstGeom>
          <a:solidFill>
            <a:srgbClr val="1F8B4C"/>
          </a:solidFill>
          <a:ln/>
        </p:spPr>
      </p:sp>
      <p:sp>
        <p:nvSpPr>
          <p:cNvPr id="38" name="Text 35"/>
          <p:cNvSpPr/>
          <p:nvPr/>
        </p:nvSpPr>
        <p:spPr>
          <a:xfrm>
            <a:off x="8759952" y="331927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Fully staffed</a:t>
            </a:r>
            <a:endParaRPr lang="en-US" sz="1000" dirty="0"/>
          </a:p>
        </p:txBody>
      </p:sp>
      <p:sp>
        <p:nvSpPr>
          <p:cNvPr id="39" name="Text 36"/>
          <p:cNvSpPr/>
          <p:nvPr/>
        </p:nvSpPr>
        <p:spPr>
          <a:xfrm>
            <a:off x="10149840" y="2971800"/>
            <a:ext cx="1463040" cy="777240"/>
          </a:xfrm>
          <a:prstGeom prst="rect">
            <a:avLst/>
          </a:prstGeom>
          <a:noFill/>
          <a:ln/>
        </p:spPr>
        <p:txBody>
          <a:bodyPr wrap="square" lIns="0" tIns="0" rIns="0" bIns="0" rtlCol="0" anchor="ctr"/>
          <a:lstStyle/>
          <a:p>
            <a:pPr algn="ctr" indent="0" marL="0">
              <a:buNone/>
            </a:pPr>
            <a:r>
              <a:rPr lang="en-US" sz="2400" b="1" dirty="0">
                <a:solidFill>
                  <a:srgbClr val="1F8B4C"/>
                </a:solidFill>
                <a:latin typeface="Trebuchet MS" pitchFamily="34" charset="0"/>
                <a:ea typeface="Trebuchet MS" pitchFamily="34" charset="-122"/>
                <a:cs typeface="Trebuchet MS" pitchFamily="34" charset="-120"/>
              </a:rPr>
              <a:t>▲</a:t>
            </a:r>
            <a:endParaRPr lang="en-US" sz="2400" dirty="0"/>
          </a:p>
        </p:txBody>
      </p:sp>
      <p:sp>
        <p:nvSpPr>
          <p:cNvPr id="40" name="Shape 37"/>
          <p:cNvSpPr/>
          <p:nvPr/>
        </p:nvSpPr>
        <p:spPr>
          <a:xfrm>
            <a:off x="548640" y="3749040"/>
            <a:ext cx="11064240" cy="777240"/>
          </a:xfrm>
          <a:prstGeom prst="rect">
            <a:avLst/>
          </a:prstGeom>
          <a:solidFill>
            <a:srgbClr val="F6F8FB"/>
          </a:solidFill>
          <a:ln w="6350">
            <a:solidFill>
              <a:srgbClr val="D6DEE8"/>
            </a:solidFill>
            <a:prstDash val="solid"/>
          </a:ln>
        </p:spPr>
      </p:sp>
      <p:sp>
        <p:nvSpPr>
          <p:cNvPr id="41" name="Text 38"/>
          <p:cNvSpPr/>
          <p:nvPr/>
        </p:nvSpPr>
        <p:spPr>
          <a:xfrm>
            <a:off x="713232" y="3749040"/>
            <a:ext cx="1920240" cy="77724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03  Optimization</a:t>
            </a:r>
            <a:endParaRPr lang="en-US" sz="1400" dirty="0"/>
          </a:p>
        </p:txBody>
      </p:sp>
      <p:sp>
        <p:nvSpPr>
          <p:cNvPr id="42" name="Shape 39"/>
          <p:cNvSpPr/>
          <p:nvPr/>
        </p:nvSpPr>
        <p:spPr>
          <a:xfrm>
            <a:off x="2816352" y="3886200"/>
            <a:ext cx="164592" cy="164592"/>
          </a:xfrm>
          <a:prstGeom prst="ellipse">
            <a:avLst/>
          </a:prstGeom>
          <a:solidFill>
            <a:srgbClr val="C97A00"/>
          </a:solidFill>
          <a:ln/>
        </p:spPr>
      </p:sp>
      <p:sp>
        <p:nvSpPr>
          <p:cNvPr id="43" name="Text 40"/>
          <p:cNvSpPr/>
          <p:nvPr/>
        </p:nvSpPr>
        <p:spPr>
          <a:xfrm>
            <a:off x="2816352" y="409651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Baseline slipping</a:t>
            </a:r>
            <a:endParaRPr lang="en-US" sz="1000" dirty="0"/>
          </a:p>
        </p:txBody>
      </p:sp>
      <p:sp>
        <p:nvSpPr>
          <p:cNvPr id="44" name="Shape 41"/>
          <p:cNvSpPr/>
          <p:nvPr/>
        </p:nvSpPr>
        <p:spPr>
          <a:xfrm>
            <a:off x="4279392" y="3886200"/>
            <a:ext cx="164592" cy="164592"/>
          </a:xfrm>
          <a:prstGeom prst="ellipse">
            <a:avLst/>
          </a:prstGeom>
          <a:solidFill>
            <a:srgbClr val="C97A00"/>
          </a:solidFill>
          <a:ln/>
        </p:spPr>
      </p:sp>
      <p:sp>
        <p:nvSpPr>
          <p:cNvPr id="45" name="Text 42"/>
          <p:cNvSpPr/>
          <p:nvPr/>
        </p:nvSpPr>
        <p:spPr>
          <a:xfrm>
            <a:off x="4279392" y="409651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BU asks growing</a:t>
            </a:r>
            <a:endParaRPr lang="en-US" sz="1000" dirty="0"/>
          </a:p>
        </p:txBody>
      </p:sp>
      <p:sp>
        <p:nvSpPr>
          <p:cNvPr id="46" name="Shape 43"/>
          <p:cNvSpPr/>
          <p:nvPr/>
        </p:nvSpPr>
        <p:spPr>
          <a:xfrm>
            <a:off x="5742432" y="3886200"/>
            <a:ext cx="164592" cy="164592"/>
          </a:xfrm>
          <a:prstGeom prst="ellipse">
            <a:avLst/>
          </a:prstGeom>
          <a:solidFill>
            <a:srgbClr val="1F8B4C"/>
          </a:solidFill>
          <a:ln/>
        </p:spPr>
      </p:sp>
      <p:sp>
        <p:nvSpPr>
          <p:cNvPr id="47" name="Text 44"/>
          <p:cNvSpPr/>
          <p:nvPr/>
        </p:nvSpPr>
        <p:spPr>
          <a:xfrm>
            <a:off x="5742432" y="409651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Within budget</a:t>
            </a:r>
            <a:endParaRPr lang="en-US" sz="1000" dirty="0"/>
          </a:p>
        </p:txBody>
      </p:sp>
      <p:sp>
        <p:nvSpPr>
          <p:cNvPr id="48" name="Shape 45"/>
          <p:cNvSpPr/>
          <p:nvPr/>
        </p:nvSpPr>
        <p:spPr>
          <a:xfrm>
            <a:off x="7205472" y="3886200"/>
            <a:ext cx="164592" cy="164592"/>
          </a:xfrm>
          <a:prstGeom prst="ellipse">
            <a:avLst/>
          </a:prstGeom>
          <a:solidFill>
            <a:srgbClr val="C97A00"/>
          </a:solidFill>
          <a:ln/>
        </p:spPr>
      </p:sp>
      <p:sp>
        <p:nvSpPr>
          <p:cNvPr id="49" name="Text 46"/>
          <p:cNvSpPr/>
          <p:nvPr/>
        </p:nvSpPr>
        <p:spPr>
          <a:xfrm>
            <a:off x="7205472" y="409651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BU adoption</a:t>
            </a:r>
            <a:endParaRPr lang="en-US" sz="1000" dirty="0"/>
          </a:p>
        </p:txBody>
      </p:sp>
      <p:sp>
        <p:nvSpPr>
          <p:cNvPr id="50" name="Shape 47"/>
          <p:cNvSpPr/>
          <p:nvPr/>
        </p:nvSpPr>
        <p:spPr>
          <a:xfrm>
            <a:off x="8759952" y="3886200"/>
            <a:ext cx="164592" cy="164592"/>
          </a:xfrm>
          <a:prstGeom prst="ellipse">
            <a:avLst/>
          </a:prstGeom>
          <a:solidFill>
            <a:srgbClr val="B91C1C"/>
          </a:solidFill>
          <a:ln/>
        </p:spPr>
      </p:sp>
      <p:sp>
        <p:nvSpPr>
          <p:cNvPr id="51" name="Text 48"/>
          <p:cNvSpPr/>
          <p:nvPr/>
        </p:nvSpPr>
        <p:spPr>
          <a:xfrm>
            <a:off x="8759952" y="409651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2 open reqs</a:t>
            </a:r>
            <a:endParaRPr lang="en-US" sz="1000" dirty="0"/>
          </a:p>
        </p:txBody>
      </p:sp>
      <p:sp>
        <p:nvSpPr>
          <p:cNvPr id="52" name="Text 49"/>
          <p:cNvSpPr/>
          <p:nvPr/>
        </p:nvSpPr>
        <p:spPr>
          <a:xfrm>
            <a:off x="10149840" y="3749040"/>
            <a:ext cx="1463040" cy="777240"/>
          </a:xfrm>
          <a:prstGeom prst="rect">
            <a:avLst/>
          </a:prstGeom>
          <a:noFill/>
          <a:ln/>
        </p:spPr>
        <p:txBody>
          <a:bodyPr wrap="square" lIns="0" tIns="0" rIns="0" bIns="0" rtlCol="0" anchor="ctr"/>
          <a:lstStyle/>
          <a:p>
            <a:pPr algn="ctr" indent="0" marL="0">
              <a:buNone/>
            </a:pPr>
            <a:r>
              <a:rPr lang="en-US" sz="2400" b="1" dirty="0">
                <a:solidFill>
                  <a:srgbClr val="B91C1C"/>
                </a:solidFill>
                <a:latin typeface="Trebuchet MS" pitchFamily="34" charset="0"/>
                <a:ea typeface="Trebuchet MS" pitchFamily="34" charset="-122"/>
                <a:cs typeface="Trebuchet MS" pitchFamily="34" charset="-120"/>
              </a:rPr>
              <a:t>▼</a:t>
            </a:r>
            <a:endParaRPr lang="en-US" sz="2400" dirty="0"/>
          </a:p>
        </p:txBody>
      </p:sp>
      <p:sp>
        <p:nvSpPr>
          <p:cNvPr id="53" name="Shape 50"/>
          <p:cNvSpPr/>
          <p:nvPr/>
        </p:nvSpPr>
        <p:spPr>
          <a:xfrm>
            <a:off x="548640" y="4526280"/>
            <a:ext cx="11064240" cy="777240"/>
          </a:xfrm>
          <a:prstGeom prst="rect">
            <a:avLst/>
          </a:prstGeom>
          <a:solidFill>
            <a:srgbClr val="FFFFFF"/>
          </a:solidFill>
          <a:ln w="6350">
            <a:solidFill>
              <a:srgbClr val="D6DEE8"/>
            </a:solidFill>
            <a:prstDash val="solid"/>
          </a:ln>
        </p:spPr>
      </p:sp>
      <p:sp>
        <p:nvSpPr>
          <p:cNvPr id="54" name="Text 51"/>
          <p:cNvSpPr/>
          <p:nvPr/>
        </p:nvSpPr>
        <p:spPr>
          <a:xfrm>
            <a:off x="713232" y="4526280"/>
            <a:ext cx="1920240" cy="77724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04  ZephyrAI</a:t>
            </a:r>
            <a:endParaRPr lang="en-US" sz="1400" dirty="0"/>
          </a:p>
        </p:txBody>
      </p:sp>
      <p:sp>
        <p:nvSpPr>
          <p:cNvPr id="55" name="Shape 52"/>
          <p:cNvSpPr/>
          <p:nvPr/>
        </p:nvSpPr>
        <p:spPr>
          <a:xfrm>
            <a:off x="2816352" y="4663440"/>
            <a:ext cx="164592" cy="164592"/>
          </a:xfrm>
          <a:prstGeom prst="ellipse">
            <a:avLst/>
          </a:prstGeom>
          <a:solidFill>
            <a:srgbClr val="1F8B4C"/>
          </a:solidFill>
          <a:ln/>
        </p:spPr>
      </p:sp>
      <p:sp>
        <p:nvSpPr>
          <p:cNvPr id="56" name="Text 53"/>
          <p:cNvSpPr/>
          <p:nvPr/>
        </p:nvSpPr>
        <p:spPr>
          <a:xfrm>
            <a:off x="2816352" y="487375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On track</a:t>
            </a:r>
            <a:endParaRPr lang="en-US" sz="1000" dirty="0"/>
          </a:p>
        </p:txBody>
      </p:sp>
      <p:sp>
        <p:nvSpPr>
          <p:cNvPr id="57" name="Shape 54"/>
          <p:cNvSpPr/>
          <p:nvPr/>
        </p:nvSpPr>
        <p:spPr>
          <a:xfrm>
            <a:off x="4279392" y="4663440"/>
            <a:ext cx="164592" cy="164592"/>
          </a:xfrm>
          <a:prstGeom prst="ellipse">
            <a:avLst/>
          </a:prstGeom>
          <a:solidFill>
            <a:srgbClr val="1F8B4C"/>
          </a:solidFill>
          <a:ln/>
        </p:spPr>
      </p:sp>
      <p:sp>
        <p:nvSpPr>
          <p:cNvPr id="58" name="Text 55"/>
          <p:cNvSpPr/>
          <p:nvPr/>
        </p:nvSpPr>
        <p:spPr>
          <a:xfrm>
            <a:off x="4279392" y="487375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Holding</a:t>
            </a:r>
            <a:endParaRPr lang="en-US" sz="1000" dirty="0"/>
          </a:p>
        </p:txBody>
      </p:sp>
      <p:sp>
        <p:nvSpPr>
          <p:cNvPr id="59" name="Shape 56"/>
          <p:cNvSpPr/>
          <p:nvPr/>
        </p:nvSpPr>
        <p:spPr>
          <a:xfrm>
            <a:off x="5742432" y="4663440"/>
            <a:ext cx="164592" cy="164592"/>
          </a:xfrm>
          <a:prstGeom prst="ellipse">
            <a:avLst/>
          </a:prstGeom>
          <a:solidFill>
            <a:srgbClr val="C97A00"/>
          </a:solidFill>
          <a:ln/>
        </p:spPr>
      </p:sp>
      <p:sp>
        <p:nvSpPr>
          <p:cNvPr id="60" name="Text 57"/>
          <p:cNvSpPr/>
          <p:nvPr/>
        </p:nvSpPr>
        <p:spPr>
          <a:xfrm>
            <a:off x="5742432" y="4873752"/>
            <a:ext cx="123444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Cloud spend ▲</a:t>
            </a:r>
            <a:endParaRPr lang="en-US" sz="1000" dirty="0"/>
          </a:p>
        </p:txBody>
      </p:sp>
      <p:sp>
        <p:nvSpPr>
          <p:cNvPr id="61" name="Shape 58"/>
          <p:cNvSpPr/>
          <p:nvPr/>
        </p:nvSpPr>
        <p:spPr>
          <a:xfrm>
            <a:off x="7205472" y="4663440"/>
            <a:ext cx="164592" cy="164592"/>
          </a:xfrm>
          <a:prstGeom prst="ellipse">
            <a:avLst/>
          </a:prstGeom>
          <a:solidFill>
            <a:srgbClr val="C97A00"/>
          </a:solidFill>
          <a:ln/>
        </p:spPr>
      </p:sp>
      <p:sp>
        <p:nvSpPr>
          <p:cNvPr id="62" name="Text 59"/>
          <p:cNvSpPr/>
          <p:nvPr/>
        </p:nvSpPr>
        <p:spPr>
          <a:xfrm>
            <a:off x="7205472" y="487375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Model governance</a:t>
            </a:r>
            <a:endParaRPr lang="en-US" sz="1000" dirty="0"/>
          </a:p>
        </p:txBody>
      </p:sp>
      <p:sp>
        <p:nvSpPr>
          <p:cNvPr id="63" name="Shape 60"/>
          <p:cNvSpPr/>
          <p:nvPr/>
        </p:nvSpPr>
        <p:spPr>
          <a:xfrm>
            <a:off x="8759952" y="4663440"/>
            <a:ext cx="164592" cy="164592"/>
          </a:xfrm>
          <a:prstGeom prst="ellipse">
            <a:avLst/>
          </a:prstGeom>
          <a:solidFill>
            <a:srgbClr val="C97A00"/>
          </a:solidFill>
          <a:ln/>
        </p:spPr>
      </p:sp>
      <p:sp>
        <p:nvSpPr>
          <p:cNvPr id="64" name="Text 61"/>
          <p:cNvSpPr/>
          <p:nvPr/>
        </p:nvSpPr>
        <p:spPr>
          <a:xfrm>
            <a:off x="8759952" y="4873752"/>
            <a:ext cx="1325880" cy="41148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ML hire pending</a:t>
            </a:r>
            <a:endParaRPr lang="en-US" sz="1000" dirty="0"/>
          </a:p>
        </p:txBody>
      </p:sp>
      <p:sp>
        <p:nvSpPr>
          <p:cNvPr id="65" name="Text 62"/>
          <p:cNvSpPr/>
          <p:nvPr/>
        </p:nvSpPr>
        <p:spPr>
          <a:xfrm>
            <a:off x="10149840" y="4526280"/>
            <a:ext cx="1463040" cy="777240"/>
          </a:xfrm>
          <a:prstGeom prst="rect">
            <a:avLst/>
          </a:prstGeom>
          <a:noFill/>
          <a:ln/>
        </p:spPr>
        <p:txBody>
          <a:bodyPr wrap="square" lIns="0" tIns="0" rIns="0" bIns="0" rtlCol="0" anchor="ctr"/>
          <a:lstStyle/>
          <a:p>
            <a:pPr algn="ctr" indent="0" marL="0">
              <a:buNone/>
            </a:pPr>
            <a:r>
              <a:rPr lang="en-US" sz="2400" b="1" dirty="0">
                <a:solidFill>
                  <a:srgbClr val="5B6778"/>
                </a:solidFill>
                <a:latin typeface="Trebuchet MS" pitchFamily="34" charset="0"/>
                <a:ea typeface="Trebuchet MS" pitchFamily="34" charset="-122"/>
                <a:cs typeface="Trebuchet MS" pitchFamily="34" charset="-120"/>
              </a:rPr>
              <a:t>▬</a:t>
            </a:r>
            <a:endParaRPr lang="en-US" sz="2400" dirty="0"/>
          </a:p>
        </p:txBody>
      </p:sp>
      <p:sp>
        <p:nvSpPr>
          <p:cNvPr id="66" name="Shape 63"/>
          <p:cNvSpPr/>
          <p:nvPr/>
        </p:nvSpPr>
        <p:spPr>
          <a:xfrm>
            <a:off x="548640" y="5623560"/>
            <a:ext cx="11064240" cy="777240"/>
          </a:xfrm>
          <a:prstGeom prst="rect">
            <a:avLst/>
          </a:prstGeom>
          <a:solidFill>
            <a:srgbClr val="001F47"/>
          </a:solidFill>
          <a:ln/>
        </p:spPr>
      </p:sp>
      <p:sp>
        <p:nvSpPr>
          <p:cNvPr id="67" name="Text 64"/>
          <p:cNvSpPr/>
          <p:nvPr/>
        </p:nvSpPr>
        <p:spPr>
          <a:xfrm>
            <a:off x="777240" y="5715000"/>
            <a:ext cx="10607040" cy="274320"/>
          </a:xfrm>
          <a:prstGeom prst="rect">
            <a:avLst/>
          </a:prstGeom>
          <a:noFill/>
          <a:ln/>
        </p:spPr>
        <p:txBody>
          <a:bodyPr wrap="square" lIns="0" tIns="0" rIns="0" bIns="0" rtlCol="0" anchor="ctr"/>
          <a:lstStyle/>
          <a:p>
            <a:pPr indent="0" marL="0">
              <a:buNone/>
            </a:pPr>
            <a:r>
              <a:rPr lang="en-US" sz="1000" b="1" spc="400" kern="0" dirty="0">
                <a:solidFill>
                  <a:srgbClr val="FEDF01"/>
                </a:solidFill>
                <a:latin typeface="Trebuchet MS" pitchFamily="34" charset="0"/>
                <a:ea typeface="Trebuchet MS" pitchFamily="34" charset="-122"/>
                <a:cs typeface="Trebuchet MS" pitchFamily="34" charset="-120"/>
              </a:rPr>
              <a:t>WHAT THIS TELLS US</a:t>
            </a:r>
            <a:endParaRPr lang="en-US" sz="1000" dirty="0"/>
          </a:p>
        </p:txBody>
      </p:sp>
      <p:sp>
        <p:nvSpPr>
          <p:cNvPr id="68" name="Text 65"/>
          <p:cNvSpPr/>
          <p:nvPr/>
        </p:nvSpPr>
        <p:spPr>
          <a:xfrm>
            <a:off x="777240" y="5989320"/>
            <a:ext cx="106070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IaC and Compliance are healthy. Optimization needs attention on staffing and BU adoption. ZephyrAI is steady but watch budget.</a:t>
            </a:r>
            <a:endParaRPr lang="en-US" sz="1300" dirty="0"/>
          </a:p>
        </p:txBody>
      </p:sp>
      <p:sp>
        <p:nvSpPr>
          <p:cNvPr id="69" name="Text 6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5 / 30</a:t>
            </a:r>
            <a:endParaRPr lang="en-US" sz="900" dirty="0"/>
          </a:p>
        </p:txBody>
      </p:sp>
      <p:sp>
        <p:nvSpPr>
          <p:cNvPr id="70" name="Text 6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04  ·  WORKSTREAM KPIs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How we measure each workstream</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Outcome metrics for each of the four workstreams — what 'success' looks like in numbers.</a:t>
            </a:r>
            <a:endParaRPr lang="en-US" sz="1300" dirty="0"/>
          </a:p>
        </p:txBody>
      </p:sp>
      <p:sp>
        <p:nvSpPr>
          <p:cNvPr id="7" name="Shape 4"/>
          <p:cNvSpPr/>
          <p:nvPr/>
        </p:nvSpPr>
        <p:spPr>
          <a:xfrm>
            <a:off x="548640" y="1920240"/>
            <a:ext cx="5463540" cy="2171700"/>
          </a:xfrm>
          <a:prstGeom prst="rect">
            <a:avLst/>
          </a:prstGeom>
          <a:solidFill>
            <a:srgbClr val="FFFFFF"/>
          </a:solidFill>
          <a:ln w="7620">
            <a:solidFill>
              <a:srgbClr val="D6DEE8"/>
            </a:solidFill>
            <a:prstDash val="solid"/>
          </a:ln>
        </p:spPr>
      </p:sp>
      <p:sp>
        <p:nvSpPr>
          <p:cNvPr id="8" name="Shape 5"/>
          <p:cNvSpPr/>
          <p:nvPr/>
        </p:nvSpPr>
        <p:spPr>
          <a:xfrm>
            <a:off x="548640" y="1920240"/>
            <a:ext cx="5463540" cy="548640"/>
          </a:xfrm>
          <a:prstGeom prst="rect">
            <a:avLst/>
          </a:prstGeom>
          <a:solidFill>
            <a:srgbClr val="0051A5"/>
          </a:solidFill>
          <a:ln/>
        </p:spPr>
      </p:sp>
      <p:sp>
        <p:nvSpPr>
          <p:cNvPr id="9" name="Shape 6"/>
          <p:cNvSpPr/>
          <p:nvPr/>
        </p:nvSpPr>
        <p:spPr>
          <a:xfrm>
            <a:off x="548640" y="1920240"/>
            <a:ext cx="640080" cy="548640"/>
          </a:xfrm>
          <a:prstGeom prst="rect">
            <a:avLst/>
          </a:prstGeom>
          <a:solidFill>
            <a:srgbClr val="FEDF01"/>
          </a:solidFill>
          <a:ln/>
        </p:spPr>
      </p:sp>
      <p:sp>
        <p:nvSpPr>
          <p:cNvPr id="10" name="Text 7"/>
          <p:cNvSpPr/>
          <p:nvPr/>
        </p:nvSpPr>
        <p:spPr>
          <a:xfrm>
            <a:off x="548640" y="1920240"/>
            <a:ext cx="640080" cy="54864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01</a:t>
            </a:r>
            <a:endParaRPr lang="en-US" sz="2200" dirty="0"/>
          </a:p>
        </p:txBody>
      </p:sp>
      <p:sp>
        <p:nvSpPr>
          <p:cNvPr id="11" name="Text 8"/>
          <p:cNvSpPr/>
          <p:nvPr/>
        </p:nvSpPr>
        <p:spPr>
          <a:xfrm>
            <a:off x="1325880" y="1965960"/>
            <a:ext cx="4594860" cy="29260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IaC</a:t>
            </a:r>
            <a:endParaRPr lang="en-US" sz="1600" dirty="0"/>
          </a:p>
        </p:txBody>
      </p:sp>
      <p:sp>
        <p:nvSpPr>
          <p:cNvPr id="12" name="Text 9"/>
          <p:cNvSpPr/>
          <p:nvPr/>
        </p:nvSpPr>
        <p:spPr>
          <a:xfrm>
            <a:off x="1325880" y="2231136"/>
            <a:ext cx="4594860" cy="210312"/>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Zephyr IaC + policy-as-code</a:t>
            </a:r>
            <a:endParaRPr lang="en-US" sz="1000" dirty="0"/>
          </a:p>
        </p:txBody>
      </p:sp>
      <p:sp>
        <p:nvSpPr>
          <p:cNvPr id="13" name="Shape 10"/>
          <p:cNvSpPr/>
          <p:nvPr/>
        </p:nvSpPr>
        <p:spPr>
          <a:xfrm>
            <a:off x="621792" y="2606040"/>
            <a:ext cx="5317236" cy="242316"/>
          </a:xfrm>
          <a:prstGeom prst="rect">
            <a:avLst/>
          </a:prstGeom>
          <a:solidFill>
            <a:srgbClr val="F6F8FB"/>
          </a:solidFill>
          <a:ln/>
        </p:spPr>
      </p:sp>
      <p:sp>
        <p:nvSpPr>
          <p:cNvPr id="14" name="Text 11"/>
          <p:cNvSpPr/>
          <p:nvPr/>
        </p:nvSpPr>
        <p:spPr>
          <a:xfrm>
            <a:off x="731520" y="2606040"/>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Estate under Zephyr IaC</a:t>
            </a:r>
            <a:endParaRPr lang="en-US" sz="1050" dirty="0"/>
          </a:p>
        </p:txBody>
      </p:sp>
      <p:sp>
        <p:nvSpPr>
          <p:cNvPr id="15" name="Text 12"/>
          <p:cNvSpPr/>
          <p:nvPr/>
        </p:nvSpPr>
        <p:spPr>
          <a:xfrm>
            <a:off x="4732020" y="2606040"/>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≥85%</a:t>
            </a:r>
            <a:endParaRPr lang="en-US" sz="1100" dirty="0"/>
          </a:p>
        </p:txBody>
      </p:sp>
      <p:sp>
        <p:nvSpPr>
          <p:cNvPr id="16" name="Text 13"/>
          <p:cNvSpPr/>
          <p:nvPr/>
        </p:nvSpPr>
        <p:spPr>
          <a:xfrm>
            <a:off x="731520" y="2884932"/>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Drift incidents per month</a:t>
            </a:r>
            <a:endParaRPr lang="en-US" sz="1050" dirty="0"/>
          </a:p>
        </p:txBody>
      </p:sp>
      <p:sp>
        <p:nvSpPr>
          <p:cNvPr id="17" name="Text 14"/>
          <p:cNvSpPr/>
          <p:nvPr/>
        </p:nvSpPr>
        <p:spPr>
          <a:xfrm>
            <a:off x="4732020" y="2884932"/>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Trend ↓</a:t>
            </a:r>
            <a:endParaRPr lang="en-US" sz="1100" dirty="0"/>
          </a:p>
        </p:txBody>
      </p:sp>
      <p:sp>
        <p:nvSpPr>
          <p:cNvPr id="18" name="Shape 15"/>
          <p:cNvSpPr/>
          <p:nvPr/>
        </p:nvSpPr>
        <p:spPr>
          <a:xfrm>
            <a:off x="621792" y="3163824"/>
            <a:ext cx="5317236" cy="242316"/>
          </a:xfrm>
          <a:prstGeom prst="rect">
            <a:avLst/>
          </a:prstGeom>
          <a:solidFill>
            <a:srgbClr val="F6F8FB"/>
          </a:solidFill>
          <a:ln/>
        </p:spPr>
      </p:sp>
      <p:sp>
        <p:nvSpPr>
          <p:cNvPr id="19" name="Text 16"/>
          <p:cNvSpPr/>
          <p:nvPr/>
        </p:nvSpPr>
        <p:spPr>
          <a:xfrm>
            <a:off x="731520" y="3163824"/>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Mean time to provision</a:t>
            </a:r>
            <a:endParaRPr lang="en-US" sz="1050" dirty="0"/>
          </a:p>
        </p:txBody>
      </p:sp>
      <p:sp>
        <p:nvSpPr>
          <p:cNvPr id="20" name="Text 17"/>
          <p:cNvSpPr/>
          <p:nvPr/>
        </p:nvSpPr>
        <p:spPr>
          <a:xfrm>
            <a:off x="4732020" y="3163824"/>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&lt;30 min</a:t>
            </a:r>
            <a:endParaRPr lang="en-US" sz="1100" dirty="0"/>
          </a:p>
        </p:txBody>
      </p:sp>
      <p:sp>
        <p:nvSpPr>
          <p:cNvPr id="21" name="Text 18"/>
          <p:cNvSpPr/>
          <p:nvPr/>
        </p:nvSpPr>
        <p:spPr>
          <a:xfrm>
            <a:off x="731520" y="3442716"/>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Policy violations caught pre-prod</a:t>
            </a:r>
            <a:endParaRPr lang="en-US" sz="1050" dirty="0"/>
          </a:p>
        </p:txBody>
      </p:sp>
      <p:sp>
        <p:nvSpPr>
          <p:cNvPr id="22" name="Text 19"/>
          <p:cNvSpPr/>
          <p:nvPr/>
        </p:nvSpPr>
        <p:spPr>
          <a:xfrm>
            <a:off x="4732020" y="3442716"/>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≥95%</a:t>
            </a:r>
            <a:endParaRPr lang="en-US" sz="1100" dirty="0"/>
          </a:p>
        </p:txBody>
      </p:sp>
      <p:sp>
        <p:nvSpPr>
          <p:cNvPr id="23" name="Shape 20"/>
          <p:cNvSpPr/>
          <p:nvPr/>
        </p:nvSpPr>
        <p:spPr>
          <a:xfrm>
            <a:off x="621792" y="3721608"/>
            <a:ext cx="5317236" cy="242316"/>
          </a:xfrm>
          <a:prstGeom prst="rect">
            <a:avLst/>
          </a:prstGeom>
          <a:solidFill>
            <a:srgbClr val="F6F8FB"/>
          </a:solidFill>
          <a:ln/>
        </p:spPr>
      </p:sp>
      <p:sp>
        <p:nvSpPr>
          <p:cNvPr id="24" name="Text 21"/>
          <p:cNvSpPr/>
          <p:nvPr/>
        </p:nvSpPr>
        <p:spPr>
          <a:xfrm>
            <a:off x="731520" y="3721608"/>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Pipeline success rate</a:t>
            </a:r>
            <a:endParaRPr lang="en-US" sz="1050" dirty="0"/>
          </a:p>
        </p:txBody>
      </p:sp>
      <p:sp>
        <p:nvSpPr>
          <p:cNvPr id="25" name="Text 22"/>
          <p:cNvSpPr/>
          <p:nvPr/>
        </p:nvSpPr>
        <p:spPr>
          <a:xfrm>
            <a:off x="4732020" y="3721608"/>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≥97%</a:t>
            </a:r>
            <a:endParaRPr lang="en-US" sz="1100" dirty="0"/>
          </a:p>
        </p:txBody>
      </p:sp>
      <p:sp>
        <p:nvSpPr>
          <p:cNvPr id="26" name="Shape 23"/>
          <p:cNvSpPr/>
          <p:nvPr/>
        </p:nvSpPr>
        <p:spPr>
          <a:xfrm>
            <a:off x="6149340" y="1920240"/>
            <a:ext cx="5463540" cy="2171700"/>
          </a:xfrm>
          <a:prstGeom prst="rect">
            <a:avLst/>
          </a:prstGeom>
          <a:solidFill>
            <a:srgbClr val="FFFFFF"/>
          </a:solidFill>
          <a:ln w="7620">
            <a:solidFill>
              <a:srgbClr val="D6DEE8"/>
            </a:solidFill>
            <a:prstDash val="solid"/>
          </a:ln>
        </p:spPr>
      </p:sp>
      <p:sp>
        <p:nvSpPr>
          <p:cNvPr id="27" name="Shape 24"/>
          <p:cNvSpPr/>
          <p:nvPr/>
        </p:nvSpPr>
        <p:spPr>
          <a:xfrm>
            <a:off x="6149340" y="1920240"/>
            <a:ext cx="5463540" cy="548640"/>
          </a:xfrm>
          <a:prstGeom prst="rect">
            <a:avLst/>
          </a:prstGeom>
          <a:solidFill>
            <a:srgbClr val="0051A5"/>
          </a:solidFill>
          <a:ln/>
        </p:spPr>
      </p:sp>
      <p:sp>
        <p:nvSpPr>
          <p:cNvPr id="28" name="Shape 25"/>
          <p:cNvSpPr/>
          <p:nvPr/>
        </p:nvSpPr>
        <p:spPr>
          <a:xfrm>
            <a:off x="6149340" y="1920240"/>
            <a:ext cx="640080" cy="548640"/>
          </a:xfrm>
          <a:prstGeom prst="rect">
            <a:avLst/>
          </a:prstGeom>
          <a:solidFill>
            <a:srgbClr val="FEDF01"/>
          </a:solidFill>
          <a:ln/>
        </p:spPr>
      </p:sp>
      <p:sp>
        <p:nvSpPr>
          <p:cNvPr id="29" name="Text 26"/>
          <p:cNvSpPr/>
          <p:nvPr/>
        </p:nvSpPr>
        <p:spPr>
          <a:xfrm>
            <a:off x="6149340" y="1920240"/>
            <a:ext cx="640080" cy="54864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02</a:t>
            </a:r>
            <a:endParaRPr lang="en-US" sz="2200" dirty="0"/>
          </a:p>
        </p:txBody>
      </p:sp>
      <p:sp>
        <p:nvSpPr>
          <p:cNvPr id="30" name="Text 27"/>
          <p:cNvSpPr/>
          <p:nvPr/>
        </p:nvSpPr>
        <p:spPr>
          <a:xfrm>
            <a:off x="6926580" y="1965960"/>
            <a:ext cx="4594860" cy="29260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Compliance Reporting</a:t>
            </a:r>
            <a:endParaRPr lang="en-US" sz="1600" dirty="0"/>
          </a:p>
        </p:txBody>
      </p:sp>
      <p:sp>
        <p:nvSpPr>
          <p:cNvPr id="31" name="Text 28"/>
          <p:cNvSpPr/>
          <p:nvPr/>
        </p:nvSpPr>
        <p:spPr>
          <a:xfrm>
            <a:off x="6926580" y="2231136"/>
            <a:ext cx="4594860" cy="210312"/>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Visibility into Vuln &amp; Patch posture · audit data</a:t>
            </a:r>
            <a:endParaRPr lang="en-US" sz="1000" dirty="0"/>
          </a:p>
        </p:txBody>
      </p:sp>
      <p:sp>
        <p:nvSpPr>
          <p:cNvPr id="32" name="Shape 29"/>
          <p:cNvSpPr/>
          <p:nvPr/>
        </p:nvSpPr>
        <p:spPr>
          <a:xfrm>
            <a:off x="6222492" y="2606040"/>
            <a:ext cx="5317236" cy="242316"/>
          </a:xfrm>
          <a:prstGeom prst="rect">
            <a:avLst/>
          </a:prstGeom>
          <a:solidFill>
            <a:srgbClr val="F6F8FB"/>
          </a:solidFill>
          <a:ln/>
        </p:spPr>
      </p:sp>
      <p:sp>
        <p:nvSpPr>
          <p:cNvPr id="33" name="Text 30"/>
          <p:cNvSpPr/>
          <p:nvPr/>
        </p:nvSpPr>
        <p:spPr>
          <a:xfrm>
            <a:off x="6332220" y="2606040"/>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Estate covered by reporting</a:t>
            </a:r>
            <a:endParaRPr lang="en-US" sz="1050" dirty="0"/>
          </a:p>
        </p:txBody>
      </p:sp>
      <p:sp>
        <p:nvSpPr>
          <p:cNvPr id="34" name="Text 31"/>
          <p:cNvSpPr/>
          <p:nvPr/>
        </p:nvSpPr>
        <p:spPr>
          <a:xfrm>
            <a:off x="10332720" y="2606040"/>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100%</a:t>
            </a:r>
            <a:endParaRPr lang="en-US" sz="1100" dirty="0"/>
          </a:p>
        </p:txBody>
      </p:sp>
      <p:sp>
        <p:nvSpPr>
          <p:cNvPr id="35" name="Text 32"/>
          <p:cNvSpPr/>
          <p:nvPr/>
        </p:nvSpPr>
        <p:spPr>
          <a:xfrm>
            <a:off x="6332220" y="2884932"/>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Reporting data freshness</a:t>
            </a:r>
            <a:endParaRPr lang="en-US" sz="1050" dirty="0"/>
          </a:p>
        </p:txBody>
      </p:sp>
      <p:sp>
        <p:nvSpPr>
          <p:cNvPr id="36" name="Text 33"/>
          <p:cNvSpPr/>
          <p:nvPr/>
        </p:nvSpPr>
        <p:spPr>
          <a:xfrm>
            <a:off x="10332720" y="2884932"/>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&lt;24h</a:t>
            </a:r>
            <a:endParaRPr lang="en-US" sz="1100" dirty="0"/>
          </a:p>
        </p:txBody>
      </p:sp>
      <p:sp>
        <p:nvSpPr>
          <p:cNvPr id="37" name="Shape 34"/>
          <p:cNvSpPr/>
          <p:nvPr/>
        </p:nvSpPr>
        <p:spPr>
          <a:xfrm>
            <a:off x="6222492" y="3163824"/>
            <a:ext cx="5317236" cy="242316"/>
          </a:xfrm>
          <a:prstGeom prst="rect">
            <a:avLst/>
          </a:prstGeom>
          <a:solidFill>
            <a:srgbClr val="F6F8FB"/>
          </a:solidFill>
          <a:ln/>
        </p:spPr>
      </p:sp>
      <p:sp>
        <p:nvSpPr>
          <p:cNvPr id="38" name="Text 35"/>
          <p:cNvSpPr/>
          <p:nvPr/>
        </p:nvSpPr>
        <p:spPr>
          <a:xfrm>
            <a:off x="6332220" y="3163824"/>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Auto-routed issues to platform owners</a:t>
            </a:r>
            <a:endParaRPr lang="en-US" sz="1050" dirty="0"/>
          </a:p>
        </p:txBody>
      </p:sp>
      <p:sp>
        <p:nvSpPr>
          <p:cNvPr id="39" name="Text 36"/>
          <p:cNvSpPr/>
          <p:nvPr/>
        </p:nvSpPr>
        <p:spPr>
          <a:xfrm>
            <a:off x="10332720" y="3163824"/>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≥90%</a:t>
            </a:r>
            <a:endParaRPr lang="en-US" sz="1100" dirty="0"/>
          </a:p>
        </p:txBody>
      </p:sp>
      <p:sp>
        <p:nvSpPr>
          <p:cNvPr id="40" name="Text 37"/>
          <p:cNvSpPr/>
          <p:nvPr/>
        </p:nvSpPr>
        <p:spPr>
          <a:xfrm>
            <a:off x="6332220" y="3442716"/>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Audit-evidence requests fulfilled in SLA</a:t>
            </a:r>
            <a:endParaRPr lang="en-US" sz="1050" dirty="0"/>
          </a:p>
        </p:txBody>
      </p:sp>
      <p:sp>
        <p:nvSpPr>
          <p:cNvPr id="41" name="Text 38"/>
          <p:cNvSpPr/>
          <p:nvPr/>
        </p:nvSpPr>
        <p:spPr>
          <a:xfrm>
            <a:off x="10332720" y="3442716"/>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≥95%</a:t>
            </a:r>
            <a:endParaRPr lang="en-US" sz="1100" dirty="0"/>
          </a:p>
        </p:txBody>
      </p:sp>
      <p:sp>
        <p:nvSpPr>
          <p:cNvPr id="42" name="Shape 39"/>
          <p:cNvSpPr/>
          <p:nvPr/>
        </p:nvSpPr>
        <p:spPr>
          <a:xfrm>
            <a:off x="6222492" y="3721608"/>
            <a:ext cx="5317236" cy="242316"/>
          </a:xfrm>
          <a:prstGeom prst="rect">
            <a:avLst/>
          </a:prstGeom>
          <a:solidFill>
            <a:srgbClr val="F6F8FB"/>
          </a:solidFill>
          <a:ln/>
        </p:spPr>
      </p:sp>
      <p:sp>
        <p:nvSpPr>
          <p:cNvPr id="43" name="Text 40"/>
          <p:cNvSpPr/>
          <p:nvPr/>
        </p:nvSpPr>
        <p:spPr>
          <a:xfrm>
            <a:off x="6332220" y="3721608"/>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Reconciliation gaps (vs source systems)</a:t>
            </a:r>
            <a:endParaRPr lang="en-US" sz="1050" dirty="0"/>
          </a:p>
        </p:txBody>
      </p:sp>
      <p:sp>
        <p:nvSpPr>
          <p:cNvPr id="44" name="Text 41"/>
          <p:cNvSpPr/>
          <p:nvPr/>
        </p:nvSpPr>
        <p:spPr>
          <a:xfrm>
            <a:off x="10332720" y="3721608"/>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&lt;2%</a:t>
            </a:r>
            <a:endParaRPr lang="en-US" sz="1100" dirty="0"/>
          </a:p>
        </p:txBody>
      </p:sp>
      <p:sp>
        <p:nvSpPr>
          <p:cNvPr id="45" name="Shape 42"/>
          <p:cNvSpPr/>
          <p:nvPr/>
        </p:nvSpPr>
        <p:spPr>
          <a:xfrm>
            <a:off x="548640" y="4229100"/>
            <a:ext cx="5463540" cy="2171700"/>
          </a:xfrm>
          <a:prstGeom prst="rect">
            <a:avLst/>
          </a:prstGeom>
          <a:solidFill>
            <a:srgbClr val="FFFFFF"/>
          </a:solidFill>
          <a:ln w="7620">
            <a:solidFill>
              <a:srgbClr val="D6DEE8"/>
            </a:solidFill>
            <a:prstDash val="solid"/>
          </a:ln>
        </p:spPr>
      </p:sp>
      <p:sp>
        <p:nvSpPr>
          <p:cNvPr id="46" name="Shape 43"/>
          <p:cNvSpPr/>
          <p:nvPr/>
        </p:nvSpPr>
        <p:spPr>
          <a:xfrm>
            <a:off x="548640" y="4229100"/>
            <a:ext cx="5463540" cy="548640"/>
          </a:xfrm>
          <a:prstGeom prst="rect">
            <a:avLst/>
          </a:prstGeom>
          <a:solidFill>
            <a:srgbClr val="0051A5"/>
          </a:solidFill>
          <a:ln/>
        </p:spPr>
      </p:sp>
      <p:sp>
        <p:nvSpPr>
          <p:cNvPr id="47" name="Shape 44"/>
          <p:cNvSpPr/>
          <p:nvPr/>
        </p:nvSpPr>
        <p:spPr>
          <a:xfrm>
            <a:off x="548640" y="4229100"/>
            <a:ext cx="640080" cy="548640"/>
          </a:xfrm>
          <a:prstGeom prst="rect">
            <a:avLst/>
          </a:prstGeom>
          <a:solidFill>
            <a:srgbClr val="FEDF01"/>
          </a:solidFill>
          <a:ln/>
        </p:spPr>
      </p:sp>
      <p:sp>
        <p:nvSpPr>
          <p:cNvPr id="48" name="Text 45"/>
          <p:cNvSpPr/>
          <p:nvPr/>
        </p:nvSpPr>
        <p:spPr>
          <a:xfrm>
            <a:off x="548640" y="4229100"/>
            <a:ext cx="640080" cy="54864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03</a:t>
            </a:r>
            <a:endParaRPr lang="en-US" sz="2200" dirty="0"/>
          </a:p>
        </p:txBody>
      </p:sp>
      <p:sp>
        <p:nvSpPr>
          <p:cNvPr id="49" name="Text 46"/>
          <p:cNvSpPr/>
          <p:nvPr/>
        </p:nvSpPr>
        <p:spPr>
          <a:xfrm>
            <a:off x="1325880" y="4274820"/>
            <a:ext cx="4594860" cy="29260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Optimization</a:t>
            </a:r>
            <a:endParaRPr lang="en-US" sz="1600" dirty="0"/>
          </a:p>
        </p:txBody>
      </p:sp>
      <p:sp>
        <p:nvSpPr>
          <p:cNvPr id="50" name="Text 47"/>
          <p:cNvSpPr/>
          <p:nvPr/>
        </p:nvSpPr>
        <p:spPr>
          <a:xfrm>
            <a:off x="1325880" y="4539996"/>
            <a:ext cx="4594860" cy="210312"/>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Capacity · home-of-best-fit · rationalization</a:t>
            </a:r>
            <a:endParaRPr lang="en-US" sz="1000" dirty="0"/>
          </a:p>
        </p:txBody>
      </p:sp>
      <p:sp>
        <p:nvSpPr>
          <p:cNvPr id="51" name="Shape 48"/>
          <p:cNvSpPr/>
          <p:nvPr/>
        </p:nvSpPr>
        <p:spPr>
          <a:xfrm>
            <a:off x="621792" y="4914900"/>
            <a:ext cx="5317236" cy="242316"/>
          </a:xfrm>
          <a:prstGeom prst="rect">
            <a:avLst/>
          </a:prstGeom>
          <a:solidFill>
            <a:srgbClr val="F6F8FB"/>
          </a:solidFill>
          <a:ln/>
        </p:spPr>
      </p:sp>
      <p:sp>
        <p:nvSpPr>
          <p:cNvPr id="52" name="Text 49"/>
          <p:cNvSpPr/>
          <p:nvPr/>
        </p:nvSpPr>
        <p:spPr>
          <a:xfrm>
            <a:off x="731520" y="4914900"/>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reclaimed (annualized)</a:t>
            </a:r>
            <a:endParaRPr lang="en-US" sz="1050" dirty="0"/>
          </a:p>
        </p:txBody>
      </p:sp>
      <p:sp>
        <p:nvSpPr>
          <p:cNvPr id="53" name="Text 50"/>
          <p:cNvSpPr/>
          <p:nvPr/>
        </p:nvSpPr>
        <p:spPr>
          <a:xfrm>
            <a:off x="4732020" y="4914900"/>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≥$5M</a:t>
            </a:r>
            <a:endParaRPr lang="en-US" sz="1100" dirty="0"/>
          </a:p>
        </p:txBody>
      </p:sp>
      <p:sp>
        <p:nvSpPr>
          <p:cNvPr id="54" name="Text 51"/>
          <p:cNvSpPr/>
          <p:nvPr/>
        </p:nvSpPr>
        <p:spPr>
          <a:xfrm>
            <a:off x="731520" y="5193792"/>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Workloads relocated</a:t>
            </a:r>
            <a:endParaRPr lang="en-US" sz="1050" dirty="0"/>
          </a:p>
        </p:txBody>
      </p:sp>
      <p:sp>
        <p:nvSpPr>
          <p:cNvPr id="55" name="Text 52"/>
          <p:cNvSpPr/>
          <p:nvPr/>
        </p:nvSpPr>
        <p:spPr>
          <a:xfrm>
            <a:off x="4732020" y="5193792"/>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Trend ↑</a:t>
            </a:r>
            <a:endParaRPr lang="en-US" sz="1100" dirty="0"/>
          </a:p>
        </p:txBody>
      </p:sp>
      <p:sp>
        <p:nvSpPr>
          <p:cNvPr id="56" name="Shape 53"/>
          <p:cNvSpPr/>
          <p:nvPr/>
        </p:nvSpPr>
        <p:spPr>
          <a:xfrm>
            <a:off x="621792" y="5472684"/>
            <a:ext cx="5317236" cy="242316"/>
          </a:xfrm>
          <a:prstGeom prst="rect">
            <a:avLst/>
          </a:prstGeom>
          <a:solidFill>
            <a:srgbClr val="F6F8FB"/>
          </a:solidFill>
          <a:ln/>
        </p:spPr>
      </p:sp>
      <p:sp>
        <p:nvSpPr>
          <p:cNvPr id="57" name="Text 54"/>
          <p:cNvSpPr/>
          <p:nvPr/>
        </p:nvSpPr>
        <p:spPr>
          <a:xfrm>
            <a:off x="731520" y="5472684"/>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Avg utilization (compute, storage)</a:t>
            </a:r>
            <a:endParaRPr lang="en-US" sz="1050" dirty="0"/>
          </a:p>
        </p:txBody>
      </p:sp>
      <p:sp>
        <p:nvSpPr>
          <p:cNvPr id="58" name="Text 55"/>
          <p:cNvSpPr/>
          <p:nvPr/>
        </p:nvSpPr>
        <p:spPr>
          <a:xfrm>
            <a:off x="4732020" y="5472684"/>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≥65%</a:t>
            </a:r>
            <a:endParaRPr lang="en-US" sz="1100" dirty="0"/>
          </a:p>
        </p:txBody>
      </p:sp>
      <p:sp>
        <p:nvSpPr>
          <p:cNvPr id="59" name="Text 56"/>
          <p:cNvSpPr/>
          <p:nvPr/>
        </p:nvSpPr>
        <p:spPr>
          <a:xfrm>
            <a:off x="731520" y="5751576"/>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Footprint reduction</a:t>
            </a:r>
            <a:endParaRPr lang="en-US" sz="1050" dirty="0"/>
          </a:p>
        </p:txBody>
      </p:sp>
      <p:sp>
        <p:nvSpPr>
          <p:cNvPr id="60" name="Text 57"/>
          <p:cNvSpPr/>
          <p:nvPr/>
        </p:nvSpPr>
        <p:spPr>
          <a:xfrm>
            <a:off x="4732020" y="5751576"/>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Trend ↓</a:t>
            </a:r>
            <a:endParaRPr lang="en-US" sz="1100" dirty="0"/>
          </a:p>
        </p:txBody>
      </p:sp>
      <p:sp>
        <p:nvSpPr>
          <p:cNvPr id="61" name="Shape 58"/>
          <p:cNvSpPr/>
          <p:nvPr/>
        </p:nvSpPr>
        <p:spPr>
          <a:xfrm>
            <a:off x="621792" y="6030468"/>
            <a:ext cx="5317236" cy="242316"/>
          </a:xfrm>
          <a:prstGeom prst="rect">
            <a:avLst/>
          </a:prstGeom>
          <a:solidFill>
            <a:srgbClr val="F6F8FB"/>
          </a:solidFill>
          <a:ln/>
        </p:spPr>
      </p:sp>
      <p:sp>
        <p:nvSpPr>
          <p:cNvPr id="62" name="Text 59"/>
          <p:cNvSpPr/>
          <p:nvPr/>
        </p:nvSpPr>
        <p:spPr>
          <a:xfrm>
            <a:off x="731520" y="6030468"/>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Showback adoption</a:t>
            </a:r>
            <a:endParaRPr lang="en-US" sz="1050" dirty="0"/>
          </a:p>
        </p:txBody>
      </p:sp>
      <p:sp>
        <p:nvSpPr>
          <p:cNvPr id="63" name="Text 60"/>
          <p:cNvSpPr/>
          <p:nvPr/>
        </p:nvSpPr>
        <p:spPr>
          <a:xfrm>
            <a:off x="4732020" y="6030468"/>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≥80% of LOBs</a:t>
            </a:r>
            <a:endParaRPr lang="en-US" sz="1100" dirty="0"/>
          </a:p>
        </p:txBody>
      </p:sp>
      <p:sp>
        <p:nvSpPr>
          <p:cNvPr id="64" name="Shape 61"/>
          <p:cNvSpPr/>
          <p:nvPr/>
        </p:nvSpPr>
        <p:spPr>
          <a:xfrm>
            <a:off x="6149340" y="4229100"/>
            <a:ext cx="5463540" cy="2171700"/>
          </a:xfrm>
          <a:prstGeom prst="rect">
            <a:avLst/>
          </a:prstGeom>
          <a:solidFill>
            <a:srgbClr val="FFFFFF"/>
          </a:solidFill>
          <a:ln w="7620">
            <a:solidFill>
              <a:srgbClr val="D6DEE8"/>
            </a:solidFill>
            <a:prstDash val="solid"/>
          </a:ln>
        </p:spPr>
      </p:sp>
      <p:sp>
        <p:nvSpPr>
          <p:cNvPr id="65" name="Shape 62"/>
          <p:cNvSpPr/>
          <p:nvPr/>
        </p:nvSpPr>
        <p:spPr>
          <a:xfrm>
            <a:off x="6149340" y="4229100"/>
            <a:ext cx="5463540" cy="548640"/>
          </a:xfrm>
          <a:prstGeom prst="rect">
            <a:avLst/>
          </a:prstGeom>
          <a:solidFill>
            <a:srgbClr val="0051A5"/>
          </a:solidFill>
          <a:ln/>
        </p:spPr>
      </p:sp>
      <p:sp>
        <p:nvSpPr>
          <p:cNvPr id="66" name="Shape 63"/>
          <p:cNvSpPr/>
          <p:nvPr/>
        </p:nvSpPr>
        <p:spPr>
          <a:xfrm>
            <a:off x="6149340" y="4229100"/>
            <a:ext cx="640080" cy="548640"/>
          </a:xfrm>
          <a:prstGeom prst="rect">
            <a:avLst/>
          </a:prstGeom>
          <a:solidFill>
            <a:srgbClr val="FEDF01"/>
          </a:solidFill>
          <a:ln/>
        </p:spPr>
      </p:sp>
      <p:sp>
        <p:nvSpPr>
          <p:cNvPr id="67" name="Text 64"/>
          <p:cNvSpPr/>
          <p:nvPr/>
        </p:nvSpPr>
        <p:spPr>
          <a:xfrm>
            <a:off x="6149340" y="4229100"/>
            <a:ext cx="640080" cy="54864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04</a:t>
            </a:r>
            <a:endParaRPr lang="en-US" sz="2200" dirty="0"/>
          </a:p>
        </p:txBody>
      </p:sp>
      <p:sp>
        <p:nvSpPr>
          <p:cNvPr id="68" name="Text 65"/>
          <p:cNvSpPr/>
          <p:nvPr/>
        </p:nvSpPr>
        <p:spPr>
          <a:xfrm>
            <a:off x="6926580" y="4274820"/>
            <a:ext cx="4594860" cy="29260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ZephyrAI</a:t>
            </a:r>
            <a:endParaRPr lang="en-US" sz="1600" dirty="0"/>
          </a:p>
        </p:txBody>
      </p:sp>
      <p:sp>
        <p:nvSpPr>
          <p:cNvPr id="69" name="Text 66"/>
          <p:cNvSpPr/>
          <p:nvPr/>
        </p:nvSpPr>
        <p:spPr>
          <a:xfrm>
            <a:off x="6926580" y="4539996"/>
            <a:ext cx="4594860" cy="210312"/>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Agentic automation</a:t>
            </a:r>
            <a:endParaRPr lang="en-US" sz="1000" dirty="0"/>
          </a:p>
        </p:txBody>
      </p:sp>
      <p:sp>
        <p:nvSpPr>
          <p:cNvPr id="70" name="Shape 67"/>
          <p:cNvSpPr/>
          <p:nvPr/>
        </p:nvSpPr>
        <p:spPr>
          <a:xfrm>
            <a:off x="6222492" y="4914900"/>
            <a:ext cx="5317236" cy="242316"/>
          </a:xfrm>
          <a:prstGeom prst="rect">
            <a:avLst/>
          </a:prstGeom>
          <a:solidFill>
            <a:srgbClr val="F6F8FB"/>
          </a:solidFill>
          <a:ln/>
        </p:spPr>
      </p:sp>
      <p:sp>
        <p:nvSpPr>
          <p:cNvPr id="71" name="Text 68"/>
          <p:cNvSpPr/>
          <p:nvPr/>
        </p:nvSpPr>
        <p:spPr>
          <a:xfrm>
            <a:off x="6332220" y="4914900"/>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Toil eliminated (hours/week)</a:t>
            </a:r>
            <a:endParaRPr lang="en-US" sz="1050" dirty="0"/>
          </a:p>
        </p:txBody>
      </p:sp>
      <p:sp>
        <p:nvSpPr>
          <p:cNvPr id="72" name="Text 69"/>
          <p:cNvSpPr/>
          <p:nvPr/>
        </p:nvSpPr>
        <p:spPr>
          <a:xfrm>
            <a:off x="10332720" y="4914900"/>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Trend ↑</a:t>
            </a:r>
            <a:endParaRPr lang="en-US" sz="1100" dirty="0"/>
          </a:p>
        </p:txBody>
      </p:sp>
      <p:sp>
        <p:nvSpPr>
          <p:cNvPr id="73" name="Text 70"/>
          <p:cNvSpPr/>
          <p:nvPr/>
        </p:nvSpPr>
        <p:spPr>
          <a:xfrm>
            <a:off x="6332220" y="5193792"/>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Agent-resolved incidents %</a:t>
            </a:r>
            <a:endParaRPr lang="en-US" sz="1050" dirty="0"/>
          </a:p>
        </p:txBody>
      </p:sp>
      <p:sp>
        <p:nvSpPr>
          <p:cNvPr id="74" name="Text 71"/>
          <p:cNvSpPr/>
          <p:nvPr/>
        </p:nvSpPr>
        <p:spPr>
          <a:xfrm>
            <a:off x="10332720" y="5193792"/>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≥40%</a:t>
            </a:r>
            <a:endParaRPr lang="en-US" sz="1100" dirty="0"/>
          </a:p>
        </p:txBody>
      </p:sp>
      <p:sp>
        <p:nvSpPr>
          <p:cNvPr id="75" name="Shape 72"/>
          <p:cNvSpPr/>
          <p:nvPr/>
        </p:nvSpPr>
        <p:spPr>
          <a:xfrm>
            <a:off x="6222492" y="5472684"/>
            <a:ext cx="5317236" cy="242316"/>
          </a:xfrm>
          <a:prstGeom prst="rect">
            <a:avLst/>
          </a:prstGeom>
          <a:solidFill>
            <a:srgbClr val="F6F8FB"/>
          </a:solidFill>
          <a:ln/>
        </p:spPr>
      </p:sp>
      <p:sp>
        <p:nvSpPr>
          <p:cNvPr id="76" name="Text 73"/>
          <p:cNvSpPr/>
          <p:nvPr/>
        </p:nvSpPr>
        <p:spPr>
          <a:xfrm>
            <a:off x="6332220" y="5472684"/>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Agent action accuracy</a:t>
            </a:r>
            <a:endParaRPr lang="en-US" sz="1050" dirty="0"/>
          </a:p>
        </p:txBody>
      </p:sp>
      <p:sp>
        <p:nvSpPr>
          <p:cNvPr id="77" name="Text 74"/>
          <p:cNvSpPr/>
          <p:nvPr/>
        </p:nvSpPr>
        <p:spPr>
          <a:xfrm>
            <a:off x="10332720" y="5472684"/>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≥98%</a:t>
            </a:r>
            <a:endParaRPr lang="en-US" sz="1100" dirty="0"/>
          </a:p>
        </p:txBody>
      </p:sp>
      <p:sp>
        <p:nvSpPr>
          <p:cNvPr id="78" name="Text 75"/>
          <p:cNvSpPr/>
          <p:nvPr/>
        </p:nvSpPr>
        <p:spPr>
          <a:xfrm>
            <a:off x="6332220" y="5751576"/>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Active agent use cases</a:t>
            </a:r>
            <a:endParaRPr lang="en-US" sz="1050" dirty="0"/>
          </a:p>
        </p:txBody>
      </p:sp>
      <p:sp>
        <p:nvSpPr>
          <p:cNvPr id="79" name="Text 76"/>
          <p:cNvSpPr/>
          <p:nvPr/>
        </p:nvSpPr>
        <p:spPr>
          <a:xfrm>
            <a:off x="10332720" y="5751576"/>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4 of 4 in prod</a:t>
            </a:r>
            <a:endParaRPr lang="en-US" sz="1100" dirty="0"/>
          </a:p>
        </p:txBody>
      </p:sp>
      <p:sp>
        <p:nvSpPr>
          <p:cNvPr id="80" name="Shape 77"/>
          <p:cNvSpPr/>
          <p:nvPr/>
        </p:nvSpPr>
        <p:spPr>
          <a:xfrm>
            <a:off x="6222492" y="6030468"/>
            <a:ext cx="5317236" cy="242316"/>
          </a:xfrm>
          <a:prstGeom prst="rect">
            <a:avLst/>
          </a:prstGeom>
          <a:solidFill>
            <a:srgbClr val="F6F8FB"/>
          </a:solidFill>
          <a:ln/>
        </p:spPr>
      </p:sp>
      <p:sp>
        <p:nvSpPr>
          <p:cNvPr id="81" name="Text 78"/>
          <p:cNvSpPr/>
          <p:nvPr/>
        </p:nvSpPr>
        <p:spPr>
          <a:xfrm>
            <a:off x="6332220" y="6030468"/>
            <a:ext cx="4000500" cy="242316"/>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Human approvals required</a:t>
            </a:r>
            <a:endParaRPr lang="en-US" sz="1050" dirty="0"/>
          </a:p>
        </p:txBody>
      </p:sp>
      <p:sp>
        <p:nvSpPr>
          <p:cNvPr id="82" name="Text 79"/>
          <p:cNvSpPr/>
          <p:nvPr/>
        </p:nvSpPr>
        <p:spPr>
          <a:xfrm>
            <a:off x="10332720" y="6030468"/>
            <a:ext cx="1097280" cy="242316"/>
          </a:xfrm>
          <a:prstGeom prst="rect">
            <a:avLst/>
          </a:prstGeom>
          <a:noFill/>
          <a:ln/>
        </p:spPr>
        <p:txBody>
          <a:bodyPr wrap="square" lIns="0" tIns="0" rIns="0" bIns="0" rtlCol="0" anchor="ctr"/>
          <a:lstStyle/>
          <a:p>
            <a:pPr algn="r" indent="0" marL="0">
              <a:buNone/>
            </a:pPr>
            <a:r>
              <a:rPr lang="en-US" sz="1100" b="1" dirty="0">
                <a:solidFill>
                  <a:srgbClr val="001F47"/>
                </a:solidFill>
                <a:latin typeface="Trebuchet MS" pitchFamily="34" charset="0"/>
                <a:ea typeface="Trebuchet MS" pitchFamily="34" charset="-122"/>
                <a:cs typeface="Trebuchet MS" pitchFamily="34" charset="-120"/>
              </a:rPr>
              <a:t>Trend ↓</a:t>
            </a:r>
            <a:endParaRPr lang="en-US" sz="1100" dirty="0"/>
          </a:p>
        </p:txBody>
      </p:sp>
      <p:sp>
        <p:nvSpPr>
          <p:cNvPr id="83" name="Text 8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6 / 30</a:t>
            </a:r>
            <a:endParaRPr lang="en-US" sz="900" dirty="0"/>
          </a:p>
        </p:txBody>
      </p:sp>
      <p:sp>
        <p:nvSpPr>
          <p:cNvPr id="84" name="Text 8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05  ·  WORKSTREAM 01</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IaC — Zephyr IaC + policy-as-code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2286000" cy="4526280"/>
          </a:xfrm>
          <a:prstGeom prst="rect">
            <a:avLst/>
          </a:prstGeom>
          <a:solidFill>
            <a:srgbClr val="0051A5"/>
          </a:solidFill>
          <a:ln/>
        </p:spPr>
      </p:sp>
      <p:sp>
        <p:nvSpPr>
          <p:cNvPr id="7" name="Text 4"/>
          <p:cNvSpPr/>
          <p:nvPr/>
        </p:nvSpPr>
        <p:spPr>
          <a:xfrm>
            <a:off x="548640" y="1920240"/>
            <a:ext cx="2286000" cy="1554480"/>
          </a:xfrm>
          <a:prstGeom prst="rect">
            <a:avLst/>
          </a:prstGeom>
          <a:noFill/>
          <a:ln/>
        </p:spPr>
        <p:txBody>
          <a:bodyPr wrap="square" lIns="0" tIns="0" rIns="0" bIns="0" rtlCol="0" anchor="ctr"/>
          <a:lstStyle/>
          <a:p>
            <a:pPr algn="ctr" indent="0" marL="0">
              <a:buNone/>
            </a:pPr>
            <a:r>
              <a:rPr lang="en-US" sz="9600" b="1" dirty="0">
                <a:solidFill>
                  <a:srgbClr val="FFFFFF"/>
                </a:solidFill>
                <a:latin typeface="Trebuchet MS" pitchFamily="34" charset="0"/>
                <a:ea typeface="Trebuchet MS" pitchFamily="34" charset="-122"/>
                <a:cs typeface="Trebuchet MS" pitchFamily="34" charset="-120"/>
              </a:rPr>
              <a:t>01</a:t>
            </a:r>
            <a:endParaRPr lang="en-US" sz="9600" dirty="0"/>
          </a:p>
        </p:txBody>
      </p:sp>
      <p:sp>
        <p:nvSpPr>
          <p:cNvPr id="8" name="Shape 5"/>
          <p:cNvSpPr/>
          <p:nvPr/>
        </p:nvSpPr>
        <p:spPr>
          <a:xfrm>
            <a:off x="822960" y="3474720"/>
            <a:ext cx="1737360" cy="36576"/>
          </a:xfrm>
          <a:prstGeom prst="rect">
            <a:avLst/>
          </a:prstGeom>
          <a:solidFill>
            <a:srgbClr val="FEDF01"/>
          </a:solidFill>
          <a:ln/>
        </p:spPr>
      </p:sp>
      <p:sp>
        <p:nvSpPr>
          <p:cNvPr id="9" name="Text 6"/>
          <p:cNvSpPr/>
          <p:nvPr/>
        </p:nvSpPr>
        <p:spPr>
          <a:xfrm>
            <a:off x="777240" y="3611880"/>
            <a:ext cx="1828800" cy="274320"/>
          </a:xfrm>
          <a:prstGeom prst="rect">
            <a:avLst/>
          </a:prstGeom>
          <a:noFill/>
          <a:ln/>
        </p:spPr>
        <p:txBody>
          <a:bodyPr wrap="square" lIns="0" tIns="0" rIns="0" bIns="0" rtlCol="0" anchor="ctr"/>
          <a:lstStyle/>
          <a:p>
            <a:pPr indent="0" marL="0">
              <a:buNone/>
            </a:pPr>
            <a:r>
              <a:rPr lang="en-US" sz="1000" b="1" spc="300" kern="0" dirty="0">
                <a:solidFill>
                  <a:srgbClr val="FEDF01"/>
                </a:solidFill>
                <a:latin typeface="Trebuchet MS" pitchFamily="34" charset="0"/>
                <a:ea typeface="Trebuchet MS" pitchFamily="34" charset="-122"/>
                <a:cs typeface="Trebuchet MS" pitchFamily="34" charset="-120"/>
              </a:rPr>
              <a:t>MISSION</a:t>
            </a:r>
            <a:endParaRPr lang="en-US" sz="1000" dirty="0"/>
          </a:p>
        </p:txBody>
      </p:sp>
      <p:sp>
        <p:nvSpPr>
          <p:cNvPr id="10" name="Text 7"/>
          <p:cNvSpPr/>
          <p:nvPr/>
        </p:nvSpPr>
        <p:spPr>
          <a:xfrm>
            <a:off x="777240" y="3904488"/>
            <a:ext cx="1828800" cy="1463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Codify infrastructure provisioning across the on-prem estate through the Zephyr IaC product line, with governance enforced as code.</a:t>
            </a:r>
            <a:endParaRPr lang="en-US" sz="1150" dirty="0"/>
          </a:p>
        </p:txBody>
      </p:sp>
      <p:sp>
        <p:nvSpPr>
          <p:cNvPr id="11" name="Shape 8"/>
          <p:cNvSpPr/>
          <p:nvPr/>
        </p:nvSpPr>
        <p:spPr>
          <a:xfrm>
            <a:off x="1280160" y="5349240"/>
            <a:ext cx="822960" cy="822960"/>
          </a:xfrm>
          <a:prstGeom prst="ellipse">
            <a:avLst/>
          </a:prstGeom>
          <a:solidFill>
            <a:srgbClr val="FEDF01"/>
          </a:solidFill>
          <a:ln/>
        </p:spPr>
      </p:sp>
      <p:pic>
        <p:nvPicPr>
          <p:cNvPr id="12" name="Image 1" descr="preencoded.png">    </p:cNvPr>
          <p:cNvPicPr>
            <a:picLocks noChangeAspect="1"/>
          </p:cNvPicPr>
          <p:nvPr/>
        </p:nvPicPr>
        <p:blipFill>
          <a:blip r:embed="rId2"/>
          <a:stretch>
            <a:fillRect/>
          </a:stretch>
        </p:blipFill>
        <p:spPr>
          <a:xfrm>
            <a:off x="1444752" y="5513832"/>
            <a:ext cx="502920" cy="502920"/>
          </a:xfrm>
          <a:prstGeom prst="rect">
            <a:avLst/>
          </a:prstGeom>
        </p:spPr>
      </p:pic>
      <p:sp>
        <p:nvSpPr>
          <p:cNvPr id="13" name="Text 9"/>
          <p:cNvSpPr/>
          <p:nvPr/>
        </p:nvSpPr>
        <p:spPr>
          <a:xfrm>
            <a:off x="3017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IN-SCOPE FY26</a:t>
            </a:r>
            <a:endParaRPr lang="en-US" sz="1000" dirty="0"/>
          </a:p>
        </p:txBody>
      </p:sp>
      <p:sp>
        <p:nvSpPr>
          <p:cNvPr id="14" name="Text 10"/>
          <p:cNvSpPr/>
          <p:nvPr/>
        </p:nvSpPr>
        <p:spPr>
          <a:xfrm>
            <a:off x="3017520" y="2057400"/>
            <a:ext cx="4434840" cy="1508760"/>
          </a:xfrm>
          <a:prstGeom prst="rect">
            <a:avLst/>
          </a:prstGeom>
          <a:noFill/>
          <a:ln/>
        </p:spPr>
        <p:txBody>
          <a:bodyPr wrap="square" rtlCol="0" anchor="ctr"/>
          <a:lstStyle/>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Zephyr IaC modules — compute, network, storage, identity</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Policy-as-code framework — guardrails at pipeline gates</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Governance integration — change approval, SoD encoded</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EPS + ZOP migration partnership for legacy estate</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Tagging, naming, secrets, module-versioning standards</a:t>
            </a:r>
            <a:endParaRPr lang="en-US" sz="1100" dirty="0"/>
          </a:p>
        </p:txBody>
      </p:sp>
      <p:sp>
        <p:nvSpPr>
          <p:cNvPr id="15" name="Text 11"/>
          <p:cNvSpPr/>
          <p:nvPr/>
        </p:nvSpPr>
        <p:spPr>
          <a:xfrm>
            <a:off x="3017520" y="36118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OUT-OF-SCOPE</a:t>
            </a:r>
            <a:endParaRPr lang="en-US" sz="1000" dirty="0"/>
          </a:p>
        </p:txBody>
      </p:sp>
      <p:sp>
        <p:nvSpPr>
          <p:cNvPr id="16" name="Text 12"/>
          <p:cNvSpPr/>
          <p:nvPr/>
        </p:nvSpPr>
        <p:spPr>
          <a:xfrm>
            <a:off x="3017520" y="3886200"/>
            <a:ext cx="4434840" cy="868680"/>
          </a:xfrm>
          <a:prstGeom prst="rect">
            <a:avLst/>
          </a:prstGeom>
          <a:noFill/>
          <a:ln/>
        </p:spPr>
        <p:txBody>
          <a:bodyPr wrap="square" rtlCol="0" anchor="ctr"/>
          <a:lstStyle/>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Application-layer CI/CD</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Public cloud landing zones</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Developer self-service portal (FY27)</a:t>
            </a:r>
            <a:endParaRPr lang="en-US" sz="1100" dirty="0"/>
          </a:p>
        </p:txBody>
      </p:sp>
      <p:sp>
        <p:nvSpPr>
          <p:cNvPr id="17" name="Text 13"/>
          <p:cNvSpPr/>
          <p:nvPr/>
        </p:nvSpPr>
        <p:spPr>
          <a:xfrm>
            <a:off x="3017520" y="480060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QUARTERLY MILESTONES</a:t>
            </a:r>
            <a:endParaRPr lang="en-US" sz="1000" dirty="0"/>
          </a:p>
        </p:txBody>
      </p:sp>
      <p:sp>
        <p:nvSpPr>
          <p:cNvPr id="18" name="Shape 14"/>
          <p:cNvSpPr/>
          <p:nvPr/>
        </p:nvSpPr>
        <p:spPr>
          <a:xfrm>
            <a:off x="3017520" y="5074920"/>
            <a:ext cx="365760" cy="201168"/>
          </a:xfrm>
          <a:prstGeom prst="rect">
            <a:avLst/>
          </a:prstGeom>
          <a:solidFill>
            <a:srgbClr val="FEDF01"/>
          </a:solidFill>
          <a:ln/>
        </p:spPr>
      </p:sp>
      <p:sp>
        <p:nvSpPr>
          <p:cNvPr id="19" name="Text 15"/>
          <p:cNvSpPr/>
          <p:nvPr/>
        </p:nvSpPr>
        <p:spPr>
          <a:xfrm>
            <a:off x="3017520" y="5074920"/>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Q1</a:t>
            </a:r>
            <a:endParaRPr lang="en-US" sz="900" dirty="0"/>
          </a:p>
        </p:txBody>
      </p:sp>
      <p:sp>
        <p:nvSpPr>
          <p:cNvPr id="20" name="Text 16"/>
          <p:cNvSpPr/>
          <p:nvPr/>
        </p:nvSpPr>
        <p:spPr>
          <a:xfrm>
            <a:off x="3474720" y="5056632"/>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Zephyr IaC modules GA (compute, network); PaC v1</a:t>
            </a:r>
            <a:endParaRPr lang="en-US" sz="1050" dirty="0"/>
          </a:p>
        </p:txBody>
      </p:sp>
      <p:sp>
        <p:nvSpPr>
          <p:cNvPr id="21" name="Shape 17"/>
          <p:cNvSpPr/>
          <p:nvPr/>
        </p:nvSpPr>
        <p:spPr>
          <a:xfrm>
            <a:off x="3017520" y="5330952"/>
            <a:ext cx="365760" cy="201168"/>
          </a:xfrm>
          <a:prstGeom prst="rect">
            <a:avLst/>
          </a:prstGeom>
          <a:solidFill>
            <a:srgbClr val="FEDF01"/>
          </a:solidFill>
          <a:ln/>
        </p:spPr>
      </p:sp>
      <p:sp>
        <p:nvSpPr>
          <p:cNvPr id="22" name="Text 18"/>
          <p:cNvSpPr/>
          <p:nvPr/>
        </p:nvSpPr>
        <p:spPr>
          <a:xfrm>
            <a:off x="3017520" y="5330952"/>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Q2</a:t>
            </a:r>
            <a:endParaRPr lang="en-US" sz="900" dirty="0"/>
          </a:p>
        </p:txBody>
      </p:sp>
      <p:sp>
        <p:nvSpPr>
          <p:cNvPr id="23" name="Text 19"/>
          <p:cNvSpPr/>
          <p:nvPr/>
        </p:nvSpPr>
        <p:spPr>
          <a:xfrm>
            <a:off x="3474720" y="5312664"/>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Storage &amp; identity modules GA; governance gates live</a:t>
            </a:r>
            <a:endParaRPr lang="en-US" sz="1050" dirty="0"/>
          </a:p>
        </p:txBody>
      </p:sp>
      <p:sp>
        <p:nvSpPr>
          <p:cNvPr id="24" name="Shape 20"/>
          <p:cNvSpPr/>
          <p:nvPr/>
        </p:nvSpPr>
        <p:spPr>
          <a:xfrm>
            <a:off x="3017520" y="5586984"/>
            <a:ext cx="365760" cy="201168"/>
          </a:xfrm>
          <a:prstGeom prst="rect">
            <a:avLst/>
          </a:prstGeom>
          <a:solidFill>
            <a:srgbClr val="FEDF01"/>
          </a:solidFill>
          <a:ln/>
        </p:spPr>
      </p:sp>
      <p:sp>
        <p:nvSpPr>
          <p:cNvPr id="25" name="Text 21"/>
          <p:cNvSpPr/>
          <p:nvPr/>
        </p:nvSpPr>
        <p:spPr>
          <a:xfrm>
            <a:off x="3017520" y="5586984"/>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Q3</a:t>
            </a:r>
            <a:endParaRPr lang="en-US" sz="900" dirty="0"/>
          </a:p>
        </p:txBody>
      </p:sp>
      <p:sp>
        <p:nvSpPr>
          <p:cNvPr id="26" name="Text 22"/>
          <p:cNvSpPr/>
          <p:nvPr/>
        </p:nvSpPr>
        <p:spPr>
          <a:xfrm>
            <a:off x="3474720" y="5568696"/>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EPS+ZOP migration wave 1; policy library top 20 controls</a:t>
            </a:r>
            <a:endParaRPr lang="en-US" sz="1050" dirty="0"/>
          </a:p>
        </p:txBody>
      </p:sp>
      <p:sp>
        <p:nvSpPr>
          <p:cNvPr id="27" name="Shape 23"/>
          <p:cNvSpPr/>
          <p:nvPr/>
        </p:nvSpPr>
        <p:spPr>
          <a:xfrm>
            <a:off x="3017520" y="5843016"/>
            <a:ext cx="365760" cy="201168"/>
          </a:xfrm>
          <a:prstGeom prst="rect">
            <a:avLst/>
          </a:prstGeom>
          <a:solidFill>
            <a:srgbClr val="FEDF01"/>
          </a:solidFill>
          <a:ln/>
        </p:spPr>
      </p:sp>
      <p:sp>
        <p:nvSpPr>
          <p:cNvPr id="28" name="Text 24"/>
          <p:cNvSpPr/>
          <p:nvPr/>
        </p:nvSpPr>
        <p:spPr>
          <a:xfrm>
            <a:off x="3017520" y="5843016"/>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Q4</a:t>
            </a:r>
            <a:endParaRPr lang="en-US" sz="900" dirty="0"/>
          </a:p>
        </p:txBody>
      </p:sp>
      <p:sp>
        <p:nvSpPr>
          <p:cNvPr id="29" name="Text 25"/>
          <p:cNvSpPr/>
          <p:nvPr/>
        </p:nvSpPr>
        <p:spPr>
          <a:xfrm>
            <a:off x="3474720" y="5824728"/>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70% estate under code; second migration wave underway</a:t>
            </a:r>
            <a:endParaRPr lang="en-US" sz="1050" dirty="0"/>
          </a:p>
        </p:txBody>
      </p:sp>
      <p:sp>
        <p:nvSpPr>
          <p:cNvPr id="30" name="Text 26"/>
          <p:cNvSpPr/>
          <p:nvPr/>
        </p:nvSpPr>
        <p:spPr>
          <a:xfrm>
            <a:off x="7589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DEPENDENCIES</a:t>
            </a:r>
            <a:endParaRPr lang="en-US" sz="1000" dirty="0"/>
          </a:p>
        </p:txBody>
      </p:sp>
      <p:sp>
        <p:nvSpPr>
          <p:cNvPr id="31" name="Text 27"/>
          <p:cNvSpPr/>
          <p:nvPr/>
        </p:nvSpPr>
        <p:spPr>
          <a:xfrm>
            <a:off x="7589520" y="2057400"/>
            <a:ext cx="4434840" cy="1005840"/>
          </a:xfrm>
          <a:prstGeom prst="rect">
            <a:avLst/>
          </a:prstGeom>
          <a:noFill/>
          <a:ln/>
        </p:spPr>
        <p:txBody>
          <a:bodyPr wrap="square" rtlCol="0" anchor="ctr"/>
          <a:lstStyle/>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Provides to: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Compliance (gates), Optimization (tagging), ZephyrAI (action interface)</a:t>
            </a:r>
            <a:endParaRPr lang="en-US" sz="1100" dirty="0"/>
          </a:p>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Needs from: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Platform teams (CMDB accuracy), Security (control catalog)</a:t>
            </a:r>
            <a:endParaRPr lang="en-US" sz="1100" dirty="0"/>
          </a:p>
        </p:txBody>
      </p:sp>
      <p:sp>
        <p:nvSpPr>
          <p:cNvPr id="32" name="Text 28"/>
          <p:cNvSpPr/>
          <p:nvPr/>
        </p:nvSpPr>
        <p:spPr>
          <a:xfrm>
            <a:off x="7589520" y="31546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SUCCESS METRICS</a:t>
            </a:r>
            <a:endParaRPr lang="en-US" sz="1000" dirty="0"/>
          </a:p>
        </p:txBody>
      </p:sp>
      <p:sp>
        <p:nvSpPr>
          <p:cNvPr id="33" name="Text 29"/>
          <p:cNvSpPr/>
          <p:nvPr/>
        </p:nvSpPr>
        <p:spPr>
          <a:xfrm>
            <a:off x="7589520" y="3429000"/>
            <a:ext cx="4434840" cy="118872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estate under Zephyr IaC</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changes flowing through governed pipeline</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Policy violations caught pre-deploy vs. post-deploy</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Provisioning lead time</a:t>
            </a:r>
            <a:endParaRPr lang="en-US" sz="1100" dirty="0"/>
          </a:p>
        </p:txBody>
      </p:sp>
      <p:sp>
        <p:nvSpPr>
          <p:cNvPr id="34" name="Text 30"/>
          <p:cNvSpPr/>
          <p:nvPr/>
        </p:nvSpPr>
        <p:spPr>
          <a:xfrm>
            <a:off x="7589520" y="466344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TEAM &amp; PERSONAS</a:t>
            </a:r>
            <a:endParaRPr lang="en-US" sz="1000" dirty="0"/>
          </a:p>
        </p:txBody>
      </p:sp>
      <p:sp>
        <p:nvSpPr>
          <p:cNvPr id="35" name="Text 31"/>
          <p:cNvSpPr/>
          <p:nvPr/>
        </p:nvSpPr>
        <p:spPr>
          <a:xfrm>
            <a:off x="7589520" y="4937760"/>
            <a:ext cx="4434840" cy="7772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Workstream Lead · Tech Lead · Delivery Lead · Platform Engineers · Release Engineers · Security Engineering liaison · Governance/Risk liaison</a:t>
            </a:r>
            <a:endParaRPr lang="en-US" sz="1100" dirty="0"/>
          </a:p>
        </p:txBody>
      </p:sp>
      <p:sp>
        <p:nvSpPr>
          <p:cNvPr id="36" name="Shape 32"/>
          <p:cNvSpPr/>
          <p:nvPr/>
        </p:nvSpPr>
        <p:spPr>
          <a:xfrm>
            <a:off x="7589520" y="5806440"/>
            <a:ext cx="4434840" cy="640080"/>
          </a:xfrm>
          <a:prstGeom prst="rect">
            <a:avLst/>
          </a:prstGeom>
          <a:solidFill>
            <a:srgbClr val="001F47"/>
          </a:solidFill>
          <a:ln/>
        </p:spPr>
      </p:sp>
      <p:sp>
        <p:nvSpPr>
          <p:cNvPr id="37" name="Shape 33"/>
          <p:cNvSpPr/>
          <p:nvPr/>
        </p:nvSpPr>
        <p:spPr>
          <a:xfrm>
            <a:off x="7589520" y="5806440"/>
            <a:ext cx="54864" cy="640080"/>
          </a:xfrm>
          <a:prstGeom prst="rect">
            <a:avLst/>
          </a:prstGeom>
          <a:solidFill>
            <a:srgbClr val="FEDF01"/>
          </a:solidFill>
          <a:ln/>
        </p:spPr>
      </p:sp>
      <p:sp>
        <p:nvSpPr>
          <p:cNvPr id="38" name="Text 34"/>
          <p:cNvSpPr/>
          <p:nvPr/>
        </p:nvSpPr>
        <p:spPr>
          <a:xfrm>
            <a:off x="7772400" y="5861304"/>
            <a:ext cx="416052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TOP RISK</a:t>
            </a:r>
            <a:endParaRPr lang="en-US" sz="900" dirty="0"/>
          </a:p>
        </p:txBody>
      </p:sp>
      <p:sp>
        <p:nvSpPr>
          <p:cNvPr id="39" name="Text 35"/>
          <p:cNvSpPr/>
          <p:nvPr/>
        </p:nvSpPr>
        <p:spPr>
          <a:xfrm>
            <a:off x="7772400" y="6062472"/>
            <a:ext cx="416052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CMDB inaccuracy delaying coded coverage of legacy estate.</a:t>
            </a:r>
            <a:endParaRPr lang="en-US" sz="1050" dirty="0"/>
          </a:p>
        </p:txBody>
      </p:sp>
      <p:sp>
        <p:nvSpPr>
          <p:cNvPr id="40" name="Text 3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7 / 30</a:t>
            </a:r>
            <a:endParaRPr lang="en-US" sz="900" dirty="0"/>
          </a:p>
        </p:txBody>
      </p:sp>
      <p:sp>
        <p:nvSpPr>
          <p:cNvPr id="41" name="Text 3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06  ·  WORKSTREAM 02</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Compliance — Zephyr Assurance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2286000" cy="4526280"/>
          </a:xfrm>
          <a:prstGeom prst="rect">
            <a:avLst/>
          </a:prstGeom>
          <a:solidFill>
            <a:srgbClr val="0051A5"/>
          </a:solidFill>
          <a:ln/>
        </p:spPr>
      </p:sp>
      <p:sp>
        <p:nvSpPr>
          <p:cNvPr id="7" name="Text 4"/>
          <p:cNvSpPr/>
          <p:nvPr/>
        </p:nvSpPr>
        <p:spPr>
          <a:xfrm>
            <a:off x="548640" y="1920240"/>
            <a:ext cx="2286000" cy="1554480"/>
          </a:xfrm>
          <a:prstGeom prst="rect">
            <a:avLst/>
          </a:prstGeom>
          <a:noFill/>
          <a:ln/>
        </p:spPr>
        <p:txBody>
          <a:bodyPr wrap="square" lIns="0" tIns="0" rIns="0" bIns="0" rtlCol="0" anchor="ctr"/>
          <a:lstStyle/>
          <a:p>
            <a:pPr algn="ctr" indent="0" marL="0">
              <a:buNone/>
            </a:pPr>
            <a:r>
              <a:rPr lang="en-US" sz="9600" b="1" dirty="0">
                <a:solidFill>
                  <a:srgbClr val="FFFFFF"/>
                </a:solidFill>
                <a:latin typeface="Trebuchet MS" pitchFamily="34" charset="0"/>
                <a:ea typeface="Trebuchet MS" pitchFamily="34" charset="-122"/>
                <a:cs typeface="Trebuchet MS" pitchFamily="34" charset="-120"/>
              </a:rPr>
              <a:t>02</a:t>
            </a:r>
            <a:endParaRPr lang="en-US" sz="9600" dirty="0"/>
          </a:p>
        </p:txBody>
      </p:sp>
      <p:sp>
        <p:nvSpPr>
          <p:cNvPr id="8" name="Shape 5"/>
          <p:cNvSpPr/>
          <p:nvPr/>
        </p:nvSpPr>
        <p:spPr>
          <a:xfrm>
            <a:off x="822960" y="3474720"/>
            <a:ext cx="1737360" cy="36576"/>
          </a:xfrm>
          <a:prstGeom prst="rect">
            <a:avLst/>
          </a:prstGeom>
          <a:solidFill>
            <a:srgbClr val="FEDF01"/>
          </a:solidFill>
          <a:ln/>
        </p:spPr>
      </p:sp>
      <p:sp>
        <p:nvSpPr>
          <p:cNvPr id="9" name="Text 6"/>
          <p:cNvSpPr/>
          <p:nvPr/>
        </p:nvSpPr>
        <p:spPr>
          <a:xfrm>
            <a:off x="777240" y="3611880"/>
            <a:ext cx="1828800" cy="274320"/>
          </a:xfrm>
          <a:prstGeom prst="rect">
            <a:avLst/>
          </a:prstGeom>
          <a:noFill/>
          <a:ln/>
        </p:spPr>
        <p:txBody>
          <a:bodyPr wrap="square" lIns="0" tIns="0" rIns="0" bIns="0" rtlCol="0" anchor="ctr"/>
          <a:lstStyle/>
          <a:p>
            <a:pPr indent="0" marL="0">
              <a:buNone/>
            </a:pPr>
            <a:r>
              <a:rPr lang="en-US" sz="1000" b="1" spc="300" kern="0" dirty="0">
                <a:solidFill>
                  <a:srgbClr val="FEDF01"/>
                </a:solidFill>
                <a:latin typeface="Trebuchet MS" pitchFamily="34" charset="0"/>
                <a:ea typeface="Trebuchet MS" pitchFamily="34" charset="-122"/>
                <a:cs typeface="Trebuchet MS" pitchFamily="34" charset="-120"/>
              </a:rPr>
              <a:t>MISSION</a:t>
            </a:r>
            <a:endParaRPr lang="en-US" sz="1000" dirty="0"/>
          </a:p>
        </p:txBody>
      </p:sp>
      <p:sp>
        <p:nvSpPr>
          <p:cNvPr id="10" name="Text 7"/>
          <p:cNvSpPr/>
          <p:nvPr/>
        </p:nvSpPr>
        <p:spPr>
          <a:xfrm>
            <a:off x="777240" y="3904488"/>
            <a:ext cx="1828800" cy="1463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Centralized compliance visibility through Zephyr Assurance, with vulnerability and patch management already live and expanding.</a:t>
            </a:r>
            <a:endParaRPr lang="en-US" sz="1150" dirty="0"/>
          </a:p>
        </p:txBody>
      </p:sp>
      <p:sp>
        <p:nvSpPr>
          <p:cNvPr id="11" name="Shape 8"/>
          <p:cNvSpPr/>
          <p:nvPr/>
        </p:nvSpPr>
        <p:spPr>
          <a:xfrm>
            <a:off x="1280160" y="5349240"/>
            <a:ext cx="822960" cy="822960"/>
          </a:xfrm>
          <a:prstGeom prst="ellipse">
            <a:avLst/>
          </a:prstGeom>
          <a:solidFill>
            <a:srgbClr val="FEDF01"/>
          </a:solidFill>
          <a:ln/>
        </p:spPr>
      </p:sp>
      <p:pic>
        <p:nvPicPr>
          <p:cNvPr id="12" name="Image 1" descr="preencoded.png">    </p:cNvPr>
          <p:cNvPicPr>
            <a:picLocks noChangeAspect="1"/>
          </p:cNvPicPr>
          <p:nvPr/>
        </p:nvPicPr>
        <p:blipFill>
          <a:blip r:embed="rId2"/>
          <a:stretch>
            <a:fillRect/>
          </a:stretch>
        </p:blipFill>
        <p:spPr>
          <a:xfrm>
            <a:off x="1444752" y="5513832"/>
            <a:ext cx="502920" cy="502920"/>
          </a:xfrm>
          <a:prstGeom prst="rect">
            <a:avLst/>
          </a:prstGeom>
        </p:spPr>
      </p:pic>
      <p:sp>
        <p:nvSpPr>
          <p:cNvPr id="13" name="Text 9"/>
          <p:cNvSpPr/>
          <p:nvPr/>
        </p:nvSpPr>
        <p:spPr>
          <a:xfrm>
            <a:off x="3017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IN-SCOPE FY26</a:t>
            </a:r>
            <a:endParaRPr lang="en-US" sz="1000" dirty="0"/>
          </a:p>
        </p:txBody>
      </p:sp>
      <p:sp>
        <p:nvSpPr>
          <p:cNvPr id="14" name="Text 10"/>
          <p:cNvSpPr/>
          <p:nvPr/>
        </p:nvSpPr>
        <p:spPr>
          <a:xfrm>
            <a:off x="3017520" y="2057400"/>
            <a:ext cx="4434840" cy="1508760"/>
          </a:xfrm>
          <a:prstGeom prst="rect">
            <a:avLst/>
          </a:prstGeom>
          <a:noFill/>
          <a:ln/>
        </p:spPr>
        <p:txBody>
          <a:bodyPr wrap="square" rtlCol="0" anchor="ctr"/>
          <a:lstStyle/>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Zephyr Assurance product line — single pane for posture</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 Vulnerability &amp; Patch Management — LIVE</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Control-to-evidence mapping for top frameworks</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Automated evidence collection feeding Audit/GRC</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Continuous control monitoring across codified estate</a:t>
            </a:r>
            <a:endParaRPr lang="en-US" sz="1100" dirty="0"/>
          </a:p>
        </p:txBody>
      </p:sp>
      <p:sp>
        <p:nvSpPr>
          <p:cNvPr id="15" name="Text 11"/>
          <p:cNvSpPr/>
          <p:nvPr/>
        </p:nvSpPr>
        <p:spPr>
          <a:xfrm>
            <a:off x="3017520" y="36118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OUT-OF-SCOPE</a:t>
            </a:r>
            <a:endParaRPr lang="en-US" sz="1000" dirty="0"/>
          </a:p>
        </p:txBody>
      </p:sp>
      <p:sp>
        <p:nvSpPr>
          <p:cNvPr id="16" name="Text 12"/>
          <p:cNvSpPr/>
          <p:nvPr/>
        </p:nvSpPr>
        <p:spPr>
          <a:xfrm>
            <a:off x="3017520" y="3886200"/>
            <a:ext cx="4434840" cy="868680"/>
          </a:xfrm>
          <a:prstGeom prst="rect">
            <a:avLst/>
          </a:prstGeom>
          <a:noFill/>
          <a:ln/>
        </p:spPr>
        <p:txBody>
          <a:bodyPr wrap="square" rtlCol="0" anchor="ctr"/>
          <a:lstStyle/>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Application-level controls</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Data classification &amp; DLP</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Third-party / vendor risk</a:t>
            </a:r>
            <a:endParaRPr lang="en-US" sz="1100" dirty="0"/>
          </a:p>
        </p:txBody>
      </p:sp>
      <p:sp>
        <p:nvSpPr>
          <p:cNvPr id="17" name="Text 13"/>
          <p:cNvSpPr/>
          <p:nvPr/>
        </p:nvSpPr>
        <p:spPr>
          <a:xfrm>
            <a:off x="3017520" y="480060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QUARTERLY MILESTONES</a:t>
            </a:r>
            <a:endParaRPr lang="en-US" sz="1000" dirty="0"/>
          </a:p>
        </p:txBody>
      </p:sp>
      <p:sp>
        <p:nvSpPr>
          <p:cNvPr id="18" name="Shape 14"/>
          <p:cNvSpPr/>
          <p:nvPr/>
        </p:nvSpPr>
        <p:spPr>
          <a:xfrm>
            <a:off x="3017520" y="5074920"/>
            <a:ext cx="365760" cy="201168"/>
          </a:xfrm>
          <a:prstGeom prst="rect">
            <a:avLst/>
          </a:prstGeom>
          <a:solidFill>
            <a:srgbClr val="FEDF01"/>
          </a:solidFill>
          <a:ln/>
        </p:spPr>
      </p:sp>
      <p:sp>
        <p:nvSpPr>
          <p:cNvPr id="19" name="Text 15"/>
          <p:cNvSpPr/>
          <p:nvPr/>
        </p:nvSpPr>
        <p:spPr>
          <a:xfrm>
            <a:off x="3017520" y="5074920"/>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Q1</a:t>
            </a:r>
            <a:endParaRPr lang="en-US" sz="900" dirty="0"/>
          </a:p>
        </p:txBody>
      </p:sp>
      <p:sp>
        <p:nvSpPr>
          <p:cNvPr id="20" name="Text 16"/>
          <p:cNvSpPr/>
          <p:nvPr/>
        </p:nvSpPr>
        <p:spPr>
          <a:xfrm>
            <a:off x="3474720" y="5056632"/>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Vuln &amp; Patch Mgmt expansion; assurance dashboard v1</a:t>
            </a:r>
            <a:endParaRPr lang="en-US" sz="1050" dirty="0"/>
          </a:p>
        </p:txBody>
      </p:sp>
      <p:sp>
        <p:nvSpPr>
          <p:cNvPr id="21" name="Shape 17"/>
          <p:cNvSpPr/>
          <p:nvPr/>
        </p:nvSpPr>
        <p:spPr>
          <a:xfrm>
            <a:off x="3017520" y="5330952"/>
            <a:ext cx="365760" cy="201168"/>
          </a:xfrm>
          <a:prstGeom prst="rect">
            <a:avLst/>
          </a:prstGeom>
          <a:solidFill>
            <a:srgbClr val="FEDF01"/>
          </a:solidFill>
          <a:ln/>
        </p:spPr>
      </p:sp>
      <p:sp>
        <p:nvSpPr>
          <p:cNvPr id="22" name="Text 18"/>
          <p:cNvSpPr/>
          <p:nvPr/>
        </p:nvSpPr>
        <p:spPr>
          <a:xfrm>
            <a:off x="3017520" y="5330952"/>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Q2</a:t>
            </a:r>
            <a:endParaRPr lang="en-US" sz="900" dirty="0"/>
          </a:p>
        </p:txBody>
      </p:sp>
      <p:sp>
        <p:nvSpPr>
          <p:cNvPr id="23" name="Text 19"/>
          <p:cNvSpPr/>
          <p:nvPr/>
        </p:nvSpPr>
        <p:spPr>
          <a:xfrm>
            <a:off x="3474720" y="5312664"/>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Framework #1 control-to-code; evidence automation pilot</a:t>
            </a:r>
            <a:endParaRPr lang="en-US" sz="1050" dirty="0"/>
          </a:p>
        </p:txBody>
      </p:sp>
      <p:sp>
        <p:nvSpPr>
          <p:cNvPr id="24" name="Shape 20"/>
          <p:cNvSpPr/>
          <p:nvPr/>
        </p:nvSpPr>
        <p:spPr>
          <a:xfrm>
            <a:off x="3017520" y="5586984"/>
            <a:ext cx="365760" cy="201168"/>
          </a:xfrm>
          <a:prstGeom prst="rect">
            <a:avLst/>
          </a:prstGeom>
          <a:solidFill>
            <a:srgbClr val="FEDF01"/>
          </a:solidFill>
          <a:ln/>
        </p:spPr>
      </p:sp>
      <p:sp>
        <p:nvSpPr>
          <p:cNvPr id="25" name="Text 21"/>
          <p:cNvSpPr/>
          <p:nvPr/>
        </p:nvSpPr>
        <p:spPr>
          <a:xfrm>
            <a:off x="3017520" y="5586984"/>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Q3</a:t>
            </a:r>
            <a:endParaRPr lang="en-US" sz="900" dirty="0"/>
          </a:p>
        </p:txBody>
      </p:sp>
      <p:sp>
        <p:nvSpPr>
          <p:cNvPr id="26" name="Text 22"/>
          <p:cNvSpPr/>
          <p:nvPr/>
        </p:nvSpPr>
        <p:spPr>
          <a:xfrm>
            <a:off x="3474720" y="5568696"/>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Framework #2 mapped; exception workflow live</a:t>
            </a:r>
            <a:endParaRPr lang="en-US" sz="1050" dirty="0"/>
          </a:p>
        </p:txBody>
      </p:sp>
      <p:sp>
        <p:nvSpPr>
          <p:cNvPr id="27" name="Shape 23"/>
          <p:cNvSpPr/>
          <p:nvPr/>
        </p:nvSpPr>
        <p:spPr>
          <a:xfrm>
            <a:off x="3017520" y="5843016"/>
            <a:ext cx="365760" cy="201168"/>
          </a:xfrm>
          <a:prstGeom prst="rect">
            <a:avLst/>
          </a:prstGeom>
          <a:solidFill>
            <a:srgbClr val="FEDF01"/>
          </a:solidFill>
          <a:ln/>
        </p:spPr>
      </p:sp>
      <p:sp>
        <p:nvSpPr>
          <p:cNvPr id="28" name="Text 24"/>
          <p:cNvSpPr/>
          <p:nvPr/>
        </p:nvSpPr>
        <p:spPr>
          <a:xfrm>
            <a:off x="3017520" y="5843016"/>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Q4</a:t>
            </a:r>
            <a:endParaRPr lang="en-US" sz="900" dirty="0"/>
          </a:p>
        </p:txBody>
      </p:sp>
      <p:sp>
        <p:nvSpPr>
          <p:cNvPr id="29" name="Text 25"/>
          <p:cNvSpPr/>
          <p:nvPr/>
        </p:nvSpPr>
        <p:spPr>
          <a:xfrm>
            <a:off x="3474720" y="5824728"/>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All 5 platforms monitored; first automated audit cycle</a:t>
            </a:r>
            <a:endParaRPr lang="en-US" sz="1050" dirty="0"/>
          </a:p>
        </p:txBody>
      </p:sp>
      <p:sp>
        <p:nvSpPr>
          <p:cNvPr id="30" name="Text 26"/>
          <p:cNvSpPr/>
          <p:nvPr/>
        </p:nvSpPr>
        <p:spPr>
          <a:xfrm>
            <a:off x="7589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DEPENDENCIES</a:t>
            </a:r>
            <a:endParaRPr lang="en-US" sz="1000" dirty="0"/>
          </a:p>
        </p:txBody>
      </p:sp>
      <p:sp>
        <p:nvSpPr>
          <p:cNvPr id="31" name="Text 27"/>
          <p:cNvSpPr/>
          <p:nvPr/>
        </p:nvSpPr>
        <p:spPr>
          <a:xfrm>
            <a:off x="7589520" y="2057400"/>
            <a:ext cx="4434840" cy="1005840"/>
          </a:xfrm>
          <a:prstGeom prst="rect">
            <a:avLst/>
          </a:prstGeom>
          <a:noFill/>
          <a:ln/>
        </p:spPr>
        <p:txBody>
          <a:bodyPr wrap="square" rtlCol="0" anchor="ctr"/>
          <a:lstStyle/>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Provides to: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Internal Audit, GRC, regulators (evidence feed)</a:t>
            </a:r>
            <a:endParaRPr lang="en-US" sz="1100" dirty="0"/>
          </a:p>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Needs from: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IaC (pipeline gates), Platform teams (asset inventory)</a:t>
            </a:r>
            <a:endParaRPr lang="en-US" sz="1100" dirty="0"/>
          </a:p>
        </p:txBody>
      </p:sp>
      <p:sp>
        <p:nvSpPr>
          <p:cNvPr id="32" name="Text 28"/>
          <p:cNvSpPr/>
          <p:nvPr/>
        </p:nvSpPr>
        <p:spPr>
          <a:xfrm>
            <a:off x="7589520" y="31546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SUCCESS METRICS</a:t>
            </a:r>
            <a:endParaRPr lang="en-US" sz="1000" dirty="0"/>
          </a:p>
        </p:txBody>
      </p:sp>
      <p:sp>
        <p:nvSpPr>
          <p:cNvPr id="33" name="Text 29"/>
          <p:cNvSpPr/>
          <p:nvPr/>
        </p:nvSpPr>
        <p:spPr>
          <a:xfrm>
            <a:off x="7589520" y="3429000"/>
            <a:ext cx="4434840" cy="118872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Control coverage % under continuous monitoring</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Mean time-to-evidence</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Vulnerabilities remediated within SLA</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Audit findings per cycle (trend)</a:t>
            </a:r>
            <a:endParaRPr lang="en-US" sz="1100" dirty="0"/>
          </a:p>
        </p:txBody>
      </p:sp>
      <p:sp>
        <p:nvSpPr>
          <p:cNvPr id="34" name="Text 30"/>
          <p:cNvSpPr/>
          <p:nvPr/>
        </p:nvSpPr>
        <p:spPr>
          <a:xfrm>
            <a:off x="7589520" y="466344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TEAM &amp; PERSONAS</a:t>
            </a:r>
            <a:endParaRPr lang="en-US" sz="1000" dirty="0"/>
          </a:p>
        </p:txBody>
      </p:sp>
      <p:sp>
        <p:nvSpPr>
          <p:cNvPr id="35" name="Text 31"/>
          <p:cNvSpPr/>
          <p:nvPr/>
        </p:nvSpPr>
        <p:spPr>
          <a:xfrm>
            <a:off x="7589520" y="4937760"/>
            <a:ext cx="4434840" cy="7772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Workstream Lead · Tech Lead · Delivery Lead · GRC Engineers · Security Architects · Compliance Analysts · Internal Audit liaison · Vuln Mgmt SMEs</a:t>
            </a:r>
            <a:endParaRPr lang="en-US" sz="1100" dirty="0"/>
          </a:p>
        </p:txBody>
      </p:sp>
      <p:sp>
        <p:nvSpPr>
          <p:cNvPr id="36" name="Shape 32"/>
          <p:cNvSpPr/>
          <p:nvPr/>
        </p:nvSpPr>
        <p:spPr>
          <a:xfrm>
            <a:off x="7589520" y="5806440"/>
            <a:ext cx="4434840" cy="640080"/>
          </a:xfrm>
          <a:prstGeom prst="rect">
            <a:avLst/>
          </a:prstGeom>
          <a:solidFill>
            <a:srgbClr val="001F47"/>
          </a:solidFill>
          <a:ln/>
        </p:spPr>
      </p:sp>
      <p:sp>
        <p:nvSpPr>
          <p:cNvPr id="37" name="Shape 33"/>
          <p:cNvSpPr/>
          <p:nvPr/>
        </p:nvSpPr>
        <p:spPr>
          <a:xfrm>
            <a:off x="7589520" y="5806440"/>
            <a:ext cx="54864" cy="640080"/>
          </a:xfrm>
          <a:prstGeom prst="rect">
            <a:avLst/>
          </a:prstGeom>
          <a:solidFill>
            <a:srgbClr val="FEDF01"/>
          </a:solidFill>
          <a:ln/>
        </p:spPr>
      </p:sp>
      <p:sp>
        <p:nvSpPr>
          <p:cNvPr id="38" name="Text 34"/>
          <p:cNvSpPr/>
          <p:nvPr/>
        </p:nvSpPr>
        <p:spPr>
          <a:xfrm>
            <a:off x="7772400" y="5861304"/>
            <a:ext cx="416052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TOP RISK</a:t>
            </a:r>
            <a:endParaRPr lang="en-US" sz="900" dirty="0"/>
          </a:p>
        </p:txBody>
      </p:sp>
      <p:sp>
        <p:nvSpPr>
          <p:cNvPr id="39" name="Text 35"/>
          <p:cNvSpPr/>
          <p:nvPr/>
        </p:nvSpPr>
        <p:spPr>
          <a:xfrm>
            <a:off x="7772400" y="6062472"/>
            <a:ext cx="416052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Framework mapping pace gated by manual control interpretation work.</a:t>
            </a:r>
            <a:endParaRPr lang="en-US" sz="1050" dirty="0"/>
          </a:p>
        </p:txBody>
      </p:sp>
      <p:sp>
        <p:nvSpPr>
          <p:cNvPr id="40" name="Text 3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8 / 30</a:t>
            </a:r>
            <a:endParaRPr lang="en-US" sz="900" dirty="0"/>
          </a:p>
        </p:txBody>
      </p:sp>
      <p:sp>
        <p:nvSpPr>
          <p:cNvPr id="41" name="Text 3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07  ·  WORKSTREAM 03</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Optimization — capacity &amp; rationalization</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2286000" cy="4526280"/>
          </a:xfrm>
          <a:prstGeom prst="rect">
            <a:avLst/>
          </a:prstGeom>
          <a:solidFill>
            <a:srgbClr val="0051A5"/>
          </a:solidFill>
          <a:ln/>
        </p:spPr>
      </p:sp>
      <p:sp>
        <p:nvSpPr>
          <p:cNvPr id="7" name="Text 4"/>
          <p:cNvSpPr/>
          <p:nvPr/>
        </p:nvSpPr>
        <p:spPr>
          <a:xfrm>
            <a:off x="548640" y="1920240"/>
            <a:ext cx="2286000" cy="1554480"/>
          </a:xfrm>
          <a:prstGeom prst="rect">
            <a:avLst/>
          </a:prstGeom>
          <a:noFill/>
          <a:ln/>
        </p:spPr>
        <p:txBody>
          <a:bodyPr wrap="square" lIns="0" tIns="0" rIns="0" bIns="0" rtlCol="0" anchor="ctr"/>
          <a:lstStyle/>
          <a:p>
            <a:pPr algn="ctr" indent="0" marL="0">
              <a:buNone/>
            </a:pPr>
            <a:r>
              <a:rPr lang="en-US" sz="9600" b="1" dirty="0">
                <a:solidFill>
                  <a:srgbClr val="FFFFFF"/>
                </a:solidFill>
                <a:latin typeface="Trebuchet MS" pitchFamily="34" charset="0"/>
                <a:ea typeface="Trebuchet MS" pitchFamily="34" charset="-122"/>
                <a:cs typeface="Trebuchet MS" pitchFamily="34" charset="-120"/>
              </a:rPr>
              <a:t>03</a:t>
            </a:r>
            <a:endParaRPr lang="en-US" sz="9600" dirty="0"/>
          </a:p>
        </p:txBody>
      </p:sp>
      <p:sp>
        <p:nvSpPr>
          <p:cNvPr id="8" name="Shape 5"/>
          <p:cNvSpPr/>
          <p:nvPr/>
        </p:nvSpPr>
        <p:spPr>
          <a:xfrm>
            <a:off x="822960" y="3474720"/>
            <a:ext cx="1737360" cy="36576"/>
          </a:xfrm>
          <a:prstGeom prst="rect">
            <a:avLst/>
          </a:prstGeom>
          <a:solidFill>
            <a:srgbClr val="FEDF01"/>
          </a:solidFill>
          <a:ln/>
        </p:spPr>
      </p:sp>
      <p:sp>
        <p:nvSpPr>
          <p:cNvPr id="9" name="Text 6"/>
          <p:cNvSpPr/>
          <p:nvPr/>
        </p:nvSpPr>
        <p:spPr>
          <a:xfrm>
            <a:off x="777240" y="3611880"/>
            <a:ext cx="1828800" cy="274320"/>
          </a:xfrm>
          <a:prstGeom prst="rect">
            <a:avLst/>
          </a:prstGeom>
          <a:noFill/>
          <a:ln/>
        </p:spPr>
        <p:txBody>
          <a:bodyPr wrap="square" lIns="0" tIns="0" rIns="0" bIns="0" rtlCol="0" anchor="ctr"/>
          <a:lstStyle/>
          <a:p>
            <a:pPr indent="0" marL="0">
              <a:buNone/>
            </a:pPr>
            <a:r>
              <a:rPr lang="en-US" sz="1000" b="1" spc="300" kern="0" dirty="0">
                <a:solidFill>
                  <a:srgbClr val="FEDF01"/>
                </a:solidFill>
                <a:latin typeface="Trebuchet MS" pitchFamily="34" charset="0"/>
                <a:ea typeface="Trebuchet MS" pitchFamily="34" charset="-122"/>
                <a:cs typeface="Trebuchet MS" pitchFamily="34" charset="-120"/>
              </a:rPr>
              <a:t>MISSION</a:t>
            </a:r>
            <a:endParaRPr lang="en-US" sz="1000" dirty="0"/>
          </a:p>
        </p:txBody>
      </p:sp>
      <p:sp>
        <p:nvSpPr>
          <p:cNvPr id="10" name="Text 7"/>
          <p:cNvSpPr/>
          <p:nvPr/>
        </p:nvSpPr>
        <p:spPr>
          <a:xfrm>
            <a:off x="777240" y="3904488"/>
            <a:ext cx="1828800" cy="1463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Drive utilization, consumption visibility, and platform rationalization through partnership with the Capacity Management platform.</a:t>
            </a:r>
            <a:endParaRPr lang="en-US" sz="1150" dirty="0"/>
          </a:p>
        </p:txBody>
      </p:sp>
      <p:sp>
        <p:nvSpPr>
          <p:cNvPr id="11" name="Shape 8"/>
          <p:cNvSpPr/>
          <p:nvPr/>
        </p:nvSpPr>
        <p:spPr>
          <a:xfrm>
            <a:off x="1280160" y="5349240"/>
            <a:ext cx="822960" cy="822960"/>
          </a:xfrm>
          <a:prstGeom prst="ellipse">
            <a:avLst/>
          </a:prstGeom>
          <a:solidFill>
            <a:srgbClr val="FEDF01"/>
          </a:solidFill>
          <a:ln/>
        </p:spPr>
      </p:sp>
      <p:pic>
        <p:nvPicPr>
          <p:cNvPr id="12" name="Image 1" descr="preencoded.png">    </p:cNvPr>
          <p:cNvPicPr>
            <a:picLocks noChangeAspect="1"/>
          </p:cNvPicPr>
          <p:nvPr/>
        </p:nvPicPr>
        <p:blipFill>
          <a:blip r:embed="rId2"/>
          <a:stretch>
            <a:fillRect/>
          </a:stretch>
        </p:blipFill>
        <p:spPr>
          <a:xfrm>
            <a:off x="1444752" y="5513832"/>
            <a:ext cx="502920" cy="502920"/>
          </a:xfrm>
          <a:prstGeom prst="rect">
            <a:avLst/>
          </a:prstGeom>
        </p:spPr>
      </p:pic>
      <p:sp>
        <p:nvSpPr>
          <p:cNvPr id="13" name="Text 9"/>
          <p:cNvSpPr/>
          <p:nvPr/>
        </p:nvSpPr>
        <p:spPr>
          <a:xfrm>
            <a:off x="3017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IN-SCOPE FY26</a:t>
            </a:r>
            <a:endParaRPr lang="en-US" sz="1000" dirty="0"/>
          </a:p>
        </p:txBody>
      </p:sp>
      <p:sp>
        <p:nvSpPr>
          <p:cNvPr id="14" name="Text 10"/>
          <p:cNvSpPr/>
          <p:nvPr/>
        </p:nvSpPr>
        <p:spPr>
          <a:xfrm>
            <a:off x="3017520" y="2057400"/>
            <a:ext cx="4434840" cy="1508760"/>
          </a:xfrm>
          <a:prstGeom prst="rect">
            <a:avLst/>
          </a:prstGeom>
          <a:noFill/>
          <a:ln/>
        </p:spPr>
        <p:txBody>
          <a:bodyPr wrap="square" rtlCol="0" anchor="ctr"/>
          <a:lstStyle/>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Capacity Mgmt partnership — utilization &amp; recommendations</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Home-of-best-fit workload placement program</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Platform rationalization — retire redundant platforms</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Migration tracking — workloads moving to target platforms</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Chargeback / showback to business units</a:t>
            </a:r>
            <a:endParaRPr lang="en-US" sz="1100" dirty="0"/>
          </a:p>
        </p:txBody>
      </p:sp>
      <p:sp>
        <p:nvSpPr>
          <p:cNvPr id="15" name="Text 11"/>
          <p:cNvSpPr/>
          <p:nvPr/>
        </p:nvSpPr>
        <p:spPr>
          <a:xfrm>
            <a:off x="3017520" y="36118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OUT-OF-SCOPE</a:t>
            </a:r>
            <a:endParaRPr lang="en-US" sz="1000" dirty="0"/>
          </a:p>
        </p:txBody>
      </p:sp>
      <p:sp>
        <p:nvSpPr>
          <p:cNvPr id="16" name="Text 12"/>
          <p:cNvSpPr/>
          <p:nvPr/>
        </p:nvSpPr>
        <p:spPr>
          <a:xfrm>
            <a:off x="3017520" y="3886200"/>
            <a:ext cx="4434840" cy="868680"/>
          </a:xfrm>
          <a:prstGeom prst="rect">
            <a:avLst/>
          </a:prstGeom>
          <a:noFill/>
          <a:ln/>
        </p:spPr>
        <p:txBody>
          <a:bodyPr wrap="square" rtlCol="0" anchor="ctr"/>
          <a:lstStyle/>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Hardware procurement strategy</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Public cloud FinOps</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Software license negotiation</a:t>
            </a:r>
            <a:endParaRPr lang="en-US" sz="1100" dirty="0"/>
          </a:p>
        </p:txBody>
      </p:sp>
      <p:sp>
        <p:nvSpPr>
          <p:cNvPr id="17" name="Text 13"/>
          <p:cNvSpPr/>
          <p:nvPr/>
        </p:nvSpPr>
        <p:spPr>
          <a:xfrm>
            <a:off x="3017520" y="480060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QUARTERLY MILESTONES</a:t>
            </a:r>
            <a:endParaRPr lang="en-US" sz="1000" dirty="0"/>
          </a:p>
        </p:txBody>
      </p:sp>
      <p:sp>
        <p:nvSpPr>
          <p:cNvPr id="18" name="Shape 14"/>
          <p:cNvSpPr/>
          <p:nvPr/>
        </p:nvSpPr>
        <p:spPr>
          <a:xfrm>
            <a:off x="3017520" y="5074920"/>
            <a:ext cx="365760" cy="201168"/>
          </a:xfrm>
          <a:prstGeom prst="rect">
            <a:avLst/>
          </a:prstGeom>
          <a:solidFill>
            <a:srgbClr val="FEDF01"/>
          </a:solidFill>
          <a:ln/>
        </p:spPr>
      </p:sp>
      <p:sp>
        <p:nvSpPr>
          <p:cNvPr id="19" name="Text 15"/>
          <p:cNvSpPr/>
          <p:nvPr/>
        </p:nvSpPr>
        <p:spPr>
          <a:xfrm>
            <a:off x="3017520" y="5074920"/>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Q1</a:t>
            </a:r>
            <a:endParaRPr lang="en-US" sz="900" dirty="0"/>
          </a:p>
        </p:txBody>
      </p:sp>
      <p:sp>
        <p:nvSpPr>
          <p:cNvPr id="20" name="Text 16"/>
          <p:cNvSpPr/>
          <p:nvPr/>
        </p:nvSpPr>
        <p:spPr>
          <a:xfrm>
            <a:off x="3474720" y="5056632"/>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Capacity Mgmt integration live; rationalization candidates</a:t>
            </a:r>
            <a:endParaRPr lang="en-US" sz="1050" dirty="0"/>
          </a:p>
        </p:txBody>
      </p:sp>
      <p:sp>
        <p:nvSpPr>
          <p:cNvPr id="21" name="Shape 17"/>
          <p:cNvSpPr/>
          <p:nvPr/>
        </p:nvSpPr>
        <p:spPr>
          <a:xfrm>
            <a:off x="3017520" y="5330952"/>
            <a:ext cx="365760" cy="201168"/>
          </a:xfrm>
          <a:prstGeom prst="rect">
            <a:avLst/>
          </a:prstGeom>
          <a:solidFill>
            <a:srgbClr val="FEDF01"/>
          </a:solidFill>
          <a:ln/>
        </p:spPr>
      </p:sp>
      <p:sp>
        <p:nvSpPr>
          <p:cNvPr id="22" name="Text 18"/>
          <p:cNvSpPr/>
          <p:nvPr/>
        </p:nvSpPr>
        <p:spPr>
          <a:xfrm>
            <a:off x="3017520" y="5330952"/>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Q2</a:t>
            </a:r>
            <a:endParaRPr lang="en-US" sz="900" dirty="0"/>
          </a:p>
        </p:txBody>
      </p:sp>
      <p:sp>
        <p:nvSpPr>
          <p:cNvPr id="23" name="Text 19"/>
          <p:cNvSpPr/>
          <p:nvPr/>
        </p:nvSpPr>
        <p:spPr>
          <a:xfrm>
            <a:off x="3474720" y="5312664"/>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First retirement wave; home-of-best-fit recs engine GA</a:t>
            </a:r>
            <a:endParaRPr lang="en-US" sz="1050" dirty="0"/>
          </a:p>
        </p:txBody>
      </p:sp>
      <p:sp>
        <p:nvSpPr>
          <p:cNvPr id="24" name="Shape 20"/>
          <p:cNvSpPr/>
          <p:nvPr/>
        </p:nvSpPr>
        <p:spPr>
          <a:xfrm>
            <a:off x="3017520" y="5586984"/>
            <a:ext cx="365760" cy="201168"/>
          </a:xfrm>
          <a:prstGeom prst="rect">
            <a:avLst/>
          </a:prstGeom>
          <a:solidFill>
            <a:srgbClr val="FEDF01"/>
          </a:solidFill>
          <a:ln/>
        </p:spPr>
      </p:sp>
      <p:sp>
        <p:nvSpPr>
          <p:cNvPr id="25" name="Text 21"/>
          <p:cNvSpPr/>
          <p:nvPr/>
        </p:nvSpPr>
        <p:spPr>
          <a:xfrm>
            <a:off x="3017520" y="5586984"/>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Q3</a:t>
            </a:r>
            <a:endParaRPr lang="en-US" sz="900" dirty="0"/>
          </a:p>
        </p:txBody>
      </p:sp>
      <p:sp>
        <p:nvSpPr>
          <p:cNvPr id="26" name="Text 22"/>
          <p:cNvSpPr/>
          <p:nvPr/>
        </p:nvSpPr>
        <p:spPr>
          <a:xfrm>
            <a:off x="3474720" y="5568696"/>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Showback live to top BUs; second retirement wave</a:t>
            </a:r>
            <a:endParaRPr lang="en-US" sz="1050" dirty="0"/>
          </a:p>
        </p:txBody>
      </p:sp>
      <p:sp>
        <p:nvSpPr>
          <p:cNvPr id="27" name="Shape 23"/>
          <p:cNvSpPr/>
          <p:nvPr/>
        </p:nvSpPr>
        <p:spPr>
          <a:xfrm>
            <a:off x="3017520" y="5843016"/>
            <a:ext cx="365760" cy="201168"/>
          </a:xfrm>
          <a:prstGeom prst="rect">
            <a:avLst/>
          </a:prstGeom>
          <a:solidFill>
            <a:srgbClr val="FEDF01"/>
          </a:solidFill>
          <a:ln/>
        </p:spPr>
      </p:sp>
      <p:sp>
        <p:nvSpPr>
          <p:cNvPr id="28" name="Text 24"/>
          <p:cNvSpPr/>
          <p:nvPr/>
        </p:nvSpPr>
        <p:spPr>
          <a:xfrm>
            <a:off x="3017520" y="5843016"/>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Q4</a:t>
            </a:r>
            <a:endParaRPr lang="en-US" sz="900" dirty="0"/>
          </a:p>
        </p:txBody>
      </p:sp>
      <p:sp>
        <p:nvSpPr>
          <p:cNvPr id="29" name="Text 25"/>
          <p:cNvSpPr/>
          <p:nvPr/>
        </p:nvSpPr>
        <p:spPr>
          <a:xfrm>
            <a:off x="3474720" y="5824728"/>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FY26 target: $X reclaimed, N platforms retired</a:t>
            </a:r>
            <a:endParaRPr lang="en-US" sz="1050" dirty="0"/>
          </a:p>
        </p:txBody>
      </p:sp>
      <p:sp>
        <p:nvSpPr>
          <p:cNvPr id="30" name="Text 26"/>
          <p:cNvSpPr/>
          <p:nvPr/>
        </p:nvSpPr>
        <p:spPr>
          <a:xfrm>
            <a:off x="7589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DEPENDENCIES</a:t>
            </a:r>
            <a:endParaRPr lang="en-US" sz="1000" dirty="0"/>
          </a:p>
        </p:txBody>
      </p:sp>
      <p:sp>
        <p:nvSpPr>
          <p:cNvPr id="31" name="Text 27"/>
          <p:cNvSpPr/>
          <p:nvPr/>
        </p:nvSpPr>
        <p:spPr>
          <a:xfrm>
            <a:off x="7589520" y="2057400"/>
            <a:ext cx="4434840" cy="1005840"/>
          </a:xfrm>
          <a:prstGeom prst="rect">
            <a:avLst/>
          </a:prstGeom>
          <a:noFill/>
          <a:ln/>
        </p:spPr>
        <p:txBody>
          <a:bodyPr wrap="square" rtlCol="0" anchor="ctr"/>
          <a:lstStyle/>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Provides to: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Finance (chargeback), Platform teams (rationalization roadmap)</a:t>
            </a:r>
            <a:endParaRPr lang="en-US" sz="1100" dirty="0"/>
          </a:p>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Needs from: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IaC (tagging), Capacity Mgmt (telemetry), Platform teams (workload owners)</a:t>
            </a:r>
            <a:endParaRPr lang="en-US" sz="1100" dirty="0"/>
          </a:p>
        </p:txBody>
      </p:sp>
      <p:sp>
        <p:nvSpPr>
          <p:cNvPr id="32" name="Text 28"/>
          <p:cNvSpPr/>
          <p:nvPr/>
        </p:nvSpPr>
        <p:spPr>
          <a:xfrm>
            <a:off x="7589520" y="31546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SUCCESS METRICS</a:t>
            </a:r>
            <a:endParaRPr lang="en-US" sz="1000" dirty="0"/>
          </a:p>
        </p:txBody>
      </p:sp>
      <p:sp>
        <p:nvSpPr>
          <p:cNvPr id="33" name="Text 29"/>
          <p:cNvSpPr/>
          <p:nvPr/>
        </p:nvSpPr>
        <p:spPr>
          <a:xfrm>
            <a:off x="7589520" y="3429000"/>
            <a:ext cx="4434840" cy="118872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Utilization % by platform</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workloads relocated to home-of-best-fit</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redundant platforms retired</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reclaimed (annualized)</a:t>
            </a:r>
            <a:endParaRPr lang="en-US" sz="1100" dirty="0"/>
          </a:p>
        </p:txBody>
      </p:sp>
      <p:sp>
        <p:nvSpPr>
          <p:cNvPr id="34" name="Text 30"/>
          <p:cNvSpPr/>
          <p:nvPr/>
        </p:nvSpPr>
        <p:spPr>
          <a:xfrm>
            <a:off x="7589520" y="466344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TEAM &amp; PERSONAS</a:t>
            </a:r>
            <a:endParaRPr lang="en-US" sz="1000" dirty="0"/>
          </a:p>
        </p:txBody>
      </p:sp>
      <p:sp>
        <p:nvSpPr>
          <p:cNvPr id="35" name="Text 31"/>
          <p:cNvSpPr/>
          <p:nvPr/>
        </p:nvSpPr>
        <p:spPr>
          <a:xfrm>
            <a:off x="7589520" y="4937760"/>
            <a:ext cx="4434840" cy="7772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Workstream Lead · Tech Lead · Delivery Lead · Capacity Engineers · Platform Engineers · FinOps Analyst · Finance Business Partner · Migration Engineers</a:t>
            </a:r>
            <a:endParaRPr lang="en-US" sz="1100" dirty="0"/>
          </a:p>
        </p:txBody>
      </p:sp>
      <p:sp>
        <p:nvSpPr>
          <p:cNvPr id="36" name="Shape 32"/>
          <p:cNvSpPr/>
          <p:nvPr/>
        </p:nvSpPr>
        <p:spPr>
          <a:xfrm>
            <a:off x="7589520" y="5806440"/>
            <a:ext cx="4434840" cy="640080"/>
          </a:xfrm>
          <a:prstGeom prst="rect">
            <a:avLst/>
          </a:prstGeom>
          <a:solidFill>
            <a:srgbClr val="001F47"/>
          </a:solidFill>
          <a:ln/>
        </p:spPr>
      </p:sp>
      <p:sp>
        <p:nvSpPr>
          <p:cNvPr id="37" name="Shape 33"/>
          <p:cNvSpPr/>
          <p:nvPr/>
        </p:nvSpPr>
        <p:spPr>
          <a:xfrm>
            <a:off x="7589520" y="5806440"/>
            <a:ext cx="54864" cy="640080"/>
          </a:xfrm>
          <a:prstGeom prst="rect">
            <a:avLst/>
          </a:prstGeom>
          <a:solidFill>
            <a:srgbClr val="FEDF01"/>
          </a:solidFill>
          <a:ln/>
        </p:spPr>
      </p:sp>
      <p:sp>
        <p:nvSpPr>
          <p:cNvPr id="38" name="Text 34"/>
          <p:cNvSpPr/>
          <p:nvPr/>
        </p:nvSpPr>
        <p:spPr>
          <a:xfrm>
            <a:off x="7772400" y="5861304"/>
            <a:ext cx="416052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TOP RISK</a:t>
            </a:r>
            <a:endParaRPr lang="en-US" sz="900" dirty="0"/>
          </a:p>
        </p:txBody>
      </p:sp>
      <p:sp>
        <p:nvSpPr>
          <p:cNvPr id="39" name="Text 35"/>
          <p:cNvSpPr/>
          <p:nvPr/>
        </p:nvSpPr>
        <p:spPr>
          <a:xfrm>
            <a:off x="7772400" y="6062472"/>
            <a:ext cx="416052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Workload-owner identification gaps stalling retirement waves.</a:t>
            </a:r>
            <a:endParaRPr lang="en-US" sz="1050" dirty="0"/>
          </a:p>
        </p:txBody>
      </p:sp>
      <p:sp>
        <p:nvSpPr>
          <p:cNvPr id="40" name="Text 3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9 / 30</a:t>
            </a:r>
            <a:endParaRPr lang="en-US" sz="900" dirty="0"/>
          </a:p>
        </p:txBody>
      </p:sp>
      <p:sp>
        <p:nvSpPr>
          <p:cNvPr id="41" name="Text 3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08  ·  WORKSTREAM 04</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ZephyrAI — agents for platform ops</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2286000" cy="4526280"/>
          </a:xfrm>
          <a:prstGeom prst="rect">
            <a:avLst/>
          </a:prstGeom>
          <a:solidFill>
            <a:srgbClr val="0051A5"/>
          </a:solidFill>
          <a:ln/>
        </p:spPr>
      </p:sp>
      <p:sp>
        <p:nvSpPr>
          <p:cNvPr id="7" name="Text 4"/>
          <p:cNvSpPr/>
          <p:nvPr/>
        </p:nvSpPr>
        <p:spPr>
          <a:xfrm>
            <a:off x="548640" y="1920240"/>
            <a:ext cx="2286000" cy="1554480"/>
          </a:xfrm>
          <a:prstGeom prst="rect">
            <a:avLst/>
          </a:prstGeom>
          <a:noFill/>
          <a:ln/>
        </p:spPr>
        <p:txBody>
          <a:bodyPr wrap="square" lIns="0" tIns="0" rIns="0" bIns="0" rtlCol="0" anchor="ctr"/>
          <a:lstStyle/>
          <a:p>
            <a:pPr algn="ctr" indent="0" marL="0">
              <a:buNone/>
            </a:pPr>
            <a:r>
              <a:rPr lang="en-US" sz="9600" b="1" dirty="0">
                <a:solidFill>
                  <a:srgbClr val="FFFFFF"/>
                </a:solidFill>
                <a:latin typeface="Trebuchet MS" pitchFamily="34" charset="0"/>
                <a:ea typeface="Trebuchet MS" pitchFamily="34" charset="-122"/>
                <a:cs typeface="Trebuchet MS" pitchFamily="34" charset="-120"/>
              </a:rPr>
              <a:t>04</a:t>
            </a:r>
            <a:endParaRPr lang="en-US" sz="9600" dirty="0"/>
          </a:p>
        </p:txBody>
      </p:sp>
      <p:sp>
        <p:nvSpPr>
          <p:cNvPr id="8" name="Shape 5"/>
          <p:cNvSpPr/>
          <p:nvPr/>
        </p:nvSpPr>
        <p:spPr>
          <a:xfrm>
            <a:off x="822960" y="3474720"/>
            <a:ext cx="1737360" cy="36576"/>
          </a:xfrm>
          <a:prstGeom prst="rect">
            <a:avLst/>
          </a:prstGeom>
          <a:solidFill>
            <a:srgbClr val="FEDF01"/>
          </a:solidFill>
          <a:ln/>
        </p:spPr>
      </p:sp>
      <p:sp>
        <p:nvSpPr>
          <p:cNvPr id="9" name="Text 6"/>
          <p:cNvSpPr/>
          <p:nvPr/>
        </p:nvSpPr>
        <p:spPr>
          <a:xfrm>
            <a:off x="777240" y="3611880"/>
            <a:ext cx="1828800" cy="274320"/>
          </a:xfrm>
          <a:prstGeom prst="rect">
            <a:avLst/>
          </a:prstGeom>
          <a:noFill/>
          <a:ln/>
        </p:spPr>
        <p:txBody>
          <a:bodyPr wrap="square" lIns="0" tIns="0" rIns="0" bIns="0" rtlCol="0" anchor="ctr"/>
          <a:lstStyle/>
          <a:p>
            <a:pPr indent="0" marL="0">
              <a:buNone/>
            </a:pPr>
            <a:r>
              <a:rPr lang="en-US" sz="1000" b="1" spc="300" kern="0" dirty="0">
                <a:solidFill>
                  <a:srgbClr val="FEDF01"/>
                </a:solidFill>
                <a:latin typeface="Trebuchet MS" pitchFamily="34" charset="0"/>
                <a:ea typeface="Trebuchet MS" pitchFamily="34" charset="-122"/>
                <a:cs typeface="Trebuchet MS" pitchFamily="34" charset="-120"/>
              </a:rPr>
              <a:t>MISSION</a:t>
            </a:r>
            <a:endParaRPr lang="en-US" sz="1000" dirty="0"/>
          </a:p>
        </p:txBody>
      </p:sp>
      <p:sp>
        <p:nvSpPr>
          <p:cNvPr id="10" name="Text 7"/>
          <p:cNvSpPr/>
          <p:nvPr/>
        </p:nvSpPr>
        <p:spPr>
          <a:xfrm>
            <a:off x="777240" y="3904488"/>
            <a:ext cx="1828800" cy="146304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agents that bring efficiencies to platform operations — agentic automation that does the work. Prediction &amp; observability are out of scope (Intelligent Ops program).</a:t>
            </a:r>
            <a:endParaRPr lang="en-US" sz="1150" dirty="0"/>
          </a:p>
        </p:txBody>
      </p:sp>
      <p:sp>
        <p:nvSpPr>
          <p:cNvPr id="11" name="Shape 8"/>
          <p:cNvSpPr/>
          <p:nvPr/>
        </p:nvSpPr>
        <p:spPr>
          <a:xfrm>
            <a:off x="1280160" y="5349240"/>
            <a:ext cx="822960" cy="822960"/>
          </a:xfrm>
          <a:prstGeom prst="ellipse">
            <a:avLst/>
          </a:prstGeom>
          <a:solidFill>
            <a:srgbClr val="FEDF01"/>
          </a:solidFill>
          <a:ln/>
        </p:spPr>
      </p:sp>
      <p:pic>
        <p:nvPicPr>
          <p:cNvPr id="12" name="Image 1" descr="preencoded.png">    </p:cNvPr>
          <p:cNvPicPr>
            <a:picLocks noChangeAspect="1"/>
          </p:cNvPicPr>
          <p:nvPr/>
        </p:nvPicPr>
        <p:blipFill>
          <a:blip r:embed="rId2"/>
          <a:stretch>
            <a:fillRect/>
          </a:stretch>
        </p:blipFill>
        <p:spPr>
          <a:xfrm>
            <a:off x="1444752" y="5513832"/>
            <a:ext cx="502920" cy="502920"/>
          </a:xfrm>
          <a:prstGeom prst="rect">
            <a:avLst/>
          </a:prstGeom>
        </p:spPr>
      </p:pic>
      <p:sp>
        <p:nvSpPr>
          <p:cNvPr id="13" name="Text 9"/>
          <p:cNvSpPr/>
          <p:nvPr/>
        </p:nvSpPr>
        <p:spPr>
          <a:xfrm>
            <a:off x="3017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IN-SCOPE FY26</a:t>
            </a:r>
            <a:endParaRPr lang="en-US" sz="1000" dirty="0"/>
          </a:p>
        </p:txBody>
      </p:sp>
      <p:sp>
        <p:nvSpPr>
          <p:cNvPr id="14" name="Text 10"/>
          <p:cNvSpPr/>
          <p:nvPr/>
        </p:nvSpPr>
        <p:spPr>
          <a:xfrm>
            <a:off x="3017520" y="2057400"/>
            <a:ext cx="4434840" cy="1508760"/>
          </a:xfrm>
          <a:prstGeom prst="rect">
            <a:avLst/>
          </a:prstGeom>
          <a:noFill/>
          <a:ln/>
        </p:spPr>
        <p:txBody>
          <a:bodyPr wrap="square" rtlCol="0" anchor="ctr"/>
          <a:lstStyle/>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Vulnerability Patching Agent (paired with Assurance)</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Certificate Lifecycle Agent (Q2 pilot)</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Access Recertification Agent (Q3 pilot)</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Capacity Reclamation Agent (Q4 pilot)</a:t>
            </a:r>
            <a:endParaRPr lang="en-US" sz="1100" dirty="0"/>
          </a:p>
          <a:p>
            <a:pPr marL="342900" indent="-342900">
              <a:spcAft>
                <a:spcPts val="300"/>
              </a:spcAft>
              <a:buSzPct val="100000"/>
              <a:buChar char="•"/>
            </a:pPr>
            <a:r>
              <a:rPr lang="en-US" sz="1100" dirty="0">
                <a:solidFill>
                  <a:srgbClr val="0F172A"/>
                </a:solidFill>
                <a:latin typeface="Calibri" pitchFamily="34" charset="0"/>
                <a:ea typeface="Calibri" pitchFamily="34" charset="-122"/>
                <a:cs typeface="Calibri" pitchFamily="34" charset="-120"/>
              </a:rPr>
              <a:t>Agent platform — execution, guardrails, audit trail</a:t>
            </a:r>
            <a:endParaRPr lang="en-US" sz="1100" dirty="0"/>
          </a:p>
        </p:txBody>
      </p:sp>
      <p:sp>
        <p:nvSpPr>
          <p:cNvPr id="15" name="Text 11"/>
          <p:cNvSpPr/>
          <p:nvPr/>
        </p:nvSpPr>
        <p:spPr>
          <a:xfrm>
            <a:off x="3017520" y="36118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OUT-OF-SCOPE</a:t>
            </a:r>
            <a:endParaRPr lang="en-US" sz="1000" dirty="0"/>
          </a:p>
        </p:txBody>
      </p:sp>
      <p:sp>
        <p:nvSpPr>
          <p:cNvPr id="16" name="Text 12"/>
          <p:cNvSpPr/>
          <p:nvPr/>
        </p:nvSpPr>
        <p:spPr>
          <a:xfrm>
            <a:off x="3017520" y="3886200"/>
            <a:ext cx="4434840" cy="868680"/>
          </a:xfrm>
          <a:prstGeom prst="rect">
            <a:avLst/>
          </a:prstGeom>
          <a:noFill/>
          <a:ln/>
        </p:spPr>
        <p:txBody>
          <a:bodyPr wrap="square" rtlCol="0" anchor="ctr"/>
          <a:lstStyle/>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Anomaly detection, prediction (Intelligent Ops)</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Customer-facing AI / generative content</a:t>
            </a:r>
            <a:endParaRPr lang="en-US" sz="1100" dirty="0"/>
          </a:p>
          <a:p>
            <a:pPr marL="342900" indent="-342900">
              <a:spcAft>
                <a:spcPts val="200"/>
              </a:spcAft>
              <a:buSzPct val="100000"/>
              <a:buChar char="•"/>
            </a:pPr>
            <a:r>
              <a:rPr lang="en-US" sz="1100" i="1" dirty="0">
                <a:solidFill>
                  <a:srgbClr val="5B6778"/>
                </a:solidFill>
                <a:latin typeface="Calibri" pitchFamily="34" charset="0"/>
                <a:ea typeface="Calibri" pitchFamily="34" charset="-122"/>
                <a:cs typeface="Calibri" pitchFamily="34" charset="-120"/>
              </a:rPr>
              <a:t>Model training infrastructure</a:t>
            </a:r>
            <a:endParaRPr lang="en-US" sz="1100" dirty="0"/>
          </a:p>
        </p:txBody>
      </p:sp>
      <p:sp>
        <p:nvSpPr>
          <p:cNvPr id="17" name="Text 13"/>
          <p:cNvSpPr/>
          <p:nvPr/>
        </p:nvSpPr>
        <p:spPr>
          <a:xfrm>
            <a:off x="3017520" y="480060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QUARTERLY MILESTONES</a:t>
            </a:r>
            <a:endParaRPr lang="en-US" sz="1000" dirty="0"/>
          </a:p>
        </p:txBody>
      </p:sp>
      <p:sp>
        <p:nvSpPr>
          <p:cNvPr id="18" name="Shape 14"/>
          <p:cNvSpPr/>
          <p:nvPr/>
        </p:nvSpPr>
        <p:spPr>
          <a:xfrm>
            <a:off x="3017520" y="5074920"/>
            <a:ext cx="365760" cy="201168"/>
          </a:xfrm>
          <a:prstGeom prst="rect">
            <a:avLst/>
          </a:prstGeom>
          <a:solidFill>
            <a:srgbClr val="FEDF01"/>
          </a:solidFill>
          <a:ln/>
        </p:spPr>
      </p:sp>
      <p:sp>
        <p:nvSpPr>
          <p:cNvPr id="19" name="Text 15"/>
          <p:cNvSpPr/>
          <p:nvPr/>
        </p:nvSpPr>
        <p:spPr>
          <a:xfrm>
            <a:off x="3017520" y="5074920"/>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Q1</a:t>
            </a:r>
            <a:endParaRPr lang="en-US" sz="900" dirty="0"/>
          </a:p>
        </p:txBody>
      </p:sp>
      <p:sp>
        <p:nvSpPr>
          <p:cNvPr id="20" name="Text 16"/>
          <p:cNvSpPr/>
          <p:nvPr/>
        </p:nvSpPr>
        <p:spPr>
          <a:xfrm>
            <a:off x="3474720" y="5056632"/>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Vuln Patching Agent at 'recommend'; platform v1</a:t>
            </a:r>
            <a:endParaRPr lang="en-US" sz="1050" dirty="0"/>
          </a:p>
        </p:txBody>
      </p:sp>
      <p:sp>
        <p:nvSpPr>
          <p:cNvPr id="21" name="Shape 17"/>
          <p:cNvSpPr/>
          <p:nvPr/>
        </p:nvSpPr>
        <p:spPr>
          <a:xfrm>
            <a:off x="3017520" y="5330952"/>
            <a:ext cx="365760" cy="201168"/>
          </a:xfrm>
          <a:prstGeom prst="rect">
            <a:avLst/>
          </a:prstGeom>
          <a:solidFill>
            <a:srgbClr val="FEDF01"/>
          </a:solidFill>
          <a:ln/>
        </p:spPr>
      </p:sp>
      <p:sp>
        <p:nvSpPr>
          <p:cNvPr id="22" name="Text 18"/>
          <p:cNvSpPr/>
          <p:nvPr/>
        </p:nvSpPr>
        <p:spPr>
          <a:xfrm>
            <a:off x="3017520" y="5330952"/>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Q2</a:t>
            </a:r>
            <a:endParaRPr lang="en-US" sz="900" dirty="0"/>
          </a:p>
        </p:txBody>
      </p:sp>
      <p:sp>
        <p:nvSpPr>
          <p:cNvPr id="23" name="Text 19"/>
          <p:cNvSpPr/>
          <p:nvPr/>
        </p:nvSpPr>
        <p:spPr>
          <a:xfrm>
            <a:off x="3474720" y="5312664"/>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Vuln Patching at 'act w/ approval'; Cert agent pilot</a:t>
            </a:r>
            <a:endParaRPr lang="en-US" sz="1050" dirty="0"/>
          </a:p>
        </p:txBody>
      </p:sp>
      <p:sp>
        <p:nvSpPr>
          <p:cNvPr id="24" name="Shape 20"/>
          <p:cNvSpPr/>
          <p:nvPr/>
        </p:nvSpPr>
        <p:spPr>
          <a:xfrm>
            <a:off x="3017520" y="5586984"/>
            <a:ext cx="365760" cy="201168"/>
          </a:xfrm>
          <a:prstGeom prst="rect">
            <a:avLst/>
          </a:prstGeom>
          <a:solidFill>
            <a:srgbClr val="FEDF01"/>
          </a:solidFill>
          <a:ln/>
        </p:spPr>
      </p:sp>
      <p:sp>
        <p:nvSpPr>
          <p:cNvPr id="25" name="Text 21"/>
          <p:cNvSpPr/>
          <p:nvPr/>
        </p:nvSpPr>
        <p:spPr>
          <a:xfrm>
            <a:off x="3017520" y="5586984"/>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Q3</a:t>
            </a:r>
            <a:endParaRPr lang="en-US" sz="900" dirty="0"/>
          </a:p>
        </p:txBody>
      </p:sp>
      <p:sp>
        <p:nvSpPr>
          <p:cNvPr id="26" name="Text 22"/>
          <p:cNvSpPr/>
          <p:nvPr/>
        </p:nvSpPr>
        <p:spPr>
          <a:xfrm>
            <a:off x="3474720" y="5568696"/>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Access Recert pilot; first agent autonomous (where safe)</a:t>
            </a:r>
            <a:endParaRPr lang="en-US" sz="1050" dirty="0"/>
          </a:p>
        </p:txBody>
      </p:sp>
      <p:sp>
        <p:nvSpPr>
          <p:cNvPr id="27" name="Shape 23"/>
          <p:cNvSpPr/>
          <p:nvPr/>
        </p:nvSpPr>
        <p:spPr>
          <a:xfrm>
            <a:off x="3017520" y="5843016"/>
            <a:ext cx="365760" cy="201168"/>
          </a:xfrm>
          <a:prstGeom prst="rect">
            <a:avLst/>
          </a:prstGeom>
          <a:solidFill>
            <a:srgbClr val="FEDF01"/>
          </a:solidFill>
          <a:ln/>
        </p:spPr>
      </p:sp>
      <p:sp>
        <p:nvSpPr>
          <p:cNvPr id="28" name="Text 24"/>
          <p:cNvSpPr/>
          <p:nvPr/>
        </p:nvSpPr>
        <p:spPr>
          <a:xfrm>
            <a:off x="3017520" y="5843016"/>
            <a:ext cx="365760" cy="201168"/>
          </a:xfrm>
          <a:prstGeom prst="rect">
            <a:avLst/>
          </a:prstGeom>
          <a:noFill/>
          <a:ln/>
        </p:spPr>
        <p:txBody>
          <a:bodyPr wrap="square" lIns="0" tIns="0" rIns="0" bIns="0" rtlCol="0" anchor="ctr"/>
          <a:lstStyle/>
          <a:p>
            <a:pPr algn="ctr" indent="0" marL="0">
              <a:buNone/>
            </a:pPr>
            <a:r>
              <a:rPr lang="en-US" sz="900" b="1" dirty="0">
                <a:solidFill>
                  <a:srgbClr val="001F47"/>
                </a:solidFill>
                <a:latin typeface="Trebuchet MS" pitchFamily="34" charset="0"/>
                <a:ea typeface="Trebuchet MS" pitchFamily="34" charset="-122"/>
                <a:cs typeface="Trebuchet MS" pitchFamily="34" charset="-120"/>
              </a:rPr>
              <a:t>Q4</a:t>
            </a:r>
            <a:endParaRPr lang="en-US" sz="900" dirty="0"/>
          </a:p>
        </p:txBody>
      </p:sp>
      <p:sp>
        <p:nvSpPr>
          <p:cNvPr id="29" name="Text 25"/>
          <p:cNvSpPr/>
          <p:nvPr/>
        </p:nvSpPr>
        <p:spPr>
          <a:xfrm>
            <a:off x="3474720" y="5824728"/>
            <a:ext cx="3977640" cy="256032"/>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3 agents in production; FY27 backlog prioritized</a:t>
            </a:r>
            <a:endParaRPr lang="en-US" sz="1050" dirty="0"/>
          </a:p>
        </p:txBody>
      </p:sp>
      <p:sp>
        <p:nvSpPr>
          <p:cNvPr id="30" name="Text 26"/>
          <p:cNvSpPr/>
          <p:nvPr/>
        </p:nvSpPr>
        <p:spPr>
          <a:xfrm>
            <a:off x="7589520" y="17830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DEPENDENCIES</a:t>
            </a:r>
            <a:endParaRPr lang="en-US" sz="1000" dirty="0"/>
          </a:p>
        </p:txBody>
      </p:sp>
      <p:sp>
        <p:nvSpPr>
          <p:cNvPr id="31" name="Text 27"/>
          <p:cNvSpPr/>
          <p:nvPr/>
        </p:nvSpPr>
        <p:spPr>
          <a:xfrm>
            <a:off x="7589520" y="2057400"/>
            <a:ext cx="4434840" cy="1005840"/>
          </a:xfrm>
          <a:prstGeom prst="rect">
            <a:avLst/>
          </a:prstGeom>
          <a:noFill/>
          <a:ln/>
        </p:spPr>
        <p:txBody>
          <a:bodyPr wrap="square" rtlCol="0" anchor="ctr"/>
          <a:lstStyle/>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Provides to: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Platform Operations (toil reduction), Compliance (faster remediation)</a:t>
            </a:r>
            <a:endParaRPr lang="en-US" sz="1100" dirty="0"/>
          </a:p>
          <a:p>
            <a:pPr indent="0" marL="0">
              <a:spcAft>
                <a:spcPts val="400"/>
              </a:spcAft>
              <a:buNone/>
            </a:pPr>
            <a:r>
              <a:rPr lang="en-US" sz="1100" b="1" dirty="0">
                <a:solidFill>
                  <a:srgbClr val="0051A5"/>
                </a:solidFill>
                <a:latin typeface="Calibri" pitchFamily="34" charset="0"/>
                <a:ea typeface="Calibri" pitchFamily="34" charset="-122"/>
                <a:cs typeface="Calibri" pitchFamily="34" charset="-120"/>
              </a:rPr>
              <a:t>Needs from: </a:t>
            </a:r>
            <a:pPr indent="0" marL="0">
              <a:spcAft>
                <a:spcPts val="400"/>
              </a:spcAft>
              <a:buNone/>
            </a:pPr>
            <a:r>
              <a:rPr lang="en-US" sz="1100" dirty="0">
                <a:solidFill>
                  <a:srgbClr val="0F172A"/>
                </a:solidFill>
                <a:latin typeface="Calibri" pitchFamily="34" charset="0"/>
                <a:ea typeface="Calibri" pitchFamily="34" charset="-122"/>
                <a:cs typeface="Calibri" pitchFamily="34" charset="-120"/>
              </a:rPr>
              <a:t>IaC (action interface), Compliance (vuln signal), Platform teams (runbook handoff)</a:t>
            </a:r>
            <a:endParaRPr lang="en-US" sz="1100" dirty="0"/>
          </a:p>
        </p:txBody>
      </p:sp>
      <p:sp>
        <p:nvSpPr>
          <p:cNvPr id="32" name="Text 28"/>
          <p:cNvSpPr/>
          <p:nvPr/>
        </p:nvSpPr>
        <p:spPr>
          <a:xfrm>
            <a:off x="7589520" y="315468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SUCCESS METRICS</a:t>
            </a:r>
            <a:endParaRPr lang="en-US" sz="1000" dirty="0"/>
          </a:p>
        </p:txBody>
      </p:sp>
      <p:sp>
        <p:nvSpPr>
          <p:cNvPr id="33" name="Text 29"/>
          <p:cNvSpPr/>
          <p:nvPr/>
        </p:nvSpPr>
        <p:spPr>
          <a:xfrm>
            <a:off x="7589520" y="3429000"/>
            <a:ext cx="4434840" cy="118872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agents in production</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eligible toil tasks executed by agents</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Agent-handled vs. human-handled actions (by category)</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Engineer hours reclaimed</a:t>
            </a:r>
            <a:endParaRPr lang="en-US" sz="1100" dirty="0"/>
          </a:p>
        </p:txBody>
      </p:sp>
      <p:sp>
        <p:nvSpPr>
          <p:cNvPr id="34" name="Text 30"/>
          <p:cNvSpPr/>
          <p:nvPr/>
        </p:nvSpPr>
        <p:spPr>
          <a:xfrm>
            <a:off x="7589520" y="4663440"/>
            <a:ext cx="4434840" cy="256032"/>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TEAM &amp; PERSONAS</a:t>
            </a:r>
            <a:endParaRPr lang="en-US" sz="1000" dirty="0"/>
          </a:p>
        </p:txBody>
      </p:sp>
      <p:sp>
        <p:nvSpPr>
          <p:cNvPr id="35" name="Text 31"/>
          <p:cNvSpPr/>
          <p:nvPr/>
        </p:nvSpPr>
        <p:spPr>
          <a:xfrm>
            <a:off x="7589520" y="4937760"/>
            <a:ext cx="4434840" cy="77724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Workstream Lead · Tech Lead · Delivery Lead · ML/AI Engineers · Platform Engineers · SRE liaison · Product Manager · Security review partner</a:t>
            </a:r>
            <a:endParaRPr lang="en-US" sz="1100" dirty="0"/>
          </a:p>
        </p:txBody>
      </p:sp>
      <p:sp>
        <p:nvSpPr>
          <p:cNvPr id="36" name="Shape 32"/>
          <p:cNvSpPr/>
          <p:nvPr/>
        </p:nvSpPr>
        <p:spPr>
          <a:xfrm>
            <a:off x="7589520" y="5806440"/>
            <a:ext cx="4434840" cy="640080"/>
          </a:xfrm>
          <a:prstGeom prst="rect">
            <a:avLst/>
          </a:prstGeom>
          <a:solidFill>
            <a:srgbClr val="001F47"/>
          </a:solidFill>
          <a:ln/>
        </p:spPr>
      </p:sp>
      <p:sp>
        <p:nvSpPr>
          <p:cNvPr id="37" name="Shape 33"/>
          <p:cNvSpPr/>
          <p:nvPr/>
        </p:nvSpPr>
        <p:spPr>
          <a:xfrm>
            <a:off x="7589520" y="5806440"/>
            <a:ext cx="54864" cy="640080"/>
          </a:xfrm>
          <a:prstGeom prst="rect">
            <a:avLst/>
          </a:prstGeom>
          <a:solidFill>
            <a:srgbClr val="FEDF01"/>
          </a:solidFill>
          <a:ln/>
        </p:spPr>
      </p:sp>
      <p:sp>
        <p:nvSpPr>
          <p:cNvPr id="38" name="Text 34"/>
          <p:cNvSpPr/>
          <p:nvPr/>
        </p:nvSpPr>
        <p:spPr>
          <a:xfrm>
            <a:off x="7772400" y="5861304"/>
            <a:ext cx="416052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TOP RISK</a:t>
            </a:r>
            <a:endParaRPr lang="en-US" sz="900" dirty="0"/>
          </a:p>
        </p:txBody>
      </p:sp>
      <p:sp>
        <p:nvSpPr>
          <p:cNvPr id="39" name="Text 35"/>
          <p:cNvSpPr/>
          <p:nvPr/>
        </p:nvSpPr>
        <p:spPr>
          <a:xfrm>
            <a:off x="7772400" y="6062472"/>
            <a:ext cx="416052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Trust threshold to move agents from 'recommend' to 'act' — guardrails must be defensible.</a:t>
            </a:r>
            <a:endParaRPr lang="en-US" sz="1050" dirty="0"/>
          </a:p>
        </p:txBody>
      </p:sp>
      <p:sp>
        <p:nvSpPr>
          <p:cNvPr id="40" name="Text 3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10 / 30</a:t>
            </a:r>
            <a:endParaRPr lang="en-US" sz="900" dirty="0"/>
          </a:p>
        </p:txBody>
      </p:sp>
      <p:sp>
        <p:nvSpPr>
          <p:cNvPr id="41" name="Text 3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09  ·  CROSS-PLATFORM DEPENDENCIES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Where platforms wait on each other</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411480"/>
          </a:xfrm>
          <a:prstGeom prst="rect">
            <a:avLst/>
          </a:prstGeom>
          <a:solidFill>
            <a:srgbClr val="0051A5"/>
          </a:solidFill>
          <a:ln/>
        </p:spPr>
      </p:sp>
      <p:sp>
        <p:nvSpPr>
          <p:cNvPr id="7" name="Text 4"/>
          <p:cNvSpPr/>
          <p:nvPr/>
        </p:nvSpPr>
        <p:spPr>
          <a:xfrm>
            <a:off x="713232" y="1783080"/>
            <a:ext cx="118872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Trebuchet MS" pitchFamily="34" charset="0"/>
                <a:ea typeface="Trebuchet MS" pitchFamily="34" charset="-122"/>
                <a:cs typeface="Trebuchet MS" pitchFamily="34" charset="-120"/>
              </a:rPr>
              <a:t>Platform</a:t>
            </a:r>
            <a:endParaRPr lang="en-US" sz="1100" dirty="0"/>
          </a:p>
        </p:txBody>
      </p:sp>
      <p:sp>
        <p:nvSpPr>
          <p:cNvPr id="8" name="Text 5"/>
          <p:cNvSpPr/>
          <p:nvPr/>
        </p:nvSpPr>
        <p:spPr>
          <a:xfrm>
            <a:off x="2084832" y="1783080"/>
            <a:ext cx="137160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Trebuchet MS" pitchFamily="34" charset="0"/>
                <a:ea typeface="Trebuchet MS" pitchFamily="34" charset="-122"/>
                <a:cs typeface="Trebuchet MS" pitchFamily="34" charset="-120"/>
              </a:rPr>
              <a:t>Waiting on</a:t>
            </a:r>
            <a:endParaRPr lang="en-US" sz="1100" dirty="0"/>
          </a:p>
        </p:txBody>
      </p:sp>
      <p:sp>
        <p:nvSpPr>
          <p:cNvPr id="9" name="Text 6"/>
          <p:cNvSpPr/>
          <p:nvPr/>
        </p:nvSpPr>
        <p:spPr>
          <a:xfrm>
            <a:off x="3639312" y="1783080"/>
            <a:ext cx="420624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Trebuchet MS" pitchFamily="34" charset="0"/>
                <a:ea typeface="Trebuchet MS" pitchFamily="34" charset="-122"/>
                <a:cs typeface="Trebuchet MS" pitchFamily="34" charset="-120"/>
              </a:rPr>
              <a:t>For what</a:t>
            </a:r>
            <a:endParaRPr lang="en-US" sz="1100" dirty="0"/>
          </a:p>
        </p:txBody>
      </p:sp>
      <p:sp>
        <p:nvSpPr>
          <p:cNvPr id="10" name="Text 7"/>
          <p:cNvSpPr/>
          <p:nvPr/>
        </p:nvSpPr>
        <p:spPr>
          <a:xfrm>
            <a:off x="8028432" y="1783080"/>
            <a:ext cx="128016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Trebuchet MS" pitchFamily="34" charset="0"/>
                <a:ea typeface="Trebuchet MS" pitchFamily="34" charset="-122"/>
                <a:cs typeface="Trebuchet MS" pitchFamily="34" charset="-120"/>
              </a:rPr>
              <a:t>Needed by</a:t>
            </a:r>
            <a:endParaRPr lang="en-US" sz="1100" dirty="0"/>
          </a:p>
        </p:txBody>
      </p:sp>
      <p:sp>
        <p:nvSpPr>
          <p:cNvPr id="11" name="Text 8"/>
          <p:cNvSpPr/>
          <p:nvPr/>
        </p:nvSpPr>
        <p:spPr>
          <a:xfrm>
            <a:off x="9491472" y="1783080"/>
            <a:ext cx="2103120" cy="411480"/>
          </a:xfrm>
          <a:prstGeom prst="rect">
            <a:avLst/>
          </a:prstGeom>
          <a:noFill/>
          <a:ln/>
        </p:spPr>
        <p:txBody>
          <a:bodyPr wrap="square" lIns="0" tIns="0" rIns="0" bIns="0" rtlCol="0" anchor="ctr"/>
          <a:lstStyle/>
          <a:p>
            <a:pPr indent="0" marL="0">
              <a:buNone/>
            </a:pPr>
            <a:r>
              <a:rPr lang="en-US" sz="1100" b="1" spc="100" kern="0" dirty="0">
                <a:solidFill>
                  <a:srgbClr val="FFFFFF"/>
                </a:solidFill>
                <a:latin typeface="Trebuchet MS" pitchFamily="34" charset="0"/>
                <a:ea typeface="Trebuchet MS" pitchFamily="34" charset="-122"/>
                <a:cs typeface="Trebuchet MS" pitchFamily="34" charset="-120"/>
              </a:rPr>
              <a:t>Status</a:t>
            </a:r>
            <a:endParaRPr lang="en-US" sz="1100" dirty="0"/>
          </a:p>
        </p:txBody>
      </p:sp>
      <p:sp>
        <p:nvSpPr>
          <p:cNvPr id="12" name="Shape 9"/>
          <p:cNvSpPr/>
          <p:nvPr/>
        </p:nvSpPr>
        <p:spPr>
          <a:xfrm>
            <a:off x="548640" y="2194560"/>
            <a:ext cx="11064240" cy="502920"/>
          </a:xfrm>
          <a:prstGeom prst="rect">
            <a:avLst/>
          </a:prstGeom>
          <a:solidFill>
            <a:srgbClr val="F6F8FB"/>
          </a:solidFill>
          <a:ln w="5080">
            <a:solidFill>
              <a:srgbClr val="D6DEE8"/>
            </a:solidFill>
            <a:prstDash val="solid"/>
          </a:ln>
        </p:spPr>
      </p:sp>
      <p:sp>
        <p:nvSpPr>
          <p:cNvPr id="13" name="Text 10"/>
          <p:cNvSpPr/>
          <p:nvPr/>
        </p:nvSpPr>
        <p:spPr>
          <a:xfrm>
            <a:off x="713232" y="219456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Database</a:t>
            </a:r>
            <a:endParaRPr lang="en-US" sz="1100" dirty="0"/>
          </a:p>
        </p:txBody>
      </p:sp>
      <p:sp>
        <p:nvSpPr>
          <p:cNvPr id="14" name="Text 11"/>
          <p:cNvSpPr/>
          <p:nvPr/>
        </p:nvSpPr>
        <p:spPr>
          <a:xfrm>
            <a:off x="2084832" y="219456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Network</a:t>
            </a:r>
            <a:endParaRPr lang="en-US" sz="1100" dirty="0"/>
          </a:p>
        </p:txBody>
      </p:sp>
      <p:sp>
        <p:nvSpPr>
          <p:cNvPr id="15" name="Text 12"/>
          <p:cNvSpPr/>
          <p:nvPr/>
        </p:nvSpPr>
        <p:spPr>
          <a:xfrm>
            <a:off x="3639312" y="219456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VLAN segmentation for new HA tier</a:t>
            </a:r>
            <a:endParaRPr lang="en-US" sz="1100" dirty="0"/>
          </a:p>
        </p:txBody>
      </p:sp>
      <p:sp>
        <p:nvSpPr>
          <p:cNvPr id="16" name="Text 13"/>
          <p:cNvSpPr/>
          <p:nvPr/>
        </p:nvSpPr>
        <p:spPr>
          <a:xfrm>
            <a:off x="8028432" y="219456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End of Q2</a:t>
            </a:r>
            <a:endParaRPr lang="en-US" sz="1100" dirty="0"/>
          </a:p>
        </p:txBody>
      </p:sp>
      <p:sp>
        <p:nvSpPr>
          <p:cNvPr id="17" name="Shape 14"/>
          <p:cNvSpPr/>
          <p:nvPr/>
        </p:nvSpPr>
        <p:spPr>
          <a:xfrm>
            <a:off x="9509760" y="2363724"/>
            <a:ext cx="164592" cy="164592"/>
          </a:xfrm>
          <a:prstGeom prst="ellipse">
            <a:avLst/>
          </a:prstGeom>
          <a:solidFill>
            <a:srgbClr val="C97A00"/>
          </a:solidFill>
          <a:ln/>
        </p:spPr>
      </p:sp>
      <p:sp>
        <p:nvSpPr>
          <p:cNvPr id="18" name="Text 15"/>
          <p:cNvSpPr/>
          <p:nvPr/>
        </p:nvSpPr>
        <p:spPr>
          <a:xfrm>
            <a:off x="9784080" y="219456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In design</a:t>
            </a:r>
            <a:endParaRPr lang="en-US" sz="1100" dirty="0"/>
          </a:p>
        </p:txBody>
      </p:sp>
      <p:sp>
        <p:nvSpPr>
          <p:cNvPr id="19" name="Shape 16"/>
          <p:cNvSpPr/>
          <p:nvPr/>
        </p:nvSpPr>
        <p:spPr>
          <a:xfrm>
            <a:off x="548640" y="2697480"/>
            <a:ext cx="11064240" cy="502920"/>
          </a:xfrm>
          <a:prstGeom prst="rect">
            <a:avLst/>
          </a:prstGeom>
          <a:solidFill>
            <a:srgbClr val="FFFFFF"/>
          </a:solidFill>
          <a:ln w="5080">
            <a:solidFill>
              <a:srgbClr val="D6DEE8"/>
            </a:solidFill>
            <a:prstDash val="solid"/>
          </a:ln>
        </p:spPr>
      </p:sp>
      <p:sp>
        <p:nvSpPr>
          <p:cNvPr id="20" name="Text 17"/>
          <p:cNvSpPr/>
          <p:nvPr/>
        </p:nvSpPr>
        <p:spPr>
          <a:xfrm>
            <a:off x="713232" y="269748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Database</a:t>
            </a:r>
            <a:endParaRPr lang="en-US" sz="1100" dirty="0"/>
          </a:p>
        </p:txBody>
      </p:sp>
      <p:sp>
        <p:nvSpPr>
          <p:cNvPr id="21" name="Text 18"/>
          <p:cNvSpPr/>
          <p:nvPr/>
        </p:nvSpPr>
        <p:spPr>
          <a:xfrm>
            <a:off x="2084832" y="269748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Storage</a:t>
            </a:r>
            <a:endParaRPr lang="en-US" sz="1100" dirty="0"/>
          </a:p>
        </p:txBody>
      </p:sp>
      <p:sp>
        <p:nvSpPr>
          <p:cNvPr id="22" name="Text 19"/>
          <p:cNvSpPr/>
          <p:nvPr/>
        </p:nvSpPr>
        <p:spPr>
          <a:xfrm>
            <a:off x="3639312" y="269748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Tiered storage policy for archive offload</a:t>
            </a:r>
            <a:endParaRPr lang="en-US" sz="1100" dirty="0"/>
          </a:p>
        </p:txBody>
      </p:sp>
      <p:sp>
        <p:nvSpPr>
          <p:cNvPr id="23" name="Text 20"/>
          <p:cNvSpPr/>
          <p:nvPr/>
        </p:nvSpPr>
        <p:spPr>
          <a:xfrm>
            <a:off x="8028432" y="269748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Q3</a:t>
            </a:r>
            <a:endParaRPr lang="en-US" sz="1100" dirty="0"/>
          </a:p>
        </p:txBody>
      </p:sp>
      <p:sp>
        <p:nvSpPr>
          <p:cNvPr id="24" name="Shape 21"/>
          <p:cNvSpPr/>
          <p:nvPr/>
        </p:nvSpPr>
        <p:spPr>
          <a:xfrm>
            <a:off x="9509760" y="2866644"/>
            <a:ext cx="164592" cy="164592"/>
          </a:xfrm>
          <a:prstGeom prst="ellipse">
            <a:avLst/>
          </a:prstGeom>
          <a:solidFill>
            <a:srgbClr val="5B6778"/>
          </a:solidFill>
          <a:ln/>
        </p:spPr>
      </p:sp>
      <p:sp>
        <p:nvSpPr>
          <p:cNvPr id="25" name="Text 22"/>
          <p:cNvSpPr/>
          <p:nvPr/>
        </p:nvSpPr>
        <p:spPr>
          <a:xfrm>
            <a:off x="9784080" y="269748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Not started</a:t>
            </a:r>
            <a:endParaRPr lang="en-US" sz="1100" dirty="0"/>
          </a:p>
        </p:txBody>
      </p:sp>
      <p:sp>
        <p:nvSpPr>
          <p:cNvPr id="26" name="Shape 23"/>
          <p:cNvSpPr/>
          <p:nvPr/>
        </p:nvSpPr>
        <p:spPr>
          <a:xfrm>
            <a:off x="548640" y="3200400"/>
            <a:ext cx="11064240" cy="502920"/>
          </a:xfrm>
          <a:prstGeom prst="rect">
            <a:avLst/>
          </a:prstGeom>
          <a:solidFill>
            <a:srgbClr val="F6F8FB"/>
          </a:solidFill>
          <a:ln w="5080">
            <a:solidFill>
              <a:srgbClr val="D6DEE8"/>
            </a:solidFill>
            <a:prstDash val="solid"/>
          </a:ln>
        </p:spPr>
      </p:sp>
      <p:sp>
        <p:nvSpPr>
          <p:cNvPr id="27" name="Text 24"/>
          <p:cNvSpPr/>
          <p:nvPr/>
        </p:nvSpPr>
        <p:spPr>
          <a:xfrm>
            <a:off x="713232" y="320040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Compute</a:t>
            </a:r>
            <a:endParaRPr lang="en-US" sz="1100" dirty="0"/>
          </a:p>
        </p:txBody>
      </p:sp>
      <p:sp>
        <p:nvSpPr>
          <p:cNvPr id="28" name="Text 25"/>
          <p:cNvSpPr/>
          <p:nvPr/>
        </p:nvSpPr>
        <p:spPr>
          <a:xfrm>
            <a:off x="2084832" y="320040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Network</a:t>
            </a:r>
            <a:endParaRPr lang="en-US" sz="1100" dirty="0"/>
          </a:p>
        </p:txBody>
      </p:sp>
      <p:sp>
        <p:nvSpPr>
          <p:cNvPr id="29" name="Text 26"/>
          <p:cNvSpPr/>
          <p:nvPr/>
        </p:nvSpPr>
        <p:spPr>
          <a:xfrm>
            <a:off x="3639312" y="320040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Top-of-rack refresh in zone 3</a:t>
            </a:r>
            <a:endParaRPr lang="en-US" sz="1100" dirty="0"/>
          </a:p>
        </p:txBody>
      </p:sp>
      <p:sp>
        <p:nvSpPr>
          <p:cNvPr id="30" name="Text 27"/>
          <p:cNvSpPr/>
          <p:nvPr/>
        </p:nvSpPr>
        <p:spPr>
          <a:xfrm>
            <a:off x="8028432" y="320040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Q2</a:t>
            </a:r>
            <a:endParaRPr lang="en-US" sz="1100" dirty="0"/>
          </a:p>
        </p:txBody>
      </p:sp>
      <p:sp>
        <p:nvSpPr>
          <p:cNvPr id="31" name="Shape 28"/>
          <p:cNvSpPr/>
          <p:nvPr/>
        </p:nvSpPr>
        <p:spPr>
          <a:xfrm>
            <a:off x="9509760" y="3369564"/>
            <a:ext cx="164592" cy="164592"/>
          </a:xfrm>
          <a:prstGeom prst="ellipse">
            <a:avLst/>
          </a:prstGeom>
          <a:solidFill>
            <a:srgbClr val="1F8B4C"/>
          </a:solidFill>
          <a:ln/>
        </p:spPr>
      </p:sp>
      <p:sp>
        <p:nvSpPr>
          <p:cNvPr id="32" name="Text 29"/>
          <p:cNvSpPr/>
          <p:nvPr/>
        </p:nvSpPr>
        <p:spPr>
          <a:xfrm>
            <a:off x="9784080" y="320040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On track</a:t>
            </a:r>
            <a:endParaRPr lang="en-US" sz="1100" dirty="0"/>
          </a:p>
        </p:txBody>
      </p:sp>
      <p:sp>
        <p:nvSpPr>
          <p:cNvPr id="33" name="Shape 30"/>
          <p:cNvSpPr/>
          <p:nvPr/>
        </p:nvSpPr>
        <p:spPr>
          <a:xfrm>
            <a:off x="548640" y="3703320"/>
            <a:ext cx="11064240" cy="502920"/>
          </a:xfrm>
          <a:prstGeom prst="rect">
            <a:avLst/>
          </a:prstGeom>
          <a:solidFill>
            <a:srgbClr val="FFFFFF"/>
          </a:solidFill>
          <a:ln w="5080">
            <a:solidFill>
              <a:srgbClr val="D6DEE8"/>
            </a:solidFill>
            <a:prstDash val="solid"/>
          </a:ln>
        </p:spPr>
      </p:sp>
      <p:sp>
        <p:nvSpPr>
          <p:cNvPr id="34" name="Text 31"/>
          <p:cNvSpPr/>
          <p:nvPr/>
        </p:nvSpPr>
        <p:spPr>
          <a:xfrm>
            <a:off x="713232" y="370332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Middleware</a:t>
            </a:r>
            <a:endParaRPr lang="en-US" sz="1100" dirty="0"/>
          </a:p>
        </p:txBody>
      </p:sp>
      <p:sp>
        <p:nvSpPr>
          <p:cNvPr id="35" name="Text 32"/>
          <p:cNvSpPr/>
          <p:nvPr/>
        </p:nvSpPr>
        <p:spPr>
          <a:xfrm>
            <a:off x="2084832" y="370332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Database</a:t>
            </a:r>
            <a:endParaRPr lang="en-US" sz="1100" dirty="0"/>
          </a:p>
        </p:txBody>
      </p:sp>
      <p:sp>
        <p:nvSpPr>
          <p:cNvPr id="36" name="Text 33"/>
          <p:cNvSpPr/>
          <p:nvPr/>
        </p:nvSpPr>
        <p:spPr>
          <a:xfrm>
            <a:off x="3639312" y="370332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Schema migration for messaging brokers</a:t>
            </a:r>
            <a:endParaRPr lang="en-US" sz="1100" dirty="0"/>
          </a:p>
        </p:txBody>
      </p:sp>
      <p:sp>
        <p:nvSpPr>
          <p:cNvPr id="37" name="Text 34"/>
          <p:cNvSpPr/>
          <p:nvPr/>
        </p:nvSpPr>
        <p:spPr>
          <a:xfrm>
            <a:off x="8028432" y="370332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Q3</a:t>
            </a:r>
            <a:endParaRPr lang="en-US" sz="1100" dirty="0"/>
          </a:p>
        </p:txBody>
      </p:sp>
      <p:sp>
        <p:nvSpPr>
          <p:cNvPr id="38" name="Shape 35"/>
          <p:cNvSpPr/>
          <p:nvPr/>
        </p:nvSpPr>
        <p:spPr>
          <a:xfrm>
            <a:off x="9509760" y="3872484"/>
            <a:ext cx="164592" cy="164592"/>
          </a:xfrm>
          <a:prstGeom prst="ellipse">
            <a:avLst/>
          </a:prstGeom>
          <a:solidFill>
            <a:srgbClr val="C97A00"/>
          </a:solidFill>
          <a:ln/>
        </p:spPr>
      </p:sp>
      <p:sp>
        <p:nvSpPr>
          <p:cNvPr id="39" name="Text 36"/>
          <p:cNvSpPr/>
          <p:nvPr/>
        </p:nvSpPr>
        <p:spPr>
          <a:xfrm>
            <a:off x="9784080" y="370332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Scoping</a:t>
            </a:r>
            <a:endParaRPr lang="en-US" sz="1100" dirty="0"/>
          </a:p>
        </p:txBody>
      </p:sp>
      <p:sp>
        <p:nvSpPr>
          <p:cNvPr id="40" name="Shape 37"/>
          <p:cNvSpPr/>
          <p:nvPr/>
        </p:nvSpPr>
        <p:spPr>
          <a:xfrm>
            <a:off x="548640" y="4206240"/>
            <a:ext cx="11064240" cy="502920"/>
          </a:xfrm>
          <a:prstGeom prst="rect">
            <a:avLst/>
          </a:prstGeom>
          <a:solidFill>
            <a:srgbClr val="F6F8FB"/>
          </a:solidFill>
          <a:ln w="5080">
            <a:solidFill>
              <a:srgbClr val="D6DEE8"/>
            </a:solidFill>
            <a:prstDash val="solid"/>
          </a:ln>
        </p:spPr>
      </p:sp>
      <p:sp>
        <p:nvSpPr>
          <p:cNvPr id="41" name="Text 38"/>
          <p:cNvSpPr/>
          <p:nvPr/>
        </p:nvSpPr>
        <p:spPr>
          <a:xfrm>
            <a:off x="713232" y="420624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Storage</a:t>
            </a:r>
            <a:endParaRPr lang="en-US" sz="1100" dirty="0"/>
          </a:p>
        </p:txBody>
      </p:sp>
      <p:sp>
        <p:nvSpPr>
          <p:cNvPr id="42" name="Text 39"/>
          <p:cNvSpPr/>
          <p:nvPr/>
        </p:nvSpPr>
        <p:spPr>
          <a:xfrm>
            <a:off x="2084832" y="420624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Compute</a:t>
            </a:r>
            <a:endParaRPr lang="en-US" sz="1100" dirty="0"/>
          </a:p>
        </p:txBody>
      </p:sp>
      <p:sp>
        <p:nvSpPr>
          <p:cNvPr id="43" name="Text 40"/>
          <p:cNvSpPr/>
          <p:nvPr/>
        </p:nvSpPr>
        <p:spPr>
          <a:xfrm>
            <a:off x="3639312" y="420624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Decommission of legacy hosts blocking SAN</a:t>
            </a:r>
            <a:endParaRPr lang="en-US" sz="1100" dirty="0"/>
          </a:p>
        </p:txBody>
      </p:sp>
      <p:sp>
        <p:nvSpPr>
          <p:cNvPr id="44" name="Text 41"/>
          <p:cNvSpPr/>
          <p:nvPr/>
        </p:nvSpPr>
        <p:spPr>
          <a:xfrm>
            <a:off x="8028432" y="420624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Q2</a:t>
            </a:r>
            <a:endParaRPr lang="en-US" sz="1100" dirty="0"/>
          </a:p>
        </p:txBody>
      </p:sp>
      <p:sp>
        <p:nvSpPr>
          <p:cNvPr id="45" name="Shape 42"/>
          <p:cNvSpPr/>
          <p:nvPr/>
        </p:nvSpPr>
        <p:spPr>
          <a:xfrm>
            <a:off x="9509760" y="4375404"/>
            <a:ext cx="164592" cy="164592"/>
          </a:xfrm>
          <a:prstGeom prst="ellipse">
            <a:avLst/>
          </a:prstGeom>
          <a:solidFill>
            <a:srgbClr val="B91C1C"/>
          </a:solidFill>
          <a:ln/>
        </p:spPr>
      </p:sp>
      <p:sp>
        <p:nvSpPr>
          <p:cNvPr id="46" name="Text 43"/>
          <p:cNvSpPr/>
          <p:nvPr/>
        </p:nvSpPr>
        <p:spPr>
          <a:xfrm>
            <a:off x="9784080" y="420624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At risk</a:t>
            </a:r>
            <a:endParaRPr lang="en-US" sz="1100" dirty="0"/>
          </a:p>
        </p:txBody>
      </p:sp>
      <p:sp>
        <p:nvSpPr>
          <p:cNvPr id="47" name="Shape 44"/>
          <p:cNvSpPr/>
          <p:nvPr/>
        </p:nvSpPr>
        <p:spPr>
          <a:xfrm>
            <a:off x="548640" y="4709160"/>
            <a:ext cx="11064240" cy="502920"/>
          </a:xfrm>
          <a:prstGeom prst="rect">
            <a:avLst/>
          </a:prstGeom>
          <a:solidFill>
            <a:srgbClr val="FFFFFF"/>
          </a:solidFill>
          <a:ln w="5080">
            <a:solidFill>
              <a:srgbClr val="D6DEE8"/>
            </a:solidFill>
            <a:prstDash val="solid"/>
          </a:ln>
        </p:spPr>
      </p:sp>
      <p:sp>
        <p:nvSpPr>
          <p:cNvPr id="48" name="Text 45"/>
          <p:cNvSpPr/>
          <p:nvPr/>
        </p:nvSpPr>
        <p:spPr>
          <a:xfrm>
            <a:off x="713232" y="4709160"/>
            <a:ext cx="1188720" cy="50292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All platforms</a:t>
            </a:r>
            <a:endParaRPr lang="en-US" sz="1100" dirty="0"/>
          </a:p>
        </p:txBody>
      </p:sp>
      <p:sp>
        <p:nvSpPr>
          <p:cNvPr id="49" name="Text 46"/>
          <p:cNvSpPr/>
          <p:nvPr/>
        </p:nvSpPr>
        <p:spPr>
          <a:xfrm>
            <a:off x="2084832" y="4709160"/>
            <a:ext cx="137160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IaC</a:t>
            </a:r>
            <a:endParaRPr lang="en-US" sz="1100" dirty="0"/>
          </a:p>
        </p:txBody>
      </p:sp>
      <p:sp>
        <p:nvSpPr>
          <p:cNvPr id="50" name="Text 47"/>
          <p:cNvSpPr/>
          <p:nvPr/>
        </p:nvSpPr>
        <p:spPr>
          <a:xfrm>
            <a:off x="3639312" y="4709160"/>
            <a:ext cx="420624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Common tagging standard</a:t>
            </a:r>
            <a:endParaRPr lang="en-US" sz="1100" dirty="0"/>
          </a:p>
        </p:txBody>
      </p:sp>
      <p:sp>
        <p:nvSpPr>
          <p:cNvPr id="51" name="Text 48"/>
          <p:cNvSpPr/>
          <p:nvPr/>
        </p:nvSpPr>
        <p:spPr>
          <a:xfrm>
            <a:off x="8028432" y="4709160"/>
            <a:ext cx="128016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Q1</a:t>
            </a:r>
            <a:endParaRPr lang="en-US" sz="1100" dirty="0"/>
          </a:p>
        </p:txBody>
      </p:sp>
      <p:sp>
        <p:nvSpPr>
          <p:cNvPr id="52" name="Shape 49"/>
          <p:cNvSpPr/>
          <p:nvPr/>
        </p:nvSpPr>
        <p:spPr>
          <a:xfrm>
            <a:off x="9509760" y="4878324"/>
            <a:ext cx="164592" cy="164592"/>
          </a:xfrm>
          <a:prstGeom prst="ellipse">
            <a:avLst/>
          </a:prstGeom>
          <a:solidFill>
            <a:srgbClr val="1F8B4C"/>
          </a:solidFill>
          <a:ln/>
        </p:spPr>
      </p:sp>
      <p:sp>
        <p:nvSpPr>
          <p:cNvPr id="53" name="Text 50"/>
          <p:cNvSpPr/>
          <p:nvPr/>
        </p:nvSpPr>
        <p:spPr>
          <a:xfrm>
            <a:off x="9784080" y="4709160"/>
            <a:ext cx="1783080" cy="5029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Published</a:t>
            </a:r>
            <a:endParaRPr lang="en-US" sz="1100" dirty="0"/>
          </a:p>
        </p:txBody>
      </p:sp>
      <p:sp>
        <p:nvSpPr>
          <p:cNvPr id="54" name="Shape 51"/>
          <p:cNvSpPr/>
          <p:nvPr/>
        </p:nvSpPr>
        <p:spPr>
          <a:xfrm>
            <a:off x="548640" y="5486400"/>
            <a:ext cx="11064240" cy="502920"/>
          </a:xfrm>
          <a:prstGeom prst="rect">
            <a:avLst/>
          </a:prstGeom>
          <a:solidFill>
            <a:srgbClr val="E6EEF8"/>
          </a:solidFill>
          <a:ln/>
        </p:spPr>
      </p:sp>
      <p:pic>
        <p:nvPicPr>
          <p:cNvPr id="55" name="Image 1" descr="preencoded.png">    </p:cNvPr>
          <p:cNvPicPr>
            <a:picLocks noChangeAspect="1"/>
          </p:cNvPicPr>
          <p:nvPr/>
        </p:nvPicPr>
        <p:blipFill>
          <a:blip r:embed="rId2"/>
          <a:stretch>
            <a:fillRect/>
          </a:stretch>
        </p:blipFill>
        <p:spPr>
          <a:xfrm>
            <a:off x="731520" y="5623560"/>
            <a:ext cx="228600" cy="228600"/>
          </a:xfrm>
          <a:prstGeom prst="rect">
            <a:avLst/>
          </a:prstGeom>
        </p:spPr>
      </p:pic>
      <p:sp>
        <p:nvSpPr>
          <p:cNvPr id="56" name="Text 52"/>
          <p:cNvSpPr/>
          <p:nvPr/>
        </p:nvSpPr>
        <p:spPr>
          <a:xfrm>
            <a:off x="1097280" y="5486400"/>
            <a:ext cx="10332720" cy="502920"/>
          </a:xfrm>
          <a:prstGeom prst="rect">
            <a:avLst/>
          </a:prstGeom>
          <a:noFill/>
          <a:ln/>
        </p:spPr>
        <p:txBody>
          <a:bodyPr wrap="square" lIns="0" tIns="0" rIns="0" bIns="0" rtlCol="0" anchor="ctr"/>
          <a:lstStyle/>
          <a:p>
            <a:pPr indent="0" marL="0">
              <a:buNone/>
            </a:pPr>
            <a:r>
              <a:rPr lang="en-US" sz="1100" i="1" dirty="0">
                <a:solidFill>
                  <a:srgbClr val="001F47"/>
                </a:solidFill>
                <a:latin typeface="Calibri" pitchFamily="34" charset="0"/>
                <a:ea typeface="Calibri" pitchFamily="34" charset="-122"/>
                <a:cs typeface="Calibri" pitchFamily="34" charset="-120"/>
              </a:rPr>
              <a:t>Inter-platform blockers don't get raised by platform leads alone — this view forces them into the open.</a:t>
            </a:r>
            <a:endParaRPr lang="en-US" sz="1100" dirty="0"/>
          </a:p>
        </p:txBody>
      </p:sp>
      <p:sp>
        <p:nvSpPr>
          <p:cNvPr id="57" name="Text 53"/>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11 / 30</a:t>
            </a:r>
            <a:endParaRPr lang="en-US" sz="900" dirty="0"/>
          </a:p>
        </p:txBody>
      </p:sp>
      <p:sp>
        <p:nvSpPr>
          <p:cNvPr id="58" name="Text 54"/>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10  ·  PLATFORM STATUS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Database platform — status update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594360"/>
          </a:xfrm>
          <a:prstGeom prst="rect">
            <a:avLst/>
          </a:prstGeom>
          <a:solidFill>
            <a:srgbClr val="001F47"/>
          </a:solidFill>
          <a:ln/>
        </p:spPr>
      </p:sp>
      <p:sp>
        <p:nvSpPr>
          <p:cNvPr id="7" name="Shape 4"/>
          <p:cNvSpPr/>
          <p:nvPr/>
        </p:nvSpPr>
        <p:spPr>
          <a:xfrm>
            <a:off x="713232" y="1892808"/>
            <a:ext cx="365760" cy="365760"/>
          </a:xfrm>
          <a:prstGeom prst="ellipse">
            <a:avLst/>
          </a:prstGeom>
          <a:solidFill>
            <a:srgbClr val="FEDF01"/>
          </a:solidFill>
          <a:ln/>
        </p:spPr>
      </p:sp>
      <p:pic>
        <p:nvPicPr>
          <p:cNvPr id="8" name="Image 1" descr="preencoded.png">    </p:cNvPr>
          <p:cNvPicPr>
            <a:picLocks noChangeAspect="1"/>
          </p:cNvPicPr>
          <p:nvPr/>
        </p:nvPicPr>
        <p:blipFill>
          <a:blip r:embed="rId2"/>
          <a:stretch>
            <a:fillRect/>
          </a:stretch>
        </p:blipFill>
        <p:spPr>
          <a:xfrm>
            <a:off x="786384" y="1965960"/>
            <a:ext cx="219456" cy="219456"/>
          </a:xfrm>
          <a:prstGeom prst="rect">
            <a:avLst/>
          </a:prstGeom>
        </p:spPr>
      </p:pic>
      <p:sp>
        <p:nvSpPr>
          <p:cNvPr id="9" name="Text 5"/>
          <p:cNvSpPr/>
          <p:nvPr/>
        </p:nvSpPr>
        <p:spPr>
          <a:xfrm>
            <a:off x="1188720" y="1783080"/>
            <a:ext cx="3657600" cy="5943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Database</a:t>
            </a:r>
            <a:endParaRPr lang="en-US" sz="1800" dirty="0"/>
          </a:p>
        </p:txBody>
      </p:sp>
      <p:sp>
        <p:nvSpPr>
          <p:cNvPr id="10" name="Text 6"/>
          <p:cNvSpPr/>
          <p:nvPr/>
        </p:nvSpPr>
        <p:spPr>
          <a:xfrm>
            <a:off x="4754880" y="1856232"/>
            <a:ext cx="22860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REPORTING PERIOD</a:t>
            </a:r>
            <a:endParaRPr lang="en-US" sz="900" dirty="0"/>
          </a:p>
        </p:txBody>
      </p:sp>
      <p:sp>
        <p:nvSpPr>
          <p:cNvPr id="11" name="Text 7"/>
          <p:cNvSpPr/>
          <p:nvPr/>
        </p:nvSpPr>
        <p:spPr>
          <a:xfrm>
            <a:off x="4754880" y="2075688"/>
            <a:ext cx="2286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[Month YYYY]</a:t>
            </a:r>
            <a:endParaRPr lang="en-US" sz="1200" dirty="0"/>
          </a:p>
        </p:txBody>
      </p:sp>
      <p:sp>
        <p:nvSpPr>
          <p:cNvPr id="12" name="Text 8"/>
          <p:cNvSpPr/>
          <p:nvPr/>
        </p:nvSpPr>
        <p:spPr>
          <a:xfrm>
            <a:off x="7223760" y="1856232"/>
            <a:ext cx="18288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OVERALL RAG</a:t>
            </a:r>
            <a:endParaRPr lang="en-US" sz="900" dirty="0"/>
          </a:p>
        </p:txBody>
      </p:sp>
      <p:sp>
        <p:nvSpPr>
          <p:cNvPr id="13" name="Shape 9"/>
          <p:cNvSpPr/>
          <p:nvPr/>
        </p:nvSpPr>
        <p:spPr>
          <a:xfrm>
            <a:off x="7223760" y="2075688"/>
            <a:ext cx="256032" cy="256032"/>
          </a:xfrm>
          <a:prstGeom prst="ellipse">
            <a:avLst/>
          </a:prstGeom>
          <a:solidFill>
            <a:srgbClr val="5B6778"/>
          </a:solidFill>
          <a:ln w="12700">
            <a:solidFill>
              <a:srgbClr val="FFFFFF"/>
            </a:solidFill>
            <a:prstDash val="solid"/>
          </a:ln>
        </p:spPr>
      </p:sp>
      <p:sp>
        <p:nvSpPr>
          <p:cNvPr id="14" name="Text 10"/>
          <p:cNvSpPr/>
          <p:nvPr/>
        </p:nvSpPr>
        <p:spPr>
          <a:xfrm>
            <a:off x="7543800" y="2075688"/>
            <a:ext cx="137160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G/Y/R ]</a:t>
            </a:r>
            <a:endParaRPr lang="en-US" sz="1100" dirty="0"/>
          </a:p>
        </p:txBody>
      </p:sp>
      <p:sp>
        <p:nvSpPr>
          <p:cNvPr id="15" name="Text 11"/>
          <p:cNvSpPr/>
          <p:nvPr/>
        </p:nvSpPr>
        <p:spPr>
          <a:xfrm>
            <a:off x="9052560" y="1856232"/>
            <a:ext cx="2560320" cy="228600"/>
          </a:xfrm>
          <a:prstGeom prst="rect">
            <a:avLst/>
          </a:prstGeom>
          <a:noFill/>
          <a:ln/>
        </p:spPr>
        <p:txBody>
          <a:bodyPr wrap="square" lIns="0" tIns="0" rIns="0" bIns="0" rtlCol="0" anchor="ctr"/>
          <a:lstStyle/>
          <a:p>
            <a:pPr indent="0" marL="0">
              <a:buNone/>
            </a:pPr>
            <a:r>
              <a:rPr lang="en-US" sz="900" b="1" spc="100" kern="0" dirty="0">
                <a:solidFill>
                  <a:srgbClr val="FEDF01"/>
                </a:solidFill>
                <a:latin typeface="Trebuchet MS" pitchFamily="34" charset="0"/>
                <a:ea typeface="Trebuchet MS" pitchFamily="34" charset="-122"/>
                <a:cs typeface="Trebuchet MS" pitchFamily="34" charset="-120"/>
              </a:rPr>
              <a:t>LAST UPDATED  ·  NEXT REVIEW</a:t>
            </a:r>
            <a:endParaRPr lang="en-US" sz="900" dirty="0"/>
          </a:p>
        </p:txBody>
      </p:sp>
      <p:sp>
        <p:nvSpPr>
          <p:cNvPr id="16" name="Text 12"/>
          <p:cNvSpPr/>
          <p:nvPr/>
        </p:nvSpPr>
        <p:spPr>
          <a:xfrm>
            <a:off x="9052560" y="2075688"/>
            <a:ext cx="256032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[Date]  ·  [Date]</a:t>
            </a:r>
            <a:endParaRPr lang="en-US" sz="1100" dirty="0"/>
          </a:p>
        </p:txBody>
      </p:sp>
      <p:sp>
        <p:nvSpPr>
          <p:cNvPr id="17" name="Shape 13"/>
          <p:cNvSpPr/>
          <p:nvPr/>
        </p:nvSpPr>
        <p:spPr>
          <a:xfrm>
            <a:off x="548640" y="2514600"/>
            <a:ext cx="5349240" cy="1325880"/>
          </a:xfrm>
          <a:prstGeom prst="rect">
            <a:avLst/>
          </a:prstGeom>
          <a:solidFill>
            <a:srgbClr val="F6F8FB"/>
          </a:solidFill>
          <a:ln w="6350">
            <a:solidFill>
              <a:srgbClr val="D6DEE8"/>
            </a:solidFill>
            <a:prstDash val="solid"/>
          </a:ln>
        </p:spPr>
      </p:sp>
      <p:sp>
        <p:nvSpPr>
          <p:cNvPr id="18" name="Shape 14"/>
          <p:cNvSpPr/>
          <p:nvPr/>
        </p:nvSpPr>
        <p:spPr>
          <a:xfrm>
            <a:off x="548640" y="2514600"/>
            <a:ext cx="54864" cy="1325880"/>
          </a:xfrm>
          <a:prstGeom prst="rect">
            <a:avLst/>
          </a:prstGeom>
          <a:solidFill>
            <a:srgbClr val="FEDF01"/>
          </a:solidFill>
          <a:ln/>
        </p:spPr>
      </p:sp>
      <p:sp>
        <p:nvSpPr>
          <p:cNvPr id="19" name="Text 15"/>
          <p:cNvSpPr/>
          <p:nvPr/>
        </p:nvSpPr>
        <p:spPr>
          <a:xfrm>
            <a:off x="731520" y="2587752"/>
            <a:ext cx="507492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OWNERSHIP</a:t>
            </a:r>
            <a:endParaRPr lang="en-US" sz="1000" dirty="0"/>
          </a:p>
        </p:txBody>
      </p:sp>
      <p:sp>
        <p:nvSpPr>
          <p:cNvPr id="20" name="Text 16"/>
          <p:cNvSpPr/>
          <p:nvPr/>
        </p:nvSpPr>
        <p:spPr>
          <a:xfrm>
            <a:off x="731520" y="2834640"/>
            <a:ext cx="5074920" cy="960120"/>
          </a:xfrm>
          <a:prstGeom prst="rect">
            <a:avLst/>
          </a:prstGeom>
          <a:noFill/>
          <a:ln/>
        </p:spPr>
        <p:txBody>
          <a:bodyPr wrap="square" lIns="0" tIns="0" rIns="0" bIns="0" rtlCol="0" anchor="ctr"/>
          <a:lstStyle/>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Delivery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Tech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Engineering Manager: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Product Owner: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Team: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 FTE + [N] contractors  ·  Personas: Engineering, Operations, Delivery, Architecture, Security</a:t>
            </a:r>
            <a:endParaRPr lang="en-US" sz="1050" dirty="0"/>
          </a:p>
        </p:txBody>
      </p:sp>
      <p:sp>
        <p:nvSpPr>
          <p:cNvPr id="21" name="Text 17"/>
          <p:cNvSpPr/>
          <p:nvPr/>
        </p:nvSpPr>
        <p:spPr>
          <a:xfrm>
            <a:off x="548640" y="393192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WORKSTREAM TOUCHPOINTS</a:t>
            </a:r>
            <a:endParaRPr lang="en-US" sz="1000" dirty="0"/>
          </a:p>
        </p:txBody>
      </p:sp>
      <p:sp>
        <p:nvSpPr>
          <p:cNvPr id="22" name="Shape 18"/>
          <p:cNvSpPr/>
          <p:nvPr/>
        </p:nvSpPr>
        <p:spPr>
          <a:xfrm>
            <a:off x="548640" y="4206240"/>
            <a:ext cx="1268730" cy="640080"/>
          </a:xfrm>
          <a:prstGeom prst="rect">
            <a:avLst/>
          </a:prstGeom>
          <a:solidFill>
            <a:srgbClr val="FFFFFF"/>
          </a:solidFill>
          <a:ln w="6350">
            <a:solidFill>
              <a:srgbClr val="D6DEE8"/>
            </a:solidFill>
            <a:prstDash val="solid"/>
          </a:ln>
        </p:spPr>
      </p:sp>
      <p:sp>
        <p:nvSpPr>
          <p:cNvPr id="23" name="Shape 19"/>
          <p:cNvSpPr/>
          <p:nvPr/>
        </p:nvSpPr>
        <p:spPr>
          <a:xfrm>
            <a:off x="548640" y="4206240"/>
            <a:ext cx="1268730" cy="201168"/>
          </a:xfrm>
          <a:prstGeom prst="rect">
            <a:avLst/>
          </a:prstGeom>
          <a:solidFill>
            <a:srgbClr val="0051A5"/>
          </a:solidFill>
          <a:ln/>
        </p:spPr>
      </p:sp>
      <p:sp>
        <p:nvSpPr>
          <p:cNvPr id="24" name="Text 20"/>
          <p:cNvSpPr/>
          <p:nvPr/>
        </p:nvSpPr>
        <p:spPr>
          <a:xfrm>
            <a:off x="54864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IaC</a:t>
            </a:r>
            <a:endParaRPr lang="en-US" sz="900" dirty="0"/>
          </a:p>
        </p:txBody>
      </p:sp>
      <p:sp>
        <p:nvSpPr>
          <p:cNvPr id="25" name="Shape 21"/>
          <p:cNvSpPr/>
          <p:nvPr/>
        </p:nvSpPr>
        <p:spPr>
          <a:xfrm>
            <a:off x="1100709" y="4498848"/>
            <a:ext cx="164592" cy="164592"/>
          </a:xfrm>
          <a:prstGeom prst="ellipse">
            <a:avLst/>
          </a:prstGeom>
          <a:solidFill>
            <a:srgbClr val="5B6778"/>
          </a:solidFill>
          <a:ln/>
        </p:spPr>
      </p:sp>
      <p:sp>
        <p:nvSpPr>
          <p:cNvPr id="26" name="Text 22"/>
          <p:cNvSpPr/>
          <p:nvPr/>
        </p:nvSpPr>
        <p:spPr>
          <a:xfrm>
            <a:off x="54864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27" name="Shape 23"/>
          <p:cNvSpPr/>
          <p:nvPr/>
        </p:nvSpPr>
        <p:spPr>
          <a:xfrm>
            <a:off x="1908810" y="4206240"/>
            <a:ext cx="1268730" cy="640080"/>
          </a:xfrm>
          <a:prstGeom prst="rect">
            <a:avLst/>
          </a:prstGeom>
          <a:solidFill>
            <a:srgbClr val="FFFFFF"/>
          </a:solidFill>
          <a:ln w="6350">
            <a:solidFill>
              <a:srgbClr val="D6DEE8"/>
            </a:solidFill>
            <a:prstDash val="solid"/>
          </a:ln>
        </p:spPr>
      </p:sp>
      <p:sp>
        <p:nvSpPr>
          <p:cNvPr id="28" name="Shape 24"/>
          <p:cNvSpPr/>
          <p:nvPr/>
        </p:nvSpPr>
        <p:spPr>
          <a:xfrm>
            <a:off x="1908810" y="4206240"/>
            <a:ext cx="1268730" cy="201168"/>
          </a:xfrm>
          <a:prstGeom prst="rect">
            <a:avLst/>
          </a:prstGeom>
          <a:solidFill>
            <a:srgbClr val="0051A5"/>
          </a:solidFill>
          <a:ln/>
        </p:spPr>
      </p:sp>
      <p:sp>
        <p:nvSpPr>
          <p:cNvPr id="29" name="Text 25"/>
          <p:cNvSpPr/>
          <p:nvPr/>
        </p:nvSpPr>
        <p:spPr>
          <a:xfrm>
            <a:off x="190881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Comp.</a:t>
            </a:r>
            <a:endParaRPr lang="en-US" sz="900" dirty="0"/>
          </a:p>
        </p:txBody>
      </p:sp>
      <p:sp>
        <p:nvSpPr>
          <p:cNvPr id="30" name="Shape 26"/>
          <p:cNvSpPr/>
          <p:nvPr/>
        </p:nvSpPr>
        <p:spPr>
          <a:xfrm>
            <a:off x="2460879" y="4498848"/>
            <a:ext cx="164592" cy="164592"/>
          </a:xfrm>
          <a:prstGeom prst="ellipse">
            <a:avLst/>
          </a:prstGeom>
          <a:solidFill>
            <a:srgbClr val="5B6778"/>
          </a:solidFill>
          <a:ln/>
        </p:spPr>
      </p:sp>
      <p:sp>
        <p:nvSpPr>
          <p:cNvPr id="31" name="Text 27"/>
          <p:cNvSpPr/>
          <p:nvPr/>
        </p:nvSpPr>
        <p:spPr>
          <a:xfrm>
            <a:off x="190881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2" name="Shape 28"/>
          <p:cNvSpPr/>
          <p:nvPr/>
        </p:nvSpPr>
        <p:spPr>
          <a:xfrm>
            <a:off x="3268980" y="4206240"/>
            <a:ext cx="1268730" cy="640080"/>
          </a:xfrm>
          <a:prstGeom prst="rect">
            <a:avLst/>
          </a:prstGeom>
          <a:solidFill>
            <a:srgbClr val="FFFFFF"/>
          </a:solidFill>
          <a:ln w="6350">
            <a:solidFill>
              <a:srgbClr val="D6DEE8"/>
            </a:solidFill>
            <a:prstDash val="solid"/>
          </a:ln>
        </p:spPr>
      </p:sp>
      <p:sp>
        <p:nvSpPr>
          <p:cNvPr id="33" name="Shape 29"/>
          <p:cNvSpPr/>
          <p:nvPr/>
        </p:nvSpPr>
        <p:spPr>
          <a:xfrm>
            <a:off x="3268980" y="4206240"/>
            <a:ext cx="1268730" cy="201168"/>
          </a:xfrm>
          <a:prstGeom prst="rect">
            <a:avLst/>
          </a:prstGeom>
          <a:solidFill>
            <a:srgbClr val="0051A5"/>
          </a:solidFill>
          <a:ln/>
        </p:spPr>
      </p:sp>
      <p:sp>
        <p:nvSpPr>
          <p:cNvPr id="34" name="Text 30"/>
          <p:cNvSpPr/>
          <p:nvPr/>
        </p:nvSpPr>
        <p:spPr>
          <a:xfrm>
            <a:off x="326898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Opt.</a:t>
            </a:r>
            <a:endParaRPr lang="en-US" sz="900" dirty="0"/>
          </a:p>
        </p:txBody>
      </p:sp>
      <p:sp>
        <p:nvSpPr>
          <p:cNvPr id="35" name="Shape 31"/>
          <p:cNvSpPr/>
          <p:nvPr/>
        </p:nvSpPr>
        <p:spPr>
          <a:xfrm>
            <a:off x="3821049" y="4498848"/>
            <a:ext cx="164592" cy="164592"/>
          </a:xfrm>
          <a:prstGeom prst="ellipse">
            <a:avLst/>
          </a:prstGeom>
          <a:solidFill>
            <a:srgbClr val="5B6778"/>
          </a:solidFill>
          <a:ln/>
        </p:spPr>
      </p:sp>
      <p:sp>
        <p:nvSpPr>
          <p:cNvPr id="36" name="Text 32"/>
          <p:cNvSpPr/>
          <p:nvPr/>
        </p:nvSpPr>
        <p:spPr>
          <a:xfrm>
            <a:off x="326898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7" name="Shape 33"/>
          <p:cNvSpPr/>
          <p:nvPr/>
        </p:nvSpPr>
        <p:spPr>
          <a:xfrm>
            <a:off x="4629150" y="4206240"/>
            <a:ext cx="1268730" cy="640080"/>
          </a:xfrm>
          <a:prstGeom prst="rect">
            <a:avLst/>
          </a:prstGeom>
          <a:solidFill>
            <a:srgbClr val="FFFFFF"/>
          </a:solidFill>
          <a:ln w="6350">
            <a:solidFill>
              <a:srgbClr val="D6DEE8"/>
            </a:solidFill>
            <a:prstDash val="solid"/>
          </a:ln>
        </p:spPr>
      </p:sp>
      <p:sp>
        <p:nvSpPr>
          <p:cNvPr id="38" name="Shape 34"/>
          <p:cNvSpPr/>
          <p:nvPr/>
        </p:nvSpPr>
        <p:spPr>
          <a:xfrm>
            <a:off x="4629150" y="4206240"/>
            <a:ext cx="1268730" cy="201168"/>
          </a:xfrm>
          <a:prstGeom prst="rect">
            <a:avLst/>
          </a:prstGeom>
          <a:solidFill>
            <a:srgbClr val="0051A5"/>
          </a:solidFill>
          <a:ln/>
        </p:spPr>
      </p:sp>
      <p:sp>
        <p:nvSpPr>
          <p:cNvPr id="39" name="Text 35"/>
          <p:cNvSpPr/>
          <p:nvPr/>
        </p:nvSpPr>
        <p:spPr>
          <a:xfrm>
            <a:off x="462915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AI</a:t>
            </a:r>
            <a:endParaRPr lang="en-US" sz="900" dirty="0"/>
          </a:p>
        </p:txBody>
      </p:sp>
      <p:sp>
        <p:nvSpPr>
          <p:cNvPr id="40" name="Shape 36"/>
          <p:cNvSpPr/>
          <p:nvPr/>
        </p:nvSpPr>
        <p:spPr>
          <a:xfrm>
            <a:off x="5181219" y="4498848"/>
            <a:ext cx="164592" cy="164592"/>
          </a:xfrm>
          <a:prstGeom prst="ellipse">
            <a:avLst/>
          </a:prstGeom>
          <a:solidFill>
            <a:srgbClr val="5B6778"/>
          </a:solidFill>
          <a:ln/>
        </p:spPr>
      </p:sp>
      <p:sp>
        <p:nvSpPr>
          <p:cNvPr id="41" name="Text 37"/>
          <p:cNvSpPr/>
          <p:nvPr/>
        </p:nvSpPr>
        <p:spPr>
          <a:xfrm>
            <a:off x="462915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42" name="Text 38"/>
          <p:cNvSpPr/>
          <p:nvPr/>
        </p:nvSpPr>
        <p:spPr>
          <a:xfrm>
            <a:off x="548640" y="498348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METRICS &amp; TREND (LAST 4 MONTHS)</a:t>
            </a:r>
            <a:endParaRPr lang="en-US" sz="1000" dirty="0"/>
          </a:p>
        </p:txBody>
      </p:sp>
      <p:sp>
        <p:nvSpPr>
          <p:cNvPr id="43" name="Shape 39"/>
          <p:cNvSpPr/>
          <p:nvPr/>
        </p:nvSpPr>
        <p:spPr>
          <a:xfrm>
            <a:off x="548640" y="5257800"/>
            <a:ext cx="1268730" cy="914400"/>
          </a:xfrm>
          <a:prstGeom prst="rect">
            <a:avLst/>
          </a:prstGeom>
          <a:solidFill>
            <a:srgbClr val="F6F8FB"/>
          </a:solidFill>
          <a:ln w="6350">
            <a:solidFill>
              <a:srgbClr val="D6DEE8"/>
            </a:solidFill>
            <a:prstDash val="solid"/>
          </a:ln>
        </p:spPr>
      </p:sp>
      <p:sp>
        <p:nvSpPr>
          <p:cNvPr id="44" name="Text 40"/>
          <p:cNvSpPr/>
          <p:nvPr/>
        </p:nvSpPr>
        <p:spPr>
          <a:xfrm>
            <a:off x="59436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45" name="Text 41"/>
          <p:cNvSpPr/>
          <p:nvPr/>
        </p:nvSpPr>
        <p:spPr>
          <a:xfrm>
            <a:off x="59436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IaC coverage %</a:t>
            </a:r>
            <a:endParaRPr lang="en-US" sz="850" dirty="0"/>
          </a:p>
        </p:txBody>
      </p:sp>
      <p:sp>
        <p:nvSpPr>
          <p:cNvPr id="46" name="Shape 42"/>
          <p:cNvSpPr/>
          <p:nvPr/>
        </p:nvSpPr>
        <p:spPr>
          <a:xfrm>
            <a:off x="713232" y="5971032"/>
            <a:ext cx="91440" cy="91440"/>
          </a:xfrm>
          <a:prstGeom prst="ellipse">
            <a:avLst/>
          </a:prstGeom>
          <a:solidFill>
            <a:srgbClr val="0051A5"/>
          </a:solidFill>
          <a:ln/>
        </p:spPr>
      </p:sp>
      <p:sp>
        <p:nvSpPr>
          <p:cNvPr id="47" name="Shape 43"/>
          <p:cNvSpPr/>
          <p:nvPr/>
        </p:nvSpPr>
        <p:spPr>
          <a:xfrm>
            <a:off x="1026414" y="5971032"/>
            <a:ext cx="91440" cy="91440"/>
          </a:xfrm>
          <a:prstGeom prst="ellipse">
            <a:avLst/>
          </a:prstGeom>
          <a:solidFill>
            <a:srgbClr val="0051A5"/>
          </a:solidFill>
          <a:ln/>
        </p:spPr>
      </p:sp>
      <p:sp>
        <p:nvSpPr>
          <p:cNvPr id="48" name="Shape 44"/>
          <p:cNvSpPr/>
          <p:nvPr/>
        </p:nvSpPr>
        <p:spPr>
          <a:xfrm>
            <a:off x="758952" y="6016752"/>
            <a:ext cx="313182" cy="0"/>
          </a:xfrm>
          <a:prstGeom prst="line">
            <a:avLst/>
          </a:prstGeom>
          <a:noFill/>
          <a:ln w="12700">
            <a:solidFill>
              <a:srgbClr val="0051A5"/>
            </a:solidFill>
            <a:prstDash val="solid"/>
          </a:ln>
        </p:spPr>
      </p:sp>
      <p:sp>
        <p:nvSpPr>
          <p:cNvPr id="49" name="Shape 45"/>
          <p:cNvSpPr/>
          <p:nvPr/>
        </p:nvSpPr>
        <p:spPr>
          <a:xfrm>
            <a:off x="1339596" y="5971032"/>
            <a:ext cx="91440" cy="91440"/>
          </a:xfrm>
          <a:prstGeom prst="ellipse">
            <a:avLst/>
          </a:prstGeom>
          <a:solidFill>
            <a:srgbClr val="0051A5"/>
          </a:solidFill>
          <a:ln/>
        </p:spPr>
      </p:sp>
      <p:sp>
        <p:nvSpPr>
          <p:cNvPr id="50" name="Shape 46"/>
          <p:cNvSpPr/>
          <p:nvPr/>
        </p:nvSpPr>
        <p:spPr>
          <a:xfrm>
            <a:off x="1072134" y="6016752"/>
            <a:ext cx="313182" cy="0"/>
          </a:xfrm>
          <a:prstGeom prst="line">
            <a:avLst/>
          </a:prstGeom>
          <a:noFill/>
          <a:ln w="12700">
            <a:solidFill>
              <a:srgbClr val="0051A5"/>
            </a:solidFill>
            <a:prstDash val="solid"/>
          </a:ln>
        </p:spPr>
      </p:sp>
      <p:sp>
        <p:nvSpPr>
          <p:cNvPr id="51" name="Shape 47"/>
          <p:cNvSpPr/>
          <p:nvPr/>
        </p:nvSpPr>
        <p:spPr>
          <a:xfrm>
            <a:off x="1652778" y="5971032"/>
            <a:ext cx="91440" cy="91440"/>
          </a:xfrm>
          <a:prstGeom prst="ellipse">
            <a:avLst/>
          </a:prstGeom>
          <a:solidFill>
            <a:srgbClr val="FEDF01"/>
          </a:solidFill>
          <a:ln/>
        </p:spPr>
      </p:sp>
      <p:sp>
        <p:nvSpPr>
          <p:cNvPr id="52" name="Shape 48"/>
          <p:cNvSpPr/>
          <p:nvPr/>
        </p:nvSpPr>
        <p:spPr>
          <a:xfrm>
            <a:off x="1385316" y="6016752"/>
            <a:ext cx="313182" cy="0"/>
          </a:xfrm>
          <a:prstGeom prst="line">
            <a:avLst/>
          </a:prstGeom>
          <a:noFill/>
          <a:ln w="12700">
            <a:solidFill>
              <a:srgbClr val="0051A5"/>
            </a:solidFill>
            <a:prstDash val="solid"/>
          </a:ln>
        </p:spPr>
      </p:sp>
      <p:sp>
        <p:nvSpPr>
          <p:cNvPr id="53" name="Shape 49"/>
          <p:cNvSpPr/>
          <p:nvPr/>
        </p:nvSpPr>
        <p:spPr>
          <a:xfrm>
            <a:off x="1908810" y="5257800"/>
            <a:ext cx="1268730" cy="914400"/>
          </a:xfrm>
          <a:prstGeom prst="rect">
            <a:avLst/>
          </a:prstGeom>
          <a:solidFill>
            <a:srgbClr val="F6F8FB"/>
          </a:solidFill>
          <a:ln w="6350">
            <a:solidFill>
              <a:srgbClr val="D6DEE8"/>
            </a:solidFill>
            <a:prstDash val="solid"/>
          </a:ln>
        </p:spPr>
      </p:sp>
      <p:sp>
        <p:nvSpPr>
          <p:cNvPr id="54" name="Text 50"/>
          <p:cNvSpPr/>
          <p:nvPr/>
        </p:nvSpPr>
        <p:spPr>
          <a:xfrm>
            <a:off x="195453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55" name="Text 51"/>
          <p:cNvSpPr/>
          <p:nvPr/>
        </p:nvSpPr>
        <p:spPr>
          <a:xfrm>
            <a:off x="195453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Drift incidents</a:t>
            </a:r>
            <a:endParaRPr lang="en-US" sz="850" dirty="0"/>
          </a:p>
        </p:txBody>
      </p:sp>
      <p:sp>
        <p:nvSpPr>
          <p:cNvPr id="56" name="Shape 52"/>
          <p:cNvSpPr/>
          <p:nvPr/>
        </p:nvSpPr>
        <p:spPr>
          <a:xfrm>
            <a:off x="2073402" y="5971032"/>
            <a:ext cx="91440" cy="91440"/>
          </a:xfrm>
          <a:prstGeom prst="ellipse">
            <a:avLst/>
          </a:prstGeom>
          <a:solidFill>
            <a:srgbClr val="0051A5"/>
          </a:solidFill>
          <a:ln/>
        </p:spPr>
      </p:sp>
      <p:sp>
        <p:nvSpPr>
          <p:cNvPr id="57" name="Shape 53"/>
          <p:cNvSpPr/>
          <p:nvPr/>
        </p:nvSpPr>
        <p:spPr>
          <a:xfrm>
            <a:off x="2386584" y="5971032"/>
            <a:ext cx="91440" cy="91440"/>
          </a:xfrm>
          <a:prstGeom prst="ellipse">
            <a:avLst/>
          </a:prstGeom>
          <a:solidFill>
            <a:srgbClr val="0051A5"/>
          </a:solidFill>
          <a:ln/>
        </p:spPr>
      </p:sp>
      <p:sp>
        <p:nvSpPr>
          <p:cNvPr id="58" name="Shape 54"/>
          <p:cNvSpPr/>
          <p:nvPr/>
        </p:nvSpPr>
        <p:spPr>
          <a:xfrm>
            <a:off x="2119122" y="6016752"/>
            <a:ext cx="313182" cy="0"/>
          </a:xfrm>
          <a:prstGeom prst="line">
            <a:avLst/>
          </a:prstGeom>
          <a:noFill/>
          <a:ln w="12700">
            <a:solidFill>
              <a:srgbClr val="0051A5"/>
            </a:solidFill>
            <a:prstDash val="solid"/>
          </a:ln>
        </p:spPr>
      </p:sp>
      <p:sp>
        <p:nvSpPr>
          <p:cNvPr id="59" name="Shape 55"/>
          <p:cNvSpPr/>
          <p:nvPr/>
        </p:nvSpPr>
        <p:spPr>
          <a:xfrm>
            <a:off x="2699766" y="5971032"/>
            <a:ext cx="91440" cy="91440"/>
          </a:xfrm>
          <a:prstGeom prst="ellipse">
            <a:avLst/>
          </a:prstGeom>
          <a:solidFill>
            <a:srgbClr val="0051A5"/>
          </a:solidFill>
          <a:ln/>
        </p:spPr>
      </p:sp>
      <p:sp>
        <p:nvSpPr>
          <p:cNvPr id="60" name="Shape 56"/>
          <p:cNvSpPr/>
          <p:nvPr/>
        </p:nvSpPr>
        <p:spPr>
          <a:xfrm>
            <a:off x="2432304" y="6016752"/>
            <a:ext cx="313182" cy="0"/>
          </a:xfrm>
          <a:prstGeom prst="line">
            <a:avLst/>
          </a:prstGeom>
          <a:noFill/>
          <a:ln w="12700">
            <a:solidFill>
              <a:srgbClr val="0051A5"/>
            </a:solidFill>
            <a:prstDash val="solid"/>
          </a:ln>
        </p:spPr>
      </p:sp>
      <p:sp>
        <p:nvSpPr>
          <p:cNvPr id="61" name="Shape 57"/>
          <p:cNvSpPr/>
          <p:nvPr/>
        </p:nvSpPr>
        <p:spPr>
          <a:xfrm>
            <a:off x="3012948" y="5971032"/>
            <a:ext cx="91440" cy="91440"/>
          </a:xfrm>
          <a:prstGeom prst="ellipse">
            <a:avLst/>
          </a:prstGeom>
          <a:solidFill>
            <a:srgbClr val="FEDF01"/>
          </a:solidFill>
          <a:ln/>
        </p:spPr>
      </p:sp>
      <p:sp>
        <p:nvSpPr>
          <p:cNvPr id="62" name="Shape 58"/>
          <p:cNvSpPr/>
          <p:nvPr/>
        </p:nvSpPr>
        <p:spPr>
          <a:xfrm>
            <a:off x="2745486" y="6016752"/>
            <a:ext cx="313182" cy="0"/>
          </a:xfrm>
          <a:prstGeom prst="line">
            <a:avLst/>
          </a:prstGeom>
          <a:noFill/>
          <a:ln w="12700">
            <a:solidFill>
              <a:srgbClr val="0051A5"/>
            </a:solidFill>
            <a:prstDash val="solid"/>
          </a:ln>
        </p:spPr>
      </p:sp>
      <p:sp>
        <p:nvSpPr>
          <p:cNvPr id="63" name="Shape 59"/>
          <p:cNvSpPr/>
          <p:nvPr/>
        </p:nvSpPr>
        <p:spPr>
          <a:xfrm>
            <a:off x="3268980" y="5257800"/>
            <a:ext cx="1268730" cy="914400"/>
          </a:xfrm>
          <a:prstGeom prst="rect">
            <a:avLst/>
          </a:prstGeom>
          <a:solidFill>
            <a:srgbClr val="F6F8FB"/>
          </a:solidFill>
          <a:ln w="6350">
            <a:solidFill>
              <a:srgbClr val="D6DEE8"/>
            </a:solidFill>
            <a:prstDash val="solid"/>
          </a:ln>
        </p:spPr>
      </p:sp>
      <p:sp>
        <p:nvSpPr>
          <p:cNvPr id="64" name="Text 60"/>
          <p:cNvSpPr/>
          <p:nvPr/>
        </p:nvSpPr>
        <p:spPr>
          <a:xfrm>
            <a:off x="331470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65" name="Text 61"/>
          <p:cNvSpPr/>
          <p:nvPr/>
        </p:nvSpPr>
        <p:spPr>
          <a:xfrm>
            <a:off x="331470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Open audit findings</a:t>
            </a:r>
            <a:endParaRPr lang="en-US" sz="850" dirty="0"/>
          </a:p>
        </p:txBody>
      </p:sp>
      <p:sp>
        <p:nvSpPr>
          <p:cNvPr id="66" name="Shape 62"/>
          <p:cNvSpPr/>
          <p:nvPr/>
        </p:nvSpPr>
        <p:spPr>
          <a:xfrm>
            <a:off x="3433572" y="5971032"/>
            <a:ext cx="91440" cy="91440"/>
          </a:xfrm>
          <a:prstGeom prst="ellipse">
            <a:avLst/>
          </a:prstGeom>
          <a:solidFill>
            <a:srgbClr val="0051A5"/>
          </a:solidFill>
          <a:ln/>
        </p:spPr>
      </p:sp>
      <p:sp>
        <p:nvSpPr>
          <p:cNvPr id="67" name="Shape 63"/>
          <p:cNvSpPr/>
          <p:nvPr/>
        </p:nvSpPr>
        <p:spPr>
          <a:xfrm>
            <a:off x="3746754" y="5971032"/>
            <a:ext cx="91440" cy="91440"/>
          </a:xfrm>
          <a:prstGeom prst="ellipse">
            <a:avLst/>
          </a:prstGeom>
          <a:solidFill>
            <a:srgbClr val="0051A5"/>
          </a:solidFill>
          <a:ln/>
        </p:spPr>
      </p:sp>
      <p:sp>
        <p:nvSpPr>
          <p:cNvPr id="68" name="Shape 64"/>
          <p:cNvSpPr/>
          <p:nvPr/>
        </p:nvSpPr>
        <p:spPr>
          <a:xfrm>
            <a:off x="3479292" y="6016752"/>
            <a:ext cx="313182" cy="0"/>
          </a:xfrm>
          <a:prstGeom prst="line">
            <a:avLst/>
          </a:prstGeom>
          <a:noFill/>
          <a:ln w="12700">
            <a:solidFill>
              <a:srgbClr val="0051A5"/>
            </a:solidFill>
            <a:prstDash val="solid"/>
          </a:ln>
        </p:spPr>
      </p:sp>
      <p:sp>
        <p:nvSpPr>
          <p:cNvPr id="69" name="Shape 65"/>
          <p:cNvSpPr/>
          <p:nvPr/>
        </p:nvSpPr>
        <p:spPr>
          <a:xfrm>
            <a:off x="4059936" y="5971032"/>
            <a:ext cx="91440" cy="91440"/>
          </a:xfrm>
          <a:prstGeom prst="ellipse">
            <a:avLst/>
          </a:prstGeom>
          <a:solidFill>
            <a:srgbClr val="0051A5"/>
          </a:solidFill>
          <a:ln/>
        </p:spPr>
      </p:sp>
      <p:sp>
        <p:nvSpPr>
          <p:cNvPr id="70" name="Shape 66"/>
          <p:cNvSpPr/>
          <p:nvPr/>
        </p:nvSpPr>
        <p:spPr>
          <a:xfrm>
            <a:off x="3792474" y="6016752"/>
            <a:ext cx="313182" cy="0"/>
          </a:xfrm>
          <a:prstGeom prst="line">
            <a:avLst/>
          </a:prstGeom>
          <a:noFill/>
          <a:ln w="12700">
            <a:solidFill>
              <a:srgbClr val="0051A5"/>
            </a:solidFill>
            <a:prstDash val="solid"/>
          </a:ln>
        </p:spPr>
      </p:sp>
      <p:sp>
        <p:nvSpPr>
          <p:cNvPr id="71" name="Shape 67"/>
          <p:cNvSpPr/>
          <p:nvPr/>
        </p:nvSpPr>
        <p:spPr>
          <a:xfrm>
            <a:off x="4373118" y="5971032"/>
            <a:ext cx="91440" cy="91440"/>
          </a:xfrm>
          <a:prstGeom prst="ellipse">
            <a:avLst/>
          </a:prstGeom>
          <a:solidFill>
            <a:srgbClr val="FEDF01"/>
          </a:solidFill>
          <a:ln/>
        </p:spPr>
      </p:sp>
      <p:sp>
        <p:nvSpPr>
          <p:cNvPr id="72" name="Shape 68"/>
          <p:cNvSpPr/>
          <p:nvPr/>
        </p:nvSpPr>
        <p:spPr>
          <a:xfrm>
            <a:off x="4105656" y="6016752"/>
            <a:ext cx="313182" cy="0"/>
          </a:xfrm>
          <a:prstGeom prst="line">
            <a:avLst/>
          </a:prstGeom>
          <a:noFill/>
          <a:ln w="12700">
            <a:solidFill>
              <a:srgbClr val="0051A5"/>
            </a:solidFill>
            <a:prstDash val="solid"/>
          </a:ln>
        </p:spPr>
      </p:sp>
      <p:sp>
        <p:nvSpPr>
          <p:cNvPr id="73" name="Shape 69"/>
          <p:cNvSpPr/>
          <p:nvPr/>
        </p:nvSpPr>
        <p:spPr>
          <a:xfrm>
            <a:off x="4629150" y="5257800"/>
            <a:ext cx="1268730" cy="914400"/>
          </a:xfrm>
          <a:prstGeom prst="rect">
            <a:avLst/>
          </a:prstGeom>
          <a:solidFill>
            <a:srgbClr val="F6F8FB"/>
          </a:solidFill>
          <a:ln w="6350">
            <a:solidFill>
              <a:srgbClr val="D6DEE8"/>
            </a:solidFill>
            <a:prstDash val="solid"/>
          </a:ln>
        </p:spPr>
      </p:sp>
      <p:sp>
        <p:nvSpPr>
          <p:cNvPr id="74" name="Text 70"/>
          <p:cNvSpPr/>
          <p:nvPr/>
        </p:nvSpPr>
        <p:spPr>
          <a:xfrm>
            <a:off x="467487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75" name="Text 71"/>
          <p:cNvSpPr/>
          <p:nvPr/>
        </p:nvSpPr>
        <p:spPr>
          <a:xfrm>
            <a:off x="467487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Utilization %</a:t>
            </a:r>
            <a:endParaRPr lang="en-US" sz="850" dirty="0"/>
          </a:p>
        </p:txBody>
      </p:sp>
      <p:sp>
        <p:nvSpPr>
          <p:cNvPr id="76" name="Shape 72"/>
          <p:cNvSpPr/>
          <p:nvPr/>
        </p:nvSpPr>
        <p:spPr>
          <a:xfrm>
            <a:off x="4793742" y="5971032"/>
            <a:ext cx="91440" cy="91440"/>
          </a:xfrm>
          <a:prstGeom prst="ellipse">
            <a:avLst/>
          </a:prstGeom>
          <a:solidFill>
            <a:srgbClr val="0051A5"/>
          </a:solidFill>
          <a:ln/>
        </p:spPr>
      </p:sp>
      <p:sp>
        <p:nvSpPr>
          <p:cNvPr id="77" name="Shape 73"/>
          <p:cNvSpPr/>
          <p:nvPr/>
        </p:nvSpPr>
        <p:spPr>
          <a:xfrm>
            <a:off x="5106924" y="5971032"/>
            <a:ext cx="91440" cy="91440"/>
          </a:xfrm>
          <a:prstGeom prst="ellipse">
            <a:avLst/>
          </a:prstGeom>
          <a:solidFill>
            <a:srgbClr val="0051A5"/>
          </a:solidFill>
          <a:ln/>
        </p:spPr>
      </p:sp>
      <p:sp>
        <p:nvSpPr>
          <p:cNvPr id="78" name="Shape 74"/>
          <p:cNvSpPr/>
          <p:nvPr/>
        </p:nvSpPr>
        <p:spPr>
          <a:xfrm>
            <a:off x="4839462" y="6016752"/>
            <a:ext cx="313182" cy="0"/>
          </a:xfrm>
          <a:prstGeom prst="line">
            <a:avLst/>
          </a:prstGeom>
          <a:noFill/>
          <a:ln w="12700">
            <a:solidFill>
              <a:srgbClr val="0051A5"/>
            </a:solidFill>
            <a:prstDash val="solid"/>
          </a:ln>
        </p:spPr>
      </p:sp>
      <p:sp>
        <p:nvSpPr>
          <p:cNvPr id="79" name="Shape 75"/>
          <p:cNvSpPr/>
          <p:nvPr/>
        </p:nvSpPr>
        <p:spPr>
          <a:xfrm>
            <a:off x="5420106" y="5971032"/>
            <a:ext cx="91440" cy="91440"/>
          </a:xfrm>
          <a:prstGeom prst="ellipse">
            <a:avLst/>
          </a:prstGeom>
          <a:solidFill>
            <a:srgbClr val="0051A5"/>
          </a:solidFill>
          <a:ln/>
        </p:spPr>
      </p:sp>
      <p:sp>
        <p:nvSpPr>
          <p:cNvPr id="80" name="Shape 76"/>
          <p:cNvSpPr/>
          <p:nvPr/>
        </p:nvSpPr>
        <p:spPr>
          <a:xfrm>
            <a:off x="5152644" y="6016752"/>
            <a:ext cx="313182" cy="0"/>
          </a:xfrm>
          <a:prstGeom prst="line">
            <a:avLst/>
          </a:prstGeom>
          <a:noFill/>
          <a:ln w="12700">
            <a:solidFill>
              <a:srgbClr val="0051A5"/>
            </a:solidFill>
            <a:prstDash val="solid"/>
          </a:ln>
        </p:spPr>
      </p:sp>
      <p:sp>
        <p:nvSpPr>
          <p:cNvPr id="81" name="Shape 77"/>
          <p:cNvSpPr/>
          <p:nvPr/>
        </p:nvSpPr>
        <p:spPr>
          <a:xfrm>
            <a:off x="5733288" y="5971032"/>
            <a:ext cx="91440" cy="91440"/>
          </a:xfrm>
          <a:prstGeom prst="ellipse">
            <a:avLst/>
          </a:prstGeom>
          <a:solidFill>
            <a:srgbClr val="FEDF01"/>
          </a:solidFill>
          <a:ln/>
        </p:spPr>
      </p:sp>
      <p:sp>
        <p:nvSpPr>
          <p:cNvPr id="82" name="Shape 78"/>
          <p:cNvSpPr/>
          <p:nvPr/>
        </p:nvSpPr>
        <p:spPr>
          <a:xfrm>
            <a:off x="5465826" y="6016752"/>
            <a:ext cx="313182" cy="0"/>
          </a:xfrm>
          <a:prstGeom prst="line">
            <a:avLst/>
          </a:prstGeom>
          <a:noFill/>
          <a:ln w="12700">
            <a:solidFill>
              <a:srgbClr val="0051A5"/>
            </a:solidFill>
            <a:prstDash val="solid"/>
          </a:ln>
        </p:spPr>
      </p:sp>
      <p:sp>
        <p:nvSpPr>
          <p:cNvPr id="83" name="Text 79"/>
          <p:cNvSpPr/>
          <p:nvPr/>
        </p:nvSpPr>
        <p:spPr>
          <a:xfrm>
            <a:off x="6126480" y="2514600"/>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KEY ACCOMPLISHMENTS — LAST 30 DAYS</a:t>
            </a:r>
            <a:endParaRPr lang="en-US" sz="1000" dirty="0"/>
          </a:p>
        </p:txBody>
      </p:sp>
      <p:sp>
        <p:nvSpPr>
          <p:cNvPr id="84" name="Text 80"/>
          <p:cNvSpPr/>
          <p:nvPr/>
        </p:nvSpPr>
        <p:spPr>
          <a:xfrm>
            <a:off x="6126480" y="2788920"/>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p:txBody>
      </p:sp>
      <p:sp>
        <p:nvSpPr>
          <p:cNvPr id="85" name="Text 81"/>
          <p:cNvSpPr/>
          <p:nvPr/>
        </p:nvSpPr>
        <p:spPr>
          <a:xfrm>
            <a:off x="6126480" y="3657600"/>
            <a:ext cx="22860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BLOCKERS &amp; RISKS</a:t>
            </a:r>
            <a:endParaRPr lang="en-US" sz="1000" dirty="0"/>
          </a:p>
        </p:txBody>
      </p:sp>
      <p:sp>
        <p:nvSpPr>
          <p:cNvPr id="86" name="Text 82"/>
          <p:cNvSpPr/>
          <p:nvPr/>
        </p:nvSpPr>
        <p:spPr>
          <a:xfrm>
            <a:off x="8458200" y="3657600"/>
            <a:ext cx="3154680" cy="228600"/>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blocker · severity · owner · ETA</a:t>
            </a:r>
            <a:endParaRPr lang="en-US" sz="900" dirty="0"/>
          </a:p>
        </p:txBody>
      </p:sp>
      <p:sp>
        <p:nvSpPr>
          <p:cNvPr id="87" name="Shape 83"/>
          <p:cNvSpPr/>
          <p:nvPr/>
        </p:nvSpPr>
        <p:spPr>
          <a:xfrm>
            <a:off x="6126480" y="3931920"/>
            <a:ext cx="5486400" cy="292608"/>
          </a:xfrm>
          <a:prstGeom prst="rect">
            <a:avLst/>
          </a:prstGeom>
          <a:solidFill>
            <a:srgbClr val="F6F8FB"/>
          </a:solidFill>
          <a:ln w="5080">
            <a:solidFill>
              <a:srgbClr val="D6DEE8"/>
            </a:solidFill>
            <a:prstDash val="solid"/>
          </a:ln>
        </p:spPr>
      </p:sp>
      <p:sp>
        <p:nvSpPr>
          <p:cNvPr id="88" name="Shape 84"/>
          <p:cNvSpPr/>
          <p:nvPr/>
        </p:nvSpPr>
        <p:spPr>
          <a:xfrm>
            <a:off x="6126480" y="3931920"/>
            <a:ext cx="54864" cy="292608"/>
          </a:xfrm>
          <a:prstGeom prst="rect">
            <a:avLst/>
          </a:prstGeom>
          <a:solidFill>
            <a:srgbClr val="B91C1C"/>
          </a:solidFill>
          <a:ln/>
        </p:spPr>
      </p:sp>
      <p:sp>
        <p:nvSpPr>
          <p:cNvPr id="89" name="Text 85"/>
          <p:cNvSpPr/>
          <p:nvPr/>
        </p:nvSpPr>
        <p:spPr>
          <a:xfrm>
            <a:off x="6263640" y="3931920"/>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0" name="Text 86"/>
          <p:cNvSpPr/>
          <p:nvPr/>
        </p:nvSpPr>
        <p:spPr>
          <a:xfrm>
            <a:off x="9052560" y="3931920"/>
            <a:ext cx="365760" cy="292608"/>
          </a:xfrm>
          <a:prstGeom prst="rect">
            <a:avLst/>
          </a:prstGeom>
          <a:noFill/>
          <a:ln/>
        </p:spPr>
        <p:txBody>
          <a:bodyPr wrap="square" lIns="0" tIns="0" rIns="0" bIns="0" rtlCol="0" anchor="ctr"/>
          <a:lstStyle/>
          <a:p>
            <a:pPr algn="ctr" indent="0" marL="0">
              <a:buNone/>
            </a:pPr>
            <a:r>
              <a:rPr lang="en-US" sz="1100" b="1" dirty="0">
                <a:solidFill>
                  <a:srgbClr val="B91C1C"/>
                </a:solidFill>
                <a:latin typeface="Trebuchet MS" pitchFamily="34" charset="0"/>
                <a:ea typeface="Trebuchet MS" pitchFamily="34" charset="-122"/>
                <a:cs typeface="Trebuchet MS" pitchFamily="34" charset="-120"/>
              </a:rPr>
              <a:t>H</a:t>
            </a:r>
            <a:endParaRPr lang="en-US" sz="1100" dirty="0"/>
          </a:p>
        </p:txBody>
      </p:sp>
      <p:sp>
        <p:nvSpPr>
          <p:cNvPr id="91" name="Text 87"/>
          <p:cNvSpPr/>
          <p:nvPr/>
        </p:nvSpPr>
        <p:spPr>
          <a:xfrm>
            <a:off x="9464040" y="3931920"/>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2" name="Text 88"/>
          <p:cNvSpPr/>
          <p:nvPr/>
        </p:nvSpPr>
        <p:spPr>
          <a:xfrm>
            <a:off x="10652760" y="3931920"/>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3" name="Shape 89"/>
          <p:cNvSpPr/>
          <p:nvPr/>
        </p:nvSpPr>
        <p:spPr>
          <a:xfrm>
            <a:off x="6126480" y="4261104"/>
            <a:ext cx="5486400" cy="292608"/>
          </a:xfrm>
          <a:prstGeom prst="rect">
            <a:avLst/>
          </a:prstGeom>
          <a:solidFill>
            <a:srgbClr val="F6F8FB"/>
          </a:solidFill>
          <a:ln w="5080">
            <a:solidFill>
              <a:srgbClr val="D6DEE8"/>
            </a:solidFill>
            <a:prstDash val="solid"/>
          </a:ln>
        </p:spPr>
      </p:sp>
      <p:sp>
        <p:nvSpPr>
          <p:cNvPr id="94" name="Shape 90"/>
          <p:cNvSpPr/>
          <p:nvPr/>
        </p:nvSpPr>
        <p:spPr>
          <a:xfrm>
            <a:off x="6126480" y="4261104"/>
            <a:ext cx="54864" cy="292608"/>
          </a:xfrm>
          <a:prstGeom prst="rect">
            <a:avLst/>
          </a:prstGeom>
          <a:solidFill>
            <a:srgbClr val="C97A00"/>
          </a:solidFill>
          <a:ln/>
        </p:spPr>
      </p:sp>
      <p:sp>
        <p:nvSpPr>
          <p:cNvPr id="95" name="Text 91"/>
          <p:cNvSpPr/>
          <p:nvPr/>
        </p:nvSpPr>
        <p:spPr>
          <a:xfrm>
            <a:off x="6263640" y="4261104"/>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6" name="Text 92"/>
          <p:cNvSpPr/>
          <p:nvPr/>
        </p:nvSpPr>
        <p:spPr>
          <a:xfrm>
            <a:off x="9052560" y="4261104"/>
            <a:ext cx="365760" cy="292608"/>
          </a:xfrm>
          <a:prstGeom prst="rect">
            <a:avLst/>
          </a:prstGeom>
          <a:noFill/>
          <a:ln/>
        </p:spPr>
        <p:txBody>
          <a:bodyPr wrap="square" lIns="0" tIns="0" rIns="0" bIns="0" rtlCol="0" anchor="ctr"/>
          <a:lstStyle/>
          <a:p>
            <a:pPr algn="ctr" indent="0" marL="0">
              <a:buNone/>
            </a:pPr>
            <a:r>
              <a:rPr lang="en-US" sz="1100" b="1" dirty="0">
                <a:solidFill>
                  <a:srgbClr val="C97A00"/>
                </a:solidFill>
                <a:latin typeface="Trebuchet MS" pitchFamily="34" charset="0"/>
                <a:ea typeface="Trebuchet MS" pitchFamily="34" charset="-122"/>
                <a:cs typeface="Trebuchet MS" pitchFamily="34" charset="-120"/>
              </a:rPr>
              <a:t>M</a:t>
            </a:r>
            <a:endParaRPr lang="en-US" sz="1100" dirty="0"/>
          </a:p>
        </p:txBody>
      </p:sp>
      <p:sp>
        <p:nvSpPr>
          <p:cNvPr id="97" name="Text 93"/>
          <p:cNvSpPr/>
          <p:nvPr/>
        </p:nvSpPr>
        <p:spPr>
          <a:xfrm>
            <a:off x="9464040" y="4261104"/>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8" name="Text 94"/>
          <p:cNvSpPr/>
          <p:nvPr/>
        </p:nvSpPr>
        <p:spPr>
          <a:xfrm>
            <a:off x="10652760" y="4261104"/>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9" name="Text 95"/>
          <p:cNvSpPr/>
          <p:nvPr/>
        </p:nvSpPr>
        <p:spPr>
          <a:xfrm>
            <a:off x="6126480" y="4681728"/>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NEXT 30 DAYS — KEY DELIVERABLES</a:t>
            </a:r>
            <a:endParaRPr lang="en-US" sz="1000" dirty="0"/>
          </a:p>
        </p:txBody>
      </p:sp>
      <p:sp>
        <p:nvSpPr>
          <p:cNvPr id="100" name="Text 96"/>
          <p:cNvSpPr/>
          <p:nvPr/>
        </p:nvSpPr>
        <p:spPr>
          <a:xfrm>
            <a:off x="6126480" y="4956048"/>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p:txBody>
      </p:sp>
      <p:sp>
        <p:nvSpPr>
          <p:cNvPr id="101" name="Shape 97"/>
          <p:cNvSpPr/>
          <p:nvPr/>
        </p:nvSpPr>
        <p:spPr>
          <a:xfrm>
            <a:off x="6126480" y="5824728"/>
            <a:ext cx="5486400" cy="594360"/>
          </a:xfrm>
          <a:prstGeom prst="rect">
            <a:avLst/>
          </a:prstGeom>
          <a:solidFill>
            <a:srgbClr val="001F47"/>
          </a:solidFill>
          <a:ln/>
        </p:spPr>
      </p:sp>
      <p:sp>
        <p:nvSpPr>
          <p:cNvPr id="102" name="Text 98"/>
          <p:cNvSpPr/>
          <p:nvPr/>
        </p:nvSpPr>
        <p:spPr>
          <a:xfrm>
            <a:off x="6309360" y="5879592"/>
            <a:ext cx="521208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ASK FROM STEERING</a:t>
            </a:r>
            <a:endParaRPr lang="en-US" sz="900" dirty="0"/>
          </a:p>
        </p:txBody>
      </p:sp>
      <p:sp>
        <p:nvSpPr>
          <p:cNvPr id="103" name="Text 99"/>
          <p:cNvSpPr/>
          <p:nvPr/>
        </p:nvSpPr>
        <p:spPr>
          <a:xfrm>
            <a:off x="6309360" y="6080760"/>
            <a:ext cx="521208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Decision needed, by when ]</a:t>
            </a:r>
            <a:endParaRPr lang="en-US" sz="1100" dirty="0"/>
          </a:p>
        </p:txBody>
      </p:sp>
      <p:sp>
        <p:nvSpPr>
          <p:cNvPr id="104" name="Text 10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12 / 30</a:t>
            </a:r>
            <a:endParaRPr lang="en-US" sz="900" dirty="0"/>
          </a:p>
        </p:txBody>
      </p:sp>
      <p:sp>
        <p:nvSpPr>
          <p:cNvPr id="105" name="Text 10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11  ·  DATABASE METRICS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Database — what we track</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Health dimensions tracked across all engines — these roll up into the headline RAG status.</a:t>
            </a:r>
            <a:endParaRPr lang="en-US" sz="1300" dirty="0"/>
          </a:p>
        </p:txBody>
      </p:sp>
      <p:sp>
        <p:nvSpPr>
          <p:cNvPr id="7" name="Shape 4"/>
          <p:cNvSpPr/>
          <p:nvPr/>
        </p:nvSpPr>
        <p:spPr>
          <a:xfrm>
            <a:off x="548640" y="1920240"/>
            <a:ext cx="2663190" cy="2194560"/>
          </a:xfrm>
          <a:prstGeom prst="rect">
            <a:avLst/>
          </a:prstGeom>
          <a:solidFill>
            <a:srgbClr val="FFFFFF"/>
          </a:solidFill>
          <a:ln w="7620">
            <a:solidFill>
              <a:srgbClr val="D6DEE8"/>
            </a:solidFill>
            <a:prstDash val="solid"/>
          </a:ln>
        </p:spPr>
      </p:sp>
      <p:sp>
        <p:nvSpPr>
          <p:cNvPr id="8" name="Shape 5"/>
          <p:cNvSpPr/>
          <p:nvPr/>
        </p:nvSpPr>
        <p:spPr>
          <a:xfrm>
            <a:off x="548640" y="1920240"/>
            <a:ext cx="2663190" cy="384048"/>
          </a:xfrm>
          <a:prstGeom prst="rect">
            <a:avLst/>
          </a:prstGeom>
          <a:solidFill>
            <a:srgbClr val="0051A5"/>
          </a:solidFill>
          <a:ln/>
        </p:spPr>
      </p:sp>
      <p:pic>
        <p:nvPicPr>
          <p:cNvPr id="9" name="Image 1" descr="preencoded.png">    </p:cNvPr>
          <p:cNvPicPr>
            <a:picLocks noChangeAspect="1"/>
          </p:cNvPicPr>
          <p:nvPr/>
        </p:nvPicPr>
        <p:blipFill>
          <a:blip r:embed="rId2"/>
          <a:stretch>
            <a:fillRect/>
          </a:stretch>
        </p:blipFill>
        <p:spPr>
          <a:xfrm>
            <a:off x="685800" y="2011680"/>
            <a:ext cx="201168" cy="201168"/>
          </a:xfrm>
          <a:prstGeom prst="rect">
            <a:avLst/>
          </a:prstGeom>
        </p:spPr>
      </p:pic>
      <p:sp>
        <p:nvSpPr>
          <p:cNvPr id="10" name="Text 6"/>
          <p:cNvSpPr/>
          <p:nvPr/>
        </p:nvSpPr>
        <p:spPr>
          <a:xfrm>
            <a:off x="960120" y="192024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Reliability &amp; DR</a:t>
            </a:r>
            <a:endParaRPr lang="en-US" sz="1200" dirty="0"/>
          </a:p>
        </p:txBody>
      </p:sp>
      <p:sp>
        <p:nvSpPr>
          <p:cNvPr id="11" name="Text 7"/>
          <p:cNvSpPr/>
          <p:nvPr/>
        </p:nvSpPr>
        <p:spPr>
          <a:xfrm>
            <a:off x="685800" y="237744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Did it stay up? Will it survive failure?</a:t>
            </a:r>
            <a:endParaRPr lang="en-US" sz="950" dirty="0"/>
          </a:p>
        </p:txBody>
      </p:sp>
      <p:sp>
        <p:nvSpPr>
          <p:cNvPr id="12" name="Text 8"/>
          <p:cNvSpPr/>
          <p:nvPr/>
        </p:nvSpPr>
        <p:spPr>
          <a:xfrm>
            <a:off x="640080" y="269748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Uptime / SLA per engine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Failover events (planned / unplanned)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Backup success rate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DR drill posture · last test date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Replication lag</a:t>
            </a:r>
            <a:endParaRPr lang="en-US" sz="1000" dirty="0"/>
          </a:p>
        </p:txBody>
      </p:sp>
      <p:sp>
        <p:nvSpPr>
          <p:cNvPr id="13" name="Shape 9"/>
          <p:cNvSpPr/>
          <p:nvPr/>
        </p:nvSpPr>
        <p:spPr>
          <a:xfrm>
            <a:off x="3348990" y="1920240"/>
            <a:ext cx="2663190" cy="2194560"/>
          </a:xfrm>
          <a:prstGeom prst="rect">
            <a:avLst/>
          </a:prstGeom>
          <a:solidFill>
            <a:srgbClr val="FFFFFF"/>
          </a:solidFill>
          <a:ln w="7620">
            <a:solidFill>
              <a:srgbClr val="D6DEE8"/>
            </a:solidFill>
            <a:prstDash val="solid"/>
          </a:ln>
        </p:spPr>
      </p:sp>
      <p:sp>
        <p:nvSpPr>
          <p:cNvPr id="14" name="Shape 10"/>
          <p:cNvSpPr/>
          <p:nvPr/>
        </p:nvSpPr>
        <p:spPr>
          <a:xfrm>
            <a:off x="3348990" y="1920240"/>
            <a:ext cx="2663190" cy="384048"/>
          </a:xfrm>
          <a:prstGeom prst="rect">
            <a:avLst/>
          </a:prstGeom>
          <a:solidFill>
            <a:srgbClr val="0051A5"/>
          </a:solidFill>
          <a:ln/>
        </p:spPr>
      </p:sp>
      <p:pic>
        <p:nvPicPr>
          <p:cNvPr id="15" name="Image 2" descr="preencoded.png">    </p:cNvPr>
          <p:cNvPicPr>
            <a:picLocks noChangeAspect="1"/>
          </p:cNvPicPr>
          <p:nvPr/>
        </p:nvPicPr>
        <p:blipFill>
          <a:blip r:embed="rId3"/>
          <a:stretch>
            <a:fillRect/>
          </a:stretch>
        </p:blipFill>
        <p:spPr>
          <a:xfrm>
            <a:off x="3486150" y="2011680"/>
            <a:ext cx="201168" cy="201168"/>
          </a:xfrm>
          <a:prstGeom prst="rect">
            <a:avLst/>
          </a:prstGeom>
        </p:spPr>
      </p:pic>
      <p:sp>
        <p:nvSpPr>
          <p:cNvPr id="16" name="Text 11"/>
          <p:cNvSpPr/>
          <p:nvPr/>
        </p:nvSpPr>
        <p:spPr>
          <a:xfrm>
            <a:off x="3760470" y="192024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Performance</a:t>
            </a:r>
            <a:endParaRPr lang="en-US" sz="1200" dirty="0"/>
          </a:p>
        </p:txBody>
      </p:sp>
      <p:sp>
        <p:nvSpPr>
          <p:cNvPr id="17" name="Text 12"/>
          <p:cNvSpPr/>
          <p:nvPr/>
        </p:nvSpPr>
        <p:spPr>
          <a:xfrm>
            <a:off x="3486150" y="237744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Are queries fast enough?</a:t>
            </a:r>
            <a:endParaRPr lang="en-US" sz="950" dirty="0"/>
          </a:p>
        </p:txBody>
      </p:sp>
      <p:sp>
        <p:nvSpPr>
          <p:cNvPr id="18" name="Text 13"/>
          <p:cNvSpPr/>
          <p:nvPr/>
        </p:nvSpPr>
        <p:spPr>
          <a:xfrm>
            <a:off x="3440430" y="269748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Query latency p95 / p99</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Slow query count (trend)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Connection pool saturation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Cache hit ratio</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Top problematic queries</a:t>
            </a:r>
            <a:endParaRPr lang="en-US" sz="1000" dirty="0"/>
          </a:p>
        </p:txBody>
      </p:sp>
      <p:sp>
        <p:nvSpPr>
          <p:cNvPr id="19" name="Shape 14"/>
          <p:cNvSpPr/>
          <p:nvPr/>
        </p:nvSpPr>
        <p:spPr>
          <a:xfrm>
            <a:off x="6149340" y="1920240"/>
            <a:ext cx="2663190" cy="2194560"/>
          </a:xfrm>
          <a:prstGeom prst="rect">
            <a:avLst/>
          </a:prstGeom>
          <a:solidFill>
            <a:srgbClr val="FFFFFF"/>
          </a:solidFill>
          <a:ln w="7620">
            <a:solidFill>
              <a:srgbClr val="D6DEE8"/>
            </a:solidFill>
            <a:prstDash val="solid"/>
          </a:ln>
        </p:spPr>
      </p:sp>
      <p:sp>
        <p:nvSpPr>
          <p:cNvPr id="20" name="Shape 15"/>
          <p:cNvSpPr/>
          <p:nvPr/>
        </p:nvSpPr>
        <p:spPr>
          <a:xfrm>
            <a:off x="6149340" y="1920240"/>
            <a:ext cx="2663190" cy="384048"/>
          </a:xfrm>
          <a:prstGeom prst="rect">
            <a:avLst/>
          </a:prstGeom>
          <a:solidFill>
            <a:srgbClr val="0051A5"/>
          </a:solidFill>
          <a:ln/>
        </p:spPr>
      </p:sp>
      <p:pic>
        <p:nvPicPr>
          <p:cNvPr id="21" name="Image 3" descr="preencoded.png">    </p:cNvPr>
          <p:cNvPicPr>
            <a:picLocks noChangeAspect="1"/>
          </p:cNvPicPr>
          <p:nvPr/>
        </p:nvPicPr>
        <p:blipFill>
          <a:blip r:embed="rId4"/>
          <a:stretch>
            <a:fillRect/>
          </a:stretch>
        </p:blipFill>
        <p:spPr>
          <a:xfrm>
            <a:off x="6286500" y="2011680"/>
            <a:ext cx="201168" cy="201168"/>
          </a:xfrm>
          <a:prstGeom prst="rect">
            <a:avLst/>
          </a:prstGeom>
        </p:spPr>
      </p:pic>
      <p:sp>
        <p:nvSpPr>
          <p:cNvPr id="22" name="Text 16"/>
          <p:cNvSpPr/>
          <p:nvPr/>
        </p:nvSpPr>
        <p:spPr>
          <a:xfrm>
            <a:off x="6560820" y="192024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Capacity &amp; Growth</a:t>
            </a:r>
            <a:endParaRPr lang="en-US" sz="1200" dirty="0"/>
          </a:p>
        </p:txBody>
      </p:sp>
      <p:sp>
        <p:nvSpPr>
          <p:cNvPr id="23" name="Text 17"/>
          <p:cNvSpPr/>
          <p:nvPr/>
        </p:nvSpPr>
        <p:spPr>
          <a:xfrm>
            <a:off x="6286500" y="237744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Are we ahead of demand?</a:t>
            </a:r>
            <a:endParaRPr lang="en-US" sz="950" dirty="0"/>
          </a:p>
        </p:txBody>
      </p:sp>
      <p:sp>
        <p:nvSpPr>
          <p:cNvPr id="24" name="Text 18"/>
          <p:cNvSpPr/>
          <p:nvPr/>
        </p:nvSpPr>
        <p:spPr>
          <a:xfrm>
            <a:off x="6240780" y="269748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Storage utilization %</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Days-to-full projection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Peak CPU / memory headroom</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Growth rate vs forecast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Connection utilization</a:t>
            </a:r>
            <a:endParaRPr lang="en-US" sz="1000" dirty="0"/>
          </a:p>
        </p:txBody>
      </p:sp>
      <p:sp>
        <p:nvSpPr>
          <p:cNvPr id="25" name="Shape 19"/>
          <p:cNvSpPr/>
          <p:nvPr/>
        </p:nvSpPr>
        <p:spPr>
          <a:xfrm>
            <a:off x="8949690" y="1920240"/>
            <a:ext cx="2663190" cy="2194560"/>
          </a:xfrm>
          <a:prstGeom prst="rect">
            <a:avLst/>
          </a:prstGeom>
          <a:solidFill>
            <a:srgbClr val="FFFFFF"/>
          </a:solidFill>
          <a:ln w="7620">
            <a:solidFill>
              <a:srgbClr val="D6DEE8"/>
            </a:solidFill>
            <a:prstDash val="solid"/>
          </a:ln>
        </p:spPr>
      </p:sp>
      <p:sp>
        <p:nvSpPr>
          <p:cNvPr id="26" name="Shape 20"/>
          <p:cNvSpPr/>
          <p:nvPr/>
        </p:nvSpPr>
        <p:spPr>
          <a:xfrm>
            <a:off x="8949690" y="1920240"/>
            <a:ext cx="2663190" cy="384048"/>
          </a:xfrm>
          <a:prstGeom prst="rect">
            <a:avLst/>
          </a:prstGeom>
          <a:solidFill>
            <a:srgbClr val="0051A5"/>
          </a:solidFill>
          <a:ln/>
        </p:spPr>
      </p:sp>
      <p:pic>
        <p:nvPicPr>
          <p:cNvPr id="27" name="Image 4" descr="preencoded.png">    </p:cNvPr>
          <p:cNvPicPr>
            <a:picLocks noChangeAspect="1"/>
          </p:cNvPicPr>
          <p:nvPr/>
        </p:nvPicPr>
        <p:blipFill>
          <a:blip r:embed="rId5"/>
          <a:stretch>
            <a:fillRect/>
          </a:stretch>
        </p:blipFill>
        <p:spPr>
          <a:xfrm>
            <a:off x="9086850" y="2011680"/>
            <a:ext cx="201168" cy="201168"/>
          </a:xfrm>
          <a:prstGeom prst="rect">
            <a:avLst/>
          </a:prstGeom>
        </p:spPr>
      </p:pic>
      <p:sp>
        <p:nvSpPr>
          <p:cNvPr id="28" name="Text 21"/>
          <p:cNvSpPr/>
          <p:nvPr/>
        </p:nvSpPr>
        <p:spPr>
          <a:xfrm>
            <a:off x="9361170" y="192024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Security &amp; Compliance</a:t>
            </a:r>
            <a:endParaRPr lang="en-US" sz="1200" dirty="0"/>
          </a:p>
        </p:txBody>
      </p:sp>
      <p:sp>
        <p:nvSpPr>
          <p:cNvPr id="29" name="Text 22"/>
          <p:cNvSpPr/>
          <p:nvPr/>
        </p:nvSpPr>
        <p:spPr>
          <a:xfrm>
            <a:off x="9086850" y="237744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Patched, controlled, audit-ready?</a:t>
            </a:r>
            <a:endParaRPr lang="en-US" sz="950" dirty="0"/>
          </a:p>
        </p:txBody>
      </p:sp>
      <p:sp>
        <p:nvSpPr>
          <p:cNvPr id="30" name="Text 23"/>
          <p:cNvSpPr/>
          <p:nvPr/>
        </p:nvSpPr>
        <p:spPr>
          <a:xfrm>
            <a:off x="9041130" y="269748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Patch compliance % (Vuln &amp; Patch Mgmt)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End-of-life engine count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Privileged access reviews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Encryption coverage (rest / transit)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Open audit findings</a:t>
            </a:r>
            <a:endParaRPr lang="en-US" sz="1000" dirty="0"/>
          </a:p>
        </p:txBody>
      </p:sp>
      <p:sp>
        <p:nvSpPr>
          <p:cNvPr id="31" name="Shape 24"/>
          <p:cNvSpPr/>
          <p:nvPr/>
        </p:nvSpPr>
        <p:spPr>
          <a:xfrm>
            <a:off x="548640" y="4251960"/>
            <a:ext cx="2663190" cy="2194560"/>
          </a:xfrm>
          <a:prstGeom prst="rect">
            <a:avLst/>
          </a:prstGeom>
          <a:solidFill>
            <a:srgbClr val="FFFFFF"/>
          </a:solidFill>
          <a:ln w="7620">
            <a:solidFill>
              <a:srgbClr val="D6DEE8"/>
            </a:solidFill>
            <a:prstDash val="solid"/>
          </a:ln>
        </p:spPr>
      </p:sp>
      <p:sp>
        <p:nvSpPr>
          <p:cNvPr id="32" name="Shape 25"/>
          <p:cNvSpPr/>
          <p:nvPr/>
        </p:nvSpPr>
        <p:spPr>
          <a:xfrm>
            <a:off x="548640" y="4251960"/>
            <a:ext cx="2663190" cy="384048"/>
          </a:xfrm>
          <a:prstGeom prst="rect">
            <a:avLst/>
          </a:prstGeom>
          <a:solidFill>
            <a:srgbClr val="0051A5"/>
          </a:solidFill>
          <a:ln/>
        </p:spPr>
      </p:sp>
      <p:pic>
        <p:nvPicPr>
          <p:cNvPr id="33" name="Image 5" descr="preencoded.png">    </p:cNvPr>
          <p:cNvPicPr>
            <a:picLocks noChangeAspect="1"/>
          </p:cNvPicPr>
          <p:nvPr/>
        </p:nvPicPr>
        <p:blipFill>
          <a:blip r:embed="rId6"/>
          <a:stretch>
            <a:fillRect/>
          </a:stretch>
        </p:blipFill>
        <p:spPr>
          <a:xfrm>
            <a:off x="685800" y="4343400"/>
            <a:ext cx="201168" cy="201168"/>
          </a:xfrm>
          <a:prstGeom prst="rect">
            <a:avLst/>
          </a:prstGeom>
        </p:spPr>
      </p:pic>
      <p:sp>
        <p:nvSpPr>
          <p:cNvPr id="34" name="Text 26"/>
          <p:cNvSpPr/>
          <p:nvPr/>
        </p:nvSpPr>
        <p:spPr>
          <a:xfrm>
            <a:off x="960120" y="425196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IaC &amp; Drift</a:t>
            </a:r>
            <a:endParaRPr lang="en-US" sz="1200" dirty="0"/>
          </a:p>
        </p:txBody>
      </p:sp>
      <p:sp>
        <p:nvSpPr>
          <p:cNvPr id="35" name="Text 27"/>
          <p:cNvSpPr/>
          <p:nvPr/>
        </p:nvSpPr>
        <p:spPr>
          <a:xfrm>
            <a:off x="685800" y="470916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Is the estate codified and converging?</a:t>
            </a:r>
            <a:endParaRPr lang="en-US" sz="950" dirty="0"/>
          </a:p>
        </p:txBody>
      </p:sp>
      <p:sp>
        <p:nvSpPr>
          <p:cNvPr id="36" name="Text 28"/>
          <p:cNvSpPr/>
          <p:nvPr/>
        </p:nvSpPr>
        <p:spPr>
          <a:xfrm>
            <a:off x="640080" y="502920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 estate under Zephyr IaC</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Drift incidents per month</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Policy violations (caught vs missed)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Mean time to provision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Pipeline success rate</a:t>
            </a:r>
            <a:endParaRPr lang="en-US" sz="1000" dirty="0"/>
          </a:p>
        </p:txBody>
      </p:sp>
      <p:sp>
        <p:nvSpPr>
          <p:cNvPr id="37" name="Shape 29"/>
          <p:cNvSpPr/>
          <p:nvPr/>
        </p:nvSpPr>
        <p:spPr>
          <a:xfrm>
            <a:off x="3348990" y="4251960"/>
            <a:ext cx="2663190" cy="2194560"/>
          </a:xfrm>
          <a:prstGeom prst="rect">
            <a:avLst/>
          </a:prstGeom>
          <a:solidFill>
            <a:srgbClr val="FFFFFF"/>
          </a:solidFill>
          <a:ln w="7620">
            <a:solidFill>
              <a:srgbClr val="D6DEE8"/>
            </a:solidFill>
            <a:prstDash val="solid"/>
          </a:ln>
        </p:spPr>
      </p:sp>
      <p:sp>
        <p:nvSpPr>
          <p:cNvPr id="38" name="Shape 30"/>
          <p:cNvSpPr/>
          <p:nvPr/>
        </p:nvSpPr>
        <p:spPr>
          <a:xfrm>
            <a:off x="3348990" y="4251960"/>
            <a:ext cx="2663190" cy="384048"/>
          </a:xfrm>
          <a:prstGeom prst="rect">
            <a:avLst/>
          </a:prstGeom>
          <a:solidFill>
            <a:srgbClr val="0051A5"/>
          </a:solidFill>
          <a:ln/>
        </p:spPr>
      </p:sp>
      <p:pic>
        <p:nvPicPr>
          <p:cNvPr id="39" name="Image 6" descr="preencoded.png">    </p:cNvPr>
          <p:cNvPicPr>
            <a:picLocks noChangeAspect="1"/>
          </p:cNvPicPr>
          <p:nvPr/>
        </p:nvPicPr>
        <p:blipFill>
          <a:blip r:embed="rId7"/>
          <a:stretch>
            <a:fillRect/>
          </a:stretch>
        </p:blipFill>
        <p:spPr>
          <a:xfrm>
            <a:off x="3486150" y="4343400"/>
            <a:ext cx="201168" cy="201168"/>
          </a:xfrm>
          <a:prstGeom prst="rect">
            <a:avLst/>
          </a:prstGeom>
        </p:spPr>
      </p:pic>
      <p:sp>
        <p:nvSpPr>
          <p:cNvPr id="40" name="Text 31"/>
          <p:cNvSpPr/>
          <p:nvPr/>
        </p:nvSpPr>
        <p:spPr>
          <a:xfrm>
            <a:off x="3760470" y="425196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Incidents &amp; Toil</a:t>
            </a:r>
            <a:endParaRPr lang="en-US" sz="1200" dirty="0"/>
          </a:p>
        </p:txBody>
      </p:sp>
      <p:sp>
        <p:nvSpPr>
          <p:cNvPr id="41" name="Text 32"/>
          <p:cNvSpPr/>
          <p:nvPr/>
        </p:nvSpPr>
        <p:spPr>
          <a:xfrm>
            <a:off x="3486150" y="470916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What's burning, and how much human time?</a:t>
            </a:r>
            <a:endParaRPr lang="en-US" sz="950" dirty="0"/>
          </a:p>
        </p:txBody>
      </p:sp>
      <p:sp>
        <p:nvSpPr>
          <p:cNvPr id="42" name="Text 33"/>
          <p:cNvSpPr/>
          <p:nvPr/>
        </p:nvSpPr>
        <p:spPr>
          <a:xfrm>
            <a:off x="3440430" y="502920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P1 / P2 incident count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MTTR by severity</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Toil hours per week</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Incidents auto-resolved by agents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Production bugs raised by Ops</a:t>
            </a:r>
            <a:endParaRPr lang="en-US" sz="1000" dirty="0"/>
          </a:p>
        </p:txBody>
      </p:sp>
      <p:sp>
        <p:nvSpPr>
          <p:cNvPr id="43" name="Shape 34"/>
          <p:cNvSpPr/>
          <p:nvPr/>
        </p:nvSpPr>
        <p:spPr>
          <a:xfrm>
            <a:off x="6149340" y="4251960"/>
            <a:ext cx="2663190" cy="2194560"/>
          </a:xfrm>
          <a:prstGeom prst="rect">
            <a:avLst/>
          </a:prstGeom>
          <a:solidFill>
            <a:srgbClr val="FFFFFF"/>
          </a:solidFill>
          <a:ln w="7620">
            <a:solidFill>
              <a:srgbClr val="D6DEE8"/>
            </a:solidFill>
            <a:prstDash val="solid"/>
          </a:ln>
        </p:spPr>
      </p:sp>
      <p:sp>
        <p:nvSpPr>
          <p:cNvPr id="44" name="Shape 35"/>
          <p:cNvSpPr/>
          <p:nvPr/>
        </p:nvSpPr>
        <p:spPr>
          <a:xfrm>
            <a:off x="6149340" y="4251960"/>
            <a:ext cx="2663190" cy="384048"/>
          </a:xfrm>
          <a:prstGeom prst="rect">
            <a:avLst/>
          </a:prstGeom>
          <a:solidFill>
            <a:srgbClr val="0051A5"/>
          </a:solidFill>
          <a:ln/>
        </p:spPr>
      </p:sp>
      <p:pic>
        <p:nvPicPr>
          <p:cNvPr id="45" name="Image 7" descr="preencoded.png">    </p:cNvPr>
          <p:cNvPicPr>
            <a:picLocks noChangeAspect="1"/>
          </p:cNvPicPr>
          <p:nvPr/>
        </p:nvPicPr>
        <p:blipFill>
          <a:blip r:embed="rId8"/>
          <a:stretch>
            <a:fillRect/>
          </a:stretch>
        </p:blipFill>
        <p:spPr>
          <a:xfrm>
            <a:off x="6286500" y="4343400"/>
            <a:ext cx="201168" cy="201168"/>
          </a:xfrm>
          <a:prstGeom prst="rect">
            <a:avLst/>
          </a:prstGeom>
        </p:spPr>
      </p:pic>
      <p:sp>
        <p:nvSpPr>
          <p:cNvPr id="46" name="Text 36"/>
          <p:cNvSpPr/>
          <p:nvPr/>
        </p:nvSpPr>
        <p:spPr>
          <a:xfrm>
            <a:off x="6560820" y="425196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Cost &amp; Optimization</a:t>
            </a:r>
            <a:endParaRPr lang="en-US" sz="1200" dirty="0"/>
          </a:p>
        </p:txBody>
      </p:sp>
      <p:sp>
        <p:nvSpPr>
          <p:cNvPr id="47" name="Text 37"/>
          <p:cNvSpPr/>
          <p:nvPr/>
        </p:nvSpPr>
        <p:spPr>
          <a:xfrm>
            <a:off x="6286500" y="470916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Are we spending what we should?</a:t>
            </a:r>
            <a:endParaRPr lang="en-US" sz="950" dirty="0"/>
          </a:p>
        </p:txBody>
      </p:sp>
      <p:sp>
        <p:nvSpPr>
          <p:cNvPr id="48" name="Text 38"/>
          <p:cNvSpPr/>
          <p:nvPr/>
        </p:nvSpPr>
        <p:spPr>
          <a:xfrm>
            <a:off x="6240780" y="502920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License costs (trend)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Right-sizing opportunities open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 reclaimed (annualized)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Workloads relocated · home-of-best-fit</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Showback adoption %</a:t>
            </a:r>
            <a:endParaRPr lang="en-US" sz="1000" dirty="0"/>
          </a:p>
        </p:txBody>
      </p:sp>
      <p:sp>
        <p:nvSpPr>
          <p:cNvPr id="49" name="Shape 39"/>
          <p:cNvSpPr/>
          <p:nvPr/>
        </p:nvSpPr>
        <p:spPr>
          <a:xfrm>
            <a:off x="8949690" y="4251960"/>
            <a:ext cx="2663190" cy="2194560"/>
          </a:xfrm>
          <a:prstGeom prst="rect">
            <a:avLst/>
          </a:prstGeom>
          <a:solidFill>
            <a:srgbClr val="FFFFFF"/>
          </a:solidFill>
          <a:ln w="7620">
            <a:solidFill>
              <a:srgbClr val="D6DEE8"/>
            </a:solidFill>
            <a:prstDash val="solid"/>
          </a:ln>
        </p:spPr>
      </p:sp>
      <p:sp>
        <p:nvSpPr>
          <p:cNvPr id="50" name="Shape 40"/>
          <p:cNvSpPr/>
          <p:nvPr/>
        </p:nvSpPr>
        <p:spPr>
          <a:xfrm>
            <a:off x="8949690" y="4251960"/>
            <a:ext cx="2663190" cy="384048"/>
          </a:xfrm>
          <a:prstGeom prst="rect">
            <a:avLst/>
          </a:prstGeom>
          <a:solidFill>
            <a:srgbClr val="0051A5"/>
          </a:solidFill>
          <a:ln/>
        </p:spPr>
      </p:sp>
      <p:pic>
        <p:nvPicPr>
          <p:cNvPr id="51" name="Image 8" descr="preencoded.png">    </p:cNvPr>
          <p:cNvPicPr>
            <a:picLocks noChangeAspect="1"/>
          </p:cNvPicPr>
          <p:nvPr/>
        </p:nvPicPr>
        <p:blipFill>
          <a:blip r:embed="rId9"/>
          <a:stretch>
            <a:fillRect/>
          </a:stretch>
        </p:blipFill>
        <p:spPr>
          <a:xfrm>
            <a:off x="9086850" y="4343400"/>
            <a:ext cx="201168" cy="201168"/>
          </a:xfrm>
          <a:prstGeom prst="rect">
            <a:avLst/>
          </a:prstGeom>
        </p:spPr>
      </p:pic>
      <p:sp>
        <p:nvSpPr>
          <p:cNvPr id="52" name="Text 41"/>
          <p:cNvSpPr/>
          <p:nvPr/>
        </p:nvSpPr>
        <p:spPr>
          <a:xfrm>
            <a:off x="9361170" y="4251960"/>
            <a:ext cx="2205990" cy="384048"/>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Lifecycle &amp; Modernization</a:t>
            </a:r>
            <a:endParaRPr lang="en-US" sz="1200" dirty="0"/>
          </a:p>
        </p:txBody>
      </p:sp>
      <p:sp>
        <p:nvSpPr>
          <p:cNvPr id="53" name="Text 42"/>
          <p:cNvSpPr/>
          <p:nvPr/>
        </p:nvSpPr>
        <p:spPr>
          <a:xfrm>
            <a:off x="9086850" y="4709160"/>
            <a:ext cx="2388870" cy="256032"/>
          </a:xfrm>
          <a:prstGeom prst="rect">
            <a:avLst/>
          </a:prstGeom>
          <a:noFill/>
          <a:ln/>
        </p:spPr>
        <p:txBody>
          <a:bodyPr wrap="square" lIns="0" tIns="0" rIns="0" bIns="0" rtlCol="0" anchor="ctr"/>
          <a:lstStyle/>
          <a:p>
            <a:pPr indent="0" marL="0">
              <a:buNone/>
            </a:pPr>
            <a:r>
              <a:rPr lang="en-US" sz="950" i="1" dirty="0">
                <a:solidFill>
                  <a:srgbClr val="5B6778"/>
                </a:solidFill>
                <a:latin typeface="Calibri" pitchFamily="34" charset="0"/>
                <a:ea typeface="Calibri" pitchFamily="34" charset="-122"/>
                <a:cs typeface="Calibri" pitchFamily="34" charset="-120"/>
              </a:rPr>
              <a:t>What's old, leaving, joining?</a:t>
            </a:r>
            <a:endParaRPr lang="en-US" sz="950" dirty="0"/>
          </a:p>
        </p:txBody>
      </p:sp>
      <p:sp>
        <p:nvSpPr>
          <p:cNvPr id="54" name="Text 43"/>
          <p:cNvSpPr/>
          <p:nvPr/>
        </p:nvSpPr>
        <p:spPr>
          <a:xfrm>
            <a:off x="9041130" y="5029200"/>
            <a:ext cx="2480310" cy="132588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Engine versions in production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EOL engines remaining</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Migrations completed this quarter</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Decommissions completed</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New onboardings</a:t>
            </a:r>
            <a:endParaRPr lang="en-US" sz="1000" dirty="0"/>
          </a:p>
        </p:txBody>
      </p:sp>
      <p:sp>
        <p:nvSpPr>
          <p:cNvPr id="55" name="Text 44"/>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13 / 30</a:t>
            </a:r>
            <a:endParaRPr lang="en-US" sz="900" dirty="0"/>
          </a:p>
        </p:txBody>
      </p:sp>
      <p:sp>
        <p:nvSpPr>
          <p:cNvPr id="56" name="Text 45"/>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12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Why one product team per platform</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Engineering and Operations are one team — here's the case, and why Ops sit at the table as dedicated members.</a:t>
            </a:r>
            <a:endParaRPr lang="en-US" sz="1300" dirty="0"/>
          </a:p>
        </p:txBody>
      </p:sp>
      <p:sp>
        <p:nvSpPr>
          <p:cNvPr id="7" name="Shape 4"/>
          <p:cNvSpPr/>
          <p:nvPr/>
        </p:nvSpPr>
        <p:spPr>
          <a:xfrm>
            <a:off x="548640" y="1874520"/>
            <a:ext cx="3596640" cy="1554480"/>
          </a:xfrm>
          <a:prstGeom prst="rect">
            <a:avLst/>
          </a:prstGeom>
          <a:solidFill>
            <a:srgbClr val="F6F8FB"/>
          </a:solidFill>
          <a:ln w="6350">
            <a:solidFill>
              <a:srgbClr val="D6DEE8"/>
            </a:solidFill>
            <a:prstDash val="solid"/>
          </a:ln>
        </p:spPr>
      </p:sp>
      <p:sp>
        <p:nvSpPr>
          <p:cNvPr id="8" name="Shape 5"/>
          <p:cNvSpPr/>
          <p:nvPr/>
        </p:nvSpPr>
        <p:spPr>
          <a:xfrm>
            <a:off x="548640" y="1874520"/>
            <a:ext cx="54864" cy="1554480"/>
          </a:xfrm>
          <a:prstGeom prst="rect">
            <a:avLst/>
          </a:prstGeom>
          <a:solidFill>
            <a:srgbClr val="FEDF01"/>
          </a:solidFill>
          <a:ln/>
        </p:spPr>
      </p:sp>
      <p:sp>
        <p:nvSpPr>
          <p:cNvPr id="9" name="Text 6"/>
          <p:cNvSpPr/>
          <p:nvPr/>
        </p:nvSpPr>
        <p:spPr>
          <a:xfrm>
            <a:off x="731520" y="1947672"/>
            <a:ext cx="502920" cy="502920"/>
          </a:xfrm>
          <a:prstGeom prst="rect">
            <a:avLst/>
          </a:prstGeom>
          <a:noFill/>
          <a:ln/>
        </p:spPr>
        <p:txBody>
          <a:bodyPr wrap="square" lIns="0" tIns="0" rIns="0" bIns="0" rtlCol="0" anchor="ctr"/>
          <a:lstStyle/>
          <a:p>
            <a:pPr indent="0" marL="0">
              <a:buNone/>
            </a:pPr>
            <a:r>
              <a:rPr lang="en-US" sz="3000" b="1" dirty="0">
                <a:solidFill>
                  <a:srgbClr val="0051A5"/>
                </a:solidFill>
                <a:latin typeface="Trebuchet MS" pitchFamily="34" charset="0"/>
                <a:ea typeface="Trebuchet MS" pitchFamily="34" charset="-122"/>
                <a:cs typeface="Trebuchet MS" pitchFamily="34" charset="-120"/>
              </a:rPr>
              <a:t>1</a:t>
            </a:r>
            <a:endParaRPr lang="en-US" sz="3000" dirty="0"/>
          </a:p>
        </p:txBody>
      </p:sp>
      <p:sp>
        <p:nvSpPr>
          <p:cNvPr id="10" name="Text 7"/>
          <p:cNvSpPr/>
          <p:nvPr/>
        </p:nvSpPr>
        <p:spPr>
          <a:xfrm>
            <a:off x="1234440" y="2039112"/>
            <a:ext cx="2773680" cy="36576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Shared outcomes</a:t>
            </a:r>
            <a:endParaRPr lang="en-US" sz="1400" dirty="0"/>
          </a:p>
        </p:txBody>
      </p:sp>
      <p:sp>
        <p:nvSpPr>
          <p:cNvPr id="11" name="Text 8"/>
          <p:cNvSpPr/>
          <p:nvPr/>
        </p:nvSpPr>
        <p:spPr>
          <a:xfrm>
            <a:off x="1234440" y="2423160"/>
            <a:ext cx="2773680" cy="9601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Engineering builds. Operations runs. Both own whether the platform succeeds. Splitting them creates handoff gaps where accountability dilutes — neither side fully owns the result.</a:t>
            </a:r>
            <a:endParaRPr lang="en-US" sz="1100" dirty="0"/>
          </a:p>
        </p:txBody>
      </p:sp>
      <p:sp>
        <p:nvSpPr>
          <p:cNvPr id="12" name="Shape 9"/>
          <p:cNvSpPr/>
          <p:nvPr/>
        </p:nvSpPr>
        <p:spPr>
          <a:xfrm>
            <a:off x="4282440" y="1874520"/>
            <a:ext cx="3596640" cy="1554480"/>
          </a:xfrm>
          <a:prstGeom prst="rect">
            <a:avLst/>
          </a:prstGeom>
          <a:solidFill>
            <a:srgbClr val="F6F8FB"/>
          </a:solidFill>
          <a:ln w="6350">
            <a:solidFill>
              <a:srgbClr val="D6DEE8"/>
            </a:solidFill>
            <a:prstDash val="solid"/>
          </a:ln>
        </p:spPr>
      </p:sp>
      <p:sp>
        <p:nvSpPr>
          <p:cNvPr id="13" name="Shape 10"/>
          <p:cNvSpPr/>
          <p:nvPr/>
        </p:nvSpPr>
        <p:spPr>
          <a:xfrm>
            <a:off x="4282440" y="1874520"/>
            <a:ext cx="54864" cy="1554480"/>
          </a:xfrm>
          <a:prstGeom prst="rect">
            <a:avLst/>
          </a:prstGeom>
          <a:solidFill>
            <a:srgbClr val="FEDF01"/>
          </a:solidFill>
          <a:ln/>
        </p:spPr>
      </p:sp>
      <p:sp>
        <p:nvSpPr>
          <p:cNvPr id="14" name="Text 11"/>
          <p:cNvSpPr/>
          <p:nvPr/>
        </p:nvSpPr>
        <p:spPr>
          <a:xfrm>
            <a:off x="4465320" y="1947672"/>
            <a:ext cx="502920" cy="502920"/>
          </a:xfrm>
          <a:prstGeom prst="rect">
            <a:avLst/>
          </a:prstGeom>
          <a:noFill/>
          <a:ln/>
        </p:spPr>
        <p:txBody>
          <a:bodyPr wrap="square" lIns="0" tIns="0" rIns="0" bIns="0" rtlCol="0" anchor="ctr"/>
          <a:lstStyle/>
          <a:p>
            <a:pPr indent="0" marL="0">
              <a:buNone/>
            </a:pPr>
            <a:r>
              <a:rPr lang="en-US" sz="3000" b="1" dirty="0">
                <a:solidFill>
                  <a:srgbClr val="0051A5"/>
                </a:solidFill>
                <a:latin typeface="Trebuchet MS" pitchFamily="34" charset="0"/>
                <a:ea typeface="Trebuchet MS" pitchFamily="34" charset="-122"/>
                <a:cs typeface="Trebuchet MS" pitchFamily="34" charset="-120"/>
              </a:rPr>
              <a:t>2</a:t>
            </a:r>
            <a:endParaRPr lang="en-US" sz="3000" dirty="0"/>
          </a:p>
        </p:txBody>
      </p:sp>
      <p:sp>
        <p:nvSpPr>
          <p:cNvPr id="15" name="Text 12"/>
          <p:cNvSpPr/>
          <p:nvPr/>
        </p:nvSpPr>
        <p:spPr>
          <a:xfrm>
            <a:off x="4968240" y="2039112"/>
            <a:ext cx="2773680" cy="36576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Production reality on the table</a:t>
            </a:r>
            <a:endParaRPr lang="en-US" sz="1400" dirty="0"/>
          </a:p>
        </p:txBody>
      </p:sp>
      <p:sp>
        <p:nvSpPr>
          <p:cNvPr id="16" name="Text 13"/>
          <p:cNvSpPr/>
          <p:nvPr/>
        </p:nvSpPr>
        <p:spPr>
          <a:xfrm>
            <a:off x="4968240" y="2423160"/>
            <a:ext cx="2773680" cy="9601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Operations bring real-world context into every planning conversation. Issues come back as prioritized bugs the team commits to fixing — not tickets queued in a separate system that engineering 'gets to when they get to it.'</a:t>
            </a:r>
            <a:endParaRPr lang="en-US" sz="1100" dirty="0"/>
          </a:p>
        </p:txBody>
      </p:sp>
      <p:sp>
        <p:nvSpPr>
          <p:cNvPr id="17" name="Shape 14"/>
          <p:cNvSpPr/>
          <p:nvPr/>
        </p:nvSpPr>
        <p:spPr>
          <a:xfrm>
            <a:off x="8016240" y="1874520"/>
            <a:ext cx="3596640" cy="1554480"/>
          </a:xfrm>
          <a:prstGeom prst="rect">
            <a:avLst/>
          </a:prstGeom>
          <a:solidFill>
            <a:srgbClr val="F6F8FB"/>
          </a:solidFill>
          <a:ln w="6350">
            <a:solidFill>
              <a:srgbClr val="D6DEE8"/>
            </a:solidFill>
            <a:prstDash val="solid"/>
          </a:ln>
        </p:spPr>
      </p:sp>
      <p:sp>
        <p:nvSpPr>
          <p:cNvPr id="18" name="Shape 15"/>
          <p:cNvSpPr/>
          <p:nvPr/>
        </p:nvSpPr>
        <p:spPr>
          <a:xfrm>
            <a:off x="8016240" y="1874520"/>
            <a:ext cx="54864" cy="1554480"/>
          </a:xfrm>
          <a:prstGeom prst="rect">
            <a:avLst/>
          </a:prstGeom>
          <a:solidFill>
            <a:srgbClr val="FEDF01"/>
          </a:solidFill>
          <a:ln/>
        </p:spPr>
      </p:sp>
      <p:sp>
        <p:nvSpPr>
          <p:cNvPr id="19" name="Text 16"/>
          <p:cNvSpPr/>
          <p:nvPr/>
        </p:nvSpPr>
        <p:spPr>
          <a:xfrm>
            <a:off x="8199120" y="1947672"/>
            <a:ext cx="502920" cy="502920"/>
          </a:xfrm>
          <a:prstGeom prst="rect">
            <a:avLst/>
          </a:prstGeom>
          <a:noFill/>
          <a:ln/>
        </p:spPr>
        <p:txBody>
          <a:bodyPr wrap="square" lIns="0" tIns="0" rIns="0" bIns="0" rtlCol="0" anchor="ctr"/>
          <a:lstStyle/>
          <a:p>
            <a:pPr indent="0" marL="0">
              <a:buNone/>
            </a:pPr>
            <a:r>
              <a:rPr lang="en-US" sz="3000" b="1" dirty="0">
                <a:solidFill>
                  <a:srgbClr val="0051A5"/>
                </a:solidFill>
                <a:latin typeface="Trebuchet MS" pitchFamily="34" charset="0"/>
                <a:ea typeface="Trebuchet MS" pitchFamily="34" charset="-122"/>
                <a:cs typeface="Trebuchet MS" pitchFamily="34" charset="-120"/>
              </a:rPr>
              <a:t>3</a:t>
            </a:r>
            <a:endParaRPr lang="en-US" sz="3000" dirty="0"/>
          </a:p>
        </p:txBody>
      </p:sp>
      <p:sp>
        <p:nvSpPr>
          <p:cNvPr id="20" name="Text 17"/>
          <p:cNvSpPr/>
          <p:nvPr/>
        </p:nvSpPr>
        <p:spPr>
          <a:xfrm>
            <a:off x="8702040" y="2039112"/>
            <a:ext cx="2773680" cy="36576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Aligned with workstreams</a:t>
            </a:r>
            <a:endParaRPr lang="en-US" sz="1400" dirty="0"/>
          </a:p>
        </p:txBody>
      </p:sp>
      <p:sp>
        <p:nvSpPr>
          <p:cNvPr id="21" name="Text 18"/>
          <p:cNvSpPr/>
          <p:nvPr/>
        </p:nvSpPr>
        <p:spPr>
          <a:xfrm>
            <a:off x="8702040" y="2423160"/>
            <a:ext cx="2773680" cy="9601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IaC, Compliance, Optimization, ZephyrAI all act on the platform. With one product team, workstreams engage a single backlog instead of negotiating across silos.</a:t>
            </a:r>
            <a:endParaRPr lang="en-US" sz="1100" dirty="0"/>
          </a:p>
        </p:txBody>
      </p:sp>
      <p:sp>
        <p:nvSpPr>
          <p:cNvPr id="22" name="Shape 19"/>
          <p:cNvSpPr/>
          <p:nvPr/>
        </p:nvSpPr>
        <p:spPr>
          <a:xfrm>
            <a:off x="548640" y="3703320"/>
            <a:ext cx="11064240" cy="457200"/>
          </a:xfrm>
          <a:prstGeom prst="rect">
            <a:avLst/>
          </a:prstGeom>
          <a:solidFill>
            <a:srgbClr val="001F47"/>
          </a:solidFill>
          <a:ln/>
        </p:spPr>
      </p:sp>
      <p:sp>
        <p:nvSpPr>
          <p:cNvPr id="23" name="Text 20"/>
          <p:cNvSpPr/>
          <p:nvPr/>
        </p:nvSpPr>
        <p:spPr>
          <a:xfrm>
            <a:off x="777240" y="3794760"/>
            <a:ext cx="6400800" cy="274320"/>
          </a:xfrm>
          <a:prstGeom prst="rect">
            <a:avLst/>
          </a:prstGeom>
          <a:noFill/>
          <a:ln/>
        </p:spPr>
        <p:txBody>
          <a:bodyPr wrap="square" lIns="0" tIns="0" rIns="0" bIns="0" rtlCol="0" anchor="ctr"/>
          <a:lstStyle/>
          <a:p>
            <a:pPr indent="0" marL="0">
              <a:buNone/>
            </a:pPr>
            <a:r>
              <a:rPr lang="en-US" sz="1100" b="1" spc="400" kern="0" dirty="0">
                <a:solidFill>
                  <a:srgbClr val="FEDF01"/>
                </a:solidFill>
                <a:latin typeface="Trebuchet MS" pitchFamily="34" charset="0"/>
                <a:ea typeface="Trebuchet MS" pitchFamily="34" charset="-122"/>
                <a:cs typeface="Trebuchet MS" pitchFamily="34" charset="-120"/>
              </a:rPr>
              <a:t>WHY OPERATIONS ARE DEDICATED MEMBERS</a:t>
            </a:r>
            <a:endParaRPr lang="en-US" sz="1100" dirty="0"/>
          </a:p>
        </p:txBody>
      </p:sp>
      <p:sp>
        <p:nvSpPr>
          <p:cNvPr id="24" name="Text 21"/>
          <p:cNvSpPr/>
          <p:nvPr/>
        </p:nvSpPr>
        <p:spPr>
          <a:xfrm>
            <a:off x="7178040" y="3794760"/>
            <a:ext cx="4297680" cy="274320"/>
          </a:xfrm>
          <a:prstGeom prst="rect">
            <a:avLst/>
          </a:prstGeom>
          <a:noFill/>
          <a:ln/>
        </p:spPr>
        <p:txBody>
          <a:bodyPr wrap="square" lIns="0" tIns="0" rIns="0" bIns="0" rtlCol="0" anchor="ctr"/>
          <a:lstStyle/>
          <a:p>
            <a:pPr algn="r" indent="0" marL="0">
              <a:buNone/>
            </a:pPr>
            <a:r>
              <a:rPr lang="en-US" sz="1100" i="1" dirty="0">
                <a:solidFill>
                  <a:srgbClr val="FFFFFF"/>
                </a:solidFill>
                <a:latin typeface="Calibri" pitchFamily="34" charset="0"/>
                <a:ea typeface="Calibri" pitchFamily="34" charset="-122"/>
                <a:cs typeface="Calibri" pitchFamily="34" charset="-120"/>
              </a:rPr>
              <a:t>Not consulted. Not on retainer. Members of the team.</a:t>
            </a:r>
            <a:endParaRPr lang="en-US" sz="1100" dirty="0"/>
          </a:p>
        </p:txBody>
      </p:sp>
      <p:sp>
        <p:nvSpPr>
          <p:cNvPr id="25" name="Shape 22"/>
          <p:cNvSpPr/>
          <p:nvPr/>
        </p:nvSpPr>
        <p:spPr>
          <a:xfrm>
            <a:off x="548640" y="4297680"/>
            <a:ext cx="2663190" cy="2103120"/>
          </a:xfrm>
          <a:prstGeom prst="rect">
            <a:avLst/>
          </a:prstGeom>
          <a:solidFill>
            <a:srgbClr val="FFFFFF"/>
          </a:solidFill>
          <a:ln w="7620">
            <a:solidFill>
              <a:srgbClr val="D6DEE8"/>
            </a:solidFill>
            <a:prstDash val="solid"/>
          </a:ln>
        </p:spPr>
      </p:sp>
      <p:sp>
        <p:nvSpPr>
          <p:cNvPr id="26" name="Shape 23"/>
          <p:cNvSpPr/>
          <p:nvPr/>
        </p:nvSpPr>
        <p:spPr>
          <a:xfrm>
            <a:off x="548640" y="4297680"/>
            <a:ext cx="2663190" cy="457200"/>
          </a:xfrm>
          <a:prstGeom prst="rect">
            <a:avLst/>
          </a:prstGeom>
          <a:solidFill>
            <a:srgbClr val="0051A5"/>
          </a:solidFill>
          <a:ln/>
        </p:spPr>
      </p:sp>
      <p:sp>
        <p:nvSpPr>
          <p:cNvPr id="27" name="Text 24"/>
          <p:cNvSpPr/>
          <p:nvPr/>
        </p:nvSpPr>
        <p:spPr>
          <a:xfrm>
            <a:off x="713232" y="4297680"/>
            <a:ext cx="365760" cy="457200"/>
          </a:xfrm>
          <a:prstGeom prst="rect">
            <a:avLst/>
          </a:prstGeom>
          <a:noFill/>
          <a:ln/>
        </p:spPr>
        <p:txBody>
          <a:bodyPr wrap="square" lIns="0" tIns="0" rIns="0" bIns="0" rtlCol="0" anchor="ctr"/>
          <a:lstStyle/>
          <a:p>
            <a:pPr indent="0" marL="0">
              <a:buNone/>
            </a:pPr>
            <a:r>
              <a:rPr lang="en-US" sz="2200" b="1" dirty="0">
                <a:solidFill>
                  <a:srgbClr val="FEDF01"/>
                </a:solidFill>
                <a:latin typeface="Trebuchet MS" pitchFamily="34" charset="0"/>
                <a:ea typeface="Trebuchet MS" pitchFamily="34" charset="-122"/>
                <a:cs typeface="Trebuchet MS" pitchFamily="34" charset="-120"/>
              </a:rPr>
              <a:t>1</a:t>
            </a:r>
            <a:endParaRPr lang="en-US" sz="2200" dirty="0"/>
          </a:p>
        </p:txBody>
      </p:sp>
      <p:sp>
        <p:nvSpPr>
          <p:cNvPr id="28" name="Text 25"/>
          <p:cNvSpPr/>
          <p:nvPr/>
        </p:nvSpPr>
        <p:spPr>
          <a:xfrm>
            <a:off x="1097280" y="4297680"/>
            <a:ext cx="202311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Context awareness</a:t>
            </a:r>
            <a:endParaRPr lang="en-US" sz="1200" dirty="0"/>
          </a:p>
        </p:txBody>
      </p:sp>
      <p:sp>
        <p:nvSpPr>
          <p:cNvPr id="29" name="Text 26"/>
          <p:cNvSpPr/>
          <p:nvPr/>
        </p:nvSpPr>
        <p:spPr>
          <a:xfrm>
            <a:off x="713232" y="4846320"/>
            <a:ext cx="2388870" cy="14630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Ops know what's being built because they're in the planning room from day one. No surprises in production — no 'we didn't know about that change.'</a:t>
            </a:r>
            <a:endParaRPr lang="en-US" sz="1050" dirty="0"/>
          </a:p>
        </p:txBody>
      </p:sp>
      <p:sp>
        <p:nvSpPr>
          <p:cNvPr id="30" name="Shape 27"/>
          <p:cNvSpPr/>
          <p:nvPr/>
        </p:nvSpPr>
        <p:spPr>
          <a:xfrm>
            <a:off x="3348990" y="4297680"/>
            <a:ext cx="2663190" cy="2103120"/>
          </a:xfrm>
          <a:prstGeom prst="rect">
            <a:avLst/>
          </a:prstGeom>
          <a:solidFill>
            <a:srgbClr val="FFFFFF"/>
          </a:solidFill>
          <a:ln w="7620">
            <a:solidFill>
              <a:srgbClr val="D6DEE8"/>
            </a:solidFill>
            <a:prstDash val="solid"/>
          </a:ln>
        </p:spPr>
      </p:sp>
      <p:sp>
        <p:nvSpPr>
          <p:cNvPr id="31" name="Shape 28"/>
          <p:cNvSpPr/>
          <p:nvPr/>
        </p:nvSpPr>
        <p:spPr>
          <a:xfrm>
            <a:off x="3348990" y="4297680"/>
            <a:ext cx="2663190" cy="457200"/>
          </a:xfrm>
          <a:prstGeom prst="rect">
            <a:avLst/>
          </a:prstGeom>
          <a:solidFill>
            <a:srgbClr val="0051A5"/>
          </a:solidFill>
          <a:ln/>
        </p:spPr>
      </p:sp>
      <p:sp>
        <p:nvSpPr>
          <p:cNvPr id="32" name="Text 29"/>
          <p:cNvSpPr/>
          <p:nvPr/>
        </p:nvSpPr>
        <p:spPr>
          <a:xfrm>
            <a:off x="3513582" y="4297680"/>
            <a:ext cx="365760" cy="457200"/>
          </a:xfrm>
          <a:prstGeom prst="rect">
            <a:avLst/>
          </a:prstGeom>
          <a:noFill/>
          <a:ln/>
        </p:spPr>
        <p:txBody>
          <a:bodyPr wrap="square" lIns="0" tIns="0" rIns="0" bIns="0" rtlCol="0" anchor="ctr"/>
          <a:lstStyle/>
          <a:p>
            <a:pPr indent="0" marL="0">
              <a:buNone/>
            </a:pPr>
            <a:r>
              <a:rPr lang="en-US" sz="2200" b="1" dirty="0">
                <a:solidFill>
                  <a:srgbClr val="FEDF01"/>
                </a:solidFill>
                <a:latin typeface="Trebuchet MS" pitchFamily="34" charset="0"/>
                <a:ea typeface="Trebuchet MS" pitchFamily="34" charset="-122"/>
                <a:cs typeface="Trebuchet MS" pitchFamily="34" charset="-120"/>
              </a:rPr>
              <a:t>2</a:t>
            </a:r>
            <a:endParaRPr lang="en-US" sz="2200" dirty="0"/>
          </a:p>
        </p:txBody>
      </p:sp>
      <p:sp>
        <p:nvSpPr>
          <p:cNvPr id="33" name="Text 30"/>
          <p:cNvSpPr/>
          <p:nvPr/>
        </p:nvSpPr>
        <p:spPr>
          <a:xfrm>
            <a:off x="3897630" y="4297680"/>
            <a:ext cx="202311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Issues become bugs, not tickets</a:t>
            </a:r>
            <a:endParaRPr lang="en-US" sz="1200" dirty="0"/>
          </a:p>
        </p:txBody>
      </p:sp>
      <p:sp>
        <p:nvSpPr>
          <p:cNvPr id="34" name="Text 31"/>
          <p:cNvSpPr/>
          <p:nvPr/>
        </p:nvSpPr>
        <p:spPr>
          <a:xfrm>
            <a:off x="3513582" y="4846320"/>
            <a:ext cx="2388870" cy="14630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When something breaks, the team commits to fixing it in sprint. Production pain is engineering's pain — tracked and prioritized the same way as feature work.</a:t>
            </a:r>
            <a:endParaRPr lang="en-US" sz="1050" dirty="0"/>
          </a:p>
        </p:txBody>
      </p:sp>
      <p:sp>
        <p:nvSpPr>
          <p:cNvPr id="35" name="Shape 32"/>
          <p:cNvSpPr/>
          <p:nvPr/>
        </p:nvSpPr>
        <p:spPr>
          <a:xfrm>
            <a:off x="6149340" y="4297680"/>
            <a:ext cx="2663190" cy="2103120"/>
          </a:xfrm>
          <a:prstGeom prst="rect">
            <a:avLst/>
          </a:prstGeom>
          <a:solidFill>
            <a:srgbClr val="FFFFFF"/>
          </a:solidFill>
          <a:ln w="7620">
            <a:solidFill>
              <a:srgbClr val="D6DEE8"/>
            </a:solidFill>
            <a:prstDash val="solid"/>
          </a:ln>
        </p:spPr>
      </p:sp>
      <p:sp>
        <p:nvSpPr>
          <p:cNvPr id="36" name="Shape 33"/>
          <p:cNvSpPr/>
          <p:nvPr/>
        </p:nvSpPr>
        <p:spPr>
          <a:xfrm>
            <a:off x="6149340" y="4297680"/>
            <a:ext cx="2663190" cy="457200"/>
          </a:xfrm>
          <a:prstGeom prst="rect">
            <a:avLst/>
          </a:prstGeom>
          <a:solidFill>
            <a:srgbClr val="0051A5"/>
          </a:solidFill>
          <a:ln/>
        </p:spPr>
      </p:sp>
      <p:sp>
        <p:nvSpPr>
          <p:cNvPr id="37" name="Text 34"/>
          <p:cNvSpPr/>
          <p:nvPr/>
        </p:nvSpPr>
        <p:spPr>
          <a:xfrm>
            <a:off x="6313932" y="4297680"/>
            <a:ext cx="365760" cy="457200"/>
          </a:xfrm>
          <a:prstGeom prst="rect">
            <a:avLst/>
          </a:prstGeom>
          <a:noFill/>
          <a:ln/>
        </p:spPr>
        <p:txBody>
          <a:bodyPr wrap="square" lIns="0" tIns="0" rIns="0" bIns="0" rtlCol="0" anchor="ctr"/>
          <a:lstStyle/>
          <a:p>
            <a:pPr indent="0" marL="0">
              <a:buNone/>
            </a:pPr>
            <a:r>
              <a:rPr lang="en-US" sz="2200" b="1" dirty="0">
                <a:solidFill>
                  <a:srgbClr val="FEDF01"/>
                </a:solidFill>
                <a:latin typeface="Trebuchet MS" pitchFamily="34" charset="0"/>
                <a:ea typeface="Trebuchet MS" pitchFamily="34" charset="-122"/>
                <a:cs typeface="Trebuchet MS" pitchFamily="34" charset="-120"/>
              </a:rPr>
              <a:t>3</a:t>
            </a:r>
            <a:endParaRPr lang="en-US" sz="2200" dirty="0"/>
          </a:p>
        </p:txBody>
      </p:sp>
      <p:sp>
        <p:nvSpPr>
          <p:cNvPr id="38" name="Text 35"/>
          <p:cNvSpPr/>
          <p:nvPr/>
        </p:nvSpPr>
        <p:spPr>
          <a:xfrm>
            <a:off x="6697980" y="4297680"/>
            <a:ext cx="202311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Operational design from day one</a:t>
            </a:r>
            <a:endParaRPr lang="en-US" sz="1200" dirty="0"/>
          </a:p>
        </p:txBody>
      </p:sp>
      <p:sp>
        <p:nvSpPr>
          <p:cNvPr id="39" name="Text 36"/>
          <p:cNvSpPr/>
          <p:nvPr/>
        </p:nvSpPr>
        <p:spPr>
          <a:xfrm>
            <a:off x="6313932" y="4846320"/>
            <a:ext cx="2388870" cy="14630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Engineering decisions account for runbooks, alerting, capacity, and incident response — because Ops voices are present when those decisions are made.</a:t>
            </a:r>
            <a:endParaRPr lang="en-US" sz="1050" dirty="0"/>
          </a:p>
        </p:txBody>
      </p:sp>
      <p:sp>
        <p:nvSpPr>
          <p:cNvPr id="40" name="Shape 37"/>
          <p:cNvSpPr/>
          <p:nvPr/>
        </p:nvSpPr>
        <p:spPr>
          <a:xfrm>
            <a:off x="8949690" y="4297680"/>
            <a:ext cx="2663190" cy="2103120"/>
          </a:xfrm>
          <a:prstGeom prst="rect">
            <a:avLst/>
          </a:prstGeom>
          <a:solidFill>
            <a:srgbClr val="FFFFFF"/>
          </a:solidFill>
          <a:ln w="7620">
            <a:solidFill>
              <a:srgbClr val="D6DEE8"/>
            </a:solidFill>
            <a:prstDash val="solid"/>
          </a:ln>
        </p:spPr>
      </p:sp>
      <p:sp>
        <p:nvSpPr>
          <p:cNvPr id="41" name="Shape 38"/>
          <p:cNvSpPr/>
          <p:nvPr/>
        </p:nvSpPr>
        <p:spPr>
          <a:xfrm>
            <a:off x="8949690" y="4297680"/>
            <a:ext cx="2663190" cy="457200"/>
          </a:xfrm>
          <a:prstGeom prst="rect">
            <a:avLst/>
          </a:prstGeom>
          <a:solidFill>
            <a:srgbClr val="0051A5"/>
          </a:solidFill>
          <a:ln/>
        </p:spPr>
      </p:sp>
      <p:sp>
        <p:nvSpPr>
          <p:cNvPr id="42" name="Text 39"/>
          <p:cNvSpPr/>
          <p:nvPr/>
        </p:nvSpPr>
        <p:spPr>
          <a:xfrm>
            <a:off x="9114282" y="4297680"/>
            <a:ext cx="365760" cy="457200"/>
          </a:xfrm>
          <a:prstGeom prst="rect">
            <a:avLst/>
          </a:prstGeom>
          <a:noFill/>
          <a:ln/>
        </p:spPr>
        <p:txBody>
          <a:bodyPr wrap="square" lIns="0" tIns="0" rIns="0" bIns="0" rtlCol="0" anchor="ctr"/>
          <a:lstStyle/>
          <a:p>
            <a:pPr indent="0" marL="0">
              <a:buNone/>
            </a:pPr>
            <a:r>
              <a:rPr lang="en-US" sz="2200" b="1" dirty="0">
                <a:solidFill>
                  <a:srgbClr val="FEDF01"/>
                </a:solidFill>
                <a:latin typeface="Trebuchet MS" pitchFamily="34" charset="0"/>
                <a:ea typeface="Trebuchet MS" pitchFamily="34" charset="-122"/>
                <a:cs typeface="Trebuchet MS" pitchFamily="34" charset="-120"/>
              </a:rPr>
              <a:t>4</a:t>
            </a:r>
            <a:endParaRPr lang="en-US" sz="2200" dirty="0"/>
          </a:p>
        </p:txBody>
      </p:sp>
      <p:sp>
        <p:nvSpPr>
          <p:cNvPr id="43" name="Text 40"/>
          <p:cNvSpPr/>
          <p:nvPr/>
        </p:nvSpPr>
        <p:spPr>
          <a:xfrm>
            <a:off x="9498330" y="4297680"/>
            <a:ext cx="202311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Continuity of ownership</a:t>
            </a:r>
            <a:endParaRPr lang="en-US" sz="1200" dirty="0"/>
          </a:p>
        </p:txBody>
      </p:sp>
      <p:sp>
        <p:nvSpPr>
          <p:cNvPr id="44" name="Text 41"/>
          <p:cNvSpPr/>
          <p:nvPr/>
        </p:nvSpPr>
        <p:spPr>
          <a:xfrm>
            <a:off x="9114282" y="4846320"/>
            <a:ext cx="2388870" cy="146304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The same team that designs the runbook is the one that executes it. No 'throw it over the wall,' no learning the system from outside.</a:t>
            </a:r>
            <a:endParaRPr lang="en-US" sz="1050" dirty="0"/>
          </a:p>
        </p:txBody>
      </p:sp>
      <p:sp>
        <p:nvSpPr>
          <p:cNvPr id="45" name="Text 42"/>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14 / 30</a:t>
            </a:r>
            <a:endParaRPr lang="en-US" sz="900" dirty="0"/>
          </a:p>
        </p:txBody>
      </p:sp>
      <p:sp>
        <p:nvSpPr>
          <p:cNvPr id="46" name="Text 43"/>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13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Who does what</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Roles and named owners on the platform team. Same model applies to each platform.</a:t>
            </a:r>
            <a:endParaRPr lang="en-US" sz="1300" dirty="0"/>
          </a:p>
        </p:txBody>
      </p:sp>
      <p:sp>
        <p:nvSpPr>
          <p:cNvPr id="7" name="Shape 4"/>
          <p:cNvSpPr/>
          <p:nvPr/>
        </p:nvSpPr>
        <p:spPr>
          <a:xfrm>
            <a:off x="548640" y="1920240"/>
            <a:ext cx="2103120" cy="2743200"/>
          </a:xfrm>
          <a:prstGeom prst="rect">
            <a:avLst/>
          </a:prstGeom>
          <a:solidFill>
            <a:srgbClr val="FFFFFF"/>
          </a:solidFill>
          <a:ln w="7620">
            <a:solidFill>
              <a:srgbClr val="D6DEE8"/>
            </a:solidFill>
            <a:prstDash val="solid"/>
          </a:ln>
        </p:spPr>
      </p:sp>
      <p:sp>
        <p:nvSpPr>
          <p:cNvPr id="8" name="Shape 5"/>
          <p:cNvSpPr/>
          <p:nvPr/>
        </p:nvSpPr>
        <p:spPr>
          <a:xfrm>
            <a:off x="548640" y="1920240"/>
            <a:ext cx="2103120" cy="365760"/>
          </a:xfrm>
          <a:prstGeom prst="rect">
            <a:avLst/>
          </a:prstGeom>
          <a:solidFill>
            <a:srgbClr val="0051A5"/>
          </a:solidFill>
          <a:ln/>
        </p:spPr>
      </p:sp>
      <p:sp>
        <p:nvSpPr>
          <p:cNvPr id="9" name="Text 6"/>
          <p:cNvSpPr/>
          <p:nvPr/>
        </p:nvSpPr>
        <p:spPr>
          <a:xfrm>
            <a:off x="685800" y="1920240"/>
            <a:ext cx="1920240" cy="36576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Product Owner</a:t>
            </a:r>
            <a:endParaRPr lang="en-US" sz="1200" dirty="0"/>
          </a:p>
        </p:txBody>
      </p:sp>
      <p:sp>
        <p:nvSpPr>
          <p:cNvPr id="10" name="Text 7"/>
          <p:cNvSpPr/>
          <p:nvPr/>
        </p:nvSpPr>
        <p:spPr>
          <a:xfrm>
            <a:off x="685800" y="2377440"/>
            <a:ext cx="1874520" cy="9144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Roadmap &amp; prioritization · platform demand · business interface</a:t>
            </a:r>
            <a:endParaRPr lang="en-US" sz="1000" dirty="0"/>
          </a:p>
        </p:txBody>
      </p:sp>
      <p:sp>
        <p:nvSpPr>
          <p:cNvPr id="11" name="Shape 8"/>
          <p:cNvSpPr/>
          <p:nvPr/>
        </p:nvSpPr>
        <p:spPr>
          <a:xfrm>
            <a:off x="685800" y="3337560"/>
            <a:ext cx="365760" cy="36576"/>
          </a:xfrm>
          <a:prstGeom prst="rect">
            <a:avLst/>
          </a:prstGeom>
          <a:solidFill>
            <a:srgbClr val="FEDF01"/>
          </a:solidFill>
          <a:ln/>
        </p:spPr>
      </p:sp>
      <p:sp>
        <p:nvSpPr>
          <p:cNvPr id="12" name="Text 9"/>
          <p:cNvSpPr/>
          <p:nvPr/>
        </p:nvSpPr>
        <p:spPr>
          <a:xfrm>
            <a:off x="685800" y="3474720"/>
            <a:ext cx="1828800" cy="22860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OWNER</a:t>
            </a:r>
            <a:endParaRPr lang="en-US" sz="900" dirty="0"/>
          </a:p>
        </p:txBody>
      </p:sp>
      <p:sp>
        <p:nvSpPr>
          <p:cNvPr id="13" name="Text 10"/>
          <p:cNvSpPr/>
          <p:nvPr/>
        </p:nvSpPr>
        <p:spPr>
          <a:xfrm>
            <a:off x="685800" y="3749040"/>
            <a:ext cx="1828800" cy="41148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[Name]</a:t>
            </a:r>
            <a:endParaRPr lang="en-US" sz="1400" dirty="0"/>
          </a:p>
        </p:txBody>
      </p:sp>
      <p:sp>
        <p:nvSpPr>
          <p:cNvPr id="14" name="Shape 11"/>
          <p:cNvSpPr/>
          <p:nvPr/>
        </p:nvSpPr>
        <p:spPr>
          <a:xfrm>
            <a:off x="2788920" y="1920240"/>
            <a:ext cx="2103120" cy="2743200"/>
          </a:xfrm>
          <a:prstGeom prst="rect">
            <a:avLst/>
          </a:prstGeom>
          <a:solidFill>
            <a:srgbClr val="FFFFFF"/>
          </a:solidFill>
          <a:ln w="7620">
            <a:solidFill>
              <a:srgbClr val="D6DEE8"/>
            </a:solidFill>
            <a:prstDash val="solid"/>
          </a:ln>
        </p:spPr>
      </p:sp>
      <p:sp>
        <p:nvSpPr>
          <p:cNvPr id="15" name="Shape 12"/>
          <p:cNvSpPr/>
          <p:nvPr/>
        </p:nvSpPr>
        <p:spPr>
          <a:xfrm>
            <a:off x="2788920" y="1920240"/>
            <a:ext cx="2103120" cy="365760"/>
          </a:xfrm>
          <a:prstGeom prst="rect">
            <a:avLst/>
          </a:prstGeom>
          <a:solidFill>
            <a:srgbClr val="0051A5"/>
          </a:solidFill>
          <a:ln/>
        </p:spPr>
      </p:sp>
      <p:sp>
        <p:nvSpPr>
          <p:cNvPr id="16" name="Text 13"/>
          <p:cNvSpPr/>
          <p:nvPr/>
        </p:nvSpPr>
        <p:spPr>
          <a:xfrm>
            <a:off x="2926080" y="1920240"/>
            <a:ext cx="1920240" cy="36576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Delivery Lead</a:t>
            </a:r>
            <a:endParaRPr lang="en-US" sz="1200" dirty="0"/>
          </a:p>
        </p:txBody>
      </p:sp>
      <p:sp>
        <p:nvSpPr>
          <p:cNvPr id="17" name="Text 14"/>
          <p:cNvSpPr/>
          <p:nvPr/>
        </p:nvSpPr>
        <p:spPr>
          <a:xfrm>
            <a:off x="2926080" y="2377440"/>
            <a:ext cx="1874520" cy="9144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Cadence · blockers · dependencies · delivery commitments to steering</a:t>
            </a:r>
            <a:endParaRPr lang="en-US" sz="1000" dirty="0"/>
          </a:p>
        </p:txBody>
      </p:sp>
      <p:sp>
        <p:nvSpPr>
          <p:cNvPr id="18" name="Shape 15"/>
          <p:cNvSpPr/>
          <p:nvPr/>
        </p:nvSpPr>
        <p:spPr>
          <a:xfrm>
            <a:off x="2926080" y="3337560"/>
            <a:ext cx="365760" cy="36576"/>
          </a:xfrm>
          <a:prstGeom prst="rect">
            <a:avLst/>
          </a:prstGeom>
          <a:solidFill>
            <a:srgbClr val="FEDF01"/>
          </a:solidFill>
          <a:ln/>
        </p:spPr>
      </p:sp>
      <p:sp>
        <p:nvSpPr>
          <p:cNvPr id="19" name="Text 16"/>
          <p:cNvSpPr/>
          <p:nvPr/>
        </p:nvSpPr>
        <p:spPr>
          <a:xfrm>
            <a:off x="2926080" y="3474720"/>
            <a:ext cx="1828800" cy="22860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OWNER</a:t>
            </a:r>
            <a:endParaRPr lang="en-US" sz="900" dirty="0"/>
          </a:p>
        </p:txBody>
      </p:sp>
      <p:sp>
        <p:nvSpPr>
          <p:cNvPr id="20" name="Text 17"/>
          <p:cNvSpPr/>
          <p:nvPr/>
        </p:nvSpPr>
        <p:spPr>
          <a:xfrm>
            <a:off x="2926080" y="3749040"/>
            <a:ext cx="1828800" cy="41148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[Name]</a:t>
            </a:r>
            <a:endParaRPr lang="en-US" sz="1400" dirty="0"/>
          </a:p>
        </p:txBody>
      </p:sp>
      <p:sp>
        <p:nvSpPr>
          <p:cNvPr id="21" name="Shape 18"/>
          <p:cNvSpPr/>
          <p:nvPr/>
        </p:nvSpPr>
        <p:spPr>
          <a:xfrm>
            <a:off x="5029200" y="1920240"/>
            <a:ext cx="2103120" cy="2743200"/>
          </a:xfrm>
          <a:prstGeom prst="rect">
            <a:avLst/>
          </a:prstGeom>
          <a:solidFill>
            <a:srgbClr val="FFFFFF"/>
          </a:solidFill>
          <a:ln w="7620">
            <a:solidFill>
              <a:srgbClr val="D6DEE8"/>
            </a:solidFill>
            <a:prstDash val="solid"/>
          </a:ln>
        </p:spPr>
      </p:sp>
      <p:sp>
        <p:nvSpPr>
          <p:cNvPr id="22" name="Shape 19"/>
          <p:cNvSpPr/>
          <p:nvPr/>
        </p:nvSpPr>
        <p:spPr>
          <a:xfrm>
            <a:off x="5029200" y="1920240"/>
            <a:ext cx="2103120" cy="365760"/>
          </a:xfrm>
          <a:prstGeom prst="rect">
            <a:avLst/>
          </a:prstGeom>
          <a:solidFill>
            <a:srgbClr val="0051A5"/>
          </a:solidFill>
          <a:ln/>
        </p:spPr>
      </p:sp>
      <p:sp>
        <p:nvSpPr>
          <p:cNvPr id="23" name="Text 20"/>
          <p:cNvSpPr/>
          <p:nvPr/>
        </p:nvSpPr>
        <p:spPr>
          <a:xfrm>
            <a:off x="5166360" y="1920240"/>
            <a:ext cx="1920240" cy="36576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Tech Lead</a:t>
            </a:r>
            <a:endParaRPr lang="en-US" sz="1200" dirty="0"/>
          </a:p>
        </p:txBody>
      </p:sp>
      <p:sp>
        <p:nvSpPr>
          <p:cNvPr id="24" name="Text 21"/>
          <p:cNvSpPr/>
          <p:nvPr/>
        </p:nvSpPr>
        <p:spPr>
          <a:xfrm>
            <a:off x="5166360" y="2377440"/>
            <a:ext cx="1874520" cy="9144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Architecture · design · code review · technical direction · line management &amp; coaching</a:t>
            </a:r>
            <a:endParaRPr lang="en-US" sz="1000" dirty="0"/>
          </a:p>
        </p:txBody>
      </p:sp>
      <p:sp>
        <p:nvSpPr>
          <p:cNvPr id="25" name="Shape 22"/>
          <p:cNvSpPr/>
          <p:nvPr/>
        </p:nvSpPr>
        <p:spPr>
          <a:xfrm>
            <a:off x="5166360" y="3337560"/>
            <a:ext cx="365760" cy="36576"/>
          </a:xfrm>
          <a:prstGeom prst="rect">
            <a:avLst/>
          </a:prstGeom>
          <a:solidFill>
            <a:srgbClr val="FEDF01"/>
          </a:solidFill>
          <a:ln/>
        </p:spPr>
      </p:sp>
      <p:sp>
        <p:nvSpPr>
          <p:cNvPr id="26" name="Text 23"/>
          <p:cNvSpPr/>
          <p:nvPr/>
        </p:nvSpPr>
        <p:spPr>
          <a:xfrm>
            <a:off x="5166360" y="3474720"/>
            <a:ext cx="1828800" cy="22860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OWNER</a:t>
            </a:r>
            <a:endParaRPr lang="en-US" sz="900" dirty="0"/>
          </a:p>
        </p:txBody>
      </p:sp>
      <p:sp>
        <p:nvSpPr>
          <p:cNvPr id="27" name="Text 24"/>
          <p:cNvSpPr/>
          <p:nvPr/>
        </p:nvSpPr>
        <p:spPr>
          <a:xfrm>
            <a:off x="5166360" y="3749040"/>
            <a:ext cx="1828800" cy="411480"/>
          </a:xfrm>
          <a:prstGeom prst="rect">
            <a:avLst/>
          </a:prstGeom>
          <a:noFill/>
          <a:ln/>
        </p:spPr>
        <p:txBody>
          <a:bodyPr wrap="square" lIns="0" tIns="0" rIns="0" bIns="0" rtlCol="0" anchor="ctr"/>
          <a:lstStyle/>
          <a:p>
            <a:pPr indent="0" marL="0">
              <a:buNone/>
            </a:pPr>
            <a:r>
              <a:rPr lang="en-US" sz="1400" b="1" dirty="0">
                <a:solidFill>
                  <a:srgbClr val="001F47"/>
                </a:solidFill>
                <a:latin typeface="Trebuchet MS" pitchFamily="34" charset="0"/>
                <a:ea typeface="Trebuchet MS" pitchFamily="34" charset="-122"/>
                <a:cs typeface="Trebuchet MS" pitchFamily="34" charset="-120"/>
              </a:rPr>
              <a:t>[Name]</a:t>
            </a:r>
            <a:endParaRPr lang="en-US" sz="1400" dirty="0"/>
          </a:p>
        </p:txBody>
      </p:sp>
      <p:sp>
        <p:nvSpPr>
          <p:cNvPr id="28" name="Shape 25"/>
          <p:cNvSpPr/>
          <p:nvPr/>
        </p:nvSpPr>
        <p:spPr>
          <a:xfrm>
            <a:off x="7269480" y="1920240"/>
            <a:ext cx="2103120" cy="2743200"/>
          </a:xfrm>
          <a:prstGeom prst="rect">
            <a:avLst/>
          </a:prstGeom>
          <a:solidFill>
            <a:srgbClr val="FFFFFF"/>
          </a:solidFill>
          <a:ln w="7620">
            <a:solidFill>
              <a:srgbClr val="D6DEE8"/>
            </a:solidFill>
            <a:prstDash val="solid"/>
          </a:ln>
        </p:spPr>
      </p:sp>
      <p:sp>
        <p:nvSpPr>
          <p:cNvPr id="29" name="Shape 26"/>
          <p:cNvSpPr/>
          <p:nvPr/>
        </p:nvSpPr>
        <p:spPr>
          <a:xfrm>
            <a:off x="7269480" y="1920240"/>
            <a:ext cx="2103120" cy="365760"/>
          </a:xfrm>
          <a:prstGeom prst="rect">
            <a:avLst/>
          </a:prstGeom>
          <a:solidFill>
            <a:srgbClr val="0051A5"/>
          </a:solidFill>
          <a:ln/>
        </p:spPr>
      </p:sp>
      <p:sp>
        <p:nvSpPr>
          <p:cNvPr id="30" name="Text 27"/>
          <p:cNvSpPr/>
          <p:nvPr/>
        </p:nvSpPr>
        <p:spPr>
          <a:xfrm>
            <a:off x="7406640" y="1920240"/>
            <a:ext cx="1920240" cy="36576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Platform Engineers</a:t>
            </a:r>
            <a:endParaRPr lang="en-US" sz="1200" dirty="0"/>
          </a:p>
        </p:txBody>
      </p:sp>
      <p:sp>
        <p:nvSpPr>
          <p:cNvPr id="31" name="Text 28"/>
          <p:cNvSpPr/>
          <p:nvPr/>
        </p:nvSpPr>
        <p:spPr>
          <a:xfrm>
            <a:off x="7406640" y="2377440"/>
            <a:ext cx="1874520" cy="9144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Build IaC modules · automation · integrations · agent contributions</a:t>
            </a:r>
            <a:endParaRPr lang="en-US" sz="1000" dirty="0"/>
          </a:p>
        </p:txBody>
      </p:sp>
      <p:sp>
        <p:nvSpPr>
          <p:cNvPr id="32" name="Shape 29"/>
          <p:cNvSpPr/>
          <p:nvPr/>
        </p:nvSpPr>
        <p:spPr>
          <a:xfrm>
            <a:off x="7406640" y="3337560"/>
            <a:ext cx="365760" cy="36576"/>
          </a:xfrm>
          <a:prstGeom prst="rect">
            <a:avLst/>
          </a:prstGeom>
          <a:solidFill>
            <a:srgbClr val="FEDF01"/>
          </a:solidFill>
          <a:ln/>
        </p:spPr>
      </p:sp>
      <p:sp>
        <p:nvSpPr>
          <p:cNvPr id="33" name="Text 30"/>
          <p:cNvSpPr/>
          <p:nvPr/>
        </p:nvSpPr>
        <p:spPr>
          <a:xfrm>
            <a:off x="7406640" y="3474720"/>
            <a:ext cx="1828800" cy="22860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MEMBERS</a:t>
            </a:r>
            <a:endParaRPr lang="en-US" sz="900" dirty="0"/>
          </a:p>
        </p:txBody>
      </p:sp>
      <p:sp>
        <p:nvSpPr>
          <p:cNvPr id="34" name="Text 31"/>
          <p:cNvSpPr/>
          <p:nvPr/>
        </p:nvSpPr>
        <p:spPr>
          <a:xfrm>
            <a:off x="7406640" y="3749040"/>
            <a:ext cx="1828800" cy="822960"/>
          </a:xfrm>
          <a:prstGeom prst="rect">
            <a:avLst/>
          </a:prstGeom>
          <a:noFill/>
          <a:ln/>
        </p:spPr>
        <p:txBody>
          <a:bodyPr wrap="square" lIns="0" tIns="0" rIns="0" bIns="0" rtlCol="0" anchor="ctr"/>
          <a:lstStyle/>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p:txBody>
      </p:sp>
      <p:sp>
        <p:nvSpPr>
          <p:cNvPr id="35" name="Shape 32"/>
          <p:cNvSpPr/>
          <p:nvPr/>
        </p:nvSpPr>
        <p:spPr>
          <a:xfrm>
            <a:off x="9509760" y="1920240"/>
            <a:ext cx="2103120" cy="2743200"/>
          </a:xfrm>
          <a:prstGeom prst="rect">
            <a:avLst/>
          </a:prstGeom>
          <a:solidFill>
            <a:srgbClr val="FFFFFF"/>
          </a:solidFill>
          <a:ln w="7620">
            <a:solidFill>
              <a:srgbClr val="D6DEE8"/>
            </a:solidFill>
            <a:prstDash val="solid"/>
          </a:ln>
        </p:spPr>
      </p:sp>
      <p:sp>
        <p:nvSpPr>
          <p:cNvPr id="36" name="Shape 33"/>
          <p:cNvSpPr/>
          <p:nvPr/>
        </p:nvSpPr>
        <p:spPr>
          <a:xfrm>
            <a:off x="9509760" y="1920240"/>
            <a:ext cx="2103120" cy="365760"/>
          </a:xfrm>
          <a:prstGeom prst="rect">
            <a:avLst/>
          </a:prstGeom>
          <a:solidFill>
            <a:srgbClr val="0051A5"/>
          </a:solidFill>
          <a:ln/>
        </p:spPr>
      </p:sp>
      <p:sp>
        <p:nvSpPr>
          <p:cNvPr id="37" name="Text 34"/>
          <p:cNvSpPr/>
          <p:nvPr/>
        </p:nvSpPr>
        <p:spPr>
          <a:xfrm>
            <a:off x="9646920" y="1920240"/>
            <a:ext cx="1920240" cy="36576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Operations / SRE</a:t>
            </a:r>
            <a:endParaRPr lang="en-US" sz="1200" dirty="0"/>
          </a:p>
        </p:txBody>
      </p:sp>
      <p:sp>
        <p:nvSpPr>
          <p:cNvPr id="38" name="Text 35"/>
          <p:cNvSpPr/>
          <p:nvPr/>
        </p:nvSpPr>
        <p:spPr>
          <a:xfrm>
            <a:off x="9646920" y="2377440"/>
            <a:ext cx="1874520" cy="91440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Dedicated members · run platform · on-call · incident response · production issues raised as prioritized bugs</a:t>
            </a:r>
            <a:endParaRPr lang="en-US" sz="1000" dirty="0"/>
          </a:p>
        </p:txBody>
      </p:sp>
      <p:sp>
        <p:nvSpPr>
          <p:cNvPr id="39" name="Shape 36"/>
          <p:cNvSpPr/>
          <p:nvPr/>
        </p:nvSpPr>
        <p:spPr>
          <a:xfrm>
            <a:off x="9646920" y="3337560"/>
            <a:ext cx="365760" cy="36576"/>
          </a:xfrm>
          <a:prstGeom prst="rect">
            <a:avLst/>
          </a:prstGeom>
          <a:solidFill>
            <a:srgbClr val="FEDF01"/>
          </a:solidFill>
          <a:ln/>
        </p:spPr>
      </p:sp>
      <p:sp>
        <p:nvSpPr>
          <p:cNvPr id="40" name="Text 37"/>
          <p:cNvSpPr/>
          <p:nvPr/>
        </p:nvSpPr>
        <p:spPr>
          <a:xfrm>
            <a:off x="9646920" y="3474720"/>
            <a:ext cx="1828800" cy="22860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MEMBERS</a:t>
            </a:r>
            <a:endParaRPr lang="en-US" sz="900" dirty="0"/>
          </a:p>
        </p:txBody>
      </p:sp>
      <p:sp>
        <p:nvSpPr>
          <p:cNvPr id="41" name="Text 38"/>
          <p:cNvSpPr/>
          <p:nvPr/>
        </p:nvSpPr>
        <p:spPr>
          <a:xfrm>
            <a:off x="9646920" y="3749040"/>
            <a:ext cx="1828800" cy="822960"/>
          </a:xfrm>
          <a:prstGeom prst="rect">
            <a:avLst/>
          </a:prstGeom>
          <a:noFill/>
          <a:ln/>
        </p:spPr>
        <p:txBody>
          <a:bodyPr wrap="square" lIns="0" tIns="0" rIns="0" bIns="0" rtlCol="0" anchor="ctr"/>
          <a:lstStyle/>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a:p>
            <a:pPr indent="0" marL="0">
              <a:spcAft>
                <a:spcPts val="100"/>
              </a:spcAft>
              <a:buNone/>
            </a:pPr>
            <a:r>
              <a:rPr lang="en-US" sz="1200" b="1" dirty="0">
                <a:solidFill>
                  <a:srgbClr val="001F47"/>
                </a:solidFill>
                <a:latin typeface="Trebuchet MS" pitchFamily="34" charset="0"/>
                <a:ea typeface="Trebuchet MS" pitchFamily="34" charset="-122"/>
                <a:cs typeface="Trebuchet MS" pitchFamily="34" charset="-120"/>
              </a:rPr>
              <a:t>[Name]</a:t>
            </a:r>
            <a:endParaRPr lang="en-US" sz="1200" dirty="0"/>
          </a:p>
        </p:txBody>
      </p:sp>
      <p:sp>
        <p:nvSpPr>
          <p:cNvPr id="42" name="Shape 39"/>
          <p:cNvSpPr/>
          <p:nvPr/>
        </p:nvSpPr>
        <p:spPr>
          <a:xfrm>
            <a:off x="548640" y="4937760"/>
            <a:ext cx="11064240" cy="1188720"/>
          </a:xfrm>
          <a:prstGeom prst="rect">
            <a:avLst/>
          </a:prstGeom>
          <a:solidFill>
            <a:srgbClr val="001F47"/>
          </a:solidFill>
          <a:ln/>
        </p:spPr>
      </p:sp>
      <p:sp>
        <p:nvSpPr>
          <p:cNvPr id="43" name="Text 40"/>
          <p:cNvSpPr/>
          <p:nvPr/>
        </p:nvSpPr>
        <p:spPr>
          <a:xfrm>
            <a:off x="777240" y="5074920"/>
            <a:ext cx="10607040" cy="228600"/>
          </a:xfrm>
          <a:prstGeom prst="rect">
            <a:avLst/>
          </a:prstGeom>
          <a:noFill/>
          <a:ln/>
        </p:spPr>
        <p:txBody>
          <a:bodyPr wrap="square" lIns="0" tIns="0" rIns="0" bIns="0" rtlCol="0" anchor="ctr"/>
          <a:lstStyle/>
          <a:p>
            <a:pPr indent="0" marL="0">
              <a:buNone/>
            </a:pPr>
            <a:r>
              <a:rPr lang="en-US" sz="1000" b="1" spc="400" kern="0" dirty="0">
                <a:solidFill>
                  <a:srgbClr val="FEDF01"/>
                </a:solidFill>
                <a:latin typeface="Trebuchet MS" pitchFamily="34" charset="0"/>
                <a:ea typeface="Trebuchet MS" pitchFamily="34" charset="-122"/>
                <a:cs typeface="Trebuchet MS" pitchFamily="34" charset="-120"/>
              </a:rPr>
              <a:t>HOW WE WORK</a:t>
            </a:r>
            <a:endParaRPr lang="en-US" sz="1000" dirty="0"/>
          </a:p>
        </p:txBody>
      </p:sp>
      <p:sp>
        <p:nvSpPr>
          <p:cNvPr id="44" name="Text 41"/>
          <p:cNvSpPr/>
          <p:nvPr/>
        </p:nvSpPr>
        <p:spPr>
          <a:xfrm>
            <a:off x="777240" y="5349240"/>
            <a:ext cx="1060704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backlog · joint sprint planning · Operations members are dedicated, not consulted · production issues raised as prioritized bugs · architecture &amp; security liaisons embedded · workstreams engage the team, not individuals.</a:t>
            </a:r>
            <a:endParaRPr lang="en-US" sz="1200" dirty="0"/>
          </a:p>
        </p:txBody>
      </p:sp>
      <p:sp>
        <p:nvSpPr>
          <p:cNvPr id="45" name="Text 42"/>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15 / 30</a:t>
            </a:r>
            <a:endParaRPr lang="en-US" sz="900" dirty="0"/>
          </a:p>
        </p:txBody>
      </p:sp>
      <p:sp>
        <p:nvSpPr>
          <p:cNvPr id="46" name="Text 43"/>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14  ·  RESOURCING ASK</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Resourcing for TI Engineering, EPS &amp; Squad #4 — 2026</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75 total roles across five service families · staffing organized into Build (A–D) and Platform Support (E–F).</a:t>
            </a:r>
            <a:endParaRPr lang="en-US" sz="1300" dirty="0"/>
          </a:p>
        </p:txBody>
      </p:sp>
      <p:sp>
        <p:nvSpPr>
          <p:cNvPr id="7" name="Shape 4"/>
          <p:cNvSpPr/>
          <p:nvPr/>
        </p:nvSpPr>
        <p:spPr>
          <a:xfrm>
            <a:off x="548640" y="1920240"/>
            <a:ext cx="1691640" cy="365760"/>
          </a:xfrm>
          <a:prstGeom prst="rect">
            <a:avLst/>
          </a:prstGeom>
          <a:solidFill>
            <a:srgbClr val="F6F8FB"/>
          </a:solidFill>
          <a:ln w="5080">
            <a:solidFill>
              <a:srgbClr val="D6DEE8"/>
            </a:solidFill>
            <a:prstDash val="solid"/>
          </a:ln>
        </p:spPr>
      </p:sp>
      <p:sp>
        <p:nvSpPr>
          <p:cNvPr id="8" name="Shape 5"/>
          <p:cNvSpPr/>
          <p:nvPr/>
        </p:nvSpPr>
        <p:spPr>
          <a:xfrm>
            <a:off x="2240280" y="1920240"/>
            <a:ext cx="5303520" cy="365760"/>
          </a:xfrm>
          <a:prstGeom prst="rect">
            <a:avLst/>
          </a:prstGeom>
          <a:solidFill>
            <a:srgbClr val="0051A5"/>
          </a:solidFill>
          <a:ln/>
        </p:spPr>
      </p:sp>
      <p:sp>
        <p:nvSpPr>
          <p:cNvPr id="9" name="Text 6"/>
          <p:cNvSpPr/>
          <p:nvPr/>
        </p:nvSpPr>
        <p:spPr>
          <a:xfrm>
            <a:off x="2240280" y="1920240"/>
            <a:ext cx="5303520" cy="36576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Trebuchet MS" pitchFamily="34" charset="0"/>
                <a:ea typeface="Trebuchet MS" pitchFamily="34" charset="-122"/>
                <a:cs typeface="Trebuchet MS" pitchFamily="34" charset="-120"/>
              </a:rPr>
              <a:t>BUILD</a:t>
            </a:r>
            <a:endParaRPr lang="en-US" sz="1100" dirty="0"/>
          </a:p>
        </p:txBody>
      </p:sp>
      <p:sp>
        <p:nvSpPr>
          <p:cNvPr id="10" name="Shape 7"/>
          <p:cNvSpPr/>
          <p:nvPr/>
        </p:nvSpPr>
        <p:spPr>
          <a:xfrm>
            <a:off x="7543800" y="1920240"/>
            <a:ext cx="2651760" cy="365760"/>
          </a:xfrm>
          <a:prstGeom prst="rect">
            <a:avLst/>
          </a:prstGeom>
          <a:solidFill>
            <a:srgbClr val="001F47"/>
          </a:solidFill>
          <a:ln/>
        </p:spPr>
      </p:sp>
      <p:sp>
        <p:nvSpPr>
          <p:cNvPr id="11" name="Text 8"/>
          <p:cNvSpPr/>
          <p:nvPr/>
        </p:nvSpPr>
        <p:spPr>
          <a:xfrm>
            <a:off x="7543800" y="1920240"/>
            <a:ext cx="2651760" cy="365760"/>
          </a:xfrm>
          <a:prstGeom prst="rect">
            <a:avLst/>
          </a:prstGeom>
          <a:noFill/>
          <a:ln/>
        </p:spPr>
        <p:txBody>
          <a:bodyPr wrap="square" lIns="0" tIns="0" rIns="0" bIns="0" rtlCol="0" anchor="ctr"/>
          <a:lstStyle/>
          <a:p>
            <a:pPr algn="ctr" indent="0" marL="0">
              <a:buNone/>
            </a:pPr>
            <a:r>
              <a:rPr lang="en-US" sz="1100" b="1" spc="300" kern="0" dirty="0">
                <a:solidFill>
                  <a:srgbClr val="FEDF01"/>
                </a:solidFill>
                <a:latin typeface="Trebuchet MS" pitchFamily="34" charset="0"/>
                <a:ea typeface="Trebuchet MS" pitchFamily="34" charset="-122"/>
                <a:cs typeface="Trebuchet MS" pitchFamily="34" charset="-120"/>
              </a:rPr>
              <a:t>PLATFORM SUPPORT</a:t>
            </a:r>
            <a:endParaRPr lang="en-US" sz="1100" dirty="0"/>
          </a:p>
        </p:txBody>
      </p:sp>
      <p:sp>
        <p:nvSpPr>
          <p:cNvPr id="12" name="Shape 9"/>
          <p:cNvSpPr/>
          <p:nvPr/>
        </p:nvSpPr>
        <p:spPr>
          <a:xfrm>
            <a:off x="10195560" y="1920240"/>
            <a:ext cx="1417320" cy="365760"/>
          </a:xfrm>
          <a:prstGeom prst="rect">
            <a:avLst/>
          </a:prstGeom>
          <a:solidFill>
            <a:srgbClr val="F6F8FB"/>
          </a:solidFill>
          <a:ln w="5080">
            <a:solidFill>
              <a:srgbClr val="D6DEE8"/>
            </a:solidFill>
            <a:prstDash val="solid"/>
          </a:ln>
        </p:spPr>
      </p:sp>
      <p:sp>
        <p:nvSpPr>
          <p:cNvPr id="13" name="Shape 10"/>
          <p:cNvSpPr/>
          <p:nvPr/>
        </p:nvSpPr>
        <p:spPr>
          <a:xfrm>
            <a:off x="548640" y="2286000"/>
            <a:ext cx="1691640" cy="457200"/>
          </a:xfrm>
          <a:prstGeom prst="rect">
            <a:avLst/>
          </a:prstGeom>
          <a:solidFill>
            <a:srgbClr val="003168"/>
          </a:solidFill>
          <a:ln/>
        </p:spPr>
      </p:sp>
      <p:sp>
        <p:nvSpPr>
          <p:cNvPr id="14" name="Text 11"/>
          <p:cNvSpPr/>
          <p:nvPr/>
        </p:nvSpPr>
        <p:spPr>
          <a:xfrm>
            <a:off x="548640" y="228600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Service</a:t>
            </a:r>
            <a:endParaRPr lang="en-US" sz="1100" dirty="0"/>
          </a:p>
        </p:txBody>
      </p:sp>
      <p:sp>
        <p:nvSpPr>
          <p:cNvPr id="15" name="Shape 12"/>
          <p:cNvSpPr/>
          <p:nvPr/>
        </p:nvSpPr>
        <p:spPr>
          <a:xfrm>
            <a:off x="2240280" y="2286000"/>
            <a:ext cx="1325880" cy="457200"/>
          </a:xfrm>
          <a:prstGeom prst="rect">
            <a:avLst/>
          </a:prstGeom>
          <a:solidFill>
            <a:srgbClr val="003168"/>
          </a:solidFill>
          <a:ln/>
        </p:spPr>
      </p:sp>
      <p:sp>
        <p:nvSpPr>
          <p:cNvPr id="16" name="Shape 13"/>
          <p:cNvSpPr/>
          <p:nvPr/>
        </p:nvSpPr>
        <p:spPr>
          <a:xfrm>
            <a:off x="2756916" y="2368296"/>
            <a:ext cx="292608" cy="292608"/>
          </a:xfrm>
          <a:prstGeom prst="ellipse">
            <a:avLst/>
          </a:prstGeom>
          <a:solidFill>
            <a:srgbClr val="FEDF01"/>
          </a:solidFill>
          <a:ln/>
        </p:spPr>
      </p:sp>
      <p:sp>
        <p:nvSpPr>
          <p:cNvPr id="17" name="Text 14"/>
          <p:cNvSpPr/>
          <p:nvPr/>
        </p:nvSpPr>
        <p:spPr>
          <a:xfrm>
            <a:off x="275691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A</a:t>
            </a:r>
            <a:endParaRPr lang="en-US" sz="1300" dirty="0"/>
          </a:p>
        </p:txBody>
      </p:sp>
      <p:sp>
        <p:nvSpPr>
          <p:cNvPr id="18" name="Shape 15"/>
          <p:cNvSpPr/>
          <p:nvPr/>
        </p:nvSpPr>
        <p:spPr>
          <a:xfrm>
            <a:off x="3566160" y="2286000"/>
            <a:ext cx="1325880" cy="457200"/>
          </a:xfrm>
          <a:prstGeom prst="rect">
            <a:avLst/>
          </a:prstGeom>
          <a:solidFill>
            <a:srgbClr val="003168"/>
          </a:solidFill>
          <a:ln/>
        </p:spPr>
      </p:sp>
      <p:sp>
        <p:nvSpPr>
          <p:cNvPr id="19" name="Shape 16"/>
          <p:cNvSpPr/>
          <p:nvPr/>
        </p:nvSpPr>
        <p:spPr>
          <a:xfrm>
            <a:off x="4082796" y="2368296"/>
            <a:ext cx="292608" cy="292608"/>
          </a:xfrm>
          <a:prstGeom prst="ellipse">
            <a:avLst/>
          </a:prstGeom>
          <a:solidFill>
            <a:srgbClr val="FEDF01"/>
          </a:solidFill>
          <a:ln/>
        </p:spPr>
      </p:sp>
      <p:sp>
        <p:nvSpPr>
          <p:cNvPr id="20" name="Text 17"/>
          <p:cNvSpPr/>
          <p:nvPr/>
        </p:nvSpPr>
        <p:spPr>
          <a:xfrm>
            <a:off x="408279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B</a:t>
            </a:r>
            <a:endParaRPr lang="en-US" sz="1300" dirty="0"/>
          </a:p>
        </p:txBody>
      </p:sp>
      <p:sp>
        <p:nvSpPr>
          <p:cNvPr id="21" name="Shape 18"/>
          <p:cNvSpPr/>
          <p:nvPr/>
        </p:nvSpPr>
        <p:spPr>
          <a:xfrm>
            <a:off x="4892040" y="2286000"/>
            <a:ext cx="1325880" cy="457200"/>
          </a:xfrm>
          <a:prstGeom prst="rect">
            <a:avLst/>
          </a:prstGeom>
          <a:solidFill>
            <a:srgbClr val="003168"/>
          </a:solidFill>
          <a:ln/>
        </p:spPr>
      </p:sp>
      <p:sp>
        <p:nvSpPr>
          <p:cNvPr id="22" name="Shape 19"/>
          <p:cNvSpPr/>
          <p:nvPr/>
        </p:nvSpPr>
        <p:spPr>
          <a:xfrm>
            <a:off x="5408676" y="2368296"/>
            <a:ext cx="292608" cy="292608"/>
          </a:xfrm>
          <a:prstGeom prst="ellipse">
            <a:avLst/>
          </a:prstGeom>
          <a:solidFill>
            <a:srgbClr val="FEDF01"/>
          </a:solidFill>
          <a:ln/>
        </p:spPr>
      </p:sp>
      <p:sp>
        <p:nvSpPr>
          <p:cNvPr id="23" name="Text 20"/>
          <p:cNvSpPr/>
          <p:nvPr/>
        </p:nvSpPr>
        <p:spPr>
          <a:xfrm>
            <a:off x="540867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C</a:t>
            </a:r>
            <a:endParaRPr lang="en-US" sz="1300" dirty="0"/>
          </a:p>
        </p:txBody>
      </p:sp>
      <p:sp>
        <p:nvSpPr>
          <p:cNvPr id="24" name="Shape 21"/>
          <p:cNvSpPr/>
          <p:nvPr/>
        </p:nvSpPr>
        <p:spPr>
          <a:xfrm>
            <a:off x="6217920" y="2286000"/>
            <a:ext cx="1325880" cy="457200"/>
          </a:xfrm>
          <a:prstGeom prst="rect">
            <a:avLst/>
          </a:prstGeom>
          <a:solidFill>
            <a:srgbClr val="003168"/>
          </a:solidFill>
          <a:ln/>
        </p:spPr>
      </p:sp>
      <p:sp>
        <p:nvSpPr>
          <p:cNvPr id="25" name="Shape 22"/>
          <p:cNvSpPr/>
          <p:nvPr/>
        </p:nvSpPr>
        <p:spPr>
          <a:xfrm>
            <a:off x="6734556" y="2368296"/>
            <a:ext cx="292608" cy="292608"/>
          </a:xfrm>
          <a:prstGeom prst="ellipse">
            <a:avLst/>
          </a:prstGeom>
          <a:solidFill>
            <a:srgbClr val="FEDF01"/>
          </a:solidFill>
          <a:ln/>
        </p:spPr>
      </p:sp>
      <p:sp>
        <p:nvSpPr>
          <p:cNvPr id="26" name="Text 23"/>
          <p:cNvSpPr/>
          <p:nvPr/>
        </p:nvSpPr>
        <p:spPr>
          <a:xfrm>
            <a:off x="673455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D</a:t>
            </a:r>
            <a:endParaRPr lang="en-US" sz="1300" dirty="0"/>
          </a:p>
        </p:txBody>
      </p:sp>
      <p:sp>
        <p:nvSpPr>
          <p:cNvPr id="27" name="Shape 24"/>
          <p:cNvSpPr/>
          <p:nvPr/>
        </p:nvSpPr>
        <p:spPr>
          <a:xfrm>
            <a:off x="7543800" y="2286000"/>
            <a:ext cx="1325880" cy="457200"/>
          </a:xfrm>
          <a:prstGeom prst="rect">
            <a:avLst/>
          </a:prstGeom>
          <a:solidFill>
            <a:srgbClr val="003168"/>
          </a:solidFill>
          <a:ln/>
        </p:spPr>
      </p:sp>
      <p:sp>
        <p:nvSpPr>
          <p:cNvPr id="28" name="Shape 25"/>
          <p:cNvSpPr/>
          <p:nvPr/>
        </p:nvSpPr>
        <p:spPr>
          <a:xfrm>
            <a:off x="8060436" y="2368296"/>
            <a:ext cx="292608" cy="292608"/>
          </a:xfrm>
          <a:prstGeom prst="ellipse">
            <a:avLst/>
          </a:prstGeom>
          <a:solidFill>
            <a:srgbClr val="FEDF01"/>
          </a:solidFill>
          <a:ln/>
        </p:spPr>
      </p:sp>
      <p:sp>
        <p:nvSpPr>
          <p:cNvPr id="29" name="Text 26"/>
          <p:cNvSpPr/>
          <p:nvPr/>
        </p:nvSpPr>
        <p:spPr>
          <a:xfrm>
            <a:off x="806043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E</a:t>
            </a:r>
            <a:endParaRPr lang="en-US" sz="1300" dirty="0"/>
          </a:p>
        </p:txBody>
      </p:sp>
      <p:sp>
        <p:nvSpPr>
          <p:cNvPr id="30" name="Shape 27"/>
          <p:cNvSpPr/>
          <p:nvPr/>
        </p:nvSpPr>
        <p:spPr>
          <a:xfrm>
            <a:off x="8869680" y="2286000"/>
            <a:ext cx="1325880" cy="457200"/>
          </a:xfrm>
          <a:prstGeom prst="rect">
            <a:avLst/>
          </a:prstGeom>
          <a:solidFill>
            <a:srgbClr val="003168"/>
          </a:solidFill>
          <a:ln/>
        </p:spPr>
      </p:sp>
      <p:sp>
        <p:nvSpPr>
          <p:cNvPr id="31" name="Shape 28"/>
          <p:cNvSpPr/>
          <p:nvPr/>
        </p:nvSpPr>
        <p:spPr>
          <a:xfrm>
            <a:off x="9386316" y="2368296"/>
            <a:ext cx="292608" cy="292608"/>
          </a:xfrm>
          <a:prstGeom prst="ellipse">
            <a:avLst/>
          </a:prstGeom>
          <a:solidFill>
            <a:srgbClr val="FEDF01"/>
          </a:solidFill>
          <a:ln/>
        </p:spPr>
      </p:sp>
      <p:sp>
        <p:nvSpPr>
          <p:cNvPr id="32" name="Text 29"/>
          <p:cNvSpPr/>
          <p:nvPr/>
        </p:nvSpPr>
        <p:spPr>
          <a:xfrm>
            <a:off x="9386316" y="236829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F</a:t>
            </a:r>
            <a:endParaRPr lang="en-US" sz="1300" dirty="0"/>
          </a:p>
        </p:txBody>
      </p:sp>
      <p:sp>
        <p:nvSpPr>
          <p:cNvPr id="33" name="Shape 30"/>
          <p:cNvSpPr/>
          <p:nvPr/>
        </p:nvSpPr>
        <p:spPr>
          <a:xfrm>
            <a:off x="10195560" y="2286000"/>
            <a:ext cx="1417320" cy="457200"/>
          </a:xfrm>
          <a:prstGeom prst="rect">
            <a:avLst/>
          </a:prstGeom>
          <a:solidFill>
            <a:srgbClr val="003168"/>
          </a:solidFill>
          <a:ln/>
        </p:spPr>
      </p:sp>
      <p:sp>
        <p:nvSpPr>
          <p:cNvPr id="34" name="Text 31"/>
          <p:cNvSpPr/>
          <p:nvPr/>
        </p:nvSpPr>
        <p:spPr>
          <a:xfrm>
            <a:off x="10195560" y="228600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Total</a:t>
            </a:r>
            <a:endParaRPr lang="en-US" sz="1100" dirty="0"/>
          </a:p>
        </p:txBody>
      </p:sp>
      <p:sp>
        <p:nvSpPr>
          <p:cNvPr id="35" name="Shape 32"/>
          <p:cNvSpPr/>
          <p:nvPr/>
        </p:nvSpPr>
        <p:spPr>
          <a:xfrm>
            <a:off x="548640" y="2743200"/>
            <a:ext cx="1691640" cy="411480"/>
          </a:xfrm>
          <a:prstGeom prst="rect">
            <a:avLst/>
          </a:prstGeom>
          <a:solidFill>
            <a:srgbClr val="FFF8DD"/>
          </a:solidFill>
          <a:ln w="10160">
            <a:solidFill>
              <a:srgbClr val="C9AC00"/>
            </a:solidFill>
            <a:prstDash val="solid"/>
          </a:ln>
        </p:spPr>
      </p:sp>
      <p:sp>
        <p:nvSpPr>
          <p:cNvPr id="36" name="Text 33"/>
          <p:cNvSpPr/>
          <p:nvPr/>
        </p:nvSpPr>
        <p:spPr>
          <a:xfrm>
            <a:off x="548640" y="2743200"/>
            <a:ext cx="1691640" cy="411480"/>
          </a:xfrm>
          <a:prstGeom prst="rect">
            <a:avLst/>
          </a:prstGeom>
          <a:noFill/>
          <a:ln/>
        </p:spPr>
        <p:txBody>
          <a:bodyPr wrap="square" lIns="1270" tIns="1270" rIns="1270" bIns="1270" rtlCol="0" anchor="ctr"/>
          <a:lstStyle/>
          <a:p>
            <a:pPr algn="l" indent="0" marL="0">
              <a:buNone/>
            </a:pPr>
            <a:r>
              <a:rPr lang="en-US" sz="1100" b="1" dirty="0">
                <a:solidFill>
                  <a:srgbClr val="0051A5"/>
                </a:solidFill>
                <a:latin typeface="Trebuchet MS" pitchFamily="34" charset="0"/>
                <a:ea typeface="Trebuchet MS" pitchFamily="34" charset="-122"/>
                <a:cs typeface="Trebuchet MS" pitchFamily="34" charset="-120"/>
              </a:rPr>
              <a:t>Database</a:t>
            </a:r>
            <a:endParaRPr lang="en-US" sz="1100" dirty="0"/>
          </a:p>
        </p:txBody>
      </p:sp>
      <p:sp>
        <p:nvSpPr>
          <p:cNvPr id="37" name="Shape 34"/>
          <p:cNvSpPr/>
          <p:nvPr/>
        </p:nvSpPr>
        <p:spPr>
          <a:xfrm>
            <a:off x="2240280" y="2743200"/>
            <a:ext cx="1325880" cy="411480"/>
          </a:xfrm>
          <a:prstGeom prst="rect">
            <a:avLst/>
          </a:prstGeom>
          <a:solidFill>
            <a:srgbClr val="FFF8DD"/>
          </a:solidFill>
          <a:ln w="10160">
            <a:solidFill>
              <a:srgbClr val="C9AC00"/>
            </a:solidFill>
            <a:prstDash val="solid"/>
          </a:ln>
        </p:spPr>
      </p:sp>
      <p:sp>
        <p:nvSpPr>
          <p:cNvPr id="38" name="Text 35"/>
          <p:cNvSpPr/>
          <p:nvPr/>
        </p:nvSpPr>
        <p:spPr>
          <a:xfrm>
            <a:off x="224028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7</a:t>
            </a:r>
            <a:endParaRPr lang="en-US" sz="1300" dirty="0"/>
          </a:p>
        </p:txBody>
      </p:sp>
      <p:sp>
        <p:nvSpPr>
          <p:cNvPr id="39" name="Shape 36"/>
          <p:cNvSpPr/>
          <p:nvPr/>
        </p:nvSpPr>
        <p:spPr>
          <a:xfrm>
            <a:off x="3566160" y="2743200"/>
            <a:ext cx="1325880" cy="411480"/>
          </a:xfrm>
          <a:prstGeom prst="rect">
            <a:avLst/>
          </a:prstGeom>
          <a:solidFill>
            <a:srgbClr val="FFF8DD"/>
          </a:solidFill>
          <a:ln w="10160">
            <a:solidFill>
              <a:srgbClr val="C9AC00"/>
            </a:solidFill>
            <a:prstDash val="solid"/>
          </a:ln>
        </p:spPr>
      </p:sp>
      <p:sp>
        <p:nvSpPr>
          <p:cNvPr id="40" name="Text 37"/>
          <p:cNvSpPr/>
          <p:nvPr/>
        </p:nvSpPr>
        <p:spPr>
          <a:xfrm>
            <a:off x="356616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a:t>
            </a:r>
            <a:endParaRPr lang="en-US" sz="1300" dirty="0"/>
          </a:p>
        </p:txBody>
      </p:sp>
      <p:sp>
        <p:nvSpPr>
          <p:cNvPr id="41" name="Shape 38"/>
          <p:cNvSpPr/>
          <p:nvPr/>
        </p:nvSpPr>
        <p:spPr>
          <a:xfrm>
            <a:off x="4892040" y="2743200"/>
            <a:ext cx="1325880" cy="411480"/>
          </a:xfrm>
          <a:prstGeom prst="rect">
            <a:avLst/>
          </a:prstGeom>
          <a:solidFill>
            <a:srgbClr val="FFF8DD"/>
          </a:solidFill>
          <a:ln w="10160">
            <a:solidFill>
              <a:srgbClr val="C9AC00"/>
            </a:solidFill>
            <a:prstDash val="solid"/>
          </a:ln>
        </p:spPr>
      </p:sp>
      <p:sp>
        <p:nvSpPr>
          <p:cNvPr id="42" name="Text 39"/>
          <p:cNvSpPr/>
          <p:nvPr/>
        </p:nvSpPr>
        <p:spPr>
          <a:xfrm>
            <a:off x="489204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43" name="Shape 40"/>
          <p:cNvSpPr/>
          <p:nvPr/>
        </p:nvSpPr>
        <p:spPr>
          <a:xfrm>
            <a:off x="6217920" y="2743200"/>
            <a:ext cx="1325880" cy="411480"/>
          </a:xfrm>
          <a:prstGeom prst="rect">
            <a:avLst/>
          </a:prstGeom>
          <a:solidFill>
            <a:srgbClr val="FFF8DD"/>
          </a:solidFill>
          <a:ln w="10160">
            <a:solidFill>
              <a:srgbClr val="C9AC00"/>
            </a:solidFill>
            <a:prstDash val="solid"/>
          </a:ln>
        </p:spPr>
      </p:sp>
      <p:sp>
        <p:nvSpPr>
          <p:cNvPr id="44" name="Text 41"/>
          <p:cNvSpPr/>
          <p:nvPr/>
        </p:nvSpPr>
        <p:spPr>
          <a:xfrm>
            <a:off x="621792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3</a:t>
            </a:r>
            <a:endParaRPr lang="en-US" sz="1300" dirty="0"/>
          </a:p>
        </p:txBody>
      </p:sp>
      <p:sp>
        <p:nvSpPr>
          <p:cNvPr id="45" name="Shape 42"/>
          <p:cNvSpPr/>
          <p:nvPr/>
        </p:nvSpPr>
        <p:spPr>
          <a:xfrm>
            <a:off x="7543800" y="2743200"/>
            <a:ext cx="1325880" cy="411480"/>
          </a:xfrm>
          <a:prstGeom prst="rect">
            <a:avLst/>
          </a:prstGeom>
          <a:solidFill>
            <a:srgbClr val="FFF8DD"/>
          </a:solidFill>
          <a:ln w="10160">
            <a:solidFill>
              <a:srgbClr val="C9AC00"/>
            </a:solidFill>
            <a:prstDash val="solid"/>
          </a:ln>
        </p:spPr>
      </p:sp>
      <p:sp>
        <p:nvSpPr>
          <p:cNvPr id="46" name="Text 43"/>
          <p:cNvSpPr/>
          <p:nvPr/>
        </p:nvSpPr>
        <p:spPr>
          <a:xfrm>
            <a:off x="754380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47" name="Shape 44"/>
          <p:cNvSpPr/>
          <p:nvPr/>
        </p:nvSpPr>
        <p:spPr>
          <a:xfrm>
            <a:off x="8869680" y="2743200"/>
            <a:ext cx="1325880" cy="411480"/>
          </a:xfrm>
          <a:prstGeom prst="rect">
            <a:avLst/>
          </a:prstGeom>
          <a:solidFill>
            <a:srgbClr val="FFF8DD"/>
          </a:solidFill>
          <a:ln w="10160">
            <a:solidFill>
              <a:srgbClr val="C9AC00"/>
            </a:solidFill>
            <a:prstDash val="solid"/>
          </a:ln>
        </p:spPr>
      </p:sp>
      <p:sp>
        <p:nvSpPr>
          <p:cNvPr id="48" name="Text 45"/>
          <p:cNvSpPr/>
          <p:nvPr/>
        </p:nvSpPr>
        <p:spPr>
          <a:xfrm>
            <a:off x="8869680" y="274320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5</a:t>
            </a:r>
            <a:endParaRPr lang="en-US" sz="1300" dirty="0"/>
          </a:p>
        </p:txBody>
      </p:sp>
      <p:sp>
        <p:nvSpPr>
          <p:cNvPr id="49" name="Shape 46"/>
          <p:cNvSpPr/>
          <p:nvPr/>
        </p:nvSpPr>
        <p:spPr>
          <a:xfrm>
            <a:off x="10195560" y="2743200"/>
            <a:ext cx="1417320" cy="411480"/>
          </a:xfrm>
          <a:prstGeom prst="rect">
            <a:avLst/>
          </a:prstGeom>
          <a:solidFill>
            <a:srgbClr val="FFF8DD"/>
          </a:solidFill>
          <a:ln w="10160">
            <a:solidFill>
              <a:srgbClr val="C9AC00"/>
            </a:solidFill>
            <a:prstDash val="solid"/>
          </a:ln>
        </p:spPr>
      </p:sp>
      <p:sp>
        <p:nvSpPr>
          <p:cNvPr id="50" name="Text 47"/>
          <p:cNvSpPr/>
          <p:nvPr/>
        </p:nvSpPr>
        <p:spPr>
          <a:xfrm>
            <a:off x="10195560" y="2743200"/>
            <a:ext cx="141732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17</a:t>
            </a:r>
            <a:endParaRPr lang="en-US" sz="1300" dirty="0"/>
          </a:p>
        </p:txBody>
      </p:sp>
      <p:sp>
        <p:nvSpPr>
          <p:cNvPr id="51" name="Shape 48"/>
          <p:cNvSpPr/>
          <p:nvPr/>
        </p:nvSpPr>
        <p:spPr>
          <a:xfrm>
            <a:off x="548640" y="3154680"/>
            <a:ext cx="1691640" cy="411480"/>
          </a:xfrm>
          <a:prstGeom prst="rect">
            <a:avLst/>
          </a:prstGeom>
          <a:solidFill>
            <a:srgbClr val="FFF8DD"/>
          </a:solidFill>
          <a:ln w="10160">
            <a:solidFill>
              <a:srgbClr val="C9AC00"/>
            </a:solidFill>
            <a:prstDash val="solid"/>
          </a:ln>
        </p:spPr>
      </p:sp>
      <p:sp>
        <p:nvSpPr>
          <p:cNvPr id="52" name="Text 49"/>
          <p:cNvSpPr/>
          <p:nvPr/>
        </p:nvSpPr>
        <p:spPr>
          <a:xfrm>
            <a:off x="548640" y="3154680"/>
            <a:ext cx="1691640" cy="411480"/>
          </a:xfrm>
          <a:prstGeom prst="rect">
            <a:avLst/>
          </a:prstGeom>
          <a:noFill/>
          <a:ln/>
        </p:spPr>
        <p:txBody>
          <a:bodyPr wrap="square" lIns="1270" tIns="1270" rIns="1270" bIns="1270" rtlCol="0" anchor="ctr"/>
          <a:lstStyle/>
          <a:p>
            <a:pPr algn="l" indent="0" marL="0">
              <a:buNone/>
            </a:pPr>
            <a:r>
              <a:rPr lang="en-US" sz="1100" b="1" dirty="0">
                <a:solidFill>
                  <a:srgbClr val="0051A5"/>
                </a:solidFill>
                <a:latin typeface="Trebuchet MS" pitchFamily="34" charset="0"/>
                <a:ea typeface="Trebuchet MS" pitchFamily="34" charset="-122"/>
                <a:cs typeface="Trebuchet MS" pitchFamily="34" charset="-120"/>
              </a:rPr>
              <a:t>Compute</a:t>
            </a:r>
            <a:endParaRPr lang="en-US" sz="1100" dirty="0"/>
          </a:p>
        </p:txBody>
      </p:sp>
      <p:sp>
        <p:nvSpPr>
          <p:cNvPr id="53" name="Shape 50"/>
          <p:cNvSpPr/>
          <p:nvPr/>
        </p:nvSpPr>
        <p:spPr>
          <a:xfrm>
            <a:off x="2240280" y="3154680"/>
            <a:ext cx="1325880" cy="411480"/>
          </a:xfrm>
          <a:prstGeom prst="rect">
            <a:avLst/>
          </a:prstGeom>
          <a:solidFill>
            <a:srgbClr val="FFF8DD"/>
          </a:solidFill>
          <a:ln w="10160">
            <a:solidFill>
              <a:srgbClr val="C9AC00"/>
            </a:solidFill>
            <a:prstDash val="solid"/>
          </a:ln>
        </p:spPr>
      </p:sp>
      <p:sp>
        <p:nvSpPr>
          <p:cNvPr id="54" name="Text 51"/>
          <p:cNvSpPr/>
          <p:nvPr/>
        </p:nvSpPr>
        <p:spPr>
          <a:xfrm>
            <a:off x="224028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3</a:t>
            </a:r>
            <a:endParaRPr lang="en-US" sz="1300" dirty="0"/>
          </a:p>
        </p:txBody>
      </p:sp>
      <p:sp>
        <p:nvSpPr>
          <p:cNvPr id="55" name="Shape 52"/>
          <p:cNvSpPr/>
          <p:nvPr/>
        </p:nvSpPr>
        <p:spPr>
          <a:xfrm>
            <a:off x="3566160" y="3154680"/>
            <a:ext cx="1325880" cy="411480"/>
          </a:xfrm>
          <a:prstGeom prst="rect">
            <a:avLst/>
          </a:prstGeom>
          <a:solidFill>
            <a:srgbClr val="FFF8DD"/>
          </a:solidFill>
          <a:ln w="10160">
            <a:solidFill>
              <a:srgbClr val="C9AC00"/>
            </a:solidFill>
            <a:prstDash val="solid"/>
          </a:ln>
        </p:spPr>
      </p:sp>
      <p:sp>
        <p:nvSpPr>
          <p:cNvPr id="56" name="Text 53"/>
          <p:cNvSpPr/>
          <p:nvPr/>
        </p:nvSpPr>
        <p:spPr>
          <a:xfrm>
            <a:off x="356616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57" name="Shape 54"/>
          <p:cNvSpPr/>
          <p:nvPr/>
        </p:nvSpPr>
        <p:spPr>
          <a:xfrm>
            <a:off x="4892040" y="3154680"/>
            <a:ext cx="1325880" cy="411480"/>
          </a:xfrm>
          <a:prstGeom prst="rect">
            <a:avLst/>
          </a:prstGeom>
          <a:solidFill>
            <a:srgbClr val="FFF8DD"/>
          </a:solidFill>
          <a:ln w="10160">
            <a:solidFill>
              <a:srgbClr val="C9AC00"/>
            </a:solidFill>
            <a:prstDash val="solid"/>
          </a:ln>
        </p:spPr>
      </p:sp>
      <p:sp>
        <p:nvSpPr>
          <p:cNvPr id="58" name="Text 55"/>
          <p:cNvSpPr/>
          <p:nvPr/>
        </p:nvSpPr>
        <p:spPr>
          <a:xfrm>
            <a:off x="489204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59" name="Shape 56"/>
          <p:cNvSpPr/>
          <p:nvPr/>
        </p:nvSpPr>
        <p:spPr>
          <a:xfrm>
            <a:off x="6217920" y="3154680"/>
            <a:ext cx="1325880" cy="411480"/>
          </a:xfrm>
          <a:prstGeom prst="rect">
            <a:avLst/>
          </a:prstGeom>
          <a:solidFill>
            <a:srgbClr val="FFF8DD"/>
          </a:solidFill>
          <a:ln w="10160">
            <a:solidFill>
              <a:srgbClr val="C9AC00"/>
            </a:solidFill>
            <a:prstDash val="solid"/>
          </a:ln>
        </p:spPr>
      </p:sp>
      <p:sp>
        <p:nvSpPr>
          <p:cNvPr id="60" name="Text 57"/>
          <p:cNvSpPr/>
          <p:nvPr/>
        </p:nvSpPr>
        <p:spPr>
          <a:xfrm>
            <a:off x="621792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61" name="Shape 58"/>
          <p:cNvSpPr/>
          <p:nvPr/>
        </p:nvSpPr>
        <p:spPr>
          <a:xfrm>
            <a:off x="7543800" y="3154680"/>
            <a:ext cx="1325880" cy="411480"/>
          </a:xfrm>
          <a:prstGeom prst="rect">
            <a:avLst/>
          </a:prstGeom>
          <a:solidFill>
            <a:srgbClr val="FFF8DD"/>
          </a:solidFill>
          <a:ln w="10160">
            <a:solidFill>
              <a:srgbClr val="C9AC00"/>
            </a:solidFill>
            <a:prstDash val="solid"/>
          </a:ln>
        </p:spPr>
      </p:sp>
      <p:sp>
        <p:nvSpPr>
          <p:cNvPr id="62" name="Text 59"/>
          <p:cNvSpPr/>
          <p:nvPr/>
        </p:nvSpPr>
        <p:spPr>
          <a:xfrm>
            <a:off x="754380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63" name="Shape 60"/>
          <p:cNvSpPr/>
          <p:nvPr/>
        </p:nvSpPr>
        <p:spPr>
          <a:xfrm>
            <a:off x="8869680" y="3154680"/>
            <a:ext cx="1325880" cy="411480"/>
          </a:xfrm>
          <a:prstGeom prst="rect">
            <a:avLst/>
          </a:prstGeom>
          <a:solidFill>
            <a:srgbClr val="FFF8DD"/>
          </a:solidFill>
          <a:ln w="10160">
            <a:solidFill>
              <a:srgbClr val="C9AC00"/>
            </a:solidFill>
            <a:prstDash val="solid"/>
          </a:ln>
        </p:spPr>
      </p:sp>
      <p:sp>
        <p:nvSpPr>
          <p:cNvPr id="64" name="Text 61"/>
          <p:cNvSpPr/>
          <p:nvPr/>
        </p:nvSpPr>
        <p:spPr>
          <a:xfrm>
            <a:off x="8869680" y="3154680"/>
            <a:ext cx="132588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4</a:t>
            </a:r>
            <a:endParaRPr lang="en-US" sz="1300" dirty="0"/>
          </a:p>
        </p:txBody>
      </p:sp>
      <p:sp>
        <p:nvSpPr>
          <p:cNvPr id="65" name="Shape 62"/>
          <p:cNvSpPr/>
          <p:nvPr/>
        </p:nvSpPr>
        <p:spPr>
          <a:xfrm>
            <a:off x="10195560" y="3154680"/>
            <a:ext cx="1417320" cy="411480"/>
          </a:xfrm>
          <a:prstGeom prst="rect">
            <a:avLst/>
          </a:prstGeom>
          <a:solidFill>
            <a:srgbClr val="FFF8DD"/>
          </a:solidFill>
          <a:ln w="10160">
            <a:solidFill>
              <a:srgbClr val="C9AC00"/>
            </a:solidFill>
            <a:prstDash val="solid"/>
          </a:ln>
        </p:spPr>
      </p:sp>
      <p:sp>
        <p:nvSpPr>
          <p:cNvPr id="66" name="Text 63"/>
          <p:cNvSpPr/>
          <p:nvPr/>
        </p:nvSpPr>
        <p:spPr>
          <a:xfrm>
            <a:off x="10195560" y="3154680"/>
            <a:ext cx="141732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10</a:t>
            </a:r>
            <a:endParaRPr lang="en-US" sz="1300" dirty="0"/>
          </a:p>
        </p:txBody>
      </p:sp>
      <p:sp>
        <p:nvSpPr>
          <p:cNvPr id="67" name="Shape 64"/>
          <p:cNvSpPr/>
          <p:nvPr/>
        </p:nvSpPr>
        <p:spPr>
          <a:xfrm>
            <a:off x="548640" y="3566160"/>
            <a:ext cx="1691640" cy="411480"/>
          </a:xfrm>
          <a:prstGeom prst="rect">
            <a:avLst/>
          </a:prstGeom>
          <a:solidFill>
            <a:srgbClr val="F6F8FB"/>
          </a:solidFill>
          <a:ln w="5080">
            <a:solidFill>
              <a:srgbClr val="D6DEE8"/>
            </a:solidFill>
            <a:prstDash val="solid"/>
          </a:ln>
        </p:spPr>
      </p:sp>
      <p:sp>
        <p:nvSpPr>
          <p:cNvPr id="68" name="Text 65"/>
          <p:cNvSpPr/>
          <p:nvPr/>
        </p:nvSpPr>
        <p:spPr>
          <a:xfrm>
            <a:off x="548640" y="3566160"/>
            <a:ext cx="1691640" cy="41148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Storage</a:t>
            </a:r>
            <a:endParaRPr lang="en-US" sz="1100" dirty="0"/>
          </a:p>
        </p:txBody>
      </p:sp>
      <p:sp>
        <p:nvSpPr>
          <p:cNvPr id="69" name="Shape 66"/>
          <p:cNvSpPr/>
          <p:nvPr/>
        </p:nvSpPr>
        <p:spPr>
          <a:xfrm>
            <a:off x="2240280" y="3566160"/>
            <a:ext cx="1325880" cy="411480"/>
          </a:xfrm>
          <a:prstGeom prst="rect">
            <a:avLst/>
          </a:prstGeom>
          <a:solidFill>
            <a:srgbClr val="F6F8FB"/>
          </a:solidFill>
          <a:ln w="5080">
            <a:solidFill>
              <a:srgbClr val="D6DEE8"/>
            </a:solidFill>
            <a:prstDash val="solid"/>
          </a:ln>
        </p:spPr>
      </p:sp>
      <p:sp>
        <p:nvSpPr>
          <p:cNvPr id="70" name="Text 67"/>
          <p:cNvSpPr/>
          <p:nvPr/>
        </p:nvSpPr>
        <p:spPr>
          <a:xfrm>
            <a:off x="224028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71" name="Shape 68"/>
          <p:cNvSpPr/>
          <p:nvPr/>
        </p:nvSpPr>
        <p:spPr>
          <a:xfrm>
            <a:off x="3566160" y="3566160"/>
            <a:ext cx="1325880" cy="411480"/>
          </a:xfrm>
          <a:prstGeom prst="rect">
            <a:avLst/>
          </a:prstGeom>
          <a:solidFill>
            <a:srgbClr val="F6F8FB"/>
          </a:solidFill>
          <a:ln w="5080">
            <a:solidFill>
              <a:srgbClr val="D6DEE8"/>
            </a:solidFill>
            <a:prstDash val="solid"/>
          </a:ln>
        </p:spPr>
      </p:sp>
      <p:sp>
        <p:nvSpPr>
          <p:cNvPr id="72" name="Text 69"/>
          <p:cNvSpPr/>
          <p:nvPr/>
        </p:nvSpPr>
        <p:spPr>
          <a:xfrm>
            <a:off x="356616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73" name="Shape 70"/>
          <p:cNvSpPr/>
          <p:nvPr/>
        </p:nvSpPr>
        <p:spPr>
          <a:xfrm>
            <a:off x="4892040" y="3566160"/>
            <a:ext cx="1325880" cy="411480"/>
          </a:xfrm>
          <a:prstGeom prst="rect">
            <a:avLst/>
          </a:prstGeom>
          <a:solidFill>
            <a:srgbClr val="F6F8FB"/>
          </a:solidFill>
          <a:ln w="5080">
            <a:solidFill>
              <a:srgbClr val="D6DEE8"/>
            </a:solidFill>
            <a:prstDash val="solid"/>
          </a:ln>
        </p:spPr>
      </p:sp>
      <p:sp>
        <p:nvSpPr>
          <p:cNvPr id="74" name="Text 71"/>
          <p:cNvSpPr/>
          <p:nvPr/>
        </p:nvSpPr>
        <p:spPr>
          <a:xfrm>
            <a:off x="489204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75" name="Shape 72"/>
          <p:cNvSpPr/>
          <p:nvPr/>
        </p:nvSpPr>
        <p:spPr>
          <a:xfrm>
            <a:off x="6217920" y="3566160"/>
            <a:ext cx="1325880" cy="411480"/>
          </a:xfrm>
          <a:prstGeom prst="rect">
            <a:avLst/>
          </a:prstGeom>
          <a:solidFill>
            <a:srgbClr val="F6F8FB"/>
          </a:solidFill>
          <a:ln w="5080">
            <a:solidFill>
              <a:srgbClr val="D6DEE8"/>
            </a:solidFill>
            <a:prstDash val="solid"/>
          </a:ln>
        </p:spPr>
      </p:sp>
      <p:sp>
        <p:nvSpPr>
          <p:cNvPr id="76" name="Text 73"/>
          <p:cNvSpPr/>
          <p:nvPr/>
        </p:nvSpPr>
        <p:spPr>
          <a:xfrm>
            <a:off x="621792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2</a:t>
            </a:r>
            <a:endParaRPr lang="en-US" sz="1300" dirty="0"/>
          </a:p>
        </p:txBody>
      </p:sp>
      <p:sp>
        <p:nvSpPr>
          <p:cNvPr id="77" name="Shape 74"/>
          <p:cNvSpPr/>
          <p:nvPr/>
        </p:nvSpPr>
        <p:spPr>
          <a:xfrm>
            <a:off x="7543800" y="3566160"/>
            <a:ext cx="1325880" cy="411480"/>
          </a:xfrm>
          <a:prstGeom prst="rect">
            <a:avLst/>
          </a:prstGeom>
          <a:solidFill>
            <a:srgbClr val="F6F8FB"/>
          </a:solidFill>
          <a:ln w="5080">
            <a:solidFill>
              <a:srgbClr val="D6DEE8"/>
            </a:solidFill>
            <a:prstDash val="solid"/>
          </a:ln>
        </p:spPr>
      </p:sp>
      <p:sp>
        <p:nvSpPr>
          <p:cNvPr id="78" name="Text 75"/>
          <p:cNvSpPr/>
          <p:nvPr/>
        </p:nvSpPr>
        <p:spPr>
          <a:xfrm>
            <a:off x="754380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79" name="Shape 76"/>
          <p:cNvSpPr/>
          <p:nvPr/>
        </p:nvSpPr>
        <p:spPr>
          <a:xfrm>
            <a:off x="8869680" y="3566160"/>
            <a:ext cx="1325880" cy="411480"/>
          </a:xfrm>
          <a:prstGeom prst="rect">
            <a:avLst/>
          </a:prstGeom>
          <a:solidFill>
            <a:srgbClr val="F6F8FB"/>
          </a:solidFill>
          <a:ln w="5080">
            <a:solidFill>
              <a:srgbClr val="D6DEE8"/>
            </a:solidFill>
            <a:prstDash val="solid"/>
          </a:ln>
        </p:spPr>
      </p:sp>
      <p:sp>
        <p:nvSpPr>
          <p:cNvPr id="80" name="Text 77"/>
          <p:cNvSpPr/>
          <p:nvPr/>
        </p:nvSpPr>
        <p:spPr>
          <a:xfrm>
            <a:off x="8869680" y="356616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3</a:t>
            </a:r>
            <a:endParaRPr lang="en-US" sz="1300" dirty="0"/>
          </a:p>
        </p:txBody>
      </p:sp>
      <p:sp>
        <p:nvSpPr>
          <p:cNvPr id="81" name="Shape 78"/>
          <p:cNvSpPr/>
          <p:nvPr/>
        </p:nvSpPr>
        <p:spPr>
          <a:xfrm>
            <a:off x="10195560" y="3566160"/>
            <a:ext cx="1417320" cy="411480"/>
          </a:xfrm>
          <a:prstGeom prst="rect">
            <a:avLst/>
          </a:prstGeom>
          <a:solidFill>
            <a:srgbClr val="F6F8FB"/>
          </a:solidFill>
          <a:ln w="5080">
            <a:solidFill>
              <a:srgbClr val="D6DEE8"/>
            </a:solidFill>
            <a:prstDash val="solid"/>
          </a:ln>
        </p:spPr>
      </p:sp>
      <p:sp>
        <p:nvSpPr>
          <p:cNvPr id="82" name="Text 79"/>
          <p:cNvSpPr/>
          <p:nvPr/>
        </p:nvSpPr>
        <p:spPr>
          <a:xfrm>
            <a:off x="10195560" y="3566160"/>
            <a:ext cx="141732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7</a:t>
            </a:r>
            <a:endParaRPr lang="en-US" sz="1300" dirty="0"/>
          </a:p>
        </p:txBody>
      </p:sp>
      <p:sp>
        <p:nvSpPr>
          <p:cNvPr id="83" name="Shape 80"/>
          <p:cNvSpPr/>
          <p:nvPr/>
        </p:nvSpPr>
        <p:spPr>
          <a:xfrm>
            <a:off x="548640" y="3977640"/>
            <a:ext cx="1691640" cy="411480"/>
          </a:xfrm>
          <a:prstGeom prst="rect">
            <a:avLst/>
          </a:prstGeom>
          <a:solidFill>
            <a:srgbClr val="FFFFFF"/>
          </a:solidFill>
          <a:ln w="5080">
            <a:solidFill>
              <a:srgbClr val="D6DEE8"/>
            </a:solidFill>
            <a:prstDash val="solid"/>
          </a:ln>
        </p:spPr>
      </p:sp>
      <p:sp>
        <p:nvSpPr>
          <p:cNvPr id="84" name="Text 81"/>
          <p:cNvSpPr/>
          <p:nvPr/>
        </p:nvSpPr>
        <p:spPr>
          <a:xfrm>
            <a:off x="548640" y="3977640"/>
            <a:ext cx="1691640" cy="41148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Network</a:t>
            </a:r>
            <a:endParaRPr lang="en-US" sz="1100" dirty="0"/>
          </a:p>
        </p:txBody>
      </p:sp>
      <p:sp>
        <p:nvSpPr>
          <p:cNvPr id="85" name="Shape 82"/>
          <p:cNvSpPr/>
          <p:nvPr/>
        </p:nvSpPr>
        <p:spPr>
          <a:xfrm>
            <a:off x="2240280" y="3977640"/>
            <a:ext cx="1325880" cy="411480"/>
          </a:xfrm>
          <a:prstGeom prst="rect">
            <a:avLst/>
          </a:prstGeom>
          <a:solidFill>
            <a:srgbClr val="FFFFFF"/>
          </a:solidFill>
          <a:ln w="5080">
            <a:solidFill>
              <a:srgbClr val="D6DEE8"/>
            </a:solidFill>
            <a:prstDash val="solid"/>
          </a:ln>
        </p:spPr>
      </p:sp>
      <p:sp>
        <p:nvSpPr>
          <p:cNvPr id="86" name="Text 83"/>
          <p:cNvSpPr/>
          <p:nvPr/>
        </p:nvSpPr>
        <p:spPr>
          <a:xfrm>
            <a:off x="224028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9</a:t>
            </a:r>
            <a:endParaRPr lang="en-US" sz="1300" dirty="0"/>
          </a:p>
        </p:txBody>
      </p:sp>
      <p:sp>
        <p:nvSpPr>
          <p:cNvPr id="87" name="Shape 84"/>
          <p:cNvSpPr/>
          <p:nvPr/>
        </p:nvSpPr>
        <p:spPr>
          <a:xfrm>
            <a:off x="3566160" y="3977640"/>
            <a:ext cx="1325880" cy="411480"/>
          </a:xfrm>
          <a:prstGeom prst="rect">
            <a:avLst/>
          </a:prstGeom>
          <a:solidFill>
            <a:srgbClr val="FFFFFF"/>
          </a:solidFill>
          <a:ln w="5080">
            <a:solidFill>
              <a:srgbClr val="D6DEE8"/>
            </a:solidFill>
            <a:prstDash val="solid"/>
          </a:ln>
        </p:spPr>
      </p:sp>
      <p:sp>
        <p:nvSpPr>
          <p:cNvPr id="88" name="Text 85"/>
          <p:cNvSpPr/>
          <p:nvPr/>
        </p:nvSpPr>
        <p:spPr>
          <a:xfrm>
            <a:off x="356616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89" name="Shape 86"/>
          <p:cNvSpPr/>
          <p:nvPr/>
        </p:nvSpPr>
        <p:spPr>
          <a:xfrm>
            <a:off x="4892040" y="3977640"/>
            <a:ext cx="1325880" cy="411480"/>
          </a:xfrm>
          <a:prstGeom prst="rect">
            <a:avLst/>
          </a:prstGeom>
          <a:solidFill>
            <a:srgbClr val="FFFFFF"/>
          </a:solidFill>
          <a:ln w="5080">
            <a:solidFill>
              <a:srgbClr val="D6DEE8"/>
            </a:solidFill>
            <a:prstDash val="solid"/>
          </a:ln>
        </p:spPr>
      </p:sp>
      <p:sp>
        <p:nvSpPr>
          <p:cNvPr id="90" name="Text 87"/>
          <p:cNvSpPr/>
          <p:nvPr/>
        </p:nvSpPr>
        <p:spPr>
          <a:xfrm>
            <a:off x="489204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91" name="Shape 88"/>
          <p:cNvSpPr/>
          <p:nvPr/>
        </p:nvSpPr>
        <p:spPr>
          <a:xfrm>
            <a:off x="6217920" y="3977640"/>
            <a:ext cx="1325880" cy="411480"/>
          </a:xfrm>
          <a:prstGeom prst="rect">
            <a:avLst/>
          </a:prstGeom>
          <a:solidFill>
            <a:srgbClr val="FFFFFF"/>
          </a:solidFill>
          <a:ln w="5080">
            <a:solidFill>
              <a:srgbClr val="D6DEE8"/>
            </a:solidFill>
            <a:prstDash val="solid"/>
          </a:ln>
        </p:spPr>
      </p:sp>
      <p:sp>
        <p:nvSpPr>
          <p:cNvPr id="92" name="Text 89"/>
          <p:cNvSpPr/>
          <p:nvPr/>
        </p:nvSpPr>
        <p:spPr>
          <a:xfrm>
            <a:off x="621792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2</a:t>
            </a:r>
            <a:endParaRPr lang="en-US" sz="1300" dirty="0"/>
          </a:p>
        </p:txBody>
      </p:sp>
      <p:sp>
        <p:nvSpPr>
          <p:cNvPr id="93" name="Shape 90"/>
          <p:cNvSpPr/>
          <p:nvPr/>
        </p:nvSpPr>
        <p:spPr>
          <a:xfrm>
            <a:off x="7543800" y="3977640"/>
            <a:ext cx="1325880" cy="411480"/>
          </a:xfrm>
          <a:prstGeom prst="rect">
            <a:avLst/>
          </a:prstGeom>
          <a:solidFill>
            <a:srgbClr val="FFFFFF"/>
          </a:solidFill>
          <a:ln w="5080">
            <a:solidFill>
              <a:srgbClr val="D6DEE8"/>
            </a:solidFill>
            <a:prstDash val="solid"/>
          </a:ln>
        </p:spPr>
      </p:sp>
      <p:sp>
        <p:nvSpPr>
          <p:cNvPr id="94" name="Text 91"/>
          <p:cNvSpPr/>
          <p:nvPr/>
        </p:nvSpPr>
        <p:spPr>
          <a:xfrm>
            <a:off x="754380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95" name="Shape 92"/>
          <p:cNvSpPr/>
          <p:nvPr/>
        </p:nvSpPr>
        <p:spPr>
          <a:xfrm>
            <a:off x="8869680" y="3977640"/>
            <a:ext cx="1325880" cy="411480"/>
          </a:xfrm>
          <a:prstGeom prst="rect">
            <a:avLst/>
          </a:prstGeom>
          <a:solidFill>
            <a:srgbClr val="FFFFFF"/>
          </a:solidFill>
          <a:ln w="5080">
            <a:solidFill>
              <a:srgbClr val="D6DEE8"/>
            </a:solidFill>
            <a:prstDash val="solid"/>
          </a:ln>
        </p:spPr>
      </p:sp>
      <p:sp>
        <p:nvSpPr>
          <p:cNvPr id="96" name="Text 93"/>
          <p:cNvSpPr/>
          <p:nvPr/>
        </p:nvSpPr>
        <p:spPr>
          <a:xfrm>
            <a:off x="8869680" y="397764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4</a:t>
            </a:r>
            <a:endParaRPr lang="en-US" sz="1300" dirty="0"/>
          </a:p>
        </p:txBody>
      </p:sp>
      <p:sp>
        <p:nvSpPr>
          <p:cNvPr id="97" name="Shape 94"/>
          <p:cNvSpPr/>
          <p:nvPr/>
        </p:nvSpPr>
        <p:spPr>
          <a:xfrm>
            <a:off x="10195560" y="3977640"/>
            <a:ext cx="1417320" cy="411480"/>
          </a:xfrm>
          <a:prstGeom prst="rect">
            <a:avLst/>
          </a:prstGeom>
          <a:solidFill>
            <a:srgbClr val="FFFFFF"/>
          </a:solidFill>
          <a:ln w="5080">
            <a:solidFill>
              <a:srgbClr val="D6DEE8"/>
            </a:solidFill>
            <a:prstDash val="solid"/>
          </a:ln>
        </p:spPr>
      </p:sp>
      <p:sp>
        <p:nvSpPr>
          <p:cNvPr id="98" name="Text 95"/>
          <p:cNvSpPr/>
          <p:nvPr/>
        </p:nvSpPr>
        <p:spPr>
          <a:xfrm>
            <a:off x="10195560" y="3977640"/>
            <a:ext cx="141732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16</a:t>
            </a:r>
            <a:endParaRPr lang="en-US" sz="1300" dirty="0"/>
          </a:p>
        </p:txBody>
      </p:sp>
      <p:sp>
        <p:nvSpPr>
          <p:cNvPr id="99" name="Shape 96"/>
          <p:cNvSpPr/>
          <p:nvPr/>
        </p:nvSpPr>
        <p:spPr>
          <a:xfrm>
            <a:off x="548640" y="4389120"/>
            <a:ext cx="1691640" cy="411480"/>
          </a:xfrm>
          <a:prstGeom prst="rect">
            <a:avLst/>
          </a:prstGeom>
          <a:solidFill>
            <a:srgbClr val="F6F8FB"/>
          </a:solidFill>
          <a:ln w="5080">
            <a:solidFill>
              <a:srgbClr val="D6DEE8"/>
            </a:solidFill>
            <a:prstDash val="solid"/>
          </a:ln>
        </p:spPr>
      </p:sp>
      <p:sp>
        <p:nvSpPr>
          <p:cNvPr id="100" name="Text 97"/>
          <p:cNvSpPr/>
          <p:nvPr/>
        </p:nvSpPr>
        <p:spPr>
          <a:xfrm>
            <a:off x="548640" y="4389120"/>
            <a:ext cx="1691640" cy="41148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App Hosting &amp; Mainframe</a:t>
            </a:r>
            <a:endParaRPr lang="en-US" sz="1100" dirty="0"/>
          </a:p>
        </p:txBody>
      </p:sp>
      <p:sp>
        <p:nvSpPr>
          <p:cNvPr id="101" name="Shape 98"/>
          <p:cNvSpPr/>
          <p:nvPr/>
        </p:nvSpPr>
        <p:spPr>
          <a:xfrm>
            <a:off x="2240280" y="4389120"/>
            <a:ext cx="1325880" cy="411480"/>
          </a:xfrm>
          <a:prstGeom prst="rect">
            <a:avLst/>
          </a:prstGeom>
          <a:solidFill>
            <a:srgbClr val="F6F8FB"/>
          </a:solidFill>
          <a:ln w="5080">
            <a:solidFill>
              <a:srgbClr val="D6DEE8"/>
            </a:solidFill>
            <a:prstDash val="solid"/>
          </a:ln>
        </p:spPr>
      </p:sp>
      <p:sp>
        <p:nvSpPr>
          <p:cNvPr id="102" name="Text 99"/>
          <p:cNvSpPr/>
          <p:nvPr/>
        </p:nvSpPr>
        <p:spPr>
          <a:xfrm>
            <a:off x="224028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103" name="Shape 100"/>
          <p:cNvSpPr/>
          <p:nvPr/>
        </p:nvSpPr>
        <p:spPr>
          <a:xfrm>
            <a:off x="3566160" y="4389120"/>
            <a:ext cx="1325880" cy="411480"/>
          </a:xfrm>
          <a:prstGeom prst="rect">
            <a:avLst/>
          </a:prstGeom>
          <a:solidFill>
            <a:srgbClr val="F6F8FB"/>
          </a:solidFill>
          <a:ln w="5080">
            <a:solidFill>
              <a:srgbClr val="D6DEE8"/>
            </a:solidFill>
            <a:prstDash val="solid"/>
          </a:ln>
        </p:spPr>
      </p:sp>
      <p:sp>
        <p:nvSpPr>
          <p:cNvPr id="104" name="Text 101"/>
          <p:cNvSpPr/>
          <p:nvPr/>
        </p:nvSpPr>
        <p:spPr>
          <a:xfrm>
            <a:off x="356616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6</a:t>
            </a:r>
            <a:endParaRPr lang="en-US" sz="1300" dirty="0"/>
          </a:p>
        </p:txBody>
      </p:sp>
      <p:sp>
        <p:nvSpPr>
          <p:cNvPr id="105" name="Shape 102"/>
          <p:cNvSpPr/>
          <p:nvPr/>
        </p:nvSpPr>
        <p:spPr>
          <a:xfrm>
            <a:off x="4892040" y="4389120"/>
            <a:ext cx="1325880" cy="411480"/>
          </a:xfrm>
          <a:prstGeom prst="rect">
            <a:avLst/>
          </a:prstGeom>
          <a:solidFill>
            <a:srgbClr val="F6F8FB"/>
          </a:solidFill>
          <a:ln w="5080">
            <a:solidFill>
              <a:srgbClr val="D6DEE8"/>
            </a:solidFill>
            <a:prstDash val="solid"/>
          </a:ln>
        </p:spPr>
      </p:sp>
      <p:sp>
        <p:nvSpPr>
          <p:cNvPr id="106" name="Text 103"/>
          <p:cNvSpPr/>
          <p:nvPr/>
        </p:nvSpPr>
        <p:spPr>
          <a:xfrm>
            <a:off x="489204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107" name="Shape 104"/>
          <p:cNvSpPr/>
          <p:nvPr/>
        </p:nvSpPr>
        <p:spPr>
          <a:xfrm>
            <a:off x="6217920" y="4389120"/>
            <a:ext cx="1325880" cy="411480"/>
          </a:xfrm>
          <a:prstGeom prst="rect">
            <a:avLst/>
          </a:prstGeom>
          <a:solidFill>
            <a:srgbClr val="F6F8FB"/>
          </a:solidFill>
          <a:ln w="5080">
            <a:solidFill>
              <a:srgbClr val="D6DEE8"/>
            </a:solidFill>
            <a:prstDash val="solid"/>
          </a:ln>
        </p:spPr>
      </p:sp>
      <p:sp>
        <p:nvSpPr>
          <p:cNvPr id="108" name="Text 105"/>
          <p:cNvSpPr/>
          <p:nvPr/>
        </p:nvSpPr>
        <p:spPr>
          <a:xfrm>
            <a:off x="621792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3</a:t>
            </a:r>
            <a:endParaRPr lang="en-US" sz="1300" dirty="0"/>
          </a:p>
        </p:txBody>
      </p:sp>
      <p:sp>
        <p:nvSpPr>
          <p:cNvPr id="109" name="Shape 106"/>
          <p:cNvSpPr/>
          <p:nvPr/>
        </p:nvSpPr>
        <p:spPr>
          <a:xfrm>
            <a:off x="7543800" y="4389120"/>
            <a:ext cx="1325880" cy="411480"/>
          </a:xfrm>
          <a:prstGeom prst="rect">
            <a:avLst/>
          </a:prstGeom>
          <a:solidFill>
            <a:srgbClr val="F6F8FB"/>
          </a:solidFill>
          <a:ln w="5080">
            <a:solidFill>
              <a:srgbClr val="D6DEE8"/>
            </a:solidFill>
            <a:prstDash val="solid"/>
          </a:ln>
        </p:spPr>
      </p:sp>
      <p:sp>
        <p:nvSpPr>
          <p:cNvPr id="110" name="Text 107"/>
          <p:cNvSpPr/>
          <p:nvPr/>
        </p:nvSpPr>
        <p:spPr>
          <a:xfrm>
            <a:off x="754380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111" name="Shape 108"/>
          <p:cNvSpPr/>
          <p:nvPr/>
        </p:nvSpPr>
        <p:spPr>
          <a:xfrm>
            <a:off x="8869680" y="4389120"/>
            <a:ext cx="1325880" cy="411480"/>
          </a:xfrm>
          <a:prstGeom prst="rect">
            <a:avLst/>
          </a:prstGeom>
          <a:solidFill>
            <a:srgbClr val="F6F8FB"/>
          </a:solidFill>
          <a:ln w="5080">
            <a:solidFill>
              <a:srgbClr val="D6DEE8"/>
            </a:solidFill>
            <a:prstDash val="solid"/>
          </a:ln>
        </p:spPr>
      </p:sp>
      <p:sp>
        <p:nvSpPr>
          <p:cNvPr id="112" name="Text 109"/>
          <p:cNvSpPr/>
          <p:nvPr/>
        </p:nvSpPr>
        <p:spPr>
          <a:xfrm>
            <a:off x="8869680" y="4389120"/>
            <a:ext cx="1325880" cy="41148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15</a:t>
            </a:r>
            <a:endParaRPr lang="en-US" sz="1300" dirty="0"/>
          </a:p>
        </p:txBody>
      </p:sp>
      <p:sp>
        <p:nvSpPr>
          <p:cNvPr id="113" name="Shape 110"/>
          <p:cNvSpPr/>
          <p:nvPr/>
        </p:nvSpPr>
        <p:spPr>
          <a:xfrm>
            <a:off x="10195560" y="4389120"/>
            <a:ext cx="1417320" cy="411480"/>
          </a:xfrm>
          <a:prstGeom prst="rect">
            <a:avLst/>
          </a:prstGeom>
          <a:solidFill>
            <a:srgbClr val="F6F8FB"/>
          </a:solidFill>
          <a:ln w="5080">
            <a:solidFill>
              <a:srgbClr val="D6DEE8"/>
            </a:solidFill>
            <a:prstDash val="solid"/>
          </a:ln>
        </p:spPr>
      </p:sp>
      <p:sp>
        <p:nvSpPr>
          <p:cNvPr id="114" name="Text 111"/>
          <p:cNvSpPr/>
          <p:nvPr/>
        </p:nvSpPr>
        <p:spPr>
          <a:xfrm>
            <a:off x="10195560" y="4389120"/>
            <a:ext cx="1417320" cy="41148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25</a:t>
            </a:r>
            <a:endParaRPr lang="en-US" sz="1300" dirty="0"/>
          </a:p>
        </p:txBody>
      </p:sp>
      <p:sp>
        <p:nvSpPr>
          <p:cNvPr id="115" name="Shape 112"/>
          <p:cNvSpPr/>
          <p:nvPr/>
        </p:nvSpPr>
        <p:spPr>
          <a:xfrm>
            <a:off x="548640" y="4800600"/>
            <a:ext cx="1691640" cy="502920"/>
          </a:xfrm>
          <a:prstGeom prst="rect">
            <a:avLst/>
          </a:prstGeom>
          <a:solidFill>
            <a:srgbClr val="001F47"/>
          </a:solidFill>
          <a:ln/>
        </p:spPr>
      </p:sp>
      <p:sp>
        <p:nvSpPr>
          <p:cNvPr id="116" name="Text 113"/>
          <p:cNvSpPr/>
          <p:nvPr/>
        </p:nvSpPr>
        <p:spPr>
          <a:xfrm>
            <a:off x="548640" y="4800600"/>
            <a:ext cx="1691640" cy="502920"/>
          </a:xfrm>
          <a:prstGeom prst="rect">
            <a:avLst/>
          </a:prstGeom>
          <a:noFill/>
          <a:ln/>
        </p:spPr>
        <p:txBody>
          <a:bodyPr wrap="square" lIns="1905" tIns="1905" rIns="1905" bIns="1905" rtlCol="0" anchor="ctr"/>
          <a:lstStyle/>
          <a:p>
            <a:pPr algn="l" indent="0" marL="0">
              <a:buNone/>
            </a:pPr>
            <a:r>
              <a:rPr lang="en-US" sz="1100" b="1" spc="200" kern="0" dirty="0">
                <a:solidFill>
                  <a:srgbClr val="FFFFFF"/>
                </a:solidFill>
                <a:latin typeface="Trebuchet MS" pitchFamily="34" charset="0"/>
                <a:ea typeface="Trebuchet MS" pitchFamily="34" charset="-122"/>
                <a:cs typeface="Trebuchet MS" pitchFamily="34" charset="-120"/>
              </a:rPr>
              <a:t>GRAND TOTAL</a:t>
            </a:r>
            <a:endParaRPr lang="en-US" sz="1100" dirty="0"/>
          </a:p>
        </p:txBody>
      </p:sp>
      <p:sp>
        <p:nvSpPr>
          <p:cNvPr id="117" name="Shape 114"/>
          <p:cNvSpPr/>
          <p:nvPr/>
        </p:nvSpPr>
        <p:spPr>
          <a:xfrm>
            <a:off x="2240280" y="4800600"/>
            <a:ext cx="1325880" cy="502920"/>
          </a:xfrm>
          <a:prstGeom prst="rect">
            <a:avLst/>
          </a:prstGeom>
          <a:solidFill>
            <a:srgbClr val="001F47"/>
          </a:solidFill>
          <a:ln/>
        </p:spPr>
      </p:sp>
      <p:sp>
        <p:nvSpPr>
          <p:cNvPr id="118" name="Text 115"/>
          <p:cNvSpPr/>
          <p:nvPr/>
        </p:nvSpPr>
        <p:spPr>
          <a:xfrm>
            <a:off x="224028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21</a:t>
            </a:r>
            <a:endParaRPr lang="en-US" sz="1400" dirty="0"/>
          </a:p>
        </p:txBody>
      </p:sp>
      <p:sp>
        <p:nvSpPr>
          <p:cNvPr id="119" name="Shape 116"/>
          <p:cNvSpPr/>
          <p:nvPr/>
        </p:nvSpPr>
        <p:spPr>
          <a:xfrm>
            <a:off x="3566160" y="4800600"/>
            <a:ext cx="1325880" cy="502920"/>
          </a:xfrm>
          <a:prstGeom prst="rect">
            <a:avLst/>
          </a:prstGeom>
          <a:solidFill>
            <a:srgbClr val="001F47"/>
          </a:solidFill>
          <a:ln/>
        </p:spPr>
      </p:sp>
      <p:sp>
        <p:nvSpPr>
          <p:cNvPr id="120" name="Text 117"/>
          <p:cNvSpPr/>
          <p:nvPr/>
        </p:nvSpPr>
        <p:spPr>
          <a:xfrm>
            <a:off x="356616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11</a:t>
            </a:r>
            <a:endParaRPr lang="en-US" sz="1400" dirty="0"/>
          </a:p>
        </p:txBody>
      </p:sp>
      <p:sp>
        <p:nvSpPr>
          <p:cNvPr id="121" name="Shape 118"/>
          <p:cNvSpPr/>
          <p:nvPr/>
        </p:nvSpPr>
        <p:spPr>
          <a:xfrm>
            <a:off x="4892040" y="4800600"/>
            <a:ext cx="1325880" cy="502920"/>
          </a:xfrm>
          <a:prstGeom prst="rect">
            <a:avLst/>
          </a:prstGeom>
          <a:solidFill>
            <a:srgbClr val="001F47"/>
          </a:solidFill>
          <a:ln/>
        </p:spPr>
      </p:sp>
      <p:sp>
        <p:nvSpPr>
          <p:cNvPr id="122" name="Text 119"/>
          <p:cNvSpPr/>
          <p:nvPr/>
        </p:nvSpPr>
        <p:spPr>
          <a:xfrm>
            <a:off x="489204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t>
            </a:r>
            <a:endParaRPr lang="en-US" sz="1400" dirty="0"/>
          </a:p>
        </p:txBody>
      </p:sp>
      <p:sp>
        <p:nvSpPr>
          <p:cNvPr id="123" name="Shape 120"/>
          <p:cNvSpPr/>
          <p:nvPr/>
        </p:nvSpPr>
        <p:spPr>
          <a:xfrm>
            <a:off x="6217920" y="4800600"/>
            <a:ext cx="1325880" cy="502920"/>
          </a:xfrm>
          <a:prstGeom prst="rect">
            <a:avLst/>
          </a:prstGeom>
          <a:solidFill>
            <a:srgbClr val="001F47"/>
          </a:solidFill>
          <a:ln/>
        </p:spPr>
      </p:sp>
      <p:sp>
        <p:nvSpPr>
          <p:cNvPr id="124" name="Text 121"/>
          <p:cNvSpPr/>
          <p:nvPr/>
        </p:nvSpPr>
        <p:spPr>
          <a:xfrm>
            <a:off x="621792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11</a:t>
            </a:r>
            <a:endParaRPr lang="en-US" sz="1400" dirty="0"/>
          </a:p>
        </p:txBody>
      </p:sp>
      <p:sp>
        <p:nvSpPr>
          <p:cNvPr id="125" name="Shape 122"/>
          <p:cNvSpPr/>
          <p:nvPr/>
        </p:nvSpPr>
        <p:spPr>
          <a:xfrm>
            <a:off x="7543800" y="4800600"/>
            <a:ext cx="1325880" cy="502920"/>
          </a:xfrm>
          <a:prstGeom prst="rect">
            <a:avLst/>
          </a:prstGeom>
          <a:solidFill>
            <a:srgbClr val="001F47"/>
          </a:solidFill>
          <a:ln/>
        </p:spPr>
      </p:sp>
      <p:sp>
        <p:nvSpPr>
          <p:cNvPr id="126" name="Text 123"/>
          <p:cNvSpPr/>
          <p:nvPr/>
        </p:nvSpPr>
        <p:spPr>
          <a:xfrm>
            <a:off x="754380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27" name="Shape 124"/>
          <p:cNvSpPr/>
          <p:nvPr/>
        </p:nvSpPr>
        <p:spPr>
          <a:xfrm>
            <a:off x="8869680" y="4800600"/>
            <a:ext cx="1325880" cy="502920"/>
          </a:xfrm>
          <a:prstGeom prst="rect">
            <a:avLst/>
          </a:prstGeom>
          <a:solidFill>
            <a:srgbClr val="001F47"/>
          </a:solidFill>
          <a:ln/>
        </p:spPr>
      </p:sp>
      <p:sp>
        <p:nvSpPr>
          <p:cNvPr id="128" name="Text 125"/>
          <p:cNvSpPr/>
          <p:nvPr/>
        </p:nvSpPr>
        <p:spPr>
          <a:xfrm>
            <a:off x="8869680" y="4800600"/>
            <a:ext cx="13258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31</a:t>
            </a:r>
            <a:endParaRPr lang="en-US" sz="1400" dirty="0"/>
          </a:p>
        </p:txBody>
      </p:sp>
      <p:sp>
        <p:nvSpPr>
          <p:cNvPr id="129" name="Shape 126"/>
          <p:cNvSpPr/>
          <p:nvPr/>
        </p:nvSpPr>
        <p:spPr>
          <a:xfrm>
            <a:off x="10195560" y="4800600"/>
            <a:ext cx="1417320" cy="502920"/>
          </a:xfrm>
          <a:prstGeom prst="rect">
            <a:avLst/>
          </a:prstGeom>
          <a:solidFill>
            <a:srgbClr val="001F47"/>
          </a:solidFill>
          <a:ln/>
        </p:spPr>
      </p:sp>
      <p:sp>
        <p:nvSpPr>
          <p:cNvPr id="130" name="Text 127"/>
          <p:cNvSpPr/>
          <p:nvPr/>
        </p:nvSpPr>
        <p:spPr>
          <a:xfrm>
            <a:off x="10195560" y="4800600"/>
            <a:ext cx="1417320" cy="502920"/>
          </a:xfrm>
          <a:prstGeom prst="rect">
            <a:avLst/>
          </a:prstGeom>
          <a:noFill/>
          <a:ln/>
        </p:spPr>
        <p:txBody>
          <a:bodyPr wrap="square" lIns="0" tIns="0" rIns="0" bIns="0" rtlCol="0" anchor="ctr"/>
          <a:lstStyle/>
          <a:p>
            <a:pPr algn="ctr" indent="0" marL="0">
              <a:buNone/>
            </a:pPr>
            <a:r>
              <a:rPr lang="en-US" sz="1800" b="1" dirty="0">
                <a:solidFill>
                  <a:srgbClr val="FEDF01"/>
                </a:solidFill>
                <a:latin typeface="Trebuchet MS" pitchFamily="34" charset="0"/>
                <a:ea typeface="Trebuchet MS" pitchFamily="34" charset="-122"/>
                <a:cs typeface="Trebuchet MS" pitchFamily="34" charset="-120"/>
              </a:rPr>
              <a:t>75</a:t>
            </a:r>
            <a:endParaRPr lang="en-US" sz="1800" dirty="0"/>
          </a:p>
        </p:txBody>
      </p:sp>
      <p:sp>
        <p:nvSpPr>
          <p:cNvPr id="131" name="Shape 128"/>
          <p:cNvSpPr/>
          <p:nvPr/>
        </p:nvSpPr>
        <p:spPr>
          <a:xfrm>
            <a:off x="548640" y="5532120"/>
            <a:ext cx="11064240" cy="777240"/>
          </a:xfrm>
          <a:prstGeom prst="rect">
            <a:avLst/>
          </a:prstGeom>
          <a:solidFill>
            <a:srgbClr val="F6F8FB"/>
          </a:solidFill>
          <a:ln w="6350">
            <a:solidFill>
              <a:srgbClr val="D6DEE8"/>
            </a:solidFill>
            <a:prstDash val="solid"/>
          </a:ln>
        </p:spPr>
      </p:sp>
      <p:sp>
        <p:nvSpPr>
          <p:cNvPr id="132" name="Shape 129"/>
          <p:cNvSpPr/>
          <p:nvPr/>
        </p:nvSpPr>
        <p:spPr>
          <a:xfrm>
            <a:off x="548640" y="5532120"/>
            <a:ext cx="54864" cy="777240"/>
          </a:xfrm>
          <a:prstGeom prst="rect">
            <a:avLst/>
          </a:prstGeom>
          <a:solidFill>
            <a:srgbClr val="FEDF01"/>
          </a:solidFill>
          <a:ln/>
        </p:spPr>
      </p:sp>
      <p:sp>
        <p:nvSpPr>
          <p:cNvPr id="133" name="Text 130"/>
          <p:cNvSpPr/>
          <p:nvPr/>
        </p:nvSpPr>
        <p:spPr>
          <a:xfrm>
            <a:off x="777240" y="5605272"/>
            <a:ext cx="1097280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WHAT THE CATEGORIES MEAN</a:t>
            </a:r>
            <a:endParaRPr lang="en-US" sz="900" dirty="0"/>
          </a:p>
        </p:txBody>
      </p:sp>
      <p:sp>
        <p:nvSpPr>
          <p:cNvPr id="134" name="Shape 131"/>
          <p:cNvSpPr/>
          <p:nvPr/>
        </p:nvSpPr>
        <p:spPr>
          <a:xfrm>
            <a:off x="777240" y="5888736"/>
            <a:ext cx="292608" cy="292608"/>
          </a:xfrm>
          <a:prstGeom prst="ellipse">
            <a:avLst/>
          </a:prstGeom>
          <a:solidFill>
            <a:srgbClr val="0051A5"/>
          </a:solidFill>
          <a:ln/>
        </p:spPr>
      </p:sp>
      <p:sp>
        <p:nvSpPr>
          <p:cNvPr id="135" name="Text 132"/>
          <p:cNvSpPr/>
          <p:nvPr/>
        </p:nvSpPr>
        <p:spPr>
          <a:xfrm>
            <a:off x="7772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A</a:t>
            </a:r>
            <a:endParaRPr lang="en-US" sz="1300" dirty="0"/>
          </a:p>
        </p:txBody>
      </p:sp>
      <p:sp>
        <p:nvSpPr>
          <p:cNvPr id="136" name="Text 133"/>
          <p:cNvSpPr/>
          <p:nvPr/>
        </p:nvSpPr>
        <p:spPr>
          <a:xfrm>
            <a:off x="11430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Already engaged</a:t>
            </a:r>
            <a:endParaRPr lang="en-US" sz="950" dirty="0"/>
          </a:p>
        </p:txBody>
      </p:sp>
      <p:sp>
        <p:nvSpPr>
          <p:cNvPr id="137" name="Shape 134"/>
          <p:cNvSpPr/>
          <p:nvPr/>
        </p:nvSpPr>
        <p:spPr>
          <a:xfrm>
            <a:off x="2606040" y="5888736"/>
            <a:ext cx="292608" cy="292608"/>
          </a:xfrm>
          <a:prstGeom prst="ellipse">
            <a:avLst/>
          </a:prstGeom>
          <a:solidFill>
            <a:srgbClr val="0051A5"/>
          </a:solidFill>
          <a:ln/>
        </p:spPr>
      </p:sp>
      <p:sp>
        <p:nvSpPr>
          <p:cNvPr id="138" name="Text 135"/>
          <p:cNvSpPr/>
          <p:nvPr/>
        </p:nvSpPr>
        <p:spPr>
          <a:xfrm>
            <a:off x="26060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B</a:t>
            </a:r>
            <a:endParaRPr lang="en-US" sz="1300" dirty="0"/>
          </a:p>
        </p:txBody>
      </p:sp>
      <p:sp>
        <p:nvSpPr>
          <p:cNvPr id="139" name="Text 136"/>
          <p:cNvSpPr/>
          <p:nvPr/>
        </p:nvSpPr>
        <p:spPr>
          <a:xfrm>
            <a:off x="29718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Existing → ZOP (Build)</a:t>
            </a:r>
            <a:endParaRPr lang="en-US" sz="950" dirty="0"/>
          </a:p>
        </p:txBody>
      </p:sp>
      <p:sp>
        <p:nvSpPr>
          <p:cNvPr id="140" name="Shape 137"/>
          <p:cNvSpPr/>
          <p:nvPr/>
        </p:nvSpPr>
        <p:spPr>
          <a:xfrm>
            <a:off x="4434840" y="5888736"/>
            <a:ext cx="292608" cy="292608"/>
          </a:xfrm>
          <a:prstGeom prst="ellipse">
            <a:avLst/>
          </a:prstGeom>
          <a:solidFill>
            <a:srgbClr val="0051A5"/>
          </a:solidFill>
          <a:ln/>
        </p:spPr>
      </p:sp>
      <p:sp>
        <p:nvSpPr>
          <p:cNvPr id="141" name="Text 138"/>
          <p:cNvSpPr/>
          <p:nvPr/>
        </p:nvSpPr>
        <p:spPr>
          <a:xfrm>
            <a:off x="44348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C</a:t>
            </a:r>
            <a:endParaRPr lang="en-US" sz="1300" dirty="0"/>
          </a:p>
        </p:txBody>
      </p:sp>
      <p:sp>
        <p:nvSpPr>
          <p:cNvPr id="142" name="Text 139"/>
          <p:cNvSpPr/>
          <p:nvPr/>
        </p:nvSpPr>
        <p:spPr>
          <a:xfrm>
            <a:off x="48006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Software dev avail.</a:t>
            </a:r>
            <a:endParaRPr lang="en-US" sz="950" dirty="0"/>
          </a:p>
        </p:txBody>
      </p:sp>
      <p:sp>
        <p:nvSpPr>
          <p:cNvPr id="143" name="Shape 140"/>
          <p:cNvSpPr/>
          <p:nvPr/>
        </p:nvSpPr>
        <p:spPr>
          <a:xfrm>
            <a:off x="6263640" y="5888736"/>
            <a:ext cx="292608" cy="292608"/>
          </a:xfrm>
          <a:prstGeom prst="ellipse">
            <a:avLst/>
          </a:prstGeom>
          <a:solidFill>
            <a:srgbClr val="0051A5"/>
          </a:solidFill>
          <a:ln/>
        </p:spPr>
      </p:sp>
      <p:sp>
        <p:nvSpPr>
          <p:cNvPr id="144" name="Text 141"/>
          <p:cNvSpPr/>
          <p:nvPr/>
        </p:nvSpPr>
        <p:spPr>
          <a:xfrm>
            <a:off x="62636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D</a:t>
            </a:r>
            <a:endParaRPr lang="en-US" sz="1300" dirty="0"/>
          </a:p>
        </p:txBody>
      </p:sp>
      <p:sp>
        <p:nvSpPr>
          <p:cNvPr id="145" name="Text 142"/>
          <p:cNvSpPr/>
          <p:nvPr/>
        </p:nvSpPr>
        <p:spPr>
          <a:xfrm>
            <a:off x="66294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Full-time dev required</a:t>
            </a:r>
            <a:endParaRPr lang="en-US" sz="950" dirty="0"/>
          </a:p>
        </p:txBody>
      </p:sp>
      <p:sp>
        <p:nvSpPr>
          <p:cNvPr id="146" name="Shape 143"/>
          <p:cNvSpPr/>
          <p:nvPr/>
        </p:nvSpPr>
        <p:spPr>
          <a:xfrm>
            <a:off x="8092440" y="5888736"/>
            <a:ext cx="292608" cy="292608"/>
          </a:xfrm>
          <a:prstGeom prst="ellipse">
            <a:avLst/>
          </a:prstGeom>
          <a:solidFill>
            <a:srgbClr val="001F47"/>
          </a:solidFill>
          <a:ln/>
        </p:spPr>
      </p:sp>
      <p:sp>
        <p:nvSpPr>
          <p:cNvPr id="147" name="Text 144"/>
          <p:cNvSpPr/>
          <p:nvPr/>
        </p:nvSpPr>
        <p:spPr>
          <a:xfrm>
            <a:off x="80924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E</a:t>
            </a:r>
            <a:endParaRPr lang="en-US" sz="1300" dirty="0"/>
          </a:p>
        </p:txBody>
      </p:sp>
      <p:sp>
        <p:nvSpPr>
          <p:cNvPr id="148" name="Text 145"/>
          <p:cNvSpPr/>
          <p:nvPr/>
        </p:nvSpPr>
        <p:spPr>
          <a:xfrm>
            <a:off x="84582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Platform support avail.</a:t>
            </a:r>
            <a:endParaRPr lang="en-US" sz="950" dirty="0"/>
          </a:p>
        </p:txBody>
      </p:sp>
      <p:sp>
        <p:nvSpPr>
          <p:cNvPr id="149" name="Shape 146"/>
          <p:cNvSpPr/>
          <p:nvPr/>
        </p:nvSpPr>
        <p:spPr>
          <a:xfrm>
            <a:off x="9921240" y="5888736"/>
            <a:ext cx="292608" cy="292608"/>
          </a:xfrm>
          <a:prstGeom prst="ellipse">
            <a:avLst/>
          </a:prstGeom>
          <a:solidFill>
            <a:srgbClr val="001F47"/>
          </a:solidFill>
          <a:ln/>
        </p:spPr>
      </p:sp>
      <p:sp>
        <p:nvSpPr>
          <p:cNvPr id="150" name="Text 147"/>
          <p:cNvSpPr/>
          <p:nvPr/>
        </p:nvSpPr>
        <p:spPr>
          <a:xfrm>
            <a:off x="9921240" y="5888736"/>
            <a:ext cx="292608" cy="292608"/>
          </a:xfrm>
          <a:prstGeom prst="rect">
            <a:avLst/>
          </a:prstGeom>
          <a:noFill/>
          <a:ln/>
        </p:spPr>
        <p:txBody>
          <a:bodyPr wrap="square" lIns="0" tIns="0" rIns="0" bIns="0" rtlCol="0" anchor="ctr"/>
          <a:lstStyle/>
          <a:p>
            <a:pPr algn="ctr" indent="0" marL="0">
              <a:buNone/>
            </a:pPr>
            <a:r>
              <a:rPr lang="en-US" sz="1300" b="1" dirty="0">
                <a:solidFill>
                  <a:srgbClr val="FEDF01"/>
                </a:solidFill>
                <a:latin typeface="Trebuchet MS" pitchFamily="34" charset="0"/>
                <a:ea typeface="Trebuchet MS" pitchFamily="34" charset="-122"/>
                <a:cs typeface="Trebuchet MS" pitchFamily="34" charset="-120"/>
              </a:rPr>
              <a:t>F</a:t>
            </a:r>
            <a:endParaRPr lang="en-US" sz="1300" dirty="0"/>
          </a:p>
        </p:txBody>
      </p:sp>
      <p:sp>
        <p:nvSpPr>
          <p:cNvPr id="151" name="Text 148"/>
          <p:cNvSpPr/>
          <p:nvPr/>
        </p:nvSpPr>
        <p:spPr>
          <a:xfrm>
            <a:off x="10287000" y="5888736"/>
            <a:ext cx="1417320" cy="292608"/>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Existing → ZOP (Support)</a:t>
            </a:r>
            <a:endParaRPr lang="en-US" sz="950" dirty="0"/>
          </a:p>
        </p:txBody>
      </p:sp>
      <p:sp>
        <p:nvSpPr>
          <p:cNvPr id="152" name="Text 149"/>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16 / 30</a:t>
            </a:r>
            <a:endParaRPr lang="en-US" sz="900" dirty="0"/>
          </a:p>
        </p:txBody>
      </p:sp>
      <p:sp>
        <p:nvSpPr>
          <p:cNvPr id="153" name="Text 150"/>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15  ·  RESOURCING ASK</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Database Squad — 7 members named</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200" i="1" dirty="0">
                <a:solidFill>
                  <a:srgbClr val="5B6778"/>
                </a:solidFill>
                <a:latin typeface="Calibri" pitchFamily="34" charset="0"/>
                <a:ea typeface="Calibri" pitchFamily="34" charset="-122"/>
                <a:cs typeface="Calibri" pitchFamily="34" charset="-120"/>
              </a:rPr>
              <a:t>2 from existing BAU resources (B) + 5 from existing platform support (F) — all 100% allocated, moving into Zephyr On-Prem squads in 2026.</a:t>
            </a:r>
            <a:endParaRPr lang="en-US" sz="1200" dirty="0"/>
          </a:p>
        </p:txBody>
      </p:sp>
      <p:sp>
        <p:nvSpPr>
          <p:cNvPr id="7" name="Shape 4"/>
          <p:cNvSpPr/>
          <p:nvPr/>
        </p:nvSpPr>
        <p:spPr>
          <a:xfrm>
            <a:off x="548640" y="1874520"/>
            <a:ext cx="3596640" cy="4114800"/>
          </a:xfrm>
          <a:prstGeom prst="rect">
            <a:avLst/>
          </a:prstGeom>
          <a:solidFill>
            <a:srgbClr val="FFFFFF"/>
          </a:solidFill>
          <a:ln w="7620">
            <a:solidFill>
              <a:srgbClr val="D6DEE8"/>
            </a:solidFill>
            <a:prstDash val="solid"/>
          </a:ln>
        </p:spPr>
      </p:sp>
      <p:sp>
        <p:nvSpPr>
          <p:cNvPr id="8" name="Shape 5"/>
          <p:cNvSpPr/>
          <p:nvPr/>
        </p:nvSpPr>
        <p:spPr>
          <a:xfrm>
            <a:off x="548640" y="1874520"/>
            <a:ext cx="3596640" cy="594360"/>
          </a:xfrm>
          <a:prstGeom prst="rect">
            <a:avLst/>
          </a:prstGeom>
          <a:solidFill>
            <a:srgbClr val="0051A5"/>
          </a:solidFill>
          <a:ln/>
        </p:spPr>
      </p:sp>
      <p:sp>
        <p:nvSpPr>
          <p:cNvPr id="9" name="Text 6"/>
          <p:cNvSpPr/>
          <p:nvPr/>
        </p:nvSpPr>
        <p:spPr>
          <a:xfrm>
            <a:off x="731520" y="1920240"/>
            <a:ext cx="249936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SQL Server</a:t>
            </a:r>
            <a:endParaRPr lang="en-US" sz="1600" dirty="0"/>
          </a:p>
        </p:txBody>
      </p:sp>
      <p:sp>
        <p:nvSpPr>
          <p:cNvPr id="10" name="Shape 7"/>
          <p:cNvSpPr/>
          <p:nvPr/>
        </p:nvSpPr>
        <p:spPr>
          <a:xfrm>
            <a:off x="3276600" y="1984248"/>
            <a:ext cx="365760" cy="365760"/>
          </a:xfrm>
          <a:prstGeom prst="ellipse">
            <a:avLst/>
          </a:prstGeom>
          <a:solidFill>
            <a:srgbClr val="FEDF01"/>
          </a:solidFill>
          <a:ln/>
        </p:spPr>
      </p:sp>
      <p:sp>
        <p:nvSpPr>
          <p:cNvPr id="11" name="Text 8"/>
          <p:cNvSpPr/>
          <p:nvPr/>
        </p:nvSpPr>
        <p:spPr>
          <a:xfrm>
            <a:off x="3276600" y="1984248"/>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4</a:t>
            </a:r>
            <a:endParaRPr lang="en-US" sz="1600" dirty="0"/>
          </a:p>
        </p:txBody>
      </p:sp>
      <p:sp>
        <p:nvSpPr>
          <p:cNvPr id="12" name="Text 9"/>
          <p:cNvSpPr/>
          <p:nvPr/>
        </p:nvSpPr>
        <p:spPr>
          <a:xfrm>
            <a:off x="3642360" y="2039112"/>
            <a:ext cx="502920" cy="274320"/>
          </a:xfrm>
          <a:prstGeom prst="rect">
            <a:avLst/>
          </a:prstGeom>
          <a:noFill/>
          <a:ln/>
        </p:spPr>
        <p:txBody>
          <a:bodyPr wrap="square" lIns="0" tIns="0" rIns="0" bIns="0" rtlCol="0" anchor="ctr"/>
          <a:lstStyle/>
          <a:p>
            <a:pPr indent="0" marL="0">
              <a:buNone/>
            </a:pPr>
            <a:r>
              <a:rPr lang="en-US" sz="900" i="1" dirty="0">
                <a:solidFill>
                  <a:srgbClr val="FEDF01"/>
                </a:solidFill>
                <a:latin typeface="Calibri" pitchFamily="34" charset="0"/>
                <a:ea typeface="Calibri" pitchFamily="34" charset="-122"/>
                <a:cs typeface="Calibri" pitchFamily="34" charset="-120"/>
              </a:rPr>
              <a:t>members</a:t>
            </a:r>
            <a:endParaRPr lang="en-US" sz="900" dirty="0"/>
          </a:p>
        </p:txBody>
      </p:sp>
      <p:sp>
        <p:nvSpPr>
          <p:cNvPr id="13" name="Text 10"/>
          <p:cNvSpPr/>
          <p:nvPr/>
        </p:nvSpPr>
        <p:spPr>
          <a:xfrm>
            <a:off x="731520" y="2240280"/>
            <a:ext cx="33223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2 from B  +  2 from F</a:t>
            </a:r>
            <a:endParaRPr lang="en-US" sz="1000" dirty="0"/>
          </a:p>
        </p:txBody>
      </p:sp>
      <p:sp>
        <p:nvSpPr>
          <p:cNvPr id="14" name="Text 11"/>
          <p:cNvSpPr/>
          <p:nvPr/>
        </p:nvSpPr>
        <p:spPr>
          <a:xfrm>
            <a:off x="731520" y="260604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MEMBERS</a:t>
            </a:r>
            <a:endParaRPr lang="en-US" sz="900" dirty="0"/>
          </a:p>
        </p:txBody>
      </p:sp>
      <p:sp>
        <p:nvSpPr>
          <p:cNvPr id="15" name="Shape 12"/>
          <p:cNvSpPr/>
          <p:nvPr/>
        </p:nvSpPr>
        <p:spPr>
          <a:xfrm>
            <a:off x="731520" y="2889504"/>
            <a:ext cx="292608" cy="201168"/>
          </a:xfrm>
          <a:prstGeom prst="rect">
            <a:avLst/>
          </a:prstGeom>
          <a:solidFill>
            <a:srgbClr val="0051A5"/>
          </a:solidFill>
          <a:ln/>
        </p:spPr>
      </p:sp>
      <p:sp>
        <p:nvSpPr>
          <p:cNvPr id="16" name="Text 13"/>
          <p:cNvSpPr/>
          <p:nvPr/>
        </p:nvSpPr>
        <p:spPr>
          <a:xfrm>
            <a:off x="731520" y="2889504"/>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B</a:t>
            </a:r>
            <a:endParaRPr lang="en-US" sz="1000" dirty="0"/>
          </a:p>
        </p:txBody>
      </p:sp>
      <p:sp>
        <p:nvSpPr>
          <p:cNvPr id="17" name="Text 14"/>
          <p:cNvSpPr/>
          <p:nvPr/>
        </p:nvSpPr>
        <p:spPr>
          <a:xfrm>
            <a:off x="1097280" y="2852928"/>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Candice Ellsworth</a:t>
            </a:r>
            <a:endParaRPr lang="en-US" sz="1200" dirty="0"/>
          </a:p>
        </p:txBody>
      </p:sp>
      <p:sp>
        <p:nvSpPr>
          <p:cNvPr id="18" name="Shape 15"/>
          <p:cNvSpPr/>
          <p:nvPr/>
        </p:nvSpPr>
        <p:spPr>
          <a:xfrm>
            <a:off x="731520" y="3182112"/>
            <a:ext cx="292608" cy="201168"/>
          </a:xfrm>
          <a:prstGeom prst="rect">
            <a:avLst/>
          </a:prstGeom>
          <a:solidFill>
            <a:srgbClr val="0051A5"/>
          </a:solidFill>
          <a:ln/>
        </p:spPr>
      </p:sp>
      <p:sp>
        <p:nvSpPr>
          <p:cNvPr id="19" name="Text 16"/>
          <p:cNvSpPr/>
          <p:nvPr/>
        </p:nvSpPr>
        <p:spPr>
          <a:xfrm>
            <a:off x="731520" y="3182112"/>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B</a:t>
            </a:r>
            <a:endParaRPr lang="en-US" sz="1000" dirty="0"/>
          </a:p>
        </p:txBody>
      </p:sp>
      <p:sp>
        <p:nvSpPr>
          <p:cNvPr id="20" name="Text 17"/>
          <p:cNvSpPr/>
          <p:nvPr/>
        </p:nvSpPr>
        <p:spPr>
          <a:xfrm>
            <a:off x="1097280" y="3145536"/>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Rebecca J Sogard</a:t>
            </a:r>
            <a:endParaRPr lang="en-US" sz="1200" dirty="0"/>
          </a:p>
        </p:txBody>
      </p:sp>
      <p:sp>
        <p:nvSpPr>
          <p:cNvPr id="21" name="Shape 18"/>
          <p:cNvSpPr/>
          <p:nvPr/>
        </p:nvSpPr>
        <p:spPr>
          <a:xfrm>
            <a:off x="731520" y="3474720"/>
            <a:ext cx="292608" cy="201168"/>
          </a:xfrm>
          <a:prstGeom prst="rect">
            <a:avLst/>
          </a:prstGeom>
          <a:solidFill>
            <a:srgbClr val="001F47"/>
          </a:solidFill>
          <a:ln/>
        </p:spPr>
      </p:sp>
      <p:sp>
        <p:nvSpPr>
          <p:cNvPr id="22" name="Text 19"/>
          <p:cNvSpPr/>
          <p:nvPr/>
        </p:nvSpPr>
        <p:spPr>
          <a:xfrm>
            <a:off x="731520" y="3474720"/>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F</a:t>
            </a:r>
            <a:endParaRPr lang="en-US" sz="1000" dirty="0"/>
          </a:p>
        </p:txBody>
      </p:sp>
      <p:sp>
        <p:nvSpPr>
          <p:cNvPr id="23" name="Text 20"/>
          <p:cNvSpPr/>
          <p:nvPr/>
        </p:nvSpPr>
        <p:spPr>
          <a:xfrm>
            <a:off x="1097280" y="3438144"/>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Danny Pelicano</a:t>
            </a:r>
            <a:endParaRPr lang="en-US" sz="1200" dirty="0"/>
          </a:p>
        </p:txBody>
      </p:sp>
      <p:sp>
        <p:nvSpPr>
          <p:cNvPr id="24" name="Shape 21"/>
          <p:cNvSpPr/>
          <p:nvPr/>
        </p:nvSpPr>
        <p:spPr>
          <a:xfrm>
            <a:off x="731520" y="3767328"/>
            <a:ext cx="292608" cy="201168"/>
          </a:xfrm>
          <a:prstGeom prst="rect">
            <a:avLst/>
          </a:prstGeom>
          <a:solidFill>
            <a:srgbClr val="001F47"/>
          </a:solidFill>
          <a:ln/>
        </p:spPr>
      </p:sp>
      <p:sp>
        <p:nvSpPr>
          <p:cNvPr id="25" name="Text 22"/>
          <p:cNvSpPr/>
          <p:nvPr/>
        </p:nvSpPr>
        <p:spPr>
          <a:xfrm>
            <a:off x="731520" y="3767328"/>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F</a:t>
            </a:r>
            <a:endParaRPr lang="en-US" sz="1000" dirty="0"/>
          </a:p>
        </p:txBody>
      </p:sp>
      <p:sp>
        <p:nvSpPr>
          <p:cNvPr id="26" name="Text 23"/>
          <p:cNvSpPr/>
          <p:nvPr/>
        </p:nvSpPr>
        <p:spPr>
          <a:xfrm>
            <a:off x="1097280" y="3730752"/>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Mark Almirante</a:t>
            </a:r>
            <a:endParaRPr lang="en-US" sz="1200" dirty="0"/>
          </a:p>
        </p:txBody>
      </p:sp>
      <p:sp>
        <p:nvSpPr>
          <p:cNvPr id="27" name="Shape 24"/>
          <p:cNvSpPr/>
          <p:nvPr/>
        </p:nvSpPr>
        <p:spPr>
          <a:xfrm>
            <a:off x="731520" y="4526280"/>
            <a:ext cx="365760" cy="36576"/>
          </a:xfrm>
          <a:prstGeom prst="rect">
            <a:avLst/>
          </a:prstGeom>
          <a:solidFill>
            <a:srgbClr val="FEDF01"/>
          </a:solidFill>
          <a:ln/>
        </p:spPr>
      </p:sp>
      <p:sp>
        <p:nvSpPr>
          <p:cNvPr id="28" name="Text 25"/>
          <p:cNvSpPr/>
          <p:nvPr/>
        </p:nvSpPr>
        <p:spPr>
          <a:xfrm>
            <a:off x="731520" y="461772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FOCUS</a:t>
            </a:r>
            <a:endParaRPr lang="en-US" sz="900" dirty="0"/>
          </a:p>
        </p:txBody>
      </p:sp>
      <p:sp>
        <p:nvSpPr>
          <p:cNvPr id="29" name="Text 26"/>
          <p:cNvSpPr/>
          <p:nvPr/>
        </p:nvSpPr>
        <p:spPr>
          <a:xfrm>
            <a:off x="731520" y="4855464"/>
            <a:ext cx="3322320" cy="9601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SME for SQL Server implementation · Ansible automation for build &amp; on-going maintenance · operational guardrails</a:t>
            </a:r>
            <a:endParaRPr lang="en-US" sz="1000" dirty="0"/>
          </a:p>
        </p:txBody>
      </p:sp>
      <p:sp>
        <p:nvSpPr>
          <p:cNvPr id="30" name="Shape 27"/>
          <p:cNvSpPr/>
          <p:nvPr/>
        </p:nvSpPr>
        <p:spPr>
          <a:xfrm>
            <a:off x="4282440" y="1874520"/>
            <a:ext cx="3596640" cy="4114800"/>
          </a:xfrm>
          <a:prstGeom prst="rect">
            <a:avLst/>
          </a:prstGeom>
          <a:solidFill>
            <a:srgbClr val="FFFFFF"/>
          </a:solidFill>
          <a:ln w="7620">
            <a:solidFill>
              <a:srgbClr val="D6DEE8"/>
            </a:solidFill>
            <a:prstDash val="solid"/>
          </a:ln>
        </p:spPr>
      </p:sp>
      <p:sp>
        <p:nvSpPr>
          <p:cNvPr id="31" name="Shape 28"/>
          <p:cNvSpPr/>
          <p:nvPr/>
        </p:nvSpPr>
        <p:spPr>
          <a:xfrm>
            <a:off x="4282440" y="1874520"/>
            <a:ext cx="3596640" cy="594360"/>
          </a:xfrm>
          <a:prstGeom prst="rect">
            <a:avLst/>
          </a:prstGeom>
          <a:solidFill>
            <a:srgbClr val="0051A5"/>
          </a:solidFill>
          <a:ln/>
        </p:spPr>
      </p:sp>
      <p:sp>
        <p:nvSpPr>
          <p:cNvPr id="32" name="Text 29"/>
          <p:cNvSpPr/>
          <p:nvPr/>
        </p:nvSpPr>
        <p:spPr>
          <a:xfrm>
            <a:off x="4465320" y="1920240"/>
            <a:ext cx="249936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Postgres</a:t>
            </a:r>
            <a:endParaRPr lang="en-US" sz="1600" dirty="0"/>
          </a:p>
        </p:txBody>
      </p:sp>
      <p:sp>
        <p:nvSpPr>
          <p:cNvPr id="33" name="Shape 30"/>
          <p:cNvSpPr/>
          <p:nvPr/>
        </p:nvSpPr>
        <p:spPr>
          <a:xfrm>
            <a:off x="7010400" y="1984248"/>
            <a:ext cx="365760" cy="365760"/>
          </a:xfrm>
          <a:prstGeom prst="ellipse">
            <a:avLst/>
          </a:prstGeom>
          <a:solidFill>
            <a:srgbClr val="FEDF01"/>
          </a:solidFill>
          <a:ln/>
        </p:spPr>
      </p:sp>
      <p:sp>
        <p:nvSpPr>
          <p:cNvPr id="34" name="Text 31"/>
          <p:cNvSpPr/>
          <p:nvPr/>
        </p:nvSpPr>
        <p:spPr>
          <a:xfrm>
            <a:off x="7010400" y="1984248"/>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2</a:t>
            </a:r>
            <a:endParaRPr lang="en-US" sz="1600" dirty="0"/>
          </a:p>
        </p:txBody>
      </p:sp>
      <p:sp>
        <p:nvSpPr>
          <p:cNvPr id="35" name="Text 32"/>
          <p:cNvSpPr/>
          <p:nvPr/>
        </p:nvSpPr>
        <p:spPr>
          <a:xfrm>
            <a:off x="7376160" y="2039112"/>
            <a:ext cx="502920" cy="274320"/>
          </a:xfrm>
          <a:prstGeom prst="rect">
            <a:avLst/>
          </a:prstGeom>
          <a:noFill/>
          <a:ln/>
        </p:spPr>
        <p:txBody>
          <a:bodyPr wrap="square" lIns="0" tIns="0" rIns="0" bIns="0" rtlCol="0" anchor="ctr"/>
          <a:lstStyle/>
          <a:p>
            <a:pPr indent="0" marL="0">
              <a:buNone/>
            </a:pPr>
            <a:r>
              <a:rPr lang="en-US" sz="900" i="1" dirty="0">
                <a:solidFill>
                  <a:srgbClr val="FEDF01"/>
                </a:solidFill>
                <a:latin typeface="Calibri" pitchFamily="34" charset="0"/>
                <a:ea typeface="Calibri" pitchFamily="34" charset="-122"/>
                <a:cs typeface="Calibri" pitchFamily="34" charset="-120"/>
              </a:rPr>
              <a:t>members</a:t>
            </a:r>
            <a:endParaRPr lang="en-US" sz="900" dirty="0"/>
          </a:p>
        </p:txBody>
      </p:sp>
      <p:sp>
        <p:nvSpPr>
          <p:cNvPr id="36" name="Text 33"/>
          <p:cNvSpPr/>
          <p:nvPr/>
        </p:nvSpPr>
        <p:spPr>
          <a:xfrm>
            <a:off x="4465320" y="2240280"/>
            <a:ext cx="33223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2 from F</a:t>
            </a:r>
            <a:endParaRPr lang="en-US" sz="1000" dirty="0"/>
          </a:p>
        </p:txBody>
      </p:sp>
      <p:sp>
        <p:nvSpPr>
          <p:cNvPr id="37" name="Text 34"/>
          <p:cNvSpPr/>
          <p:nvPr/>
        </p:nvSpPr>
        <p:spPr>
          <a:xfrm>
            <a:off x="4465320" y="260604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MEMBERS</a:t>
            </a:r>
            <a:endParaRPr lang="en-US" sz="900" dirty="0"/>
          </a:p>
        </p:txBody>
      </p:sp>
      <p:sp>
        <p:nvSpPr>
          <p:cNvPr id="38" name="Shape 35"/>
          <p:cNvSpPr/>
          <p:nvPr/>
        </p:nvSpPr>
        <p:spPr>
          <a:xfrm>
            <a:off x="4465320" y="2889504"/>
            <a:ext cx="292608" cy="201168"/>
          </a:xfrm>
          <a:prstGeom prst="rect">
            <a:avLst/>
          </a:prstGeom>
          <a:solidFill>
            <a:srgbClr val="001F47"/>
          </a:solidFill>
          <a:ln/>
        </p:spPr>
      </p:sp>
      <p:sp>
        <p:nvSpPr>
          <p:cNvPr id="39" name="Text 36"/>
          <p:cNvSpPr/>
          <p:nvPr/>
        </p:nvSpPr>
        <p:spPr>
          <a:xfrm>
            <a:off x="4465320" y="2889504"/>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F</a:t>
            </a:r>
            <a:endParaRPr lang="en-US" sz="1000" dirty="0"/>
          </a:p>
        </p:txBody>
      </p:sp>
      <p:sp>
        <p:nvSpPr>
          <p:cNvPr id="40" name="Text 37"/>
          <p:cNvSpPr/>
          <p:nvPr/>
        </p:nvSpPr>
        <p:spPr>
          <a:xfrm>
            <a:off x="4831080" y="2852928"/>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Yili (Lisa) Zhu</a:t>
            </a:r>
            <a:endParaRPr lang="en-US" sz="1200" dirty="0"/>
          </a:p>
        </p:txBody>
      </p:sp>
      <p:sp>
        <p:nvSpPr>
          <p:cNvPr id="41" name="Shape 38"/>
          <p:cNvSpPr/>
          <p:nvPr/>
        </p:nvSpPr>
        <p:spPr>
          <a:xfrm>
            <a:off x="4465320" y="3182112"/>
            <a:ext cx="292608" cy="201168"/>
          </a:xfrm>
          <a:prstGeom prst="rect">
            <a:avLst/>
          </a:prstGeom>
          <a:solidFill>
            <a:srgbClr val="001F47"/>
          </a:solidFill>
          <a:ln/>
        </p:spPr>
      </p:sp>
      <p:sp>
        <p:nvSpPr>
          <p:cNvPr id="42" name="Text 39"/>
          <p:cNvSpPr/>
          <p:nvPr/>
        </p:nvSpPr>
        <p:spPr>
          <a:xfrm>
            <a:off x="4465320" y="3182112"/>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F</a:t>
            </a:r>
            <a:endParaRPr lang="en-US" sz="1000" dirty="0"/>
          </a:p>
        </p:txBody>
      </p:sp>
      <p:sp>
        <p:nvSpPr>
          <p:cNvPr id="43" name="Text 40"/>
          <p:cNvSpPr/>
          <p:nvPr/>
        </p:nvSpPr>
        <p:spPr>
          <a:xfrm>
            <a:off x="4831080" y="3145536"/>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Sally Bao</a:t>
            </a:r>
            <a:endParaRPr lang="en-US" sz="1200" dirty="0"/>
          </a:p>
        </p:txBody>
      </p:sp>
      <p:sp>
        <p:nvSpPr>
          <p:cNvPr id="44" name="Shape 41"/>
          <p:cNvSpPr/>
          <p:nvPr/>
        </p:nvSpPr>
        <p:spPr>
          <a:xfrm>
            <a:off x="4465320" y="4526280"/>
            <a:ext cx="365760" cy="36576"/>
          </a:xfrm>
          <a:prstGeom prst="rect">
            <a:avLst/>
          </a:prstGeom>
          <a:solidFill>
            <a:srgbClr val="FEDF01"/>
          </a:solidFill>
          <a:ln/>
        </p:spPr>
      </p:sp>
      <p:sp>
        <p:nvSpPr>
          <p:cNvPr id="45" name="Text 42"/>
          <p:cNvSpPr/>
          <p:nvPr/>
        </p:nvSpPr>
        <p:spPr>
          <a:xfrm>
            <a:off x="4465320" y="461772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FOCUS</a:t>
            </a:r>
            <a:endParaRPr lang="en-US" sz="900" dirty="0"/>
          </a:p>
        </p:txBody>
      </p:sp>
      <p:sp>
        <p:nvSpPr>
          <p:cNvPr id="46" name="Text 43"/>
          <p:cNvSpPr/>
          <p:nvPr/>
        </p:nvSpPr>
        <p:spPr>
          <a:xfrm>
            <a:off x="4465320" y="4855464"/>
            <a:ext cx="3322320" cy="9601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SME for operational requirements · feedback bridge between application &amp; engineering teams · automated patch rollout · Ansible automation for on-going maintenance</a:t>
            </a:r>
            <a:endParaRPr lang="en-US" sz="1000" dirty="0"/>
          </a:p>
        </p:txBody>
      </p:sp>
      <p:sp>
        <p:nvSpPr>
          <p:cNvPr id="47" name="Shape 44"/>
          <p:cNvSpPr/>
          <p:nvPr/>
        </p:nvSpPr>
        <p:spPr>
          <a:xfrm>
            <a:off x="8016240" y="1874520"/>
            <a:ext cx="3596640" cy="4114800"/>
          </a:xfrm>
          <a:prstGeom prst="rect">
            <a:avLst/>
          </a:prstGeom>
          <a:solidFill>
            <a:srgbClr val="FFFFFF"/>
          </a:solidFill>
          <a:ln w="7620">
            <a:solidFill>
              <a:srgbClr val="D6DEE8"/>
            </a:solidFill>
            <a:prstDash val="solid"/>
          </a:ln>
        </p:spPr>
      </p:sp>
      <p:sp>
        <p:nvSpPr>
          <p:cNvPr id="48" name="Shape 45"/>
          <p:cNvSpPr/>
          <p:nvPr/>
        </p:nvSpPr>
        <p:spPr>
          <a:xfrm>
            <a:off x="8016240" y="1874520"/>
            <a:ext cx="3596640" cy="594360"/>
          </a:xfrm>
          <a:prstGeom prst="rect">
            <a:avLst/>
          </a:prstGeom>
          <a:solidFill>
            <a:srgbClr val="0051A5"/>
          </a:solidFill>
          <a:ln/>
        </p:spPr>
      </p:sp>
      <p:sp>
        <p:nvSpPr>
          <p:cNvPr id="49" name="Text 46"/>
          <p:cNvSpPr/>
          <p:nvPr/>
        </p:nvSpPr>
        <p:spPr>
          <a:xfrm>
            <a:off x="8199120" y="1920240"/>
            <a:ext cx="249936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MongoDB</a:t>
            </a:r>
            <a:endParaRPr lang="en-US" sz="1600" dirty="0"/>
          </a:p>
        </p:txBody>
      </p:sp>
      <p:sp>
        <p:nvSpPr>
          <p:cNvPr id="50" name="Shape 47"/>
          <p:cNvSpPr/>
          <p:nvPr/>
        </p:nvSpPr>
        <p:spPr>
          <a:xfrm>
            <a:off x="10744200" y="1984248"/>
            <a:ext cx="365760" cy="365760"/>
          </a:xfrm>
          <a:prstGeom prst="ellipse">
            <a:avLst/>
          </a:prstGeom>
          <a:solidFill>
            <a:srgbClr val="FEDF01"/>
          </a:solidFill>
          <a:ln/>
        </p:spPr>
      </p:sp>
      <p:sp>
        <p:nvSpPr>
          <p:cNvPr id="51" name="Text 48"/>
          <p:cNvSpPr/>
          <p:nvPr/>
        </p:nvSpPr>
        <p:spPr>
          <a:xfrm>
            <a:off x="10744200" y="1984248"/>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1</a:t>
            </a:r>
            <a:endParaRPr lang="en-US" sz="1600" dirty="0"/>
          </a:p>
        </p:txBody>
      </p:sp>
      <p:sp>
        <p:nvSpPr>
          <p:cNvPr id="52" name="Text 49"/>
          <p:cNvSpPr/>
          <p:nvPr/>
        </p:nvSpPr>
        <p:spPr>
          <a:xfrm>
            <a:off x="11109960" y="2039112"/>
            <a:ext cx="502920" cy="274320"/>
          </a:xfrm>
          <a:prstGeom prst="rect">
            <a:avLst/>
          </a:prstGeom>
          <a:noFill/>
          <a:ln/>
        </p:spPr>
        <p:txBody>
          <a:bodyPr wrap="square" lIns="0" tIns="0" rIns="0" bIns="0" rtlCol="0" anchor="ctr"/>
          <a:lstStyle/>
          <a:p>
            <a:pPr indent="0" marL="0">
              <a:buNone/>
            </a:pPr>
            <a:r>
              <a:rPr lang="en-US" sz="900" i="1" dirty="0">
                <a:solidFill>
                  <a:srgbClr val="FEDF01"/>
                </a:solidFill>
                <a:latin typeface="Calibri" pitchFamily="34" charset="0"/>
                <a:ea typeface="Calibri" pitchFamily="34" charset="-122"/>
                <a:cs typeface="Calibri" pitchFamily="34" charset="-120"/>
              </a:rPr>
              <a:t>members</a:t>
            </a:r>
            <a:endParaRPr lang="en-US" sz="900" dirty="0"/>
          </a:p>
        </p:txBody>
      </p:sp>
      <p:sp>
        <p:nvSpPr>
          <p:cNvPr id="53" name="Text 50"/>
          <p:cNvSpPr/>
          <p:nvPr/>
        </p:nvSpPr>
        <p:spPr>
          <a:xfrm>
            <a:off x="8199120" y="2240280"/>
            <a:ext cx="3322320" cy="20116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1 from F</a:t>
            </a:r>
            <a:endParaRPr lang="en-US" sz="1000" dirty="0"/>
          </a:p>
        </p:txBody>
      </p:sp>
      <p:sp>
        <p:nvSpPr>
          <p:cNvPr id="54" name="Text 51"/>
          <p:cNvSpPr/>
          <p:nvPr/>
        </p:nvSpPr>
        <p:spPr>
          <a:xfrm>
            <a:off x="8199120" y="260604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MEMBERS</a:t>
            </a:r>
            <a:endParaRPr lang="en-US" sz="900" dirty="0"/>
          </a:p>
        </p:txBody>
      </p:sp>
      <p:sp>
        <p:nvSpPr>
          <p:cNvPr id="55" name="Shape 52"/>
          <p:cNvSpPr/>
          <p:nvPr/>
        </p:nvSpPr>
        <p:spPr>
          <a:xfrm>
            <a:off x="8199120" y="2889504"/>
            <a:ext cx="292608" cy="201168"/>
          </a:xfrm>
          <a:prstGeom prst="rect">
            <a:avLst/>
          </a:prstGeom>
          <a:solidFill>
            <a:srgbClr val="001F47"/>
          </a:solidFill>
          <a:ln/>
        </p:spPr>
      </p:sp>
      <p:sp>
        <p:nvSpPr>
          <p:cNvPr id="56" name="Text 53"/>
          <p:cNvSpPr/>
          <p:nvPr/>
        </p:nvSpPr>
        <p:spPr>
          <a:xfrm>
            <a:off x="8199120" y="2889504"/>
            <a:ext cx="292608" cy="201168"/>
          </a:xfrm>
          <a:prstGeom prst="rect">
            <a:avLst/>
          </a:prstGeom>
          <a:noFill/>
          <a:ln/>
        </p:spPr>
        <p:txBody>
          <a:bodyPr wrap="square" lIns="0" tIns="0" rIns="0" bIns="0" rtlCol="0" anchor="ctr"/>
          <a:lstStyle/>
          <a:p>
            <a:pPr algn="ctr" indent="0" marL="0">
              <a:buNone/>
            </a:pPr>
            <a:r>
              <a:rPr lang="en-US" sz="1000" b="1" dirty="0">
                <a:solidFill>
                  <a:srgbClr val="FEDF01"/>
                </a:solidFill>
                <a:latin typeface="Trebuchet MS" pitchFamily="34" charset="0"/>
                <a:ea typeface="Trebuchet MS" pitchFamily="34" charset="-122"/>
                <a:cs typeface="Trebuchet MS" pitchFamily="34" charset="-120"/>
              </a:rPr>
              <a:t>F</a:t>
            </a:r>
            <a:endParaRPr lang="en-US" sz="1000" dirty="0"/>
          </a:p>
        </p:txBody>
      </p:sp>
      <p:sp>
        <p:nvSpPr>
          <p:cNvPr id="57" name="Text 54"/>
          <p:cNvSpPr/>
          <p:nvPr/>
        </p:nvSpPr>
        <p:spPr>
          <a:xfrm>
            <a:off x="8564880" y="2852928"/>
            <a:ext cx="2956560" cy="274320"/>
          </a:xfrm>
          <a:prstGeom prst="rect">
            <a:avLst/>
          </a:prstGeom>
          <a:noFill/>
          <a:ln/>
        </p:spPr>
        <p:txBody>
          <a:bodyPr wrap="square" lIns="0" tIns="0" rIns="0" bIns="0" rtlCol="0" anchor="ctr"/>
          <a:lstStyle/>
          <a:p>
            <a:pPr indent="0" marL="0">
              <a:buNone/>
            </a:pPr>
            <a:r>
              <a:rPr lang="en-US" sz="1200" b="1" dirty="0">
                <a:solidFill>
                  <a:srgbClr val="001F47"/>
                </a:solidFill>
                <a:latin typeface="Trebuchet MS" pitchFamily="34" charset="0"/>
                <a:ea typeface="Trebuchet MS" pitchFamily="34" charset="-122"/>
                <a:cs typeface="Trebuchet MS" pitchFamily="34" charset="-120"/>
              </a:rPr>
              <a:t>Sandeep Ranabotu</a:t>
            </a:r>
            <a:endParaRPr lang="en-US" sz="1200" dirty="0"/>
          </a:p>
        </p:txBody>
      </p:sp>
      <p:sp>
        <p:nvSpPr>
          <p:cNvPr id="58" name="Text 55"/>
          <p:cNvSpPr/>
          <p:nvPr/>
        </p:nvSpPr>
        <p:spPr>
          <a:xfrm>
            <a:off x="8564880" y="3099816"/>
            <a:ext cx="2956560" cy="201168"/>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Sr. Technical Specialist</a:t>
            </a:r>
            <a:endParaRPr lang="en-US" sz="900" dirty="0"/>
          </a:p>
        </p:txBody>
      </p:sp>
      <p:sp>
        <p:nvSpPr>
          <p:cNvPr id="59" name="Shape 56"/>
          <p:cNvSpPr/>
          <p:nvPr/>
        </p:nvSpPr>
        <p:spPr>
          <a:xfrm>
            <a:off x="8199120" y="4526280"/>
            <a:ext cx="365760" cy="36576"/>
          </a:xfrm>
          <a:prstGeom prst="rect">
            <a:avLst/>
          </a:prstGeom>
          <a:solidFill>
            <a:srgbClr val="FEDF01"/>
          </a:solidFill>
          <a:ln/>
        </p:spPr>
      </p:sp>
      <p:sp>
        <p:nvSpPr>
          <p:cNvPr id="60" name="Text 57"/>
          <p:cNvSpPr/>
          <p:nvPr/>
        </p:nvSpPr>
        <p:spPr>
          <a:xfrm>
            <a:off x="8199120" y="4617720"/>
            <a:ext cx="33223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FOCUS</a:t>
            </a:r>
            <a:endParaRPr lang="en-US" sz="900" dirty="0"/>
          </a:p>
        </p:txBody>
      </p:sp>
      <p:sp>
        <p:nvSpPr>
          <p:cNvPr id="61" name="Text 58"/>
          <p:cNvSpPr/>
          <p:nvPr/>
        </p:nvSpPr>
        <p:spPr>
          <a:xfrm>
            <a:off x="8199120" y="4855464"/>
            <a:ext cx="3322320" cy="9601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SME for operational requirements · feedback bridge between application &amp; engineering teams · guidance on tooling for patching · operational guardrails</a:t>
            </a:r>
            <a:endParaRPr lang="en-US" sz="1000" dirty="0"/>
          </a:p>
        </p:txBody>
      </p:sp>
      <p:sp>
        <p:nvSpPr>
          <p:cNvPr id="62" name="Shape 59"/>
          <p:cNvSpPr/>
          <p:nvPr/>
        </p:nvSpPr>
        <p:spPr>
          <a:xfrm>
            <a:off x="548640" y="6126480"/>
            <a:ext cx="11064240" cy="502920"/>
          </a:xfrm>
          <a:prstGeom prst="rect">
            <a:avLst/>
          </a:prstGeom>
          <a:solidFill>
            <a:srgbClr val="001F47"/>
          </a:solidFill>
          <a:ln/>
        </p:spPr>
      </p:sp>
      <p:sp>
        <p:nvSpPr>
          <p:cNvPr id="63" name="Text 60"/>
          <p:cNvSpPr/>
          <p:nvPr/>
        </p:nvSpPr>
        <p:spPr>
          <a:xfrm>
            <a:off x="777240" y="6199632"/>
            <a:ext cx="320040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SHARED ACROSS ALL 7</a:t>
            </a:r>
            <a:endParaRPr lang="en-US" sz="900" dirty="0"/>
          </a:p>
        </p:txBody>
      </p:sp>
      <p:sp>
        <p:nvSpPr>
          <p:cNvPr id="64" name="Text 61"/>
          <p:cNvSpPr/>
          <p:nvPr/>
        </p:nvSpPr>
        <p:spPr>
          <a:xfrm>
            <a:off x="777240" y="6382512"/>
            <a:ext cx="10607040" cy="23774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Subject-matter expertise · communication between operational and engineering teams · scripting and operational tool design · operational guardrails.</a:t>
            </a:r>
            <a:endParaRPr lang="en-US" sz="1100" dirty="0"/>
          </a:p>
        </p:txBody>
      </p:sp>
      <p:sp>
        <p:nvSpPr>
          <p:cNvPr id="65" name="Text 62"/>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17 / 30</a:t>
            </a:r>
            <a:endParaRPr lang="en-US" sz="900" dirty="0"/>
          </a:p>
        </p:txBody>
      </p:sp>
      <p:sp>
        <p:nvSpPr>
          <p:cNvPr id="66" name="Text 63"/>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16  ·  RESOURCING ASK</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Compute Squad — 4 members named</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200" i="1" dirty="0">
                <a:solidFill>
                  <a:srgbClr val="5B6778"/>
                </a:solidFill>
                <a:latin typeface="Calibri" pitchFamily="34" charset="0"/>
                <a:ea typeface="Calibri" pitchFamily="34" charset="-122"/>
                <a:cs typeface="Calibri" pitchFamily="34" charset="-120"/>
              </a:rPr>
              <a:t>1 full-time software developer (D) for VMaaS · 3 operations leads (F) for Windows, Linux, VMware — all 4 dedicated to running the Compute platform as one team.</a:t>
            </a:r>
            <a:endParaRPr lang="en-US" sz="1200" dirty="0"/>
          </a:p>
        </p:txBody>
      </p:sp>
      <p:sp>
        <p:nvSpPr>
          <p:cNvPr id="7" name="Shape 4"/>
          <p:cNvSpPr/>
          <p:nvPr/>
        </p:nvSpPr>
        <p:spPr>
          <a:xfrm>
            <a:off x="548640" y="1874520"/>
            <a:ext cx="5463540" cy="2171700"/>
          </a:xfrm>
          <a:prstGeom prst="rect">
            <a:avLst/>
          </a:prstGeom>
          <a:solidFill>
            <a:srgbClr val="FFFFFF"/>
          </a:solidFill>
          <a:ln w="7620">
            <a:solidFill>
              <a:srgbClr val="D6DEE8"/>
            </a:solidFill>
            <a:prstDash val="solid"/>
          </a:ln>
        </p:spPr>
      </p:sp>
      <p:sp>
        <p:nvSpPr>
          <p:cNvPr id="8" name="Shape 5"/>
          <p:cNvSpPr/>
          <p:nvPr/>
        </p:nvSpPr>
        <p:spPr>
          <a:xfrm>
            <a:off x="548640" y="1874520"/>
            <a:ext cx="5463540" cy="594360"/>
          </a:xfrm>
          <a:prstGeom prst="rect">
            <a:avLst/>
          </a:prstGeom>
          <a:solidFill>
            <a:srgbClr val="001F47"/>
          </a:solidFill>
          <a:ln/>
        </p:spPr>
      </p:sp>
      <p:sp>
        <p:nvSpPr>
          <p:cNvPr id="9" name="Shape 6"/>
          <p:cNvSpPr/>
          <p:nvPr/>
        </p:nvSpPr>
        <p:spPr>
          <a:xfrm>
            <a:off x="731520" y="1993392"/>
            <a:ext cx="548640" cy="228600"/>
          </a:xfrm>
          <a:prstGeom prst="rect">
            <a:avLst/>
          </a:prstGeom>
          <a:solidFill>
            <a:srgbClr val="FEDF01"/>
          </a:solidFill>
          <a:ln/>
        </p:spPr>
      </p:sp>
      <p:sp>
        <p:nvSpPr>
          <p:cNvPr id="10" name="Text 7"/>
          <p:cNvSpPr/>
          <p:nvPr/>
        </p:nvSpPr>
        <p:spPr>
          <a:xfrm>
            <a:off x="731520" y="1993392"/>
            <a:ext cx="548640" cy="228600"/>
          </a:xfrm>
          <a:prstGeom prst="rect">
            <a:avLst/>
          </a:prstGeom>
          <a:noFill/>
          <a:ln/>
        </p:spPr>
        <p:txBody>
          <a:bodyPr wrap="square" lIns="0" tIns="0" rIns="0" bIns="0" rtlCol="0" anchor="ctr"/>
          <a:lstStyle/>
          <a:p>
            <a:pPr algn="ctr" indent="0" marL="0">
              <a:buNone/>
            </a:pPr>
            <a:r>
              <a:rPr lang="en-US" sz="900" b="1" spc="200" kern="0" dirty="0">
                <a:solidFill>
                  <a:srgbClr val="001F47"/>
                </a:solidFill>
                <a:latin typeface="Trebuchet MS" pitchFamily="34" charset="0"/>
                <a:ea typeface="Trebuchet MS" pitchFamily="34" charset="-122"/>
                <a:cs typeface="Trebuchet MS" pitchFamily="34" charset="-120"/>
              </a:rPr>
              <a:t>RUN</a:t>
            </a:r>
            <a:endParaRPr lang="en-US" sz="900" dirty="0"/>
          </a:p>
        </p:txBody>
      </p:sp>
      <p:sp>
        <p:nvSpPr>
          <p:cNvPr id="11" name="Shape 8"/>
          <p:cNvSpPr/>
          <p:nvPr/>
        </p:nvSpPr>
        <p:spPr>
          <a:xfrm>
            <a:off x="5509260" y="1993392"/>
            <a:ext cx="365760" cy="365760"/>
          </a:xfrm>
          <a:prstGeom prst="ellipse">
            <a:avLst/>
          </a:prstGeom>
          <a:solidFill>
            <a:srgbClr val="FEDF01"/>
          </a:solidFill>
          <a:ln/>
        </p:spPr>
      </p:sp>
      <p:sp>
        <p:nvSpPr>
          <p:cNvPr id="12" name="Text 9"/>
          <p:cNvSpPr/>
          <p:nvPr/>
        </p:nvSpPr>
        <p:spPr>
          <a:xfrm>
            <a:off x="5509260" y="1993392"/>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D</a:t>
            </a:r>
            <a:endParaRPr lang="en-US" sz="1600" dirty="0"/>
          </a:p>
        </p:txBody>
      </p:sp>
      <p:sp>
        <p:nvSpPr>
          <p:cNvPr id="13" name="Text 10"/>
          <p:cNvSpPr/>
          <p:nvPr/>
        </p:nvSpPr>
        <p:spPr>
          <a:xfrm>
            <a:off x="1371600" y="1929384"/>
            <a:ext cx="404622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Maria Mathew</a:t>
            </a:r>
            <a:endParaRPr lang="en-US" sz="1400" dirty="0"/>
          </a:p>
        </p:txBody>
      </p:sp>
      <p:sp>
        <p:nvSpPr>
          <p:cNvPr id="14" name="Text 11"/>
          <p:cNvSpPr/>
          <p:nvPr/>
        </p:nvSpPr>
        <p:spPr>
          <a:xfrm>
            <a:off x="1371600" y="2185416"/>
            <a:ext cx="4046220" cy="24688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Software Developer · VMaaS</a:t>
            </a:r>
            <a:endParaRPr lang="en-US" sz="1000" dirty="0"/>
          </a:p>
        </p:txBody>
      </p:sp>
      <p:sp>
        <p:nvSpPr>
          <p:cNvPr id="15" name="Shape 12"/>
          <p:cNvSpPr/>
          <p:nvPr/>
        </p:nvSpPr>
        <p:spPr>
          <a:xfrm>
            <a:off x="713232" y="2587752"/>
            <a:ext cx="5143500" cy="274320"/>
          </a:xfrm>
          <a:prstGeom prst="rect">
            <a:avLst/>
          </a:prstGeom>
          <a:solidFill>
            <a:srgbClr val="E6EEF8"/>
          </a:solidFill>
          <a:ln/>
        </p:spPr>
      </p:sp>
      <p:pic>
        <p:nvPicPr>
          <p:cNvPr id="16" name="Image 1" descr="preencoded.png">    </p:cNvPr>
          <p:cNvPicPr>
            <a:picLocks noChangeAspect="1"/>
          </p:cNvPicPr>
          <p:nvPr/>
        </p:nvPicPr>
        <p:blipFill>
          <a:blip r:embed="rId2"/>
          <a:stretch>
            <a:fillRect/>
          </a:stretch>
        </p:blipFill>
        <p:spPr>
          <a:xfrm>
            <a:off x="804672" y="2651760"/>
            <a:ext cx="164592" cy="164592"/>
          </a:xfrm>
          <a:prstGeom prst="rect">
            <a:avLst/>
          </a:prstGeom>
        </p:spPr>
      </p:pic>
      <p:sp>
        <p:nvSpPr>
          <p:cNvPr id="17" name="Text 13"/>
          <p:cNvSpPr/>
          <p:nvPr/>
        </p:nvSpPr>
        <p:spPr>
          <a:xfrm>
            <a:off x="1051560" y="2587752"/>
            <a:ext cx="4823460" cy="274320"/>
          </a:xfrm>
          <a:prstGeom prst="rect">
            <a:avLst/>
          </a:prstGeom>
          <a:noFill/>
          <a:ln/>
        </p:spPr>
        <p:txBody>
          <a:bodyPr wrap="square" lIns="0" tIns="0" rIns="0" bIns="0" rtlCol="0" anchor="ctr"/>
          <a:lstStyle/>
          <a:p>
            <a:pPr indent="0" marL="0">
              <a:buNone/>
            </a:pPr>
            <a:r>
              <a:rPr lang="en-US" sz="1000" b="1" i="1" dirty="0">
                <a:solidFill>
                  <a:srgbClr val="C97A00"/>
                </a:solidFill>
                <a:latin typeface="Calibri" pitchFamily="34" charset="0"/>
                <a:ea typeface="Calibri" pitchFamily="34" charset="-122"/>
                <a:cs typeface="Calibri" pitchFamily="34" charset="-120"/>
              </a:rPr>
              <a:t>Currently 50% — request 100% allocation</a:t>
            </a:r>
            <a:endParaRPr lang="en-US" sz="1000" dirty="0"/>
          </a:p>
        </p:txBody>
      </p:sp>
      <p:sp>
        <p:nvSpPr>
          <p:cNvPr id="18" name="Text 14"/>
          <p:cNvSpPr/>
          <p:nvPr/>
        </p:nvSpPr>
        <p:spPr>
          <a:xfrm>
            <a:off x="713232" y="2953512"/>
            <a:ext cx="5189220" cy="18288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RESPONSIBILITIES</a:t>
            </a:r>
            <a:endParaRPr lang="en-US" sz="900" dirty="0"/>
          </a:p>
        </p:txBody>
      </p:sp>
      <p:sp>
        <p:nvSpPr>
          <p:cNvPr id="19" name="Text 15"/>
          <p:cNvSpPr/>
          <p:nvPr/>
        </p:nvSpPr>
        <p:spPr>
          <a:xfrm>
            <a:off x="685800" y="3182112"/>
            <a:ext cx="5189220" cy="818388"/>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Design and implement new VMaaS platform features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Technical support and maintenance for platform microservices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Troubleshoot and resolve service-level issues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Collaborate with infrastructure teams on integration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Contribute to platform scalability and performance</a:t>
            </a:r>
            <a:endParaRPr lang="en-US" sz="1000" dirty="0"/>
          </a:p>
        </p:txBody>
      </p:sp>
      <p:sp>
        <p:nvSpPr>
          <p:cNvPr id="20" name="Shape 16"/>
          <p:cNvSpPr/>
          <p:nvPr/>
        </p:nvSpPr>
        <p:spPr>
          <a:xfrm>
            <a:off x="6149340" y="1874520"/>
            <a:ext cx="5463540" cy="2171700"/>
          </a:xfrm>
          <a:prstGeom prst="rect">
            <a:avLst/>
          </a:prstGeom>
          <a:solidFill>
            <a:srgbClr val="FFFFFF"/>
          </a:solidFill>
          <a:ln w="7620">
            <a:solidFill>
              <a:srgbClr val="D6DEE8"/>
            </a:solidFill>
            <a:prstDash val="solid"/>
          </a:ln>
        </p:spPr>
      </p:sp>
      <p:sp>
        <p:nvSpPr>
          <p:cNvPr id="21" name="Shape 17"/>
          <p:cNvSpPr/>
          <p:nvPr/>
        </p:nvSpPr>
        <p:spPr>
          <a:xfrm>
            <a:off x="6149340" y="1874520"/>
            <a:ext cx="5463540" cy="594360"/>
          </a:xfrm>
          <a:prstGeom prst="rect">
            <a:avLst/>
          </a:prstGeom>
          <a:solidFill>
            <a:srgbClr val="001F47"/>
          </a:solidFill>
          <a:ln/>
        </p:spPr>
      </p:sp>
      <p:sp>
        <p:nvSpPr>
          <p:cNvPr id="22" name="Shape 18"/>
          <p:cNvSpPr/>
          <p:nvPr/>
        </p:nvSpPr>
        <p:spPr>
          <a:xfrm>
            <a:off x="6332220" y="1993392"/>
            <a:ext cx="548640" cy="228600"/>
          </a:xfrm>
          <a:prstGeom prst="rect">
            <a:avLst/>
          </a:prstGeom>
          <a:solidFill>
            <a:srgbClr val="FEDF01"/>
          </a:solidFill>
          <a:ln/>
        </p:spPr>
      </p:sp>
      <p:sp>
        <p:nvSpPr>
          <p:cNvPr id="23" name="Text 19"/>
          <p:cNvSpPr/>
          <p:nvPr/>
        </p:nvSpPr>
        <p:spPr>
          <a:xfrm>
            <a:off x="6332220" y="1993392"/>
            <a:ext cx="548640" cy="228600"/>
          </a:xfrm>
          <a:prstGeom prst="rect">
            <a:avLst/>
          </a:prstGeom>
          <a:noFill/>
          <a:ln/>
        </p:spPr>
        <p:txBody>
          <a:bodyPr wrap="square" lIns="0" tIns="0" rIns="0" bIns="0" rtlCol="0" anchor="ctr"/>
          <a:lstStyle/>
          <a:p>
            <a:pPr algn="ctr" indent="0" marL="0">
              <a:buNone/>
            </a:pPr>
            <a:r>
              <a:rPr lang="en-US" sz="900" b="1" spc="200" kern="0" dirty="0">
                <a:solidFill>
                  <a:srgbClr val="001F47"/>
                </a:solidFill>
                <a:latin typeface="Trebuchet MS" pitchFamily="34" charset="0"/>
                <a:ea typeface="Trebuchet MS" pitchFamily="34" charset="-122"/>
                <a:cs typeface="Trebuchet MS" pitchFamily="34" charset="-120"/>
              </a:rPr>
              <a:t>RUN</a:t>
            </a:r>
            <a:endParaRPr lang="en-US" sz="900" dirty="0"/>
          </a:p>
        </p:txBody>
      </p:sp>
      <p:sp>
        <p:nvSpPr>
          <p:cNvPr id="24" name="Shape 20"/>
          <p:cNvSpPr/>
          <p:nvPr/>
        </p:nvSpPr>
        <p:spPr>
          <a:xfrm>
            <a:off x="11109960" y="1993392"/>
            <a:ext cx="365760" cy="365760"/>
          </a:xfrm>
          <a:prstGeom prst="ellipse">
            <a:avLst/>
          </a:prstGeom>
          <a:solidFill>
            <a:srgbClr val="FEDF01"/>
          </a:solidFill>
          <a:ln/>
        </p:spPr>
      </p:sp>
      <p:sp>
        <p:nvSpPr>
          <p:cNvPr id="25" name="Text 21"/>
          <p:cNvSpPr/>
          <p:nvPr/>
        </p:nvSpPr>
        <p:spPr>
          <a:xfrm>
            <a:off x="11109960" y="1993392"/>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F</a:t>
            </a:r>
            <a:endParaRPr lang="en-US" sz="1600" dirty="0"/>
          </a:p>
        </p:txBody>
      </p:sp>
      <p:sp>
        <p:nvSpPr>
          <p:cNvPr id="26" name="Text 22"/>
          <p:cNvSpPr/>
          <p:nvPr/>
        </p:nvSpPr>
        <p:spPr>
          <a:xfrm>
            <a:off x="6972300" y="1929384"/>
            <a:ext cx="404622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Stephen Luk</a:t>
            </a:r>
            <a:endParaRPr lang="en-US" sz="1400" dirty="0"/>
          </a:p>
        </p:txBody>
      </p:sp>
      <p:sp>
        <p:nvSpPr>
          <p:cNvPr id="27" name="Text 23"/>
          <p:cNvSpPr/>
          <p:nvPr/>
        </p:nvSpPr>
        <p:spPr>
          <a:xfrm>
            <a:off x="6972300" y="2185416"/>
            <a:ext cx="4046220" cy="24688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Windows Operations Lead</a:t>
            </a:r>
            <a:endParaRPr lang="en-US" sz="1000" dirty="0"/>
          </a:p>
        </p:txBody>
      </p:sp>
      <p:sp>
        <p:nvSpPr>
          <p:cNvPr id="28" name="Text 24"/>
          <p:cNvSpPr/>
          <p:nvPr/>
        </p:nvSpPr>
        <p:spPr>
          <a:xfrm>
            <a:off x="6313932" y="2651760"/>
            <a:ext cx="5189220" cy="18288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RESPONSIBILITIES</a:t>
            </a:r>
            <a:endParaRPr lang="en-US" sz="900" dirty="0"/>
          </a:p>
        </p:txBody>
      </p:sp>
      <p:sp>
        <p:nvSpPr>
          <p:cNvPr id="29" name="Text 25"/>
          <p:cNvSpPr/>
          <p:nvPr/>
        </p:nvSpPr>
        <p:spPr>
          <a:xfrm>
            <a:off x="6286500" y="2880360"/>
            <a:ext cx="5189220" cy="112014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SME and technical support for Windows-related inquiries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Oversee Windows deployment operations and infrastructure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Maintain and optimize Windows gold image and configurations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Distribute Windows gold images across the platform</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Administer and enhance Windows deployment automation</a:t>
            </a:r>
            <a:endParaRPr lang="en-US" sz="1000" dirty="0"/>
          </a:p>
        </p:txBody>
      </p:sp>
      <p:sp>
        <p:nvSpPr>
          <p:cNvPr id="30" name="Shape 26"/>
          <p:cNvSpPr/>
          <p:nvPr/>
        </p:nvSpPr>
        <p:spPr>
          <a:xfrm>
            <a:off x="548640" y="4183380"/>
            <a:ext cx="5463540" cy="2171700"/>
          </a:xfrm>
          <a:prstGeom prst="rect">
            <a:avLst/>
          </a:prstGeom>
          <a:solidFill>
            <a:srgbClr val="FFFFFF"/>
          </a:solidFill>
          <a:ln w="7620">
            <a:solidFill>
              <a:srgbClr val="D6DEE8"/>
            </a:solidFill>
            <a:prstDash val="solid"/>
          </a:ln>
        </p:spPr>
      </p:sp>
      <p:sp>
        <p:nvSpPr>
          <p:cNvPr id="31" name="Shape 27"/>
          <p:cNvSpPr/>
          <p:nvPr/>
        </p:nvSpPr>
        <p:spPr>
          <a:xfrm>
            <a:off x="548640" y="4183380"/>
            <a:ext cx="5463540" cy="594360"/>
          </a:xfrm>
          <a:prstGeom prst="rect">
            <a:avLst/>
          </a:prstGeom>
          <a:solidFill>
            <a:srgbClr val="001F47"/>
          </a:solidFill>
          <a:ln/>
        </p:spPr>
      </p:sp>
      <p:sp>
        <p:nvSpPr>
          <p:cNvPr id="32" name="Shape 28"/>
          <p:cNvSpPr/>
          <p:nvPr/>
        </p:nvSpPr>
        <p:spPr>
          <a:xfrm>
            <a:off x="731520" y="4302252"/>
            <a:ext cx="548640" cy="228600"/>
          </a:xfrm>
          <a:prstGeom prst="rect">
            <a:avLst/>
          </a:prstGeom>
          <a:solidFill>
            <a:srgbClr val="FEDF01"/>
          </a:solidFill>
          <a:ln/>
        </p:spPr>
      </p:sp>
      <p:sp>
        <p:nvSpPr>
          <p:cNvPr id="33" name="Text 29"/>
          <p:cNvSpPr/>
          <p:nvPr/>
        </p:nvSpPr>
        <p:spPr>
          <a:xfrm>
            <a:off x="731520" y="4302252"/>
            <a:ext cx="548640" cy="228600"/>
          </a:xfrm>
          <a:prstGeom prst="rect">
            <a:avLst/>
          </a:prstGeom>
          <a:noFill/>
          <a:ln/>
        </p:spPr>
        <p:txBody>
          <a:bodyPr wrap="square" lIns="0" tIns="0" rIns="0" bIns="0" rtlCol="0" anchor="ctr"/>
          <a:lstStyle/>
          <a:p>
            <a:pPr algn="ctr" indent="0" marL="0">
              <a:buNone/>
            </a:pPr>
            <a:r>
              <a:rPr lang="en-US" sz="900" b="1" spc="200" kern="0" dirty="0">
                <a:solidFill>
                  <a:srgbClr val="001F47"/>
                </a:solidFill>
                <a:latin typeface="Trebuchet MS" pitchFamily="34" charset="0"/>
                <a:ea typeface="Trebuchet MS" pitchFamily="34" charset="-122"/>
                <a:cs typeface="Trebuchet MS" pitchFamily="34" charset="-120"/>
              </a:rPr>
              <a:t>RUN</a:t>
            </a:r>
            <a:endParaRPr lang="en-US" sz="900" dirty="0"/>
          </a:p>
        </p:txBody>
      </p:sp>
      <p:sp>
        <p:nvSpPr>
          <p:cNvPr id="34" name="Shape 30"/>
          <p:cNvSpPr/>
          <p:nvPr/>
        </p:nvSpPr>
        <p:spPr>
          <a:xfrm>
            <a:off x="5509260" y="4302252"/>
            <a:ext cx="365760" cy="365760"/>
          </a:xfrm>
          <a:prstGeom prst="ellipse">
            <a:avLst/>
          </a:prstGeom>
          <a:solidFill>
            <a:srgbClr val="FEDF01"/>
          </a:solidFill>
          <a:ln/>
        </p:spPr>
      </p:sp>
      <p:sp>
        <p:nvSpPr>
          <p:cNvPr id="35" name="Text 31"/>
          <p:cNvSpPr/>
          <p:nvPr/>
        </p:nvSpPr>
        <p:spPr>
          <a:xfrm>
            <a:off x="5509260" y="4302252"/>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F</a:t>
            </a:r>
            <a:endParaRPr lang="en-US" sz="1600" dirty="0"/>
          </a:p>
        </p:txBody>
      </p:sp>
      <p:sp>
        <p:nvSpPr>
          <p:cNvPr id="36" name="Text 32"/>
          <p:cNvSpPr/>
          <p:nvPr/>
        </p:nvSpPr>
        <p:spPr>
          <a:xfrm>
            <a:off x="1371600" y="4238244"/>
            <a:ext cx="404622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Esha Patel</a:t>
            </a:r>
            <a:endParaRPr lang="en-US" sz="1400" dirty="0"/>
          </a:p>
        </p:txBody>
      </p:sp>
      <p:sp>
        <p:nvSpPr>
          <p:cNvPr id="37" name="Text 33"/>
          <p:cNvSpPr/>
          <p:nvPr/>
        </p:nvSpPr>
        <p:spPr>
          <a:xfrm>
            <a:off x="1371600" y="4494276"/>
            <a:ext cx="4046220" cy="24688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Linux Operations Lead</a:t>
            </a:r>
            <a:endParaRPr lang="en-US" sz="1000" dirty="0"/>
          </a:p>
        </p:txBody>
      </p:sp>
      <p:sp>
        <p:nvSpPr>
          <p:cNvPr id="38" name="Text 34"/>
          <p:cNvSpPr/>
          <p:nvPr/>
        </p:nvSpPr>
        <p:spPr>
          <a:xfrm>
            <a:off x="713232" y="4960620"/>
            <a:ext cx="5189220" cy="18288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RESPONSIBILITIES</a:t>
            </a:r>
            <a:endParaRPr lang="en-US" sz="900" dirty="0"/>
          </a:p>
        </p:txBody>
      </p:sp>
      <p:sp>
        <p:nvSpPr>
          <p:cNvPr id="39" name="Text 35"/>
          <p:cNvSpPr/>
          <p:nvPr/>
        </p:nvSpPr>
        <p:spPr>
          <a:xfrm>
            <a:off x="685800" y="5189220"/>
            <a:ext cx="5189220" cy="112014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SME and technical support for Linux-related inquiries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Oversee Linux deployment operations and infrastructure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Maintain and optimize Linux gold image and configurations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Distribute Linux gold images across the platform</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Administer and enhance Linux deployment automation</a:t>
            </a:r>
            <a:endParaRPr lang="en-US" sz="1000" dirty="0"/>
          </a:p>
        </p:txBody>
      </p:sp>
      <p:sp>
        <p:nvSpPr>
          <p:cNvPr id="40" name="Shape 36"/>
          <p:cNvSpPr/>
          <p:nvPr/>
        </p:nvSpPr>
        <p:spPr>
          <a:xfrm>
            <a:off x="6149340" y="4183380"/>
            <a:ext cx="5463540" cy="2171700"/>
          </a:xfrm>
          <a:prstGeom prst="rect">
            <a:avLst/>
          </a:prstGeom>
          <a:solidFill>
            <a:srgbClr val="FFFFFF"/>
          </a:solidFill>
          <a:ln w="7620">
            <a:solidFill>
              <a:srgbClr val="D6DEE8"/>
            </a:solidFill>
            <a:prstDash val="solid"/>
          </a:ln>
        </p:spPr>
      </p:sp>
      <p:sp>
        <p:nvSpPr>
          <p:cNvPr id="41" name="Shape 37"/>
          <p:cNvSpPr/>
          <p:nvPr/>
        </p:nvSpPr>
        <p:spPr>
          <a:xfrm>
            <a:off x="6149340" y="4183380"/>
            <a:ext cx="5463540" cy="594360"/>
          </a:xfrm>
          <a:prstGeom prst="rect">
            <a:avLst/>
          </a:prstGeom>
          <a:solidFill>
            <a:srgbClr val="001F47"/>
          </a:solidFill>
          <a:ln/>
        </p:spPr>
      </p:sp>
      <p:sp>
        <p:nvSpPr>
          <p:cNvPr id="42" name="Shape 38"/>
          <p:cNvSpPr/>
          <p:nvPr/>
        </p:nvSpPr>
        <p:spPr>
          <a:xfrm>
            <a:off x="6332220" y="4302252"/>
            <a:ext cx="548640" cy="228600"/>
          </a:xfrm>
          <a:prstGeom prst="rect">
            <a:avLst/>
          </a:prstGeom>
          <a:solidFill>
            <a:srgbClr val="FEDF01"/>
          </a:solidFill>
          <a:ln/>
        </p:spPr>
      </p:sp>
      <p:sp>
        <p:nvSpPr>
          <p:cNvPr id="43" name="Text 39"/>
          <p:cNvSpPr/>
          <p:nvPr/>
        </p:nvSpPr>
        <p:spPr>
          <a:xfrm>
            <a:off x="6332220" y="4302252"/>
            <a:ext cx="548640" cy="228600"/>
          </a:xfrm>
          <a:prstGeom prst="rect">
            <a:avLst/>
          </a:prstGeom>
          <a:noFill/>
          <a:ln/>
        </p:spPr>
        <p:txBody>
          <a:bodyPr wrap="square" lIns="0" tIns="0" rIns="0" bIns="0" rtlCol="0" anchor="ctr"/>
          <a:lstStyle/>
          <a:p>
            <a:pPr algn="ctr" indent="0" marL="0">
              <a:buNone/>
            </a:pPr>
            <a:r>
              <a:rPr lang="en-US" sz="900" b="1" spc="200" kern="0" dirty="0">
                <a:solidFill>
                  <a:srgbClr val="001F47"/>
                </a:solidFill>
                <a:latin typeface="Trebuchet MS" pitchFamily="34" charset="0"/>
                <a:ea typeface="Trebuchet MS" pitchFamily="34" charset="-122"/>
                <a:cs typeface="Trebuchet MS" pitchFamily="34" charset="-120"/>
              </a:rPr>
              <a:t>RUN</a:t>
            </a:r>
            <a:endParaRPr lang="en-US" sz="900" dirty="0"/>
          </a:p>
        </p:txBody>
      </p:sp>
      <p:sp>
        <p:nvSpPr>
          <p:cNvPr id="44" name="Shape 40"/>
          <p:cNvSpPr/>
          <p:nvPr/>
        </p:nvSpPr>
        <p:spPr>
          <a:xfrm>
            <a:off x="11109960" y="4302252"/>
            <a:ext cx="365760" cy="365760"/>
          </a:xfrm>
          <a:prstGeom prst="ellipse">
            <a:avLst/>
          </a:prstGeom>
          <a:solidFill>
            <a:srgbClr val="FEDF01"/>
          </a:solidFill>
          <a:ln/>
        </p:spPr>
      </p:sp>
      <p:sp>
        <p:nvSpPr>
          <p:cNvPr id="45" name="Text 41"/>
          <p:cNvSpPr/>
          <p:nvPr/>
        </p:nvSpPr>
        <p:spPr>
          <a:xfrm>
            <a:off x="11109960" y="4302252"/>
            <a:ext cx="365760" cy="365760"/>
          </a:xfrm>
          <a:prstGeom prst="rect">
            <a:avLst/>
          </a:prstGeom>
          <a:noFill/>
          <a:ln/>
        </p:spPr>
        <p:txBody>
          <a:bodyPr wrap="square" lIns="0" tIns="0" rIns="0" bIns="0" rtlCol="0" anchor="ctr"/>
          <a:lstStyle/>
          <a:p>
            <a:pPr algn="ctr" indent="0" marL="0">
              <a:buNone/>
            </a:pPr>
            <a:r>
              <a:rPr lang="en-US" sz="1600" b="1" dirty="0">
                <a:solidFill>
                  <a:srgbClr val="001F47"/>
                </a:solidFill>
                <a:latin typeface="Trebuchet MS" pitchFamily="34" charset="0"/>
                <a:ea typeface="Trebuchet MS" pitchFamily="34" charset="-122"/>
                <a:cs typeface="Trebuchet MS" pitchFamily="34" charset="-120"/>
              </a:rPr>
              <a:t>F</a:t>
            </a:r>
            <a:endParaRPr lang="en-US" sz="1600" dirty="0"/>
          </a:p>
        </p:txBody>
      </p:sp>
      <p:sp>
        <p:nvSpPr>
          <p:cNvPr id="46" name="Text 42"/>
          <p:cNvSpPr/>
          <p:nvPr/>
        </p:nvSpPr>
        <p:spPr>
          <a:xfrm>
            <a:off x="6972300" y="4238244"/>
            <a:ext cx="4046220" cy="27432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Dilip Bellara</a:t>
            </a:r>
            <a:endParaRPr lang="en-US" sz="1400" dirty="0"/>
          </a:p>
        </p:txBody>
      </p:sp>
      <p:sp>
        <p:nvSpPr>
          <p:cNvPr id="47" name="Text 43"/>
          <p:cNvSpPr/>
          <p:nvPr/>
        </p:nvSpPr>
        <p:spPr>
          <a:xfrm>
            <a:off x="6972300" y="4494276"/>
            <a:ext cx="4046220" cy="246888"/>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VMware Infrastructure Lead</a:t>
            </a:r>
            <a:endParaRPr lang="en-US" sz="1000" dirty="0"/>
          </a:p>
        </p:txBody>
      </p:sp>
      <p:sp>
        <p:nvSpPr>
          <p:cNvPr id="48" name="Text 44"/>
          <p:cNvSpPr/>
          <p:nvPr/>
        </p:nvSpPr>
        <p:spPr>
          <a:xfrm>
            <a:off x="6313932" y="4960620"/>
            <a:ext cx="5189220" cy="182880"/>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RESPONSIBILITIES</a:t>
            </a:r>
            <a:endParaRPr lang="en-US" sz="900" dirty="0"/>
          </a:p>
        </p:txBody>
      </p:sp>
      <p:sp>
        <p:nvSpPr>
          <p:cNvPr id="49" name="Text 45"/>
          <p:cNvSpPr/>
          <p:nvPr/>
        </p:nvSpPr>
        <p:spPr>
          <a:xfrm>
            <a:off x="6286500" y="5189220"/>
            <a:ext cx="5189220" cy="1120140"/>
          </a:xfrm>
          <a:prstGeom prst="rect">
            <a:avLst/>
          </a:prstGeom>
          <a:noFill/>
          <a:ln/>
        </p:spPr>
        <p:txBody>
          <a:bodyPr wrap="square" rtlCol="0" anchor="ctr"/>
          <a:lstStyle/>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Manage and optimize vRealize Automation platform operations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Monitor and manage VMaaS-related infrastructure</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Maintain and upgrade vRealize Suite to current versions</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Provide elevated-privilege support and escalation</a:t>
            </a:r>
            <a:endParaRPr lang="en-US" sz="1000" dirty="0"/>
          </a:p>
          <a:p>
            <a:pPr marL="342900" indent="-342900">
              <a:spcAft>
                <a:spcPts val="100"/>
              </a:spcAft>
              <a:buSzPct val="100000"/>
              <a:buChar char="•"/>
            </a:pPr>
            <a:r>
              <a:rPr lang="en-US" sz="1000" dirty="0">
                <a:solidFill>
                  <a:srgbClr val="0F172A"/>
                </a:solidFill>
                <a:latin typeface="Calibri" pitchFamily="34" charset="0"/>
                <a:ea typeface="Calibri" pitchFamily="34" charset="-122"/>
                <a:cs typeface="Calibri" pitchFamily="34" charset="-120"/>
              </a:rPr>
              <a:t>Ensure compliance and security across VMware components</a:t>
            </a:r>
            <a:endParaRPr lang="en-US" sz="1000" dirty="0"/>
          </a:p>
        </p:txBody>
      </p:sp>
      <p:sp>
        <p:nvSpPr>
          <p:cNvPr id="50" name="Text 4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18 / 30</a:t>
            </a:r>
            <a:endParaRPr lang="en-US" sz="900" dirty="0"/>
          </a:p>
        </p:txBody>
      </p:sp>
      <p:sp>
        <p:nvSpPr>
          <p:cNvPr id="51" name="Text 4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17  ·  RESOURCING ASK</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How we fund the 75 — coverage map</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200" i="1" dirty="0">
                <a:solidFill>
                  <a:srgbClr val="5B6778"/>
                </a:solidFill>
                <a:latin typeface="Calibri" pitchFamily="34" charset="0"/>
                <a:ea typeface="Calibri" pitchFamily="34" charset="-122"/>
                <a:cs typeface="Calibri" pitchFamily="34" charset="-120"/>
              </a:rPr>
              <a:t>Implementing the squads above covers 64 roles via reallocation. The remaining 11 roles in column D require $3.5MM PAR — partially via IBM Statement of Work.</a:t>
            </a:r>
            <a:endParaRPr lang="en-US" sz="1200" dirty="0"/>
          </a:p>
        </p:txBody>
      </p:sp>
      <p:sp>
        <p:nvSpPr>
          <p:cNvPr id="7" name="Shape 4"/>
          <p:cNvSpPr/>
          <p:nvPr/>
        </p:nvSpPr>
        <p:spPr>
          <a:xfrm>
            <a:off x="548640" y="1874520"/>
            <a:ext cx="1691640" cy="365760"/>
          </a:xfrm>
          <a:prstGeom prst="rect">
            <a:avLst/>
          </a:prstGeom>
          <a:solidFill>
            <a:srgbClr val="F6F8FB"/>
          </a:solidFill>
          <a:ln w="5080">
            <a:solidFill>
              <a:srgbClr val="D6DEE8"/>
            </a:solidFill>
            <a:prstDash val="solid"/>
          </a:ln>
        </p:spPr>
      </p:sp>
      <p:sp>
        <p:nvSpPr>
          <p:cNvPr id="8" name="Shape 5"/>
          <p:cNvSpPr/>
          <p:nvPr/>
        </p:nvSpPr>
        <p:spPr>
          <a:xfrm>
            <a:off x="2240280" y="1874520"/>
            <a:ext cx="5303520" cy="365760"/>
          </a:xfrm>
          <a:prstGeom prst="rect">
            <a:avLst/>
          </a:prstGeom>
          <a:solidFill>
            <a:srgbClr val="0051A5"/>
          </a:solidFill>
          <a:ln/>
        </p:spPr>
      </p:sp>
      <p:sp>
        <p:nvSpPr>
          <p:cNvPr id="9" name="Text 6"/>
          <p:cNvSpPr/>
          <p:nvPr/>
        </p:nvSpPr>
        <p:spPr>
          <a:xfrm>
            <a:off x="2240280" y="1874520"/>
            <a:ext cx="5303520" cy="36576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Trebuchet MS" pitchFamily="34" charset="0"/>
                <a:ea typeface="Trebuchet MS" pitchFamily="34" charset="-122"/>
                <a:cs typeface="Trebuchet MS" pitchFamily="34" charset="-120"/>
              </a:rPr>
              <a:t>BUILD</a:t>
            </a:r>
            <a:endParaRPr lang="en-US" sz="1100" dirty="0"/>
          </a:p>
        </p:txBody>
      </p:sp>
      <p:sp>
        <p:nvSpPr>
          <p:cNvPr id="10" name="Shape 7"/>
          <p:cNvSpPr/>
          <p:nvPr/>
        </p:nvSpPr>
        <p:spPr>
          <a:xfrm>
            <a:off x="7543800" y="1874520"/>
            <a:ext cx="2651760" cy="365760"/>
          </a:xfrm>
          <a:prstGeom prst="rect">
            <a:avLst/>
          </a:prstGeom>
          <a:solidFill>
            <a:srgbClr val="001F47"/>
          </a:solidFill>
          <a:ln/>
        </p:spPr>
      </p:sp>
      <p:sp>
        <p:nvSpPr>
          <p:cNvPr id="11" name="Text 8"/>
          <p:cNvSpPr/>
          <p:nvPr/>
        </p:nvSpPr>
        <p:spPr>
          <a:xfrm>
            <a:off x="7543800" y="1874520"/>
            <a:ext cx="2651760" cy="365760"/>
          </a:xfrm>
          <a:prstGeom prst="rect">
            <a:avLst/>
          </a:prstGeom>
          <a:noFill/>
          <a:ln/>
        </p:spPr>
        <p:txBody>
          <a:bodyPr wrap="square" lIns="0" tIns="0" rIns="0" bIns="0" rtlCol="0" anchor="ctr"/>
          <a:lstStyle/>
          <a:p>
            <a:pPr algn="ctr" indent="0" marL="0">
              <a:buNone/>
            </a:pPr>
            <a:r>
              <a:rPr lang="en-US" sz="1100" b="1" spc="300" kern="0" dirty="0">
                <a:solidFill>
                  <a:srgbClr val="FEDF01"/>
                </a:solidFill>
                <a:latin typeface="Trebuchet MS" pitchFamily="34" charset="0"/>
                <a:ea typeface="Trebuchet MS" pitchFamily="34" charset="-122"/>
                <a:cs typeface="Trebuchet MS" pitchFamily="34" charset="-120"/>
              </a:rPr>
              <a:t>PLATFORM SUPPORT</a:t>
            </a:r>
            <a:endParaRPr lang="en-US" sz="1100" dirty="0"/>
          </a:p>
        </p:txBody>
      </p:sp>
      <p:sp>
        <p:nvSpPr>
          <p:cNvPr id="12" name="Shape 9"/>
          <p:cNvSpPr/>
          <p:nvPr/>
        </p:nvSpPr>
        <p:spPr>
          <a:xfrm>
            <a:off x="10195560" y="1874520"/>
            <a:ext cx="1417320" cy="365760"/>
          </a:xfrm>
          <a:prstGeom prst="rect">
            <a:avLst/>
          </a:prstGeom>
          <a:solidFill>
            <a:srgbClr val="F6F8FB"/>
          </a:solidFill>
          <a:ln w="5080">
            <a:solidFill>
              <a:srgbClr val="D6DEE8"/>
            </a:solidFill>
            <a:prstDash val="solid"/>
          </a:ln>
        </p:spPr>
      </p:sp>
      <p:sp>
        <p:nvSpPr>
          <p:cNvPr id="13" name="Shape 10"/>
          <p:cNvSpPr/>
          <p:nvPr/>
        </p:nvSpPr>
        <p:spPr>
          <a:xfrm>
            <a:off x="548640" y="2240280"/>
            <a:ext cx="1691640" cy="457200"/>
          </a:xfrm>
          <a:prstGeom prst="rect">
            <a:avLst/>
          </a:prstGeom>
          <a:solidFill>
            <a:srgbClr val="003168"/>
          </a:solidFill>
          <a:ln/>
        </p:spPr>
      </p:sp>
      <p:sp>
        <p:nvSpPr>
          <p:cNvPr id="14" name="Text 11"/>
          <p:cNvSpPr/>
          <p:nvPr/>
        </p:nvSpPr>
        <p:spPr>
          <a:xfrm>
            <a:off x="548640" y="224028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Service</a:t>
            </a:r>
            <a:endParaRPr lang="en-US" sz="1100" dirty="0"/>
          </a:p>
        </p:txBody>
      </p:sp>
      <p:sp>
        <p:nvSpPr>
          <p:cNvPr id="15" name="Shape 12"/>
          <p:cNvSpPr/>
          <p:nvPr/>
        </p:nvSpPr>
        <p:spPr>
          <a:xfrm>
            <a:off x="2240280" y="2240280"/>
            <a:ext cx="1325880" cy="457200"/>
          </a:xfrm>
          <a:prstGeom prst="rect">
            <a:avLst/>
          </a:prstGeom>
          <a:solidFill>
            <a:srgbClr val="003168"/>
          </a:solidFill>
          <a:ln/>
        </p:spPr>
      </p:sp>
      <p:sp>
        <p:nvSpPr>
          <p:cNvPr id="16" name="Shape 13"/>
          <p:cNvSpPr/>
          <p:nvPr/>
        </p:nvSpPr>
        <p:spPr>
          <a:xfrm>
            <a:off x="2756916" y="2322576"/>
            <a:ext cx="292608" cy="292608"/>
          </a:xfrm>
          <a:prstGeom prst="ellipse">
            <a:avLst/>
          </a:prstGeom>
          <a:solidFill>
            <a:srgbClr val="FEDF01"/>
          </a:solidFill>
          <a:ln/>
        </p:spPr>
      </p:sp>
      <p:sp>
        <p:nvSpPr>
          <p:cNvPr id="17" name="Text 14"/>
          <p:cNvSpPr/>
          <p:nvPr/>
        </p:nvSpPr>
        <p:spPr>
          <a:xfrm>
            <a:off x="275691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A</a:t>
            </a:r>
            <a:endParaRPr lang="en-US" sz="1300" dirty="0"/>
          </a:p>
        </p:txBody>
      </p:sp>
      <p:sp>
        <p:nvSpPr>
          <p:cNvPr id="18" name="Shape 15"/>
          <p:cNvSpPr/>
          <p:nvPr/>
        </p:nvSpPr>
        <p:spPr>
          <a:xfrm>
            <a:off x="3566160" y="2240280"/>
            <a:ext cx="1325880" cy="457200"/>
          </a:xfrm>
          <a:prstGeom prst="rect">
            <a:avLst/>
          </a:prstGeom>
          <a:solidFill>
            <a:srgbClr val="003168"/>
          </a:solidFill>
          <a:ln/>
        </p:spPr>
      </p:sp>
      <p:sp>
        <p:nvSpPr>
          <p:cNvPr id="19" name="Shape 16"/>
          <p:cNvSpPr/>
          <p:nvPr/>
        </p:nvSpPr>
        <p:spPr>
          <a:xfrm>
            <a:off x="4082796" y="2322576"/>
            <a:ext cx="292608" cy="292608"/>
          </a:xfrm>
          <a:prstGeom prst="ellipse">
            <a:avLst/>
          </a:prstGeom>
          <a:solidFill>
            <a:srgbClr val="FEDF01"/>
          </a:solidFill>
          <a:ln/>
        </p:spPr>
      </p:sp>
      <p:sp>
        <p:nvSpPr>
          <p:cNvPr id="20" name="Text 17"/>
          <p:cNvSpPr/>
          <p:nvPr/>
        </p:nvSpPr>
        <p:spPr>
          <a:xfrm>
            <a:off x="408279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B</a:t>
            </a:r>
            <a:endParaRPr lang="en-US" sz="1300" dirty="0"/>
          </a:p>
        </p:txBody>
      </p:sp>
      <p:sp>
        <p:nvSpPr>
          <p:cNvPr id="21" name="Shape 18"/>
          <p:cNvSpPr/>
          <p:nvPr/>
        </p:nvSpPr>
        <p:spPr>
          <a:xfrm>
            <a:off x="4892040" y="2240280"/>
            <a:ext cx="1325880" cy="457200"/>
          </a:xfrm>
          <a:prstGeom prst="rect">
            <a:avLst/>
          </a:prstGeom>
          <a:solidFill>
            <a:srgbClr val="003168"/>
          </a:solidFill>
          <a:ln/>
        </p:spPr>
      </p:sp>
      <p:sp>
        <p:nvSpPr>
          <p:cNvPr id="22" name="Shape 19"/>
          <p:cNvSpPr/>
          <p:nvPr/>
        </p:nvSpPr>
        <p:spPr>
          <a:xfrm>
            <a:off x="5408676" y="2322576"/>
            <a:ext cx="292608" cy="292608"/>
          </a:xfrm>
          <a:prstGeom prst="ellipse">
            <a:avLst/>
          </a:prstGeom>
          <a:solidFill>
            <a:srgbClr val="FEDF01"/>
          </a:solidFill>
          <a:ln/>
        </p:spPr>
      </p:sp>
      <p:sp>
        <p:nvSpPr>
          <p:cNvPr id="23" name="Text 20"/>
          <p:cNvSpPr/>
          <p:nvPr/>
        </p:nvSpPr>
        <p:spPr>
          <a:xfrm>
            <a:off x="540867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C</a:t>
            </a:r>
            <a:endParaRPr lang="en-US" sz="1300" dirty="0"/>
          </a:p>
        </p:txBody>
      </p:sp>
      <p:sp>
        <p:nvSpPr>
          <p:cNvPr id="24" name="Shape 21"/>
          <p:cNvSpPr/>
          <p:nvPr/>
        </p:nvSpPr>
        <p:spPr>
          <a:xfrm>
            <a:off x="6217920" y="2240280"/>
            <a:ext cx="1325880" cy="457200"/>
          </a:xfrm>
          <a:prstGeom prst="rect">
            <a:avLst/>
          </a:prstGeom>
          <a:solidFill>
            <a:srgbClr val="003168"/>
          </a:solidFill>
          <a:ln/>
        </p:spPr>
      </p:sp>
      <p:sp>
        <p:nvSpPr>
          <p:cNvPr id="25" name="Shape 22"/>
          <p:cNvSpPr/>
          <p:nvPr/>
        </p:nvSpPr>
        <p:spPr>
          <a:xfrm>
            <a:off x="6734556" y="2322576"/>
            <a:ext cx="292608" cy="292608"/>
          </a:xfrm>
          <a:prstGeom prst="ellipse">
            <a:avLst/>
          </a:prstGeom>
          <a:solidFill>
            <a:srgbClr val="FEDF01"/>
          </a:solidFill>
          <a:ln/>
        </p:spPr>
      </p:sp>
      <p:sp>
        <p:nvSpPr>
          <p:cNvPr id="26" name="Text 23"/>
          <p:cNvSpPr/>
          <p:nvPr/>
        </p:nvSpPr>
        <p:spPr>
          <a:xfrm>
            <a:off x="673455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D</a:t>
            </a:r>
            <a:endParaRPr lang="en-US" sz="1300" dirty="0"/>
          </a:p>
        </p:txBody>
      </p:sp>
      <p:sp>
        <p:nvSpPr>
          <p:cNvPr id="27" name="Shape 24"/>
          <p:cNvSpPr/>
          <p:nvPr/>
        </p:nvSpPr>
        <p:spPr>
          <a:xfrm>
            <a:off x="7543800" y="2240280"/>
            <a:ext cx="1325880" cy="457200"/>
          </a:xfrm>
          <a:prstGeom prst="rect">
            <a:avLst/>
          </a:prstGeom>
          <a:solidFill>
            <a:srgbClr val="003168"/>
          </a:solidFill>
          <a:ln/>
        </p:spPr>
      </p:sp>
      <p:sp>
        <p:nvSpPr>
          <p:cNvPr id="28" name="Shape 25"/>
          <p:cNvSpPr/>
          <p:nvPr/>
        </p:nvSpPr>
        <p:spPr>
          <a:xfrm>
            <a:off x="8060436" y="2322576"/>
            <a:ext cx="292608" cy="292608"/>
          </a:xfrm>
          <a:prstGeom prst="ellipse">
            <a:avLst/>
          </a:prstGeom>
          <a:solidFill>
            <a:srgbClr val="FEDF01"/>
          </a:solidFill>
          <a:ln/>
        </p:spPr>
      </p:sp>
      <p:sp>
        <p:nvSpPr>
          <p:cNvPr id="29" name="Text 26"/>
          <p:cNvSpPr/>
          <p:nvPr/>
        </p:nvSpPr>
        <p:spPr>
          <a:xfrm>
            <a:off x="806043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E</a:t>
            </a:r>
            <a:endParaRPr lang="en-US" sz="1300" dirty="0"/>
          </a:p>
        </p:txBody>
      </p:sp>
      <p:sp>
        <p:nvSpPr>
          <p:cNvPr id="30" name="Shape 27"/>
          <p:cNvSpPr/>
          <p:nvPr/>
        </p:nvSpPr>
        <p:spPr>
          <a:xfrm>
            <a:off x="8869680" y="2240280"/>
            <a:ext cx="1325880" cy="457200"/>
          </a:xfrm>
          <a:prstGeom prst="rect">
            <a:avLst/>
          </a:prstGeom>
          <a:solidFill>
            <a:srgbClr val="003168"/>
          </a:solidFill>
          <a:ln/>
        </p:spPr>
      </p:sp>
      <p:sp>
        <p:nvSpPr>
          <p:cNvPr id="31" name="Shape 28"/>
          <p:cNvSpPr/>
          <p:nvPr/>
        </p:nvSpPr>
        <p:spPr>
          <a:xfrm>
            <a:off x="9386316" y="2322576"/>
            <a:ext cx="292608" cy="292608"/>
          </a:xfrm>
          <a:prstGeom prst="ellipse">
            <a:avLst/>
          </a:prstGeom>
          <a:solidFill>
            <a:srgbClr val="FEDF01"/>
          </a:solidFill>
          <a:ln/>
        </p:spPr>
      </p:sp>
      <p:sp>
        <p:nvSpPr>
          <p:cNvPr id="32" name="Text 29"/>
          <p:cNvSpPr/>
          <p:nvPr/>
        </p:nvSpPr>
        <p:spPr>
          <a:xfrm>
            <a:off x="9386316" y="2322576"/>
            <a:ext cx="292608" cy="292608"/>
          </a:xfrm>
          <a:prstGeom prst="rect">
            <a:avLst/>
          </a:prstGeom>
          <a:noFill/>
          <a:ln/>
        </p:spPr>
        <p:txBody>
          <a:bodyPr wrap="square" lIns="0" tIns="0" rIns="0" bIns="0" rtlCol="0" anchor="ctr"/>
          <a:lstStyle/>
          <a:p>
            <a:pPr algn="ctr" indent="0" marL="0">
              <a:buNone/>
            </a:pPr>
            <a:r>
              <a:rPr lang="en-US" sz="1300" b="1" dirty="0">
                <a:solidFill>
                  <a:srgbClr val="001F47"/>
                </a:solidFill>
                <a:latin typeface="Trebuchet MS" pitchFamily="34" charset="0"/>
                <a:ea typeface="Trebuchet MS" pitchFamily="34" charset="-122"/>
                <a:cs typeface="Trebuchet MS" pitchFamily="34" charset="-120"/>
              </a:rPr>
              <a:t>F</a:t>
            </a:r>
            <a:endParaRPr lang="en-US" sz="1300" dirty="0"/>
          </a:p>
        </p:txBody>
      </p:sp>
      <p:sp>
        <p:nvSpPr>
          <p:cNvPr id="33" name="Shape 30"/>
          <p:cNvSpPr/>
          <p:nvPr/>
        </p:nvSpPr>
        <p:spPr>
          <a:xfrm>
            <a:off x="10195560" y="2240280"/>
            <a:ext cx="1417320" cy="457200"/>
          </a:xfrm>
          <a:prstGeom prst="rect">
            <a:avLst/>
          </a:prstGeom>
          <a:solidFill>
            <a:srgbClr val="003168"/>
          </a:solidFill>
          <a:ln/>
        </p:spPr>
      </p:sp>
      <p:sp>
        <p:nvSpPr>
          <p:cNvPr id="34" name="Text 31"/>
          <p:cNvSpPr/>
          <p:nvPr/>
        </p:nvSpPr>
        <p:spPr>
          <a:xfrm>
            <a:off x="10195560" y="2240280"/>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Total</a:t>
            </a:r>
            <a:endParaRPr lang="en-US" sz="1100" dirty="0"/>
          </a:p>
        </p:txBody>
      </p:sp>
      <p:sp>
        <p:nvSpPr>
          <p:cNvPr id="35" name="Shape 32"/>
          <p:cNvSpPr/>
          <p:nvPr/>
        </p:nvSpPr>
        <p:spPr>
          <a:xfrm>
            <a:off x="548640" y="2697480"/>
            <a:ext cx="1691640" cy="365760"/>
          </a:xfrm>
          <a:prstGeom prst="rect">
            <a:avLst/>
          </a:prstGeom>
          <a:solidFill>
            <a:srgbClr val="FFF8DD"/>
          </a:solidFill>
          <a:ln w="10160">
            <a:solidFill>
              <a:srgbClr val="C9AC00"/>
            </a:solidFill>
            <a:prstDash val="solid"/>
          </a:ln>
        </p:spPr>
      </p:sp>
      <p:sp>
        <p:nvSpPr>
          <p:cNvPr id="36" name="Text 33"/>
          <p:cNvSpPr/>
          <p:nvPr/>
        </p:nvSpPr>
        <p:spPr>
          <a:xfrm>
            <a:off x="548640" y="2697480"/>
            <a:ext cx="1691640" cy="365760"/>
          </a:xfrm>
          <a:prstGeom prst="rect">
            <a:avLst/>
          </a:prstGeom>
          <a:noFill/>
          <a:ln/>
        </p:spPr>
        <p:txBody>
          <a:bodyPr wrap="square" lIns="1270" tIns="1270" rIns="1270" bIns="1270" rtlCol="0" anchor="ctr"/>
          <a:lstStyle/>
          <a:p>
            <a:pPr algn="l" indent="0" marL="0">
              <a:buNone/>
            </a:pPr>
            <a:r>
              <a:rPr lang="en-US" sz="1100" b="1" dirty="0">
                <a:solidFill>
                  <a:srgbClr val="0051A5"/>
                </a:solidFill>
                <a:latin typeface="Trebuchet MS" pitchFamily="34" charset="0"/>
                <a:ea typeface="Trebuchet MS" pitchFamily="34" charset="-122"/>
                <a:cs typeface="Trebuchet MS" pitchFamily="34" charset="-120"/>
              </a:rPr>
              <a:t>Database</a:t>
            </a:r>
            <a:endParaRPr lang="en-US" sz="1100" dirty="0"/>
          </a:p>
        </p:txBody>
      </p:sp>
      <p:sp>
        <p:nvSpPr>
          <p:cNvPr id="37" name="Shape 34"/>
          <p:cNvSpPr/>
          <p:nvPr/>
        </p:nvSpPr>
        <p:spPr>
          <a:xfrm>
            <a:off x="2240280" y="2697480"/>
            <a:ext cx="1325880" cy="365760"/>
          </a:xfrm>
          <a:prstGeom prst="rect">
            <a:avLst/>
          </a:prstGeom>
          <a:solidFill>
            <a:srgbClr val="FFF8DD"/>
          </a:solidFill>
          <a:ln w="10160">
            <a:solidFill>
              <a:srgbClr val="C9AC00"/>
            </a:solidFill>
            <a:prstDash val="solid"/>
          </a:ln>
        </p:spPr>
      </p:sp>
      <p:sp>
        <p:nvSpPr>
          <p:cNvPr id="38" name="Text 35"/>
          <p:cNvSpPr/>
          <p:nvPr/>
        </p:nvSpPr>
        <p:spPr>
          <a:xfrm>
            <a:off x="224028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7</a:t>
            </a:r>
            <a:endParaRPr lang="en-US" sz="1300" dirty="0"/>
          </a:p>
        </p:txBody>
      </p:sp>
      <p:sp>
        <p:nvSpPr>
          <p:cNvPr id="39" name="Shape 36"/>
          <p:cNvSpPr/>
          <p:nvPr/>
        </p:nvSpPr>
        <p:spPr>
          <a:xfrm>
            <a:off x="3566160" y="2697480"/>
            <a:ext cx="1325880" cy="365760"/>
          </a:xfrm>
          <a:prstGeom prst="rect">
            <a:avLst/>
          </a:prstGeom>
          <a:solidFill>
            <a:srgbClr val="FFF8DD"/>
          </a:solidFill>
          <a:ln w="10160">
            <a:solidFill>
              <a:srgbClr val="C9AC00"/>
            </a:solidFill>
            <a:prstDash val="solid"/>
          </a:ln>
        </p:spPr>
      </p:sp>
      <p:sp>
        <p:nvSpPr>
          <p:cNvPr id="40" name="Text 37"/>
          <p:cNvSpPr/>
          <p:nvPr/>
        </p:nvSpPr>
        <p:spPr>
          <a:xfrm>
            <a:off x="356616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a:t>
            </a:r>
            <a:endParaRPr lang="en-US" sz="1300" dirty="0"/>
          </a:p>
        </p:txBody>
      </p:sp>
      <p:sp>
        <p:nvSpPr>
          <p:cNvPr id="41" name="Shape 38"/>
          <p:cNvSpPr/>
          <p:nvPr/>
        </p:nvSpPr>
        <p:spPr>
          <a:xfrm>
            <a:off x="4892040" y="2697480"/>
            <a:ext cx="1325880" cy="365760"/>
          </a:xfrm>
          <a:prstGeom prst="rect">
            <a:avLst/>
          </a:prstGeom>
          <a:solidFill>
            <a:srgbClr val="FFF8DD"/>
          </a:solidFill>
          <a:ln w="10160">
            <a:solidFill>
              <a:srgbClr val="C9AC00"/>
            </a:solidFill>
            <a:prstDash val="solid"/>
          </a:ln>
        </p:spPr>
      </p:sp>
      <p:sp>
        <p:nvSpPr>
          <p:cNvPr id="42" name="Text 39"/>
          <p:cNvSpPr/>
          <p:nvPr/>
        </p:nvSpPr>
        <p:spPr>
          <a:xfrm>
            <a:off x="489204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43" name="Shape 40"/>
          <p:cNvSpPr/>
          <p:nvPr/>
        </p:nvSpPr>
        <p:spPr>
          <a:xfrm>
            <a:off x="6217920" y="2697480"/>
            <a:ext cx="1325880" cy="365760"/>
          </a:xfrm>
          <a:prstGeom prst="rect">
            <a:avLst/>
          </a:prstGeom>
          <a:solidFill>
            <a:srgbClr val="FFEBA0"/>
          </a:solidFill>
          <a:ln w="10160">
            <a:solidFill>
              <a:srgbClr val="C9AC00"/>
            </a:solidFill>
            <a:prstDash val="solid"/>
          </a:ln>
        </p:spPr>
      </p:sp>
      <p:sp>
        <p:nvSpPr>
          <p:cNvPr id="44" name="Text 41"/>
          <p:cNvSpPr/>
          <p:nvPr/>
        </p:nvSpPr>
        <p:spPr>
          <a:xfrm>
            <a:off x="621792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3</a:t>
            </a:r>
            <a:endParaRPr lang="en-US" sz="1300" dirty="0"/>
          </a:p>
        </p:txBody>
      </p:sp>
      <p:sp>
        <p:nvSpPr>
          <p:cNvPr id="45" name="Shape 42"/>
          <p:cNvSpPr/>
          <p:nvPr/>
        </p:nvSpPr>
        <p:spPr>
          <a:xfrm>
            <a:off x="7543800" y="2697480"/>
            <a:ext cx="1325880" cy="365760"/>
          </a:xfrm>
          <a:prstGeom prst="rect">
            <a:avLst/>
          </a:prstGeom>
          <a:solidFill>
            <a:srgbClr val="FFF8DD"/>
          </a:solidFill>
          <a:ln w="10160">
            <a:solidFill>
              <a:srgbClr val="C9AC00"/>
            </a:solidFill>
            <a:prstDash val="solid"/>
          </a:ln>
        </p:spPr>
      </p:sp>
      <p:sp>
        <p:nvSpPr>
          <p:cNvPr id="46" name="Text 43"/>
          <p:cNvSpPr/>
          <p:nvPr/>
        </p:nvSpPr>
        <p:spPr>
          <a:xfrm>
            <a:off x="754380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47" name="Shape 44"/>
          <p:cNvSpPr/>
          <p:nvPr/>
        </p:nvSpPr>
        <p:spPr>
          <a:xfrm>
            <a:off x="8869680" y="2697480"/>
            <a:ext cx="1325880" cy="365760"/>
          </a:xfrm>
          <a:prstGeom prst="rect">
            <a:avLst/>
          </a:prstGeom>
          <a:solidFill>
            <a:srgbClr val="FFF8DD"/>
          </a:solidFill>
          <a:ln w="10160">
            <a:solidFill>
              <a:srgbClr val="C9AC00"/>
            </a:solidFill>
            <a:prstDash val="solid"/>
          </a:ln>
        </p:spPr>
      </p:sp>
      <p:sp>
        <p:nvSpPr>
          <p:cNvPr id="48" name="Text 45"/>
          <p:cNvSpPr/>
          <p:nvPr/>
        </p:nvSpPr>
        <p:spPr>
          <a:xfrm>
            <a:off x="8869680" y="269748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5</a:t>
            </a:r>
            <a:endParaRPr lang="en-US" sz="1300" dirty="0"/>
          </a:p>
        </p:txBody>
      </p:sp>
      <p:sp>
        <p:nvSpPr>
          <p:cNvPr id="49" name="Shape 46"/>
          <p:cNvSpPr/>
          <p:nvPr/>
        </p:nvSpPr>
        <p:spPr>
          <a:xfrm>
            <a:off x="10195560" y="2697480"/>
            <a:ext cx="1417320" cy="365760"/>
          </a:xfrm>
          <a:prstGeom prst="rect">
            <a:avLst/>
          </a:prstGeom>
          <a:solidFill>
            <a:srgbClr val="FFF8DD"/>
          </a:solidFill>
          <a:ln w="10160">
            <a:solidFill>
              <a:srgbClr val="C9AC00"/>
            </a:solidFill>
            <a:prstDash val="solid"/>
          </a:ln>
        </p:spPr>
      </p:sp>
      <p:sp>
        <p:nvSpPr>
          <p:cNvPr id="50" name="Text 47"/>
          <p:cNvSpPr/>
          <p:nvPr/>
        </p:nvSpPr>
        <p:spPr>
          <a:xfrm>
            <a:off x="10195560" y="2697480"/>
            <a:ext cx="141732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17</a:t>
            </a:r>
            <a:endParaRPr lang="en-US" sz="1300" dirty="0"/>
          </a:p>
        </p:txBody>
      </p:sp>
      <p:sp>
        <p:nvSpPr>
          <p:cNvPr id="51" name="Shape 48"/>
          <p:cNvSpPr/>
          <p:nvPr/>
        </p:nvSpPr>
        <p:spPr>
          <a:xfrm>
            <a:off x="548640" y="3063240"/>
            <a:ext cx="1691640" cy="365760"/>
          </a:xfrm>
          <a:prstGeom prst="rect">
            <a:avLst/>
          </a:prstGeom>
          <a:solidFill>
            <a:srgbClr val="FFF8DD"/>
          </a:solidFill>
          <a:ln w="10160">
            <a:solidFill>
              <a:srgbClr val="C9AC00"/>
            </a:solidFill>
            <a:prstDash val="solid"/>
          </a:ln>
        </p:spPr>
      </p:sp>
      <p:sp>
        <p:nvSpPr>
          <p:cNvPr id="52" name="Text 49"/>
          <p:cNvSpPr/>
          <p:nvPr/>
        </p:nvSpPr>
        <p:spPr>
          <a:xfrm>
            <a:off x="548640" y="3063240"/>
            <a:ext cx="1691640" cy="365760"/>
          </a:xfrm>
          <a:prstGeom prst="rect">
            <a:avLst/>
          </a:prstGeom>
          <a:noFill/>
          <a:ln/>
        </p:spPr>
        <p:txBody>
          <a:bodyPr wrap="square" lIns="1270" tIns="1270" rIns="1270" bIns="1270" rtlCol="0" anchor="ctr"/>
          <a:lstStyle/>
          <a:p>
            <a:pPr algn="l" indent="0" marL="0">
              <a:buNone/>
            </a:pPr>
            <a:r>
              <a:rPr lang="en-US" sz="1100" b="1" dirty="0">
                <a:solidFill>
                  <a:srgbClr val="0051A5"/>
                </a:solidFill>
                <a:latin typeface="Trebuchet MS" pitchFamily="34" charset="0"/>
                <a:ea typeface="Trebuchet MS" pitchFamily="34" charset="-122"/>
                <a:cs typeface="Trebuchet MS" pitchFamily="34" charset="-120"/>
              </a:rPr>
              <a:t>Compute</a:t>
            </a:r>
            <a:endParaRPr lang="en-US" sz="1100" dirty="0"/>
          </a:p>
        </p:txBody>
      </p:sp>
      <p:sp>
        <p:nvSpPr>
          <p:cNvPr id="53" name="Shape 50"/>
          <p:cNvSpPr/>
          <p:nvPr/>
        </p:nvSpPr>
        <p:spPr>
          <a:xfrm>
            <a:off x="2240280" y="3063240"/>
            <a:ext cx="1325880" cy="365760"/>
          </a:xfrm>
          <a:prstGeom prst="rect">
            <a:avLst/>
          </a:prstGeom>
          <a:solidFill>
            <a:srgbClr val="FFF8DD"/>
          </a:solidFill>
          <a:ln w="10160">
            <a:solidFill>
              <a:srgbClr val="C9AC00"/>
            </a:solidFill>
            <a:prstDash val="solid"/>
          </a:ln>
        </p:spPr>
      </p:sp>
      <p:sp>
        <p:nvSpPr>
          <p:cNvPr id="54" name="Text 51"/>
          <p:cNvSpPr/>
          <p:nvPr/>
        </p:nvSpPr>
        <p:spPr>
          <a:xfrm>
            <a:off x="224028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3</a:t>
            </a:r>
            <a:endParaRPr lang="en-US" sz="1300" dirty="0"/>
          </a:p>
        </p:txBody>
      </p:sp>
      <p:sp>
        <p:nvSpPr>
          <p:cNvPr id="55" name="Shape 52"/>
          <p:cNvSpPr/>
          <p:nvPr/>
        </p:nvSpPr>
        <p:spPr>
          <a:xfrm>
            <a:off x="3566160" y="3063240"/>
            <a:ext cx="1325880" cy="365760"/>
          </a:xfrm>
          <a:prstGeom prst="rect">
            <a:avLst/>
          </a:prstGeom>
          <a:solidFill>
            <a:srgbClr val="FFF8DD"/>
          </a:solidFill>
          <a:ln w="10160">
            <a:solidFill>
              <a:srgbClr val="C9AC00"/>
            </a:solidFill>
            <a:prstDash val="solid"/>
          </a:ln>
        </p:spPr>
      </p:sp>
      <p:sp>
        <p:nvSpPr>
          <p:cNvPr id="56" name="Text 53"/>
          <p:cNvSpPr/>
          <p:nvPr/>
        </p:nvSpPr>
        <p:spPr>
          <a:xfrm>
            <a:off x="356616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57" name="Shape 54"/>
          <p:cNvSpPr/>
          <p:nvPr/>
        </p:nvSpPr>
        <p:spPr>
          <a:xfrm>
            <a:off x="4892040" y="3063240"/>
            <a:ext cx="1325880" cy="365760"/>
          </a:xfrm>
          <a:prstGeom prst="rect">
            <a:avLst/>
          </a:prstGeom>
          <a:solidFill>
            <a:srgbClr val="FFF8DD"/>
          </a:solidFill>
          <a:ln w="10160">
            <a:solidFill>
              <a:srgbClr val="C9AC00"/>
            </a:solidFill>
            <a:prstDash val="solid"/>
          </a:ln>
        </p:spPr>
      </p:sp>
      <p:sp>
        <p:nvSpPr>
          <p:cNvPr id="58" name="Text 55"/>
          <p:cNvSpPr/>
          <p:nvPr/>
        </p:nvSpPr>
        <p:spPr>
          <a:xfrm>
            <a:off x="489204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a:t>
            </a:r>
            <a:endParaRPr lang="en-US" sz="1300" dirty="0"/>
          </a:p>
        </p:txBody>
      </p:sp>
      <p:sp>
        <p:nvSpPr>
          <p:cNvPr id="59" name="Shape 56"/>
          <p:cNvSpPr/>
          <p:nvPr/>
        </p:nvSpPr>
        <p:spPr>
          <a:xfrm>
            <a:off x="6217920" y="3063240"/>
            <a:ext cx="1325880" cy="365760"/>
          </a:xfrm>
          <a:prstGeom prst="rect">
            <a:avLst/>
          </a:prstGeom>
          <a:solidFill>
            <a:srgbClr val="FFEBA0"/>
          </a:solidFill>
          <a:ln w="10160">
            <a:solidFill>
              <a:srgbClr val="C9AC00"/>
            </a:solidFill>
            <a:prstDash val="solid"/>
          </a:ln>
        </p:spPr>
      </p:sp>
      <p:sp>
        <p:nvSpPr>
          <p:cNvPr id="60" name="Text 57"/>
          <p:cNvSpPr/>
          <p:nvPr/>
        </p:nvSpPr>
        <p:spPr>
          <a:xfrm>
            <a:off x="621792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61" name="Shape 58"/>
          <p:cNvSpPr/>
          <p:nvPr/>
        </p:nvSpPr>
        <p:spPr>
          <a:xfrm>
            <a:off x="7543800" y="3063240"/>
            <a:ext cx="1325880" cy="365760"/>
          </a:xfrm>
          <a:prstGeom prst="rect">
            <a:avLst/>
          </a:prstGeom>
          <a:solidFill>
            <a:srgbClr val="FFF8DD"/>
          </a:solidFill>
          <a:ln w="10160">
            <a:solidFill>
              <a:srgbClr val="C9AC00"/>
            </a:solidFill>
            <a:prstDash val="solid"/>
          </a:ln>
        </p:spPr>
      </p:sp>
      <p:sp>
        <p:nvSpPr>
          <p:cNvPr id="62" name="Text 59"/>
          <p:cNvSpPr/>
          <p:nvPr/>
        </p:nvSpPr>
        <p:spPr>
          <a:xfrm>
            <a:off x="754380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a:t>
            </a:r>
            <a:endParaRPr lang="en-US" sz="1300" dirty="0"/>
          </a:p>
        </p:txBody>
      </p:sp>
      <p:sp>
        <p:nvSpPr>
          <p:cNvPr id="63" name="Shape 60"/>
          <p:cNvSpPr/>
          <p:nvPr/>
        </p:nvSpPr>
        <p:spPr>
          <a:xfrm>
            <a:off x="8869680" y="3063240"/>
            <a:ext cx="1325880" cy="365760"/>
          </a:xfrm>
          <a:prstGeom prst="rect">
            <a:avLst/>
          </a:prstGeom>
          <a:solidFill>
            <a:srgbClr val="FFF8DD"/>
          </a:solidFill>
          <a:ln w="10160">
            <a:solidFill>
              <a:srgbClr val="C9AC00"/>
            </a:solidFill>
            <a:prstDash val="solid"/>
          </a:ln>
        </p:spPr>
      </p:sp>
      <p:sp>
        <p:nvSpPr>
          <p:cNvPr id="64" name="Text 61"/>
          <p:cNvSpPr/>
          <p:nvPr/>
        </p:nvSpPr>
        <p:spPr>
          <a:xfrm>
            <a:off x="8869680" y="306324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4</a:t>
            </a:r>
            <a:endParaRPr lang="en-US" sz="1300" dirty="0"/>
          </a:p>
        </p:txBody>
      </p:sp>
      <p:sp>
        <p:nvSpPr>
          <p:cNvPr id="65" name="Shape 62"/>
          <p:cNvSpPr/>
          <p:nvPr/>
        </p:nvSpPr>
        <p:spPr>
          <a:xfrm>
            <a:off x="10195560" y="3063240"/>
            <a:ext cx="1417320" cy="365760"/>
          </a:xfrm>
          <a:prstGeom prst="rect">
            <a:avLst/>
          </a:prstGeom>
          <a:solidFill>
            <a:srgbClr val="FFF8DD"/>
          </a:solidFill>
          <a:ln w="10160">
            <a:solidFill>
              <a:srgbClr val="C9AC00"/>
            </a:solidFill>
            <a:prstDash val="solid"/>
          </a:ln>
        </p:spPr>
      </p:sp>
      <p:sp>
        <p:nvSpPr>
          <p:cNvPr id="66" name="Text 63"/>
          <p:cNvSpPr/>
          <p:nvPr/>
        </p:nvSpPr>
        <p:spPr>
          <a:xfrm>
            <a:off x="10195560" y="3063240"/>
            <a:ext cx="141732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10</a:t>
            </a:r>
            <a:endParaRPr lang="en-US" sz="1300" dirty="0"/>
          </a:p>
        </p:txBody>
      </p:sp>
      <p:sp>
        <p:nvSpPr>
          <p:cNvPr id="67" name="Shape 64"/>
          <p:cNvSpPr/>
          <p:nvPr/>
        </p:nvSpPr>
        <p:spPr>
          <a:xfrm>
            <a:off x="548640" y="3429000"/>
            <a:ext cx="1691640" cy="365760"/>
          </a:xfrm>
          <a:prstGeom prst="rect">
            <a:avLst/>
          </a:prstGeom>
          <a:solidFill>
            <a:srgbClr val="F6F8FB"/>
          </a:solidFill>
          <a:ln w="5080">
            <a:solidFill>
              <a:srgbClr val="D6DEE8"/>
            </a:solidFill>
            <a:prstDash val="solid"/>
          </a:ln>
        </p:spPr>
      </p:sp>
      <p:sp>
        <p:nvSpPr>
          <p:cNvPr id="68" name="Text 65"/>
          <p:cNvSpPr/>
          <p:nvPr/>
        </p:nvSpPr>
        <p:spPr>
          <a:xfrm>
            <a:off x="548640" y="3429000"/>
            <a:ext cx="1691640" cy="36576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Storage</a:t>
            </a:r>
            <a:endParaRPr lang="en-US" sz="1100" dirty="0"/>
          </a:p>
        </p:txBody>
      </p:sp>
      <p:sp>
        <p:nvSpPr>
          <p:cNvPr id="69" name="Shape 66"/>
          <p:cNvSpPr/>
          <p:nvPr/>
        </p:nvSpPr>
        <p:spPr>
          <a:xfrm>
            <a:off x="2240280" y="3429000"/>
            <a:ext cx="1325880" cy="365760"/>
          </a:xfrm>
          <a:prstGeom prst="rect">
            <a:avLst/>
          </a:prstGeom>
          <a:solidFill>
            <a:srgbClr val="F6F8FB"/>
          </a:solidFill>
          <a:ln w="5080">
            <a:solidFill>
              <a:srgbClr val="D6DEE8"/>
            </a:solidFill>
            <a:prstDash val="solid"/>
          </a:ln>
        </p:spPr>
      </p:sp>
      <p:sp>
        <p:nvSpPr>
          <p:cNvPr id="70" name="Text 67"/>
          <p:cNvSpPr/>
          <p:nvPr/>
        </p:nvSpPr>
        <p:spPr>
          <a:xfrm>
            <a:off x="2240280" y="342900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71" name="Shape 68"/>
          <p:cNvSpPr/>
          <p:nvPr/>
        </p:nvSpPr>
        <p:spPr>
          <a:xfrm>
            <a:off x="3566160" y="3429000"/>
            <a:ext cx="1325880" cy="365760"/>
          </a:xfrm>
          <a:prstGeom prst="rect">
            <a:avLst/>
          </a:prstGeom>
          <a:solidFill>
            <a:srgbClr val="F6F8FB"/>
          </a:solidFill>
          <a:ln w="5080">
            <a:solidFill>
              <a:srgbClr val="D6DEE8"/>
            </a:solidFill>
            <a:prstDash val="solid"/>
          </a:ln>
        </p:spPr>
      </p:sp>
      <p:sp>
        <p:nvSpPr>
          <p:cNvPr id="72" name="Text 69"/>
          <p:cNvSpPr/>
          <p:nvPr/>
        </p:nvSpPr>
        <p:spPr>
          <a:xfrm>
            <a:off x="3566160" y="342900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73" name="Shape 70"/>
          <p:cNvSpPr/>
          <p:nvPr/>
        </p:nvSpPr>
        <p:spPr>
          <a:xfrm>
            <a:off x="4892040" y="3429000"/>
            <a:ext cx="1325880" cy="365760"/>
          </a:xfrm>
          <a:prstGeom prst="rect">
            <a:avLst/>
          </a:prstGeom>
          <a:solidFill>
            <a:srgbClr val="F6F8FB"/>
          </a:solidFill>
          <a:ln w="5080">
            <a:solidFill>
              <a:srgbClr val="D6DEE8"/>
            </a:solidFill>
            <a:prstDash val="solid"/>
          </a:ln>
        </p:spPr>
      </p:sp>
      <p:sp>
        <p:nvSpPr>
          <p:cNvPr id="74" name="Text 71"/>
          <p:cNvSpPr/>
          <p:nvPr/>
        </p:nvSpPr>
        <p:spPr>
          <a:xfrm>
            <a:off x="4892040" y="342900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75" name="Shape 72"/>
          <p:cNvSpPr/>
          <p:nvPr/>
        </p:nvSpPr>
        <p:spPr>
          <a:xfrm>
            <a:off x="6217920" y="3429000"/>
            <a:ext cx="1325880" cy="365760"/>
          </a:xfrm>
          <a:prstGeom prst="rect">
            <a:avLst/>
          </a:prstGeom>
          <a:solidFill>
            <a:srgbClr val="FFEBA0"/>
          </a:solidFill>
          <a:ln w="10160">
            <a:solidFill>
              <a:srgbClr val="C9AC00"/>
            </a:solidFill>
            <a:prstDash val="solid"/>
          </a:ln>
        </p:spPr>
      </p:sp>
      <p:sp>
        <p:nvSpPr>
          <p:cNvPr id="76" name="Text 73"/>
          <p:cNvSpPr/>
          <p:nvPr/>
        </p:nvSpPr>
        <p:spPr>
          <a:xfrm>
            <a:off x="6217920" y="342900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a:t>
            </a:r>
            <a:endParaRPr lang="en-US" sz="1300" dirty="0"/>
          </a:p>
        </p:txBody>
      </p:sp>
      <p:sp>
        <p:nvSpPr>
          <p:cNvPr id="77" name="Shape 74"/>
          <p:cNvSpPr/>
          <p:nvPr/>
        </p:nvSpPr>
        <p:spPr>
          <a:xfrm>
            <a:off x="7543800" y="3429000"/>
            <a:ext cx="1325880" cy="365760"/>
          </a:xfrm>
          <a:prstGeom prst="rect">
            <a:avLst/>
          </a:prstGeom>
          <a:solidFill>
            <a:srgbClr val="F6F8FB"/>
          </a:solidFill>
          <a:ln w="5080">
            <a:solidFill>
              <a:srgbClr val="D6DEE8"/>
            </a:solidFill>
            <a:prstDash val="solid"/>
          </a:ln>
        </p:spPr>
      </p:sp>
      <p:sp>
        <p:nvSpPr>
          <p:cNvPr id="78" name="Text 75"/>
          <p:cNvSpPr/>
          <p:nvPr/>
        </p:nvSpPr>
        <p:spPr>
          <a:xfrm>
            <a:off x="7543800" y="342900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79" name="Shape 76"/>
          <p:cNvSpPr/>
          <p:nvPr/>
        </p:nvSpPr>
        <p:spPr>
          <a:xfrm>
            <a:off x="8869680" y="3429000"/>
            <a:ext cx="1325880" cy="365760"/>
          </a:xfrm>
          <a:prstGeom prst="rect">
            <a:avLst/>
          </a:prstGeom>
          <a:solidFill>
            <a:srgbClr val="F6F8FB"/>
          </a:solidFill>
          <a:ln w="5080">
            <a:solidFill>
              <a:srgbClr val="D6DEE8"/>
            </a:solidFill>
            <a:prstDash val="solid"/>
          </a:ln>
        </p:spPr>
      </p:sp>
      <p:sp>
        <p:nvSpPr>
          <p:cNvPr id="80" name="Text 77"/>
          <p:cNvSpPr/>
          <p:nvPr/>
        </p:nvSpPr>
        <p:spPr>
          <a:xfrm>
            <a:off x="8869680" y="342900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3</a:t>
            </a:r>
            <a:endParaRPr lang="en-US" sz="1300" dirty="0"/>
          </a:p>
        </p:txBody>
      </p:sp>
      <p:sp>
        <p:nvSpPr>
          <p:cNvPr id="81" name="Shape 78"/>
          <p:cNvSpPr/>
          <p:nvPr/>
        </p:nvSpPr>
        <p:spPr>
          <a:xfrm>
            <a:off x="10195560" y="3429000"/>
            <a:ext cx="1417320" cy="365760"/>
          </a:xfrm>
          <a:prstGeom prst="rect">
            <a:avLst/>
          </a:prstGeom>
          <a:solidFill>
            <a:srgbClr val="F6F8FB"/>
          </a:solidFill>
          <a:ln w="5080">
            <a:solidFill>
              <a:srgbClr val="D6DEE8"/>
            </a:solidFill>
            <a:prstDash val="solid"/>
          </a:ln>
        </p:spPr>
      </p:sp>
      <p:sp>
        <p:nvSpPr>
          <p:cNvPr id="82" name="Text 79"/>
          <p:cNvSpPr/>
          <p:nvPr/>
        </p:nvSpPr>
        <p:spPr>
          <a:xfrm>
            <a:off x="10195560" y="3429000"/>
            <a:ext cx="141732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7</a:t>
            </a:r>
            <a:endParaRPr lang="en-US" sz="1300" dirty="0"/>
          </a:p>
        </p:txBody>
      </p:sp>
      <p:sp>
        <p:nvSpPr>
          <p:cNvPr id="83" name="Shape 80"/>
          <p:cNvSpPr/>
          <p:nvPr/>
        </p:nvSpPr>
        <p:spPr>
          <a:xfrm>
            <a:off x="548640" y="3794760"/>
            <a:ext cx="1691640" cy="365760"/>
          </a:xfrm>
          <a:prstGeom prst="rect">
            <a:avLst/>
          </a:prstGeom>
          <a:solidFill>
            <a:srgbClr val="FFFFFF"/>
          </a:solidFill>
          <a:ln w="5080">
            <a:solidFill>
              <a:srgbClr val="D6DEE8"/>
            </a:solidFill>
            <a:prstDash val="solid"/>
          </a:ln>
        </p:spPr>
      </p:sp>
      <p:sp>
        <p:nvSpPr>
          <p:cNvPr id="84" name="Text 81"/>
          <p:cNvSpPr/>
          <p:nvPr/>
        </p:nvSpPr>
        <p:spPr>
          <a:xfrm>
            <a:off x="548640" y="3794760"/>
            <a:ext cx="1691640" cy="36576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Network</a:t>
            </a:r>
            <a:endParaRPr lang="en-US" sz="1100" dirty="0"/>
          </a:p>
        </p:txBody>
      </p:sp>
      <p:sp>
        <p:nvSpPr>
          <p:cNvPr id="85" name="Shape 82"/>
          <p:cNvSpPr/>
          <p:nvPr/>
        </p:nvSpPr>
        <p:spPr>
          <a:xfrm>
            <a:off x="2240280" y="3794760"/>
            <a:ext cx="1325880" cy="365760"/>
          </a:xfrm>
          <a:prstGeom prst="rect">
            <a:avLst/>
          </a:prstGeom>
          <a:solidFill>
            <a:srgbClr val="FFFFFF"/>
          </a:solidFill>
          <a:ln w="5080">
            <a:solidFill>
              <a:srgbClr val="D6DEE8"/>
            </a:solidFill>
            <a:prstDash val="solid"/>
          </a:ln>
        </p:spPr>
      </p:sp>
      <p:sp>
        <p:nvSpPr>
          <p:cNvPr id="86" name="Text 83"/>
          <p:cNvSpPr/>
          <p:nvPr/>
        </p:nvSpPr>
        <p:spPr>
          <a:xfrm>
            <a:off x="2240280" y="379476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9</a:t>
            </a:r>
            <a:endParaRPr lang="en-US" sz="1300" dirty="0"/>
          </a:p>
        </p:txBody>
      </p:sp>
      <p:sp>
        <p:nvSpPr>
          <p:cNvPr id="87" name="Shape 84"/>
          <p:cNvSpPr/>
          <p:nvPr/>
        </p:nvSpPr>
        <p:spPr>
          <a:xfrm>
            <a:off x="3566160" y="3794760"/>
            <a:ext cx="1325880" cy="365760"/>
          </a:xfrm>
          <a:prstGeom prst="rect">
            <a:avLst/>
          </a:prstGeom>
          <a:solidFill>
            <a:srgbClr val="FFFFFF"/>
          </a:solidFill>
          <a:ln w="5080">
            <a:solidFill>
              <a:srgbClr val="D6DEE8"/>
            </a:solidFill>
            <a:prstDash val="solid"/>
          </a:ln>
        </p:spPr>
      </p:sp>
      <p:sp>
        <p:nvSpPr>
          <p:cNvPr id="88" name="Text 85"/>
          <p:cNvSpPr/>
          <p:nvPr/>
        </p:nvSpPr>
        <p:spPr>
          <a:xfrm>
            <a:off x="3566160" y="379476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89" name="Shape 86"/>
          <p:cNvSpPr/>
          <p:nvPr/>
        </p:nvSpPr>
        <p:spPr>
          <a:xfrm>
            <a:off x="4892040" y="3794760"/>
            <a:ext cx="1325880" cy="365760"/>
          </a:xfrm>
          <a:prstGeom prst="rect">
            <a:avLst/>
          </a:prstGeom>
          <a:solidFill>
            <a:srgbClr val="FFFFFF"/>
          </a:solidFill>
          <a:ln w="5080">
            <a:solidFill>
              <a:srgbClr val="D6DEE8"/>
            </a:solidFill>
            <a:prstDash val="solid"/>
          </a:ln>
        </p:spPr>
      </p:sp>
      <p:sp>
        <p:nvSpPr>
          <p:cNvPr id="90" name="Text 87"/>
          <p:cNvSpPr/>
          <p:nvPr/>
        </p:nvSpPr>
        <p:spPr>
          <a:xfrm>
            <a:off x="4892040" y="379476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91" name="Shape 88"/>
          <p:cNvSpPr/>
          <p:nvPr/>
        </p:nvSpPr>
        <p:spPr>
          <a:xfrm>
            <a:off x="6217920" y="3794760"/>
            <a:ext cx="1325880" cy="365760"/>
          </a:xfrm>
          <a:prstGeom prst="rect">
            <a:avLst/>
          </a:prstGeom>
          <a:solidFill>
            <a:srgbClr val="FFEBA0"/>
          </a:solidFill>
          <a:ln w="10160">
            <a:solidFill>
              <a:srgbClr val="C9AC00"/>
            </a:solidFill>
            <a:prstDash val="solid"/>
          </a:ln>
        </p:spPr>
      </p:sp>
      <p:sp>
        <p:nvSpPr>
          <p:cNvPr id="92" name="Text 89"/>
          <p:cNvSpPr/>
          <p:nvPr/>
        </p:nvSpPr>
        <p:spPr>
          <a:xfrm>
            <a:off x="6217920" y="379476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a:t>
            </a:r>
            <a:endParaRPr lang="en-US" sz="1300" dirty="0"/>
          </a:p>
        </p:txBody>
      </p:sp>
      <p:sp>
        <p:nvSpPr>
          <p:cNvPr id="93" name="Shape 90"/>
          <p:cNvSpPr/>
          <p:nvPr/>
        </p:nvSpPr>
        <p:spPr>
          <a:xfrm>
            <a:off x="7543800" y="3794760"/>
            <a:ext cx="1325880" cy="365760"/>
          </a:xfrm>
          <a:prstGeom prst="rect">
            <a:avLst/>
          </a:prstGeom>
          <a:solidFill>
            <a:srgbClr val="FFFFFF"/>
          </a:solidFill>
          <a:ln w="5080">
            <a:solidFill>
              <a:srgbClr val="D6DEE8"/>
            </a:solidFill>
            <a:prstDash val="solid"/>
          </a:ln>
        </p:spPr>
      </p:sp>
      <p:sp>
        <p:nvSpPr>
          <p:cNvPr id="94" name="Text 91"/>
          <p:cNvSpPr/>
          <p:nvPr/>
        </p:nvSpPr>
        <p:spPr>
          <a:xfrm>
            <a:off x="7543800" y="379476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95" name="Shape 92"/>
          <p:cNvSpPr/>
          <p:nvPr/>
        </p:nvSpPr>
        <p:spPr>
          <a:xfrm>
            <a:off x="8869680" y="3794760"/>
            <a:ext cx="1325880" cy="365760"/>
          </a:xfrm>
          <a:prstGeom prst="rect">
            <a:avLst/>
          </a:prstGeom>
          <a:solidFill>
            <a:srgbClr val="FFFFFF"/>
          </a:solidFill>
          <a:ln w="5080">
            <a:solidFill>
              <a:srgbClr val="D6DEE8"/>
            </a:solidFill>
            <a:prstDash val="solid"/>
          </a:ln>
        </p:spPr>
      </p:sp>
      <p:sp>
        <p:nvSpPr>
          <p:cNvPr id="96" name="Text 93"/>
          <p:cNvSpPr/>
          <p:nvPr/>
        </p:nvSpPr>
        <p:spPr>
          <a:xfrm>
            <a:off x="8869680" y="379476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4</a:t>
            </a:r>
            <a:endParaRPr lang="en-US" sz="1300" dirty="0"/>
          </a:p>
        </p:txBody>
      </p:sp>
      <p:sp>
        <p:nvSpPr>
          <p:cNvPr id="97" name="Shape 94"/>
          <p:cNvSpPr/>
          <p:nvPr/>
        </p:nvSpPr>
        <p:spPr>
          <a:xfrm>
            <a:off x="10195560" y="3794760"/>
            <a:ext cx="1417320" cy="365760"/>
          </a:xfrm>
          <a:prstGeom prst="rect">
            <a:avLst/>
          </a:prstGeom>
          <a:solidFill>
            <a:srgbClr val="FFFFFF"/>
          </a:solidFill>
          <a:ln w="5080">
            <a:solidFill>
              <a:srgbClr val="D6DEE8"/>
            </a:solidFill>
            <a:prstDash val="solid"/>
          </a:ln>
        </p:spPr>
      </p:sp>
      <p:sp>
        <p:nvSpPr>
          <p:cNvPr id="98" name="Text 95"/>
          <p:cNvSpPr/>
          <p:nvPr/>
        </p:nvSpPr>
        <p:spPr>
          <a:xfrm>
            <a:off x="10195560" y="3794760"/>
            <a:ext cx="141732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16</a:t>
            </a:r>
            <a:endParaRPr lang="en-US" sz="1300" dirty="0"/>
          </a:p>
        </p:txBody>
      </p:sp>
      <p:sp>
        <p:nvSpPr>
          <p:cNvPr id="99" name="Shape 96"/>
          <p:cNvSpPr/>
          <p:nvPr/>
        </p:nvSpPr>
        <p:spPr>
          <a:xfrm>
            <a:off x="548640" y="4160520"/>
            <a:ext cx="1691640" cy="365760"/>
          </a:xfrm>
          <a:prstGeom prst="rect">
            <a:avLst/>
          </a:prstGeom>
          <a:solidFill>
            <a:srgbClr val="F6F8FB"/>
          </a:solidFill>
          <a:ln w="5080">
            <a:solidFill>
              <a:srgbClr val="D6DEE8"/>
            </a:solidFill>
            <a:prstDash val="solid"/>
          </a:ln>
        </p:spPr>
      </p:sp>
      <p:sp>
        <p:nvSpPr>
          <p:cNvPr id="100" name="Text 97"/>
          <p:cNvSpPr/>
          <p:nvPr/>
        </p:nvSpPr>
        <p:spPr>
          <a:xfrm>
            <a:off x="548640" y="4160520"/>
            <a:ext cx="1691640" cy="365760"/>
          </a:xfrm>
          <a:prstGeom prst="rect">
            <a:avLst/>
          </a:prstGeom>
          <a:noFill/>
          <a:ln/>
        </p:spPr>
        <p:txBody>
          <a:bodyPr wrap="square" lIns="1270" tIns="1270" rIns="1270" bIns="127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App Hosting &amp; Mainframe</a:t>
            </a:r>
            <a:endParaRPr lang="en-US" sz="1100" dirty="0"/>
          </a:p>
        </p:txBody>
      </p:sp>
      <p:sp>
        <p:nvSpPr>
          <p:cNvPr id="101" name="Shape 98"/>
          <p:cNvSpPr/>
          <p:nvPr/>
        </p:nvSpPr>
        <p:spPr>
          <a:xfrm>
            <a:off x="2240280" y="4160520"/>
            <a:ext cx="1325880" cy="365760"/>
          </a:xfrm>
          <a:prstGeom prst="rect">
            <a:avLst/>
          </a:prstGeom>
          <a:solidFill>
            <a:srgbClr val="F6F8FB"/>
          </a:solidFill>
          <a:ln w="5080">
            <a:solidFill>
              <a:srgbClr val="D6DEE8"/>
            </a:solidFill>
            <a:prstDash val="solid"/>
          </a:ln>
        </p:spPr>
      </p:sp>
      <p:sp>
        <p:nvSpPr>
          <p:cNvPr id="102" name="Text 99"/>
          <p:cNvSpPr/>
          <p:nvPr/>
        </p:nvSpPr>
        <p:spPr>
          <a:xfrm>
            <a:off x="2240280" y="416052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a:t>
            </a:r>
            <a:endParaRPr lang="en-US" sz="1300" dirty="0"/>
          </a:p>
        </p:txBody>
      </p:sp>
      <p:sp>
        <p:nvSpPr>
          <p:cNvPr id="103" name="Shape 100"/>
          <p:cNvSpPr/>
          <p:nvPr/>
        </p:nvSpPr>
        <p:spPr>
          <a:xfrm>
            <a:off x="3566160" y="4160520"/>
            <a:ext cx="1325880" cy="365760"/>
          </a:xfrm>
          <a:prstGeom prst="rect">
            <a:avLst/>
          </a:prstGeom>
          <a:solidFill>
            <a:srgbClr val="F6F8FB"/>
          </a:solidFill>
          <a:ln w="5080">
            <a:solidFill>
              <a:srgbClr val="D6DEE8"/>
            </a:solidFill>
            <a:prstDash val="solid"/>
          </a:ln>
        </p:spPr>
      </p:sp>
      <p:sp>
        <p:nvSpPr>
          <p:cNvPr id="104" name="Text 101"/>
          <p:cNvSpPr/>
          <p:nvPr/>
        </p:nvSpPr>
        <p:spPr>
          <a:xfrm>
            <a:off x="3566160" y="416052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6</a:t>
            </a:r>
            <a:endParaRPr lang="en-US" sz="1300" dirty="0"/>
          </a:p>
        </p:txBody>
      </p:sp>
      <p:sp>
        <p:nvSpPr>
          <p:cNvPr id="105" name="Shape 102"/>
          <p:cNvSpPr/>
          <p:nvPr/>
        </p:nvSpPr>
        <p:spPr>
          <a:xfrm>
            <a:off x="4892040" y="4160520"/>
            <a:ext cx="1325880" cy="365760"/>
          </a:xfrm>
          <a:prstGeom prst="rect">
            <a:avLst/>
          </a:prstGeom>
          <a:solidFill>
            <a:srgbClr val="F6F8FB"/>
          </a:solidFill>
          <a:ln w="5080">
            <a:solidFill>
              <a:srgbClr val="D6DEE8"/>
            </a:solidFill>
            <a:prstDash val="solid"/>
          </a:ln>
        </p:spPr>
      </p:sp>
      <p:sp>
        <p:nvSpPr>
          <p:cNvPr id="106" name="Text 103"/>
          <p:cNvSpPr/>
          <p:nvPr/>
        </p:nvSpPr>
        <p:spPr>
          <a:xfrm>
            <a:off x="4892040" y="416052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107" name="Shape 104"/>
          <p:cNvSpPr/>
          <p:nvPr/>
        </p:nvSpPr>
        <p:spPr>
          <a:xfrm>
            <a:off x="6217920" y="4160520"/>
            <a:ext cx="1325880" cy="365760"/>
          </a:xfrm>
          <a:prstGeom prst="rect">
            <a:avLst/>
          </a:prstGeom>
          <a:solidFill>
            <a:srgbClr val="FFEBA0"/>
          </a:solidFill>
          <a:ln w="10160">
            <a:solidFill>
              <a:srgbClr val="C9AC00"/>
            </a:solidFill>
            <a:prstDash val="solid"/>
          </a:ln>
        </p:spPr>
      </p:sp>
      <p:sp>
        <p:nvSpPr>
          <p:cNvPr id="108" name="Text 105"/>
          <p:cNvSpPr/>
          <p:nvPr/>
        </p:nvSpPr>
        <p:spPr>
          <a:xfrm>
            <a:off x="6217920" y="4160520"/>
            <a:ext cx="132588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3</a:t>
            </a:r>
            <a:endParaRPr lang="en-US" sz="1300" dirty="0"/>
          </a:p>
        </p:txBody>
      </p:sp>
      <p:sp>
        <p:nvSpPr>
          <p:cNvPr id="109" name="Shape 106"/>
          <p:cNvSpPr/>
          <p:nvPr/>
        </p:nvSpPr>
        <p:spPr>
          <a:xfrm>
            <a:off x="7543800" y="4160520"/>
            <a:ext cx="1325880" cy="365760"/>
          </a:xfrm>
          <a:prstGeom prst="rect">
            <a:avLst/>
          </a:prstGeom>
          <a:solidFill>
            <a:srgbClr val="F6F8FB"/>
          </a:solidFill>
          <a:ln w="5080">
            <a:solidFill>
              <a:srgbClr val="D6DEE8"/>
            </a:solidFill>
            <a:prstDash val="solid"/>
          </a:ln>
        </p:spPr>
      </p:sp>
      <p:sp>
        <p:nvSpPr>
          <p:cNvPr id="110" name="Text 107"/>
          <p:cNvSpPr/>
          <p:nvPr/>
        </p:nvSpPr>
        <p:spPr>
          <a:xfrm>
            <a:off x="7543800" y="416052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111" name="Shape 108"/>
          <p:cNvSpPr/>
          <p:nvPr/>
        </p:nvSpPr>
        <p:spPr>
          <a:xfrm>
            <a:off x="8869680" y="4160520"/>
            <a:ext cx="1325880" cy="365760"/>
          </a:xfrm>
          <a:prstGeom prst="rect">
            <a:avLst/>
          </a:prstGeom>
          <a:solidFill>
            <a:srgbClr val="F6F8FB"/>
          </a:solidFill>
          <a:ln w="5080">
            <a:solidFill>
              <a:srgbClr val="D6DEE8"/>
            </a:solidFill>
            <a:prstDash val="solid"/>
          </a:ln>
        </p:spPr>
      </p:sp>
      <p:sp>
        <p:nvSpPr>
          <p:cNvPr id="112" name="Text 109"/>
          <p:cNvSpPr/>
          <p:nvPr/>
        </p:nvSpPr>
        <p:spPr>
          <a:xfrm>
            <a:off x="8869680" y="4160520"/>
            <a:ext cx="1325880" cy="365760"/>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15</a:t>
            </a:r>
            <a:endParaRPr lang="en-US" sz="1300" dirty="0"/>
          </a:p>
        </p:txBody>
      </p:sp>
      <p:sp>
        <p:nvSpPr>
          <p:cNvPr id="113" name="Shape 110"/>
          <p:cNvSpPr/>
          <p:nvPr/>
        </p:nvSpPr>
        <p:spPr>
          <a:xfrm>
            <a:off x="10195560" y="4160520"/>
            <a:ext cx="1417320" cy="365760"/>
          </a:xfrm>
          <a:prstGeom prst="rect">
            <a:avLst/>
          </a:prstGeom>
          <a:solidFill>
            <a:srgbClr val="F6F8FB"/>
          </a:solidFill>
          <a:ln w="5080">
            <a:solidFill>
              <a:srgbClr val="D6DEE8"/>
            </a:solidFill>
            <a:prstDash val="solid"/>
          </a:ln>
        </p:spPr>
      </p:sp>
      <p:sp>
        <p:nvSpPr>
          <p:cNvPr id="114" name="Text 111"/>
          <p:cNvSpPr/>
          <p:nvPr/>
        </p:nvSpPr>
        <p:spPr>
          <a:xfrm>
            <a:off x="10195560" y="4160520"/>
            <a:ext cx="1417320" cy="365760"/>
          </a:xfrm>
          <a:prstGeom prst="rect">
            <a:avLst/>
          </a:prstGeom>
          <a:noFill/>
          <a:ln/>
        </p:spPr>
        <p:txBody>
          <a:bodyPr wrap="square" lIns="0" tIns="0" rIns="0" bIns="0" rtlCol="0" anchor="ctr"/>
          <a:lstStyle/>
          <a:p>
            <a:pPr algn="ctr" indent="0" marL="0">
              <a:buNone/>
            </a:pPr>
            <a:r>
              <a:rPr lang="en-US" sz="1300" b="1" dirty="0">
                <a:solidFill>
                  <a:srgbClr val="001F47"/>
                </a:solidFill>
                <a:latin typeface="Calibri" pitchFamily="34" charset="0"/>
                <a:ea typeface="Calibri" pitchFamily="34" charset="-122"/>
                <a:cs typeface="Calibri" pitchFamily="34" charset="-120"/>
              </a:rPr>
              <a:t>25</a:t>
            </a:r>
            <a:endParaRPr lang="en-US" sz="1300" dirty="0"/>
          </a:p>
        </p:txBody>
      </p:sp>
      <p:sp>
        <p:nvSpPr>
          <p:cNvPr id="115" name="Shape 112"/>
          <p:cNvSpPr/>
          <p:nvPr/>
        </p:nvSpPr>
        <p:spPr>
          <a:xfrm>
            <a:off x="548640" y="4526280"/>
            <a:ext cx="1691640" cy="457200"/>
          </a:xfrm>
          <a:prstGeom prst="rect">
            <a:avLst/>
          </a:prstGeom>
          <a:solidFill>
            <a:srgbClr val="001F47"/>
          </a:solidFill>
          <a:ln/>
        </p:spPr>
      </p:sp>
      <p:sp>
        <p:nvSpPr>
          <p:cNvPr id="116" name="Text 113"/>
          <p:cNvSpPr/>
          <p:nvPr/>
        </p:nvSpPr>
        <p:spPr>
          <a:xfrm>
            <a:off x="548640" y="4526280"/>
            <a:ext cx="1691640" cy="457200"/>
          </a:xfrm>
          <a:prstGeom prst="rect">
            <a:avLst/>
          </a:prstGeom>
          <a:noFill/>
          <a:ln/>
        </p:spPr>
        <p:txBody>
          <a:bodyPr wrap="square" lIns="1905" tIns="1905" rIns="1905" bIns="1905" rtlCol="0" anchor="ctr"/>
          <a:lstStyle/>
          <a:p>
            <a:pPr algn="l" indent="0" marL="0">
              <a:buNone/>
            </a:pPr>
            <a:r>
              <a:rPr lang="en-US" sz="1100" b="1" spc="200" kern="0" dirty="0">
                <a:solidFill>
                  <a:srgbClr val="FFFFFF"/>
                </a:solidFill>
                <a:latin typeface="Trebuchet MS" pitchFamily="34" charset="0"/>
                <a:ea typeface="Trebuchet MS" pitchFamily="34" charset="-122"/>
                <a:cs typeface="Trebuchet MS" pitchFamily="34" charset="-120"/>
              </a:rPr>
              <a:t>GRAND TOTAL</a:t>
            </a:r>
            <a:endParaRPr lang="en-US" sz="1100" dirty="0"/>
          </a:p>
        </p:txBody>
      </p:sp>
      <p:sp>
        <p:nvSpPr>
          <p:cNvPr id="117" name="Shape 114"/>
          <p:cNvSpPr/>
          <p:nvPr/>
        </p:nvSpPr>
        <p:spPr>
          <a:xfrm>
            <a:off x="2240280" y="4526280"/>
            <a:ext cx="1325880" cy="457200"/>
          </a:xfrm>
          <a:prstGeom prst="rect">
            <a:avLst/>
          </a:prstGeom>
          <a:solidFill>
            <a:srgbClr val="001F47"/>
          </a:solidFill>
          <a:ln/>
        </p:spPr>
      </p:sp>
      <p:sp>
        <p:nvSpPr>
          <p:cNvPr id="118" name="Text 115"/>
          <p:cNvSpPr/>
          <p:nvPr/>
        </p:nvSpPr>
        <p:spPr>
          <a:xfrm>
            <a:off x="2240280" y="452628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21</a:t>
            </a:r>
            <a:endParaRPr lang="en-US" sz="1400" dirty="0"/>
          </a:p>
        </p:txBody>
      </p:sp>
      <p:sp>
        <p:nvSpPr>
          <p:cNvPr id="119" name="Shape 116"/>
          <p:cNvSpPr/>
          <p:nvPr/>
        </p:nvSpPr>
        <p:spPr>
          <a:xfrm>
            <a:off x="3566160" y="4526280"/>
            <a:ext cx="1325880" cy="457200"/>
          </a:xfrm>
          <a:prstGeom prst="rect">
            <a:avLst/>
          </a:prstGeom>
          <a:solidFill>
            <a:srgbClr val="001F47"/>
          </a:solidFill>
          <a:ln/>
        </p:spPr>
      </p:sp>
      <p:sp>
        <p:nvSpPr>
          <p:cNvPr id="120" name="Text 117"/>
          <p:cNvSpPr/>
          <p:nvPr/>
        </p:nvSpPr>
        <p:spPr>
          <a:xfrm>
            <a:off x="3566160" y="452628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11</a:t>
            </a:r>
            <a:endParaRPr lang="en-US" sz="1400" dirty="0"/>
          </a:p>
        </p:txBody>
      </p:sp>
      <p:sp>
        <p:nvSpPr>
          <p:cNvPr id="121" name="Shape 118"/>
          <p:cNvSpPr/>
          <p:nvPr/>
        </p:nvSpPr>
        <p:spPr>
          <a:xfrm>
            <a:off x="4892040" y="4526280"/>
            <a:ext cx="1325880" cy="457200"/>
          </a:xfrm>
          <a:prstGeom prst="rect">
            <a:avLst/>
          </a:prstGeom>
          <a:solidFill>
            <a:srgbClr val="001F47"/>
          </a:solidFill>
          <a:ln/>
        </p:spPr>
      </p:sp>
      <p:sp>
        <p:nvSpPr>
          <p:cNvPr id="122" name="Text 119"/>
          <p:cNvSpPr/>
          <p:nvPr/>
        </p:nvSpPr>
        <p:spPr>
          <a:xfrm>
            <a:off x="4892040" y="452628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t>
            </a:r>
            <a:endParaRPr lang="en-US" sz="1400" dirty="0"/>
          </a:p>
        </p:txBody>
      </p:sp>
      <p:sp>
        <p:nvSpPr>
          <p:cNvPr id="123" name="Shape 120"/>
          <p:cNvSpPr/>
          <p:nvPr/>
        </p:nvSpPr>
        <p:spPr>
          <a:xfrm>
            <a:off x="6217920" y="4526280"/>
            <a:ext cx="1325880" cy="457200"/>
          </a:xfrm>
          <a:prstGeom prst="rect">
            <a:avLst/>
          </a:prstGeom>
          <a:solidFill>
            <a:srgbClr val="001F47"/>
          </a:solidFill>
          <a:ln/>
        </p:spPr>
      </p:sp>
      <p:sp>
        <p:nvSpPr>
          <p:cNvPr id="124" name="Text 121"/>
          <p:cNvSpPr/>
          <p:nvPr/>
        </p:nvSpPr>
        <p:spPr>
          <a:xfrm>
            <a:off x="6217920" y="4526280"/>
            <a:ext cx="1325880" cy="457200"/>
          </a:xfrm>
          <a:prstGeom prst="rect">
            <a:avLst/>
          </a:prstGeom>
          <a:noFill/>
          <a:ln/>
        </p:spPr>
        <p:txBody>
          <a:bodyPr wrap="square" lIns="0" tIns="0" rIns="0" bIns="0" rtlCol="0" anchor="ctr"/>
          <a:lstStyle/>
          <a:p>
            <a:pPr algn="ctr" indent="0" marL="0">
              <a:buNone/>
            </a:pPr>
            <a:r>
              <a:rPr lang="en-US" sz="1400" b="1" dirty="0">
                <a:solidFill>
                  <a:srgbClr val="FEDF01"/>
                </a:solidFill>
                <a:latin typeface="Trebuchet MS" pitchFamily="34" charset="0"/>
                <a:ea typeface="Trebuchet MS" pitchFamily="34" charset="-122"/>
                <a:cs typeface="Trebuchet MS" pitchFamily="34" charset="-120"/>
              </a:rPr>
              <a:t>11</a:t>
            </a:r>
            <a:endParaRPr lang="en-US" sz="1400" dirty="0"/>
          </a:p>
        </p:txBody>
      </p:sp>
      <p:sp>
        <p:nvSpPr>
          <p:cNvPr id="125" name="Shape 122"/>
          <p:cNvSpPr/>
          <p:nvPr/>
        </p:nvSpPr>
        <p:spPr>
          <a:xfrm>
            <a:off x="7543800" y="4526280"/>
            <a:ext cx="1325880" cy="457200"/>
          </a:xfrm>
          <a:prstGeom prst="rect">
            <a:avLst/>
          </a:prstGeom>
          <a:solidFill>
            <a:srgbClr val="001F47"/>
          </a:solidFill>
          <a:ln/>
        </p:spPr>
      </p:sp>
      <p:sp>
        <p:nvSpPr>
          <p:cNvPr id="126" name="Text 123"/>
          <p:cNvSpPr/>
          <p:nvPr/>
        </p:nvSpPr>
        <p:spPr>
          <a:xfrm>
            <a:off x="7543800" y="452628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27" name="Shape 124"/>
          <p:cNvSpPr/>
          <p:nvPr/>
        </p:nvSpPr>
        <p:spPr>
          <a:xfrm>
            <a:off x="8869680" y="4526280"/>
            <a:ext cx="1325880" cy="457200"/>
          </a:xfrm>
          <a:prstGeom prst="rect">
            <a:avLst/>
          </a:prstGeom>
          <a:solidFill>
            <a:srgbClr val="001F47"/>
          </a:solidFill>
          <a:ln/>
        </p:spPr>
      </p:sp>
      <p:sp>
        <p:nvSpPr>
          <p:cNvPr id="128" name="Text 125"/>
          <p:cNvSpPr/>
          <p:nvPr/>
        </p:nvSpPr>
        <p:spPr>
          <a:xfrm>
            <a:off x="8869680" y="4526280"/>
            <a:ext cx="1325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31</a:t>
            </a:r>
            <a:endParaRPr lang="en-US" sz="1400" dirty="0"/>
          </a:p>
        </p:txBody>
      </p:sp>
      <p:sp>
        <p:nvSpPr>
          <p:cNvPr id="129" name="Shape 126"/>
          <p:cNvSpPr/>
          <p:nvPr/>
        </p:nvSpPr>
        <p:spPr>
          <a:xfrm>
            <a:off x="10195560" y="4526280"/>
            <a:ext cx="1417320" cy="457200"/>
          </a:xfrm>
          <a:prstGeom prst="rect">
            <a:avLst/>
          </a:prstGeom>
          <a:solidFill>
            <a:srgbClr val="001F47"/>
          </a:solidFill>
          <a:ln/>
        </p:spPr>
      </p:sp>
      <p:sp>
        <p:nvSpPr>
          <p:cNvPr id="130" name="Text 127"/>
          <p:cNvSpPr/>
          <p:nvPr/>
        </p:nvSpPr>
        <p:spPr>
          <a:xfrm>
            <a:off x="10195560" y="4526280"/>
            <a:ext cx="1417320" cy="457200"/>
          </a:xfrm>
          <a:prstGeom prst="rect">
            <a:avLst/>
          </a:prstGeom>
          <a:noFill/>
          <a:ln/>
        </p:spPr>
        <p:txBody>
          <a:bodyPr wrap="square" lIns="0" tIns="0" rIns="0" bIns="0" rtlCol="0" anchor="ctr"/>
          <a:lstStyle/>
          <a:p>
            <a:pPr algn="ctr" indent="0" marL="0">
              <a:buNone/>
            </a:pPr>
            <a:r>
              <a:rPr lang="en-US" sz="1700" b="1" dirty="0">
                <a:solidFill>
                  <a:srgbClr val="FEDF01"/>
                </a:solidFill>
                <a:latin typeface="Trebuchet MS" pitchFamily="34" charset="0"/>
                <a:ea typeface="Trebuchet MS" pitchFamily="34" charset="-122"/>
                <a:cs typeface="Trebuchet MS" pitchFamily="34" charset="-120"/>
              </a:rPr>
              <a:t>75</a:t>
            </a:r>
            <a:endParaRPr lang="en-US" sz="1700" dirty="0"/>
          </a:p>
        </p:txBody>
      </p:sp>
      <p:sp>
        <p:nvSpPr>
          <p:cNvPr id="131" name="Shape 128"/>
          <p:cNvSpPr/>
          <p:nvPr/>
        </p:nvSpPr>
        <p:spPr>
          <a:xfrm>
            <a:off x="548640" y="5212080"/>
            <a:ext cx="5463540" cy="1005840"/>
          </a:xfrm>
          <a:prstGeom prst="rect">
            <a:avLst/>
          </a:prstGeom>
          <a:solidFill>
            <a:srgbClr val="F6F8FB"/>
          </a:solidFill>
          <a:ln w="6350">
            <a:solidFill>
              <a:srgbClr val="D6DEE8"/>
            </a:solidFill>
            <a:prstDash val="solid"/>
          </a:ln>
        </p:spPr>
      </p:sp>
      <p:sp>
        <p:nvSpPr>
          <p:cNvPr id="132" name="Shape 129"/>
          <p:cNvSpPr/>
          <p:nvPr/>
        </p:nvSpPr>
        <p:spPr>
          <a:xfrm>
            <a:off x="548640" y="5212080"/>
            <a:ext cx="54864" cy="1005840"/>
          </a:xfrm>
          <a:prstGeom prst="rect">
            <a:avLst/>
          </a:prstGeom>
          <a:solidFill>
            <a:srgbClr val="1F8B4C"/>
          </a:solidFill>
          <a:ln/>
        </p:spPr>
      </p:sp>
      <p:sp>
        <p:nvSpPr>
          <p:cNvPr id="133" name="Text 130"/>
          <p:cNvSpPr/>
          <p:nvPr/>
        </p:nvSpPr>
        <p:spPr>
          <a:xfrm>
            <a:off x="777240" y="5303520"/>
            <a:ext cx="5189220" cy="228600"/>
          </a:xfrm>
          <a:prstGeom prst="rect">
            <a:avLst/>
          </a:prstGeom>
          <a:noFill/>
          <a:ln/>
        </p:spPr>
        <p:txBody>
          <a:bodyPr wrap="square" lIns="0" tIns="0" rIns="0" bIns="0" rtlCol="0" anchor="ctr"/>
          <a:lstStyle/>
          <a:p>
            <a:pPr indent="0" marL="0">
              <a:buNone/>
            </a:pPr>
            <a:r>
              <a:rPr lang="en-US" sz="1000" b="1" spc="300" kern="0" dirty="0">
                <a:solidFill>
                  <a:srgbClr val="1F8B4C"/>
                </a:solidFill>
                <a:latin typeface="Trebuchet MS" pitchFamily="34" charset="0"/>
                <a:ea typeface="Trebuchet MS" pitchFamily="34" charset="-122"/>
                <a:cs typeface="Trebuchet MS" pitchFamily="34" charset="-120"/>
              </a:rPr>
              <a:t>✓  COVERED BY REALLOCATION</a:t>
            </a:r>
            <a:endParaRPr lang="en-US" sz="1000" dirty="0"/>
          </a:p>
        </p:txBody>
      </p:sp>
      <p:sp>
        <p:nvSpPr>
          <p:cNvPr id="134" name="Text 131"/>
          <p:cNvSpPr/>
          <p:nvPr/>
        </p:nvSpPr>
        <p:spPr>
          <a:xfrm>
            <a:off x="777240" y="5541264"/>
            <a:ext cx="1828800" cy="41148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64 roles</a:t>
            </a:r>
            <a:endParaRPr lang="en-US" sz="2600" dirty="0"/>
          </a:p>
        </p:txBody>
      </p:sp>
      <p:sp>
        <p:nvSpPr>
          <p:cNvPr id="135" name="Text 132"/>
          <p:cNvSpPr/>
          <p:nvPr/>
        </p:nvSpPr>
        <p:spPr>
          <a:xfrm>
            <a:off x="2606040" y="5596128"/>
            <a:ext cx="3360420" cy="274320"/>
          </a:xfrm>
          <a:prstGeom prst="rect">
            <a:avLst/>
          </a:prstGeom>
          <a:noFill/>
          <a:ln/>
        </p:spPr>
        <p:txBody>
          <a:bodyPr wrap="square" lIns="0" tIns="0" rIns="0" bIns="0" rtlCol="0" anchor="ctr"/>
          <a:lstStyle/>
          <a:p>
            <a:pPr indent="0" marL="0">
              <a:buNone/>
            </a:pPr>
            <a:r>
              <a:rPr lang="en-US" sz="1300" b="1" dirty="0">
                <a:solidFill>
                  <a:srgbClr val="0051A5"/>
                </a:solidFill>
                <a:latin typeface="Trebuchet MS" pitchFamily="34" charset="0"/>
                <a:ea typeface="Trebuchet MS" pitchFamily="34" charset="-122"/>
                <a:cs typeface="Trebuchet MS" pitchFamily="34" charset="-120"/>
              </a:rPr>
              <a:t>A + B + E + F</a:t>
            </a:r>
            <a:endParaRPr lang="en-US" sz="1300" dirty="0"/>
          </a:p>
        </p:txBody>
      </p:sp>
      <p:sp>
        <p:nvSpPr>
          <p:cNvPr id="136" name="Text 133"/>
          <p:cNvSpPr/>
          <p:nvPr/>
        </p:nvSpPr>
        <p:spPr>
          <a:xfrm>
            <a:off x="777240" y="5925312"/>
            <a:ext cx="518922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Already on RBC payroll · moving into Zephyr On-Prem squads · no new funding required.</a:t>
            </a:r>
            <a:endParaRPr lang="en-US" sz="1100" dirty="0"/>
          </a:p>
        </p:txBody>
      </p:sp>
      <p:sp>
        <p:nvSpPr>
          <p:cNvPr id="137" name="Shape 134"/>
          <p:cNvSpPr/>
          <p:nvPr/>
        </p:nvSpPr>
        <p:spPr>
          <a:xfrm>
            <a:off x="6149340" y="5212080"/>
            <a:ext cx="5463540" cy="1005840"/>
          </a:xfrm>
          <a:prstGeom prst="rect">
            <a:avLst/>
          </a:prstGeom>
          <a:solidFill>
            <a:srgbClr val="F6F8FB"/>
          </a:solidFill>
          <a:ln w="6350">
            <a:solidFill>
              <a:srgbClr val="D6DEE8"/>
            </a:solidFill>
            <a:prstDash val="solid"/>
          </a:ln>
        </p:spPr>
      </p:sp>
      <p:sp>
        <p:nvSpPr>
          <p:cNvPr id="138" name="Shape 135"/>
          <p:cNvSpPr/>
          <p:nvPr/>
        </p:nvSpPr>
        <p:spPr>
          <a:xfrm>
            <a:off x="6149340" y="5212080"/>
            <a:ext cx="54864" cy="1005840"/>
          </a:xfrm>
          <a:prstGeom prst="rect">
            <a:avLst/>
          </a:prstGeom>
          <a:solidFill>
            <a:srgbClr val="C9AC00"/>
          </a:solidFill>
          <a:ln/>
        </p:spPr>
      </p:sp>
      <p:sp>
        <p:nvSpPr>
          <p:cNvPr id="139" name="Text 136"/>
          <p:cNvSpPr/>
          <p:nvPr/>
        </p:nvSpPr>
        <p:spPr>
          <a:xfrm>
            <a:off x="6377940" y="5303520"/>
            <a:ext cx="5189220" cy="228600"/>
          </a:xfrm>
          <a:prstGeom prst="rect">
            <a:avLst/>
          </a:prstGeom>
          <a:noFill/>
          <a:ln/>
        </p:spPr>
        <p:txBody>
          <a:bodyPr wrap="square" lIns="0" tIns="0" rIns="0" bIns="0" rtlCol="0" anchor="ctr"/>
          <a:lstStyle/>
          <a:p>
            <a:pPr indent="0" marL="0">
              <a:buNone/>
            </a:pPr>
            <a:r>
              <a:rPr lang="en-US" sz="1000" b="1" spc="300" kern="0" dirty="0">
                <a:solidFill>
                  <a:srgbClr val="C9AC00"/>
                </a:solidFill>
                <a:latin typeface="Trebuchet MS" pitchFamily="34" charset="0"/>
                <a:ea typeface="Trebuchet MS" pitchFamily="34" charset="-122"/>
                <a:cs typeface="Trebuchet MS" pitchFamily="34" charset="-120"/>
              </a:rPr>
              <a:t>$  REQUIRES $3.5MM PAR</a:t>
            </a:r>
            <a:endParaRPr lang="en-US" sz="1000" dirty="0"/>
          </a:p>
        </p:txBody>
      </p:sp>
      <p:sp>
        <p:nvSpPr>
          <p:cNvPr id="140" name="Text 137"/>
          <p:cNvSpPr/>
          <p:nvPr/>
        </p:nvSpPr>
        <p:spPr>
          <a:xfrm>
            <a:off x="6377940" y="5541264"/>
            <a:ext cx="1828800" cy="41148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11 roles</a:t>
            </a:r>
            <a:endParaRPr lang="en-US" sz="2600" dirty="0"/>
          </a:p>
        </p:txBody>
      </p:sp>
      <p:sp>
        <p:nvSpPr>
          <p:cNvPr id="141" name="Text 138"/>
          <p:cNvSpPr/>
          <p:nvPr/>
        </p:nvSpPr>
        <p:spPr>
          <a:xfrm>
            <a:off x="8206740" y="5596128"/>
            <a:ext cx="3268980" cy="274320"/>
          </a:xfrm>
          <a:prstGeom prst="rect">
            <a:avLst/>
          </a:prstGeom>
          <a:noFill/>
          <a:ln/>
        </p:spPr>
        <p:txBody>
          <a:bodyPr wrap="square" lIns="0" tIns="0" rIns="0" bIns="0" rtlCol="0" anchor="ctr"/>
          <a:lstStyle/>
          <a:p>
            <a:pPr indent="0" marL="0">
              <a:buNone/>
            </a:pPr>
            <a:r>
              <a:rPr lang="en-US" sz="1300" b="1" dirty="0">
                <a:solidFill>
                  <a:srgbClr val="0051A5"/>
                </a:solidFill>
                <a:latin typeface="Trebuchet MS" pitchFamily="34" charset="0"/>
                <a:ea typeface="Trebuchet MS" pitchFamily="34" charset="-122"/>
                <a:cs typeface="Trebuchet MS" pitchFamily="34" charset="-120"/>
              </a:rPr>
              <a:t>Column D — Full-time Software Dev</a:t>
            </a:r>
            <a:endParaRPr lang="en-US" sz="1300" dirty="0"/>
          </a:p>
        </p:txBody>
      </p:sp>
      <p:sp>
        <p:nvSpPr>
          <p:cNvPr id="142" name="Text 139"/>
          <p:cNvSpPr/>
          <p:nvPr/>
        </p:nvSpPr>
        <p:spPr>
          <a:xfrm>
            <a:off x="6377940" y="5925312"/>
            <a:ext cx="5097780" cy="256032"/>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$3.5MM funding ask · partially covered by IBM Statement of Work.</a:t>
            </a:r>
            <a:endParaRPr lang="en-US" sz="1100" dirty="0"/>
          </a:p>
        </p:txBody>
      </p:sp>
      <p:sp>
        <p:nvSpPr>
          <p:cNvPr id="143" name="Text 14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19 / 30</a:t>
            </a:r>
            <a:endParaRPr lang="en-US" sz="900" dirty="0"/>
          </a:p>
        </p:txBody>
      </p:sp>
      <p:sp>
        <p:nvSpPr>
          <p:cNvPr id="144" name="Text 14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18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Frameworks we draw from</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Established models that inform our operating choices — we synthesize, we don't copy.</a:t>
            </a:r>
            <a:endParaRPr lang="en-US" sz="1300" dirty="0"/>
          </a:p>
        </p:txBody>
      </p:sp>
      <p:sp>
        <p:nvSpPr>
          <p:cNvPr id="7" name="Shape 4"/>
          <p:cNvSpPr/>
          <p:nvPr/>
        </p:nvSpPr>
        <p:spPr>
          <a:xfrm>
            <a:off x="548640" y="1920240"/>
            <a:ext cx="5440680" cy="2194560"/>
          </a:xfrm>
          <a:prstGeom prst="rect">
            <a:avLst/>
          </a:prstGeom>
          <a:solidFill>
            <a:srgbClr val="FFFFFF"/>
          </a:solidFill>
          <a:ln w="7620">
            <a:solidFill>
              <a:srgbClr val="D6DEE8"/>
            </a:solidFill>
            <a:prstDash val="solid"/>
          </a:ln>
        </p:spPr>
      </p:sp>
      <p:sp>
        <p:nvSpPr>
          <p:cNvPr id="8" name="Shape 5"/>
          <p:cNvSpPr/>
          <p:nvPr/>
        </p:nvSpPr>
        <p:spPr>
          <a:xfrm>
            <a:off x="548640" y="1920240"/>
            <a:ext cx="5440680" cy="457200"/>
          </a:xfrm>
          <a:prstGeom prst="rect">
            <a:avLst/>
          </a:prstGeom>
          <a:solidFill>
            <a:srgbClr val="0051A5"/>
          </a:solidFill>
          <a:ln/>
        </p:spPr>
      </p:sp>
      <p:sp>
        <p:nvSpPr>
          <p:cNvPr id="9" name="Text 6"/>
          <p:cNvSpPr/>
          <p:nvPr/>
        </p:nvSpPr>
        <p:spPr>
          <a:xfrm>
            <a:off x="731520" y="1920240"/>
            <a:ext cx="26060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Google SRE</a:t>
            </a:r>
            <a:endParaRPr lang="en-US" sz="1400" dirty="0"/>
          </a:p>
        </p:txBody>
      </p:sp>
      <p:sp>
        <p:nvSpPr>
          <p:cNvPr id="10" name="Text 7"/>
          <p:cNvSpPr/>
          <p:nvPr/>
        </p:nvSpPr>
        <p:spPr>
          <a:xfrm>
            <a:off x="3154680" y="1920240"/>
            <a:ext cx="2651760" cy="457200"/>
          </a:xfrm>
          <a:prstGeom prst="rect">
            <a:avLst/>
          </a:prstGeom>
          <a:noFill/>
          <a:ln/>
        </p:spPr>
        <p:txBody>
          <a:bodyPr wrap="square" lIns="0" tIns="0" rIns="0" bIns="0" rtlCol="0" anchor="ctr"/>
          <a:lstStyle/>
          <a:p>
            <a:pPr algn="r" indent="0" marL="0">
              <a:buNone/>
            </a:pPr>
            <a:r>
              <a:rPr lang="en-US" sz="1000" i="1" dirty="0">
                <a:solidFill>
                  <a:srgbClr val="FEDF01"/>
                </a:solidFill>
                <a:latin typeface="Calibri" pitchFamily="34" charset="0"/>
                <a:ea typeface="Calibri" pitchFamily="34" charset="-122"/>
                <a:cs typeface="Calibri" pitchFamily="34" charset="-120"/>
              </a:rPr>
              <a:t>Google · Treynor Sloss, 2003</a:t>
            </a:r>
            <a:endParaRPr lang="en-US" sz="1000" dirty="0"/>
          </a:p>
        </p:txBody>
      </p:sp>
      <p:sp>
        <p:nvSpPr>
          <p:cNvPr id="11" name="Text 8"/>
          <p:cNvSpPr/>
          <p:nvPr/>
        </p:nvSpPr>
        <p:spPr>
          <a:xfrm>
            <a:off x="731520" y="246888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CORE IDEA</a:t>
            </a:r>
            <a:endParaRPr lang="en-US" sz="900" dirty="0"/>
          </a:p>
        </p:txBody>
      </p:sp>
      <p:sp>
        <p:nvSpPr>
          <p:cNvPr id="12" name="Text 9"/>
          <p:cNvSpPr/>
          <p:nvPr/>
        </p:nvSpPr>
        <p:spPr>
          <a:xfrm>
            <a:off x="731520" y="2688336"/>
            <a:ext cx="5074920" cy="6400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Reliability as engineering discipline. Error budgets bound speed-vs-stability. ≤50% toil cap for sustainable operations.</a:t>
            </a:r>
            <a:endParaRPr lang="en-US" sz="1100" dirty="0"/>
          </a:p>
        </p:txBody>
      </p:sp>
      <p:sp>
        <p:nvSpPr>
          <p:cNvPr id="13" name="Shape 10"/>
          <p:cNvSpPr/>
          <p:nvPr/>
        </p:nvSpPr>
        <p:spPr>
          <a:xfrm>
            <a:off x="731520" y="3383280"/>
            <a:ext cx="365760" cy="36576"/>
          </a:xfrm>
          <a:prstGeom prst="rect">
            <a:avLst/>
          </a:prstGeom>
          <a:solidFill>
            <a:srgbClr val="FEDF01"/>
          </a:solidFill>
          <a:ln/>
        </p:spPr>
      </p:sp>
      <p:sp>
        <p:nvSpPr>
          <p:cNvPr id="14" name="Text 11"/>
          <p:cNvSpPr/>
          <p:nvPr/>
        </p:nvSpPr>
        <p:spPr>
          <a:xfrm>
            <a:off x="731520" y="347472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WE TAKE</a:t>
            </a:r>
            <a:endParaRPr lang="en-US" sz="900" dirty="0"/>
          </a:p>
        </p:txBody>
      </p:sp>
      <p:sp>
        <p:nvSpPr>
          <p:cNvPr id="15" name="Text 12"/>
          <p:cNvSpPr/>
          <p:nvPr/>
        </p:nvSpPr>
        <p:spPr>
          <a:xfrm>
            <a:off x="731520" y="3694176"/>
            <a:ext cx="5074920" cy="41148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SLOs · error-budget policy · blameless postmortems · toil cap discipline</a:t>
            </a:r>
            <a:endParaRPr lang="en-US" sz="1100" dirty="0"/>
          </a:p>
        </p:txBody>
      </p:sp>
      <p:sp>
        <p:nvSpPr>
          <p:cNvPr id="16" name="Shape 13"/>
          <p:cNvSpPr/>
          <p:nvPr/>
        </p:nvSpPr>
        <p:spPr>
          <a:xfrm>
            <a:off x="6172200" y="1920240"/>
            <a:ext cx="5440680" cy="2194560"/>
          </a:xfrm>
          <a:prstGeom prst="rect">
            <a:avLst/>
          </a:prstGeom>
          <a:solidFill>
            <a:srgbClr val="FFFFFF"/>
          </a:solidFill>
          <a:ln w="7620">
            <a:solidFill>
              <a:srgbClr val="D6DEE8"/>
            </a:solidFill>
            <a:prstDash val="solid"/>
          </a:ln>
        </p:spPr>
      </p:sp>
      <p:sp>
        <p:nvSpPr>
          <p:cNvPr id="17" name="Shape 14"/>
          <p:cNvSpPr/>
          <p:nvPr/>
        </p:nvSpPr>
        <p:spPr>
          <a:xfrm>
            <a:off x="6172200" y="1920240"/>
            <a:ext cx="5440680" cy="457200"/>
          </a:xfrm>
          <a:prstGeom prst="rect">
            <a:avLst/>
          </a:prstGeom>
          <a:solidFill>
            <a:srgbClr val="0051A5"/>
          </a:solidFill>
          <a:ln/>
        </p:spPr>
      </p:sp>
      <p:sp>
        <p:nvSpPr>
          <p:cNvPr id="18" name="Text 15"/>
          <p:cNvSpPr/>
          <p:nvPr/>
        </p:nvSpPr>
        <p:spPr>
          <a:xfrm>
            <a:off x="6355080" y="1920240"/>
            <a:ext cx="26060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Team Topologies</a:t>
            </a:r>
            <a:endParaRPr lang="en-US" sz="1400" dirty="0"/>
          </a:p>
        </p:txBody>
      </p:sp>
      <p:sp>
        <p:nvSpPr>
          <p:cNvPr id="19" name="Text 16"/>
          <p:cNvSpPr/>
          <p:nvPr/>
        </p:nvSpPr>
        <p:spPr>
          <a:xfrm>
            <a:off x="8778240" y="1920240"/>
            <a:ext cx="2651760" cy="457200"/>
          </a:xfrm>
          <a:prstGeom prst="rect">
            <a:avLst/>
          </a:prstGeom>
          <a:noFill/>
          <a:ln/>
        </p:spPr>
        <p:txBody>
          <a:bodyPr wrap="square" lIns="0" tIns="0" rIns="0" bIns="0" rtlCol="0" anchor="ctr"/>
          <a:lstStyle/>
          <a:p>
            <a:pPr algn="r" indent="0" marL="0">
              <a:buNone/>
            </a:pPr>
            <a:r>
              <a:rPr lang="en-US" sz="1000" i="1" dirty="0">
                <a:solidFill>
                  <a:srgbClr val="FEDF01"/>
                </a:solidFill>
                <a:latin typeface="Calibri" pitchFamily="34" charset="0"/>
                <a:ea typeface="Calibri" pitchFamily="34" charset="-122"/>
                <a:cs typeface="Calibri" pitchFamily="34" charset="-120"/>
              </a:rPr>
              <a:t>Skelton &amp; Pais, 2019</a:t>
            </a:r>
            <a:endParaRPr lang="en-US" sz="1000" dirty="0"/>
          </a:p>
        </p:txBody>
      </p:sp>
      <p:sp>
        <p:nvSpPr>
          <p:cNvPr id="20" name="Text 17"/>
          <p:cNvSpPr/>
          <p:nvPr/>
        </p:nvSpPr>
        <p:spPr>
          <a:xfrm>
            <a:off x="6355080" y="246888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CORE IDEA</a:t>
            </a:r>
            <a:endParaRPr lang="en-US" sz="900" dirty="0"/>
          </a:p>
        </p:txBody>
      </p:sp>
      <p:sp>
        <p:nvSpPr>
          <p:cNvPr id="21" name="Text 18"/>
          <p:cNvSpPr/>
          <p:nvPr/>
        </p:nvSpPr>
        <p:spPr>
          <a:xfrm>
            <a:off x="6355080" y="2688336"/>
            <a:ext cx="5074920" cy="6400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Four team types organized for fast flow of value. Cognitive load as design constraint. Team APIs.</a:t>
            </a:r>
            <a:endParaRPr lang="en-US" sz="1100" dirty="0"/>
          </a:p>
        </p:txBody>
      </p:sp>
      <p:sp>
        <p:nvSpPr>
          <p:cNvPr id="22" name="Shape 19"/>
          <p:cNvSpPr/>
          <p:nvPr/>
        </p:nvSpPr>
        <p:spPr>
          <a:xfrm>
            <a:off x="6355080" y="3383280"/>
            <a:ext cx="365760" cy="36576"/>
          </a:xfrm>
          <a:prstGeom prst="rect">
            <a:avLst/>
          </a:prstGeom>
          <a:solidFill>
            <a:srgbClr val="FEDF01"/>
          </a:solidFill>
          <a:ln/>
        </p:spPr>
      </p:sp>
      <p:sp>
        <p:nvSpPr>
          <p:cNvPr id="23" name="Text 20"/>
          <p:cNvSpPr/>
          <p:nvPr/>
        </p:nvSpPr>
        <p:spPr>
          <a:xfrm>
            <a:off x="6355080" y="347472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WE TAKE</a:t>
            </a:r>
            <a:endParaRPr lang="en-US" sz="900" dirty="0"/>
          </a:p>
        </p:txBody>
      </p:sp>
      <p:sp>
        <p:nvSpPr>
          <p:cNvPr id="24" name="Text 21"/>
          <p:cNvSpPr/>
          <p:nvPr/>
        </p:nvSpPr>
        <p:spPr>
          <a:xfrm>
            <a:off x="6355080" y="3694176"/>
            <a:ext cx="5074920" cy="41148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Platform team type · Team API publication · cognitive-load awareness</a:t>
            </a:r>
            <a:endParaRPr lang="en-US" sz="1100" dirty="0"/>
          </a:p>
        </p:txBody>
      </p:sp>
      <p:sp>
        <p:nvSpPr>
          <p:cNvPr id="25" name="Shape 22"/>
          <p:cNvSpPr/>
          <p:nvPr/>
        </p:nvSpPr>
        <p:spPr>
          <a:xfrm>
            <a:off x="548640" y="4297680"/>
            <a:ext cx="5440680" cy="2194560"/>
          </a:xfrm>
          <a:prstGeom prst="rect">
            <a:avLst/>
          </a:prstGeom>
          <a:solidFill>
            <a:srgbClr val="FFFFFF"/>
          </a:solidFill>
          <a:ln w="7620">
            <a:solidFill>
              <a:srgbClr val="D6DEE8"/>
            </a:solidFill>
            <a:prstDash val="solid"/>
          </a:ln>
        </p:spPr>
      </p:sp>
      <p:sp>
        <p:nvSpPr>
          <p:cNvPr id="26" name="Shape 23"/>
          <p:cNvSpPr/>
          <p:nvPr/>
        </p:nvSpPr>
        <p:spPr>
          <a:xfrm>
            <a:off x="548640" y="4297680"/>
            <a:ext cx="5440680" cy="457200"/>
          </a:xfrm>
          <a:prstGeom prst="rect">
            <a:avLst/>
          </a:prstGeom>
          <a:solidFill>
            <a:srgbClr val="0051A5"/>
          </a:solidFill>
          <a:ln/>
        </p:spPr>
      </p:sp>
      <p:sp>
        <p:nvSpPr>
          <p:cNvPr id="27" name="Text 24"/>
          <p:cNvSpPr/>
          <p:nvPr/>
        </p:nvSpPr>
        <p:spPr>
          <a:xfrm>
            <a:off x="731520" y="4297680"/>
            <a:ext cx="26060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Platform-as-a-Product</a:t>
            </a:r>
            <a:endParaRPr lang="en-US" sz="1400" dirty="0"/>
          </a:p>
        </p:txBody>
      </p:sp>
      <p:sp>
        <p:nvSpPr>
          <p:cNvPr id="28" name="Text 25"/>
          <p:cNvSpPr/>
          <p:nvPr/>
        </p:nvSpPr>
        <p:spPr>
          <a:xfrm>
            <a:off x="3154680" y="4297680"/>
            <a:ext cx="2651760" cy="457200"/>
          </a:xfrm>
          <a:prstGeom prst="rect">
            <a:avLst/>
          </a:prstGeom>
          <a:noFill/>
          <a:ln/>
        </p:spPr>
        <p:txBody>
          <a:bodyPr wrap="square" lIns="0" tIns="0" rIns="0" bIns="0" rtlCol="0" anchor="ctr"/>
          <a:lstStyle/>
          <a:p>
            <a:pPr algn="r" indent="0" marL="0">
              <a:buNone/>
            </a:pPr>
            <a:r>
              <a:rPr lang="en-US" sz="1000" i="1" dirty="0">
                <a:solidFill>
                  <a:srgbClr val="FEDF01"/>
                </a:solidFill>
                <a:latin typeface="Calibri" pitchFamily="34" charset="0"/>
                <a:ea typeface="Calibri" pitchFamily="34" charset="-122"/>
                <a:cs typeface="Calibri" pitchFamily="34" charset="-120"/>
              </a:rPr>
              <a:t>CNCF Platforms WG · Thoughtworks</a:t>
            </a:r>
            <a:endParaRPr lang="en-US" sz="1000" dirty="0"/>
          </a:p>
        </p:txBody>
      </p:sp>
      <p:sp>
        <p:nvSpPr>
          <p:cNvPr id="29" name="Text 26"/>
          <p:cNvSpPr/>
          <p:nvPr/>
        </p:nvSpPr>
        <p:spPr>
          <a:xfrm>
            <a:off x="731520" y="484632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CORE IDEA</a:t>
            </a:r>
            <a:endParaRPr lang="en-US" sz="900" dirty="0"/>
          </a:p>
        </p:txBody>
      </p:sp>
      <p:sp>
        <p:nvSpPr>
          <p:cNvPr id="30" name="Text 27"/>
          <p:cNvSpPr/>
          <p:nvPr/>
        </p:nvSpPr>
        <p:spPr>
          <a:xfrm>
            <a:off x="731520" y="5065776"/>
            <a:ext cx="5074920" cy="6400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Internal platform with PM, roadmap, internal customers, adoption metrics. Paved roads — not mandates.</a:t>
            </a:r>
            <a:endParaRPr lang="en-US" sz="1100" dirty="0"/>
          </a:p>
        </p:txBody>
      </p:sp>
      <p:sp>
        <p:nvSpPr>
          <p:cNvPr id="31" name="Shape 28"/>
          <p:cNvSpPr/>
          <p:nvPr/>
        </p:nvSpPr>
        <p:spPr>
          <a:xfrm>
            <a:off x="731520" y="5760720"/>
            <a:ext cx="365760" cy="36576"/>
          </a:xfrm>
          <a:prstGeom prst="rect">
            <a:avLst/>
          </a:prstGeom>
          <a:solidFill>
            <a:srgbClr val="FEDF01"/>
          </a:solidFill>
          <a:ln/>
        </p:spPr>
      </p:sp>
      <p:sp>
        <p:nvSpPr>
          <p:cNvPr id="32" name="Text 29"/>
          <p:cNvSpPr/>
          <p:nvPr/>
        </p:nvSpPr>
        <p:spPr>
          <a:xfrm>
            <a:off x="731520" y="585216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WE TAKE</a:t>
            </a:r>
            <a:endParaRPr lang="en-US" sz="900" dirty="0"/>
          </a:p>
        </p:txBody>
      </p:sp>
      <p:sp>
        <p:nvSpPr>
          <p:cNvPr id="33" name="Text 30"/>
          <p:cNvSpPr/>
          <p:nvPr/>
        </p:nvSpPr>
        <p:spPr>
          <a:xfrm>
            <a:off x="731520" y="6071616"/>
            <a:ext cx="5074920" cy="41148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Product mindset · paved-road thinking · adoption-first measurement</a:t>
            </a:r>
            <a:endParaRPr lang="en-US" sz="1100" dirty="0"/>
          </a:p>
        </p:txBody>
      </p:sp>
      <p:sp>
        <p:nvSpPr>
          <p:cNvPr id="34" name="Shape 31"/>
          <p:cNvSpPr/>
          <p:nvPr/>
        </p:nvSpPr>
        <p:spPr>
          <a:xfrm>
            <a:off x="6172200" y="4297680"/>
            <a:ext cx="5440680" cy="2194560"/>
          </a:xfrm>
          <a:prstGeom prst="rect">
            <a:avLst/>
          </a:prstGeom>
          <a:solidFill>
            <a:srgbClr val="FFFFFF"/>
          </a:solidFill>
          <a:ln w="7620">
            <a:solidFill>
              <a:srgbClr val="D6DEE8"/>
            </a:solidFill>
            <a:prstDash val="solid"/>
          </a:ln>
        </p:spPr>
      </p:sp>
      <p:sp>
        <p:nvSpPr>
          <p:cNvPr id="35" name="Shape 32"/>
          <p:cNvSpPr/>
          <p:nvPr/>
        </p:nvSpPr>
        <p:spPr>
          <a:xfrm>
            <a:off x="6172200" y="4297680"/>
            <a:ext cx="5440680" cy="457200"/>
          </a:xfrm>
          <a:prstGeom prst="rect">
            <a:avLst/>
          </a:prstGeom>
          <a:solidFill>
            <a:srgbClr val="0051A5"/>
          </a:solidFill>
          <a:ln/>
        </p:spPr>
      </p:sp>
      <p:sp>
        <p:nvSpPr>
          <p:cNvPr id="36" name="Text 33"/>
          <p:cNvSpPr/>
          <p:nvPr/>
        </p:nvSpPr>
        <p:spPr>
          <a:xfrm>
            <a:off x="6355080" y="4297680"/>
            <a:ext cx="2606040" cy="45720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ITIL 4 + DORA</a:t>
            </a:r>
            <a:endParaRPr lang="en-US" sz="1400" dirty="0"/>
          </a:p>
        </p:txBody>
      </p:sp>
      <p:sp>
        <p:nvSpPr>
          <p:cNvPr id="37" name="Text 34"/>
          <p:cNvSpPr/>
          <p:nvPr/>
        </p:nvSpPr>
        <p:spPr>
          <a:xfrm>
            <a:off x="8778240" y="4297680"/>
            <a:ext cx="2651760" cy="457200"/>
          </a:xfrm>
          <a:prstGeom prst="rect">
            <a:avLst/>
          </a:prstGeom>
          <a:noFill/>
          <a:ln/>
        </p:spPr>
        <p:txBody>
          <a:bodyPr wrap="square" lIns="0" tIns="0" rIns="0" bIns="0" rtlCol="0" anchor="ctr"/>
          <a:lstStyle/>
          <a:p>
            <a:pPr algn="r" indent="0" marL="0">
              <a:buNone/>
            </a:pPr>
            <a:r>
              <a:rPr lang="en-US" sz="1000" i="1" dirty="0">
                <a:solidFill>
                  <a:srgbClr val="FEDF01"/>
                </a:solidFill>
                <a:latin typeface="Calibri" pitchFamily="34" charset="0"/>
                <a:ea typeface="Calibri" pitchFamily="34" charset="-122"/>
                <a:cs typeface="Calibri" pitchFamily="34" charset="-120"/>
              </a:rPr>
              <a:t>Axelos 2019 · Forsgren et al 2018</a:t>
            </a:r>
            <a:endParaRPr lang="en-US" sz="1000" dirty="0"/>
          </a:p>
        </p:txBody>
      </p:sp>
      <p:sp>
        <p:nvSpPr>
          <p:cNvPr id="38" name="Text 35"/>
          <p:cNvSpPr/>
          <p:nvPr/>
        </p:nvSpPr>
        <p:spPr>
          <a:xfrm>
            <a:off x="6355080" y="484632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CORE IDEA</a:t>
            </a:r>
            <a:endParaRPr lang="en-US" sz="900" dirty="0"/>
          </a:p>
        </p:txBody>
      </p:sp>
      <p:sp>
        <p:nvSpPr>
          <p:cNvPr id="39" name="Text 36"/>
          <p:cNvSpPr/>
          <p:nvPr/>
        </p:nvSpPr>
        <p:spPr>
          <a:xfrm>
            <a:off x="6355080" y="5065776"/>
            <a:ext cx="5074920" cy="6400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Pre-approved Standard Changes via paved-road pipelines. DORA Four Keys as the joint metric set.</a:t>
            </a:r>
            <a:endParaRPr lang="en-US" sz="1100" dirty="0"/>
          </a:p>
        </p:txBody>
      </p:sp>
      <p:sp>
        <p:nvSpPr>
          <p:cNvPr id="40" name="Shape 37"/>
          <p:cNvSpPr/>
          <p:nvPr/>
        </p:nvSpPr>
        <p:spPr>
          <a:xfrm>
            <a:off x="6355080" y="5760720"/>
            <a:ext cx="365760" cy="36576"/>
          </a:xfrm>
          <a:prstGeom prst="rect">
            <a:avLst/>
          </a:prstGeom>
          <a:solidFill>
            <a:srgbClr val="FEDF01"/>
          </a:solidFill>
          <a:ln/>
        </p:spPr>
      </p:sp>
      <p:sp>
        <p:nvSpPr>
          <p:cNvPr id="41" name="Text 38"/>
          <p:cNvSpPr/>
          <p:nvPr/>
        </p:nvSpPr>
        <p:spPr>
          <a:xfrm>
            <a:off x="6355080" y="5852160"/>
            <a:ext cx="5074920" cy="201168"/>
          </a:xfrm>
          <a:prstGeom prst="rect">
            <a:avLst/>
          </a:prstGeom>
          <a:noFill/>
          <a:ln/>
        </p:spPr>
        <p:txBody>
          <a:bodyPr wrap="square" lIns="0" tIns="0" rIns="0" bIns="0" rtlCol="0" anchor="ctr"/>
          <a:lstStyle/>
          <a:p>
            <a:pPr indent="0" marL="0">
              <a:buNone/>
            </a:pPr>
            <a:r>
              <a:rPr lang="en-US" sz="900" b="1" spc="300" kern="0" dirty="0">
                <a:solidFill>
                  <a:srgbClr val="0051A5"/>
                </a:solidFill>
                <a:latin typeface="Trebuchet MS" pitchFamily="34" charset="0"/>
                <a:ea typeface="Trebuchet MS" pitchFamily="34" charset="-122"/>
                <a:cs typeface="Trebuchet MS" pitchFamily="34" charset="-120"/>
              </a:rPr>
              <a:t>WE TAKE</a:t>
            </a:r>
            <a:endParaRPr lang="en-US" sz="900" dirty="0"/>
          </a:p>
        </p:txBody>
      </p:sp>
      <p:sp>
        <p:nvSpPr>
          <p:cNvPr id="42" name="Text 39"/>
          <p:cNvSpPr/>
          <p:nvPr/>
        </p:nvSpPr>
        <p:spPr>
          <a:xfrm>
            <a:off x="6355080" y="6071616"/>
            <a:ext cx="5074920" cy="411480"/>
          </a:xfrm>
          <a:prstGeom prst="rect">
            <a:avLst/>
          </a:prstGeom>
          <a:noFill/>
          <a:ln/>
        </p:spPr>
        <p:txBody>
          <a:bodyPr wrap="square" lIns="0" tIns="0" rIns="0" bIns="0" rtlCol="0" anchor="ctr"/>
          <a:lstStyle/>
          <a:p>
            <a:pPr indent="0" marL="0">
              <a:buNone/>
            </a:pPr>
            <a:r>
              <a:rPr lang="en-US" sz="1100" b="1" dirty="0">
                <a:solidFill>
                  <a:srgbClr val="001F47"/>
                </a:solidFill>
                <a:latin typeface="Calibri" pitchFamily="34" charset="0"/>
                <a:ea typeface="Calibri" pitchFamily="34" charset="-122"/>
                <a:cs typeface="Calibri" pitchFamily="34" charset="-120"/>
              </a:rPr>
              <a:t>Modernized change enablement · Four Keys metrics · pipeline-based controls</a:t>
            </a:r>
            <a:endParaRPr lang="en-US" sz="1100" dirty="0"/>
          </a:p>
        </p:txBody>
      </p:sp>
      <p:sp>
        <p:nvSpPr>
          <p:cNvPr id="43" name="Text 4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20 / 30</a:t>
            </a:r>
            <a:endParaRPr lang="en-US" sz="900" dirty="0"/>
          </a:p>
        </p:txBody>
      </p:sp>
      <p:sp>
        <p:nvSpPr>
          <p:cNvPr id="44" name="Text 4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19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How peers and big tech run platform teams</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Comparison across nine companies — what stands out, and where Zephyr sits.</a:t>
            </a:r>
            <a:endParaRPr lang="en-US" sz="1300" dirty="0"/>
          </a:p>
        </p:txBody>
      </p:sp>
      <p:sp>
        <p:nvSpPr>
          <p:cNvPr id="7" name="Shape 4"/>
          <p:cNvSpPr/>
          <p:nvPr/>
        </p:nvSpPr>
        <p:spPr>
          <a:xfrm>
            <a:off x="548640" y="1874520"/>
            <a:ext cx="11064240" cy="502920"/>
          </a:xfrm>
          <a:prstGeom prst="rect">
            <a:avLst/>
          </a:prstGeom>
          <a:solidFill>
            <a:srgbClr val="0051A5"/>
          </a:solidFill>
          <a:ln/>
        </p:spPr>
      </p:sp>
      <p:sp>
        <p:nvSpPr>
          <p:cNvPr id="8" name="Text 5"/>
          <p:cNvSpPr/>
          <p:nvPr/>
        </p:nvSpPr>
        <p:spPr>
          <a:xfrm>
            <a:off x="658368" y="1874520"/>
            <a:ext cx="1234440" cy="5029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Company</a:t>
            </a:r>
            <a:endParaRPr lang="en-US" sz="1000" dirty="0"/>
          </a:p>
        </p:txBody>
      </p:sp>
      <p:sp>
        <p:nvSpPr>
          <p:cNvPr id="9" name="Text 6"/>
          <p:cNvSpPr/>
          <p:nvPr/>
        </p:nvSpPr>
        <p:spPr>
          <a:xfrm>
            <a:off x="2029968" y="1874520"/>
            <a:ext cx="2606040" cy="5029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Ops Model</a:t>
            </a:r>
            <a:endParaRPr lang="en-US" sz="1000" dirty="0"/>
          </a:p>
        </p:txBody>
      </p:sp>
      <p:sp>
        <p:nvSpPr>
          <p:cNvPr id="10" name="Text 7"/>
          <p:cNvSpPr/>
          <p:nvPr/>
        </p:nvSpPr>
        <p:spPr>
          <a:xfrm>
            <a:off x="4773168" y="1874520"/>
            <a:ext cx="1051560" cy="5029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Engineer</a:t>
            </a:r>
            <a:endParaRPr lang="en-US" sz="1000" dirty="0"/>
          </a:p>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on-call?</a:t>
            </a:r>
            <a:endParaRPr lang="en-US" sz="1000" dirty="0"/>
          </a:p>
        </p:txBody>
      </p:sp>
      <p:sp>
        <p:nvSpPr>
          <p:cNvPr id="11" name="Text 8"/>
          <p:cNvSpPr/>
          <p:nvPr/>
        </p:nvSpPr>
        <p:spPr>
          <a:xfrm>
            <a:off x="5961888" y="1874520"/>
            <a:ext cx="1325880" cy="5029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Cloud Posture</a:t>
            </a:r>
            <a:endParaRPr lang="en-US" sz="1000" dirty="0"/>
          </a:p>
        </p:txBody>
      </p:sp>
      <p:sp>
        <p:nvSpPr>
          <p:cNvPr id="12" name="Text 9"/>
          <p:cNvSpPr/>
          <p:nvPr/>
        </p:nvSpPr>
        <p:spPr>
          <a:xfrm>
            <a:off x="7424928" y="1874520"/>
            <a:ext cx="4160520" cy="5029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Trebuchet MS" pitchFamily="34" charset="0"/>
                <a:ea typeface="Trebuchet MS" pitchFamily="34" charset="-122"/>
                <a:cs typeface="Trebuchet MS" pitchFamily="34" charset="-120"/>
              </a:rPr>
              <a:t>Distinguishing Practice</a:t>
            </a:r>
            <a:endParaRPr lang="en-US" sz="1000" dirty="0"/>
          </a:p>
        </p:txBody>
      </p:sp>
      <p:sp>
        <p:nvSpPr>
          <p:cNvPr id="13" name="Shape 10"/>
          <p:cNvSpPr/>
          <p:nvPr/>
        </p:nvSpPr>
        <p:spPr>
          <a:xfrm>
            <a:off x="548640" y="2377440"/>
            <a:ext cx="11064240" cy="365760"/>
          </a:xfrm>
          <a:prstGeom prst="rect">
            <a:avLst/>
          </a:prstGeom>
          <a:solidFill>
            <a:srgbClr val="F6F8FB"/>
          </a:solidFill>
          <a:ln w="5080">
            <a:solidFill>
              <a:srgbClr val="D6DEE8"/>
            </a:solidFill>
            <a:prstDash val="solid"/>
          </a:ln>
        </p:spPr>
      </p:sp>
      <p:sp>
        <p:nvSpPr>
          <p:cNvPr id="14" name="Text 11"/>
          <p:cNvSpPr/>
          <p:nvPr/>
        </p:nvSpPr>
        <p:spPr>
          <a:xfrm>
            <a:off x="685800" y="237744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Google</a:t>
            </a:r>
            <a:endParaRPr lang="en-US" sz="1000" dirty="0"/>
          </a:p>
        </p:txBody>
      </p:sp>
      <p:sp>
        <p:nvSpPr>
          <p:cNvPr id="15" name="Text 12"/>
          <p:cNvSpPr/>
          <p:nvPr/>
        </p:nvSpPr>
        <p:spPr>
          <a:xfrm>
            <a:off x="2057400" y="237744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Federated SRE org · embedded per service</a:t>
            </a:r>
            <a:endParaRPr lang="en-US" sz="1000" dirty="0"/>
          </a:p>
        </p:txBody>
      </p:sp>
      <p:sp>
        <p:nvSpPr>
          <p:cNvPr id="16" name="Text 13"/>
          <p:cNvSpPr/>
          <p:nvPr/>
        </p:nvSpPr>
        <p:spPr>
          <a:xfrm>
            <a:off x="4800600" y="237744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Yes (SRE)</a:t>
            </a:r>
            <a:endParaRPr lang="en-US" sz="1000" dirty="0"/>
          </a:p>
        </p:txBody>
      </p:sp>
      <p:sp>
        <p:nvSpPr>
          <p:cNvPr id="17" name="Text 14"/>
          <p:cNvSpPr/>
          <p:nvPr/>
        </p:nvSpPr>
        <p:spPr>
          <a:xfrm>
            <a:off x="5989320" y="237744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Hybrid</a:t>
            </a:r>
            <a:endParaRPr lang="en-US" sz="1000" dirty="0"/>
          </a:p>
        </p:txBody>
      </p:sp>
      <p:sp>
        <p:nvSpPr>
          <p:cNvPr id="18" name="Text 15"/>
          <p:cNvSpPr/>
          <p:nvPr/>
        </p:nvSpPr>
        <p:spPr>
          <a:xfrm>
            <a:off x="7452360" y="237744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Error budget halts launches</a:t>
            </a:r>
            <a:endParaRPr lang="en-US" sz="1000" dirty="0"/>
          </a:p>
        </p:txBody>
      </p:sp>
      <p:sp>
        <p:nvSpPr>
          <p:cNvPr id="19" name="Shape 16"/>
          <p:cNvSpPr/>
          <p:nvPr/>
        </p:nvSpPr>
        <p:spPr>
          <a:xfrm>
            <a:off x="548640" y="2743200"/>
            <a:ext cx="11064240" cy="365760"/>
          </a:xfrm>
          <a:prstGeom prst="rect">
            <a:avLst/>
          </a:prstGeom>
          <a:solidFill>
            <a:srgbClr val="FFFFFF"/>
          </a:solidFill>
          <a:ln w="5080">
            <a:solidFill>
              <a:srgbClr val="D6DEE8"/>
            </a:solidFill>
            <a:prstDash val="solid"/>
          </a:ln>
        </p:spPr>
      </p:sp>
      <p:sp>
        <p:nvSpPr>
          <p:cNvPr id="20" name="Text 17"/>
          <p:cNvSpPr/>
          <p:nvPr/>
        </p:nvSpPr>
        <p:spPr>
          <a:xfrm>
            <a:off x="685800" y="274320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Netflix</a:t>
            </a:r>
            <a:endParaRPr lang="en-US" sz="1000" dirty="0"/>
          </a:p>
        </p:txBody>
      </p:sp>
      <p:sp>
        <p:nvSpPr>
          <p:cNvPr id="21" name="Text 18"/>
          <p:cNvSpPr/>
          <p:nvPr/>
        </p:nvSpPr>
        <p:spPr>
          <a:xfrm>
            <a:off x="2057400" y="274320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Full-cycle devs + central CORE SRE</a:t>
            </a:r>
            <a:endParaRPr lang="en-US" sz="1000" dirty="0"/>
          </a:p>
        </p:txBody>
      </p:sp>
      <p:sp>
        <p:nvSpPr>
          <p:cNvPr id="22" name="Text 19"/>
          <p:cNvSpPr/>
          <p:nvPr/>
        </p:nvSpPr>
        <p:spPr>
          <a:xfrm>
            <a:off x="4800600" y="274320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Yes</a:t>
            </a:r>
            <a:endParaRPr lang="en-US" sz="1000" dirty="0"/>
          </a:p>
        </p:txBody>
      </p:sp>
      <p:sp>
        <p:nvSpPr>
          <p:cNvPr id="23" name="Text 20"/>
          <p:cNvSpPr/>
          <p:nvPr/>
        </p:nvSpPr>
        <p:spPr>
          <a:xfrm>
            <a:off x="5989320" y="274320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All-cloud</a:t>
            </a:r>
            <a:endParaRPr lang="en-US" sz="1000" dirty="0"/>
          </a:p>
        </p:txBody>
      </p:sp>
      <p:sp>
        <p:nvSpPr>
          <p:cNvPr id="24" name="Text 21"/>
          <p:cNvSpPr/>
          <p:nvPr/>
        </p:nvSpPr>
        <p:spPr>
          <a:xfrm>
            <a:off x="7452360" y="274320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CORE only for streaming KPIs</a:t>
            </a:r>
            <a:endParaRPr lang="en-US" sz="1000" dirty="0"/>
          </a:p>
        </p:txBody>
      </p:sp>
      <p:sp>
        <p:nvSpPr>
          <p:cNvPr id="25" name="Shape 22"/>
          <p:cNvSpPr/>
          <p:nvPr/>
        </p:nvSpPr>
        <p:spPr>
          <a:xfrm>
            <a:off x="548640" y="3108960"/>
            <a:ext cx="11064240" cy="365760"/>
          </a:xfrm>
          <a:prstGeom prst="rect">
            <a:avLst/>
          </a:prstGeom>
          <a:solidFill>
            <a:srgbClr val="F6F8FB"/>
          </a:solidFill>
          <a:ln w="5080">
            <a:solidFill>
              <a:srgbClr val="D6DEE8"/>
            </a:solidFill>
            <a:prstDash val="solid"/>
          </a:ln>
        </p:spPr>
      </p:sp>
      <p:sp>
        <p:nvSpPr>
          <p:cNvPr id="26" name="Text 23"/>
          <p:cNvSpPr/>
          <p:nvPr/>
        </p:nvSpPr>
        <p:spPr>
          <a:xfrm>
            <a:off x="685800" y="310896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Amazon</a:t>
            </a:r>
            <a:endParaRPr lang="en-US" sz="1000" dirty="0"/>
          </a:p>
        </p:txBody>
      </p:sp>
      <p:sp>
        <p:nvSpPr>
          <p:cNvPr id="27" name="Text 24"/>
          <p:cNvSpPr/>
          <p:nvPr/>
        </p:nvSpPr>
        <p:spPr>
          <a:xfrm>
            <a:off x="2057400" y="310896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Two-pizza teams own end-to-end</a:t>
            </a:r>
            <a:endParaRPr lang="en-US" sz="1000" dirty="0"/>
          </a:p>
        </p:txBody>
      </p:sp>
      <p:sp>
        <p:nvSpPr>
          <p:cNvPr id="28" name="Text 25"/>
          <p:cNvSpPr/>
          <p:nvPr/>
        </p:nvSpPr>
        <p:spPr>
          <a:xfrm>
            <a:off x="4800600" y="310896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Yes (every)</a:t>
            </a:r>
            <a:endParaRPr lang="en-US" sz="1000" dirty="0"/>
          </a:p>
        </p:txBody>
      </p:sp>
      <p:sp>
        <p:nvSpPr>
          <p:cNvPr id="29" name="Text 26"/>
          <p:cNvSpPr/>
          <p:nvPr/>
        </p:nvSpPr>
        <p:spPr>
          <a:xfrm>
            <a:off x="5989320" y="310896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All-cloud</a:t>
            </a:r>
            <a:endParaRPr lang="en-US" sz="1000" dirty="0"/>
          </a:p>
        </p:txBody>
      </p:sp>
      <p:sp>
        <p:nvSpPr>
          <p:cNvPr id="30" name="Text 27"/>
          <p:cNvSpPr/>
          <p:nvPr/>
        </p:nvSpPr>
        <p:spPr>
          <a:xfrm>
            <a:off x="7452360" y="310896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Correction of Errors postmortem</a:t>
            </a:r>
            <a:endParaRPr lang="en-US" sz="1000" dirty="0"/>
          </a:p>
        </p:txBody>
      </p:sp>
      <p:sp>
        <p:nvSpPr>
          <p:cNvPr id="31" name="Shape 28"/>
          <p:cNvSpPr/>
          <p:nvPr/>
        </p:nvSpPr>
        <p:spPr>
          <a:xfrm>
            <a:off x="548640" y="3474720"/>
            <a:ext cx="11064240" cy="365760"/>
          </a:xfrm>
          <a:prstGeom prst="rect">
            <a:avLst/>
          </a:prstGeom>
          <a:solidFill>
            <a:srgbClr val="FFFFFF"/>
          </a:solidFill>
          <a:ln w="5080">
            <a:solidFill>
              <a:srgbClr val="D6DEE8"/>
            </a:solidFill>
            <a:prstDash val="solid"/>
          </a:ln>
        </p:spPr>
      </p:sp>
      <p:sp>
        <p:nvSpPr>
          <p:cNvPr id="32" name="Text 29"/>
          <p:cNvSpPr/>
          <p:nvPr/>
        </p:nvSpPr>
        <p:spPr>
          <a:xfrm>
            <a:off x="685800" y="347472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Shopify</a:t>
            </a:r>
            <a:endParaRPr lang="en-US" sz="1000" dirty="0"/>
          </a:p>
        </p:txBody>
      </p:sp>
      <p:sp>
        <p:nvSpPr>
          <p:cNvPr id="33" name="Text 30"/>
          <p:cNvSpPr/>
          <p:nvPr/>
        </p:nvSpPr>
        <p:spPr>
          <a:xfrm>
            <a:off x="2057400" y="347472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Central Production Engineering + dev teams</a:t>
            </a:r>
            <a:endParaRPr lang="en-US" sz="1000" dirty="0"/>
          </a:p>
        </p:txBody>
      </p:sp>
      <p:sp>
        <p:nvSpPr>
          <p:cNvPr id="34" name="Text 31"/>
          <p:cNvSpPr/>
          <p:nvPr/>
        </p:nvSpPr>
        <p:spPr>
          <a:xfrm>
            <a:off x="4800600" y="347472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Yes</a:t>
            </a:r>
            <a:endParaRPr lang="en-US" sz="1000" dirty="0"/>
          </a:p>
        </p:txBody>
      </p:sp>
      <p:sp>
        <p:nvSpPr>
          <p:cNvPr id="35" name="Text 32"/>
          <p:cNvSpPr/>
          <p:nvPr/>
        </p:nvSpPr>
        <p:spPr>
          <a:xfrm>
            <a:off x="5989320" y="347472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All-cloud</a:t>
            </a:r>
            <a:endParaRPr lang="en-US" sz="1000" dirty="0"/>
          </a:p>
        </p:txBody>
      </p:sp>
      <p:sp>
        <p:nvSpPr>
          <p:cNvPr id="36" name="Text 33"/>
          <p:cNvSpPr/>
          <p:nvPr/>
        </p:nvSpPr>
        <p:spPr>
          <a:xfrm>
            <a:off x="7452360" y="347472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Production Engineering pattern</a:t>
            </a:r>
            <a:endParaRPr lang="en-US" sz="1000" dirty="0"/>
          </a:p>
        </p:txBody>
      </p:sp>
      <p:sp>
        <p:nvSpPr>
          <p:cNvPr id="37" name="Shape 34"/>
          <p:cNvSpPr/>
          <p:nvPr/>
        </p:nvSpPr>
        <p:spPr>
          <a:xfrm>
            <a:off x="548640" y="3840480"/>
            <a:ext cx="11064240" cy="365760"/>
          </a:xfrm>
          <a:prstGeom prst="rect">
            <a:avLst/>
          </a:prstGeom>
          <a:solidFill>
            <a:srgbClr val="F6F8FB"/>
          </a:solidFill>
          <a:ln w="5080">
            <a:solidFill>
              <a:srgbClr val="D6DEE8"/>
            </a:solidFill>
            <a:prstDash val="solid"/>
          </a:ln>
        </p:spPr>
      </p:sp>
      <p:sp>
        <p:nvSpPr>
          <p:cNvPr id="38" name="Text 35"/>
          <p:cNvSpPr/>
          <p:nvPr/>
        </p:nvSpPr>
        <p:spPr>
          <a:xfrm>
            <a:off x="685800" y="384048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DBS Bank</a:t>
            </a:r>
            <a:endParaRPr lang="en-US" sz="1000" dirty="0"/>
          </a:p>
        </p:txBody>
      </p:sp>
      <p:sp>
        <p:nvSpPr>
          <p:cNvPr id="39" name="Text 36"/>
          <p:cNvSpPr/>
          <p:nvPr/>
        </p:nvSpPr>
        <p:spPr>
          <a:xfrm>
            <a:off x="2057400" y="384048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33 platforms · 2-in-a-box leadership</a:t>
            </a:r>
            <a:endParaRPr lang="en-US" sz="1000" dirty="0"/>
          </a:p>
        </p:txBody>
      </p:sp>
      <p:sp>
        <p:nvSpPr>
          <p:cNvPr id="40" name="Text 37"/>
          <p:cNvSpPr/>
          <p:nvPr/>
        </p:nvSpPr>
        <p:spPr>
          <a:xfrm>
            <a:off x="4800600" y="384048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Mixed</a:t>
            </a:r>
            <a:endParaRPr lang="en-US" sz="1000" dirty="0"/>
          </a:p>
        </p:txBody>
      </p:sp>
      <p:sp>
        <p:nvSpPr>
          <p:cNvPr id="41" name="Text 38"/>
          <p:cNvSpPr/>
          <p:nvPr/>
        </p:nvSpPr>
        <p:spPr>
          <a:xfrm>
            <a:off x="5989320" y="384048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Private-cloud</a:t>
            </a:r>
            <a:endParaRPr lang="en-US" sz="1000" dirty="0"/>
          </a:p>
        </p:txBody>
      </p:sp>
      <p:sp>
        <p:nvSpPr>
          <p:cNvPr id="42" name="Text 39"/>
          <p:cNvSpPr/>
          <p:nvPr/>
        </p:nvSpPr>
        <p:spPr>
          <a:xfrm>
            <a:off x="7452360" y="384048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Dedicated SRE; 8 published principles</a:t>
            </a:r>
            <a:endParaRPr lang="en-US" sz="1000" dirty="0"/>
          </a:p>
        </p:txBody>
      </p:sp>
      <p:sp>
        <p:nvSpPr>
          <p:cNvPr id="43" name="Shape 40"/>
          <p:cNvSpPr/>
          <p:nvPr/>
        </p:nvSpPr>
        <p:spPr>
          <a:xfrm>
            <a:off x="548640" y="4206240"/>
            <a:ext cx="11064240" cy="365760"/>
          </a:xfrm>
          <a:prstGeom prst="rect">
            <a:avLst/>
          </a:prstGeom>
          <a:solidFill>
            <a:srgbClr val="FFFFFF"/>
          </a:solidFill>
          <a:ln w="5080">
            <a:solidFill>
              <a:srgbClr val="D6DEE8"/>
            </a:solidFill>
            <a:prstDash val="solid"/>
          </a:ln>
        </p:spPr>
      </p:sp>
      <p:sp>
        <p:nvSpPr>
          <p:cNvPr id="44" name="Text 41"/>
          <p:cNvSpPr/>
          <p:nvPr/>
        </p:nvSpPr>
        <p:spPr>
          <a:xfrm>
            <a:off x="685800" y="420624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Capital One</a:t>
            </a:r>
            <a:endParaRPr lang="en-US" sz="1000" dirty="0"/>
          </a:p>
        </p:txBody>
      </p:sp>
      <p:sp>
        <p:nvSpPr>
          <p:cNvPr id="45" name="Text 42"/>
          <p:cNvSpPr/>
          <p:nvPr/>
        </p:nvSpPr>
        <p:spPr>
          <a:xfrm>
            <a:off x="2057400" y="420624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Federated · 'you build it, you own it'</a:t>
            </a:r>
            <a:endParaRPr lang="en-US" sz="1000" dirty="0"/>
          </a:p>
        </p:txBody>
      </p:sp>
      <p:sp>
        <p:nvSpPr>
          <p:cNvPr id="46" name="Text 43"/>
          <p:cNvSpPr/>
          <p:nvPr/>
        </p:nvSpPr>
        <p:spPr>
          <a:xfrm>
            <a:off x="4800600" y="420624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Yes</a:t>
            </a:r>
            <a:endParaRPr lang="en-US" sz="1000" dirty="0"/>
          </a:p>
        </p:txBody>
      </p:sp>
      <p:sp>
        <p:nvSpPr>
          <p:cNvPr id="47" name="Text 44"/>
          <p:cNvSpPr/>
          <p:nvPr/>
        </p:nvSpPr>
        <p:spPr>
          <a:xfrm>
            <a:off x="5989320" y="420624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All-AWS</a:t>
            </a:r>
            <a:endParaRPr lang="en-US" sz="1000" dirty="0"/>
          </a:p>
        </p:txBody>
      </p:sp>
      <p:sp>
        <p:nvSpPr>
          <p:cNvPr id="48" name="Text 45"/>
          <p:cNvSpPr/>
          <p:nvPr/>
        </p:nvSpPr>
        <p:spPr>
          <a:xfrm>
            <a:off x="7452360" y="420624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16 Gates pipeline as SoD control</a:t>
            </a:r>
            <a:endParaRPr lang="en-US" sz="1000" dirty="0"/>
          </a:p>
        </p:txBody>
      </p:sp>
      <p:sp>
        <p:nvSpPr>
          <p:cNvPr id="49" name="Shape 46"/>
          <p:cNvSpPr/>
          <p:nvPr/>
        </p:nvSpPr>
        <p:spPr>
          <a:xfrm>
            <a:off x="548640" y="4572000"/>
            <a:ext cx="11064240" cy="365760"/>
          </a:xfrm>
          <a:prstGeom prst="rect">
            <a:avLst/>
          </a:prstGeom>
          <a:solidFill>
            <a:srgbClr val="E6EEF8"/>
          </a:solidFill>
          <a:ln w="5080">
            <a:solidFill>
              <a:srgbClr val="D6DEE8"/>
            </a:solidFill>
            <a:prstDash val="solid"/>
          </a:ln>
        </p:spPr>
      </p:sp>
      <p:sp>
        <p:nvSpPr>
          <p:cNvPr id="50" name="Shape 47"/>
          <p:cNvSpPr/>
          <p:nvPr/>
        </p:nvSpPr>
        <p:spPr>
          <a:xfrm>
            <a:off x="548640" y="4572000"/>
            <a:ext cx="54864" cy="365760"/>
          </a:xfrm>
          <a:prstGeom prst="rect">
            <a:avLst/>
          </a:prstGeom>
          <a:solidFill>
            <a:srgbClr val="FEDF01"/>
          </a:solidFill>
          <a:ln/>
        </p:spPr>
      </p:sp>
      <p:sp>
        <p:nvSpPr>
          <p:cNvPr id="51" name="Text 48"/>
          <p:cNvSpPr/>
          <p:nvPr/>
        </p:nvSpPr>
        <p:spPr>
          <a:xfrm>
            <a:off x="685800" y="457200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Barclays</a:t>
            </a:r>
            <a:endParaRPr lang="en-US" sz="1000" dirty="0"/>
          </a:p>
        </p:txBody>
      </p:sp>
      <p:sp>
        <p:nvSpPr>
          <p:cNvPr id="52" name="Text 49"/>
          <p:cNvSpPr/>
          <p:nvPr/>
        </p:nvSpPr>
        <p:spPr>
          <a:xfrm>
            <a:off x="2057400" y="457200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Dedicated SRE / Production-Engineering</a:t>
            </a:r>
            <a:endParaRPr lang="en-US" sz="1000" dirty="0"/>
          </a:p>
        </p:txBody>
      </p:sp>
      <p:sp>
        <p:nvSpPr>
          <p:cNvPr id="53" name="Text 50"/>
          <p:cNvSpPr/>
          <p:nvPr/>
        </p:nvSpPr>
        <p:spPr>
          <a:xfrm>
            <a:off x="4800600" y="457200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Often no</a:t>
            </a:r>
            <a:endParaRPr lang="en-US" sz="1000" dirty="0"/>
          </a:p>
        </p:txBody>
      </p:sp>
      <p:sp>
        <p:nvSpPr>
          <p:cNvPr id="54" name="Text 51"/>
          <p:cNvSpPr/>
          <p:nvPr/>
        </p:nvSpPr>
        <p:spPr>
          <a:xfrm>
            <a:off x="5989320" y="457200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Hybrid</a:t>
            </a:r>
            <a:endParaRPr lang="en-US" sz="1000" dirty="0"/>
          </a:p>
        </p:txBody>
      </p:sp>
      <p:sp>
        <p:nvSpPr>
          <p:cNvPr id="55" name="Text 52"/>
          <p:cNvSpPr/>
          <p:nvPr/>
        </p:nvSpPr>
        <p:spPr>
          <a:xfrm>
            <a:off x="7452360" y="457200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Closest published analogue to RBC</a:t>
            </a:r>
            <a:endParaRPr lang="en-US" sz="1000" dirty="0"/>
          </a:p>
        </p:txBody>
      </p:sp>
      <p:sp>
        <p:nvSpPr>
          <p:cNvPr id="56" name="Shape 53"/>
          <p:cNvSpPr/>
          <p:nvPr/>
        </p:nvSpPr>
        <p:spPr>
          <a:xfrm>
            <a:off x="548640" y="4937760"/>
            <a:ext cx="11064240" cy="365760"/>
          </a:xfrm>
          <a:prstGeom prst="rect">
            <a:avLst/>
          </a:prstGeom>
          <a:solidFill>
            <a:srgbClr val="FFFFFF"/>
          </a:solidFill>
          <a:ln w="5080">
            <a:solidFill>
              <a:srgbClr val="D6DEE8"/>
            </a:solidFill>
            <a:prstDash val="solid"/>
          </a:ln>
        </p:spPr>
      </p:sp>
      <p:sp>
        <p:nvSpPr>
          <p:cNvPr id="57" name="Text 54"/>
          <p:cNvSpPr/>
          <p:nvPr/>
        </p:nvSpPr>
        <p:spPr>
          <a:xfrm>
            <a:off x="685800" y="493776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Goldman</a:t>
            </a:r>
            <a:endParaRPr lang="en-US" sz="1000" dirty="0"/>
          </a:p>
        </p:txBody>
      </p:sp>
      <p:sp>
        <p:nvSpPr>
          <p:cNvPr id="58" name="Text 55"/>
          <p:cNvSpPr/>
          <p:nvPr/>
        </p:nvSpPr>
        <p:spPr>
          <a:xfrm>
            <a:off x="2057400" y="493776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Federated + Core Engineering function</a:t>
            </a:r>
            <a:endParaRPr lang="en-US" sz="1000" dirty="0"/>
          </a:p>
        </p:txBody>
      </p:sp>
      <p:sp>
        <p:nvSpPr>
          <p:cNvPr id="59" name="Text 56"/>
          <p:cNvSpPr/>
          <p:nvPr/>
        </p:nvSpPr>
        <p:spPr>
          <a:xfrm>
            <a:off x="4800600" y="493776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Mixed</a:t>
            </a:r>
            <a:endParaRPr lang="en-US" sz="1000" dirty="0"/>
          </a:p>
        </p:txBody>
      </p:sp>
      <p:sp>
        <p:nvSpPr>
          <p:cNvPr id="60" name="Text 57"/>
          <p:cNvSpPr/>
          <p:nvPr/>
        </p:nvSpPr>
        <p:spPr>
          <a:xfrm>
            <a:off x="5989320" y="493776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Hybrid</a:t>
            </a:r>
            <a:endParaRPr lang="en-US" sz="1000" dirty="0"/>
          </a:p>
        </p:txBody>
      </p:sp>
      <p:sp>
        <p:nvSpPr>
          <p:cNvPr id="61" name="Text 58"/>
          <p:cNvSpPr/>
          <p:nvPr/>
        </p:nvSpPr>
        <p:spPr>
          <a:xfrm>
            <a:off x="7452360" y="493776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Systems Engineering tradition</a:t>
            </a:r>
            <a:endParaRPr lang="en-US" sz="1000" dirty="0"/>
          </a:p>
        </p:txBody>
      </p:sp>
      <p:sp>
        <p:nvSpPr>
          <p:cNvPr id="62" name="Shape 59"/>
          <p:cNvSpPr/>
          <p:nvPr/>
        </p:nvSpPr>
        <p:spPr>
          <a:xfrm>
            <a:off x="548640" y="5303520"/>
            <a:ext cx="11064240" cy="365760"/>
          </a:xfrm>
          <a:prstGeom prst="rect">
            <a:avLst/>
          </a:prstGeom>
          <a:solidFill>
            <a:srgbClr val="F6F8FB"/>
          </a:solidFill>
          <a:ln w="5080">
            <a:solidFill>
              <a:srgbClr val="D6DEE8"/>
            </a:solidFill>
            <a:prstDash val="solid"/>
          </a:ln>
        </p:spPr>
      </p:sp>
      <p:sp>
        <p:nvSpPr>
          <p:cNvPr id="63" name="Text 60"/>
          <p:cNvSpPr/>
          <p:nvPr/>
        </p:nvSpPr>
        <p:spPr>
          <a:xfrm>
            <a:off x="685800" y="5303520"/>
            <a:ext cx="1207008" cy="365760"/>
          </a:xfrm>
          <a:prstGeom prst="rect">
            <a:avLst/>
          </a:prstGeom>
          <a:noFill/>
          <a:ln/>
        </p:spPr>
        <p:txBody>
          <a:bodyPr wrap="square" lIns="0" tIns="0" rIns="0" bIns="0" rtlCol="0" anchor="ctr"/>
          <a:lstStyle/>
          <a:p>
            <a:pPr indent="0" marL="0">
              <a:buNone/>
            </a:pPr>
            <a:r>
              <a:rPr lang="en-US" sz="1000" b="1" dirty="0">
                <a:solidFill>
                  <a:srgbClr val="001F47"/>
                </a:solidFill>
                <a:latin typeface="Calibri" pitchFamily="34" charset="0"/>
                <a:ea typeface="Calibri" pitchFamily="34" charset="-122"/>
                <a:cs typeface="Calibri" pitchFamily="34" charset="-120"/>
              </a:rPr>
              <a:t>JPMC</a:t>
            </a:r>
            <a:endParaRPr lang="en-US" sz="1000" dirty="0"/>
          </a:p>
        </p:txBody>
      </p:sp>
      <p:sp>
        <p:nvSpPr>
          <p:cNvPr id="64" name="Text 61"/>
          <p:cNvSpPr/>
          <p:nvPr/>
        </p:nvSpPr>
        <p:spPr>
          <a:xfrm>
            <a:off x="2057400" y="5303520"/>
            <a:ext cx="257860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Federated by LOB + horizontal infra</a:t>
            </a:r>
            <a:endParaRPr lang="en-US" sz="1000" dirty="0"/>
          </a:p>
        </p:txBody>
      </p:sp>
      <p:sp>
        <p:nvSpPr>
          <p:cNvPr id="65" name="Text 62"/>
          <p:cNvSpPr/>
          <p:nvPr/>
        </p:nvSpPr>
        <p:spPr>
          <a:xfrm>
            <a:off x="4800600" y="5303520"/>
            <a:ext cx="102412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Mixed</a:t>
            </a:r>
            <a:endParaRPr lang="en-US" sz="1000" dirty="0"/>
          </a:p>
        </p:txBody>
      </p:sp>
      <p:sp>
        <p:nvSpPr>
          <p:cNvPr id="66" name="Text 63"/>
          <p:cNvSpPr/>
          <p:nvPr/>
        </p:nvSpPr>
        <p:spPr>
          <a:xfrm>
            <a:off x="5989320" y="5303520"/>
            <a:ext cx="129844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Hybrid</a:t>
            </a:r>
            <a:endParaRPr lang="en-US" sz="1000" dirty="0"/>
          </a:p>
        </p:txBody>
      </p:sp>
      <p:sp>
        <p:nvSpPr>
          <p:cNvPr id="67" name="Text 64"/>
          <p:cNvSpPr/>
          <p:nvPr/>
        </p:nvSpPr>
        <p:spPr>
          <a:xfrm>
            <a:off x="7452360" y="5303520"/>
            <a:ext cx="4133088" cy="3657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Project Gaia private cloud at scale</a:t>
            </a:r>
            <a:endParaRPr lang="en-US" sz="1000" dirty="0"/>
          </a:p>
        </p:txBody>
      </p:sp>
      <p:sp>
        <p:nvSpPr>
          <p:cNvPr id="68" name="Shape 65"/>
          <p:cNvSpPr/>
          <p:nvPr/>
        </p:nvSpPr>
        <p:spPr>
          <a:xfrm>
            <a:off x="548640" y="5897880"/>
            <a:ext cx="11064240" cy="502920"/>
          </a:xfrm>
          <a:prstGeom prst="rect">
            <a:avLst/>
          </a:prstGeom>
          <a:solidFill>
            <a:srgbClr val="001F47"/>
          </a:solidFill>
          <a:ln/>
        </p:spPr>
      </p:sp>
      <p:sp>
        <p:nvSpPr>
          <p:cNvPr id="69" name="Text 66"/>
          <p:cNvSpPr/>
          <p:nvPr/>
        </p:nvSpPr>
        <p:spPr>
          <a:xfrm>
            <a:off x="777240" y="5952744"/>
            <a:ext cx="365760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WHAT STANDS OUT</a:t>
            </a:r>
            <a:endParaRPr lang="en-US" sz="900" dirty="0"/>
          </a:p>
        </p:txBody>
      </p:sp>
      <p:sp>
        <p:nvSpPr>
          <p:cNvPr id="70" name="Text 67"/>
          <p:cNvSpPr/>
          <p:nvPr/>
        </p:nvSpPr>
        <p:spPr>
          <a:xfrm>
            <a:off x="777240" y="6144768"/>
            <a:ext cx="10607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All nine have engineers involved in production response — they differ on who carries the primary pager and how dedicated the ops function is to a single team.</a:t>
            </a:r>
            <a:endParaRPr lang="en-US" sz="1100" dirty="0"/>
          </a:p>
        </p:txBody>
      </p:sp>
      <p:sp>
        <p:nvSpPr>
          <p:cNvPr id="71" name="Text 68"/>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21 / 30</a:t>
            </a:r>
            <a:endParaRPr lang="en-US" sz="900" dirty="0"/>
          </a:p>
        </p:txBody>
      </p:sp>
      <p:sp>
        <p:nvSpPr>
          <p:cNvPr id="72" name="Text 69"/>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20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Where Zephyr lands</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Unconventional by big-tech standards — well-grounded in regulated-enterprise practice.</a:t>
            </a:r>
            <a:endParaRPr lang="en-US" sz="1300" dirty="0"/>
          </a:p>
        </p:txBody>
      </p:sp>
      <p:sp>
        <p:nvSpPr>
          <p:cNvPr id="7" name="Shape 4"/>
          <p:cNvSpPr/>
          <p:nvPr/>
        </p:nvSpPr>
        <p:spPr>
          <a:xfrm>
            <a:off x="548640" y="1920240"/>
            <a:ext cx="11064240" cy="868680"/>
          </a:xfrm>
          <a:prstGeom prst="rect">
            <a:avLst/>
          </a:prstGeom>
          <a:solidFill>
            <a:srgbClr val="001F47"/>
          </a:solidFill>
          <a:ln/>
        </p:spPr>
      </p:sp>
      <p:sp>
        <p:nvSpPr>
          <p:cNvPr id="8" name="Shape 5"/>
          <p:cNvSpPr/>
          <p:nvPr/>
        </p:nvSpPr>
        <p:spPr>
          <a:xfrm>
            <a:off x="548640" y="1920240"/>
            <a:ext cx="54864" cy="868680"/>
          </a:xfrm>
          <a:prstGeom prst="rect">
            <a:avLst/>
          </a:prstGeom>
          <a:solidFill>
            <a:srgbClr val="FEDF01"/>
          </a:solidFill>
          <a:ln/>
        </p:spPr>
      </p:sp>
      <p:sp>
        <p:nvSpPr>
          <p:cNvPr id="9" name="Text 6"/>
          <p:cNvSpPr/>
          <p:nvPr/>
        </p:nvSpPr>
        <p:spPr>
          <a:xfrm>
            <a:off x="777240" y="2011680"/>
            <a:ext cx="10607040" cy="228600"/>
          </a:xfrm>
          <a:prstGeom prst="rect">
            <a:avLst/>
          </a:prstGeom>
          <a:noFill/>
          <a:ln/>
        </p:spPr>
        <p:txBody>
          <a:bodyPr wrap="square" lIns="0" tIns="0" rIns="0" bIns="0" rtlCol="0" anchor="ctr"/>
          <a:lstStyle/>
          <a:p>
            <a:pPr indent="0" marL="0">
              <a:buNone/>
            </a:pPr>
            <a:r>
              <a:rPr lang="en-US" sz="1000" b="1" spc="300" kern="0" dirty="0">
                <a:solidFill>
                  <a:srgbClr val="FEDF01"/>
                </a:solidFill>
                <a:latin typeface="Trebuchet MS" pitchFamily="34" charset="0"/>
                <a:ea typeface="Trebuchet MS" pitchFamily="34" charset="-122"/>
                <a:cs typeface="Trebuchet MS" pitchFamily="34" charset="-120"/>
              </a:rPr>
              <a:t>OUR POSITION</a:t>
            </a:r>
            <a:endParaRPr lang="en-US" sz="1000" dirty="0"/>
          </a:p>
        </p:txBody>
      </p:sp>
      <p:sp>
        <p:nvSpPr>
          <p:cNvPr id="10" name="Text 7"/>
          <p:cNvSpPr/>
          <p:nvPr/>
        </p:nvSpPr>
        <p:spPr>
          <a:xfrm>
            <a:off x="777240" y="2240280"/>
            <a:ext cx="10607040"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We're closest to large regulated enterprises that combine product-team accountability with dedicated operations seats — not to cloud-native unicorns where every engineer carries the pager.</a:t>
            </a:r>
            <a:endParaRPr lang="en-US" sz="1300" dirty="0"/>
          </a:p>
        </p:txBody>
      </p:sp>
      <p:sp>
        <p:nvSpPr>
          <p:cNvPr id="11" name="Shape 8"/>
          <p:cNvSpPr/>
          <p:nvPr/>
        </p:nvSpPr>
        <p:spPr>
          <a:xfrm>
            <a:off x="548640" y="2971800"/>
            <a:ext cx="2663190" cy="2011680"/>
          </a:xfrm>
          <a:prstGeom prst="rect">
            <a:avLst/>
          </a:prstGeom>
          <a:solidFill>
            <a:srgbClr val="FFFFFF"/>
          </a:solidFill>
          <a:ln w="7620">
            <a:solidFill>
              <a:srgbClr val="D6DEE8"/>
            </a:solidFill>
            <a:prstDash val="solid"/>
          </a:ln>
        </p:spPr>
      </p:sp>
      <p:sp>
        <p:nvSpPr>
          <p:cNvPr id="12" name="Shape 9"/>
          <p:cNvSpPr/>
          <p:nvPr/>
        </p:nvSpPr>
        <p:spPr>
          <a:xfrm>
            <a:off x="548640" y="2971800"/>
            <a:ext cx="2663190" cy="640080"/>
          </a:xfrm>
          <a:prstGeom prst="rect">
            <a:avLst/>
          </a:prstGeom>
          <a:solidFill>
            <a:srgbClr val="0051A5"/>
          </a:solidFill>
          <a:ln/>
        </p:spPr>
      </p:sp>
      <p:sp>
        <p:nvSpPr>
          <p:cNvPr id="13" name="Text 10"/>
          <p:cNvSpPr/>
          <p:nvPr/>
        </p:nvSpPr>
        <p:spPr>
          <a:xfrm>
            <a:off x="713232" y="3017520"/>
            <a:ext cx="2434590" cy="29260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CSG International</a:t>
            </a:r>
            <a:endParaRPr lang="en-US" sz="1300" dirty="0"/>
          </a:p>
        </p:txBody>
      </p:sp>
      <p:sp>
        <p:nvSpPr>
          <p:cNvPr id="14" name="Text 11"/>
          <p:cNvSpPr/>
          <p:nvPr/>
        </p:nvSpPr>
        <p:spPr>
          <a:xfrm>
            <a:off x="713232" y="3337560"/>
            <a:ext cx="2434590" cy="228600"/>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Build/Run team</a:t>
            </a:r>
            <a:endParaRPr lang="en-US" sz="1000" dirty="0"/>
          </a:p>
        </p:txBody>
      </p:sp>
      <p:sp>
        <p:nvSpPr>
          <p:cNvPr id="15" name="Text 12"/>
          <p:cNvSpPr/>
          <p:nvPr/>
        </p:nvSpPr>
        <p:spPr>
          <a:xfrm>
            <a:off x="713232" y="3749040"/>
            <a:ext cx="2388870" cy="86868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Combined Dev and Ops in one cross-functional team with a shared backlog and named ops engineers per platform.</a:t>
            </a:r>
            <a:endParaRPr lang="en-US" sz="1050" dirty="0"/>
          </a:p>
        </p:txBody>
      </p:sp>
      <p:sp>
        <p:nvSpPr>
          <p:cNvPr id="16" name="Text 13"/>
          <p:cNvSpPr/>
          <p:nvPr/>
        </p:nvSpPr>
        <p:spPr>
          <a:xfrm>
            <a:off x="713232" y="4690872"/>
            <a:ext cx="2434590" cy="228600"/>
          </a:xfrm>
          <a:prstGeom prst="rect">
            <a:avLst/>
          </a:prstGeom>
          <a:noFill/>
          <a:ln/>
        </p:spPr>
        <p:txBody>
          <a:bodyPr wrap="square" lIns="0" tIns="0" rIns="0" bIns="0" rtlCol="0" anchor="ctr"/>
          <a:lstStyle/>
          <a:p>
            <a:pPr indent="0" marL="0">
              <a:buNone/>
            </a:pPr>
            <a:r>
              <a:rPr lang="en-US" sz="850" i="1" dirty="0">
                <a:solidFill>
                  <a:srgbClr val="5B6778"/>
                </a:solidFill>
                <a:latin typeface="Calibri" pitchFamily="34" charset="0"/>
                <a:ea typeface="Calibri" pitchFamily="34" charset="-122"/>
                <a:cs typeface="Calibri" pitchFamily="34" charset="-120"/>
              </a:rPr>
              <a:t>Scott Prugh, DevOps Enterprise Summit</a:t>
            </a:r>
            <a:endParaRPr lang="en-US" sz="850" dirty="0"/>
          </a:p>
        </p:txBody>
      </p:sp>
      <p:sp>
        <p:nvSpPr>
          <p:cNvPr id="17" name="Shape 14"/>
          <p:cNvSpPr/>
          <p:nvPr/>
        </p:nvSpPr>
        <p:spPr>
          <a:xfrm>
            <a:off x="3348990" y="2971800"/>
            <a:ext cx="2663190" cy="2011680"/>
          </a:xfrm>
          <a:prstGeom prst="rect">
            <a:avLst/>
          </a:prstGeom>
          <a:solidFill>
            <a:srgbClr val="FFFFFF"/>
          </a:solidFill>
          <a:ln w="7620">
            <a:solidFill>
              <a:srgbClr val="D6DEE8"/>
            </a:solidFill>
            <a:prstDash val="solid"/>
          </a:ln>
        </p:spPr>
      </p:sp>
      <p:sp>
        <p:nvSpPr>
          <p:cNvPr id="18" name="Shape 15"/>
          <p:cNvSpPr/>
          <p:nvPr/>
        </p:nvSpPr>
        <p:spPr>
          <a:xfrm>
            <a:off x="3348990" y="2971800"/>
            <a:ext cx="2663190" cy="640080"/>
          </a:xfrm>
          <a:prstGeom prst="rect">
            <a:avLst/>
          </a:prstGeom>
          <a:solidFill>
            <a:srgbClr val="0051A5"/>
          </a:solidFill>
          <a:ln/>
        </p:spPr>
      </p:sp>
      <p:sp>
        <p:nvSpPr>
          <p:cNvPr id="19" name="Text 16"/>
          <p:cNvSpPr/>
          <p:nvPr/>
        </p:nvSpPr>
        <p:spPr>
          <a:xfrm>
            <a:off x="3513582" y="3017520"/>
            <a:ext cx="2434590" cy="29260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DBS Bank</a:t>
            </a:r>
            <a:endParaRPr lang="en-US" sz="1300" dirty="0"/>
          </a:p>
        </p:txBody>
      </p:sp>
      <p:sp>
        <p:nvSpPr>
          <p:cNvPr id="20" name="Text 17"/>
          <p:cNvSpPr/>
          <p:nvPr/>
        </p:nvSpPr>
        <p:spPr>
          <a:xfrm>
            <a:off x="3513582" y="3337560"/>
            <a:ext cx="2434590" cy="228600"/>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2-in-a-box</a:t>
            </a:r>
            <a:endParaRPr lang="en-US" sz="1000" dirty="0"/>
          </a:p>
        </p:txBody>
      </p:sp>
      <p:sp>
        <p:nvSpPr>
          <p:cNvPr id="21" name="Text 18"/>
          <p:cNvSpPr/>
          <p:nvPr/>
        </p:nvSpPr>
        <p:spPr>
          <a:xfrm>
            <a:off x="3513582" y="3749040"/>
            <a:ext cx="2388870" cy="86868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33 product platforms with joint business + tech leadership; dedicated SRE function with eight published principles.</a:t>
            </a:r>
            <a:endParaRPr lang="en-US" sz="1050" dirty="0"/>
          </a:p>
        </p:txBody>
      </p:sp>
      <p:sp>
        <p:nvSpPr>
          <p:cNvPr id="22" name="Text 19"/>
          <p:cNvSpPr/>
          <p:nvPr/>
        </p:nvSpPr>
        <p:spPr>
          <a:xfrm>
            <a:off x="3513582" y="4690872"/>
            <a:ext cx="2434590" cy="228600"/>
          </a:xfrm>
          <a:prstGeom prst="rect">
            <a:avLst/>
          </a:prstGeom>
          <a:noFill/>
          <a:ln/>
        </p:spPr>
        <p:txBody>
          <a:bodyPr wrap="square" lIns="0" tIns="0" rIns="0" bIns="0" rtlCol="0" anchor="ctr"/>
          <a:lstStyle/>
          <a:p>
            <a:pPr indent="0" marL="0">
              <a:buNone/>
            </a:pPr>
            <a:r>
              <a:rPr lang="en-US" sz="850" i="1" dirty="0">
                <a:solidFill>
                  <a:srgbClr val="5B6778"/>
                </a:solidFill>
                <a:latin typeface="Calibri" pitchFamily="34" charset="0"/>
                <a:ea typeface="Calibri" pitchFamily="34" charset="-122"/>
                <a:cs typeface="Calibri" pitchFamily="34" charset="-120"/>
              </a:rPr>
              <a:t>GANDALF strategy, MD Cloud Engineering</a:t>
            </a:r>
            <a:endParaRPr lang="en-US" sz="850" dirty="0"/>
          </a:p>
        </p:txBody>
      </p:sp>
      <p:sp>
        <p:nvSpPr>
          <p:cNvPr id="23" name="Shape 20"/>
          <p:cNvSpPr/>
          <p:nvPr/>
        </p:nvSpPr>
        <p:spPr>
          <a:xfrm>
            <a:off x="6149340" y="2971800"/>
            <a:ext cx="2663190" cy="2011680"/>
          </a:xfrm>
          <a:prstGeom prst="rect">
            <a:avLst/>
          </a:prstGeom>
          <a:solidFill>
            <a:srgbClr val="FFFFFF"/>
          </a:solidFill>
          <a:ln w="7620">
            <a:solidFill>
              <a:srgbClr val="D6DEE8"/>
            </a:solidFill>
            <a:prstDash val="solid"/>
          </a:ln>
        </p:spPr>
      </p:sp>
      <p:sp>
        <p:nvSpPr>
          <p:cNvPr id="24" name="Shape 21"/>
          <p:cNvSpPr/>
          <p:nvPr/>
        </p:nvSpPr>
        <p:spPr>
          <a:xfrm>
            <a:off x="6149340" y="2971800"/>
            <a:ext cx="2663190" cy="640080"/>
          </a:xfrm>
          <a:prstGeom prst="rect">
            <a:avLst/>
          </a:prstGeom>
          <a:solidFill>
            <a:srgbClr val="0051A5"/>
          </a:solidFill>
          <a:ln/>
        </p:spPr>
      </p:sp>
      <p:sp>
        <p:nvSpPr>
          <p:cNvPr id="25" name="Text 22"/>
          <p:cNvSpPr/>
          <p:nvPr/>
        </p:nvSpPr>
        <p:spPr>
          <a:xfrm>
            <a:off x="6313932" y="3017520"/>
            <a:ext cx="2434590" cy="29260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Goldman Sachs</a:t>
            </a:r>
            <a:endParaRPr lang="en-US" sz="1300" dirty="0"/>
          </a:p>
        </p:txBody>
      </p:sp>
      <p:sp>
        <p:nvSpPr>
          <p:cNvPr id="26" name="Text 23"/>
          <p:cNvSpPr/>
          <p:nvPr/>
        </p:nvSpPr>
        <p:spPr>
          <a:xfrm>
            <a:off x="6313932" y="3337560"/>
            <a:ext cx="2434590" cy="228600"/>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Systems Engineering</a:t>
            </a:r>
            <a:endParaRPr lang="en-US" sz="1000" dirty="0"/>
          </a:p>
        </p:txBody>
      </p:sp>
      <p:sp>
        <p:nvSpPr>
          <p:cNvPr id="27" name="Text 24"/>
          <p:cNvSpPr/>
          <p:nvPr/>
        </p:nvSpPr>
        <p:spPr>
          <a:xfrm>
            <a:off x="6313932" y="3749040"/>
            <a:ext cx="2388870" cy="86868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Long-standing dedicated Production Support and Systems Engineering roles alongside business-line engineering.</a:t>
            </a:r>
            <a:endParaRPr lang="en-US" sz="1050" dirty="0"/>
          </a:p>
        </p:txBody>
      </p:sp>
      <p:sp>
        <p:nvSpPr>
          <p:cNvPr id="28" name="Text 25"/>
          <p:cNvSpPr/>
          <p:nvPr/>
        </p:nvSpPr>
        <p:spPr>
          <a:xfrm>
            <a:off x="6313932" y="4690872"/>
            <a:ext cx="2434590" cy="228600"/>
          </a:xfrm>
          <a:prstGeom prst="rect">
            <a:avLst/>
          </a:prstGeom>
          <a:noFill/>
          <a:ln/>
        </p:spPr>
        <p:txBody>
          <a:bodyPr wrap="square" lIns="0" tIns="0" rIns="0" bIns="0" rtlCol="0" anchor="ctr"/>
          <a:lstStyle/>
          <a:p>
            <a:pPr indent="0" marL="0">
              <a:buNone/>
            </a:pPr>
            <a:r>
              <a:rPr lang="en-US" sz="850" i="1" dirty="0">
                <a:solidFill>
                  <a:srgbClr val="5B6778"/>
                </a:solidFill>
                <a:latin typeface="Calibri" pitchFamily="34" charset="0"/>
                <a:ea typeface="Calibri" pitchFamily="34" charset="-122"/>
                <a:cs typeface="Calibri" pitchFamily="34" charset="-120"/>
              </a:rPr>
              <a:t>Core Engineering · ~3,000 engineers</a:t>
            </a:r>
            <a:endParaRPr lang="en-US" sz="850" dirty="0"/>
          </a:p>
        </p:txBody>
      </p:sp>
      <p:sp>
        <p:nvSpPr>
          <p:cNvPr id="29" name="Shape 26"/>
          <p:cNvSpPr/>
          <p:nvPr/>
        </p:nvSpPr>
        <p:spPr>
          <a:xfrm>
            <a:off x="8949690" y="2971800"/>
            <a:ext cx="2663190" cy="2011680"/>
          </a:xfrm>
          <a:prstGeom prst="rect">
            <a:avLst/>
          </a:prstGeom>
          <a:solidFill>
            <a:srgbClr val="FFFFFF"/>
          </a:solidFill>
          <a:ln w="7620">
            <a:solidFill>
              <a:srgbClr val="D6DEE8"/>
            </a:solidFill>
            <a:prstDash val="solid"/>
          </a:ln>
        </p:spPr>
      </p:sp>
      <p:sp>
        <p:nvSpPr>
          <p:cNvPr id="30" name="Shape 27"/>
          <p:cNvSpPr/>
          <p:nvPr/>
        </p:nvSpPr>
        <p:spPr>
          <a:xfrm>
            <a:off x="8949690" y="2971800"/>
            <a:ext cx="2663190" cy="640080"/>
          </a:xfrm>
          <a:prstGeom prst="rect">
            <a:avLst/>
          </a:prstGeom>
          <a:solidFill>
            <a:srgbClr val="0051A5"/>
          </a:solidFill>
          <a:ln/>
        </p:spPr>
      </p:sp>
      <p:sp>
        <p:nvSpPr>
          <p:cNvPr id="31" name="Text 28"/>
          <p:cNvSpPr/>
          <p:nvPr/>
        </p:nvSpPr>
        <p:spPr>
          <a:xfrm>
            <a:off x="9114282" y="3017520"/>
            <a:ext cx="2434590" cy="29260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Barclays</a:t>
            </a:r>
            <a:endParaRPr lang="en-US" sz="1300" dirty="0"/>
          </a:p>
        </p:txBody>
      </p:sp>
      <p:sp>
        <p:nvSpPr>
          <p:cNvPr id="32" name="Text 29"/>
          <p:cNvSpPr/>
          <p:nvPr/>
        </p:nvSpPr>
        <p:spPr>
          <a:xfrm>
            <a:off x="9114282" y="3337560"/>
            <a:ext cx="2434590" cy="228600"/>
          </a:xfrm>
          <a:prstGeom prst="rect">
            <a:avLst/>
          </a:prstGeom>
          <a:noFill/>
          <a:ln/>
        </p:spPr>
        <p:txBody>
          <a:bodyPr wrap="square" lIns="0" tIns="0" rIns="0" bIns="0" rtlCol="0" anchor="ctr"/>
          <a:lstStyle/>
          <a:p>
            <a:pPr indent="0" marL="0">
              <a:buNone/>
            </a:pPr>
            <a:r>
              <a:rPr lang="en-US" sz="1000" i="1" dirty="0">
                <a:solidFill>
                  <a:srgbClr val="FEDF01"/>
                </a:solidFill>
                <a:latin typeface="Calibri" pitchFamily="34" charset="0"/>
                <a:ea typeface="Calibri" pitchFamily="34" charset="-122"/>
                <a:cs typeface="Calibri" pitchFamily="34" charset="-120"/>
              </a:rPr>
              <a:t>SRE / Production-Eng</a:t>
            </a:r>
            <a:endParaRPr lang="en-US" sz="1000" dirty="0"/>
          </a:p>
        </p:txBody>
      </p:sp>
      <p:sp>
        <p:nvSpPr>
          <p:cNvPr id="33" name="Text 30"/>
          <p:cNvSpPr/>
          <p:nvPr/>
        </p:nvSpPr>
        <p:spPr>
          <a:xfrm>
            <a:off x="9114282" y="3749040"/>
            <a:ext cx="2388870" cy="86868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Dedicated SRE function carries the pager in trading platforms, IAM, and dev platforms — closest published analogue.</a:t>
            </a:r>
            <a:endParaRPr lang="en-US" sz="1050" dirty="0"/>
          </a:p>
        </p:txBody>
      </p:sp>
      <p:sp>
        <p:nvSpPr>
          <p:cNvPr id="34" name="Text 31"/>
          <p:cNvSpPr/>
          <p:nvPr/>
        </p:nvSpPr>
        <p:spPr>
          <a:xfrm>
            <a:off x="9114282" y="4690872"/>
            <a:ext cx="2434590" cy="228600"/>
          </a:xfrm>
          <a:prstGeom prst="rect">
            <a:avLst/>
          </a:prstGeom>
          <a:noFill/>
          <a:ln/>
        </p:spPr>
        <p:txBody>
          <a:bodyPr wrap="square" lIns="0" tIns="0" rIns="0" bIns="0" rtlCol="0" anchor="ctr"/>
          <a:lstStyle/>
          <a:p>
            <a:pPr indent="0" marL="0">
              <a:buNone/>
            </a:pPr>
            <a:r>
              <a:rPr lang="en-US" sz="850" i="1" dirty="0">
                <a:solidFill>
                  <a:srgbClr val="5B6778"/>
                </a:solidFill>
                <a:latin typeface="Calibri" pitchFamily="34" charset="0"/>
                <a:ea typeface="Calibri" pitchFamily="34" charset="-122"/>
                <a:cs typeface="Calibri" pitchFamily="34" charset="-120"/>
              </a:rPr>
              <a:t>Especially in Investment Banking</a:t>
            </a:r>
            <a:endParaRPr lang="en-US" sz="850" dirty="0"/>
          </a:p>
        </p:txBody>
      </p:sp>
      <p:sp>
        <p:nvSpPr>
          <p:cNvPr id="35" name="Shape 32"/>
          <p:cNvSpPr/>
          <p:nvPr/>
        </p:nvSpPr>
        <p:spPr>
          <a:xfrm>
            <a:off x="548640" y="5166360"/>
            <a:ext cx="5463540" cy="1234440"/>
          </a:xfrm>
          <a:prstGeom prst="rect">
            <a:avLst/>
          </a:prstGeom>
          <a:solidFill>
            <a:srgbClr val="F6F8FB"/>
          </a:solidFill>
          <a:ln w="6350">
            <a:solidFill>
              <a:srgbClr val="D6DEE8"/>
            </a:solidFill>
            <a:prstDash val="solid"/>
          </a:ln>
        </p:spPr>
      </p:sp>
      <p:sp>
        <p:nvSpPr>
          <p:cNvPr id="36" name="Shape 33"/>
          <p:cNvSpPr/>
          <p:nvPr/>
        </p:nvSpPr>
        <p:spPr>
          <a:xfrm>
            <a:off x="548640" y="5166360"/>
            <a:ext cx="54864" cy="1234440"/>
          </a:xfrm>
          <a:prstGeom prst="rect">
            <a:avLst/>
          </a:prstGeom>
          <a:solidFill>
            <a:srgbClr val="1F8B4C"/>
          </a:solidFill>
          <a:ln/>
        </p:spPr>
      </p:sp>
      <p:sp>
        <p:nvSpPr>
          <p:cNvPr id="37" name="Text 34"/>
          <p:cNvSpPr/>
          <p:nvPr/>
        </p:nvSpPr>
        <p:spPr>
          <a:xfrm>
            <a:off x="777240" y="5239512"/>
            <a:ext cx="5189220" cy="228600"/>
          </a:xfrm>
          <a:prstGeom prst="rect">
            <a:avLst/>
          </a:prstGeom>
          <a:noFill/>
          <a:ln/>
        </p:spPr>
        <p:txBody>
          <a:bodyPr wrap="square" lIns="0" tIns="0" rIns="0" bIns="0" rtlCol="0" anchor="ctr"/>
          <a:lstStyle/>
          <a:p>
            <a:pPr indent="0" marL="0">
              <a:buNone/>
            </a:pPr>
            <a:r>
              <a:rPr lang="en-US" sz="1000" b="1" spc="300" kern="0" dirty="0">
                <a:solidFill>
                  <a:srgbClr val="1F8B4C"/>
                </a:solidFill>
                <a:latin typeface="Trebuchet MS" pitchFamily="34" charset="0"/>
                <a:ea typeface="Trebuchet MS" pitchFamily="34" charset="-122"/>
                <a:cs typeface="Trebuchet MS" pitchFamily="34" charset="-120"/>
              </a:rPr>
              <a:t>✓  WHAT WE ADOPT</a:t>
            </a:r>
            <a:endParaRPr lang="en-US" sz="1000" dirty="0"/>
          </a:p>
        </p:txBody>
      </p:sp>
      <p:sp>
        <p:nvSpPr>
          <p:cNvPr id="38" name="Text 35"/>
          <p:cNvSpPr/>
          <p:nvPr/>
        </p:nvSpPr>
        <p:spPr>
          <a:xfrm>
            <a:off x="777240" y="5486400"/>
            <a:ext cx="5189220" cy="8686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Team Topologies platform team · Google SLOs and error budgets · Platform-as-a-Product mindset · ITIL 4 standard changes · Team APIs · DORA Four Keys.</a:t>
            </a:r>
            <a:endParaRPr lang="en-US" sz="1100" dirty="0"/>
          </a:p>
        </p:txBody>
      </p:sp>
      <p:sp>
        <p:nvSpPr>
          <p:cNvPr id="39" name="Shape 36"/>
          <p:cNvSpPr/>
          <p:nvPr/>
        </p:nvSpPr>
        <p:spPr>
          <a:xfrm>
            <a:off x="6149340" y="5166360"/>
            <a:ext cx="5463540" cy="1234440"/>
          </a:xfrm>
          <a:prstGeom prst="rect">
            <a:avLst/>
          </a:prstGeom>
          <a:solidFill>
            <a:srgbClr val="F6F8FB"/>
          </a:solidFill>
          <a:ln w="6350">
            <a:solidFill>
              <a:srgbClr val="D6DEE8"/>
            </a:solidFill>
            <a:prstDash val="solid"/>
          </a:ln>
        </p:spPr>
      </p:sp>
      <p:sp>
        <p:nvSpPr>
          <p:cNvPr id="40" name="Shape 37"/>
          <p:cNvSpPr/>
          <p:nvPr/>
        </p:nvSpPr>
        <p:spPr>
          <a:xfrm>
            <a:off x="6149340" y="5166360"/>
            <a:ext cx="54864" cy="1234440"/>
          </a:xfrm>
          <a:prstGeom prst="rect">
            <a:avLst/>
          </a:prstGeom>
          <a:solidFill>
            <a:srgbClr val="B91C1C"/>
          </a:solidFill>
          <a:ln/>
        </p:spPr>
      </p:sp>
      <p:sp>
        <p:nvSpPr>
          <p:cNvPr id="41" name="Text 38"/>
          <p:cNvSpPr/>
          <p:nvPr/>
        </p:nvSpPr>
        <p:spPr>
          <a:xfrm>
            <a:off x="6377940" y="5239512"/>
            <a:ext cx="5189220" cy="228600"/>
          </a:xfrm>
          <a:prstGeom prst="rect">
            <a:avLst/>
          </a:prstGeom>
          <a:noFill/>
          <a:ln/>
        </p:spPr>
        <p:txBody>
          <a:bodyPr wrap="square" lIns="0" tIns="0" rIns="0" bIns="0" rtlCol="0" anchor="ctr"/>
          <a:lstStyle/>
          <a:p>
            <a:pPr indent="0" marL="0">
              <a:buNone/>
            </a:pPr>
            <a:r>
              <a:rPr lang="en-US" sz="1000" b="1" spc="300" kern="0" dirty="0">
                <a:solidFill>
                  <a:srgbClr val="B91C1C"/>
                </a:solidFill>
                <a:latin typeface="Trebuchet MS" pitchFamily="34" charset="0"/>
                <a:ea typeface="Trebuchet MS" pitchFamily="34" charset="-122"/>
                <a:cs typeface="Trebuchet MS" pitchFamily="34" charset="-120"/>
              </a:rPr>
              <a:t>✕  WHAT WE DON'T</a:t>
            </a:r>
            <a:endParaRPr lang="en-US" sz="1000" dirty="0"/>
          </a:p>
        </p:txBody>
      </p:sp>
      <p:sp>
        <p:nvSpPr>
          <p:cNvPr id="42" name="Text 39"/>
          <p:cNvSpPr/>
          <p:nvPr/>
        </p:nvSpPr>
        <p:spPr>
          <a:xfrm>
            <a:off x="6377940" y="5486400"/>
            <a:ext cx="5189220" cy="8686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Full-cycle developer on-call · CAB-as-gate · Spotify squad model · centralized shared-pool ops · sysadmin ticket queues separate from engineering backlog.</a:t>
            </a:r>
            <a:endParaRPr lang="en-US" sz="1100" dirty="0"/>
          </a:p>
        </p:txBody>
      </p:sp>
      <p:sp>
        <p:nvSpPr>
          <p:cNvPr id="43" name="Text 4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22 / 30</a:t>
            </a:r>
            <a:endParaRPr lang="en-US" sz="900" dirty="0"/>
          </a:p>
        </p:txBody>
      </p:sp>
      <p:sp>
        <p:nvSpPr>
          <p:cNvPr id="44" name="Text 4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21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Engineers not on-call — the case and the safeguards</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Our most contested choice. Here's the rationale, and how we preserve the engineering–operations feedback loop.</a:t>
            </a:r>
            <a:endParaRPr lang="en-US" sz="1300" dirty="0"/>
          </a:p>
        </p:txBody>
      </p:sp>
      <p:sp>
        <p:nvSpPr>
          <p:cNvPr id="7" name="Shape 4"/>
          <p:cNvSpPr/>
          <p:nvPr/>
        </p:nvSpPr>
        <p:spPr>
          <a:xfrm>
            <a:off x="548640" y="1920240"/>
            <a:ext cx="5440680" cy="4023360"/>
          </a:xfrm>
          <a:prstGeom prst="rect">
            <a:avLst/>
          </a:prstGeom>
          <a:solidFill>
            <a:srgbClr val="F6F8FB"/>
          </a:solidFill>
          <a:ln w="6350">
            <a:solidFill>
              <a:srgbClr val="D6DEE8"/>
            </a:solidFill>
            <a:prstDash val="solid"/>
          </a:ln>
        </p:spPr>
      </p:sp>
      <p:sp>
        <p:nvSpPr>
          <p:cNvPr id="8" name="Shape 5"/>
          <p:cNvSpPr/>
          <p:nvPr/>
        </p:nvSpPr>
        <p:spPr>
          <a:xfrm>
            <a:off x="548640" y="1920240"/>
            <a:ext cx="5440680" cy="502920"/>
          </a:xfrm>
          <a:prstGeom prst="rect">
            <a:avLst/>
          </a:prstGeom>
          <a:solidFill>
            <a:srgbClr val="001F47"/>
          </a:solidFill>
          <a:ln/>
        </p:spPr>
      </p:sp>
      <p:sp>
        <p:nvSpPr>
          <p:cNvPr id="9" name="Text 6"/>
          <p:cNvSpPr/>
          <p:nvPr/>
        </p:nvSpPr>
        <p:spPr>
          <a:xfrm>
            <a:off x="777240" y="2039112"/>
            <a:ext cx="5166360" cy="274320"/>
          </a:xfrm>
          <a:prstGeom prst="rect">
            <a:avLst/>
          </a:prstGeom>
          <a:noFill/>
          <a:ln/>
        </p:spPr>
        <p:txBody>
          <a:bodyPr wrap="square" lIns="0" tIns="0" rIns="0" bIns="0" rtlCol="0" anchor="ctr"/>
          <a:lstStyle/>
          <a:p>
            <a:pPr indent="0" marL="0">
              <a:buNone/>
            </a:pPr>
            <a:r>
              <a:rPr lang="en-US" sz="1100" b="1" spc="300" kern="0" dirty="0">
                <a:solidFill>
                  <a:srgbClr val="FEDF01"/>
                </a:solidFill>
                <a:latin typeface="Trebuchet MS" pitchFamily="34" charset="0"/>
                <a:ea typeface="Trebuchet MS" pitchFamily="34" charset="-122"/>
                <a:cs typeface="Trebuchet MS" pitchFamily="34" charset="-120"/>
              </a:rPr>
              <a:t>WHY OPS-ONLY ON-CALL</a:t>
            </a:r>
            <a:endParaRPr lang="en-US" sz="1100" dirty="0"/>
          </a:p>
        </p:txBody>
      </p:sp>
      <p:sp>
        <p:nvSpPr>
          <p:cNvPr id="10" name="Text 7"/>
          <p:cNvSpPr/>
          <p:nvPr/>
        </p:nvSpPr>
        <p:spPr>
          <a:xfrm>
            <a:off x="777240" y="2560320"/>
            <a:ext cx="457200" cy="365760"/>
          </a:xfrm>
          <a:prstGeom prst="rect">
            <a:avLst/>
          </a:prstGeom>
          <a:noFill/>
          <a:ln/>
        </p:spPr>
        <p:txBody>
          <a:bodyPr wrap="square" lIns="0" tIns="0" rIns="0" bIns="0" rtlCol="0" anchor="ctr"/>
          <a:lstStyle/>
          <a:p>
            <a:pPr indent="0" marL="0">
              <a:buNone/>
            </a:pPr>
            <a:r>
              <a:rPr lang="en-US" sz="2200" b="1" dirty="0">
                <a:solidFill>
                  <a:srgbClr val="0051A5"/>
                </a:solidFill>
                <a:latin typeface="Trebuchet MS" pitchFamily="34" charset="0"/>
                <a:ea typeface="Trebuchet MS" pitchFamily="34" charset="-122"/>
                <a:cs typeface="Trebuchet MS" pitchFamily="34" charset="-120"/>
              </a:rPr>
              <a:t>1</a:t>
            </a:r>
            <a:endParaRPr lang="en-US" sz="2200" dirty="0"/>
          </a:p>
        </p:txBody>
      </p:sp>
      <p:sp>
        <p:nvSpPr>
          <p:cNvPr id="11" name="Text 8"/>
          <p:cNvSpPr/>
          <p:nvPr/>
        </p:nvSpPr>
        <p:spPr>
          <a:xfrm>
            <a:off x="1234440" y="2560320"/>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Regulatory separation of duties</a:t>
            </a:r>
            <a:endParaRPr lang="en-US" sz="1150" dirty="0"/>
          </a:p>
        </p:txBody>
      </p:sp>
      <p:sp>
        <p:nvSpPr>
          <p:cNvPr id="12" name="Text 9"/>
          <p:cNvSpPr/>
          <p:nvPr/>
        </p:nvSpPr>
        <p:spPr>
          <a:xfrm>
            <a:off x="1234440" y="2852928"/>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OSFI B-13 and EU DORA Article 17 require independence of change-approver and change-implementer.</a:t>
            </a:r>
            <a:endParaRPr lang="en-US" sz="1000" dirty="0"/>
          </a:p>
        </p:txBody>
      </p:sp>
      <p:sp>
        <p:nvSpPr>
          <p:cNvPr id="13" name="Text 10"/>
          <p:cNvSpPr/>
          <p:nvPr/>
        </p:nvSpPr>
        <p:spPr>
          <a:xfrm>
            <a:off x="777240" y="3401568"/>
            <a:ext cx="457200" cy="365760"/>
          </a:xfrm>
          <a:prstGeom prst="rect">
            <a:avLst/>
          </a:prstGeom>
          <a:noFill/>
          <a:ln/>
        </p:spPr>
        <p:txBody>
          <a:bodyPr wrap="square" lIns="0" tIns="0" rIns="0" bIns="0" rtlCol="0" anchor="ctr"/>
          <a:lstStyle/>
          <a:p>
            <a:pPr indent="0" marL="0">
              <a:buNone/>
            </a:pPr>
            <a:r>
              <a:rPr lang="en-US" sz="2200" b="1" dirty="0">
                <a:solidFill>
                  <a:srgbClr val="0051A5"/>
                </a:solidFill>
                <a:latin typeface="Trebuchet MS" pitchFamily="34" charset="0"/>
                <a:ea typeface="Trebuchet MS" pitchFamily="34" charset="-122"/>
                <a:cs typeface="Trebuchet MS" pitchFamily="34" charset="-120"/>
              </a:rPr>
              <a:t>2</a:t>
            </a:r>
            <a:endParaRPr lang="en-US" sz="2200" dirty="0"/>
          </a:p>
        </p:txBody>
      </p:sp>
      <p:sp>
        <p:nvSpPr>
          <p:cNvPr id="14" name="Text 11"/>
          <p:cNvSpPr/>
          <p:nvPr/>
        </p:nvSpPr>
        <p:spPr>
          <a:xfrm>
            <a:off x="1234440" y="3401568"/>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Labor and works-council constraints</a:t>
            </a:r>
            <a:endParaRPr lang="en-US" sz="1150" dirty="0"/>
          </a:p>
        </p:txBody>
      </p:sp>
      <p:sp>
        <p:nvSpPr>
          <p:cNvPr id="15" name="Text 12"/>
          <p:cNvSpPr/>
          <p:nvPr/>
        </p:nvSpPr>
        <p:spPr>
          <a:xfrm>
            <a:off x="1234440" y="3694176"/>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24×7 paging rotations for engineers trigger negotiated-pay implications and policy review in the Canadian context.</a:t>
            </a:r>
            <a:endParaRPr lang="en-US" sz="1000" dirty="0"/>
          </a:p>
        </p:txBody>
      </p:sp>
      <p:sp>
        <p:nvSpPr>
          <p:cNvPr id="16" name="Text 13"/>
          <p:cNvSpPr/>
          <p:nvPr/>
        </p:nvSpPr>
        <p:spPr>
          <a:xfrm>
            <a:off x="777240" y="4242816"/>
            <a:ext cx="457200" cy="365760"/>
          </a:xfrm>
          <a:prstGeom prst="rect">
            <a:avLst/>
          </a:prstGeom>
          <a:noFill/>
          <a:ln/>
        </p:spPr>
        <p:txBody>
          <a:bodyPr wrap="square" lIns="0" tIns="0" rIns="0" bIns="0" rtlCol="0" anchor="ctr"/>
          <a:lstStyle/>
          <a:p>
            <a:pPr indent="0" marL="0">
              <a:buNone/>
            </a:pPr>
            <a:r>
              <a:rPr lang="en-US" sz="2200" b="1" dirty="0">
                <a:solidFill>
                  <a:srgbClr val="0051A5"/>
                </a:solidFill>
                <a:latin typeface="Trebuchet MS" pitchFamily="34" charset="0"/>
                <a:ea typeface="Trebuchet MS" pitchFamily="34" charset="-122"/>
                <a:cs typeface="Trebuchet MS" pitchFamily="34" charset="-120"/>
              </a:rPr>
              <a:t>3</a:t>
            </a:r>
            <a:endParaRPr lang="en-US" sz="2200" dirty="0"/>
          </a:p>
        </p:txBody>
      </p:sp>
      <p:sp>
        <p:nvSpPr>
          <p:cNvPr id="17" name="Text 14"/>
          <p:cNvSpPr/>
          <p:nvPr/>
        </p:nvSpPr>
        <p:spPr>
          <a:xfrm>
            <a:off x="1234440" y="4242816"/>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Cost and skill specialization</a:t>
            </a:r>
            <a:endParaRPr lang="en-US" sz="1150" dirty="0"/>
          </a:p>
        </p:txBody>
      </p:sp>
      <p:sp>
        <p:nvSpPr>
          <p:cNvPr id="18" name="Text 15"/>
          <p:cNvSpPr/>
          <p:nvPr/>
        </p:nvSpPr>
        <p:spPr>
          <a:xfrm>
            <a:off x="1234440" y="4535424"/>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Dedicated SREs are more efficient at ops than developers doing it part-time. "One SRE replaces two SWEs doing the same work" — Treynor.</a:t>
            </a:r>
            <a:endParaRPr lang="en-US" sz="1000" dirty="0"/>
          </a:p>
        </p:txBody>
      </p:sp>
      <p:sp>
        <p:nvSpPr>
          <p:cNvPr id="19" name="Text 16"/>
          <p:cNvSpPr/>
          <p:nvPr/>
        </p:nvSpPr>
        <p:spPr>
          <a:xfrm>
            <a:off x="777240" y="5084064"/>
            <a:ext cx="457200" cy="365760"/>
          </a:xfrm>
          <a:prstGeom prst="rect">
            <a:avLst/>
          </a:prstGeom>
          <a:noFill/>
          <a:ln/>
        </p:spPr>
        <p:txBody>
          <a:bodyPr wrap="square" lIns="0" tIns="0" rIns="0" bIns="0" rtlCol="0" anchor="ctr"/>
          <a:lstStyle/>
          <a:p>
            <a:pPr indent="0" marL="0">
              <a:buNone/>
            </a:pPr>
            <a:r>
              <a:rPr lang="en-US" sz="2200" b="1" dirty="0">
                <a:solidFill>
                  <a:srgbClr val="0051A5"/>
                </a:solidFill>
                <a:latin typeface="Trebuchet MS" pitchFamily="34" charset="0"/>
                <a:ea typeface="Trebuchet MS" pitchFamily="34" charset="-122"/>
                <a:cs typeface="Trebuchet MS" pitchFamily="34" charset="-120"/>
              </a:rPr>
              <a:t>4</a:t>
            </a:r>
            <a:endParaRPr lang="en-US" sz="2200" dirty="0"/>
          </a:p>
        </p:txBody>
      </p:sp>
      <p:sp>
        <p:nvSpPr>
          <p:cNvPr id="20" name="Text 17"/>
          <p:cNvSpPr/>
          <p:nvPr/>
        </p:nvSpPr>
        <p:spPr>
          <a:xfrm>
            <a:off x="1234440" y="5084064"/>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Follow-the-sun sustainability</a:t>
            </a:r>
            <a:endParaRPr lang="en-US" sz="1150" dirty="0"/>
          </a:p>
        </p:txBody>
      </p:sp>
      <p:sp>
        <p:nvSpPr>
          <p:cNvPr id="21" name="Text 18"/>
          <p:cNvSpPr/>
          <p:nvPr/>
        </p:nvSpPr>
        <p:spPr>
          <a:xfrm>
            <a:off x="1234440" y="5376672"/>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The Google SRE Workbook itself endorses follow-the-sun ops as the only sustainable way to avoid night shifts at scale.</a:t>
            </a:r>
            <a:endParaRPr lang="en-US" sz="1000" dirty="0"/>
          </a:p>
        </p:txBody>
      </p:sp>
      <p:sp>
        <p:nvSpPr>
          <p:cNvPr id="22" name="Shape 19"/>
          <p:cNvSpPr/>
          <p:nvPr/>
        </p:nvSpPr>
        <p:spPr>
          <a:xfrm>
            <a:off x="6172200" y="1920240"/>
            <a:ext cx="5440680" cy="4023360"/>
          </a:xfrm>
          <a:prstGeom prst="rect">
            <a:avLst/>
          </a:prstGeom>
          <a:solidFill>
            <a:srgbClr val="F6F8FB"/>
          </a:solidFill>
          <a:ln w="6350">
            <a:solidFill>
              <a:srgbClr val="D6DEE8"/>
            </a:solidFill>
            <a:prstDash val="solid"/>
          </a:ln>
        </p:spPr>
      </p:sp>
      <p:sp>
        <p:nvSpPr>
          <p:cNvPr id="23" name="Shape 20"/>
          <p:cNvSpPr/>
          <p:nvPr/>
        </p:nvSpPr>
        <p:spPr>
          <a:xfrm>
            <a:off x="6172200" y="1920240"/>
            <a:ext cx="5440680" cy="502920"/>
          </a:xfrm>
          <a:prstGeom prst="rect">
            <a:avLst/>
          </a:prstGeom>
          <a:solidFill>
            <a:srgbClr val="0051A5"/>
          </a:solidFill>
          <a:ln/>
        </p:spPr>
      </p:sp>
      <p:sp>
        <p:nvSpPr>
          <p:cNvPr id="24" name="Text 21"/>
          <p:cNvSpPr/>
          <p:nvPr/>
        </p:nvSpPr>
        <p:spPr>
          <a:xfrm>
            <a:off x="6400800" y="2039112"/>
            <a:ext cx="5166360" cy="274320"/>
          </a:xfrm>
          <a:prstGeom prst="rect">
            <a:avLst/>
          </a:prstGeom>
          <a:noFill/>
          <a:ln/>
        </p:spPr>
        <p:txBody>
          <a:bodyPr wrap="square" lIns="0" tIns="0" rIns="0" bIns="0" rtlCol="0" anchor="ctr"/>
          <a:lstStyle/>
          <a:p>
            <a:pPr indent="0" marL="0">
              <a:buNone/>
            </a:pPr>
            <a:r>
              <a:rPr lang="en-US" sz="1100" b="1" spc="300" kern="0" dirty="0">
                <a:solidFill>
                  <a:srgbClr val="FEDF01"/>
                </a:solidFill>
                <a:latin typeface="Trebuchet MS" pitchFamily="34" charset="0"/>
                <a:ea typeface="Trebuchet MS" pitchFamily="34" charset="-122"/>
                <a:cs typeface="Trebuchet MS" pitchFamily="34" charset="-120"/>
              </a:rPr>
              <a:t>HOW WE PRESERVE THE FEEDBACK LOOP</a:t>
            </a:r>
            <a:endParaRPr lang="en-US" sz="1100" dirty="0"/>
          </a:p>
        </p:txBody>
      </p:sp>
      <p:sp>
        <p:nvSpPr>
          <p:cNvPr id="25" name="Text 22"/>
          <p:cNvSpPr/>
          <p:nvPr/>
        </p:nvSpPr>
        <p:spPr>
          <a:xfrm>
            <a:off x="6400800" y="2560320"/>
            <a:ext cx="457200" cy="365760"/>
          </a:xfrm>
          <a:prstGeom prst="rect">
            <a:avLst/>
          </a:prstGeom>
          <a:noFill/>
          <a:ln/>
        </p:spPr>
        <p:txBody>
          <a:bodyPr wrap="square" lIns="0" tIns="0" rIns="0" bIns="0" rtlCol="0" anchor="ctr"/>
          <a:lstStyle/>
          <a:p>
            <a:pPr indent="0" marL="0">
              <a:buNone/>
            </a:pPr>
            <a:r>
              <a:rPr lang="en-US" sz="2200" b="1" dirty="0">
                <a:solidFill>
                  <a:srgbClr val="C9AC00"/>
                </a:solidFill>
                <a:latin typeface="Trebuchet MS" pitchFamily="34" charset="0"/>
                <a:ea typeface="Trebuchet MS" pitchFamily="34" charset="-122"/>
                <a:cs typeface="Trebuchet MS" pitchFamily="34" charset="-120"/>
              </a:rPr>
              <a:t>1</a:t>
            </a:r>
            <a:endParaRPr lang="en-US" sz="2200" dirty="0"/>
          </a:p>
        </p:txBody>
      </p:sp>
      <p:sp>
        <p:nvSpPr>
          <p:cNvPr id="26" name="Text 23"/>
          <p:cNvSpPr/>
          <p:nvPr/>
        </p:nvSpPr>
        <p:spPr>
          <a:xfrm>
            <a:off x="6858000" y="2560320"/>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Issues raised as prioritized bugs</a:t>
            </a:r>
            <a:endParaRPr lang="en-US" sz="1150" dirty="0"/>
          </a:p>
        </p:txBody>
      </p:sp>
      <p:sp>
        <p:nvSpPr>
          <p:cNvPr id="27" name="Text 24"/>
          <p:cNvSpPr/>
          <p:nvPr/>
        </p:nvSpPr>
        <p:spPr>
          <a:xfrm>
            <a:off x="6858000" y="2852928"/>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Every production issue enters the same backlog as feature work. Severity drives priority. Team commits to fixes in sprint.</a:t>
            </a:r>
            <a:endParaRPr lang="en-US" sz="1000" dirty="0"/>
          </a:p>
        </p:txBody>
      </p:sp>
      <p:sp>
        <p:nvSpPr>
          <p:cNvPr id="28" name="Text 25"/>
          <p:cNvSpPr/>
          <p:nvPr/>
        </p:nvSpPr>
        <p:spPr>
          <a:xfrm>
            <a:off x="6400800" y="3401568"/>
            <a:ext cx="457200" cy="365760"/>
          </a:xfrm>
          <a:prstGeom prst="rect">
            <a:avLst/>
          </a:prstGeom>
          <a:noFill/>
          <a:ln/>
        </p:spPr>
        <p:txBody>
          <a:bodyPr wrap="square" lIns="0" tIns="0" rIns="0" bIns="0" rtlCol="0" anchor="ctr"/>
          <a:lstStyle/>
          <a:p>
            <a:pPr indent="0" marL="0">
              <a:buNone/>
            </a:pPr>
            <a:r>
              <a:rPr lang="en-US" sz="2200" b="1" dirty="0">
                <a:solidFill>
                  <a:srgbClr val="C9AC00"/>
                </a:solidFill>
                <a:latin typeface="Trebuchet MS" pitchFamily="34" charset="0"/>
                <a:ea typeface="Trebuchet MS" pitchFamily="34" charset="-122"/>
                <a:cs typeface="Trebuchet MS" pitchFamily="34" charset="-120"/>
              </a:rPr>
              <a:t>2</a:t>
            </a:r>
            <a:endParaRPr lang="en-US" sz="2200" dirty="0"/>
          </a:p>
        </p:txBody>
      </p:sp>
      <p:sp>
        <p:nvSpPr>
          <p:cNvPr id="29" name="Text 26"/>
          <p:cNvSpPr/>
          <p:nvPr/>
        </p:nvSpPr>
        <p:spPr>
          <a:xfrm>
            <a:off x="6858000" y="3401568"/>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Error-budget policy co-signed</a:t>
            </a:r>
            <a:endParaRPr lang="en-US" sz="1150" dirty="0"/>
          </a:p>
        </p:txBody>
      </p:sp>
      <p:sp>
        <p:nvSpPr>
          <p:cNvPr id="30" name="Text 27"/>
          <p:cNvSpPr/>
          <p:nvPr/>
        </p:nvSpPr>
        <p:spPr>
          <a:xfrm>
            <a:off x="6858000" y="3694176"/>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PO + Tech Lead + Ops Lead sign a policy. Budget exhaustion triggers feature freeze until reliability is restored.</a:t>
            </a:r>
            <a:endParaRPr lang="en-US" sz="1000" dirty="0"/>
          </a:p>
        </p:txBody>
      </p:sp>
      <p:sp>
        <p:nvSpPr>
          <p:cNvPr id="31" name="Text 28"/>
          <p:cNvSpPr/>
          <p:nvPr/>
        </p:nvSpPr>
        <p:spPr>
          <a:xfrm>
            <a:off x="6400800" y="4242816"/>
            <a:ext cx="457200" cy="365760"/>
          </a:xfrm>
          <a:prstGeom prst="rect">
            <a:avLst/>
          </a:prstGeom>
          <a:noFill/>
          <a:ln/>
        </p:spPr>
        <p:txBody>
          <a:bodyPr wrap="square" lIns="0" tIns="0" rIns="0" bIns="0" rtlCol="0" anchor="ctr"/>
          <a:lstStyle/>
          <a:p>
            <a:pPr indent="0" marL="0">
              <a:buNone/>
            </a:pPr>
            <a:r>
              <a:rPr lang="en-US" sz="2200" b="1" dirty="0">
                <a:solidFill>
                  <a:srgbClr val="C9AC00"/>
                </a:solidFill>
                <a:latin typeface="Trebuchet MS" pitchFamily="34" charset="0"/>
                <a:ea typeface="Trebuchet MS" pitchFamily="34" charset="-122"/>
                <a:cs typeface="Trebuchet MS" pitchFamily="34" charset="-120"/>
              </a:rPr>
              <a:t>3</a:t>
            </a:r>
            <a:endParaRPr lang="en-US" sz="2200" dirty="0"/>
          </a:p>
        </p:txBody>
      </p:sp>
      <p:sp>
        <p:nvSpPr>
          <p:cNvPr id="32" name="Text 29"/>
          <p:cNvSpPr/>
          <p:nvPr/>
        </p:nvSpPr>
        <p:spPr>
          <a:xfrm>
            <a:off x="6858000" y="4242816"/>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Daytime engineering escalation</a:t>
            </a:r>
            <a:endParaRPr lang="en-US" sz="1150" dirty="0"/>
          </a:p>
        </p:txBody>
      </p:sp>
      <p:sp>
        <p:nvSpPr>
          <p:cNvPr id="33" name="Text 30"/>
          <p:cNvSpPr/>
          <p:nvPr/>
        </p:nvSpPr>
        <p:spPr>
          <a:xfrm>
            <a:off x="6858000" y="4535424"/>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Engineers maintain a 24/7 escalation path. Ops can engage engineering during business hours with no ticket queue.</a:t>
            </a:r>
            <a:endParaRPr lang="en-US" sz="1000" dirty="0"/>
          </a:p>
        </p:txBody>
      </p:sp>
      <p:sp>
        <p:nvSpPr>
          <p:cNvPr id="34" name="Text 31"/>
          <p:cNvSpPr/>
          <p:nvPr/>
        </p:nvSpPr>
        <p:spPr>
          <a:xfrm>
            <a:off x="6400800" y="5084064"/>
            <a:ext cx="457200" cy="365760"/>
          </a:xfrm>
          <a:prstGeom prst="rect">
            <a:avLst/>
          </a:prstGeom>
          <a:noFill/>
          <a:ln/>
        </p:spPr>
        <p:txBody>
          <a:bodyPr wrap="square" lIns="0" tIns="0" rIns="0" bIns="0" rtlCol="0" anchor="ctr"/>
          <a:lstStyle/>
          <a:p>
            <a:pPr indent="0" marL="0">
              <a:buNone/>
            </a:pPr>
            <a:r>
              <a:rPr lang="en-US" sz="2200" b="1" dirty="0">
                <a:solidFill>
                  <a:srgbClr val="C9AC00"/>
                </a:solidFill>
                <a:latin typeface="Trebuchet MS" pitchFamily="34" charset="0"/>
                <a:ea typeface="Trebuchet MS" pitchFamily="34" charset="-122"/>
                <a:cs typeface="Trebuchet MS" pitchFamily="34" charset="-120"/>
              </a:rPr>
              <a:t>4</a:t>
            </a:r>
            <a:endParaRPr lang="en-US" sz="2200" dirty="0"/>
          </a:p>
        </p:txBody>
      </p:sp>
      <p:sp>
        <p:nvSpPr>
          <p:cNvPr id="35" name="Text 32"/>
          <p:cNvSpPr/>
          <p:nvPr/>
        </p:nvSpPr>
        <p:spPr>
          <a:xfrm>
            <a:off x="6858000" y="5084064"/>
            <a:ext cx="4572000" cy="274320"/>
          </a:xfrm>
          <a:prstGeom prst="rect">
            <a:avLst/>
          </a:prstGeom>
          <a:noFill/>
          <a:ln/>
        </p:spPr>
        <p:txBody>
          <a:bodyPr wrap="square" lIns="0" tIns="0" rIns="0" bIns="0" rtlCol="0" anchor="ctr"/>
          <a:lstStyle/>
          <a:p>
            <a:pPr indent="0" marL="0">
              <a:buNone/>
            </a:pPr>
            <a:r>
              <a:rPr lang="en-US" sz="1150" b="1" dirty="0">
                <a:solidFill>
                  <a:srgbClr val="001F47"/>
                </a:solidFill>
                <a:latin typeface="Trebuchet MS" pitchFamily="34" charset="0"/>
                <a:ea typeface="Trebuchet MS" pitchFamily="34" charset="-122"/>
                <a:cs typeface="Trebuchet MS" pitchFamily="34" charset="-120"/>
              </a:rPr>
              <a:t>"Return the pager" option</a:t>
            </a:r>
            <a:endParaRPr lang="en-US" sz="1150" dirty="0"/>
          </a:p>
        </p:txBody>
      </p:sp>
      <p:sp>
        <p:nvSpPr>
          <p:cNvPr id="36" name="Text 33"/>
          <p:cNvSpPr/>
          <p:nvPr/>
        </p:nvSpPr>
        <p:spPr>
          <a:xfrm>
            <a:off x="6858000" y="5376672"/>
            <a:ext cx="4572000" cy="50292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If SLOs persistently miss, ops can return the pager to engineering. Makes engineers' commitment to operability concrete.</a:t>
            </a:r>
            <a:endParaRPr lang="en-US" sz="1000" dirty="0"/>
          </a:p>
        </p:txBody>
      </p:sp>
      <p:sp>
        <p:nvSpPr>
          <p:cNvPr id="37" name="Shape 34"/>
          <p:cNvSpPr/>
          <p:nvPr/>
        </p:nvSpPr>
        <p:spPr>
          <a:xfrm>
            <a:off x="548640" y="6080760"/>
            <a:ext cx="11064240" cy="365760"/>
          </a:xfrm>
          <a:prstGeom prst="rect">
            <a:avLst/>
          </a:prstGeom>
          <a:solidFill>
            <a:srgbClr val="E6EEF8"/>
          </a:solidFill>
          <a:ln/>
        </p:spPr>
      </p:sp>
      <p:sp>
        <p:nvSpPr>
          <p:cNvPr id="38" name="Text 35"/>
          <p:cNvSpPr/>
          <p:nvPr/>
        </p:nvSpPr>
        <p:spPr>
          <a:xfrm>
            <a:off x="777240" y="6080760"/>
            <a:ext cx="10607040" cy="365760"/>
          </a:xfrm>
          <a:prstGeom prst="rect">
            <a:avLst/>
          </a:prstGeom>
          <a:noFill/>
          <a:ln/>
        </p:spPr>
        <p:txBody>
          <a:bodyPr wrap="square" lIns="0" tIns="0" rIns="0" bIns="0" rtlCol="0" anchor="ctr"/>
          <a:lstStyle/>
          <a:p>
            <a:pPr indent="0" marL="0">
              <a:buNone/>
            </a:pPr>
            <a:r>
              <a:rPr lang="en-US" sz="1050" i="1" dirty="0">
                <a:solidFill>
                  <a:srgbClr val="001F47"/>
                </a:solidFill>
                <a:latin typeface="Calibri" pitchFamily="34" charset="0"/>
                <a:ea typeface="Calibri" pitchFamily="34" charset="-122"/>
                <a:cs typeface="Calibri" pitchFamily="34" charset="-120"/>
              </a:rPr>
              <a:t>Closest published peers: Barclays SRE/Production-Engineering · Goldman Sachs Systems Engineering · DBS dedicated SRE function — all combine product-team accountability with dedicated ops in a regulated context.</a:t>
            </a:r>
            <a:endParaRPr lang="en-US" sz="1050" dirty="0"/>
          </a:p>
        </p:txBody>
      </p:sp>
      <p:sp>
        <p:nvSpPr>
          <p:cNvPr id="39" name="Text 36"/>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23 / 30</a:t>
            </a:r>
            <a:endParaRPr lang="en-US" sz="900" dirty="0"/>
          </a:p>
        </p:txBody>
      </p:sp>
      <p:sp>
        <p:nvSpPr>
          <p:cNvPr id="40" name="Text 37"/>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22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The four risks we must manage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What could go wrong with this operating model — and how we mitigate.</a:t>
            </a:r>
            <a:endParaRPr lang="en-US" sz="1300" dirty="0"/>
          </a:p>
        </p:txBody>
      </p:sp>
      <p:sp>
        <p:nvSpPr>
          <p:cNvPr id="7" name="Shape 4"/>
          <p:cNvSpPr/>
          <p:nvPr/>
        </p:nvSpPr>
        <p:spPr>
          <a:xfrm>
            <a:off x="548640" y="1920240"/>
            <a:ext cx="5440680" cy="2194560"/>
          </a:xfrm>
          <a:prstGeom prst="rect">
            <a:avLst/>
          </a:prstGeom>
          <a:solidFill>
            <a:srgbClr val="FFFFFF"/>
          </a:solidFill>
          <a:ln w="7620">
            <a:solidFill>
              <a:srgbClr val="D6DEE8"/>
            </a:solidFill>
            <a:prstDash val="solid"/>
          </a:ln>
        </p:spPr>
      </p:sp>
      <p:sp>
        <p:nvSpPr>
          <p:cNvPr id="8" name="Shape 5"/>
          <p:cNvSpPr/>
          <p:nvPr/>
        </p:nvSpPr>
        <p:spPr>
          <a:xfrm>
            <a:off x="548640" y="1920240"/>
            <a:ext cx="5440680" cy="457200"/>
          </a:xfrm>
          <a:prstGeom prst="rect">
            <a:avLst/>
          </a:prstGeom>
          <a:solidFill>
            <a:srgbClr val="001F47"/>
          </a:solidFill>
          <a:ln/>
        </p:spPr>
      </p:sp>
      <p:sp>
        <p:nvSpPr>
          <p:cNvPr id="9" name="Shape 6"/>
          <p:cNvSpPr/>
          <p:nvPr/>
        </p:nvSpPr>
        <p:spPr>
          <a:xfrm>
            <a:off x="548640" y="1920240"/>
            <a:ext cx="502920" cy="457200"/>
          </a:xfrm>
          <a:prstGeom prst="rect">
            <a:avLst/>
          </a:prstGeom>
          <a:solidFill>
            <a:srgbClr val="FEDF01"/>
          </a:solidFill>
          <a:ln/>
        </p:spPr>
      </p:sp>
      <p:sp>
        <p:nvSpPr>
          <p:cNvPr id="10" name="Text 7"/>
          <p:cNvSpPr/>
          <p:nvPr/>
        </p:nvSpPr>
        <p:spPr>
          <a:xfrm>
            <a:off x="548640" y="1920240"/>
            <a:ext cx="502920" cy="45720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1</a:t>
            </a:r>
            <a:endParaRPr lang="en-US" sz="2200" dirty="0"/>
          </a:p>
        </p:txBody>
      </p:sp>
      <p:sp>
        <p:nvSpPr>
          <p:cNvPr id="11" name="Text 8"/>
          <p:cNvSpPr/>
          <p:nvPr/>
        </p:nvSpPr>
        <p:spPr>
          <a:xfrm>
            <a:off x="1188720" y="1920240"/>
            <a:ext cx="4709160" cy="4572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Ops as human abstraction layer</a:t>
            </a:r>
            <a:endParaRPr lang="en-US" sz="1300" dirty="0"/>
          </a:p>
        </p:txBody>
      </p:sp>
      <p:sp>
        <p:nvSpPr>
          <p:cNvPr id="12" name="Text 9"/>
          <p:cNvSpPr/>
          <p:nvPr/>
        </p:nvSpPr>
        <p:spPr>
          <a:xfrm>
            <a:off x="731520" y="2487168"/>
            <a:ext cx="507492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RISK</a:t>
            </a:r>
            <a:endParaRPr lang="en-US" sz="900" dirty="0"/>
          </a:p>
        </p:txBody>
      </p:sp>
      <p:sp>
        <p:nvSpPr>
          <p:cNvPr id="13" name="Text 10"/>
          <p:cNvSpPr/>
          <p:nvPr/>
        </p:nvSpPr>
        <p:spPr>
          <a:xfrm>
            <a:off x="731520" y="2697480"/>
            <a:ext cx="5074920" cy="5029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Ops absorbs production pain that should reach engineering. Engineers drift away from operational reality.</a:t>
            </a:r>
            <a:endParaRPr lang="en-US" sz="1050" dirty="0"/>
          </a:p>
        </p:txBody>
      </p:sp>
      <p:sp>
        <p:nvSpPr>
          <p:cNvPr id="14" name="Shape 11"/>
          <p:cNvSpPr/>
          <p:nvPr/>
        </p:nvSpPr>
        <p:spPr>
          <a:xfrm>
            <a:off x="731520" y="3246120"/>
            <a:ext cx="365760" cy="36576"/>
          </a:xfrm>
          <a:prstGeom prst="rect">
            <a:avLst/>
          </a:prstGeom>
          <a:solidFill>
            <a:srgbClr val="FEDF01"/>
          </a:solidFill>
          <a:ln/>
        </p:spPr>
      </p:sp>
      <p:sp>
        <p:nvSpPr>
          <p:cNvPr id="15" name="Text 12"/>
          <p:cNvSpPr/>
          <p:nvPr/>
        </p:nvSpPr>
        <p:spPr>
          <a:xfrm>
            <a:off x="731520" y="3337560"/>
            <a:ext cx="507492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MITIGATION</a:t>
            </a:r>
            <a:endParaRPr lang="en-US" sz="900" dirty="0"/>
          </a:p>
        </p:txBody>
      </p:sp>
      <p:sp>
        <p:nvSpPr>
          <p:cNvPr id="16" name="Text 13"/>
          <p:cNvSpPr/>
          <p:nvPr/>
        </p:nvSpPr>
        <p:spPr>
          <a:xfrm>
            <a:off x="731520" y="3547872"/>
            <a:ext cx="5074920" cy="502920"/>
          </a:xfrm>
          <a:prstGeom prst="rect">
            <a:avLst/>
          </a:prstGeom>
          <a:noFill/>
          <a:ln/>
        </p:spPr>
        <p:txBody>
          <a:bodyPr wrap="square" lIns="0" tIns="0" rIns="0" bIns="0" rtlCol="0" anchor="ctr"/>
          <a:lstStyle/>
          <a:p>
            <a:pPr indent="0" marL="0">
              <a:buNone/>
            </a:pPr>
            <a:r>
              <a:rPr lang="en-US" sz="1050" dirty="0">
                <a:solidFill>
                  <a:srgbClr val="001F47"/>
                </a:solidFill>
                <a:latin typeface="Calibri" pitchFamily="34" charset="0"/>
                <a:ea typeface="Calibri" pitchFamily="34" charset="-122"/>
                <a:cs typeface="Calibri" pitchFamily="34" charset="-120"/>
              </a:rPr>
              <a:t>Error-budget policy with feature freeze when budget burns · option to return the pager · track production-bug % of sprint capacity as leading indicator.</a:t>
            </a:r>
            <a:endParaRPr lang="en-US" sz="1050" dirty="0"/>
          </a:p>
        </p:txBody>
      </p:sp>
      <p:sp>
        <p:nvSpPr>
          <p:cNvPr id="17" name="Shape 14"/>
          <p:cNvSpPr/>
          <p:nvPr/>
        </p:nvSpPr>
        <p:spPr>
          <a:xfrm>
            <a:off x="6172200" y="1920240"/>
            <a:ext cx="5440680" cy="2194560"/>
          </a:xfrm>
          <a:prstGeom prst="rect">
            <a:avLst/>
          </a:prstGeom>
          <a:solidFill>
            <a:srgbClr val="FFFFFF"/>
          </a:solidFill>
          <a:ln w="7620">
            <a:solidFill>
              <a:srgbClr val="D6DEE8"/>
            </a:solidFill>
            <a:prstDash val="solid"/>
          </a:ln>
        </p:spPr>
      </p:sp>
      <p:sp>
        <p:nvSpPr>
          <p:cNvPr id="18" name="Shape 15"/>
          <p:cNvSpPr/>
          <p:nvPr/>
        </p:nvSpPr>
        <p:spPr>
          <a:xfrm>
            <a:off x="6172200" y="1920240"/>
            <a:ext cx="5440680" cy="457200"/>
          </a:xfrm>
          <a:prstGeom prst="rect">
            <a:avLst/>
          </a:prstGeom>
          <a:solidFill>
            <a:srgbClr val="001F47"/>
          </a:solidFill>
          <a:ln/>
        </p:spPr>
      </p:sp>
      <p:sp>
        <p:nvSpPr>
          <p:cNvPr id="19" name="Shape 16"/>
          <p:cNvSpPr/>
          <p:nvPr/>
        </p:nvSpPr>
        <p:spPr>
          <a:xfrm>
            <a:off x="6172200" y="1920240"/>
            <a:ext cx="502920" cy="457200"/>
          </a:xfrm>
          <a:prstGeom prst="rect">
            <a:avLst/>
          </a:prstGeom>
          <a:solidFill>
            <a:srgbClr val="FEDF01"/>
          </a:solidFill>
          <a:ln/>
        </p:spPr>
      </p:sp>
      <p:sp>
        <p:nvSpPr>
          <p:cNvPr id="20" name="Text 17"/>
          <p:cNvSpPr/>
          <p:nvPr/>
        </p:nvSpPr>
        <p:spPr>
          <a:xfrm>
            <a:off x="6172200" y="1920240"/>
            <a:ext cx="502920" cy="45720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2</a:t>
            </a:r>
            <a:endParaRPr lang="en-US" sz="2200" dirty="0"/>
          </a:p>
        </p:txBody>
      </p:sp>
      <p:sp>
        <p:nvSpPr>
          <p:cNvPr id="21" name="Text 18"/>
          <p:cNvSpPr/>
          <p:nvPr/>
        </p:nvSpPr>
        <p:spPr>
          <a:xfrm>
            <a:off x="6812280" y="1920240"/>
            <a:ext cx="4709160" cy="4572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Ops as ticket-handling sysadmin</a:t>
            </a:r>
            <a:endParaRPr lang="en-US" sz="1300" dirty="0"/>
          </a:p>
        </p:txBody>
      </p:sp>
      <p:sp>
        <p:nvSpPr>
          <p:cNvPr id="22" name="Text 19"/>
          <p:cNvSpPr/>
          <p:nvPr/>
        </p:nvSpPr>
        <p:spPr>
          <a:xfrm>
            <a:off x="6355080" y="2487168"/>
            <a:ext cx="507492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RISK</a:t>
            </a:r>
            <a:endParaRPr lang="en-US" sz="900" dirty="0"/>
          </a:p>
        </p:txBody>
      </p:sp>
      <p:sp>
        <p:nvSpPr>
          <p:cNvPr id="23" name="Text 20"/>
          <p:cNvSpPr/>
          <p:nvPr/>
        </p:nvSpPr>
        <p:spPr>
          <a:xfrm>
            <a:off x="6355080" y="2697480"/>
            <a:ext cx="5074920" cy="5029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If ops seats are filled by traditional sysadmins, the team bottlenecks on tickets. Backlog fills with low-value items.</a:t>
            </a:r>
            <a:endParaRPr lang="en-US" sz="1050" dirty="0"/>
          </a:p>
        </p:txBody>
      </p:sp>
      <p:sp>
        <p:nvSpPr>
          <p:cNvPr id="24" name="Shape 21"/>
          <p:cNvSpPr/>
          <p:nvPr/>
        </p:nvSpPr>
        <p:spPr>
          <a:xfrm>
            <a:off x="6355080" y="3246120"/>
            <a:ext cx="365760" cy="36576"/>
          </a:xfrm>
          <a:prstGeom prst="rect">
            <a:avLst/>
          </a:prstGeom>
          <a:solidFill>
            <a:srgbClr val="FEDF01"/>
          </a:solidFill>
          <a:ln/>
        </p:spPr>
      </p:sp>
      <p:sp>
        <p:nvSpPr>
          <p:cNvPr id="25" name="Text 22"/>
          <p:cNvSpPr/>
          <p:nvPr/>
        </p:nvSpPr>
        <p:spPr>
          <a:xfrm>
            <a:off x="6355080" y="3337560"/>
            <a:ext cx="507492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MITIGATION</a:t>
            </a:r>
            <a:endParaRPr lang="en-US" sz="900" dirty="0"/>
          </a:p>
        </p:txBody>
      </p:sp>
      <p:sp>
        <p:nvSpPr>
          <p:cNvPr id="26" name="Text 23"/>
          <p:cNvSpPr/>
          <p:nvPr/>
        </p:nvSpPr>
        <p:spPr>
          <a:xfrm>
            <a:off x="6355080" y="3547872"/>
            <a:ext cx="5074920" cy="502920"/>
          </a:xfrm>
          <a:prstGeom prst="rect">
            <a:avLst/>
          </a:prstGeom>
          <a:noFill/>
          <a:ln/>
        </p:spPr>
        <p:txBody>
          <a:bodyPr wrap="square" lIns="0" tIns="0" rIns="0" bIns="0" rtlCol="0" anchor="ctr"/>
          <a:lstStyle/>
          <a:p>
            <a:pPr indent="0" marL="0">
              <a:buNone/>
            </a:pPr>
            <a:r>
              <a:rPr lang="en-US" sz="1050" dirty="0">
                <a:solidFill>
                  <a:srgbClr val="001F47"/>
                </a:solidFill>
                <a:latin typeface="Calibri" pitchFamily="34" charset="0"/>
                <a:ea typeface="Calibri" pitchFamily="34" charset="-122"/>
                <a:cs typeface="Calibri" pitchFamily="34" charset="-120"/>
              </a:rPr>
              <a:t>Hire SREs against software-engineering bar · pay on engineering scale · enforce 50% toil cap per Google SRE.</a:t>
            </a:r>
            <a:endParaRPr lang="en-US" sz="1050" dirty="0"/>
          </a:p>
        </p:txBody>
      </p:sp>
      <p:sp>
        <p:nvSpPr>
          <p:cNvPr id="27" name="Shape 24"/>
          <p:cNvSpPr/>
          <p:nvPr/>
        </p:nvSpPr>
        <p:spPr>
          <a:xfrm>
            <a:off x="548640" y="4297680"/>
            <a:ext cx="5440680" cy="2194560"/>
          </a:xfrm>
          <a:prstGeom prst="rect">
            <a:avLst/>
          </a:prstGeom>
          <a:solidFill>
            <a:srgbClr val="FFFFFF"/>
          </a:solidFill>
          <a:ln w="7620">
            <a:solidFill>
              <a:srgbClr val="D6DEE8"/>
            </a:solidFill>
            <a:prstDash val="solid"/>
          </a:ln>
        </p:spPr>
      </p:sp>
      <p:sp>
        <p:nvSpPr>
          <p:cNvPr id="28" name="Shape 25"/>
          <p:cNvSpPr/>
          <p:nvPr/>
        </p:nvSpPr>
        <p:spPr>
          <a:xfrm>
            <a:off x="548640" y="4297680"/>
            <a:ext cx="5440680" cy="457200"/>
          </a:xfrm>
          <a:prstGeom prst="rect">
            <a:avLst/>
          </a:prstGeom>
          <a:solidFill>
            <a:srgbClr val="001F47"/>
          </a:solidFill>
          <a:ln/>
        </p:spPr>
      </p:sp>
      <p:sp>
        <p:nvSpPr>
          <p:cNvPr id="29" name="Shape 26"/>
          <p:cNvSpPr/>
          <p:nvPr/>
        </p:nvSpPr>
        <p:spPr>
          <a:xfrm>
            <a:off x="548640" y="4297680"/>
            <a:ext cx="502920" cy="457200"/>
          </a:xfrm>
          <a:prstGeom prst="rect">
            <a:avLst/>
          </a:prstGeom>
          <a:solidFill>
            <a:srgbClr val="FEDF01"/>
          </a:solidFill>
          <a:ln/>
        </p:spPr>
      </p:sp>
      <p:sp>
        <p:nvSpPr>
          <p:cNvPr id="30" name="Text 27"/>
          <p:cNvSpPr/>
          <p:nvPr/>
        </p:nvSpPr>
        <p:spPr>
          <a:xfrm>
            <a:off x="548640" y="4297680"/>
            <a:ext cx="502920" cy="45720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3</a:t>
            </a:r>
            <a:endParaRPr lang="en-US" sz="2200" dirty="0"/>
          </a:p>
        </p:txBody>
      </p:sp>
      <p:sp>
        <p:nvSpPr>
          <p:cNvPr id="31" name="Text 28"/>
          <p:cNvSpPr/>
          <p:nvPr/>
        </p:nvSpPr>
        <p:spPr>
          <a:xfrm>
            <a:off x="1188720" y="4297680"/>
            <a:ext cx="4709160" cy="4572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Two backlogs masquerading as one</a:t>
            </a:r>
            <a:endParaRPr lang="en-US" sz="1300" dirty="0"/>
          </a:p>
        </p:txBody>
      </p:sp>
      <p:sp>
        <p:nvSpPr>
          <p:cNvPr id="32" name="Text 29"/>
          <p:cNvSpPr/>
          <p:nvPr/>
        </p:nvSpPr>
        <p:spPr>
          <a:xfrm>
            <a:off x="731520" y="4864608"/>
            <a:ext cx="507492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RISK</a:t>
            </a:r>
            <a:endParaRPr lang="en-US" sz="900" dirty="0"/>
          </a:p>
        </p:txBody>
      </p:sp>
      <p:sp>
        <p:nvSpPr>
          <p:cNvPr id="33" name="Text 30"/>
          <p:cNvSpPr/>
          <p:nvPr/>
        </p:nvSpPr>
        <p:spPr>
          <a:xfrm>
            <a:off x="731520" y="5074920"/>
            <a:ext cx="5074920" cy="5029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Even with a shared backlog, ops work can drift into a parallel queue invisible to the Product Owner.</a:t>
            </a:r>
            <a:endParaRPr lang="en-US" sz="1050" dirty="0"/>
          </a:p>
        </p:txBody>
      </p:sp>
      <p:sp>
        <p:nvSpPr>
          <p:cNvPr id="34" name="Shape 31"/>
          <p:cNvSpPr/>
          <p:nvPr/>
        </p:nvSpPr>
        <p:spPr>
          <a:xfrm>
            <a:off x="731520" y="5623560"/>
            <a:ext cx="365760" cy="36576"/>
          </a:xfrm>
          <a:prstGeom prst="rect">
            <a:avLst/>
          </a:prstGeom>
          <a:solidFill>
            <a:srgbClr val="FEDF01"/>
          </a:solidFill>
          <a:ln/>
        </p:spPr>
      </p:sp>
      <p:sp>
        <p:nvSpPr>
          <p:cNvPr id="35" name="Text 32"/>
          <p:cNvSpPr/>
          <p:nvPr/>
        </p:nvSpPr>
        <p:spPr>
          <a:xfrm>
            <a:off x="731520" y="5715000"/>
            <a:ext cx="507492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MITIGATION</a:t>
            </a:r>
            <a:endParaRPr lang="en-US" sz="900" dirty="0"/>
          </a:p>
        </p:txBody>
      </p:sp>
      <p:sp>
        <p:nvSpPr>
          <p:cNvPr id="36" name="Text 33"/>
          <p:cNvSpPr/>
          <p:nvPr/>
        </p:nvSpPr>
        <p:spPr>
          <a:xfrm>
            <a:off x="731520" y="5925312"/>
            <a:ext cx="5074920" cy="502920"/>
          </a:xfrm>
          <a:prstGeom prst="rect">
            <a:avLst/>
          </a:prstGeom>
          <a:noFill/>
          <a:ln/>
        </p:spPr>
        <p:txBody>
          <a:bodyPr wrap="square" lIns="0" tIns="0" rIns="0" bIns="0" rtlCol="0" anchor="ctr"/>
          <a:lstStyle/>
          <a:p>
            <a:pPr indent="0" marL="0">
              <a:buNone/>
            </a:pPr>
            <a:r>
              <a:rPr lang="en-US" sz="1050" dirty="0">
                <a:solidFill>
                  <a:srgbClr val="001F47"/>
                </a:solidFill>
                <a:latin typeface="Calibri" pitchFamily="34" charset="0"/>
                <a:ea typeface="Calibri" pitchFamily="34" charset="-122"/>
                <a:cs typeface="Calibri" pitchFamily="34" charset="-120"/>
              </a:rPr>
              <a:t>Ops items as first-class stories with story points and acceptance criteria · joint DORA Four Keys + SLO + toil % metrics.</a:t>
            </a:r>
            <a:endParaRPr lang="en-US" sz="1050" dirty="0"/>
          </a:p>
        </p:txBody>
      </p:sp>
      <p:sp>
        <p:nvSpPr>
          <p:cNvPr id="37" name="Shape 34"/>
          <p:cNvSpPr/>
          <p:nvPr/>
        </p:nvSpPr>
        <p:spPr>
          <a:xfrm>
            <a:off x="6172200" y="4297680"/>
            <a:ext cx="5440680" cy="2194560"/>
          </a:xfrm>
          <a:prstGeom prst="rect">
            <a:avLst/>
          </a:prstGeom>
          <a:solidFill>
            <a:srgbClr val="FFFFFF"/>
          </a:solidFill>
          <a:ln w="7620">
            <a:solidFill>
              <a:srgbClr val="D6DEE8"/>
            </a:solidFill>
            <a:prstDash val="solid"/>
          </a:ln>
        </p:spPr>
      </p:sp>
      <p:sp>
        <p:nvSpPr>
          <p:cNvPr id="38" name="Shape 35"/>
          <p:cNvSpPr/>
          <p:nvPr/>
        </p:nvSpPr>
        <p:spPr>
          <a:xfrm>
            <a:off x="6172200" y="4297680"/>
            <a:ext cx="5440680" cy="457200"/>
          </a:xfrm>
          <a:prstGeom prst="rect">
            <a:avLst/>
          </a:prstGeom>
          <a:solidFill>
            <a:srgbClr val="001F47"/>
          </a:solidFill>
          <a:ln/>
        </p:spPr>
      </p:sp>
      <p:sp>
        <p:nvSpPr>
          <p:cNvPr id="39" name="Shape 36"/>
          <p:cNvSpPr/>
          <p:nvPr/>
        </p:nvSpPr>
        <p:spPr>
          <a:xfrm>
            <a:off x="6172200" y="4297680"/>
            <a:ext cx="502920" cy="457200"/>
          </a:xfrm>
          <a:prstGeom prst="rect">
            <a:avLst/>
          </a:prstGeom>
          <a:solidFill>
            <a:srgbClr val="FEDF01"/>
          </a:solidFill>
          <a:ln/>
        </p:spPr>
      </p:sp>
      <p:sp>
        <p:nvSpPr>
          <p:cNvPr id="40" name="Text 37"/>
          <p:cNvSpPr/>
          <p:nvPr/>
        </p:nvSpPr>
        <p:spPr>
          <a:xfrm>
            <a:off x="6172200" y="4297680"/>
            <a:ext cx="502920" cy="457200"/>
          </a:xfrm>
          <a:prstGeom prst="rect">
            <a:avLst/>
          </a:prstGeom>
          <a:noFill/>
          <a:ln/>
        </p:spPr>
        <p:txBody>
          <a:bodyPr wrap="square" lIns="0" tIns="0" rIns="0" bIns="0" rtlCol="0" anchor="ctr"/>
          <a:lstStyle/>
          <a:p>
            <a:pPr algn="ctr" indent="0" marL="0">
              <a:buNone/>
            </a:pPr>
            <a:r>
              <a:rPr lang="en-US" sz="2200" b="1" dirty="0">
                <a:solidFill>
                  <a:srgbClr val="001F47"/>
                </a:solidFill>
                <a:latin typeface="Trebuchet MS" pitchFamily="34" charset="0"/>
                <a:ea typeface="Trebuchet MS" pitchFamily="34" charset="-122"/>
                <a:cs typeface="Trebuchet MS" pitchFamily="34" charset="-120"/>
              </a:rPr>
              <a:t>4</a:t>
            </a:r>
            <a:endParaRPr lang="en-US" sz="2200" dirty="0"/>
          </a:p>
        </p:txBody>
      </p:sp>
      <p:sp>
        <p:nvSpPr>
          <p:cNvPr id="41" name="Text 38"/>
          <p:cNvSpPr/>
          <p:nvPr/>
        </p:nvSpPr>
        <p:spPr>
          <a:xfrm>
            <a:off x="6812280" y="4297680"/>
            <a:ext cx="4709160" cy="45720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Platform nobody uses</a:t>
            </a:r>
            <a:endParaRPr lang="en-US" sz="1300" dirty="0"/>
          </a:p>
        </p:txBody>
      </p:sp>
      <p:sp>
        <p:nvSpPr>
          <p:cNvPr id="42" name="Text 39"/>
          <p:cNvSpPr/>
          <p:nvPr/>
        </p:nvSpPr>
        <p:spPr>
          <a:xfrm>
            <a:off x="6355080" y="4864608"/>
            <a:ext cx="507492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RISK</a:t>
            </a:r>
            <a:endParaRPr lang="en-US" sz="900" dirty="0"/>
          </a:p>
        </p:txBody>
      </p:sp>
      <p:sp>
        <p:nvSpPr>
          <p:cNvPr id="43" name="Text 40"/>
          <p:cNvSpPr/>
          <p:nvPr/>
        </p:nvSpPr>
        <p:spPr>
          <a:xfrm>
            <a:off x="6355080" y="5074920"/>
            <a:ext cx="5074920" cy="50292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Long-lived platform teams without internal-customer feedback build the wrong things at the wrong time.</a:t>
            </a:r>
            <a:endParaRPr lang="en-US" sz="1050" dirty="0"/>
          </a:p>
        </p:txBody>
      </p:sp>
      <p:sp>
        <p:nvSpPr>
          <p:cNvPr id="44" name="Shape 41"/>
          <p:cNvSpPr/>
          <p:nvPr/>
        </p:nvSpPr>
        <p:spPr>
          <a:xfrm>
            <a:off x="6355080" y="5623560"/>
            <a:ext cx="365760" cy="36576"/>
          </a:xfrm>
          <a:prstGeom prst="rect">
            <a:avLst/>
          </a:prstGeom>
          <a:solidFill>
            <a:srgbClr val="FEDF01"/>
          </a:solidFill>
          <a:ln/>
        </p:spPr>
      </p:sp>
      <p:sp>
        <p:nvSpPr>
          <p:cNvPr id="45" name="Text 42"/>
          <p:cNvSpPr/>
          <p:nvPr/>
        </p:nvSpPr>
        <p:spPr>
          <a:xfrm>
            <a:off x="6355080" y="5715000"/>
            <a:ext cx="507492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MITIGATION</a:t>
            </a:r>
            <a:endParaRPr lang="en-US" sz="900" dirty="0"/>
          </a:p>
        </p:txBody>
      </p:sp>
      <p:sp>
        <p:nvSpPr>
          <p:cNvPr id="46" name="Text 43"/>
          <p:cNvSpPr/>
          <p:nvPr/>
        </p:nvSpPr>
        <p:spPr>
          <a:xfrm>
            <a:off x="6355080" y="5925312"/>
            <a:ext cx="5074920" cy="502920"/>
          </a:xfrm>
          <a:prstGeom prst="rect">
            <a:avLst/>
          </a:prstGeom>
          <a:noFill/>
          <a:ln/>
        </p:spPr>
        <p:txBody>
          <a:bodyPr wrap="square" lIns="0" tIns="0" rIns="0" bIns="0" rtlCol="0" anchor="ctr"/>
          <a:lstStyle/>
          <a:p>
            <a:pPr indent="0" marL="0">
              <a:buNone/>
            </a:pPr>
            <a:r>
              <a:rPr lang="en-US" sz="1050" dirty="0">
                <a:solidFill>
                  <a:srgbClr val="001F47"/>
                </a:solidFill>
                <a:latin typeface="Calibri" pitchFamily="34" charset="0"/>
                <a:ea typeface="Calibri" pitchFamily="34" charset="-122"/>
                <a:cs typeface="Calibri" pitchFamily="34" charset="-120"/>
              </a:rPr>
              <a:t>Publish a Team API · treat platform as product with PM and adoption metrics · start with Thinnest Viable Platform.</a:t>
            </a:r>
            <a:endParaRPr lang="en-US" sz="1050" dirty="0"/>
          </a:p>
        </p:txBody>
      </p:sp>
      <p:sp>
        <p:nvSpPr>
          <p:cNvPr id="47" name="Text 44"/>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24 / 30</a:t>
            </a:r>
            <a:endParaRPr lang="en-US" sz="900" dirty="0"/>
          </a:p>
        </p:txBody>
      </p:sp>
      <p:sp>
        <p:nvSpPr>
          <p:cNvPr id="48" name="Text 45"/>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23  ·  OPERATING MODEL</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Anti-patterns we avoid</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Text 3"/>
          <p:cNvSpPr/>
          <p:nvPr/>
        </p:nvSpPr>
        <p:spPr>
          <a:xfrm>
            <a:off x="548640" y="1554480"/>
            <a:ext cx="11064240" cy="274320"/>
          </a:xfrm>
          <a:prstGeom prst="rect">
            <a:avLst/>
          </a:prstGeom>
          <a:noFill/>
          <a:ln/>
        </p:spPr>
        <p:txBody>
          <a:bodyPr wrap="square" lIns="0" tIns="0" rIns="0" bIns="0" rtlCol="0" anchor="ctr"/>
          <a:lstStyle/>
          <a:p>
            <a:pPr indent="0" marL="0">
              <a:buNone/>
            </a:pPr>
            <a:r>
              <a:rPr lang="en-US" sz="1300" i="1" dirty="0">
                <a:solidFill>
                  <a:srgbClr val="5B6778"/>
                </a:solidFill>
                <a:latin typeface="Calibri" pitchFamily="34" charset="0"/>
                <a:ea typeface="Calibri" pitchFamily="34" charset="-122"/>
                <a:cs typeface="Calibri" pitchFamily="34" charset="-120"/>
              </a:rPr>
              <a:t>Failure modes documented across industry — and how we steer clear.</a:t>
            </a:r>
            <a:endParaRPr lang="en-US" sz="1300" dirty="0"/>
          </a:p>
        </p:txBody>
      </p:sp>
      <p:sp>
        <p:nvSpPr>
          <p:cNvPr id="7" name="Shape 4"/>
          <p:cNvSpPr/>
          <p:nvPr/>
        </p:nvSpPr>
        <p:spPr>
          <a:xfrm>
            <a:off x="548640" y="1920240"/>
            <a:ext cx="3596640" cy="2194560"/>
          </a:xfrm>
          <a:prstGeom prst="rect">
            <a:avLst/>
          </a:prstGeom>
          <a:solidFill>
            <a:srgbClr val="FFFFFF"/>
          </a:solidFill>
          <a:ln w="7620">
            <a:solidFill>
              <a:srgbClr val="D6DEE8"/>
            </a:solidFill>
            <a:prstDash val="solid"/>
          </a:ln>
        </p:spPr>
      </p:sp>
      <p:sp>
        <p:nvSpPr>
          <p:cNvPr id="8" name="Shape 5"/>
          <p:cNvSpPr/>
          <p:nvPr/>
        </p:nvSpPr>
        <p:spPr>
          <a:xfrm>
            <a:off x="548640" y="1920240"/>
            <a:ext cx="3596640" cy="457200"/>
          </a:xfrm>
          <a:prstGeom prst="rect">
            <a:avLst/>
          </a:prstGeom>
          <a:solidFill>
            <a:srgbClr val="001F47"/>
          </a:solidFill>
          <a:ln/>
        </p:spPr>
      </p:sp>
      <p:pic>
        <p:nvPicPr>
          <p:cNvPr id="9" name="Image 1" descr="preencoded.png">    </p:cNvPr>
          <p:cNvPicPr>
            <a:picLocks noChangeAspect="1"/>
          </p:cNvPicPr>
          <p:nvPr/>
        </p:nvPicPr>
        <p:blipFill>
          <a:blip r:embed="rId2"/>
          <a:stretch>
            <a:fillRect/>
          </a:stretch>
        </p:blipFill>
        <p:spPr>
          <a:xfrm>
            <a:off x="731520" y="2039112"/>
            <a:ext cx="219456" cy="219456"/>
          </a:xfrm>
          <a:prstGeom prst="rect">
            <a:avLst/>
          </a:prstGeom>
        </p:spPr>
      </p:pic>
      <p:sp>
        <p:nvSpPr>
          <p:cNvPr id="10" name="Text 6"/>
          <p:cNvSpPr/>
          <p:nvPr/>
        </p:nvSpPr>
        <p:spPr>
          <a:xfrm>
            <a:off x="1051560" y="192024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Wall of confusion</a:t>
            </a:r>
            <a:endParaRPr lang="en-US" sz="1200" dirty="0"/>
          </a:p>
        </p:txBody>
      </p:sp>
      <p:sp>
        <p:nvSpPr>
          <p:cNvPr id="11" name="Text 7"/>
          <p:cNvSpPr/>
          <p:nvPr/>
        </p:nvSpPr>
        <p:spPr>
          <a:xfrm>
            <a:off x="731520" y="248716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12" name="Text 8"/>
          <p:cNvSpPr/>
          <p:nvPr/>
        </p:nvSpPr>
        <p:spPr>
          <a:xfrm>
            <a:off x="731520" y="269748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Devs declare DONE at feature-complete. Ops inherit non-operable software.</a:t>
            </a:r>
            <a:endParaRPr lang="en-US" sz="1000" dirty="0"/>
          </a:p>
        </p:txBody>
      </p:sp>
      <p:sp>
        <p:nvSpPr>
          <p:cNvPr id="13" name="Shape 9"/>
          <p:cNvSpPr/>
          <p:nvPr/>
        </p:nvSpPr>
        <p:spPr>
          <a:xfrm>
            <a:off x="731520" y="3291840"/>
            <a:ext cx="365760" cy="36576"/>
          </a:xfrm>
          <a:prstGeom prst="rect">
            <a:avLst/>
          </a:prstGeom>
          <a:solidFill>
            <a:srgbClr val="FEDF01"/>
          </a:solidFill>
          <a:ln/>
        </p:spPr>
      </p:sp>
      <p:sp>
        <p:nvSpPr>
          <p:cNvPr id="14" name="Text 10"/>
          <p:cNvSpPr/>
          <p:nvPr/>
        </p:nvSpPr>
        <p:spPr>
          <a:xfrm>
            <a:off x="731520" y="338328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15" name="Text 11"/>
          <p:cNvSpPr/>
          <p:nvPr/>
        </p:nvSpPr>
        <p:spPr>
          <a:xfrm>
            <a:off x="731520" y="359359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Ops in the planning room from day one. Operability is part of every story's definition of done.</a:t>
            </a:r>
            <a:endParaRPr lang="en-US" sz="1000" dirty="0"/>
          </a:p>
        </p:txBody>
      </p:sp>
      <p:sp>
        <p:nvSpPr>
          <p:cNvPr id="16" name="Shape 12"/>
          <p:cNvSpPr/>
          <p:nvPr/>
        </p:nvSpPr>
        <p:spPr>
          <a:xfrm>
            <a:off x="4282440" y="1920240"/>
            <a:ext cx="3596640" cy="2194560"/>
          </a:xfrm>
          <a:prstGeom prst="rect">
            <a:avLst/>
          </a:prstGeom>
          <a:solidFill>
            <a:srgbClr val="FFFFFF"/>
          </a:solidFill>
          <a:ln w="7620">
            <a:solidFill>
              <a:srgbClr val="D6DEE8"/>
            </a:solidFill>
            <a:prstDash val="solid"/>
          </a:ln>
        </p:spPr>
      </p:sp>
      <p:sp>
        <p:nvSpPr>
          <p:cNvPr id="17" name="Shape 13"/>
          <p:cNvSpPr/>
          <p:nvPr/>
        </p:nvSpPr>
        <p:spPr>
          <a:xfrm>
            <a:off x="4282440" y="1920240"/>
            <a:ext cx="3596640" cy="457200"/>
          </a:xfrm>
          <a:prstGeom prst="rect">
            <a:avLst/>
          </a:prstGeom>
          <a:solidFill>
            <a:srgbClr val="001F47"/>
          </a:solidFill>
          <a:ln/>
        </p:spPr>
      </p:sp>
      <p:pic>
        <p:nvPicPr>
          <p:cNvPr id="18" name="Image 2" descr="preencoded.png">    </p:cNvPr>
          <p:cNvPicPr>
            <a:picLocks noChangeAspect="1"/>
          </p:cNvPicPr>
          <p:nvPr/>
        </p:nvPicPr>
        <p:blipFill>
          <a:blip r:embed="rId3"/>
          <a:stretch>
            <a:fillRect/>
          </a:stretch>
        </p:blipFill>
        <p:spPr>
          <a:xfrm>
            <a:off x="4465320" y="2039112"/>
            <a:ext cx="219456" cy="219456"/>
          </a:xfrm>
          <a:prstGeom prst="rect">
            <a:avLst/>
          </a:prstGeom>
        </p:spPr>
      </p:pic>
      <p:sp>
        <p:nvSpPr>
          <p:cNvPr id="19" name="Text 14"/>
          <p:cNvSpPr/>
          <p:nvPr/>
        </p:nvSpPr>
        <p:spPr>
          <a:xfrm>
            <a:off x="4785360" y="192024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Ops as interrupt sink</a:t>
            </a:r>
            <a:endParaRPr lang="en-US" sz="1200" dirty="0"/>
          </a:p>
        </p:txBody>
      </p:sp>
      <p:sp>
        <p:nvSpPr>
          <p:cNvPr id="20" name="Text 15"/>
          <p:cNvSpPr/>
          <p:nvPr/>
        </p:nvSpPr>
        <p:spPr>
          <a:xfrm>
            <a:off x="4465320" y="248716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21" name="Text 16"/>
          <p:cNvSpPr/>
          <p:nvPr/>
        </p:nvSpPr>
        <p:spPr>
          <a:xfrm>
            <a:off x="4465320" y="269748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Without engineering time, ops becomes pure firefighting → burnout → exit.</a:t>
            </a:r>
            <a:endParaRPr lang="en-US" sz="1000" dirty="0"/>
          </a:p>
        </p:txBody>
      </p:sp>
      <p:sp>
        <p:nvSpPr>
          <p:cNvPr id="22" name="Shape 17"/>
          <p:cNvSpPr/>
          <p:nvPr/>
        </p:nvSpPr>
        <p:spPr>
          <a:xfrm>
            <a:off x="4465320" y="3291840"/>
            <a:ext cx="365760" cy="36576"/>
          </a:xfrm>
          <a:prstGeom prst="rect">
            <a:avLst/>
          </a:prstGeom>
          <a:solidFill>
            <a:srgbClr val="FEDF01"/>
          </a:solidFill>
          <a:ln/>
        </p:spPr>
      </p:sp>
      <p:sp>
        <p:nvSpPr>
          <p:cNvPr id="23" name="Text 18"/>
          <p:cNvSpPr/>
          <p:nvPr/>
        </p:nvSpPr>
        <p:spPr>
          <a:xfrm>
            <a:off x="4465320" y="338328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24" name="Text 19"/>
          <p:cNvSpPr/>
          <p:nvPr/>
        </p:nvSpPr>
        <p:spPr>
          <a:xfrm>
            <a:off x="4465320" y="359359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50% toil cap. Ops contribute platform improvements that reduce future incidents.</a:t>
            </a:r>
            <a:endParaRPr lang="en-US" sz="1000" dirty="0"/>
          </a:p>
        </p:txBody>
      </p:sp>
      <p:sp>
        <p:nvSpPr>
          <p:cNvPr id="25" name="Shape 20"/>
          <p:cNvSpPr/>
          <p:nvPr/>
        </p:nvSpPr>
        <p:spPr>
          <a:xfrm>
            <a:off x="8016240" y="1920240"/>
            <a:ext cx="3596640" cy="2194560"/>
          </a:xfrm>
          <a:prstGeom prst="rect">
            <a:avLst/>
          </a:prstGeom>
          <a:solidFill>
            <a:srgbClr val="FFFFFF"/>
          </a:solidFill>
          <a:ln w="7620">
            <a:solidFill>
              <a:srgbClr val="D6DEE8"/>
            </a:solidFill>
            <a:prstDash val="solid"/>
          </a:ln>
        </p:spPr>
      </p:sp>
      <p:sp>
        <p:nvSpPr>
          <p:cNvPr id="26" name="Shape 21"/>
          <p:cNvSpPr/>
          <p:nvPr/>
        </p:nvSpPr>
        <p:spPr>
          <a:xfrm>
            <a:off x="8016240" y="1920240"/>
            <a:ext cx="3596640" cy="457200"/>
          </a:xfrm>
          <a:prstGeom prst="rect">
            <a:avLst/>
          </a:prstGeom>
          <a:solidFill>
            <a:srgbClr val="001F47"/>
          </a:solidFill>
          <a:ln/>
        </p:spPr>
      </p:sp>
      <p:pic>
        <p:nvPicPr>
          <p:cNvPr id="27" name="Image 3" descr="preencoded.png">    </p:cNvPr>
          <p:cNvPicPr>
            <a:picLocks noChangeAspect="1"/>
          </p:cNvPicPr>
          <p:nvPr/>
        </p:nvPicPr>
        <p:blipFill>
          <a:blip r:embed="rId4"/>
          <a:stretch>
            <a:fillRect/>
          </a:stretch>
        </p:blipFill>
        <p:spPr>
          <a:xfrm>
            <a:off x="8199120" y="2039112"/>
            <a:ext cx="219456" cy="219456"/>
          </a:xfrm>
          <a:prstGeom prst="rect">
            <a:avLst/>
          </a:prstGeom>
        </p:spPr>
      </p:pic>
      <p:sp>
        <p:nvSpPr>
          <p:cNvPr id="28" name="Text 22"/>
          <p:cNvSpPr/>
          <p:nvPr/>
        </p:nvSpPr>
        <p:spPr>
          <a:xfrm>
            <a:off x="8519160" y="192024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Two backlogs as one</a:t>
            </a:r>
            <a:endParaRPr lang="en-US" sz="1200" dirty="0"/>
          </a:p>
        </p:txBody>
      </p:sp>
      <p:sp>
        <p:nvSpPr>
          <p:cNvPr id="29" name="Text 23"/>
          <p:cNvSpPr/>
          <p:nvPr/>
        </p:nvSpPr>
        <p:spPr>
          <a:xfrm>
            <a:off x="8199120" y="248716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30" name="Text 24"/>
          <p:cNvSpPr/>
          <p:nvPr/>
        </p:nvSpPr>
        <p:spPr>
          <a:xfrm>
            <a:off x="8199120" y="269748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Ops has its own ticket queue; standup discusses features only; production work invisible to PO.</a:t>
            </a:r>
            <a:endParaRPr lang="en-US" sz="1000" dirty="0"/>
          </a:p>
        </p:txBody>
      </p:sp>
      <p:sp>
        <p:nvSpPr>
          <p:cNvPr id="31" name="Shape 25"/>
          <p:cNvSpPr/>
          <p:nvPr/>
        </p:nvSpPr>
        <p:spPr>
          <a:xfrm>
            <a:off x="8199120" y="3291840"/>
            <a:ext cx="365760" cy="36576"/>
          </a:xfrm>
          <a:prstGeom prst="rect">
            <a:avLst/>
          </a:prstGeom>
          <a:solidFill>
            <a:srgbClr val="FEDF01"/>
          </a:solidFill>
          <a:ln/>
        </p:spPr>
      </p:sp>
      <p:sp>
        <p:nvSpPr>
          <p:cNvPr id="32" name="Text 26"/>
          <p:cNvSpPr/>
          <p:nvPr/>
        </p:nvSpPr>
        <p:spPr>
          <a:xfrm>
            <a:off x="8199120" y="338328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33" name="Text 27"/>
          <p:cNvSpPr/>
          <p:nvPr/>
        </p:nvSpPr>
        <p:spPr>
          <a:xfrm>
            <a:off x="8199120" y="359359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Single shared backlog. Ops items are first-class stories with story points.</a:t>
            </a:r>
            <a:endParaRPr lang="en-US" sz="1000" dirty="0"/>
          </a:p>
        </p:txBody>
      </p:sp>
      <p:sp>
        <p:nvSpPr>
          <p:cNvPr id="34" name="Shape 28"/>
          <p:cNvSpPr/>
          <p:nvPr/>
        </p:nvSpPr>
        <p:spPr>
          <a:xfrm>
            <a:off x="548640" y="4251960"/>
            <a:ext cx="3596640" cy="2194560"/>
          </a:xfrm>
          <a:prstGeom prst="rect">
            <a:avLst/>
          </a:prstGeom>
          <a:solidFill>
            <a:srgbClr val="FFFFFF"/>
          </a:solidFill>
          <a:ln w="7620">
            <a:solidFill>
              <a:srgbClr val="D6DEE8"/>
            </a:solidFill>
            <a:prstDash val="solid"/>
          </a:ln>
        </p:spPr>
      </p:sp>
      <p:sp>
        <p:nvSpPr>
          <p:cNvPr id="35" name="Shape 29"/>
          <p:cNvSpPr/>
          <p:nvPr/>
        </p:nvSpPr>
        <p:spPr>
          <a:xfrm>
            <a:off x="548640" y="4251960"/>
            <a:ext cx="3596640" cy="457200"/>
          </a:xfrm>
          <a:prstGeom prst="rect">
            <a:avLst/>
          </a:prstGeom>
          <a:solidFill>
            <a:srgbClr val="001F47"/>
          </a:solidFill>
          <a:ln/>
        </p:spPr>
      </p:sp>
      <p:pic>
        <p:nvPicPr>
          <p:cNvPr id="36" name="Image 4" descr="preencoded.png">    </p:cNvPr>
          <p:cNvPicPr>
            <a:picLocks noChangeAspect="1"/>
          </p:cNvPicPr>
          <p:nvPr/>
        </p:nvPicPr>
        <p:blipFill>
          <a:blip r:embed="rId5"/>
          <a:stretch>
            <a:fillRect/>
          </a:stretch>
        </p:blipFill>
        <p:spPr>
          <a:xfrm>
            <a:off x="731520" y="4370832"/>
            <a:ext cx="219456" cy="219456"/>
          </a:xfrm>
          <a:prstGeom prst="rect">
            <a:avLst/>
          </a:prstGeom>
        </p:spPr>
      </p:pic>
      <p:sp>
        <p:nvSpPr>
          <p:cNvPr id="37" name="Text 30"/>
          <p:cNvSpPr/>
          <p:nvPr/>
        </p:nvSpPr>
        <p:spPr>
          <a:xfrm>
            <a:off x="1051560" y="425196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Fake SRE / rebranded sysadmin</a:t>
            </a:r>
            <a:endParaRPr lang="en-US" sz="1200" dirty="0"/>
          </a:p>
        </p:txBody>
      </p:sp>
      <p:sp>
        <p:nvSpPr>
          <p:cNvPr id="38" name="Text 31"/>
          <p:cNvSpPr/>
          <p:nvPr/>
        </p:nvSpPr>
        <p:spPr>
          <a:xfrm>
            <a:off x="731520" y="481888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39" name="Text 32"/>
          <p:cNvSpPr/>
          <p:nvPr/>
        </p:nvSpPr>
        <p:spPr>
          <a:xfrm>
            <a:off x="731520" y="502920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Ops renamed without changing behavior. Devs still throw feature-complete code over the wall.</a:t>
            </a:r>
            <a:endParaRPr lang="en-US" sz="1000" dirty="0"/>
          </a:p>
        </p:txBody>
      </p:sp>
      <p:sp>
        <p:nvSpPr>
          <p:cNvPr id="40" name="Shape 33"/>
          <p:cNvSpPr/>
          <p:nvPr/>
        </p:nvSpPr>
        <p:spPr>
          <a:xfrm>
            <a:off x="731520" y="5623560"/>
            <a:ext cx="365760" cy="36576"/>
          </a:xfrm>
          <a:prstGeom prst="rect">
            <a:avLst/>
          </a:prstGeom>
          <a:solidFill>
            <a:srgbClr val="FEDF01"/>
          </a:solidFill>
          <a:ln/>
        </p:spPr>
      </p:sp>
      <p:sp>
        <p:nvSpPr>
          <p:cNvPr id="41" name="Text 34"/>
          <p:cNvSpPr/>
          <p:nvPr/>
        </p:nvSpPr>
        <p:spPr>
          <a:xfrm>
            <a:off x="731520" y="571500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42" name="Text 35"/>
          <p:cNvSpPr/>
          <p:nvPr/>
        </p:nvSpPr>
        <p:spPr>
          <a:xfrm>
            <a:off x="731520" y="592531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SREs hired against engineering bar. Same pay scale. Toil cap discipline.</a:t>
            </a:r>
            <a:endParaRPr lang="en-US" sz="1000" dirty="0"/>
          </a:p>
        </p:txBody>
      </p:sp>
      <p:sp>
        <p:nvSpPr>
          <p:cNvPr id="43" name="Shape 36"/>
          <p:cNvSpPr/>
          <p:nvPr/>
        </p:nvSpPr>
        <p:spPr>
          <a:xfrm>
            <a:off x="4282440" y="4251960"/>
            <a:ext cx="3596640" cy="2194560"/>
          </a:xfrm>
          <a:prstGeom prst="rect">
            <a:avLst/>
          </a:prstGeom>
          <a:solidFill>
            <a:srgbClr val="FFFFFF"/>
          </a:solidFill>
          <a:ln w="7620">
            <a:solidFill>
              <a:srgbClr val="D6DEE8"/>
            </a:solidFill>
            <a:prstDash val="solid"/>
          </a:ln>
        </p:spPr>
      </p:sp>
      <p:sp>
        <p:nvSpPr>
          <p:cNvPr id="44" name="Shape 37"/>
          <p:cNvSpPr/>
          <p:nvPr/>
        </p:nvSpPr>
        <p:spPr>
          <a:xfrm>
            <a:off x="4282440" y="4251960"/>
            <a:ext cx="3596640" cy="457200"/>
          </a:xfrm>
          <a:prstGeom prst="rect">
            <a:avLst/>
          </a:prstGeom>
          <a:solidFill>
            <a:srgbClr val="001F47"/>
          </a:solidFill>
          <a:ln/>
        </p:spPr>
      </p:sp>
      <p:pic>
        <p:nvPicPr>
          <p:cNvPr id="45" name="Image 5" descr="preencoded.png">    </p:cNvPr>
          <p:cNvPicPr>
            <a:picLocks noChangeAspect="1"/>
          </p:cNvPicPr>
          <p:nvPr/>
        </p:nvPicPr>
        <p:blipFill>
          <a:blip r:embed="rId6"/>
          <a:stretch>
            <a:fillRect/>
          </a:stretch>
        </p:blipFill>
        <p:spPr>
          <a:xfrm>
            <a:off x="4465320" y="4370832"/>
            <a:ext cx="219456" cy="219456"/>
          </a:xfrm>
          <a:prstGeom prst="rect">
            <a:avLst/>
          </a:prstGeom>
        </p:spPr>
      </p:pic>
      <p:sp>
        <p:nvSpPr>
          <p:cNvPr id="46" name="Text 38"/>
          <p:cNvSpPr/>
          <p:nvPr/>
        </p:nvSpPr>
        <p:spPr>
          <a:xfrm>
            <a:off x="4785360" y="425196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CAB as approval gate</a:t>
            </a:r>
            <a:endParaRPr lang="en-US" sz="1200" dirty="0"/>
          </a:p>
        </p:txBody>
      </p:sp>
      <p:sp>
        <p:nvSpPr>
          <p:cNvPr id="47" name="Text 39"/>
          <p:cNvSpPr/>
          <p:nvPr/>
        </p:nvSpPr>
        <p:spPr>
          <a:xfrm>
            <a:off x="4465320" y="481888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48" name="Text 40"/>
          <p:cNvSpPr/>
          <p:nvPr/>
        </p:nvSpPr>
        <p:spPr>
          <a:xfrm>
            <a:off x="4465320" y="502920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Becomes a delay mechanism with no quality benefit. DORA: 2.6× correlation with low performance.</a:t>
            </a:r>
            <a:endParaRPr lang="en-US" sz="1000" dirty="0"/>
          </a:p>
        </p:txBody>
      </p:sp>
      <p:sp>
        <p:nvSpPr>
          <p:cNvPr id="49" name="Shape 41"/>
          <p:cNvSpPr/>
          <p:nvPr/>
        </p:nvSpPr>
        <p:spPr>
          <a:xfrm>
            <a:off x="4465320" y="5623560"/>
            <a:ext cx="365760" cy="36576"/>
          </a:xfrm>
          <a:prstGeom prst="rect">
            <a:avLst/>
          </a:prstGeom>
          <a:solidFill>
            <a:srgbClr val="FEDF01"/>
          </a:solidFill>
          <a:ln/>
        </p:spPr>
      </p:sp>
      <p:sp>
        <p:nvSpPr>
          <p:cNvPr id="50" name="Text 42"/>
          <p:cNvSpPr/>
          <p:nvPr/>
        </p:nvSpPr>
        <p:spPr>
          <a:xfrm>
            <a:off x="4465320" y="571500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51" name="Text 43"/>
          <p:cNvSpPr/>
          <p:nvPr/>
        </p:nvSpPr>
        <p:spPr>
          <a:xfrm>
            <a:off x="4465320" y="592531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Standard Changes via paved-road pipeline. CAB only for material or novel changes.</a:t>
            </a:r>
            <a:endParaRPr lang="en-US" sz="1000" dirty="0"/>
          </a:p>
        </p:txBody>
      </p:sp>
      <p:sp>
        <p:nvSpPr>
          <p:cNvPr id="52" name="Shape 44"/>
          <p:cNvSpPr/>
          <p:nvPr/>
        </p:nvSpPr>
        <p:spPr>
          <a:xfrm>
            <a:off x="8016240" y="4251960"/>
            <a:ext cx="3596640" cy="2194560"/>
          </a:xfrm>
          <a:prstGeom prst="rect">
            <a:avLst/>
          </a:prstGeom>
          <a:solidFill>
            <a:srgbClr val="FFFFFF"/>
          </a:solidFill>
          <a:ln w="7620">
            <a:solidFill>
              <a:srgbClr val="D6DEE8"/>
            </a:solidFill>
            <a:prstDash val="solid"/>
          </a:ln>
        </p:spPr>
      </p:sp>
      <p:sp>
        <p:nvSpPr>
          <p:cNvPr id="53" name="Shape 45"/>
          <p:cNvSpPr/>
          <p:nvPr/>
        </p:nvSpPr>
        <p:spPr>
          <a:xfrm>
            <a:off x="8016240" y="4251960"/>
            <a:ext cx="3596640" cy="457200"/>
          </a:xfrm>
          <a:prstGeom prst="rect">
            <a:avLst/>
          </a:prstGeom>
          <a:solidFill>
            <a:srgbClr val="001F47"/>
          </a:solidFill>
          <a:ln/>
        </p:spPr>
      </p:sp>
      <p:pic>
        <p:nvPicPr>
          <p:cNvPr id="54" name="Image 6" descr="preencoded.png">    </p:cNvPr>
          <p:cNvPicPr>
            <a:picLocks noChangeAspect="1"/>
          </p:cNvPicPr>
          <p:nvPr/>
        </p:nvPicPr>
        <p:blipFill>
          <a:blip r:embed="rId7"/>
          <a:stretch>
            <a:fillRect/>
          </a:stretch>
        </p:blipFill>
        <p:spPr>
          <a:xfrm>
            <a:off x="8199120" y="4370832"/>
            <a:ext cx="219456" cy="219456"/>
          </a:xfrm>
          <a:prstGeom prst="rect">
            <a:avLst/>
          </a:prstGeom>
        </p:spPr>
      </p:pic>
      <p:sp>
        <p:nvSpPr>
          <p:cNvPr id="55" name="Text 46"/>
          <p:cNvSpPr/>
          <p:nvPr/>
        </p:nvSpPr>
        <p:spPr>
          <a:xfrm>
            <a:off x="8519160" y="4251960"/>
            <a:ext cx="30022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Postmortem AIs that rot</a:t>
            </a:r>
            <a:endParaRPr lang="en-US" sz="1200" dirty="0"/>
          </a:p>
        </p:txBody>
      </p:sp>
      <p:sp>
        <p:nvSpPr>
          <p:cNvPr id="56" name="Text 47"/>
          <p:cNvSpPr/>
          <p:nvPr/>
        </p:nvSpPr>
        <p:spPr>
          <a:xfrm>
            <a:off x="8199120" y="4818888"/>
            <a:ext cx="3230880" cy="201168"/>
          </a:xfrm>
          <a:prstGeom prst="rect">
            <a:avLst/>
          </a:prstGeom>
          <a:noFill/>
          <a:ln/>
        </p:spPr>
        <p:txBody>
          <a:bodyPr wrap="square" lIns="0" tIns="0" rIns="0" bIns="0" rtlCol="0" anchor="ctr"/>
          <a:lstStyle/>
          <a:p>
            <a:pPr indent="0" marL="0">
              <a:buNone/>
            </a:pPr>
            <a:r>
              <a:rPr lang="en-US" sz="900" b="1" spc="300" kern="0" dirty="0">
                <a:solidFill>
                  <a:srgbClr val="B91C1C"/>
                </a:solidFill>
                <a:latin typeface="Trebuchet MS" pitchFamily="34" charset="0"/>
                <a:ea typeface="Trebuchet MS" pitchFamily="34" charset="-122"/>
                <a:cs typeface="Trebuchet MS" pitchFamily="34" charset="-120"/>
              </a:rPr>
              <a:t>WHY IT FAILS</a:t>
            </a:r>
            <a:endParaRPr lang="en-US" sz="900" dirty="0"/>
          </a:p>
        </p:txBody>
      </p:sp>
      <p:sp>
        <p:nvSpPr>
          <p:cNvPr id="57" name="Text 48"/>
          <p:cNvSpPr/>
          <p:nvPr/>
        </p:nvSpPr>
        <p:spPr>
          <a:xfrm>
            <a:off x="8199120" y="5029200"/>
            <a:ext cx="3230880" cy="54864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Without error-budget visibility, action items lose to feature work every sprint.</a:t>
            </a:r>
            <a:endParaRPr lang="en-US" sz="1000" dirty="0"/>
          </a:p>
        </p:txBody>
      </p:sp>
      <p:sp>
        <p:nvSpPr>
          <p:cNvPr id="58" name="Shape 49"/>
          <p:cNvSpPr/>
          <p:nvPr/>
        </p:nvSpPr>
        <p:spPr>
          <a:xfrm>
            <a:off x="8199120" y="5623560"/>
            <a:ext cx="365760" cy="36576"/>
          </a:xfrm>
          <a:prstGeom prst="rect">
            <a:avLst/>
          </a:prstGeom>
          <a:solidFill>
            <a:srgbClr val="FEDF01"/>
          </a:solidFill>
          <a:ln/>
        </p:spPr>
      </p:sp>
      <p:sp>
        <p:nvSpPr>
          <p:cNvPr id="59" name="Text 50"/>
          <p:cNvSpPr/>
          <p:nvPr/>
        </p:nvSpPr>
        <p:spPr>
          <a:xfrm>
            <a:off x="8199120" y="5715000"/>
            <a:ext cx="3230880" cy="201168"/>
          </a:xfrm>
          <a:prstGeom prst="rect">
            <a:avLst/>
          </a:prstGeom>
          <a:noFill/>
          <a:ln/>
        </p:spPr>
        <p:txBody>
          <a:bodyPr wrap="square" lIns="0" tIns="0" rIns="0" bIns="0" rtlCol="0" anchor="ctr"/>
          <a:lstStyle/>
          <a:p>
            <a:pPr indent="0" marL="0">
              <a:buNone/>
            </a:pPr>
            <a:r>
              <a:rPr lang="en-US" sz="900" b="1" spc="300" kern="0" dirty="0">
                <a:solidFill>
                  <a:srgbClr val="1F8B4C"/>
                </a:solidFill>
                <a:latin typeface="Trebuchet MS" pitchFamily="34" charset="0"/>
                <a:ea typeface="Trebuchet MS" pitchFamily="34" charset="-122"/>
                <a:cs typeface="Trebuchet MS" pitchFamily="34" charset="-120"/>
              </a:rPr>
              <a:t>HOW WE AVOID</a:t>
            </a:r>
            <a:endParaRPr lang="en-US" sz="900" dirty="0"/>
          </a:p>
        </p:txBody>
      </p:sp>
      <p:sp>
        <p:nvSpPr>
          <p:cNvPr id="60" name="Text 51"/>
          <p:cNvSpPr/>
          <p:nvPr/>
        </p:nvSpPr>
        <p:spPr>
          <a:xfrm>
            <a:off x="8199120" y="5925312"/>
            <a:ext cx="3230880" cy="502920"/>
          </a:xfrm>
          <a:prstGeom prst="rect">
            <a:avLst/>
          </a:prstGeom>
          <a:noFill/>
          <a:ln/>
        </p:spPr>
        <p:txBody>
          <a:bodyPr wrap="square" lIns="0" tIns="0" rIns="0" bIns="0" rtlCol="0" anchor="ctr"/>
          <a:lstStyle/>
          <a:p>
            <a:pPr indent="0" marL="0">
              <a:buNone/>
            </a:pPr>
            <a:r>
              <a:rPr lang="en-US" sz="1000" dirty="0">
                <a:solidFill>
                  <a:srgbClr val="001F47"/>
                </a:solidFill>
                <a:latin typeface="Calibri" pitchFamily="34" charset="0"/>
                <a:ea typeface="Calibri" pitchFamily="34" charset="-122"/>
                <a:cs typeface="Calibri" pitchFamily="34" charset="-120"/>
              </a:rPr>
              <a:t>AIs are first-class backlog items with named owners, due dates, and steering visibility.</a:t>
            </a:r>
            <a:endParaRPr lang="en-US" sz="1000" dirty="0"/>
          </a:p>
        </p:txBody>
      </p:sp>
      <p:sp>
        <p:nvSpPr>
          <p:cNvPr id="61" name="Text 52"/>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25 / 30</a:t>
            </a:r>
            <a:endParaRPr lang="en-US" sz="900" dirty="0"/>
          </a:p>
        </p:txBody>
      </p:sp>
      <p:sp>
        <p:nvSpPr>
          <p:cNvPr id="62" name="Text 53"/>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24  ·  PLATFORM STATUS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Storage platform — status update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594360"/>
          </a:xfrm>
          <a:prstGeom prst="rect">
            <a:avLst/>
          </a:prstGeom>
          <a:solidFill>
            <a:srgbClr val="001F47"/>
          </a:solidFill>
          <a:ln/>
        </p:spPr>
      </p:sp>
      <p:sp>
        <p:nvSpPr>
          <p:cNvPr id="7" name="Shape 4"/>
          <p:cNvSpPr/>
          <p:nvPr/>
        </p:nvSpPr>
        <p:spPr>
          <a:xfrm>
            <a:off x="713232" y="1892808"/>
            <a:ext cx="365760" cy="365760"/>
          </a:xfrm>
          <a:prstGeom prst="ellipse">
            <a:avLst/>
          </a:prstGeom>
          <a:solidFill>
            <a:srgbClr val="FEDF01"/>
          </a:solidFill>
          <a:ln/>
        </p:spPr>
      </p:sp>
      <p:pic>
        <p:nvPicPr>
          <p:cNvPr id="8" name="Image 1" descr="preencoded.png">    </p:cNvPr>
          <p:cNvPicPr>
            <a:picLocks noChangeAspect="1"/>
          </p:cNvPicPr>
          <p:nvPr/>
        </p:nvPicPr>
        <p:blipFill>
          <a:blip r:embed="rId2"/>
          <a:stretch>
            <a:fillRect/>
          </a:stretch>
        </p:blipFill>
        <p:spPr>
          <a:xfrm>
            <a:off x="786384" y="1965960"/>
            <a:ext cx="219456" cy="219456"/>
          </a:xfrm>
          <a:prstGeom prst="rect">
            <a:avLst/>
          </a:prstGeom>
        </p:spPr>
      </p:pic>
      <p:sp>
        <p:nvSpPr>
          <p:cNvPr id="9" name="Text 5"/>
          <p:cNvSpPr/>
          <p:nvPr/>
        </p:nvSpPr>
        <p:spPr>
          <a:xfrm>
            <a:off x="1188720" y="1783080"/>
            <a:ext cx="3657600" cy="5943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Storage</a:t>
            </a:r>
            <a:endParaRPr lang="en-US" sz="1800" dirty="0"/>
          </a:p>
        </p:txBody>
      </p:sp>
      <p:sp>
        <p:nvSpPr>
          <p:cNvPr id="10" name="Text 6"/>
          <p:cNvSpPr/>
          <p:nvPr/>
        </p:nvSpPr>
        <p:spPr>
          <a:xfrm>
            <a:off x="4754880" y="1856232"/>
            <a:ext cx="22860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REPORTING PERIOD</a:t>
            </a:r>
            <a:endParaRPr lang="en-US" sz="900" dirty="0"/>
          </a:p>
        </p:txBody>
      </p:sp>
      <p:sp>
        <p:nvSpPr>
          <p:cNvPr id="11" name="Text 7"/>
          <p:cNvSpPr/>
          <p:nvPr/>
        </p:nvSpPr>
        <p:spPr>
          <a:xfrm>
            <a:off x="4754880" y="2075688"/>
            <a:ext cx="2286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[Month YYYY]</a:t>
            </a:r>
            <a:endParaRPr lang="en-US" sz="1200" dirty="0"/>
          </a:p>
        </p:txBody>
      </p:sp>
      <p:sp>
        <p:nvSpPr>
          <p:cNvPr id="12" name="Text 8"/>
          <p:cNvSpPr/>
          <p:nvPr/>
        </p:nvSpPr>
        <p:spPr>
          <a:xfrm>
            <a:off x="7223760" y="1856232"/>
            <a:ext cx="18288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OVERALL RAG</a:t>
            </a:r>
            <a:endParaRPr lang="en-US" sz="900" dirty="0"/>
          </a:p>
        </p:txBody>
      </p:sp>
      <p:sp>
        <p:nvSpPr>
          <p:cNvPr id="13" name="Shape 9"/>
          <p:cNvSpPr/>
          <p:nvPr/>
        </p:nvSpPr>
        <p:spPr>
          <a:xfrm>
            <a:off x="7223760" y="2075688"/>
            <a:ext cx="256032" cy="256032"/>
          </a:xfrm>
          <a:prstGeom prst="ellipse">
            <a:avLst/>
          </a:prstGeom>
          <a:solidFill>
            <a:srgbClr val="5B6778"/>
          </a:solidFill>
          <a:ln w="12700">
            <a:solidFill>
              <a:srgbClr val="FFFFFF"/>
            </a:solidFill>
            <a:prstDash val="solid"/>
          </a:ln>
        </p:spPr>
      </p:sp>
      <p:sp>
        <p:nvSpPr>
          <p:cNvPr id="14" name="Text 10"/>
          <p:cNvSpPr/>
          <p:nvPr/>
        </p:nvSpPr>
        <p:spPr>
          <a:xfrm>
            <a:off x="7543800" y="2075688"/>
            <a:ext cx="137160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G/Y/R ]</a:t>
            </a:r>
            <a:endParaRPr lang="en-US" sz="1100" dirty="0"/>
          </a:p>
        </p:txBody>
      </p:sp>
      <p:sp>
        <p:nvSpPr>
          <p:cNvPr id="15" name="Text 11"/>
          <p:cNvSpPr/>
          <p:nvPr/>
        </p:nvSpPr>
        <p:spPr>
          <a:xfrm>
            <a:off x="9052560" y="1856232"/>
            <a:ext cx="2560320" cy="228600"/>
          </a:xfrm>
          <a:prstGeom prst="rect">
            <a:avLst/>
          </a:prstGeom>
          <a:noFill/>
          <a:ln/>
        </p:spPr>
        <p:txBody>
          <a:bodyPr wrap="square" lIns="0" tIns="0" rIns="0" bIns="0" rtlCol="0" anchor="ctr"/>
          <a:lstStyle/>
          <a:p>
            <a:pPr indent="0" marL="0">
              <a:buNone/>
            </a:pPr>
            <a:r>
              <a:rPr lang="en-US" sz="900" b="1" spc="100" kern="0" dirty="0">
                <a:solidFill>
                  <a:srgbClr val="FEDF01"/>
                </a:solidFill>
                <a:latin typeface="Trebuchet MS" pitchFamily="34" charset="0"/>
                <a:ea typeface="Trebuchet MS" pitchFamily="34" charset="-122"/>
                <a:cs typeface="Trebuchet MS" pitchFamily="34" charset="-120"/>
              </a:rPr>
              <a:t>LAST UPDATED  ·  NEXT REVIEW</a:t>
            </a:r>
            <a:endParaRPr lang="en-US" sz="900" dirty="0"/>
          </a:p>
        </p:txBody>
      </p:sp>
      <p:sp>
        <p:nvSpPr>
          <p:cNvPr id="16" name="Text 12"/>
          <p:cNvSpPr/>
          <p:nvPr/>
        </p:nvSpPr>
        <p:spPr>
          <a:xfrm>
            <a:off x="9052560" y="2075688"/>
            <a:ext cx="256032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[Date]  ·  [Date]</a:t>
            </a:r>
            <a:endParaRPr lang="en-US" sz="1100" dirty="0"/>
          </a:p>
        </p:txBody>
      </p:sp>
      <p:sp>
        <p:nvSpPr>
          <p:cNvPr id="17" name="Shape 13"/>
          <p:cNvSpPr/>
          <p:nvPr/>
        </p:nvSpPr>
        <p:spPr>
          <a:xfrm>
            <a:off x="548640" y="2514600"/>
            <a:ext cx="5349240" cy="1325880"/>
          </a:xfrm>
          <a:prstGeom prst="rect">
            <a:avLst/>
          </a:prstGeom>
          <a:solidFill>
            <a:srgbClr val="F6F8FB"/>
          </a:solidFill>
          <a:ln w="6350">
            <a:solidFill>
              <a:srgbClr val="D6DEE8"/>
            </a:solidFill>
            <a:prstDash val="solid"/>
          </a:ln>
        </p:spPr>
      </p:sp>
      <p:sp>
        <p:nvSpPr>
          <p:cNvPr id="18" name="Shape 14"/>
          <p:cNvSpPr/>
          <p:nvPr/>
        </p:nvSpPr>
        <p:spPr>
          <a:xfrm>
            <a:off x="548640" y="2514600"/>
            <a:ext cx="54864" cy="1325880"/>
          </a:xfrm>
          <a:prstGeom prst="rect">
            <a:avLst/>
          </a:prstGeom>
          <a:solidFill>
            <a:srgbClr val="FEDF01"/>
          </a:solidFill>
          <a:ln/>
        </p:spPr>
      </p:sp>
      <p:sp>
        <p:nvSpPr>
          <p:cNvPr id="19" name="Text 15"/>
          <p:cNvSpPr/>
          <p:nvPr/>
        </p:nvSpPr>
        <p:spPr>
          <a:xfrm>
            <a:off x="731520" y="2587752"/>
            <a:ext cx="507492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OWNERSHIP</a:t>
            </a:r>
            <a:endParaRPr lang="en-US" sz="1000" dirty="0"/>
          </a:p>
        </p:txBody>
      </p:sp>
      <p:sp>
        <p:nvSpPr>
          <p:cNvPr id="20" name="Text 16"/>
          <p:cNvSpPr/>
          <p:nvPr/>
        </p:nvSpPr>
        <p:spPr>
          <a:xfrm>
            <a:off x="731520" y="2834640"/>
            <a:ext cx="5074920" cy="960120"/>
          </a:xfrm>
          <a:prstGeom prst="rect">
            <a:avLst/>
          </a:prstGeom>
          <a:noFill/>
          <a:ln/>
        </p:spPr>
        <p:txBody>
          <a:bodyPr wrap="square" lIns="0" tIns="0" rIns="0" bIns="0" rtlCol="0" anchor="ctr"/>
          <a:lstStyle/>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Delivery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Tech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Engineering Manager: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Product Owner: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Team: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 FTE + [N] contractors  ·  Personas: Engineering, Operations, Delivery, Architecture, Security</a:t>
            </a:r>
            <a:endParaRPr lang="en-US" sz="1050" dirty="0"/>
          </a:p>
        </p:txBody>
      </p:sp>
      <p:sp>
        <p:nvSpPr>
          <p:cNvPr id="21" name="Text 17"/>
          <p:cNvSpPr/>
          <p:nvPr/>
        </p:nvSpPr>
        <p:spPr>
          <a:xfrm>
            <a:off x="548640" y="393192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WORKSTREAM TOUCHPOINTS</a:t>
            </a:r>
            <a:endParaRPr lang="en-US" sz="1000" dirty="0"/>
          </a:p>
        </p:txBody>
      </p:sp>
      <p:sp>
        <p:nvSpPr>
          <p:cNvPr id="22" name="Shape 18"/>
          <p:cNvSpPr/>
          <p:nvPr/>
        </p:nvSpPr>
        <p:spPr>
          <a:xfrm>
            <a:off x="548640" y="4206240"/>
            <a:ext cx="1268730" cy="640080"/>
          </a:xfrm>
          <a:prstGeom prst="rect">
            <a:avLst/>
          </a:prstGeom>
          <a:solidFill>
            <a:srgbClr val="FFFFFF"/>
          </a:solidFill>
          <a:ln w="6350">
            <a:solidFill>
              <a:srgbClr val="D6DEE8"/>
            </a:solidFill>
            <a:prstDash val="solid"/>
          </a:ln>
        </p:spPr>
      </p:sp>
      <p:sp>
        <p:nvSpPr>
          <p:cNvPr id="23" name="Shape 19"/>
          <p:cNvSpPr/>
          <p:nvPr/>
        </p:nvSpPr>
        <p:spPr>
          <a:xfrm>
            <a:off x="548640" y="4206240"/>
            <a:ext cx="1268730" cy="201168"/>
          </a:xfrm>
          <a:prstGeom prst="rect">
            <a:avLst/>
          </a:prstGeom>
          <a:solidFill>
            <a:srgbClr val="0051A5"/>
          </a:solidFill>
          <a:ln/>
        </p:spPr>
      </p:sp>
      <p:sp>
        <p:nvSpPr>
          <p:cNvPr id="24" name="Text 20"/>
          <p:cNvSpPr/>
          <p:nvPr/>
        </p:nvSpPr>
        <p:spPr>
          <a:xfrm>
            <a:off x="54864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IaC</a:t>
            </a:r>
            <a:endParaRPr lang="en-US" sz="900" dirty="0"/>
          </a:p>
        </p:txBody>
      </p:sp>
      <p:sp>
        <p:nvSpPr>
          <p:cNvPr id="25" name="Shape 21"/>
          <p:cNvSpPr/>
          <p:nvPr/>
        </p:nvSpPr>
        <p:spPr>
          <a:xfrm>
            <a:off x="1100709" y="4498848"/>
            <a:ext cx="164592" cy="164592"/>
          </a:xfrm>
          <a:prstGeom prst="ellipse">
            <a:avLst/>
          </a:prstGeom>
          <a:solidFill>
            <a:srgbClr val="5B6778"/>
          </a:solidFill>
          <a:ln/>
        </p:spPr>
      </p:sp>
      <p:sp>
        <p:nvSpPr>
          <p:cNvPr id="26" name="Text 22"/>
          <p:cNvSpPr/>
          <p:nvPr/>
        </p:nvSpPr>
        <p:spPr>
          <a:xfrm>
            <a:off x="54864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27" name="Shape 23"/>
          <p:cNvSpPr/>
          <p:nvPr/>
        </p:nvSpPr>
        <p:spPr>
          <a:xfrm>
            <a:off x="1908810" y="4206240"/>
            <a:ext cx="1268730" cy="640080"/>
          </a:xfrm>
          <a:prstGeom prst="rect">
            <a:avLst/>
          </a:prstGeom>
          <a:solidFill>
            <a:srgbClr val="FFFFFF"/>
          </a:solidFill>
          <a:ln w="6350">
            <a:solidFill>
              <a:srgbClr val="D6DEE8"/>
            </a:solidFill>
            <a:prstDash val="solid"/>
          </a:ln>
        </p:spPr>
      </p:sp>
      <p:sp>
        <p:nvSpPr>
          <p:cNvPr id="28" name="Shape 24"/>
          <p:cNvSpPr/>
          <p:nvPr/>
        </p:nvSpPr>
        <p:spPr>
          <a:xfrm>
            <a:off x="1908810" y="4206240"/>
            <a:ext cx="1268730" cy="201168"/>
          </a:xfrm>
          <a:prstGeom prst="rect">
            <a:avLst/>
          </a:prstGeom>
          <a:solidFill>
            <a:srgbClr val="0051A5"/>
          </a:solidFill>
          <a:ln/>
        </p:spPr>
      </p:sp>
      <p:sp>
        <p:nvSpPr>
          <p:cNvPr id="29" name="Text 25"/>
          <p:cNvSpPr/>
          <p:nvPr/>
        </p:nvSpPr>
        <p:spPr>
          <a:xfrm>
            <a:off x="190881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Comp.</a:t>
            </a:r>
            <a:endParaRPr lang="en-US" sz="900" dirty="0"/>
          </a:p>
        </p:txBody>
      </p:sp>
      <p:sp>
        <p:nvSpPr>
          <p:cNvPr id="30" name="Shape 26"/>
          <p:cNvSpPr/>
          <p:nvPr/>
        </p:nvSpPr>
        <p:spPr>
          <a:xfrm>
            <a:off x="2460879" y="4498848"/>
            <a:ext cx="164592" cy="164592"/>
          </a:xfrm>
          <a:prstGeom prst="ellipse">
            <a:avLst/>
          </a:prstGeom>
          <a:solidFill>
            <a:srgbClr val="5B6778"/>
          </a:solidFill>
          <a:ln/>
        </p:spPr>
      </p:sp>
      <p:sp>
        <p:nvSpPr>
          <p:cNvPr id="31" name="Text 27"/>
          <p:cNvSpPr/>
          <p:nvPr/>
        </p:nvSpPr>
        <p:spPr>
          <a:xfrm>
            <a:off x="190881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2" name="Shape 28"/>
          <p:cNvSpPr/>
          <p:nvPr/>
        </p:nvSpPr>
        <p:spPr>
          <a:xfrm>
            <a:off x="3268980" y="4206240"/>
            <a:ext cx="1268730" cy="640080"/>
          </a:xfrm>
          <a:prstGeom prst="rect">
            <a:avLst/>
          </a:prstGeom>
          <a:solidFill>
            <a:srgbClr val="FFFFFF"/>
          </a:solidFill>
          <a:ln w="6350">
            <a:solidFill>
              <a:srgbClr val="D6DEE8"/>
            </a:solidFill>
            <a:prstDash val="solid"/>
          </a:ln>
        </p:spPr>
      </p:sp>
      <p:sp>
        <p:nvSpPr>
          <p:cNvPr id="33" name="Shape 29"/>
          <p:cNvSpPr/>
          <p:nvPr/>
        </p:nvSpPr>
        <p:spPr>
          <a:xfrm>
            <a:off x="3268980" y="4206240"/>
            <a:ext cx="1268730" cy="201168"/>
          </a:xfrm>
          <a:prstGeom prst="rect">
            <a:avLst/>
          </a:prstGeom>
          <a:solidFill>
            <a:srgbClr val="0051A5"/>
          </a:solidFill>
          <a:ln/>
        </p:spPr>
      </p:sp>
      <p:sp>
        <p:nvSpPr>
          <p:cNvPr id="34" name="Text 30"/>
          <p:cNvSpPr/>
          <p:nvPr/>
        </p:nvSpPr>
        <p:spPr>
          <a:xfrm>
            <a:off x="326898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Opt.</a:t>
            </a:r>
            <a:endParaRPr lang="en-US" sz="900" dirty="0"/>
          </a:p>
        </p:txBody>
      </p:sp>
      <p:sp>
        <p:nvSpPr>
          <p:cNvPr id="35" name="Shape 31"/>
          <p:cNvSpPr/>
          <p:nvPr/>
        </p:nvSpPr>
        <p:spPr>
          <a:xfrm>
            <a:off x="3821049" y="4498848"/>
            <a:ext cx="164592" cy="164592"/>
          </a:xfrm>
          <a:prstGeom prst="ellipse">
            <a:avLst/>
          </a:prstGeom>
          <a:solidFill>
            <a:srgbClr val="5B6778"/>
          </a:solidFill>
          <a:ln/>
        </p:spPr>
      </p:sp>
      <p:sp>
        <p:nvSpPr>
          <p:cNvPr id="36" name="Text 32"/>
          <p:cNvSpPr/>
          <p:nvPr/>
        </p:nvSpPr>
        <p:spPr>
          <a:xfrm>
            <a:off x="326898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7" name="Shape 33"/>
          <p:cNvSpPr/>
          <p:nvPr/>
        </p:nvSpPr>
        <p:spPr>
          <a:xfrm>
            <a:off x="4629150" y="4206240"/>
            <a:ext cx="1268730" cy="640080"/>
          </a:xfrm>
          <a:prstGeom prst="rect">
            <a:avLst/>
          </a:prstGeom>
          <a:solidFill>
            <a:srgbClr val="FFFFFF"/>
          </a:solidFill>
          <a:ln w="6350">
            <a:solidFill>
              <a:srgbClr val="D6DEE8"/>
            </a:solidFill>
            <a:prstDash val="solid"/>
          </a:ln>
        </p:spPr>
      </p:sp>
      <p:sp>
        <p:nvSpPr>
          <p:cNvPr id="38" name="Shape 34"/>
          <p:cNvSpPr/>
          <p:nvPr/>
        </p:nvSpPr>
        <p:spPr>
          <a:xfrm>
            <a:off x="4629150" y="4206240"/>
            <a:ext cx="1268730" cy="201168"/>
          </a:xfrm>
          <a:prstGeom prst="rect">
            <a:avLst/>
          </a:prstGeom>
          <a:solidFill>
            <a:srgbClr val="0051A5"/>
          </a:solidFill>
          <a:ln/>
        </p:spPr>
      </p:sp>
      <p:sp>
        <p:nvSpPr>
          <p:cNvPr id="39" name="Text 35"/>
          <p:cNvSpPr/>
          <p:nvPr/>
        </p:nvSpPr>
        <p:spPr>
          <a:xfrm>
            <a:off x="462915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AI</a:t>
            </a:r>
            <a:endParaRPr lang="en-US" sz="900" dirty="0"/>
          </a:p>
        </p:txBody>
      </p:sp>
      <p:sp>
        <p:nvSpPr>
          <p:cNvPr id="40" name="Shape 36"/>
          <p:cNvSpPr/>
          <p:nvPr/>
        </p:nvSpPr>
        <p:spPr>
          <a:xfrm>
            <a:off x="5181219" y="4498848"/>
            <a:ext cx="164592" cy="164592"/>
          </a:xfrm>
          <a:prstGeom prst="ellipse">
            <a:avLst/>
          </a:prstGeom>
          <a:solidFill>
            <a:srgbClr val="5B6778"/>
          </a:solidFill>
          <a:ln/>
        </p:spPr>
      </p:sp>
      <p:sp>
        <p:nvSpPr>
          <p:cNvPr id="41" name="Text 37"/>
          <p:cNvSpPr/>
          <p:nvPr/>
        </p:nvSpPr>
        <p:spPr>
          <a:xfrm>
            <a:off x="462915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42" name="Text 38"/>
          <p:cNvSpPr/>
          <p:nvPr/>
        </p:nvSpPr>
        <p:spPr>
          <a:xfrm>
            <a:off x="548640" y="498348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METRICS &amp; TREND (LAST 4 MONTHS)</a:t>
            </a:r>
            <a:endParaRPr lang="en-US" sz="1000" dirty="0"/>
          </a:p>
        </p:txBody>
      </p:sp>
      <p:sp>
        <p:nvSpPr>
          <p:cNvPr id="43" name="Shape 39"/>
          <p:cNvSpPr/>
          <p:nvPr/>
        </p:nvSpPr>
        <p:spPr>
          <a:xfrm>
            <a:off x="548640" y="5257800"/>
            <a:ext cx="1268730" cy="914400"/>
          </a:xfrm>
          <a:prstGeom prst="rect">
            <a:avLst/>
          </a:prstGeom>
          <a:solidFill>
            <a:srgbClr val="F6F8FB"/>
          </a:solidFill>
          <a:ln w="6350">
            <a:solidFill>
              <a:srgbClr val="D6DEE8"/>
            </a:solidFill>
            <a:prstDash val="solid"/>
          </a:ln>
        </p:spPr>
      </p:sp>
      <p:sp>
        <p:nvSpPr>
          <p:cNvPr id="44" name="Text 40"/>
          <p:cNvSpPr/>
          <p:nvPr/>
        </p:nvSpPr>
        <p:spPr>
          <a:xfrm>
            <a:off x="59436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45" name="Text 41"/>
          <p:cNvSpPr/>
          <p:nvPr/>
        </p:nvSpPr>
        <p:spPr>
          <a:xfrm>
            <a:off x="59436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IaC coverage %</a:t>
            </a:r>
            <a:endParaRPr lang="en-US" sz="850" dirty="0"/>
          </a:p>
        </p:txBody>
      </p:sp>
      <p:sp>
        <p:nvSpPr>
          <p:cNvPr id="46" name="Shape 42"/>
          <p:cNvSpPr/>
          <p:nvPr/>
        </p:nvSpPr>
        <p:spPr>
          <a:xfrm>
            <a:off x="713232" y="5971032"/>
            <a:ext cx="91440" cy="91440"/>
          </a:xfrm>
          <a:prstGeom prst="ellipse">
            <a:avLst/>
          </a:prstGeom>
          <a:solidFill>
            <a:srgbClr val="0051A5"/>
          </a:solidFill>
          <a:ln/>
        </p:spPr>
      </p:sp>
      <p:sp>
        <p:nvSpPr>
          <p:cNvPr id="47" name="Shape 43"/>
          <p:cNvSpPr/>
          <p:nvPr/>
        </p:nvSpPr>
        <p:spPr>
          <a:xfrm>
            <a:off x="1026414" y="5971032"/>
            <a:ext cx="91440" cy="91440"/>
          </a:xfrm>
          <a:prstGeom prst="ellipse">
            <a:avLst/>
          </a:prstGeom>
          <a:solidFill>
            <a:srgbClr val="0051A5"/>
          </a:solidFill>
          <a:ln/>
        </p:spPr>
      </p:sp>
      <p:sp>
        <p:nvSpPr>
          <p:cNvPr id="48" name="Shape 44"/>
          <p:cNvSpPr/>
          <p:nvPr/>
        </p:nvSpPr>
        <p:spPr>
          <a:xfrm>
            <a:off x="758952" y="6016752"/>
            <a:ext cx="313182" cy="0"/>
          </a:xfrm>
          <a:prstGeom prst="line">
            <a:avLst/>
          </a:prstGeom>
          <a:noFill/>
          <a:ln w="12700">
            <a:solidFill>
              <a:srgbClr val="0051A5"/>
            </a:solidFill>
            <a:prstDash val="solid"/>
          </a:ln>
        </p:spPr>
      </p:sp>
      <p:sp>
        <p:nvSpPr>
          <p:cNvPr id="49" name="Shape 45"/>
          <p:cNvSpPr/>
          <p:nvPr/>
        </p:nvSpPr>
        <p:spPr>
          <a:xfrm>
            <a:off x="1339596" y="5971032"/>
            <a:ext cx="91440" cy="91440"/>
          </a:xfrm>
          <a:prstGeom prst="ellipse">
            <a:avLst/>
          </a:prstGeom>
          <a:solidFill>
            <a:srgbClr val="0051A5"/>
          </a:solidFill>
          <a:ln/>
        </p:spPr>
      </p:sp>
      <p:sp>
        <p:nvSpPr>
          <p:cNvPr id="50" name="Shape 46"/>
          <p:cNvSpPr/>
          <p:nvPr/>
        </p:nvSpPr>
        <p:spPr>
          <a:xfrm>
            <a:off x="1072134" y="6016752"/>
            <a:ext cx="313182" cy="0"/>
          </a:xfrm>
          <a:prstGeom prst="line">
            <a:avLst/>
          </a:prstGeom>
          <a:noFill/>
          <a:ln w="12700">
            <a:solidFill>
              <a:srgbClr val="0051A5"/>
            </a:solidFill>
            <a:prstDash val="solid"/>
          </a:ln>
        </p:spPr>
      </p:sp>
      <p:sp>
        <p:nvSpPr>
          <p:cNvPr id="51" name="Shape 47"/>
          <p:cNvSpPr/>
          <p:nvPr/>
        </p:nvSpPr>
        <p:spPr>
          <a:xfrm>
            <a:off x="1652778" y="5971032"/>
            <a:ext cx="91440" cy="91440"/>
          </a:xfrm>
          <a:prstGeom prst="ellipse">
            <a:avLst/>
          </a:prstGeom>
          <a:solidFill>
            <a:srgbClr val="FEDF01"/>
          </a:solidFill>
          <a:ln/>
        </p:spPr>
      </p:sp>
      <p:sp>
        <p:nvSpPr>
          <p:cNvPr id="52" name="Shape 48"/>
          <p:cNvSpPr/>
          <p:nvPr/>
        </p:nvSpPr>
        <p:spPr>
          <a:xfrm>
            <a:off x="1385316" y="6016752"/>
            <a:ext cx="313182" cy="0"/>
          </a:xfrm>
          <a:prstGeom prst="line">
            <a:avLst/>
          </a:prstGeom>
          <a:noFill/>
          <a:ln w="12700">
            <a:solidFill>
              <a:srgbClr val="0051A5"/>
            </a:solidFill>
            <a:prstDash val="solid"/>
          </a:ln>
        </p:spPr>
      </p:sp>
      <p:sp>
        <p:nvSpPr>
          <p:cNvPr id="53" name="Shape 49"/>
          <p:cNvSpPr/>
          <p:nvPr/>
        </p:nvSpPr>
        <p:spPr>
          <a:xfrm>
            <a:off x="1908810" y="5257800"/>
            <a:ext cx="1268730" cy="914400"/>
          </a:xfrm>
          <a:prstGeom prst="rect">
            <a:avLst/>
          </a:prstGeom>
          <a:solidFill>
            <a:srgbClr val="F6F8FB"/>
          </a:solidFill>
          <a:ln w="6350">
            <a:solidFill>
              <a:srgbClr val="D6DEE8"/>
            </a:solidFill>
            <a:prstDash val="solid"/>
          </a:ln>
        </p:spPr>
      </p:sp>
      <p:sp>
        <p:nvSpPr>
          <p:cNvPr id="54" name="Text 50"/>
          <p:cNvSpPr/>
          <p:nvPr/>
        </p:nvSpPr>
        <p:spPr>
          <a:xfrm>
            <a:off x="195453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55" name="Text 51"/>
          <p:cNvSpPr/>
          <p:nvPr/>
        </p:nvSpPr>
        <p:spPr>
          <a:xfrm>
            <a:off x="195453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Drift incidents</a:t>
            </a:r>
            <a:endParaRPr lang="en-US" sz="850" dirty="0"/>
          </a:p>
        </p:txBody>
      </p:sp>
      <p:sp>
        <p:nvSpPr>
          <p:cNvPr id="56" name="Shape 52"/>
          <p:cNvSpPr/>
          <p:nvPr/>
        </p:nvSpPr>
        <p:spPr>
          <a:xfrm>
            <a:off x="2073402" y="5971032"/>
            <a:ext cx="91440" cy="91440"/>
          </a:xfrm>
          <a:prstGeom prst="ellipse">
            <a:avLst/>
          </a:prstGeom>
          <a:solidFill>
            <a:srgbClr val="0051A5"/>
          </a:solidFill>
          <a:ln/>
        </p:spPr>
      </p:sp>
      <p:sp>
        <p:nvSpPr>
          <p:cNvPr id="57" name="Shape 53"/>
          <p:cNvSpPr/>
          <p:nvPr/>
        </p:nvSpPr>
        <p:spPr>
          <a:xfrm>
            <a:off x="2386584" y="5971032"/>
            <a:ext cx="91440" cy="91440"/>
          </a:xfrm>
          <a:prstGeom prst="ellipse">
            <a:avLst/>
          </a:prstGeom>
          <a:solidFill>
            <a:srgbClr val="0051A5"/>
          </a:solidFill>
          <a:ln/>
        </p:spPr>
      </p:sp>
      <p:sp>
        <p:nvSpPr>
          <p:cNvPr id="58" name="Shape 54"/>
          <p:cNvSpPr/>
          <p:nvPr/>
        </p:nvSpPr>
        <p:spPr>
          <a:xfrm>
            <a:off x="2119122" y="6016752"/>
            <a:ext cx="313182" cy="0"/>
          </a:xfrm>
          <a:prstGeom prst="line">
            <a:avLst/>
          </a:prstGeom>
          <a:noFill/>
          <a:ln w="12700">
            <a:solidFill>
              <a:srgbClr val="0051A5"/>
            </a:solidFill>
            <a:prstDash val="solid"/>
          </a:ln>
        </p:spPr>
      </p:sp>
      <p:sp>
        <p:nvSpPr>
          <p:cNvPr id="59" name="Shape 55"/>
          <p:cNvSpPr/>
          <p:nvPr/>
        </p:nvSpPr>
        <p:spPr>
          <a:xfrm>
            <a:off x="2699766" y="5971032"/>
            <a:ext cx="91440" cy="91440"/>
          </a:xfrm>
          <a:prstGeom prst="ellipse">
            <a:avLst/>
          </a:prstGeom>
          <a:solidFill>
            <a:srgbClr val="0051A5"/>
          </a:solidFill>
          <a:ln/>
        </p:spPr>
      </p:sp>
      <p:sp>
        <p:nvSpPr>
          <p:cNvPr id="60" name="Shape 56"/>
          <p:cNvSpPr/>
          <p:nvPr/>
        </p:nvSpPr>
        <p:spPr>
          <a:xfrm>
            <a:off x="2432304" y="6016752"/>
            <a:ext cx="313182" cy="0"/>
          </a:xfrm>
          <a:prstGeom prst="line">
            <a:avLst/>
          </a:prstGeom>
          <a:noFill/>
          <a:ln w="12700">
            <a:solidFill>
              <a:srgbClr val="0051A5"/>
            </a:solidFill>
            <a:prstDash val="solid"/>
          </a:ln>
        </p:spPr>
      </p:sp>
      <p:sp>
        <p:nvSpPr>
          <p:cNvPr id="61" name="Shape 57"/>
          <p:cNvSpPr/>
          <p:nvPr/>
        </p:nvSpPr>
        <p:spPr>
          <a:xfrm>
            <a:off x="3012948" y="5971032"/>
            <a:ext cx="91440" cy="91440"/>
          </a:xfrm>
          <a:prstGeom prst="ellipse">
            <a:avLst/>
          </a:prstGeom>
          <a:solidFill>
            <a:srgbClr val="FEDF01"/>
          </a:solidFill>
          <a:ln/>
        </p:spPr>
      </p:sp>
      <p:sp>
        <p:nvSpPr>
          <p:cNvPr id="62" name="Shape 58"/>
          <p:cNvSpPr/>
          <p:nvPr/>
        </p:nvSpPr>
        <p:spPr>
          <a:xfrm>
            <a:off x="2745486" y="6016752"/>
            <a:ext cx="313182" cy="0"/>
          </a:xfrm>
          <a:prstGeom prst="line">
            <a:avLst/>
          </a:prstGeom>
          <a:noFill/>
          <a:ln w="12700">
            <a:solidFill>
              <a:srgbClr val="0051A5"/>
            </a:solidFill>
            <a:prstDash val="solid"/>
          </a:ln>
        </p:spPr>
      </p:sp>
      <p:sp>
        <p:nvSpPr>
          <p:cNvPr id="63" name="Shape 59"/>
          <p:cNvSpPr/>
          <p:nvPr/>
        </p:nvSpPr>
        <p:spPr>
          <a:xfrm>
            <a:off x="3268980" y="5257800"/>
            <a:ext cx="1268730" cy="914400"/>
          </a:xfrm>
          <a:prstGeom prst="rect">
            <a:avLst/>
          </a:prstGeom>
          <a:solidFill>
            <a:srgbClr val="F6F8FB"/>
          </a:solidFill>
          <a:ln w="6350">
            <a:solidFill>
              <a:srgbClr val="D6DEE8"/>
            </a:solidFill>
            <a:prstDash val="solid"/>
          </a:ln>
        </p:spPr>
      </p:sp>
      <p:sp>
        <p:nvSpPr>
          <p:cNvPr id="64" name="Text 60"/>
          <p:cNvSpPr/>
          <p:nvPr/>
        </p:nvSpPr>
        <p:spPr>
          <a:xfrm>
            <a:off x="331470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65" name="Text 61"/>
          <p:cNvSpPr/>
          <p:nvPr/>
        </p:nvSpPr>
        <p:spPr>
          <a:xfrm>
            <a:off x="331470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Open audit findings</a:t>
            </a:r>
            <a:endParaRPr lang="en-US" sz="850" dirty="0"/>
          </a:p>
        </p:txBody>
      </p:sp>
      <p:sp>
        <p:nvSpPr>
          <p:cNvPr id="66" name="Shape 62"/>
          <p:cNvSpPr/>
          <p:nvPr/>
        </p:nvSpPr>
        <p:spPr>
          <a:xfrm>
            <a:off x="3433572" y="5971032"/>
            <a:ext cx="91440" cy="91440"/>
          </a:xfrm>
          <a:prstGeom prst="ellipse">
            <a:avLst/>
          </a:prstGeom>
          <a:solidFill>
            <a:srgbClr val="0051A5"/>
          </a:solidFill>
          <a:ln/>
        </p:spPr>
      </p:sp>
      <p:sp>
        <p:nvSpPr>
          <p:cNvPr id="67" name="Shape 63"/>
          <p:cNvSpPr/>
          <p:nvPr/>
        </p:nvSpPr>
        <p:spPr>
          <a:xfrm>
            <a:off x="3746754" y="5971032"/>
            <a:ext cx="91440" cy="91440"/>
          </a:xfrm>
          <a:prstGeom prst="ellipse">
            <a:avLst/>
          </a:prstGeom>
          <a:solidFill>
            <a:srgbClr val="0051A5"/>
          </a:solidFill>
          <a:ln/>
        </p:spPr>
      </p:sp>
      <p:sp>
        <p:nvSpPr>
          <p:cNvPr id="68" name="Shape 64"/>
          <p:cNvSpPr/>
          <p:nvPr/>
        </p:nvSpPr>
        <p:spPr>
          <a:xfrm>
            <a:off x="3479292" y="6016752"/>
            <a:ext cx="313182" cy="0"/>
          </a:xfrm>
          <a:prstGeom prst="line">
            <a:avLst/>
          </a:prstGeom>
          <a:noFill/>
          <a:ln w="12700">
            <a:solidFill>
              <a:srgbClr val="0051A5"/>
            </a:solidFill>
            <a:prstDash val="solid"/>
          </a:ln>
        </p:spPr>
      </p:sp>
      <p:sp>
        <p:nvSpPr>
          <p:cNvPr id="69" name="Shape 65"/>
          <p:cNvSpPr/>
          <p:nvPr/>
        </p:nvSpPr>
        <p:spPr>
          <a:xfrm>
            <a:off x="4059936" y="5971032"/>
            <a:ext cx="91440" cy="91440"/>
          </a:xfrm>
          <a:prstGeom prst="ellipse">
            <a:avLst/>
          </a:prstGeom>
          <a:solidFill>
            <a:srgbClr val="0051A5"/>
          </a:solidFill>
          <a:ln/>
        </p:spPr>
      </p:sp>
      <p:sp>
        <p:nvSpPr>
          <p:cNvPr id="70" name="Shape 66"/>
          <p:cNvSpPr/>
          <p:nvPr/>
        </p:nvSpPr>
        <p:spPr>
          <a:xfrm>
            <a:off x="3792474" y="6016752"/>
            <a:ext cx="313182" cy="0"/>
          </a:xfrm>
          <a:prstGeom prst="line">
            <a:avLst/>
          </a:prstGeom>
          <a:noFill/>
          <a:ln w="12700">
            <a:solidFill>
              <a:srgbClr val="0051A5"/>
            </a:solidFill>
            <a:prstDash val="solid"/>
          </a:ln>
        </p:spPr>
      </p:sp>
      <p:sp>
        <p:nvSpPr>
          <p:cNvPr id="71" name="Shape 67"/>
          <p:cNvSpPr/>
          <p:nvPr/>
        </p:nvSpPr>
        <p:spPr>
          <a:xfrm>
            <a:off x="4373118" y="5971032"/>
            <a:ext cx="91440" cy="91440"/>
          </a:xfrm>
          <a:prstGeom prst="ellipse">
            <a:avLst/>
          </a:prstGeom>
          <a:solidFill>
            <a:srgbClr val="FEDF01"/>
          </a:solidFill>
          <a:ln/>
        </p:spPr>
      </p:sp>
      <p:sp>
        <p:nvSpPr>
          <p:cNvPr id="72" name="Shape 68"/>
          <p:cNvSpPr/>
          <p:nvPr/>
        </p:nvSpPr>
        <p:spPr>
          <a:xfrm>
            <a:off x="4105656" y="6016752"/>
            <a:ext cx="313182" cy="0"/>
          </a:xfrm>
          <a:prstGeom prst="line">
            <a:avLst/>
          </a:prstGeom>
          <a:noFill/>
          <a:ln w="12700">
            <a:solidFill>
              <a:srgbClr val="0051A5"/>
            </a:solidFill>
            <a:prstDash val="solid"/>
          </a:ln>
        </p:spPr>
      </p:sp>
      <p:sp>
        <p:nvSpPr>
          <p:cNvPr id="73" name="Shape 69"/>
          <p:cNvSpPr/>
          <p:nvPr/>
        </p:nvSpPr>
        <p:spPr>
          <a:xfrm>
            <a:off x="4629150" y="5257800"/>
            <a:ext cx="1268730" cy="914400"/>
          </a:xfrm>
          <a:prstGeom prst="rect">
            <a:avLst/>
          </a:prstGeom>
          <a:solidFill>
            <a:srgbClr val="F6F8FB"/>
          </a:solidFill>
          <a:ln w="6350">
            <a:solidFill>
              <a:srgbClr val="D6DEE8"/>
            </a:solidFill>
            <a:prstDash val="solid"/>
          </a:ln>
        </p:spPr>
      </p:sp>
      <p:sp>
        <p:nvSpPr>
          <p:cNvPr id="74" name="Text 70"/>
          <p:cNvSpPr/>
          <p:nvPr/>
        </p:nvSpPr>
        <p:spPr>
          <a:xfrm>
            <a:off x="467487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75" name="Text 71"/>
          <p:cNvSpPr/>
          <p:nvPr/>
        </p:nvSpPr>
        <p:spPr>
          <a:xfrm>
            <a:off x="467487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Utilization %</a:t>
            </a:r>
            <a:endParaRPr lang="en-US" sz="850" dirty="0"/>
          </a:p>
        </p:txBody>
      </p:sp>
      <p:sp>
        <p:nvSpPr>
          <p:cNvPr id="76" name="Shape 72"/>
          <p:cNvSpPr/>
          <p:nvPr/>
        </p:nvSpPr>
        <p:spPr>
          <a:xfrm>
            <a:off x="4793742" y="5971032"/>
            <a:ext cx="91440" cy="91440"/>
          </a:xfrm>
          <a:prstGeom prst="ellipse">
            <a:avLst/>
          </a:prstGeom>
          <a:solidFill>
            <a:srgbClr val="0051A5"/>
          </a:solidFill>
          <a:ln/>
        </p:spPr>
      </p:sp>
      <p:sp>
        <p:nvSpPr>
          <p:cNvPr id="77" name="Shape 73"/>
          <p:cNvSpPr/>
          <p:nvPr/>
        </p:nvSpPr>
        <p:spPr>
          <a:xfrm>
            <a:off x="5106924" y="5971032"/>
            <a:ext cx="91440" cy="91440"/>
          </a:xfrm>
          <a:prstGeom prst="ellipse">
            <a:avLst/>
          </a:prstGeom>
          <a:solidFill>
            <a:srgbClr val="0051A5"/>
          </a:solidFill>
          <a:ln/>
        </p:spPr>
      </p:sp>
      <p:sp>
        <p:nvSpPr>
          <p:cNvPr id="78" name="Shape 74"/>
          <p:cNvSpPr/>
          <p:nvPr/>
        </p:nvSpPr>
        <p:spPr>
          <a:xfrm>
            <a:off x="4839462" y="6016752"/>
            <a:ext cx="313182" cy="0"/>
          </a:xfrm>
          <a:prstGeom prst="line">
            <a:avLst/>
          </a:prstGeom>
          <a:noFill/>
          <a:ln w="12700">
            <a:solidFill>
              <a:srgbClr val="0051A5"/>
            </a:solidFill>
            <a:prstDash val="solid"/>
          </a:ln>
        </p:spPr>
      </p:sp>
      <p:sp>
        <p:nvSpPr>
          <p:cNvPr id="79" name="Shape 75"/>
          <p:cNvSpPr/>
          <p:nvPr/>
        </p:nvSpPr>
        <p:spPr>
          <a:xfrm>
            <a:off x="5420106" y="5971032"/>
            <a:ext cx="91440" cy="91440"/>
          </a:xfrm>
          <a:prstGeom prst="ellipse">
            <a:avLst/>
          </a:prstGeom>
          <a:solidFill>
            <a:srgbClr val="0051A5"/>
          </a:solidFill>
          <a:ln/>
        </p:spPr>
      </p:sp>
      <p:sp>
        <p:nvSpPr>
          <p:cNvPr id="80" name="Shape 76"/>
          <p:cNvSpPr/>
          <p:nvPr/>
        </p:nvSpPr>
        <p:spPr>
          <a:xfrm>
            <a:off x="5152644" y="6016752"/>
            <a:ext cx="313182" cy="0"/>
          </a:xfrm>
          <a:prstGeom prst="line">
            <a:avLst/>
          </a:prstGeom>
          <a:noFill/>
          <a:ln w="12700">
            <a:solidFill>
              <a:srgbClr val="0051A5"/>
            </a:solidFill>
            <a:prstDash val="solid"/>
          </a:ln>
        </p:spPr>
      </p:sp>
      <p:sp>
        <p:nvSpPr>
          <p:cNvPr id="81" name="Shape 77"/>
          <p:cNvSpPr/>
          <p:nvPr/>
        </p:nvSpPr>
        <p:spPr>
          <a:xfrm>
            <a:off x="5733288" y="5971032"/>
            <a:ext cx="91440" cy="91440"/>
          </a:xfrm>
          <a:prstGeom prst="ellipse">
            <a:avLst/>
          </a:prstGeom>
          <a:solidFill>
            <a:srgbClr val="FEDF01"/>
          </a:solidFill>
          <a:ln/>
        </p:spPr>
      </p:sp>
      <p:sp>
        <p:nvSpPr>
          <p:cNvPr id="82" name="Shape 78"/>
          <p:cNvSpPr/>
          <p:nvPr/>
        </p:nvSpPr>
        <p:spPr>
          <a:xfrm>
            <a:off x="5465826" y="6016752"/>
            <a:ext cx="313182" cy="0"/>
          </a:xfrm>
          <a:prstGeom prst="line">
            <a:avLst/>
          </a:prstGeom>
          <a:noFill/>
          <a:ln w="12700">
            <a:solidFill>
              <a:srgbClr val="0051A5"/>
            </a:solidFill>
            <a:prstDash val="solid"/>
          </a:ln>
        </p:spPr>
      </p:sp>
      <p:sp>
        <p:nvSpPr>
          <p:cNvPr id="83" name="Text 79"/>
          <p:cNvSpPr/>
          <p:nvPr/>
        </p:nvSpPr>
        <p:spPr>
          <a:xfrm>
            <a:off x="6126480" y="2514600"/>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KEY ACCOMPLISHMENTS — LAST 30 DAYS</a:t>
            </a:r>
            <a:endParaRPr lang="en-US" sz="1000" dirty="0"/>
          </a:p>
        </p:txBody>
      </p:sp>
      <p:sp>
        <p:nvSpPr>
          <p:cNvPr id="84" name="Text 80"/>
          <p:cNvSpPr/>
          <p:nvPr/>
        </p:nvSpPr>
        <p:spPr>
          <a:xfrm>
            <a:off x="6126480" y="2788920"/>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p:txBody>
      </p:sp>
      <p:sp>
        <p:nvSpPr>
          <p:cNvPr id="85" name="Text 81"/>
          <p:cNvSpPr/>
          <p:nvPr/>
        </p:nvSpPr>
        <p:spPr>
          <a:xfrm>
            <a:off x="6126480" y="3657600"/>
            <a:ext cx="22860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BLOCKERS &amp; RISKS</a:t>
            </a:r>
            <a:endParaRPr lang="en-US" sz="1000" dirty="0"/>
          </a:p>
        </p:txBody>
      </p:sp>
      <p:sp>
        <p:nvSpPr>
          <p:cNvPr id="86" name="Text 82"/>
          <p:cNvSpPr/>
          <p:nvPr/>
        </p:nvSpPr>
        <p:spPr>
          <a:xfrm>
            <a:off x="8458200" y="3657600"/>
            <a:ext cx="3154680" cy="228600"/>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blocker · severity · owner · ETA</a:t>
            </a:r>
            <a:endParaRPr lang="en-US" sz="900" dirty="0"/>
          </a:p>
        </p:txBody>
      </p:sp>
      <p:sp>
        <p:nvSpPr>
          <p:cNvPr id="87" name="Shape 83"/>
          <p:cNvSpPr/>
          <p:nvPr/>
        </p:nvSpPr>
        <p:spPr>
          <a:xfrm>
            <a:off x="6126480" y="3931920"/>
            <a:ext cx="5486400" cy="292608"/>
          </a:xfrm>
          <a:prstGeom prst="rect">
            <a:avLst/>
          </a:prstGeom>
          <a:solidFill>
            <a:srgbClr val="F6F8FB"/>
          </a:solidFill>
          <a:ln w="5080">
            <a:solidFill>
              <a:srgbClr val="D6DEE8"/>
            </a:solidFill>
            <a:prstDash val="solid"/>
          </a:ln>
        </p:spPr>
      </p:sp>
      <p:sp>
        <p:nvSpPr>
          <p:cNvPr id="88" name="Shape 84"/>
          <p:cNvSpPr/>
          <p:nvPr/>
        </p:nvSpPr>
        <p:spPr>
          <a:xfrm>
            <a:off x="6126480" y="3931920"/>
            <a:ext cx="54864" cy="292608"/>
          </a:xfrm>
          <a:prstGeom prst="rect">
            <a:avLst/>
          </a:prstGeom>
          <a:solidFill>
            <a:srgbClr val="B91C1C"/>
          </a:solidFill>
          <a:ln/>
        </p:spPr>
      </p:sp>
      <p:sp>
        <p:nvSpPr>
          <p:cNvPr id="89" name="Text 85"/>
          <p:cNvSpPr/>
          <p:nvPr/>
        </p:nvSpPr>
        <p:spPr>
          <a:xfrm>
            <a:off x="6263640" y="3931920"/>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0" name="Text 86"/>
          <p:cNvSpPr/>
          <p:nvPr/>
        </p:nvSpPr>
        <p:spPr>
          <a:xfrm>
            <a:off x="9052560" y="3931920"/>
            <a:ext cx="365760" cy="292608"/>
          </a:xfrm>
          <a:prstGeom prst="rect">
            <a:avLst/>
          </a:prstGeom>
          <a:noFill/>
          <a:ln/>
        </p:spPr>
        <p:txBody>
          <a:bodyPr wrap="square" lIns="0" tIns="0" rIns="0" bIns="0" rtlCol="0" anchor="ctr"/>
          <a:lstStyle/>
          <a:p>
            <a:pPr algn="ctr" indent="0" marL="0">
              <a:buNone/>
            </a:pPr>
            <a:r>
              <a:rPr lang="en-US" sz="1100" b="1" dirty="0">
                <a:solidFill>
                  <a:srgbClr val="B91C1C"/>
                </a:solidFill>
                <a:latin typeface="Trebuchet MS" pitchFamily="34" charset="0"/>
                <a:ea typeface="Trebuchet MS" pitchFamily="34" charset="-122"/>
                <a:cs typeface="Trebuchet MS" pitchFamily="34" charset="-120"/>
              </a:rPr>
              <a:t>H</a:t>
            </a:r>
            <a:endParaRPr lang="en-US" sz="1100" dirty="0"/>
          </a:p>
        </p:txBody>
      </p:sp>
      <p:sp>
        <p:nvSpPr>
          <p:cNvPr id="91" name="Text 87"/>
          <p:cNvSpPr/>
          <p:nvPr/>
        </p:nvSpPr>
        <p:spPr>
          <a:xfrm>
            <a:off x="9464040" y="3931920"/>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2" name="Text 88"/>
          <p:cNvSpPr/>
          <p:nvPr/>
        </p:nvSpPr>
        <p:spPr>
          <a:xfrm>
            <a:off x="10652760" y="3931920"/>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3" name="Shape 89"/>
          <p:cNvSpPr/>
          <p:nvPr/>
        </p:nvSpPr>
        <p:spPr>
          <a:xfrm>
            <a:off x="6126480" y="4261104"/>
            <a:ext cx="5486400" cy="292608"/>
          </a:xfrm>
          <a:prstGeom prst="rect">
            <a:avLst/>
          </a:prstGeom>
          <a:solidFill>
            <a:srgbClr val="F6F8FB"/>
          </a:solidFill>
          <a:ln w="5080">
            <a:solidFill>
              <a:srgbClr val="D6DEE8"/>
            </a:solidFill>
            <a:prstDash val="solid"/>
          </a:ln>
        </p:spPr>
      </p:sp>
      <p:sp>
        <p:nvSpPr>
          <p:cNvPr id="94" name="Shape 90"/>
          <p:cNvSpPr/>
          <p:nvPr/>
        </p:nvSpPr>
        <p:spPr>
          <a:xfrm>
            <a:off x="6126480" y="4261104"/>
            <a:ext cx="54864" cy="292608"/>
          </a:xfrm>
          <a:prstGeom prst="rect">
            <a:avLst/>
          </a:prstGeom>
          <a:solidFill>
            <a:srgbClr val="C97A00"/>
          </a:solidFill>
          <a:ln/>
        </p:spPr>
      </p:sp>
      <p:sp>
        <p:nvSpPr>
          <p:cNvPr id="95" name="Text 91"/>
          <p:cNvSpPr/>
          <p:nvPr/>
        </p:nvSpPr>
        <p:spPr>
          <a:xfrm>
            <a:off x="6263640" y="4261104"/>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6" name="Text 92"/>
          <p:cNvSpPr/>
          <p:nvPr/>
        </p:nvSpPr>
        <p:spPr>
          <a:xfrm>
            <a:off x="9052560" y="4261104"/>
            <a:ext cx="365760" cy="292608"/>
          </a:xfrm>
          <a:prstGeom prst="rect">
            <a:avLst/>
          </a:prstGeom>
          <a:noFill/>
          <a:ln/>
        </p:spPr>
        <p:txBody>
          <a:bodyPr wrap="square" lIns="0" tIns="0" rIns="0" bIns="0" rtlCol="0" anchor="ctr"/>
          <a:lstStyle/>
          <a:p>
            <a:pPr algn="ctr" indent="0" marL="0">
              <a:buNone/>
            </a:pPr>
            <a:r>
              <a:rPr lang="en-US" sz="1100" b="1" dirty="0">
                <a:solidFill>
                  <a:srgbClr val="C97A00"/>
                </a:solidFill>
                <a:latin typeface="Trebuchet MS" pitchFamily="34" charset="0"/>
                <a:ea typeface="Trebuchet MS" pitchFamily="34" charset="-122"/>
                <a:cs typeface="Trebuchet MS" pitchFamily="34" charset="-120"/>
              </a:rPr>
              <a:t>M</a:t>
            </a:r>
            <a:endParaRPr lang="en-US" sz="1100" dirty="0"/>
          </a:p>
        </p:txBody>
      </p:sp>
      <p:sp>
        <p:nvSpPr>
          <p:cNvPr id="97" name="Text 93"/>
          <p:cNvSpPr/>
          <p:nvPr/>
        </p:nvSpPr>
        <p:spPr>
          <a:xfrm>
            <a:off x="9464040" y="4261104"/>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8" name="Text 94"/>
          <p:cNvSpPr/>
          <p:nvPr/>
        </p:nvSpPr>
        <p:spPr>
          <a:xfrm>
            <a:off x="10652760" y="4261104"/>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9" name="Text 95"/>
          <p:cNvSpPr/>
          <p:nvPr/>
        </p:nvSpPr>
        <p:spPr>
          <a:xfrm>
            <a:off x="6126480" y="4681728"/>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NEXT 30 DAYS — KEY DELIVERABLES</a:t>
            </a:r>
            <a:endParaRPr lang="en-US" sz="1000" dirty="0"/>
          </a:p>
        </p:txBody>
      </p:sp>
      <p:sp>
        <p:nvSpPr>
          <p:cNvPr id="100" name="Text 96"/>
          <p:cNvSpPr/>
          <p:nvPr/>
        </p:nvSpPr>
        <p:spPr>
          <a:xfrm>
            <a:off x="6126480" y="4956048"/>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p:txBody>
      </p:sp>
      <p:sp>
        <p:nvSpPr>
          <p:cNvPr id="101" name="Shape 97"/>
          <p:cNvSpPr/>
          <p:nvPr/>
        </p:nvSpPr>
        <p:spPr>
          <a:xfrm>
            <a:off x="6126480" y="5824728"/>
            <a:ext cx="5486400" cy="594360"/>
          </a:xfrm>
          <a:prstGeom prst="rect">
            <a:avLst/>
          </a:prstGeom>
          <a:solidFill>
            <a:srgbClr val="001F47"/>
          </a:solidFill>
          <a:ln/>
        </p:spPr>
      </p:sp>
      <p:sp>
        <p:nvSpPr>
          <p:cNvPr id="102" name="Text 98"/>
          <p:cNvSpPr/>
          <p:nvPr/>
        </p:nvSpPr>
        <p:spPr>
          <a:xfrm>
            <a:off x="6309360" y="5879592"/>
            <a:ext cx="521208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ASK FROM STEERING</a:t>
            </a:r>
            <a:endParaRPr lang="en-US" sz="900" dirty="0"/>
          </a:p>
        </p:txBody>
      </p:sp>
      <p:sp>
        <p:nvSpPr>
          <p:cNvPr id="103" name="Text 99"/>
          <p:cNvSpPr/>
          <p:nvPr/>
        </p:nvSpPr>
        <p:spPr>
          <a:xfrm>
            <a:off x="6309360" y="6080760"/>
            <a:ext cx="521208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Decision needed, by when ]</a:t>
            </a:r>
            <a:endParaRPr lang="en-US" sz="1100" dirty="0"/>
          </a:p>
        </p:txBody>
      </p:sp>
      <p:sp>
        <p:nvSpPr>
          <p:cNvPr id="104" name="Text 10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26 / 30</a:t>
            </a:r>
            <a:endParaRPr lang="en-US" sz="900" dirty="0"/>
          </a:p>
        </p:txBody>
      </p:sp>
      <p:sp>
        <p:nvSpPr>
          <p:cNvPr id="105" name="Text 10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25  ·  PLATFORM STATUS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Compute platform — status update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594360"/>
          </a:xfrm>
          <a:prstGeom prst="rect">
            <a:avLst/>
          </a:prstGeom>
          <a:solidFill>
            <a:srgbClr val="001F47"/>
          </a:solidFill>
          <a:ln/>
        </p:spPr>
      </p:sp>
      <p:sp>
        <p:nvSpPr>
          <p:cNvPr id="7" name="Shape 4"/>
          <p:cNvSpPr/>
          <p:nvPr/>
        </p:nvSpPr>
        <p:spPr>
          <a:xfrm>
            <a:off x="713232" y="1892808"/>
            <a:ext cx="365760" cy="365760"/>
          </a:xfrm>
          <a:prstGeom prst="ellipse">
            <a:avLst/>
          </a:prstGeom>
          <a:solidFill>
            <a:srgbClr val="FEDF01"/>
          </a:solidFill>
          <a:ln/>
        </p:spPr>
      </p:sp>
      <p:pic>
        <p:nvPicPr>
          <p:cNvPr id="8" name="Image 1" descr="preencoded.png">    </p:cNvPr>
          <p:cNvPicPr>
            <a:picLocks noChangeAspect="1"/>
          </p:cNvPicPr>
          <p:nvPr/>
        </p:nvPicPr>
        <p:blipFill>
          <a:blip r:embed="rId2"/>
          <a:stretch>
            <a:fillRect/>
          </a:stretch>
        </p:blipFill>
        <p:spPr>
          <a:xfrm>
            <a:off x="786384" y="1965960"/>
            <a:ext cx="219456" cy="219456"/>
          </a:xfrm>
          <a:prstGeom prst="rect">
            <a:avLst/>
          </a:prstGeom>
        </p:spPr>
      </p:pic>
      <p:sp>
        <p:nvSpPr>
          <p:cNvPr id="9" name="Text 5"/>
          <p:cNvSpPr/>
          <p:nvPr/>
        </p:nvSpPr>
        <p:spPr>
          <a:xfrm>
            <a:off x="1188720" y="1783080"/>
            <a:ext cx="3657600" cy="5943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Compute</a:t>
            </a:r>
            <a:endParaRPr lang="en-US" sz="1800" dirty="0"/>
          </a:p>
        </p:txBody>
      </p:sp>
      <p:sp>
        <p:nvSpPr>
          <p:cNvPr id="10" name="Text 6"/>
          <p:cNvSpPr/>
          <p:nvPr/>
        </p:nvSpPr>
        <p:spPr>
          <a:xfrm>
            <a:off x="4754880" y="1856232"/>
            <a:ext cx="22860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REPORTING PERIOD</a:t>
            </a:r>
            <a:endParaRPr lang="en-US" sz="900" dirty="0"/>
          </a:p>
        </p:txBody>
      </p:sp>
      <p:sp>
        <p:nvSpPr>
          <p:cNvPr id="11" name="Text 7"/>
          <p:cNvSpPr/>
          <p:nvPr/>
        </p:nvSpPr>
        <p:spPr>
          <a:xfrm>
            <a:off x="4754880" y="2075688"/>
            <a:ext cx="2286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[Month YYYY]</a:t>
            </a:r>
            <a:endParaRPr lang="en-US" sz="1200" dirty="0"/>
          </a:p>
        </p:txBody>
      </p:sp>
      <p:sp>
        <p:nvSpPr>
          <p:cNvPr id="12" name="Text 8"/>
          <p:cNvSpPr/>
          <p:nvPr/>
        </p:nvSpPr>
        <p:spPr>
          <a:xfrm>
            <a:off x="7223760" y="1856232"/>
            <a:ext cx="18288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OVERALL RAG</a:t>
            </a:r>
            <a:endParaRPr lang="en-US" sz="900" dirty="0"/>
          </a:p>
        </p:txBody>
      </p:sp>
      <p:sp>
        <p:nvSpPr>
          <p:cNvPr id="13" name="Shape 9"/>
          <p:cNvSpPr/>
          <p:nvPr/>
        </p:nvSpPr>
        <p:spPr>
          <a:xfrm>
            <a:off x="7223760" y="2075688"/>
            <a:ext cx="256032" cy="256032"/>
          </a:xfrm>
          <a:prstGeom prst="ellipse">
            <a:avLst/>
          </a:prstGeom>
          <a:solidFill>
            <a:srgbClr val="5B6778"/>
          </a:solidFill>
          <a:ln w="12700">
            <a:solidFill>
              <a:srgbClr val="FFFFFF"/>
            </a:solidFill>
            <a:prstDash val="solid"/>
          </a:ln>
        </p:spPr>
      </p:sp>
      <p:sp>
        <p:nvSpPr>
          <p:cNvPr id="14" name="Text 10"/>
          <p:cNvSpPr/>
          <p:nvPr/>
        </p:nvSpPr>
        <p:spPr>
          <a:xfrm>
            <a:off x="7543800" y="2075688"/>
            <a:ext cx="137160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G/Y/R ]</a:t>
            </a:r>
            <a:endParaRPr lang="en-US" sz="1100" dirty="0"/>
          </a:p>
        </p:txBody>
      </p:sp>
      <p:sp>
        <p:nvSpPr>
          <p:cNvPr id="15" name="Text 11"/>
          <p:cNvSpPr/>
          <p:nvPr/>
        </p:nvSpPr>
        <p:spPr>
          <a:xfrm>
            <a:off x="9052560" y="1856232"/>
            <a:ext cx="2560320" cy="228600"/>
          </a:xfrm>
          <a:prstGeom prst="rect">
            <a:avLst/>
          </a:prstGeom>
          <a:noFill/>
          <a:ln/>
        </p:spPr>
        <p:txBody>
          <a:bodyPr wrap="square" lIns="0" tIns="0" rIns="0" bIns="0" rtlCol="0" anchor="ctr"/>
          <a:lstStyle/>
          <a:p>
            <a:pPr indent="0" marL="0">
              <a:buNone/>
            </a:pPr>
            <a:r>
              <a:rPr lang="en-US" sz="900" b="1" spc="100" kern="0" dirty="0">
                <a:solidFill>
                  <a:srgbClr val="FEDF01"/>
                </a:solidFill>
                <a:latin typeface="Trebuchet MS" pitchFamily="34" charset="0"/>
                <a:ea typeface="Trebuchet MS" pitchFamily="34" charset="-122"/>
                <a:cs typeface="Trebuchet MS" pitchFamily="34" charset="-120"/>
              </a:rPr>
              <a:t>LAST UPDATED  ·  NEXT REVIEW</a:t>
            </a:r>
            <a:endParaRPr lang="en-US" sz="900" dirty="0"/>
          </a:p>
        </p:txBody>
      </p:sp>
      <p:sp>
        <p:nvSpPr>
          <p:cNvPr id="16" name="Text 12"/>
          <p:cNvSpPr/>
          <p:nvPr/>
        </p:nvSpPr>
        <p:spPr>
          <a:xfrm>
            <a:off x="9052560" y="2075688"/>
            <a:ext cx="256032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[Date]  ·  [Date]</a:t>
            </a:r>
            <a:endParaRPr lang="en-US" sz="1100" dirty="0"/>
          </a:p>
        </p:txBody>
      </p:sp>
      <p:sp>
        <p:nvSpPr>
          <p:cNvPr id="17" name="Shape 13"/>
          <p:cNvSpPr/>
          <p:nvPr/>
        </p:nvSpPr>
        <p:spPr>
          <a:xfrm>
            <a:off x="548640" y="2514600"/>
            <a:ext cx="5349240" cy="1325880"/>
          </a:xfrm>
          <a:prstGeom prst="rect">
            <a:avLst/>
          </a:prstGeom>
          <a:solidFill>
            <a:srgbClr val="F6F8FB"/>
          </a:solidFill>
          <a:ln w="6350">
            <a:solidFill>
              <a:srgbClr val="D6DEE8"/>
            </a:solidFill>
            <a:prstDash val="solid"/>
          </a:ln>
        </p:spPr>
      </p:sp>
      <p:sp>
        <p:nvSpPr>
          <p:cNvPr id="18" name="Shape 14"/>
          <p:cNvSpPr/>
          <p:nvPr/>
        </p:nvSpPr>
        <p:spPr>
          <a:xfrm>
            <a:off x="548640" y="2514600"/>
            <a:ext cx="54864" cy="1325880"/>
          </a:xfrm>
          <a:prstGeom prst="rect">
            <a:avLst/>
          </a:prstGeom>
          <a:solidFill>
            <a:srgbClr val="FEDF01"/>
          </a:solidFill>
          <a:ln/>
        </p:spPr>
      </p:sp>
      <p:sp>
        <p:nvSpPr>
          <p:cNvPr id="19" name="Text 15"/>
          <p:cNvSpPr/>
          <p:nvPr/>
        </p:nvSpPr>
        <p:spPr>
          <a:xfrm>
            <a:off x="731520" y="2587752"/>
            <a:ext cx="507492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OWNERSHIP</a:t>
            </a:r>
            <a:endParaRPr lang="en-US" sz="1000" dirty="0"/>
          </a:p>
        </p:txBody>
      </p:sp>
      <p:sp>
        <p:nvSpPr>
          <p:cNvPr id="20" name="Text 16"/>
          <p:cNvSpPr/>
          <p:nvPr/>
        </p:nvSpPr>
        <p:spPr>
          <a:xfrm>
            <a:off x="731520" y="2834640"/>
            <a:ext cx="5074920" cy="960120"/>
          </a:xfrm>
          <a:prstGeom prst="rect">
            <a:avLst/>
          </a:prstGeom>
          <a:noFill/>
          <a:ln/>
        </p:spPr>
        <p:txBody>
          <a:bodyPr wrap="square" lIns="0" tIns="0" rIns="0" bIns="0" rtlCol="0" anchor="ctr"/>
          <a:lstStyle/>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Delivery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Tech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Engineering Manager: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Product Owner: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Team: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 FTE + [N] contractors  ·  Personas: Engineering, Operations, Delivery, Architecture, Security</a:t>
            </a:r>
            <a:endParaRPr lang="en-US" sz="1050" dirty="0"/>
          </a:p>
        </p:txBody>
      </p:sp>
      <p:sp>
        <p:nvSpPr>
          <p:cNvPr id="21" name="Text 17"/>
          <p:cNvSpPr/>
          <p:nvPr/>
        </p:nvSpPr>
        <p:spPr>
          <a:xfrm>
            <a:off x="548640" y="393192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WORKSTREAM TOUCHPOINTS</a:t>
            </a:r>
            <a:endParaRPr lang="en-US" sz="1000" dirty="0"/>
          </a:p>
        </p:txBody>
      </p:sp>
      <p:sp>
        <p:nvSpPr>
          <p:cNvPr id="22" name="Shape 18"/>
          <p:cNvSpPr/>
          <p:nvPr/>
        </p:nvSpPr>
        <p:spPr>
          <a:xfrm>
            <a:off x="548640" y="4206240"/>
            <a:ext cx="1268730" cy="640080"/>
          </a:xfrm>
          <a:prstGeom prst="rect">
            <a:avLst/>
          </a:prstGeom>
          <a:solidFill>
            <a:srgbClr val="FFFFFF"/>
          </a:solidFill>
          <a:ln w="6350">
            <a:solidFill>
              <a:srgbClr val="D6DEE8"/>
            </a:solidFill>
            <a:prstDash val="solid"/>
          </a:ln>
        </p:spPr>
      </p:sp>
      <p:sp>
        <p:nvSpPr>
          <p:cNvPr id="23" name="Shape 19"/>
          <p:cNvSpPr/>
          <p:nvPr/>
        </p:nvSpPr>
        <p:spPr>
          <a:xfrm>
            <a:off x="548640" y="4206240"/>
            <a:ext cx="1268730" cy="201168"/>
          </a:xfrm>
          <a:prstGeom prst="rect">
            <a:avLst/>
          </a:prstGeom>
          <a:solidFill>
            <a:srgbClr val="0051A5"/>
          </a:solidFill>
          <a:ln/>
        </p:spPr>
      </p:sp>
      <p:sp>
        <p:nvSpPr>
          <p:cNvPr id="24" name="Text 20"/>
          <p:cNvSpPr/>
          <p:nvPr/>
        </p:nvSpPr>
        <p:spPr>
          <a:xfrm>
            <a:off x="54864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IaC</a:t>
            </a:r>
            <a:endParaRPr lang="en-US" sz="900" dirty="0"/>
          </a:p>
        </p:txBody>
      </p:sp>
      <p:sp>
        <p:nvSpPr>
          <p:cNvPr id="25" name="Shape 21"/>
          <p:cNvSpPr/>
          <p:nvPr/>
        </p:nvSpPr>
        <p:spPr>
          <a:xfrm>
            <a:off x="1100709" y="4498848"/>
            <a:ext cx="164592" cy="164592"/>
          </a:xfrm>
          <a:prstGeom prst="ellipse">
            <a:avLst/>
          </a:prstGeom>
          <a:solidFill>
            <a:srgbClr val="5B6778"/>
          </a:solidFill>
          <a:ln/>
        </p:spPr>
      </p:sp>
      <p:sp>
        <p:nvSpPr>
          <p:cNvPr id="26" name="Text 22"/>
          <p:cNvSpPr/>
          <p:nvPr/>
        </p:nvSpPr>
        <p:spPr>
          <a:xfrm>
            <a:off x="54864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27" name="Shape 23"/>
          <p:cNvSpPr/>
          <p:nvPr/>
        </p:nvSpPr>
        <p:spPr>
          <a:xfrm>
            <a:off x="1908810" y="4206240"/>
            <a:ext cx="1268730" cy="640080"/>
          </a:xfrm>
          <a:prstGeom prst="rect">
            <a:avLst/>
          </a:prstGeom>
          <a:solidFill>
            <a:srgbClr val="FFFFFF"/>
          </a:solidFill>
          <a:ln w="6350">
            <a:solidFill>
              <a:srgbClr val="D6DEE8"/>
            </a:solidFill>
            <a:prstDash val="solid"/>
          </a:ln>
        </p:spPr>
      </p:sp>
      <p:sp>
        <p:nvSpPr>
          <p:cNvPr id="28" name="Shape 24"/>
          <p:cNvSpPr/>
          <p:nvPr/>
        </p:nvSpPr>
        <p:spPr>
          <a:xfrm>
            <a:off x="1908810" y="4206240"/>
            <a:ext cx="1268730" cy="201168"/>
          </a:xfrm>
          <a:prstGeom prst="rect">
            <a:avLst/>
          </a:prstGeom>
          <a:solidFill>
            <a:srgbClr val="0051A5"/>
          </a:solidFill>
          <a:ln/>
        </p:spPr>
      </p:sp>
      <p:sp>
        <p:nvSpPr>
          <p:cNvPr id="29" name="Text 25"/>
          <p:cNvSpPr/>
          <p:nvPr/>
        </p:nvSpPr>
        <p:spPr>
          <a:xfrm>
            <a:off x="190881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Comp.</a:t>
            </a:r>
            <a:endParaRPr lang="en-US" sz="900" dirty="0"/>
          </a:p>
        </p:txBody>
      </p:sp>
      <p:sp>
        <p:nvSpPr>
          <p:cNvPr id="30" name="Shape 26"/>
          <p:cNvSpPr/>
          <p:nvPr/>
        </p:nvSpPr>
        <p:spPr>
          <a:xfrm>
            <a:off x="2460879" y="4498848"/>
            <a:ext cx="164592" cy="164592"/>
          </a:xfrm>
          <a:prstGeom prst="ellipse">
            <a:avLst/>
          </a:prstGeom>
          <a:solidFill>
            <a:srgbClr val="5B6778"/>
          </a:solidFill>
          <a:ln/>
        </p:spPr>
      </p:sp>
      <p:sp>
        <p:nvSpPr>
          <p:cNvPr id="31" name="Text 27"/>
          <p:cNvSpPr/>
          <p:nvPr/>
        </p:nvSpPr>
        <p:spPr>
          <a:xfrm>
            <a:off x="190881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2" name="Shape 28"/>
          <p:cNvSpPr/>
          <p:nvPr/>
        </p:nvSpPr>
        <p:spPr>
          <a:xfrm>
            <a:off x="3268980" y="4206240"/>
            <a:ext cx="1268730" cy="640080"/>
          </a:xfrm>
          <a:prstGeom prst="rect">
            <a:avLst/>
          </a:prstGeom>
          <a:solidFill>
            <a:srgbClr val="FFFFFF"/>
          </a:solidFill>
          <a:ln w="6350">
            <a:solidFill>
              <a:srgbClr val="D6DEE8"/>
            </a:solidFill>
            <a:prstDash val="solid"/>
          </a:ln>
        </p:spPr>
      </p:sp>
      <p:sp>
        <p:nvSpPr>
          <p:cNvPr id="33" name="Shape 29"/>
          <p:cNvSpPr/>
          <p:nvPr/>
        </p:nvSpPr>
        <p:spPr>
          <a:xfrm>
            <a:off x="3268980" y="4206240"/>
            <a:ext cx="1268730" cy="201168"/>
          </a:xfrm>
          <a:prstGeom prst="rect">
            <a:avLst/>
          </a:prstGeom>
          <a:solidFill>
            <a:srgbClr val="0051A5"/>
          </a:solidFill>
          <a:ln/>
        </p:spPr>
      </p:sp>
      <p:sp>
        <p:nvSpPr>
          <p:cNvPr id="34" name="Text 30"/>
          <p:cNvSpPr/>
          <p:nvPr/>
        </p:nvSpPr>
        <p:spPr>
          <a:xfrm>
            <a:off x="326898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Opt.</a:t>
            </a:r>
            <a:endParaRPr lang="en-US" sz="900" dirty="0"/>
          </a:p>
        </p:txBody>
      </p:sp>
      <p:sp>
        <p:nvSpPr>
          <p:cNvPr id="35" name="Shape 31"/>
          <p:cNvSpPr/>
          <p:nvPr/>
        </p:nvSpPr>
        <p:spPr>
          <a:xfrm>
            <a:off x="3821049" y="4498848"/>
            <a:ext cx="164592" cy="164592"/>
          </a:xfrm>
          <a:prstGeom prst="ellipse">
            <a:avLst/>
          </a:prstGeom>
          <a:solidFill>
            <a:srgbClr val="5B6778"/>
          </a:solidFill>
          <a:ln/>
        </p:spPr>
      </p:sp>
      <p:sp>
        <p:nvSpPr>
          <p:cNvPr id="36" name="Text 32"/>
          <p:cNvSpPr/>
          <p:nvPr/>
        </p:nvSpPr>
        <p:spPr>
          <a:xfrm>
            <a:off x="326898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7" name="Shape 33"/>
          <p:cNvSpPr/>
          <p:nvPr/>
        </p:nvSpPr>
        <p:spPr>
          <a:xfrm>
            <a:off x="4629150" y="4206240"/>
            <a:ext cx="1268730" cy="640080"/>
          </a:xfrm>
          <a:prstGeom prst="rect">
            <a:avLst/>
          </a:prstGeom>
          <a:solidFill>
            <a:srgbClr val="FFFFFF"/>
          </a:solidFill>
          <a:ln w="6350">
            <a:solidFill>
              <a:srgbClr val="D6DEE8"/>
            </a:solidFill>
            <a:prstDash val="solid"/>
          </a:ln>
        </p:spPr>
      </p:sp>
      <p:sp>
        <p:nvSpPr>
          <p:cNvPr id="38" name="Shape 34"/>
          <p:cNvSpPr/>
          <p:nvPr/>
        </p:nvSpPr>
        <p:spPr>
          <a:xfrm>
            <a:off x="4629150" y="4206240"/>
            <a:ext cx="1268730" cy="201168"/>
          </a:xfrm>
          <a:prstGeom prst="rect">
            <a:avLst/>
          </a:prstGeom>
          <a:solidFill>
            <a:srgbClr val="0051A5"/>
          </a:solidFill>
          <a:ln/>
        </p:spPr>
      </p:sp>
      <p:sp>
        <p:nvSpPr>
          <p:cNvPr id="39" name="Text 35"/>
          <p:cNvSpPr/>
          <p:nvPr/>
        </p:nvSpPr>
        <p:spPr>
          <a:xfrm>
            <a:off x="462915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AI</a:t>
            </a:r>
            <a:endParaRPr lang="en-US" sz="900" dirty="0"/>
          </a:p>
        </p:txBody>
      </p:sp>
      <p:sp>
        <p:nvSpPr>
          <p:cNvPr id="40" name="Shape 36"/>
          <p:cNvSpPr/>
          <p:nvPr/>
        </p:nvSpPr>
        <p:spPr>
          <a:xfrm>
            <a:off x="5181219" y="4498848"/>
            <a:ext cx="164592" cy="164592"/>
          </a:xfrm>
          <a:prstGeom prst="ellipse">
            <a:avLst/>
          </a:prstGeom>
          <a:solidFill>
            <a:srgbClr val="5B6778"/>
          </a:solidFill>
          <a:ln/>
        </p:spPr>
      </p:sp>
      <p:sp>
        <p:nvSpPr>
          <p:cNvPr id="41" name="Text 37"/>
          <p:cNvSpPr/>
          <p:nvPr/>
        </p:nvSpPr>
        <p:spPr>
          <a:xfrm>
            <a:off x="462915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42" name="Text 38"/>
          <p:cNvSpPr/>
          <p:nvPr/>
        </p:nvSpPr>
        <p:spPr>
          <a:xfrm>
            <a:off x="548640" y="498348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METRICS &amp; TREND (LAST 4 MONTHS)</a:t>
            </a:r>
            <a:endParaRPr lang="en-US" sz="1000" dirty="0"/>
          </a:p>
        </p:txBody>
      </p:sp>
      <p:sp>
        <p:nvSpPr>
          <p:cNvPr id="43" name="Shape 39"/>
          <p:cNvSpPr/>
          <p:nvPr/>
        </p:nvSpPr>
        <p:spPr>
          <a:xfrm>
            <a:off x="548640" y="5257800"/>
            <a:ext cx="1268730" cy="914400"/>
          </a:xfrm>
          <a:prstGeom prst="rect">
            <a:avLst/>
          </a:prstGeom>
          <a:solidFill>
            <a:srgbClr val="F6F8FB"/>
          </a:solidFill>
          <a:ln w="6350">
            <a:solidFill>
              <a:srgbClr val="D6DEE8"/>
            </a:solidFill>
            <a:prstDash val="solid"/>
          </a:ln>
        </p:spPr>
      </p:sp>
      <p:sp>
        <p:nvSpPr>
          <p:cNvPr id="44" name="Text 40"/>
          <p:cNvSpPr/>
          <p:nvPr/>
        </p:nvSpPr>
        <p:spPr>
          <a:xfrm>
            <a:off x="59436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45" name="Text 41"/>
          <p:cNvSpPr/>
          <p:nvPr/>
        </p:nvSpPr>
        <p:spPr>
          <a:xfrm>
            <a:off x="59436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IaC coverage %</a:t>
            </a:r>
            <a:endParaRPr lang="en-US" sz="850" dirty="0"/>
          </a:p>
        </p:txBody>
      </p:sp>
      <p:sp>
        <p:nvSpPr>
          <p:cNvPr id="46" name="Shape 42"/>
          <p:cNvSpPr/>
          <p:nvPr/>
        </p:nvSpPr>
        <p:spPr>
          <a:xfrm>
            <a:off x="713232" y="5971032"/>
            <a:ext cx="91440" cy="91440"/>
          </a:xfrm>
          <a:prstGeom prst="ellipse">
            <a:avLst/>
          </a:prstGeom>
          <a:solidFill>
            <a:srgbClr val="0051A5"/>
          </a:solidFill>
          <a:ln/>
        </p:spPr>
      </p:sp>
      <p:sp>
        <p:nvSpPr>
          <p:cNvPr id="47" name="Shape 43"/>
          <p:cNvSpPr/>
          <p:nvPr/>
        </p:nvSpPr>
        <p:spPr>
          <a:xfrm>
            <a:off x="1026414" y="5971032"/>
            <a:ext cx="91440" cy="91440"/>
          </a:xfrm>
          <a:prstGeom prst="ellipse">
            <a:avLst/>
          </a:prstGeom>
          <a:solidFill>
            <a:srgbClr val="0051A5"/>
          </a:solidFill>
          <a:ln/>
        </p:spPr>
      </p:sp>
      <p:sp>
        <p:nvSpPr>
          <p:cNvPr id="48" name="Shape 44"/>
          <p:cNvSpPr/>
          <p:nvPr/>
        </p:nvSpPr>
        <p:spPr>
          <a:xfrm>
            <a:off x="758952" y="6016752"/>
            <a:ext cx="313182" cy="0"/>
          </a:xfrm>
          <a:prstGeom prst="line">
            <a:avLst/>
          </a:prstGeom>
          <a:noFill/>
          <a:ln w="12700">
            <a:solidFill>
              <a:srgbClr val="0051A5"/>
            </a:solidFill>
            <a:prstDash val="solid"/>
          </a:ln>
        </p:spPr>
      </p:sp>
      <p:sp>
        <p:nvSpPr>
          <p:cNvPr id="49" name="Shape 45"/>
          <p:cNvSpPr/>
          <p:nvPr/>
        </p:nvSpPr>
        <p:spPr>
          <a:xfrm>
            <a:off x="1339596" y="5971032"/>
            <a:ext cx="91440" cy="91440"/>
          </a:xfrm>
          <a:prstGeom prst="ellipse">
            <a:avLst/>
          </a:prstGeom>
          <a:solidFill>
            <a:srgbClr val="0051A5"/>
          </a:solidFill>
          <a:ln/>
        </p:spPr>
      </p:sp>
      <p:sp>
        <p:nvSpPr>
          <p:cNvPr id="50" name="Shape 46"/>
          <p:cNvSpPr/>
          <p:nvPr/>
        </p:nvSpPr>
        <p:spPr>
          <a:xfrm>
            <a:off x="1072134" y="6016752"/>
            <a:ext cx="313182" cy="0"/>
          </a:xfrm>
          <a:prstGeom prst="line">
            <a:avLst/>
          </a:prstGeom>
          <a:noFill/>
          <a:ln w="12700">
            <a:solidFill>
              <a:srgbClr val="0051A5"/>
            </a:solidFill>
            <a:prstDash val="solid"/>
          </a:ln>
        </p:spPr>
      </p:sp>
      <p:sp>
        <p:nvSpPr>
          <p:cNvPr id="51" name="Shape 47"/>
          <p:cNvSpPr/>
          <p:nvPr/>
        </p:nvSpPr>
        <p:spPr>
          <a:xfrm>
            <a:off x="1652778" y="5971032"/>
            <a:ext cx="91440" cy="91440"/>
          </a:xfrm>
          <a:prstGeom prst="ellipse">
            <a:avLst/>
          </a:prstGeom>
          <a:solidFill>
            <a:srgbClr val="FEDF01"/>
          </a:solidFill>
          <a:ln/>
        </p:spPr>
      </p:sp>
      <p:sp>
        <p:nvSpPr>
          <p:cNvPr id="52" name="Shape 48"/>
          <p:cNvSpPr/>
          <p:nvPr/>
        </p:nvSpPr>
        <p:spPr>
          <a:xfrm>
            <a:off x="1385316" y="6016752"/>
            <a:ext cx="313182" cy="0"/>
          </a:xfrm>
          <a:prstGeom prst="line">
            <a:avLst/>
          </a:prstGeom>
          <a:noFill/>
          <a:ln w="12700">
            <a:solidFill>
              <a:srgbClr val="0051A5"/>
            </a:solidFill>
            <a:prstDash val="solid"/>
          </a:ln>
        </p:spPr>
      </p:sp>
      <p:sp>
        <p:nvSpPr>
          <p:cNvPr id="53" name="Shape 49"/>
          <p:cNvSpPr/>
          <p:nvPr/>
        </p:nvSpPr>
        <p:spPr>
          <a:xfrm>
            <a:off x="1908810" y="5257800"/>
            <a:ext cx="1268730" cy="914400"/>
          </a:xfrm>
          <a:prstGeom prst="rect">
            <a:avLst/>
          </a:prstGeom>
          <a:solidFill>
            <a:srgbClr val="F6F8FB"/>
          </a:solidFill>
          <a:ln w="6350">
            <a:solidFill>
              <a:srgbClr val="D6DEE8"/>
            </a:solidFill>
            <a:prstDash val="solid"/>
          </a:ln>
        </p:spPr>
      </p:sp>
      <p:sp>
        <p:nvSpPr>
          <p:cNvPr id="54" name="Text 50"/>
          <p:cNvSpPr/>
          <p:nvPr/>
        </p:nvSpPr>
        <p:spPr>
          <a:xfrm>
            <a:off x="195453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55" name="Text 51"/>
          <p:cNvSpPr/>
          <p:nvPr/>
        </p:nvSpPr>
        <p:spPr>
          <a:xfrm>
            <a:off x="195453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Drift incidents</a:t>
            </a:r>
            <a:endParaRPr lang="en-US" sz="850" dirty="0"/>
          </a:p>
        </p:txBody>
      </p:sp>
      <p:sp>
        <p:nvSpPr>
          <p:cNvPr id="56" name="Shape 52"/>
          <p:cNvSpPr/>
          <p:nvPr/>
        </p:nvSpPr>
        <p:spPr>
          <a:xfrm>
            <a:off x="2073402" y="5971032"/>
            <a:ext cx="91440" cy="91440"/>
          </a:xfrm>
          <a:prstGeom prst="ellipse">
            <a:avLst/>
          </a:prstGeom>
          <a:solidFill>
            <a:srgbClr val="0051A5"/>
          </a:solidFill>
          <a:ln/>
        </p:spPr>
      </p:sp>
      <p:sp>
        <p:nvSpPr>
          <p:cNvPr id="57" name="Shape 53"/>
          <p:cNvSpPr/>
          <p:nvPr/>
        </p:nvSpPr>
        <p:spPr>
          <a:xfrm>
            <a:off x="2386584" y="5971032"/>
            <a:ext cx="91440" cy="91440"/>
          </a:xfrm>
          <a:prstGeom prst="ellipse">
            <a:avLst/>
          </a:prstGeom>
          <a:solidFill>
            <a:srgbClr val="0051A5"/>
          </a:solidFill>
          <a:ln/>
        </p:spPr>
      </p:sp>
      <p:sp>
        <p:nvSpPr>
          <p:cNvPr id="58" name="Shape 54"/>
          <p:cNvSpPr/>
          <p:nvPr/>
        </p:nvSpPr>
        <p:spPr>
          <a:xfrm>
            <a:off x="2119122" y="6016752"/>
            <a:ext cx="313182" cy="0"/>
          </a:xfrm>
          <a:prstGeom prst="line">
            <a:avLst/>
          </a:prstGeom>
          <a:noFill/>
          <a:ln w="12700">
            <a:solidFill>
              <a:srgbClr val="0051A5"/>
            </a:solidFill>
            <a:prstDash val="solid"/>
          </a:ln>
        </p:spPr>
      </p:sp>
      <p:sp>
        <p:nvSpPr>
          <p:cNvPr id="59" name="Shape 55"/>
          <p:cNvSpPr/>
          <p:nvPr/>
        </p:nvSpPr>
        <p:spPr>
          <a:xfrm>
            <a:off x="2699766" y="5971032"/>
            <a:ext cx="91440" cy="91440"/>
          </a:xfrm>
          <a:prstGeom prst="ellipse">
            <a:avLst/>
          </a:prstGeom>
          <a:solidFill>
            <a:srgbClr val="0051A5"/>
          </a:solidFill>
          <a:ln/>
        </p:spPr>
      </p:sp>
      <p:sp>
        <p:nvSpPr>
          <p:cNvPr id="60" name="Shape 56"/>
          <p:cNvSpPr/>
          <p:nvPr/>
        </p:nvSpPr>
        <p:spPr>
          <a:xfrm>
            <a:off x="2432304" y="6016752"/>
            <a:ext cx="313182" cy="0"/>
          </a:xfrm>
          <a:prstGeom prst="line">
            <a:avLst/>
          </a:prstGeom>
          <a:noFill/>
          <a:ln w="12700">
            <a:solidFill>
              <a:srgbClr val="0051A5"/>
            </a:solidFill>
            <a:prstDash val="solid"/>
          </a:ln>
        </p:spPr>
      </p:sp>
      <p:sp>
        <p:nvSpPr>
          <p:cNvPr id="61" name="Shape 57"/>
          <p:cNvSpPr/>
          <p:nvPr/>
        </p:nvSpPr>
        <p:spPr>
          <a:xfrm>
            <a:off x="3012948" y="5971032"/>
            <a:ext cx="91440" cy="91440"/>
          </a:xfrm>
          <a:prstGeom prst="ellipse">
            <a:avLst/>
          </a:prstGeom>
          <a:solidFill>
            <a:srgbClr val="FEDF01"/>
          </a:solidFill>
          <a:ln/>
        </p:spPr>
      </p:sp>
      <p:sp>
        <p:nvSpPr>
          <p:cNvPr id="62" name="Shape 58"/>
          <p:cNvSpPr/>
          <p:nvPr/>
        </p:nvSpPr>
        <p:spPr>
          <a:xfrm>
            <a:off x="2745486" y="6016752"/>
            <a:ext cx="313182" cy="0"/>
          </a:xfrm>
          <a:prstGeom prst="line">
            <a:avLst/>
          </a:prstGeom>
          <a:noFill/>
          <a:ln w="12700">
            <a:solidFill>
              <a:srgbClr val="0051A5"/>
            </a:solidFill>
            <a:prstDash val="solid"/>
          </a:ln>
        </p:spPr>
      </p:sp>
      <p:sp>
        <p:nvSpPr>
          <p:cNvPr id="63" name="Shape 59"/>
          <p:cNvSpPr/>
          <p:nvPr/>
        </p:nvSpPr>
        <p:spPr>
          <a:xfrm>
            <a:off x="3268980" y="5257800"/>
            <a:ext cx="1268730" cy="914400"/>
          </a:xfrm>
          <a:prstGeom prst="rect">
            <a:avLst/>
          </a:prstGeom>
          <a:solidFill>
            <a:srgbClr val="F6F8FB"/>
          </a:solidFill>
          <a:ln w="6350">
            <a:solidFill>
              <a:srgbClr val="D6DEE8"/>
            </a:solidFill>
            <a:prstDash val="solid"/>
          </a:ln>
        </p:spPr>
      </p:sp>
      <p:sp>
        <p:nvSpPr>
          <p:cNvPr id="64" name="Text 60"/>
          <p:cNvSpPr/>
          <p:nvPr/>
        </p:nvSpPr>
        <p:spPr>
          <a:xfrm>
            <a:off x="331470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65" name="Text 61"/>
          <p:cNvSpPr/>
          <p:nvPr/>
        </p:nvSpPr>
        <p:spPr>
          <a:xfrm>
            <a:off x="331470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Open audit findings</a:t>
            </a:r>
            <a:endParaRPr lang="en-US" sz="850" dirty="0"/>
          </a:p>
        </p:txBody>
      </p:sp>
      <p:sp>
        <p:nvSpPr>
          <p:cNvPr id="66" name="Shape 62"/>
          <p:cNvSpPr/>
          <p:nvPr/>
        </p:nvSpPr>
        <p:spPr>
          <a:xfrm>
            <a:off x="3433572" y="5971032"/>
            <a:ext cx="91440" cy="91440"/>
          </a:xfrm>
          <a:prstGeom prst="ellipse">
            <a:avLst/>
          </a:prstGeom>
          <a:solidFill>
            <a:srgbClr val="0051A5"/>
          </a:solidFill>
          <a:ln/>
        </p:spPr>
      </p:sp>
      <p:sp>
        <p:nvSpPr>
          <p:cNvPr id="67" name="Shape 63"/>
          <p:cNvSpPr/>
          <p:nvPr/>
        </p:nvSpPr>
        <p:spPr>
          <a:xfrm>
            <a:off x="3746754" y="5971032"/>
            <a:ext cx="91440" cy="91440"/>
          </a:xfrm>
          <a:prstGeom prst="ellipse">
            <a:avLst/>
          </a:prstGeom>
          <a:solidFill>
            <a:srgbClr val="0051A5"/>
          </a:solidFill>
          <a:ln/>
        </p:spPr>
      </p:sp>
      <p:sp>
        <p:nvSpPr>
          <p:cNvPr id="68" name="Shape 64"/>
          <p:cNvSpPr/>
          <p:nvPr/>
        </p:nvSpPr>
        <p:spPr>
          <a:xfrm>
            <a:off x="3479292" y="6016752"/>
            <a:ext cx="313182" cy="0"/>
          </a:xfrm>
          <a:prstGeom prst="line">
            <a:avLst/>
          </a:prstGeom>
          <a:noFill/>
          <a:ln w="12700">
            <a:solidFill>
              <a:srgbClr val="0051A5"/>
            </a:solidFill>
            <a:prstDash val="solid"/>
          </a:ln>
        </p:spPr>
      </p:sp>
      <p:sp>
        <p:nvSpPr>
          <p:cNvPr id="69" name="Shape 65"/>
          <p:cNvSpPr/>
          <p:nvPr/>
        </p:nvSpPr>
        <p:spPr>
          <a:xfrm>
            <a:off x="4059936" y="5971032"/>
            <a:ext cx="91440" cy="91440"/>
          </a:xfrm>
          <a:prstGeom prst="ellipse">
            <a:avLst/>
          </a:prstGeom>
          <a:solidFill>
            <a:srgbClr val="0051A5"/>
          </a:solidFill>
          <a:ln/>
        </p:spPr>
      </p:sp>
      <p:sp>
        <p:nvSpPr>
          <p:cNvPr id="70" name="Shape 66"/>
          <p:cNvSpPr/>
          <p:nvPr/>
        </p:nvSpPr>
        <p:spPr>
          <a:xfrm>
            <a:off x="3792474" y="6016752"/>
            <a:ext cx="313182" cy="0"/>
          </a:xfrm>
          <a:prstGeom prst="line">
            <a:avLst/>
          </a:prstGeom>
          <a:noFill/>
          <a:ln w="12700">
            <a:solidFill>
              <a:srgbClr val="0051A5"/>
            </a:solidFill>
            <a:prstDash val="solid"/>
          </a:ln>
        </p:spPr>
      </p:sp>
      <p:sp>
        <p:nvSpPr>
          <p:cNvPr id="71" name="Shape 67"/>
          <p:cNvSpPr/>
          <p:nvPr/>
        </p:nvSpPr>
        <p:spPr>
          <a:xfrm>
            <a:off x="4373118" y="5971032"/>
            <a:ext cx="91440" cy="91440"/>
          </a:xfrm>
          <a:prstGeom prst="ellipse">
            <a:avLst/>
          </a:prstGeom>
          <a:solidFill>
            <a:srgbClr val="FEDF01"/>
          </a:solidFill>
          <a:ln/>
        </p:spPr>
      </p:sp>
      <p:sp>
        <p:nvSpPr>
          <p:cNvPr id="72" name="Shape 68"/>
          <p:cNvSpPr/>
          <p:nvPr/>
        </p:nvSpPr>
        <p:spPr>
          <a:xfrm>
            <a:off x="4105656" y="6016752"/>
            <a:ext cx="313182" cy="0"/>
          </a:xfrm>
          <a:prstGeom prst="line">
            <a:avLst/>
          </a:prstGeom>
          <a:noFill/>
          <a:ln w="12700">
            <a:solidFill>
              <a:srgbClr val="0051A5"/>
            </a:solidFill>
            <a:prstDash val="solid"/>
          </a:ln>
        </p:spPr>
      </p:sp>
      <p:sp>
        <p:nvSpPr>
          <p:cNvPr id="73" name="Shape 69"/>
          <p:cNvSpPr/>
          <p:nvPr/>
        </p:nvSpPr>
        <p:spPr>
          <a:xfrm>
            <a:off x="4629150" y="5257800"/>
            <a:ext cx="1268730" cy="914400"/>
          </a:xfrm>
          <a:prstGeom prst="rect">
            <a:avLst/>
          </a:prstGeom>
          <a:solidFill>
            <a:srgbClr val="F6F8FB"/>
          </a:solidFill>
          <a:ln w="6350">
            <a:solidFill>
              <a:srgbClr val="D6DEE8"/>
            </a:solidFill>
            <a:prstDash val="solid"/>
          </a:ln>
        </p:spPr>
      </p:sp>
      <p:sp>
        <p:nvSpPr>
          <p:cNvPr id="74" name="Text 70"/>
          <p:cNvSpPr/>
          <p:nvPr/>
        </p:nvSpPr>
        <p:spPr>
          <a:xfrm>
            <a:off x="467487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75" name="Text 71"/>
          <p:cNvSpPr/>
          <p:nvPr/>
        </p:nvSpPr>
        <p:spPr>
          <a:xfrm>
            <a:off x="467487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Utilization %</a:t>
            </a:r>
            <a:endParaRPr lang="en-US" sz="850" dirty="0"/>
          </a:p>
        </p:txBody>
      </p:sp>
      <p:sp>
        <p:nvSpPr>
          <p:cNvPr id="76" name="Shape 72"/>
          <p:cNvSpPr/>
          <p:nvPr/>
        </p:nvSpPr>
        <p:spPr>
          <a:xfrm>
            <a:off x="4793742" y="5971032"/>
            <a:ext cx="91440" cy="91440"/>
          </a:xfrm>
          <a:prstGeom prst="ellipse">
            <a:avLst/>
          </a:prstGeom>
          <a:solidFill>
            <a:srgbClr val="0051A5"/>
          </a:solidFill>
          <a:ln/>
        </p:spPr>
      </p:sp>
      <p:sp>
        <p:nvSpPr>
          <p:cNvPr id="77" name="Shape 73"/>
          <p:cNvSpPr/>
          <p:nvPr/>
        </p:nvSpPr>
        <p:spPr>
          <a:xfrm>
            <a:off x="5106924" y="5971032"/>
            <a:ext cx="91440" cy="91440"/>
          </a:xfrm>
          <a:prstGeom prst="ellipse">
            <a:avLst/>
          </a:prstGeom>
          <a:solidFill>
            <a:srgbClr val="0051A5"/>
          </a:solidFill>
          <a:ln/>
        </p:spPr>
      </p:sp>
      <p:sp>
        <p:nvSpPr>
          <p:cNvPr id="78" name="Shape 74"/>
          <p:cNvSpPr/>
          <p:nvPr/>
        </p:nvSpPr>
        <p:spPr>
          <a:xfrm>
            <a:off x="4839462" y="6016752"/>
            <a:ext cx="313182" cy="0"/>
          </a:xfrm>
          <a:prstGeom prst="line">
            <a:avLst/>
          </a:prstGeom>
          <a:noFill/>
          <a:ln w="12700">
            <a:solidFill>
              <a:srgbClr val="0051A5"/>
            </a:solidFill>
            <a:prstDash val="solid"/>
          </a:ln>
        </p:spPr>
      </p:sp>
      <p:sp>
        <p:nvSpPr>
          <p:cNvPr id="79" name="Shape 75"/>
          <p:cNvSpPr/>
          <p:nvPr/>
        </p:nvSpPr>
        <p:spPr>
          <a:xfrm>
            <a:off x="5420106" y="5971032"/>
            <a:ext cx="91440" cy="91440"/>
          </a:xfrm>
          <a:prstGeom prst="ellipse">
            <a:avLst/>
          </a:prstGeom>
          <a:solidFill>
            <a:srgbClr val="0051A5"/>
          </a:solidFill>
          <a:ln/>
        </p:spPr>
      </p:sp>
      <p:sp>
        <p:nvSpPr>
          <p:cNvPr id="80" name="Shape 76"/>
          <p:cNvSpPr/>
          <p:nvPr/>
        </p:nvSpPr>
        <p:spPr>
          <a:xfrm>
            <a:off x="5152644" y="6016752"/>
            <a:ext cx="313182" cy="0"/>
          </a:xfrm>
          <a:prstGeom prst="line">
            <a:avLst/>
          </a:prstGeom>
          <a:noFill/>
          <a:ln w="12700">
            <a:solidFill>
              <a:srgbClr val="0051A5"/>
            </a:solidFill>
            <a:prstDash val="solid"/>
          </a:ln>
        </p:spPr>
      </p:sp>
      <p:sp>
        <p:nvSpPr>
          <p:cNvPr id="81" name="Shape 77"/>
          <p:cNvSpPr/>
          <p:nvPr/>
        </p:nvSpPr>
        <p:spPr>
          <a:xfrm>
            <a:off x="5733288" y="5971032"/>
            <a:ext cx="91440" cy="91440"/>
          </a:xfrm>
          <a:prstGeom prst="ellipse">
            <a:avLst/>
          </a:prstGeom>
          <a:solidFill>
            <a:srgbClr val="FEDF01"/>
          </a:solidFill>
          <a:ln/>
        </p:spPr>
      </p:sp>
      <p:sp>
        <p:nvSpPr>
          <p:cNvPr id="82" name="Shape 78"/>
          <p:cNvSpPr/>
          <p:nvPr/>
        </p:nvSpPr>
        <p:spPr>
          <a:xfrm>
            <a:off x="5465826" y="6016752"/>
            <a:ext cx="313182" cy="0"/>
          </a:xfrm>
          <a:prstGeom prst="line">
            <a:avLst/>
          </a:prstGeom>
          <a:noFill/>
          <a:ln w="12700">
            <a:solidFill>
              <a:srgbClr val="0051A5"/>
            </a:solidFill>
            <a:prstDash val="solid"/>
          </a:ln>
        </p:spPr>
      </p:sp>
      <p:sp>
        <p:nvSpPr>
          <p:cNvPr id="83" name="Text 79"/>
          <p:cNvSpPr/>
          <p:nvPr/>
        </p:nvSpPr>
        <p:spPr>
          <a:xfrm>
            <a:off x="6126480" y="2514600"/>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KEY ACCOMPLISHMENTS — LAST 30 DAYS</a:t>
            </a:r>
            <a:endParaRPr lang="en-US" sz="1000" dirty="0"/>
          </a:p>
        </p:txBody>
      </p:sp>
      <p:sp>
        <p:nvSpPr>
          <p:cNvPr id="84" name="Text 80"/>
          <p:cNvSpPr/>
          <p:nvPr/>
        </p:nvSpPr>
        <p:spPr>
          <a:xfrm>
            <a:off x="6126480" y="2788920"/>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p:txBody>
      </p:sp>
      <p:sp>
        <p:nvSpPr>
          <p:cNvPr id="85" name="Text 81"/>
          <p:cNvSpPr/>
          <p:nvPr/>
        </p:nvSpPr>
        <p:spPr>
          <a:xfrm>
            <a:off x="6126480" y="3657600"/>
            <a:ext cx="22860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BLOCKERS &amp; RISKS</a:t>
            </a:r>
            <a:endParaRPr lang="en-US" sz="1000" dirty="0"/>
          </a:p>
        </p:txBody>
      </p:sp>
      <p:sp>
        <p:nvSpPr>
          <p:cNvPr id="86" name="Text 82"/>
          <p:cNvSpPr/>
          <p:nvPr/>
        </p:nvSpPr>
        <p:spPr>
          <a:xfrm>
            <a:off x="8458200" y="3657600"/>
            <a:ext cx="3154680" cy="228600"/>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blocker · severity · owner · ETA</a:t>
            </a:r>
            <a:endParaRPr lang="en-US" sz="900" dirty="0"/>
          </a:p>
        </p:txBody>
      </p:sp>
      <p:sp>
        <p:nvSpPr>
          <p:cNvPr id="87" name="Shape 83"/>
          <p:cNvSpPr/>
          <p:nvPr/>
        </p:nvSpPr>
        <p:spPr>
          <a:xfrm>
            <a:off x="6126480" y="3931920"/>
            <a:ext cx="5486400" cy="292608"/>
          </a:xfrm>
          <a:prstGeom prst="rect">
            <a:avLst/>
          </a:prstGeom>
          <a:solidFill>
            <a:srgbClr val="F6F8FB"/>
          </a:solidFill>
          <a:ln w="5080">
            <a:solidFill>
              <a:srgbClr val="D6DEE8"/>
            </a:solidFill>
            <a:prstDash val="solid"/>
          </a:ln>
        </p:spPr>
      </p:sp>
      <p:sp>
        <p:nvSpPr>
          <p:cNvPr id="88" name="Shape 84"/>
          <p:cNvSpPr/>
          <p:nvPr/>
        </p:nvSpPr>
        <p:spPr>
          <a:xfrm>
            <a:off x="6126480" y="3931920"/>
            <a:ext cx="54864" cy="292608"/>
          </a:xfrm>
          <a:prstGeom prst="rect">
            <a:avLst/>
          </a:prstGeom>
          <a:solidFill>
            <a:srgbClr val="B91C1C"/>
          </a:solidFill>
          <a:ln/>
        </p:spPr>
      </p:sp>
      <p:sp>
        <p:nvSpPr>
          <p:cNvPr id="89" name="Text 85"/>
          <p:cNvSpPr/>
          <p:nvPr/>
        </p:nvSpPr>
        <p:spPr>
          <a:xfrm>
            <a:off x="6263640" y="3931920"/>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0" name="Text 86"/>
          <p:cNvSpPr/>
          <p:nvPr/>
        </p:nvSpPr>
        <p:spPr>
          <a:xfrm>
            <a:off x="9052560" y="3931920"/>
            <a:ext cx="365760" cy="292608"/>
          </a:xfrm>
          <a:prstGeom prst="rect">
            <a:avLst/>
          </a:prstGeom>
          <a:noFill/>
          <a:ln/>
        </p:spPr>
        <p:txBody>
          <a:bodyPr wrap="square" lIns="0" tIns="0" rIns="0" bIns="0" rtlCol="0" anchor="ctr"/>
          <a:lstStyle/>
          <a:p>
            <a:pPr algn="ctr" indent="0" marL="0">
              <a:buNone/>
            </a:pPr>
            <a:r>
              <a:rPr lang="en-US" sz="1100" b="1" dirty="0">
                <a:solidFill>
                  <a:srgbClr val="B91C1C"/>
                </a:solidFill>
                <a:latin typeface="Trebuchet MS" pitchFamily="34" charset="0"/>
                <a:ea typeface="Trebuchet MS" pitchFamily="34" charset="-122"/>
                <a:cs typeface="Trebuchet MS" pitchFamily="34" charset="-120"/>
              </a:rPr>
              <a:t>H</a:t>
            </a:r>
            <a:endParaRPr lang="en-US" sz="1100" dirty="0"/>
          </a:p>
        </p:txBody>
      </p:sp>
      <p:sp>
        <p:nvSpPr>
          <p:cNvPr id="91" name="Text 87"/>
          <p:cNvSpPr/>
          <p:nvPr/>
        </p:nvSpPr>
        <p:spPr>
          <a:xfrm>
            <a:off x="9464040" y="3931920"/>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2" name="Text 88"/>
          <p:cNvSpPr/>
          <p:nvPr/>
        </p:nvSpPr>
        <p:spPr>
          <a:xfrm>
            <a:off x="10652760" y="3931920"/>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3" name="Shape 89"/>
          <p:cNvSpPr/>
          <p:nvPr/>
        </p:nvSpPr>
        <p:spPr>
          <a:xfrm>
            <a:off x="6126480" y="4261104"/>
            <a:ext cx="5486400" cy="292608"/>
          </a:xfrm>
          <a:prstGeom prst="rect">
            <a:avLst/>
          </a:prstGeom>
          <a:solidFill>
            <a:srgbClr val="F6F8FB"/>
          </a:solidFill>
          <a:ln w="5080">
            <a:solidFill>
              <a:srgbClr val="D6DEE8"/>
            </a:solidFill>
            <a:prstDash val="solid"/>
          </a:ln>
        </p:spPr>
      </p:sp>
      <p:sp>
        <p:nvSpPr>
          <p:cNvPr id="94" name="Shape 90"/>
          <p:cNvSpPr/>
          <p:nvPr/>
        </p:nvSpPr>
        <p:spPr>
          <a:xfrm>
            <a:off x="6126480" y="4261104"/>
            <a:ext cx="54864" cy="292608"/>
          </a:xfrm>
          <a:prstGeom prst="rect">
            <a:avLst/>
          </a:prstGeom>
          <a:solidFill>
            <a:srgbClr val="C97A00"/>
          </a:solidFill>
          <a:ln/>
        </p:spPr>
      </p:sp>
      <p:sp>
        <p:nvSpPr>
          <p:cNvPr id="95" name="Text 91"/>
          <p:cNvSpPr/>
          <p:nvPr/>
        </p:nvSpPr>
        <p:spPr>
          <a:xfrm>
            <a:off x="6263640" y="4261104"/>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6" name="Text 92"/>
          <p:cNvSpPr/>
          <p:nvPr/>
        </p:nvSpPr>
        <p:spPr>
          <a:xfrm>
            <a:off x="9052560" y="4261104"/>
            <a:ext cx="365760" cy="292608"/>
          </a:xfrm>
          <a:prstGeom prst="rect">
            <a:avLst/>
          </a:prstGeom>
          <a:noFill/>
          <a:ln/>
        </p:spPr>
        <p:txBody>
          <a:bodyPr wrap="square" lIns="0" tIns="0" rIns="0" bIns="0" rtlCol="0" anchor="ctr"/>
          <a:lstStyle/>
          <a:p>
            <a:pPr algn="ctr" indent="0" marL="0">
              <a:buNone/>
            </a:pPr>
            <a:r>
              <a:rPr lang="en-US" sz="1100" b="1" dirty="0">
                <a:solidFill>
                  <a:srgbClr val="C97A00"/>
                </a:solidFill>
                <a:latin typeface="Trebuchet MS" pitchFamily="34" charset="0"/>
                <a:ea typeface="Trebuchet MS" pitchFamily="34" charset="-122"/>
                <a:cs typeface="Trebuchet MS" pitchFamily="34" charset="-120"/>
              </a:rPr>
              <a:t>M</a:t>
            </a:r>
            <a:endParaRPr lang="en-US" sz="1100" dirty="0"/>
          </a:p>
        </p:txBody>
      </p:sp>
      <p:sp>
        <p:nvSpPr>
          <p:cNvPr id="97" name="Text 93"/>
          <p:cNvSpPr/>
          <p:nvPr/>
        </p:nvSpPr>
        <p:spPr>
          <a:xfrm>
            <a:off x="9464040" y="4261104"/>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8" name="Text 94"/>
          <p:cNvSpPr/>
          <p:nvPr/>
        </p:nvSpPr>
        <p:spPr>
          <a:xfrm>
            <a:off x="10652760" y="4261104"/>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9" name="Text 95"/>
          <p:cNvSpPr/>
          <p:nvPr/>
        </p:nvSpPr>
        <p:spPr>
          <a:xfrm>
            <a:off x="6126480" y="4681728"/>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NEXT 30 DAYS — KEY DELIVERABLES</a:t>
            </a:r>
            <a:endParaRPr lang="en-US" sz="1000" dirty="0"/>
          </a:p>
        </p:txBody>
      </p:sp>
      <p:sp>
        <p:nvSpPr>
          <p:cNvPr id="100" name="Text 96"/>
          <p:cNvSpPr/>
          <p:nvPr/>
        </p:nvSpPr>
        <p:spPr>
          <a:xfrm>
            <a:off x="6126480" y="4956048"/>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p:txBody>
      </p:sp>
      <p:sp>
        <p:nvSpPr>
          <p:cNvPr id="101" name="Shape 97"/>
          <p:cNvSpPr/>
          <p:nvPr/>
        </p:nvSpPr>
        <p:spPr>
          <a:xfrm>
            <a:off x="6126480" y="5824728"/>
            <a:ext cx="5486400" cy="594360"/>
          </a:xfrm>
          <a:prstGeom prst="rect">
            <a:avLst/>
          </a:prstGeom>
          <a:solidFill>
            <a:srgbClr val="001F47"/>
          </a:solidFill>
          <a:ln/>
        </p:spPr>
      </p:sp>
      <p:sp>
        <p:nvSpPr>
          <p:cNvPr id="102" name="Text 98"/>
          <p:cNvSpPr/>
          <p:nvPr/>
        </p:nvSpPr>
        <p:spPr>
          <a:xfrm>
            <a:off x="6309360" y="5879592"/>
            <a:ext cx="521208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ASK FROM STEERING</a:t>
            </a:r>
            <a:endParaRPr lang="en-US" sz="900" dirty="0"/>
          </a:p>
        </p:txBody>
      </p:sp>
      <p:sp>
        <p:nvSpPr>
          <p:cNvPr id="103" name="Text 99"/>
          <p:cNvSpPr/>
          <p:nvPr/>
        </p:nvSpPr>
        <p:spPr>
          <a:xfrm>
            <a:off x="6309360" y="6080760"/>
            <a:ext cx="521208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Decision needed, by when ]</a:t>
            </a:r>
            <a:endParaRPr lang="en-US" sz="1100" dirty="0"/>
          </a:p>
        </p:txBody>
      </p:sp>
      <p:sp>
        <p:nvSpPr>
          <p:cNvPr id="104" name="Text 10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27 / 30</a:t>
            </a:r>
            <a:endParaRPr lang="en-US" sz="900" dirty="0"/>
          </a:p>
        </p:txBody>
      </p:sp>
      <p:sp>
        <p:nvSpPr>
          <p:cNvPr id="105" name="Text 10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26  ·  PLATFORM STATUS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Network platform — status update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594360"/>
          </a:xfrm>
          <a:prstGeom prst="rect">
            <a:avLst/>
          </a:prstGeom>
          <a:solidFill>
            <a:srgbClr val="001F47"/>
          </a:solidFill>
          <a:ln/>
        </p:spPr>
      </p:sp>
      <p:sp>
        <p:nvSpPr>
          <p:cNvPr id="7" name="Shape 4"/>
          <p:cNvSpPr/>
          <p:nvPr/>
        </p:nvSpPr>
        <p:spPr>
          <a:xfrm>
            <a:off x="713232" y="1892808"/>
            <a:ext cx="365760" cy="365760"/>
          </a:xfrm>
          <a:prstGeom prst="ellipse">
            <a:avLst/>
          </a:prstGeom>
          <a:solidFill>
            <a:srgbClr val="FEDF01"/>
          </a:solidFill>
          <a:ln/>
        </p:spPr>
      </p:sp>
      <p:pic>
        <p:nvPicPr>
          <p:cNvPr id="8" name="Image 1" descr="preencoded.png">    </p:cNvPr>
          <p:cNvPicPr>
            <a:picLocks noChangeAspect="1"/>
          </p:cNvPicPr>
          <p:nvPr/>
        </p:nvPicPr>
        <p:blipFill>
          <a:blip r:embed="rId2"/>
          <a:stretch>
            <a:fillRect/>
          </a:stretch>
        </p:blipFill>
        <p:spPr>
          <a:xfrm>
            <a:off x="786384" y="1965960"/>
            <a:ext cx="219456" cy="219456"/>
          </a:xfrm>
          <a:prstGeom prst="rect">
            <a:avLst/>
          </a:prstGeom>
        </p:spPr>
      </p:pic>
      <p:sp>
        <p:nvSpPr>
          <p:cNvPr id="9" name="Text 5"/>
          <p:cNvSpPr/>
          <p:nvPr/>
        </p:nvSpPr>
        <p:spPr>
          <a:xfrm>
            <a:off x="1188720" y="1783080"/>
            <a:ext cx="3657600" cy="5943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Network</a:t>
            </a:r>
            <a:endParaRPr lang="en-US" sz="1800" dirty="0"/>
          </a:p>
        </p:txBody>
      </p:sp>
      <p:sp>
        <p:nvSpPr>
          <p:cNvPr id="10" name="Text 6"/>
          <p:cNvSpPr/>
          <p:nvPr/>
        </p:nvSpPr>
        <p:spPr>
          <a:xfrm>
            <a:off x="4754880" y="1856232"/>
            <a:ext cx="22860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REPORTING PERIOD</a:t>
            </a:r>
            <a:endParaRPr lang="en-US" sz="900" dirty="0"/>
          </a:p>
        </p:txBody>
      </p:sp>
      <p:sp>
        <p:nvSpPr>
          <p:cNvPr id="11" name="Text 7"/>
          <p:cNvSpPr/>
          <p:nvPr/>
        </p:nvSpPr>
        <p:spPr>
          <a:xfrm>
            <a:off x="4754880" y="2075688"/>
            <a:ext cx="2286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[Month YYYY]</a:t>
            </a:r>
            <a:endParaRPr lang="en-US" sz="1200" dirty="0"/>
          </a:p>
        </p:txBody>
      </p:sp>
      <p:sp>
        <p:nvSpPr>
          <p:cNvPr id="12" name="Text 8"/>
          <p:cNvSpPr/>
          <p:nvPr/>
        </p:nvSpPr>
        <p:spPr>
          <a:xfrm>
            <a:off x="7223760" y="1856232"/>
            <a:ext cx="18288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OVERALL RAG</a:t>
            </a:r>
            <a:endParaRPr lang="en-US" sz="900" dirty="0"/>
          </a:p>
        </p:txBody>
      </p:sp>
      <p:sp>
        <p:nvSpPr>
          <p:cNvPr id="13" name="Shape 9"/>
          <p:cNvSpPr/>
          <p:nvPr/>
        </p:nvSpPr>
        <p:spPr>
          <a:xfrm>
            <a:off x="7223760" y="2075688"/>
            <a:ext cx="256032" cy="256032"/>
          </a:xfrm>
          <a:prstGeom prst="ellipse">
            <a:avLst/>
          </a:prstGeom>
          <a:solidFill>
            <a:srgbClr val="5B6778"/>
          </a:solidFill>
          <a:ln w="12700">
            <a:solidFill>
              <a:srgbClr val="FFFFFF"/>
            </a:solidFill>
            <a:prstDash val="solid"/>
          </a:ln>
        </p:spPr>
      </p:sp>
      <p:sp>
        <p:nvSpPr>
          <p:cNvPr id="14" name="Text 10"/>
          <p:cNvSpPr/>
          <p:nvPr/>
        </p:nvSpPr>
        <p:spPr>
          <a:xfrm>
            <a:off x="7543800" y="2075688"/>
            <a:ext cx="137160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G/Y/R ]</a:t>
            </a:r>
            <a:endParaRPr lang="en-US" sz="1100" dirty="0"/>
          </a:p>
        </p:txBody>
      </p:sp>
      <p:sp>
        <p:nvSpPr>
          <p:cNvPr id="15" name="Text 11"/>
          <p:cNvSpPr/>
          <p:nvPr/>
        </p:nvSpPr>
        <p:spPr>
          <a:xfrm>
            <a:off x="9052560" y="1856232"/>
            <a:ext cx="2560320" cy="228600"/>
          </a:xfrm>
          <a:prstGeom prst="rect">
            <a:avLst/>
          </a:prstGeom>
          <a:noFill/>
          <a:ln/>
        </p:spPr>
        <p:txBody>
          <a:bodyPr wrap="square" lIns="0" tIns="0" rIns="0" bIns="0" rtlCol="0" anchor="ctr"/>
          <a:lstStyle/>
          <a:p>
            <a:pPr indent="0" marL="0">
              <a:buNone/>
            </a:pPr>
            <a:r>
              <a:rPr lang="en-US" sz="900" b="1" spc="100" kern="0" dirty="0">
                <a:solidFill>
                  <a:srgbClr val="FEDF01"/>
                </a:solidFill>
                <a:latin typeface="Trebuchet MS" pitchFamily="34" charset="0"/>
                <a:ea typeface="Trebuchet MS" pitchFamily="34" charset="-122"/>
                <a:cs typeface="Trebuchet MS" pitchFamily="34" charset="-120"/>
              </a:rPr>
              <a:t>LAST UPDATED  ·  NEXT REVIEW</a:t>
            </a:r>
            <a:endParaRPr lang="en-US" sz="900" dirty="0"/>
          </a:p>
        </p:txBody>
      </p:sp>
      <p:sp>
        <p:nvSpPr>
          <p:cNvPr id="16" name="Text 12"/>
          <p:cNvSpPr/>
          <p:nvPr/>
        </p:nvSpPr>
        <p:spPr>
          <a:xfrm>
            <a:off x="9052560" y="2075688"/>
            <a:ext cx="256032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[Date]  ·  [Date]</a:t>
            </a:r>
            <a:endParaRPr lang="en-US" sz="1100" dirty="0"/>
          </a:p>
        </p:txBody>
      </p:sp>
      <p:sp>
        <p:nvSpPr>
          <p:cNvPr id="17" name="Shape 13"/>
          <p:cNvSpPr/>
          <p:nvPr/>
        </p:nvSpPr>
        <p:spPr>
          <a:xfrm>
            <a:off x="548640" y="2514600"/>
            <a:ext cx="5349240" cy="1325880"/>
          </a:xfrm>
          <a:prstGeom prst="rect">
            <a:avLst/>
          </a:prstGeom>
          <a:solidFill>
            <a:srgbClr val="F6F8FB"/>
          </a:solidFill>
          <a:ln w="6350">
            <a:solidFill>
              <a:srgbClr val="D6DEE8"/>
            </a:solidFill>
            <a:prstDash val="solid"/>
          </a:ln>
        </p:spPr>
      </p:sp>
      <p:sp>
        <p:nvSpPr>
          <p:cNvPr id="18" name="Shape 14"/>
          <p:cNvSpPr/>
          <p:nvPr/>
        </p:nvSpPr>
        <p:spPr>
          <a:xfrm>
            <a:off x="548640" y="2514600"/>
            <a:ext cx="54864" cy="1325880"/>
          </a:xfrm>
          <a:prstGeom prst="rect">
            <a:avLst/>
          </a:prstGeom>
          <a:solidFill>
            <a:srgbClr val="FEDF01"/>
          </a:solidFill>
          <a:ln/>
        </p:spPr>
      </p:sp>
      <p:sp>
        <p:nvSpPr>
          <p:cNvPr id="19" name="Text 15"/>
          <p:cNvSpPr/>
          <p:nvPr/>
        </p:nvSpPr>
        <p:spPr>
          <a:xfrm>
            <a:off x="731520" y="2587752"/>
            <a:ext cx="507492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OWNERSHIP</a:t>
            </a:r>
            <a:endParaRPr lang="en-US" sz="1000" dirty="0"/>
          </a:p>
        </p:txBody>
      </p:sp>
      <p:sp>
        <p:nvSpPr>
          <p:cNvPr id="20" name="Text 16"/>
          <p:cNvSpPr/>
          <p:nvPr/>
        </p:nvSpPr>
        <p:spPr>
          <a:xfrm>
            <a:off x="731520" y="2834640"/>
            <a:ext cx="5074920" cy="960120"/>
          </a:xfrm>
          <a:prstGeom prst="rect">
            <a:avLst/>
          </a:prstGeom>
          <a:noFill/>
          <a:ln/>
        </p:spPr>
        <p:txBody>
          <a:bodyPr wrap="square" lIns="0" tIns="0" rIns="0" bIns="0" rtlCol="0" anchor="ctr"/>
          <a:lstStyle/>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Delivery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Tech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Engineering Manager: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Product Owner: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Team: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 FTE + [N] contractors  ·  Personas: Engineering, Operations, Delivery, Architecture, Security</a:t>
            </a:r>
            <a:endParaRPr lang="en-US" sz="1050" dirty="0"/>
          </a:p>
        </p:txBody>
      </p:sp>
      <p:sp>
        <p:nvSpPr>
          <p:cNvPr id="21" name="Text 17"/>
          <p:cNvSpPr/>
          <p:nvPr/>
        </p:nvSpPr>
        <p:spPr>
          <a:xfrm>
            <a:off x="548640" y="393192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WORKSTREAM TOUCHPOINTS</a:t>
            </a:r>
            <a:endParaRPr lang="en-US" sz="1000" dirty="0"/>
          </a:p>
        </p:txBody>
      </p:sp>
      <p:sp>
        <p:nvSpPr>
          <p:cNvPr id="22" name="Shape 18"/>
          <p:cNvSpPr/>
          <p:nvPr/>
        </p:nvSpPr>
        <p:spPr>
          <a:xfrm>
            <a:off x="548640" y="4206240"/>
            <a:ext cx="1268730" cy="640080"/>
          </a:xfrm>
          <a:prstGeom prst="rect">
            <a:avLst/>
          </a:prstGeom>
          <a:solidFill>
            <a:srgbClr val="FFFFFF"/>
          </a:solidFill>
          <a:ln w="6350">
            <a:solidFill>
              <a:srgbClr val="D6DEE8"/>
            </a:solidFill>
            <a:prstDash val="solid"/>
          </a:ln>
        </p:spPr>
      </p:sp>
      <p:sp>
        <p:nvSpPr>
          <p:cNvPr id="23" name="Shape 19"/>
          <p:cNvSpPr/>
          <p:nvPr/>
        </p:nvSpPr>
        <p:spPr>
          <a:xfrm>
            <a:off x="548640" y="4206240"/>
            <a:ext cx="1268730" cy="201168"/>
          </a:xfrm>
          <a:prstGeom prst="rect">
            <a:avLst/>
          </a:prstGeom>
          <a:solidFill>
            <a:srgbClr val="0051A5"/>
          </a:solidFill>
          <a:ln/>
        </p:spPr>
      </p:sp>
      <p:sp>
        <p:nvSpPr>
          <p:cNvPr id="24" name="Text 20"/>
          <p:cNvSpPr/>
          <p:nvPr/>
        </p:nvSpPr>
        <p:spPr>
          <a:xfrm>
            <a:off x="54864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IaC</a:t>
            </a:r>
            <a:endParaRPr lang="en-US" sz="900" dirty="0"/>
          </a:p>
        </p:txBody>
      </p:sp>
      <p:sp>
        <p:nvSpPr>
          <p:cNvPr id="25" name="Shape 21"/>
          <p:cNvSpPr/>
          <p:nvPr/>
        </p:nvSpPr>
        <p:spPr>
          <a:xfrm>
            <a:off x="1100709" y="4498848"/>
            <a:ext cx="164592" cy="164592"/>
          </a:xfrm>
          <a:prstGeom prst="ellipse">
            <a:avLst/>
          </a:prstGeom>
          <a:solidFill>
            <a:srgbClr val="5B6778"/>
          </a:solidFill>
          <a:ln/>
        </p:spPr>
      </p:sp>
      <p:sp>
        <p:nvSpPr>
          <p:cNvPr id="26" name="Text 22"/>
          <p:cNvSpPr/>
          <p:nvPr/>
        </p:nvSpPr>
        <p:spPr>
          <a:xfrm>
            <a:off x="54864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27" name="Shape 23"/>
          <p:cNvSpPr/>
          <p:nvPr/>
        </p:nvSpPr>
        <p:spPr>
          <a:xfrm>
            <a:off x="1908810" y="4206240"/>
            <a:ext cx="1268730" cy="640080"/>
          </a:xfrm>
          <a:prstGeom prst="rect">
            <a:avLst/>
          </a:prstGeom>
          <a:solidFill>
            <a:srgbClr val="FFFFFF"/>
          </a:solidFill>
          <a:ln w="6350">
            <a:solidFill>
              <a:srgbClr val="D6DEE8"/>
            </a:solidFill>
            <a:prstDash val="solid"/>
          </a:ln>
        </p:spPr>
      </p:sp>
      <p:sp>
        <p:nvSpPr>
          <p:cNvPr id="28" name="Shape 24"/>
          <p:cNvSpPr/>
          <p:nvPr/>
        </p:nvSpPr>
        <p:spPr>
          <a:xfrm>
            <a:off x="1908810" y="4206240"/>
            <a:ext cx="1268730" cy="201168"/>
          </a:xfrm>
          <a:prstGeom prst="rect">
            <a:avLst/>
          </a:prstGeom>
          <a:solidFill>
            <a:srgbClr val="0051A5"/>
          </a:solidFill>
          <a:ln/>
        </p:spPr>
      </p:sp>
      <p:sp>
        <p:nvSpPr>
          <p:cNvPr id="29" name="Text 25"/>
          <p:cNvSpPr/>
          <p:nvPr/>
        </p:nvSpPr>
        <p:spPr>
          <a:xfrm>
            <a:off x="190881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Comp.</a:t>
            </a:r>
            <a:endParaRPr lang="en-US" sz="900" dirty="0"/>
          </a:p>
        </p:txBody>
      </p:sp>
      <p:sp>
        <p:nvSpPr>
          <p:cNvPr id="30" name="Shape 26"/>
          <p:cNvSpPr/>
          <p:nvPr/>
        </p:nvSpPr>
        <p:spPr>
          <a:xfrm>
            <a:off x="2460879" y="4498848"/>
            <a:ext cx="164592" cy="164592"/>
          </a:xfrm>
          <a:prstGeom prst="ellipse">
            <a:avLst/>
          </a:prstGeom>
          <a:solidFill>
            <a:srgbClr val="5B6778"/>
          </a:solidFill>
          <a:ln/>
        </p:spPr>
      </p:sp>
      <p:sp>
        <p:nvSpPr>
          <p:cNvPr id="31" name="Text 27"/>
          <p:cNvSpPr/>
          <p:nvPr/>
        </p:nvSpPr>
        <p:spPr>
          <a:xfrm>
            <a:off x="190881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2" name="Shape 28"/>
          <p:cNvSpPr/>
          <p:nvPr/>
        </p:nvSpPr>
        <p:spPr>
          <a:xfrm>
            <a:off x="3268980" y="4206240"/>
            <a:ext cx="1268730" cy="640080"/>
          </a:xfrm>
          <a:prstGeom prst="rect">
            <a:avLst/>
          </a:prstGeom>
          <a:solidFill>
            <a:srgbClr val="FFFFFF"/>
          </a:solidFill>
          <a:ln w="6350">
            <a:solidFill>
              <a:srgbClr val="D6DEE8"/>
            </a:solidFill>
            <a:prstDash val="solid"/>
          </a:ln>
        </p:spPr>
      </p:sp>
      <p:sp>
        <p:nvSpPr>
          <p:cNvPr id="33" name="Shape 29"/>
          <p:cNvSpPr/>
          <p:nvPr/>
        </p:nvSpPr>
        <p:spPr>
          <a:xfrm>
            <a:off x="3268980" y="4206240"/>
            <a:ext cx="1268730" cy="201168"/>
          </a:xfrm>
          <a:prstGeom prst="rect">
            <a:avLst/>
          </a:prstGeom>
          <a:solidFill>
            <a:srgbClr val="0051A5"/>
          </a:solidFill>
          <a:ln/>
        </p:spPr>
      </p:sp>
      <p:sp>
        <p:nvSpPr>
          <p:cNvPr id="34" name="Text 30"/>
          <p:cNvSpPr/>
          <p:nvPr/>
        </p:nvSpPr>
        <p:spPr>
          <a:xfrm>
            <a:off x="326898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Opt.</a:t>
            </a:r>
            <a:endParaRPr lang="en-US" sz="900" dirty="0"/>
          </a:p>
        </p:txBody>
      </p:sp>
      <p:sp>
        <p:nvSpPr>
          <p:cNvPr id="35" name="Shape 31"/>
          <p:cNvSpPr/>
          <p:nvPr/>
        </p:nvSpPr>
        <p:spPr>
          <a:xfrm>
            <a:off x="3821049" y="4498848"/>
            <a:ext cx="164592" cy="164592"/>
          </a:xfrm>
          <a:prstGeom prst="ellipse">
            <a:avLst/>
          </a:prstGeom>
          <a:solidFill>
            <a:srgbClr val="5B6778"/>
          </a:solidFill>
          <a:ln/>
        </p:spPr>
      </p:sp>
      <p:sp>
        <p:nvSpPr>
          <p:cNvPr id="36" name="Text 32"/>
          <p:cNvSpPr/>
          <p:nvPr/>
        </p:nvSpPr>
        <p:spPr>
          <a:xfrm>
            <a:off x="326898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7" name="Shape 33"/>
          <p:cNvSpPr/>
          <p:nvPr/>
        </p:nvSpPr>
        <p:spPr>
          <a:xfrm>
            <a:off x="4629150" y="4206240"/>
            <a:ext cx="1268730" cy="640080"/>
          </a:xfrm>
          <a:prstGeom prst="rect">
            <a:avLst/>
          </a:prstGeom>
          <a:solidFill>
            <a:srgbClr val="FFFFFF"/>
          </a:solidFill>
          <a:ln w="6350">
            <a:solidFill>
              <a:srgbClr val="D6DEE8"/>
            </a:solidFill>
            <a:prstDash val="solid"/>
          </a:ln>
        </p:spPr>
      </p:sp>
      <p:sp>
        <p:nvSpPr>
          <p:cNvPr id="38" name="Shape 34"/>
          <p:cNvSpPr/>
          <p:nvPr/>
        </p:nvSpPr>
        <p:spPr>
          <a:xfrm>
            <a:off x="4629150" y="4206240"/>
            <a:ext cx="1268730" cy="201168"/>
          </a:xfrm>
          <a:prstGeom prst="rect">
            <a:avLst/>
          </a:prstGeom>
          <a:solidFill>
            <a:srgbClr val="0051A5"/>
          </a:solidFill>
          <a:ln/>
        </p:spPr>
      </p:sp>
      <p:sp>
        <p:nvSpPr>
          <p:cNvPr id="39" name="Text 35"/>
          <p:cNvSpPr/>
          <p:nvPr/>
        </p:nvSpPr>
        <p:spPr>
          <a:xfrm>
            <a:off x="462915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AI</a:t>
            </a:r>
            <a:endParaRPr lang="en-US" sz="900" dirty="0"/>
          </a:p>
        </p:txBody>
      </p:sp>
      <p:sp>
        <p:nvSpPr>
          <p:cNvPr id="40" name="Shape 36"/>
          <p:cNvSpPr/>
          <p:nvPr/>
        </p:nvSpPr>
        <p:spPr>
          <a:xfrm>
            <a:off x="5181219" y="4498848"/>
            <a:ext cx="164592" cy="164592"/>
          </a:xfrm>
          <a:prstGeom prst="ellipse">
            <a:avLst/>
          </a:prstGeom>
          <a:solidFill>
            <a:srgbClr val="5B6778"/>
          </a:solidFill>
          <a:ln/>
        </p:spPr>
      </p:sp>
      <p:sp>
        <p:nvSpPr>
          <p:cNvPr id="41" name="Text 37"/>
          <p:cNvSpPr/>
          <p:nvPr/>
        </p:nvSpPr>
        <p:spPr>
          <a:xfrm>
            <a:off x="462915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42" name="Text 38"/>
          <p:cNvSpPr/>
          <p:nvPr/>
        </p:nvSpPr>
        <p:spPr>
          <a:xfrm>
            <a:off x="548640" y="498348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METRICS &amp; TREND (LAST 4 MONTHS)</a:t>
            </a:r>
            <a:endParaRPr lang="en-US" sz="1000" dirty="0"/>
          </a:p>
        </p:txBody>
      </p:sp>
      <p:sp>
        <p:nvSpPr>
          <p:cNvPr id="43" name="Shape 39"/>
          <p:cNvSpPr/>
          <p:nvPr/>
        </p:nvSpPr>
        <p:spPr>
          <a:xfrm>
            <a:off x="548640" y="5257800"/>
            <a:ext cx="1268730" cy="914400"/>
          </a:xfrm>
          <a:prstGeom prst="rect">
            <a:avLst/>
          </a:prstGeom>
          <a:solidFill>
            <a:srgbClr val="F6F8FB"/>
          </a:solidFill>
          <a:ln w="6350">
            <a:solidFill>
              <a:srgbClr val="D6DEE8"/>
            </a:solidFill>
            <a:prstDash val="solid"/>
          </a:ln>
        </p:spPr>
      </p:sp>
      <p:sp>
        <p:nvSpPr>
          <p:cNvPr id="44" name="Text 40"/>
          <p:cNvSpPr/>
          <p:nvPr/>
        </p:nvSpPr>
        <p:spPr>
          <a:xfrm>
            <a:off x="59436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45" name="Text 41"/>
          <p:cNvSpPr/>
          <p:nvPr/>
        </p:nvSpPr>
        <p:spPr>
          <a:xfrm>
            <a:off x="59436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IaC coverage %</a:t>
            </a:r>
            <a:endParaRPr lang="en-US" sz="850" dirty="0"/>
          </a:p>
        </p:txBody>
      </p:sp>
      <p:sp>
        <p:nvSpPr>
          <p:cNvPr id="46" name="Shape 42"/>
          <p:cNvSpPr/>
          <p:nvPr/>
        </p:nvSpPr>
        <p:spPr>
          <a:xfrm>
            <a:off x="713232" y="5971032"/>
            <a:ext cx="91440" cy="91440"/>
          </a:xfrm>
          <a:prstGeom prst="ellipse">
            <a:avLst/>
          </a:prstGeom>
          <a:solidFill>
            <a:srgbClr val="0051A5"/>
          </a:solidFill>
          <a:ln/>
        </p:spPr>
      </p:sp>
      <p:sp>
        <p:nvSpPr>
          <p:cNvPr id="47" name="Shape 43"/>
          <p:cNvSpPr/>
          <p:nvPr/>
        </p:nvSpPr>
        <p:spPr>
          <a:xfrm>
            <a:off x="1026414" y="5971032"/>
            <a:ext cx="91440" cy="91440"/>
          </a:xfrm>
          <a:prstGeom prst="ellipse">
            <a:avLst/>
          </a:prstGeom>
          <a:solidFill>
            <a:srgbClr val="0051A5"/>
          </a:solidFill>
          <a:ln/>
        </p:spPr>
      </p:sp>
      <p:sp>
        <p:nvSpPr>
          <p:cNvPr id="48" name="Shape 44"/>
          <p:cNvSpPr/>
          <p:nvPr/>
        </p:nvSpPr>
        <p:spPr>
          <a:xfrm>
            <a:off x="758952" y="6016752"/>
            <a:ext cx="313182" cy="0"/>
          </a:xfrm>
          <a:prstGeom prst="line">
            <a:avLst/>
          </a:prstGeom>
          <a:noFill/>
          <a:ln w="12700">
            <a:solidFill>
              <a:srgbClr val="0051A5"/>
            </a:solidFill>
            <a:prstDash val="solid"/>
          </a:ln>
        </p:spPr>
      </p:sp>
      <p:sp>
        <p:nvSpPr>
          <p:cNvPr id="49" name="Shape 45"/>
          <p:cNvSpPr/>
          <p:nvPr/>
        </p:nvSpPr>
        <p:spPr>
          <a:xfrm>
            <a:off x="1339596" y="5971032"/>
            <a:ext cx="91440" cy="91440"/>
          </a:xfrm>
          <a:prstGeom prst="ellipse">
            <a:avLst/>
          </a:prstGeom>
          <a:solidFill>
            <a:srgbClr val="0051A5"/>
          </a:solidFill>
          <a:ln/>
        </p:spPr>
      </p:sp>
      <p:sp>
        <p:nvSpPr>
          <p:cNvPr id="50" name="Shape 46"/>
          <p:cNvSpPr/>
          <p:nvPr/>
        </p:nvSpPr>
        <p:spPr>
          <a:xfrm>
            <a:off x="1072134" y="6016752"/>
            <a:ext cx="313182" cy="0"/>
          </a:xfrm>
          <a:prstGeom prst="line">
            <a:avLst/>
          </a:prstGeom>
          <a:noFill/>
          <a:ln w="12700">
            <a:solidFill>
              <a:srgbClr val="0051A5"/>
            </a:solidFill>
            <a:prstDash val="solid"/>
          </a:ln>
        </p:spPr>
      </p:sp>
      <p:sp>
        <p:nvSpPr>
          <p:cNvPr id="51" name="Shape 47"/>
          <p:cNvSpPr/>
          <p:nvPr/>
        </p:nvSpPr>
        <p:spPr>
          <a:xfrm>
            <a:off x="1652778" y="5971032"/>
            <a:ext cx="91440" cy="91440"/>
          </a:xfrm>
          <a:prstGeom prst="ellipse">
            <a:avLst/>
          </a:prstGeom>
          <a:solidFill>
            <a:srgbClr val="FEDF01"/>
          </a:solidFill>
          <a:ln/>
        </p:spPr>
      </p:sp>
      <p:sp>
        <p:nvSpPr>
          <p:cNvPr id="52" name="Shape 48"/>
          <p:cNvSpPr/>
          <p:nvPr/>
        </p:nvSpPr>
        <p:spPr>
          <a:xfrm>
            <a:off x="1385316" y="6016752"/>
            <a:ext cx="313182" cy="0"/>
          </a:xfrm>
          <a:prstGeom prst="line">
            <a:avLst/>
          </a:prstGeom>
          <a:noFill/>
          <a:ln w="12700">
            <a:solidFill>
              <a:srgbClr val="0051A5"/>
            </a:solidFill>
            <a:prstDash val="solid"/>
          </a:ln>
        </p:spPr>
      </p:sp>
      <p:sp>
        <p:nvSpPr>
          <p:cNvPr id="53" name="Shape 49"/>
          <p:cNvSpPr/>
          <p:nvPr/>
        </p:nvSpPr>
        <p:spPr>
          <a:xfrm>
            <a:off x="1908810" y="5257800"/>
            <a:ext cx="1268730" cy="914400"/>
          </a:xfrm>
          <a:prstGeom prst="rect">
            <a:avLst/>
          </a:prstGeom>
          <a:solidFill>
            <a:srgbClr val="F6F8FB"/>
          </a:solidFill>
          <a:ln w="6350">
            <a:solidFill>
              <a:srgbClr val="D6DEE8"/>
            </a:solidFill>
            <a:prstDash val="solid"/>
          </a:ln>
        </p:spPr>
      </p:sp>
      <p:sp>
        <p:nvSpPr>
          <p:cNvPr id="54" name="Text 50"/>
          <p:cNvSpPr/>
          <p:nvPr/>
        </p:nvSpPr>
        <p:spPr>
          <a:xfrm>
            <a:off x="195453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55" name="Text 51"/>
          <p:cNvSpPr/>
          <p:nvPr/>
        </p:nvSpPr>
        <p:spPr>
          <a:xfrm>
            <a:off x="195453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Drift incidents</a:t>
            </a:r>
            <a:endParaRPr lang="en-US" sz="850" dirty="0"/>
          </a:p>
        </p:txBody>
      </p:sp>
      <p:sp>
        <p:nvSpPr>
          <p:cNvPr id="56" name="Shape 52"/>
          <p:cNvSpPr/>
          <p:nvPr/>
        </p:nvSpPr>
        <p:spPr>
          <a:xfrm>
            <a:off x="2073402" y="5971032"/>
            <a:ext cx="91440" cy="91440"/>
          </a:xfrm>
          <a:prstGeom prst="ellipse">
            <a:avLst/>
          </a:prstGeom>
          <a:solidFill>
            <a:srgbClr val="0051A5"/>
          </a:solidFill>
          <a:ln/>
        </p:spPr>
      </p:sp>
      <p:sp>
        <p:nvSpPr>
          <p:cNvPr id="57" name="Shape 53"/>
          <p:cNvSpPr/>
          <p:nvPr/>
        </p:nvSpPr>
        <p:spPr>
          <a:xfrm>
            <a:off x="2386584" y="5971032"/>
            <a:ext cx="91440" cy="91440"/>
          </a:xfrm>
          <a:prstGeom prst="ellipse">
            <a:avLst/>
          </a:prstGeom>
          <a:solidFill>
            <a:srgbClr val="0051A5"/>
          </a:solidFill>
          <a:ln/>
        </p:spPr>
      </p:sp>
      <p:sp>
        <p:nvSpPr>
          <p:cNvPr id="58" name="Shape 54"/>
          <p:cNvSpPr/>
          <p:nvPr/>
        </p:nvSpPr>
        <p:spPr>
          <a:xfrm>
            <a:off x="2119122" y="6016752"/>
            <a:ext cx="313182" cy="0"/>
          </a:xfrm>
          <a:prstGeom prst="line">
            <a:avLst/>
          </a:prstGeom>
          <a:noFill/>
          <a:ln w="12700">
            <a:solidFill>
              <a:srgbClr val="0051A5"/>
            </a:solidFill>
            <a:prstDash val="solid"/>
          </a:ln>
        </p:spPr>
      </p:sp>
      <p:sp>
        <p:nvSpPr>
          <p:cNvPr id="59" name="Shape 55"/>
          <p:cNvSpPr/>
          <p:nvPr/>
        </p:nvSpPr>
        <p:spPr>
          <a:xfrm>
            <a:off x="2699766" y="5971032"/>
            <a:ext cx="91440" cy="91440"/>
          </a:xfrm>
          <a:prstGeom prst="ellipse">
            <a:avLst/>
          </a:prstGeom>
          <a:solidFill>
            <a:srgbClr val="0051A5"/>
          </a:solidFill>
          <a:ln/>
        </p:spPr>
      </p:sp>
      <p:sp>
        <p:nvSpPr>
          <p:cNvPr id="60" name="Shape 56"/>
          <p:cNvSpPr/>
          <p:nvPr/>
        </p:nvSpPr>
        <p:spPr>
          <a:xfrm>
            <a:off x="2432304" y="6016752"/>
            <a:ext cx="313182" cy="0"/>
          </a:xfrm>
          <a:prstGeom prst="line">
            <a:avLst/>
          </a:prstGeom>
          <a:noFill/>
          <a:ln w="12700">
            <a:solidFill>
              <a:srgbClr val="0051A5"/>
            </a:solidFill>
            <a:prstDash val="solid"/>
          </a:ln>
        </p:spPr>
      </p:sp>
      <p:sp>
        <p:nvSpPr>
          <p:cNvPr id="61" name="Shape 57"/>
          <p:cNvSpPr/>
          <p:nvPr/>
        </p:nvSpPr>
        <p:spPr>
          <a:xfrm>
            <a:off x="3012948" y="5971032"/>
            <a:ext cx="91440" cy="91440"/>
          </a:xfrm>
          <a:prstGeom prst="ellipse">
            <a:avLst/>
          </a:prstGeom>
          <a:solidFill>
            <a:srgbClr val="FEDF01"/>
          </a:solidFill>
          <a:ln/>
        </p:spPr>
      </p:sp>
      <p:sp>
        <p:nvSpPr>
          <p:cNvPr id="62" name="Shape 58"/>
          <p:cNvSpPr/>
          <p:nvPr/>
        </p:nvSpPr>
        <p:spPr>
          <a:xfrm>
            <a:off x="2745486" y="6016752"/>
            <a:ext cx="313182" cy="0"/>
          </a:xfrm>
          <a:prstGeom prst="line">
            <a:avLst/>
          </a:prstGeom>
          <a:noFill/>
          <a:ln w="12700">
            <a:solidFill>
              <a:srgbClr val="0051A5"/>
            </a:solidFill>
            <a:prstDash val="solid"/>
          </a:ln>
        </p:spPr>
      </p:sp>
      <p:sp>
        <p:nvSpPr>
          <p:cNvPr id="63" name="Shape 59"/>
          <p:cNvSpPr/>
          <p:nvPr/>
        </p:nvSpPr>
        <p:spPr>
          <a:xfrm>
            <a:off x="3268980" y="5257800"/>
            <a:ext cx="1268730" cy="914400"/>
          </a:xfrm>
          <a:prstGeom prst="rect">
            <a:avLst/>
          </a:prstGeom>
          <a:solidFill>
            <a:srgbClr val="F6F8FB"/>
          </a:solidFill>
          <a:ln w="6350">
            <a:solidFill>
              <a:srgbClr val="D6DEE8"/>
            </a:solidFill>
            <a:prstDash val="solid"/>
          </a:ln>
        </p:spPr>
      </p:sp>
      <p:sp>
        <p:nvSpPr>
          <p:cNvPr id="64" name="Text 60"/>
          <p:cNvSpPr/>
          <p:nvPr/>
        </p:nvSpPr>
        <p:spPr>
          <a:xfrm>
            <a:off x="331470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65" name="Text 61"/>
          <p:cNvSpPr/>
          <p:nvPr/>
        </p:nvSpPr>
        <p:spPr>
          <a:xfrm>
            <a:off x="331470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Open audit findings</a:t>
            </a:r>
            <a:endParaRPr lang="en-US" sz="850" dirty="0"/>
          </a:p>
        </p:txBody>
      </p:sp>
      <p:sp>
        <p:nvSpPr>
          <p:cNvPr id="66" name="Shape 62"/>
          <p:cNvSpPr/>
          <p:nvPr/>
        </p:nvSpPr>
        <p:spPr>
          <a:xfrm>
            <a:off x="3433572" y="5971032"/>
            <a:ext cx="91440" cy="91440"/>
          </a:xfrm>
          <a:prstGeom prst="ellipse">
            <a:avLst/>
          </a:prstGeom>
          <a:solidFill>
            <a:srgbClr val="0051A5"/>
          </a:solidFill>
          <a:ln/>
        </p:spPr>
      </p:sp>
      <p:sp>
        <p:nvSpPr>
          <p:cNvPr id="67" name="Shape 63"/>
          <p:cNvSpPr/>
          <p:nvPr/>
        </p:nvSpPr>
        <p:spPr>
          <a:xfrm>
            <a:off x="3746754" y="5971032"/>
            <a:ext cx="91440" cy="91440"/>
          </a:xfrm>
          <a:prstGeom prst="ellipse">
            <a:avLst/>
          </a:prstGeom>
          <a:solidFill>
            <a:srgbClr val="0051A5"/>
          </a:solidFill>
          <a:ln/>
        </p:spPr>
      </p:sp>
      <p:sp>
        <p:nvSpPr>
          <p:cNvPr id="68" name="Shape 64"/>
          <p:cNvSpPr/>
          <p:nvPr/>
        </p:nvSpPr>
        <p:spPr>
          <a:xfrm>
            <a:off x="3479292" y="6016752"/>
            <a:ext cx="313182" cy="0"/>
          </a:xfrm>
          <a:prstGeom prst="line">
            <a:avLst/>
          </a:prstGeom>
          <a:noFill/>
          <a:ln w="12700">
            <a:solidFill>
              <a:srgbClr val="0051A5"/>
            </a:solidFill>
            <a:prstDash val="solid"/>
          </a:ln>
        </p:spPr>
      </p:sp>
      <p:sp>
        <p:nvSpPr>
          <p:cNvPr id="69" name="Shape 65"/>
          <p:cNvSpPr/>
          <p:nvPr/>
        </p:nvSpPr>
        <p:spPr>
          <a:xfrm>
            <a:off x="4059936" y="5971032"/>
            <a:ext cx="91440" cy="91440"/>
          </a:xfrm>
          <a:prstGeom prst="ellipse">
            <a:avLst/>
          </a:prstGeom>
          <a:solidFill>
            <a:srgbClr val="0051A5"/>
          </a:solidFill>
          <a:ln/>
        </p:spPr>
      </p:sp>
      <p:sp>
        <p:nvSpPr>
          <p:cNvPr id="70" name="Shape 66"/>
          <p:cNvSpPr/>
          <p:nvPr/>
        </p:nvSpPr>
        <p:spPr>
          <a:xfrm>
            <a:off x="3792474" y="6016752"/>
            <a:ext cx="313182" cy="0"/>
          </a:xfrm>
          <a:prstGeom prst="line">
            <a:avLst/>
          </a:prstGeom>
          <a:noFill/>
          <a:ln w="12700">
            <a:solidFill>
              <a:srgbClr val="0051A5"/>
            </a:solidFill>
            <a:prstDash val="solid"/>
          </a:ln>
        </p:spPr>
      </p:sp>
      <p:sp>
        <p:nvSpPr>
          <p:cNvPr id="71" name="Shape 67"/>
          <p:cNvSpPr/>
          <p:nvPr/>
        </p:nvSpPr>
        <p:spPr>
          <a:xfrm>
            <a:off x="4373118" y="5971032"/>
            <a:ext cx="91440" cy="91440"/>
          </a:xfrm>
          <a:prstGeom prst="ellipse">
            <a:avLst/>
          </a:prstGeom>
          <a:solidFill>
            <a:srgbClr val="FEDF01"/>
          </a:solidFill>
          <a:ln/>
        </p:spPr>
      </p:sp>
      <p:sp>
        <p:nvSpPr>
          <p:cNvPr id="72" name="Shape 68"/>
          <p:cNvSpPr/>
          <p:nvPr/>
        </p:nvSpPr>
        <p:spPr>
          <a:xfrm>
            <a:off x="4105656" y="6016752"/>
            <a:ext cx="313182" cy="0"/>
          </a:xfrm>
          <a:prstGeom prst="line">
            <a:avLst/>
          </a:prstGeom>
          <a:noFill/>
          <a:ln w="12700">
            <a:solidFill>
              <a:srgbClr val="0051A5"/>
            </a:solidFill>
            <a:prstDash val="solid"/>
          </a:ln>
        </p:spPr>
      </p:sp>
      <p:sp>
        <p:nvSpPr>
          <p:cNvPr id="73" name="Shape 69"/>
          <p:cNvSpPr/>
          <p:nvPr/>
        </p:nvSpPr>
        <p:spPr>
          <a:xfrm>
            <a:off x="4629150" y="5257800"/>
            <a:ext cx="1268730" cy="914400"/>
          </a:xfrm>
          <a:prstGeom prst="rect">
            <a:avLst/>
          </a:prstGeom>
          <a:solidFill>
            <a:srgbClr val="F6F8FB"/>
          </a:solidFill>
          <a:ln w="6350">
            <a:solidFill>
              <a:srgbClr val="D6DEE8"/>
            </a:solidFill>
            <a:prstDash val="solid"/>
          </a:ln>
        </p:spPr>
      </p:sp>
      <p:sp>
        <p:nvSpPr>
          <p:cNvPr id="74" name="Text 70"/>
          <p:cNvSpPr/>
          <p:nvPr/>
        </p:nvSpPr>
        <p:spPr>
          <a:xfrm>
            <a:off x="467487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75" name="Text 71"/>
          <p:cNvSpPr/>
          <p:nvPr/>
        </p:nvSpPr>
        <p:spPr>
          <a:xfrm>
            <a:off x="467487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Utilization %</a:t>
            </a:r>
            <a:endParaRPr lang="en-US" sz="850" dirty="0"/>
          </a:p>
        </p:txBody>
      </p:sp>
      <p:sp>
        <p:nvSpPr>
          <p:cNvPr id="76" name="Shape 72"/>
          <p:cNvSpPr/>
          <p:nvPr/>
        </p:nvSpPr>
        <p:spPr>
          <a:xfrm>
            <a:off x="4793742" y="5971032"/>
            <a:ext cx="91440" cy="91440"/>
          </a:xfrm>
          <a:prstGeom prst="ellipse">
            <a:avLst/>
          </a:prstGeom>
          <a:solidFill>
            <a:srgbClr val="0051A5"/>
          </a:solidFill>
          <a:ln/>
        </p:spPr>
      </p:sp>
      <p:sp>
        <p:nvSpPr>
          <p:cNvPr id="77" name="Shape 73"/>
          <p:cNvSpPr/>
          <p:nvPr/>
        </p:nvSpPr>
        <p:spPr>
          <a:xfrm>
            <a:off x="5106924" y="5971032"/>
            <a:ext cx="91440" cy="91440"/>
          </a:xfrm>
          <a:prstGeom prst="ellipse">
            <a:avLst/>
          </a:prstGeom>
          <a:solidFill>
            <a:srgbClr val="0051A5"/>
          </a:solidFill>
          <a:ln/>
        </p:spPr>
      </p:sp>
      <p:sp>
        <p:nvSpPr>
          <p:cNvPr id="78" name="Shape 74"/>
          <p:cNvSpPr/>
          <p:nvPr/>
        </p:nvSpPr>
        <p:spPr>
          <a:xfrm>
            <a:off x="4839462" y="6016752"/>
            <a:ext cx="313182" cy="0"/>
          </a:xfrm>
          <a:prstGeom prst="line">
            <a:avLst/>
          </a:prstGeom>
          <a:noFill/>
          <a:ln w="12700">
            <a:solidFill>
              <a:srgbClr val="0051A5"/>
            </a:solidFill>
            <a:prstDash val="solid"/>
          </a:ln>
        </p:spPr>
      </p:sp>
      <p:sp>
        <p:nvSpPr>
          <p:cNvPr id="79" name="Shape 75"/>
          <p:cNvSpPr/>
          <p:nvPr/>
        </p:nvSpPr>
        <p:spPr>
          <a:xfrm>
            <a:off x="5420106" y="5971032"/>
            <a:ext cx="91440" cy="91440"/>
          </a:xfrm>
          <a:prstGeom prst="ellipse">
            <a:avLst/>
          </a:prstGeom>
          <a:solidFill>
            <a:srgbClr val="0051A5"/>
          </a:solidFill>
          <a:ln/>
        </p:spPr>
      </p:sp>
      <p:sp>
        <p:nvSpPr>
          <p:cNvPr id="80" name="Shape 76"/>
          <p:cNvSpPr/>
          <p:nvPr/>
        </p:nvSpPr>
        <p:spPr>
          <a:xfrm>
            <a:off x="5152644" y="6016752"/>
            <a:ext cx="313182" cy="0"/>
          </a:xfrm>
          <a:prstGeom prst="line">
            <a:avLst/>
          </a:prstGeom>
          <a:noFill/>
          <a:ln w="12700">
            <a:solidFill>
              <a:srgbClr val="0051A5"/>
            </a:solidFill>
            <a:prstDash val="solid"/>
          </a:ln>
        </p:spPr>
      </p:sp>
      <p:sp>
        <p:nvSpPr>
          <p:cNvPr id="81" name="Shape 77"/>
          <p:cNvSpPr/>
          <p:nvPr/>
        </p:nvSpPr>
        <p:spPr>
          <a:xfrm>
            <a:off x="5733288" y="5971032"/>
            <a:ext cx="91440" cy="91440"/>
          </a:xfrm>
          <a:prstGeom prst="ellipse">
            <a:avLst/>
          </a:prstGeom>
          <a:solidFill>
            <a:srgbClr val="FEDF01"/>
          </a:solidFill>
          <a:ln/>
        </p:spPr>
      </p:sp>
      <p:sp>
        <p:nvSpPr>
          <p:cNvPr id="82" name="Shape 78"/>
          <p:cNvSpPr/>
          <p:nvPr/>
        </p:nvSpPr>
        <p:spPr>
          <a:xfrm>
            <a:off x="5465826" y="6016752"/>
            <a:ext cx="313182" cy="0"/>
          </a:xfrm>
          <a:prstGeom prst="line">
            <a:avLst/>
          </a:prstGeom>
          <a:noFill/>
          <a:ln w="12700">
            <a:solidFill>
              <a:srgbClr val="0051A5"/>
            </a:solidFill>
            <a:prstDash val="solid"/>
          </a:ln>
        </p:spPr>
      </p:sp>
      <p:sp>
        <p:nvSpPr>
          <p:cNvPr id="83" name="Text 79"/>
          <p:cNvSpPr/>
          <p:nvPr/>
        </p:nvSpPr>
        <p:spPr>
          <a:xfrm>
            <a:off x="6126480" y="2514600"/>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KEY ACCOMPLISHMENTS — LAST 30 DAYS</a:t>
            </a:r>
            <a:endParaRPr lang="en-US" sz="1000" dirty="0"/>
          </a:p>
        </p:txBody>
      </p:sp>
      <p:sp>
        <p:nvSpPr>
          <p:cNvPr id="84" name="Text 80"/>
          <p:cNvSpPr/>
          <p:nvPr/>
        </p:nvSpPr>
        <p:spPr>
          <a:xfrm>
            <a:off x="6126480" y="2788920"/>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p:txBody>
      </p:sp>
      <p:sp>
        <p:nvSpPr>
          <p:cNvPr id="85" name="Text 81"/>
          <p:cNvSpPr/>
          <p:nvPr/>
        </p:nvSpPr>
        <p:spPr>
          <a:xfrm>
            <a:off x="6126480" y="3657600"/>
            <a:ext cx="22860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BLOCKERS &amp; RISKS</a:t>
            </a:r>
            <a:endParaRPr lang="en-US" sz="1000" dirty="0"/>
          </a:p>
        </p:txBody>
      </p:sp>
      <p:sp>
        <p:nvSpPr>
          <p:cNvPr id="86" name="Text 82"/>
          <p:cNvSpPr/>
          <p:nvPr/>
        </p:nvSpPr>
        <p:spPr>
          <a:xfrm>
            <a:off x="8458200" y="3657600"/>
            <a:ext cx="3154680" cy="228600"/>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blocker · severity · owner · ETA</a:t>
            </a:r>
            <a:endParaRPr lang="en-US" sz="900" dirty="0"/>
          </a:p>
        </p:txBody>
      </p:sp>
      <p:sp>
        <p:nvSpPr>
          <p:cNvPr id="87" name="Shape 83"/>
          <p:cNvSpPr/>
          <p:nvPr/>
        </p:nvSpPr>
        <p:spPr>
          <a:xfrm>
            <a:off x="6126480" y="3931920"/>
            <a:ext cx="5486400" cy="292608"/>
          </a:xfrm>
          <a:prstGeom prst="rect">
            <a:avLst/>
          </a:prstGeom>
          <a:solidFill>
            <a:srgbClr val="F6F8FB"/>
          </a:solidFill>
          <a:ln w="5080">
            <a:solidFill>
              <a:srgbClr val="D6DEE8"/>
            </a:solidFill>
            <a:prstDash val="solid"/>
          </a:ln>
        </p:spPr>
      </p:sp>
      <p:sp>
        <p:nvSpPr>
          <p:cNvPr id="88" name="Shape 84"/>
          <p:cNvSpPr/>
          <p:nvPr/>
        </p:nvSpPr>
        <p:spPr>
          <a:xfrm>
            <a:off x="6126480" y="3931920"/>
            <a:ext cx="54864" cy="292608"/>
          </a:xfrm>
          <a:prstGeom prst="rect">
            <a:avLst/>
          </a:prstGeom>
          <a:solidFill>
            <a:srgbClr val="B91C1C"/>
          </a:solidFill>
          <a:ln/>
        </p:spPr>
      </p:sp>
      <p:sp>
        <p:nvSpPr>
          <p:cNvPr id="89" name="Text 85"/>
          <p:cNvSpPr/>
          <p:nvPr/>
        </p:nvSpPr>
        <p:spPr>
          <a:xfrm>
            <a:off x="6263640" y="3931920"/>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0" name="Text 86"/>
          <p:cNvSpPr/>
          <p:nvPr/>
        </p:nvSpPr>
        <p:spPr>
          <a:xfrm>
            <a:off x="9052560" y="3931920"/>
            <a:ext cx="365760" cy="292608"/>
          </a:xfrm>
          <a:prstGeom prst="rect">
            <a:avLst/>
          </a:prstGeom>
          <a:noFill/>
          <a:ln/>
        </p:spPr>
        <p:txBody>
          <a:bodyPr wrap="square" lIns="0" tIns="0" rIns="0" bIns="0" rtlCol="0" anchor="ctr"/>
          <a:lstStyle/>
          <a:p>
            <a:pPr algn="ctr" indent="0" marL="0">
              <a:buNone/>
            </a:pPr>
            <a:r>
              <a:rPr lang="en-US" sz="1100" b="1" dirty="0">
                <a:solidFill>
                  <a:srgbClr val="B91C1C"/>
                </a:solidFill>
                <a:latin typeface="Trebuchet MS" pitchFamily="34" charset="0"/>
                <a:ea typeface="Trebuchet MS" pitchFamily="34" charset="-122"/>
                <a:cs typeface="Trebuchet MS" pitchFamily="34" charset="-120"/>
              </a:rPr>
              <a:t>H</a:t>
            </a:r>
            <a:endParaRPr lang="en-US" sz="1100" dirty="0"/>
          </a:p>
        </p:txBody>
      </p:sp>
      <p:sp>
        <p:nvSpPr>
          <p:cNvPr id="91" name="Text 87"/>
          <p:cNvSpPr/>
          <p:nvPr/>
        </p:nvSpPr>
        <p:spPr>
          <a:xfrm>
            <a:off x="9464040" y="3931920"/>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2" name="Text 88"/>
          <p:cNvSpPr/>
          <p:nvPr/>
        </p:nvSpPr>
        <p:spPr>
          <a:xfrm>
            <a:off x="10652760" y="3931920"/>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3" name="Shape 89"/>
          <p:cNvSpPr/>
          <p:nvPr/>
        </p:nvSpPr>
        <p:spPr>
          <a:xfrm>
            <a:off x="6126480" y="4261104"/>
            <a:ext cx="5486400" cy="292608"/>
          </a:xfrm>
          <a:prstGeom prst="rect">
            <a:avLst/>
          </a:prstGeom>
          <a:solidFill>
            <a:srgbClr val="F6F8FB"/>
          </a:solidFill>
          <a:ln w="5080">
            <a:solidFill>
              <a:srgbClr val="D6DEE8"/>
            </a:solidFill>
            <a:prstDash val="solid"/>
          </a:ln>
        </p:spPr>
      </p:sp>
      <p:sp>
        <p:nvSpPr>
          <p:cNvPr id="94" name="Shape 90"/>
          <p:cNvSpPr/>
          <p:nvPr/>
        </p:nvSpPr>
        <p:spPr>
          <a:xfrm>
            <a:off x="6126480" y="4261104"/>
            <a:ext cx="54864" cy="292608"/>
          </a:xfrm>
          <a:prstGeom prst="rect">
            <a:avLst/>
          </a:prstGeom>
          <a:solidFill>
            <a:srgbClr val="C97A00"/>
          </a:solidFill>
          <a:ln/>
        </p:spPr>
      </p:sp>
      <p:sp>
        <p:nvSpPr>
          <p:cNvPr id="95" name="Text 91"/>
          <p:cNvSpPr/>
          <p:nvPr/>
        </p:nvSpPr>
        <p:spPr>
          <a:xfrm>
            <a:off x="6263640" y="4261104"/>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6" name="Text 92"/>
          <p:cNvSpPr/>
          <p:nvPr/>
        </p:nvSpPr>
        <p:spPr>
          <a:xfrm>
            <a:off x="9052560" y="4261104"/>
            <a:ext cx="365760" cy="292608"/>
          </a:xfrm>
          <a:prstGeom prst="rect">
            <a:avLst/>
          </a:prstGeom>
          <a:noFill/>
          <a:ln/>
        </p:spPr>
        <p:txBody>
          <a:bodyPr wrap="square" lIns="0" tIns="0" rIns="0" bIns="0" rtlCol="0" anchor="ctr"/>
          <a:lstStyle/>
          <a:p>
            <a:pPr algn="ctr" indent="0" marL="0">
              <a:buNone/>
            </a:pPr>
            <a:r>
              <a:rPr lang="en-US" sz="1100" b="1" dirty="0">
                <a:solidFill>
                  <a:srgbClr val="C97A00"/>
                </a:solidFill>
                <a:latin typeface="Trebuchet MS" pitchFamily="34" charset="0"/>
                <a:ea typeface="Trebuchet MS" pitchFamily="34" charset="-122"/>
                <a:cs typeface="Trebuchet MS" pitchFamily="34" charset="-120"/>
              </a:rPr>
              <a:t>M</a:t>
            </a:r>
            <a:endParaRPr lang="en-US" sz="1100" dirty="0"/>
          </a:p>
        </p:txBody>
      </p:sp>
      <p:sp>
        <p:nvSpPr>
          <p:cNvPr id="97" name="Text 93"/>
          <p:cNvSpPr/>
          <p:nvPr/>
        </p:nvSpPr>
        <p:spPr>
          <a:xfrm>
            <a:off x="9464040" y="4261104"/>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8" name="Text 94"/>
          <p:cNvSpPr/>
          <p:nvPr/>
        </p:nvSpPr>
        <p:spPr>
          <a:xfrm>
            <a:off x="10652760" y="4261104"/>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9" name="Text 95"/>
          <p:cNvSpPr/>
          <p:nvPr/>
        </p:nvSpPr>
        <p:spPr>
          <a:xfrm>
            <a:off x="6126480" y="4681728"/>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NEXT 30 DAYS — KEY DELIVERABLES</a:t>
            </a:r>
            <a:endParaRPr lang="en-US" sz="1000" dirty="0"/>
          </a:p>
        </p:txBody>
      </p:sp>
      <p:sp>
        <p:nvSpPr>
          <p:cNvPr id="100" name="Text 96"/>
          <p:cNvSpPr/>
          <p:nvPr/>
        </p:nvSpPr>
        <p:spPr>
          <a:xfrm>
            <a:off x="6126480" y="4956048"/>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p:txBody>
      </p:sp>
      <p:sp>
        <p:nvSpPr>
          <p:cNvPr id="101" name="Shape 97"/>
          <p:cNvSpPr/>
          <p:nvPr/>
        </p:nvSpPr>
        <p:spPr>
          <a:xfrm>
            <a:off x="6126480" y="5824728"/>
            <a:ext cx="5486400" cy="594360"/>
          </a:xfrm>
          <a:prstGeom prst="rect">
            <a:avLst/>
          </a:prstGeom>
          <a:solidFill>
            <a:srgbClr val="001F47"/>
          </a:solidFill>
          <a:ln/>
        </p:spPr>
      </p:sp>
      <p:sp>
        <p:nvSpPr>
          <p:cNvPr id="102" name="Text 98"/>
          <p:cNvSpPr/>
          <p:nvPr/>
        </p:nvSpPr>
        <p:spPr>
          <a:xfrm>
            <a:off x="6309360" y="5879592"/>
            <a:ext cx="521208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ASK FROM STEERING</a:t>
            </a:r>
            <a:endParaRPr lang="en-US" sz="900" dirty="0"/>
          </a:p>
        </p:txBody>
      </p:sp>
      <p:sp>
        <p:nvSpPr>
          <p:cNvPr id="103" name="Text 99"/>
          <p:cNvSpPr/>
          <p:nvPr/>
        </p:nvSpPr>
        <p:spPr>
          <a:xfrm>
            <a:off x="6309360" y="6080760"/>
            <a:ext cx="521208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Decision needed, by when ]</a:t>
            </a:r>
            <a:endParaRPr lang="en-US" sz="1100" dirty="0"/>
          </a:p>
        </p:txBody>
      </p:sp>
      <p:sp>
        <p:nvSpPr>
          <p:cNvPr id="104" name="Text 10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28 / 30</a:t>
            </a:r>
            <a:endParaRPr lang="en-US" sz="900" dirty="0"/>
          </a:p>
        </p:txBody>
      </p:sp>
      <p:sp>
        <p:nvSpPr>
          <p:cNvPr id="105" name="Text 10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27  ·  PLATFORM STATUS</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Middleware platform — status update</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11064240" cy="594360"/>
          </a:xfrm>
          <a:prstGeom prst="rect">
            <a:avLst/>
          </a:prstGeom>
          <a:solidFill>
            <a:srgbClr val="001F47"/>
          </a:solidFill>
          <a:ln/>
        </p:spPr>
      </p:sp>
      <p:sp>
        <p:nvSpPr>
          <p:cNvPr id="7" name="Shape 4"/>
          <p:cNvSpPr/>
          <p:nvPr/>
        </p:nvSpPr>
        <p:spPr>
          <a:xfrm>
            <a:off x="713232" y="1892808"/>
            <a:ext cx="365760" cy="365760"/>
          </a:xfrm>
          <a:prstGeom prst="ellipse">
            <a:avLst/>
          </a:prstGeom>
          <a:solidFill>
            <a:srgbClr val="FEDF01"/>
          </a:solidFill>
          <a:ln/>
        </p:spPr>
      </p:sp>
      <p:pic>
        <p:nvPicPr>
          <p:cNvPr id="8" name="Image 1" descr="preencoded.png">    </p:cNvPr>
          <p:cNvPicPr>
            <a:picLocks noChangeAspect="1"/>
          </p:cNvPicPr>
          <p:nvPr/>
        </p:nvPicPr>
        <p:blipFill>
          <a:blip r:embed="rId2"/>
          <a:stretch>
            <a:fillRect/>
          </a:stretch>
        </p:blipFill>
        <p:spPr>
          <a:xfrm>
            <a:off x="786384" y="1965960"/>
            <a:ext cx="219456" cy="219456"/>
          </a:xfrm>
          <a:prstGeom prst="rect">
            <a:avLst/>
          </a:prstGeom>
        </p:spPr>
      </p:pic>
      <p:sp>
        <p:nvSpPr>
          <p:cNvPr id="9" name="Text 5"/>
          <p:cNvSpPr/>
          <p:nvPr/>
        </p:nvSpPr>
        <p:spPr>
          <a:xfrm>
            <a:off x="1188720" y="1783080"/>
            <a:ext cx="3657600" cy="59436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Middleware</a:t>
            </a:r>
            <a:endParaRPr lang="en-US" sz="1800" dirty="0"/>
          </a:p>
        </p:txBody>
      </p:sp>
      <p:sp>
        <p:nvSpPr>
          <p:cNvPr id="10" name="Text 6"/>
          <p:cNvSpPr/>
          <p:nvPr/>
        </p:nvSpPr>
        <p:spPr>
          <a:xfrm>
            <a:off x="4754880" y="1856232"/>
            <a:ext cx="22860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REPORTING PERIOD</a:t>
            </a:r>
            <a:endParaRPr lang="en-US" sz="900" dirty="0"/>
          </a:p>
        </p:txBody>
      </p:sp>
      <p:sp>
        <p:nvSpPr>
          <p:cNvPr id="11" name="Text 7"/>
          <p:cNvSpPr/>
          <p:nvPr/>
        </p:nvSpPr>
        <p:spPr>
          <a:xfrm>
            <a:off x="4754880" y="2075688"/>
            <a:ext cx="22860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[Month YYYY]</a:t>
            </a:r>
            <a:endParaRPr lang="en-US" sz="1200" dirty="0"/>
          </a:p>
        </p:txBody>
      </p:sp>
      <p:sp>
        <p:nvSpPr>
          <p:cNvPr id="12" name="Text 8"/>
          <p:cNvSpPr/>
          <p:nvPr/>
        </p:nvSpPr>
        <p:spPr>
          <a:xfrm>
            <a:off x="7223760" y="1856232"/>
            <a:ext cx="1828800" cy="228600"/>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OVERALL RAG</a:t>
            </a:r>
            <a:endParaRPr lang="en-US" sz="900" dirty="0"/>
          </a:p>
        </p:txBody>
      </p:sp>
      <p:sp>
        <p:nvSpPr>
          <p:cNvPr id="13" name="Shape 9"/>
          <p:cNvSpPr/>
          <p:nvPr/>
        </p:nvSpPr>
        <p:spPr>
          <a:xfrm>
            <a:off x="7223760" y="2075688"/>
            <a:ext cx="256032" cy="256032"/>
          </a:xfrm>
          <a:prstGeom prst="ellipse">
            <a:avLst/>
          </a:prstGeom>
          <a:solidFill>
            <a:srgbClr val="5B6778"/>
          </a:solidFill>
          <a:ln w="12700">
            <a:solidFill>
              <a:srgbClr val="FFFFFF"/>
            </a:solidFill>
            <a:prstDash val="solid"/>
          </a:ln>
        </p:spPr>
      </p:sp>
      <p:sp>
        <p:nvSpPr>
          <p:cNvPr id="14" name="Text 10"/>
          <p:cNvSpPr/>
          <p:nvPr/>
        </p:nvSpPr>
        <p:spPr>
          <a:xfrm>
            <a:off x="7543800" y="2075688"/>
            <a:ext cx="137160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G/Y/R ]</a:t>
            </a:r>
            <a:endParaRPr lang="en-US" sz="1100" dirty="0"/>
          </a:p>
        </p:txBody>
      </p:sp>
      <p:sp>
        <p:nvSpPr>
          <p:cNvPr id="15" name="Text 11"/>
          <p:cNvSpPr/>
          <p:nvPr/>
        </p:nvSpPr>
        <p:spPr>
          <a:xfrm>
            <a:off x="9052560" y="1856232"/>
            <a:ext cx="2560320" cy="228600"/>
          </a:xfrm>
          <a:prstGeom prst="rect">
            <a:avLst/>
          </a:prstGeom>
          <a:noFill/>
          <a:ln/>
        </p:spPr>
        <p:txBody>
          <a:bodyPr wrap="square" lIns="0" tIns="0" rIns="0" bIns="0" rtlCol="0" anchor="ctr"/>
          <a:lstStyle/>
          <a:p>
            <a:pPr indent="0" marL="0">
              <a:buNone/>
            </a:pPr>
            <a:r>
              <a:rPr lang="en-US" sz="900" b="1" spc="100" kern="0" dirty="0">
                <a:solidFill>
                  <a:srgbClr val="FEDF01"/>
                </a:solidFill>
                <a:latin typeface="Trebuchet MS" pitchFamily="34" charset="0"/>
                <a:ea typeface="Trebuchet MS" pitchFamily="34" charset="-122"/>
                <a:cs typeface="Trebuchet MS" pitchFamily="34" charset="-120"/>
              </a:rPr>
              <a:t>LAST UPDATED  ·  NEXT REVIEW</a:t>
            </a:r>
            <a:endParaRPr lang="en-US" sz="900" dirty="0"/>
          </a:p>
        </p:txBody>
      </p:sp>
      <p:sp>
        <p:nvSpPr>
          <p:cNvPr id="16" name="Text 12"/>
          <p:cNvSpPr/>
          <p:nvPr/>
        </p:nvSpPr>
        <p:spPr>
          <a:xfrm>
            <a:off x="9052560" y="2075688"/>
            <a:ext cx="2560320" cy="27432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[Date]  ·  [Date]</a:t>
            </a:r>
            <a:endParaRPr lang="en-US" sz="1100" dirty="0"/>
          </a:p>
        </p:txBody>
      </p:sp>
      <p:sp>
        <p:nvSpPr>
          <p:cNvPr id="17" name="Shape 13"/>
          <p:cNvSpPr/>
          <p:nvPr/>
        </p:nvSpPr>
        <p:spPr>
          <a:xfrm>
            <a:off x="548640" y="2514600"/>
            <a:ext cx="5349240" cy="1325880"/>
          </a:xfrm>
          <a:prstGeom prst="rect">
            <a:avLst/>
          </a:prstGeom>
          <a:solidFill>
            <a:srgbClr val="F6F8FB"/>
          </a:solidFill>
          <a:ln w="6350">
            <a:solidFill>
              <a:srgbClr val="D6DEE8"/>
            </a:solidFill>
            <a:prstDash val="solid"/>
          </a:ln>
        </p:spPr>
      </p:sp>
      <p:sp>
        <p:nvSpPr>
          <p:cNvPr id="18" name="Shape 14"/>
          <p:cNvSpPr/>
          <p:nvPr/>
        </p:nvSpPr>
        <p:spPr>
          <a:xfrm>
            <a:off x="548640" y="2514600"/>
            <a:ext cx="54864" cy="1325880"/>
          </a:xfrm>
          <a:prstGeom prst="rect">
            <a:avLst/>
          </a:prstGeom>
          <a:solidFill>
            <a:srgbClr val="FEDF01"/>
          </a:solidFill>
          <a:ln/>
        </p:spPr>
      </p:sp>
      <p:sp>
        <p:nvSpPr>
          <p:cNvPr id="19" name="Text 15"/>
          <p:cNvSpPr/>
          <p:nvPr/>
        </p:nvSpPr>
        <p:spPr>
          <a:xfrm>
            <a:off x="731520" y="2587752"/>
            <a:ext cx="507492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OWNERSHIP</a:t>
            </a:r>
            <a:endParaRPr lang="en-US" sz="1000" dirty="0"/>
          </a:p>
        </p:txBody>
      </p:sp>
      <p:sp>
        <p:nvSpPr>
          <p:cNvPr id="20" name="Text 16"/>
          <p:cNvSpPr/>
          <p:nvPr/>
        </p:nvSpPr>
        <p:spPr>
          <a:xfrm>
            <a:off x="731520" y="2834640"/>
            <a:ext cx="5074920" cy="960120"/>
          </a:xfrm>
          <a:prstGeom prst="rect">
            <a:avLst/>
          </a:prstGeom>
          <a:noFill/>
          <a:ln/>
        </p:spPr>
        <p:txBody>
          <a:bodyPr wrap="square" lIns="0" tIns="0" rIns="0" bIns="0" rtlCol="0" anchor="ctr"/>
          <a:lstStyle/>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Delivery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Tech Lead: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Engineering Manager: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Product Owner: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[Name]</a:t>
            </a:r>
            <a:endParaRPr lang="en-US" sz="1050" dirty="0"/>
          </a:p>
          <a:p>
            <a:pPr indent="0" marL="0">
              <a:spcAft>
                <a:spcPts val="100"/>
              </a:spcAft>
              <a:buNone/>
            </a:pPr>
            <a:r>
              <a:rPr lang="en-US" sz="1050" b="1" dirty="0">
                <a:solidFill>
                  <a:srgbClr val="0F172A"/>
                </a:solidFill>
                <a:latin typeface="Calibri" pitchFamily="34" charset="0"/>
                <a:ea typeface="Calibri" pitchFamily="34" charset="-122"/>
                <a:cs typeface="Calibri" pitchFamily="34" charset="-120"/>
              </a:rPr>
              <a:t>Team: </a:t>
            </a:r>
            <a:pPr indent="0" marL="0">
              <a:spcAft>
                <a:spcPts val="100"/>
              </a:spcAft>
              <a:buNone/>
            </a:pPr>
            <a:r>
              <a:rPr lang="en-US" sz="1050" dirty="0">
                <a:solidFill>
                  <a:srgbClr val="0F172A"/>
                </a:solidFill>
                <a:latin typeface="Calibri" pitchFamily="34" charset="0"/>
                <a:ea typeface="Calibri" pitchFamily="34" charset="-122"/>
                <a:cs typeface="Calibri" pitchFamily="34" charset="-120"/>
              </a:rPr>
              <a:t>[N] FTE + [N] contractors  ·  Personas: Engineering, Operations, Delivery, Architecture, Security</a:t>
            </a:r>
            <a:endParaRPr lang="en-US" sz="1050" dirty="0"/>
          </a:p>
        </p:txBody>
      </p:sp>
      <p:sp>
        <p:nvSpPr>
          <p:cNvPr id="21" name="Text 17"/>
          <p:cNvSpPr/>
          <p:nvPr/>
        </p:nvSpPr>
        <p:spPr>
          <a:xfrm>
            <a:off x="548640" y="393192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WORKSTREAM TOUCHPOINTS</a:t>
            </a:r>
            <a:endParaRPr lang="en-US" sz="1000" dirty="0"/>
          </a:p>
        </p:txBody>
      </p:sp>
      <p:sp>
        <p:nvSpPr>
          <p:cNvPr id="22" name="Shape 18"/>
          <p:cNvSpPr/>
          <p:nvPr/>
        </p:nvSpPr>
        <p:spPr>
          <a:xfrm>
            <a:off x="548640" y="4206240"/>
            <a:ext cx="1268730" cy="640080"/>
          </a:xfrm>
          <a:prstGeom prst="rect">
            <a:avLst/>
          </a:prstGeom>
          <a:solidFill>
            <a:srgbClr val="FFFFFF"/>
          </a:solidFill>
          <a:ln w="6350">
            <a:solidFill>
              <a:srgbClr val="D6DEE8"/>
            </a:solidFill>
            <a:prstDash val="solid"/>
          </a:ln>
        </p:spPr>
      </p:sp>
      <p:sp>
        <p:nvSpPr>
          <p:cNvPr id="23" name="Shape 19"/>
          <p:cNvSpPr/>
          <p:nvPr/>
        </p:nvSpPr>
        <p:spPr>
          <a:xfrm>
            <a:off x="548640" y="4206240"/>
            <a:ext cx="1268730" cy="201168"/>
          </a:xfrm>
          <a:prstGeom prst="rect">
            <a:avLst/>
          </a:prstGeom>
          <a:solidFill>
            <a:srgbClr val="0051A5"/>
          </a:solidFill>
          <a:ln/>
        </p:spPr>
      </p:sp>
      <p:sp>
        <p:nvSpPr>
          <p:cNvPr id="24" name="Text 20"/>
          <p:cNvSpPr/>
          <p:nvPr/>
        </p:nvSpPr>
        <p:spPr>
          <a:xfrm>
            <a:off x="54864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IaC</a:t>
            </a:r>
            <a:endParaRPr lang="en-US" sz="900" dirty="0"/>
          </a:p>
        </p:txBody>
      </p:sp>
      <p:sp>
        <p:nvSpPr>
          <p:cNvPr id="25" name="Shape 21"/>
          <p:cNvSpPr/>
          <p:nvPr/>
        </p:nvSpPr>
        <p:spPr>
          <a:xfrm>
            <a:off x="1100709" y="4498848"/>
            <a:ext cx="164592" cy="164592"/>
          </a:xfrm>
          <a:prstGeom prst="ellipse">
            <a:avLst/>
          </a:prstGeom>
          <a:solidFill>
            <a:srgbClr val="5B6778"/>
          </a:solidFill>
          <a:ln/>
        </p:spPr>
      </p:sp>
      <p:sp>
        <p:nvSpPr>
          <p:cNvPr id="26" name="Text 22"/>
          <p:cNvSpPr/>
          <p:nvPr/>
        </p:nvSpPr>
        <p:spPr>
          <a:xfrm>
            <a:off x="54864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27" name="Shape 23"/>
          <p:cNvSpPr/>
          <p:nvPr/>
        </p:nvSpPr>
        <p:spPr>
          <a:xfrm>
            <a:off x="1908810" y="4206240"/>
            <a:ext cx="1268730" cy="640080"/>
          </a:xfrm>
          <a:prstGeom prst="rect">
            <a:avLst/>
          </a:prstGeom>
          <a:solidFill>
            <a:srgbClr val="FFFFFF"/>
          </a:solidFill>
          <a:ln w="6350">
            <a:solidFill>
              <a:srgbClr val="D6DEE8"/>
            </a:solidFill>
            <a:prstDash val="solid"/>
          </a:ln>
        </p:spPr>
      </p:sp>
      <p:sp>
        <p:nvSpPr>
          <p:cNvPr id="28" name="Shape 24"/>
          <p:cNvSpPr/>
          <p:nvPr/>
        </p:nvSpPr>
        <p:spPr>
          <a:xfrm>
            <a:off x="1908810" y="4206240"/>
            <a:ext cx="1268730" cy="201168"/>
          </a:xfrm>
          <a:prstGeom prst="rect">
            <a:avLst/>
          </a:prstGeom>
          <a:solidFill>
            <a:srgbClr val="0051A5"/>
          </a:solidFill>
          <a:ln/>
        </p:spPr>
      </p:sp>
      <p:sp>
        <p:nvSpPr>
          <p:cNvPr id="29" name="Text 25"/>
          <p:cNvSpPr/>
          <p:nvPr/>
        </p:nvSpPr>
        <p:spPr>
          <a:xfrm>
            <a:off x="190881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Comp.</a:t>
            </a:r>
            <a:endParaRPr lang="en-US" sz="900" dirty="0"/>
          </a:p>
        </p:txBody>
      </p:sp>
      <p:sp>
        <p:nvSpPr>
          <p:cNvPr id="30" name="Shape 26"/>
          <p:cNvSpPr/>
          <p:nvPr/>
        </p:nvSpPr>
        <p:spPr>
          <a:xfrm>
            <a:off x="2460879" y="4498848"/>
            <a:ext cx="164592" cy="164592"/>
          </a:xfrm>
          <a:prstGeom prst="ellipse">
            <a:avLst/>
          </a:prstGeom>
          <a:solidFill>
            <a:srgbClr val="5B6778"/>
          </a:solidFill>
          <a:ln/>
        </p:spPr>
      </p:sp>
      <p:sp>
        <p:nvSpPr>
          <p:cNvPr id="31" name="Text 27"/>
          <p:cNvSpPr/>
          <p:nvPr/>
        </p:nvSpPr>
        <p:spPr>
          <a:xfrm>
            <a:off x="190881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2" name="Shape 28"/>
          <p:cNvSpPr/>
          <p:nvPr/>
        </p:nvSpPr>
        <p:spPr>
          <a:xfrm>
            <a:off x="3268980" y="4206240"/>
            <a:ext cx="1268730" cy="640080"/>
          </a:xfrm>
          <a:prstGeom prst="rect">
            <a:avLst/>
          </a:prstGeom>
          <a:solidFill>
            <a:srgbClr val="FFFFFF"/>
          </a:solidFill>
          <a:ln w="6350">
            <a:solidFill>
              <a:srgbClr val="D6DEE8"/>
            </a:solidFill>
            <a:prstDash val="solid"/>
          </a:ln>
        </p:spPr>
      </p:sp>
      <p:sp>
        <p:nvSpPr>
          <p:cNvPr id="33" name="Shape 29"/>
          <p:cNvSpPr/>
          <p:nvPr/>
        </p:nvSpPr>
        <p:spPr>
          <a:xfrm>
            <a:off x="3268980" y="4206240"/>
            <a:ext cx="1268730" cy="201168"/>
          </a:xfrm>
          <a:prstGeom prst="rect">
            <a:avLst/>
          </a:prstGeom>
          <a:solidFill>
            <a:srgbClr val="0051A5"/>
          </a:solidFill>
          <a:ln/>
        </p:spPr>
      </p:sp>
      <p:sp>
        <p:nvSpPr>
          <p:cNvPr id="34" name="Text 30"/>
          <p:cNvSpPr/>
          <p:nvPr/>
        </p:nvSpPr>
        <p:spPr>
          <a:xfrm>
            <a:off x="326898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Opt.</a:t>
            </a:r>
            <a:endParaRPr lang="en-US" sz="900" dirty="0"/>
          </a:p>
        </p:txBody>
      </p:sp>
      <p:sp>
        <p:nvSpPr>
          <p:cNvPr id="35" name="Shape 31"/>
          <p:cNvSpPr/>
          <p:nvPr/>
        </p:nvSpPr>
        <p:spPr>
          <a:xfrm>
            <a:off x="3821049" y="4498848"/>
            <a:ext cx="164592" cy="164592"/>
          </a:xfrm>
          <a:prstGeom prst="ellipse">
            <a:avLst/>
          </a:prstGeom>
          <a:solidFill>
            <a:srgbClr val="5B6778"/>
          </a:solidFill>
          <a:ln/>
        </p:spPr>
      </p:sp>
      <p:sp>
        <p:nvSpPr>
          <p:cNvPr id="36" name="Text 32"/>
          <p:cNvSpPr/>
          <p:nvPr/>
        </p:nvSpPr>
        <p:spPr>
          <a:xfrm>
            <a:off x="326898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37" name="Shape 33"/>
          <p:cNvSpPr/>
          <p:nvPr/>
        </p:nvSpPr>
        <p:spPr>
          <a:xfrm>
            <a:off x="4629150" y="4206240"/>
            <a:ext cx="1268730" cy="640080"/>
          </a:xfrm>
          <a:prstGeom prst="rect">
            <a:avLst/>
          </a:prstGeom>
          <a:solidFill>
            <a:srgbClr val="FFFFFF"/>
          </a:solidFill>
          <a:ln w="6350">
            <a:solidFill>
              <a:srgbClr val="D6DEE8"/>
            </a:solidFill>
            <a:prstDash val="solid"/>
          </a:ln>
        </p:spPr>
      </p:sp>
      <p:sp>
        <p:nvSpPr>
          <p:cNvPr id="38" name="Shape 34"/>
          <p:cNvSpPr/>
          <p:nvPr/>
        </p:nvSpPr>
        <p:spPr>
          <a:xfrm>
            <a:off x="4629150" y="4206240"/>
            <a:ext cx="1268730" cy="201168"/>
          </a:xfrm>
          <a:prstGeom prst="rect">
            <a:avLst/>
          </a:prstGeom>
          <a:solidFill>
            <a:srgbClr val="0051A5"/>
          </a:solidFill>
          <a:ln/>
        </p:spPr>
      </p:sp>
      <p:sp>
        <p:nvSpPr>
          <p:cNvPr id="39" name="Text 35"/>
          <p:cNvSpPr/>
          <p:nvPr/>
        </p:nvSpPr>
        <p:spPr>
          <a:xfrm>
            <a:off x="4629150" y="4206240"/>
            <a:ext cx="126873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AI</a:t>
            </a:r>
            <a:endParaRPr lang="en-US" sz="900" dirty="0"/>
          </a:p>
        </p:txBody>
      </p:sp>
      <p:sp>
        <p:nvSpPr>
          <p:cNvPr id="40" name="Shape 36"/>
          <p:cNvSpPr/>
          <p:nvPr/>
        </p:nvSpPr>
        <p:spPr>
          <a:xfrm>
            <a:off x="5181219" y="4498848"/>
            <a:ext cx="164592" cy="164592"/>
          </a:xfrm>
          <a:prstGeom prst="ellipse">
            <a:avLst/>
          </a:prstGeom>
          <a:solidFill>
            <a:srgbClr val="5B6778"/>
          </a:solidFill>
          <a:ln/>
        </p:spPr>
      </p:sp>
      <p:sp>
        <p:nvSpPr>
          <p:cNvPr id="41" name="Text 37"/>
          <p:cNvSpPr/>
          <p:nvPr/>
        </p:nvSpPr>
        <p:spPr>
          <a:xfrm>
            <a:off x="4629150" y="4663440"/>
            <a:ext cx="1268730" cy="164592"/>
          </a:xfrm>
          <a:prstGeom prst="rect">
            <a:avLst/>
          </a:prstGeom>
          <a:noFill/>
          <a:ln/>
        </p:spPr>
        <p:txBody>
          <a:bodyPr wrap="square" lIns="0" tIns="0" rIns="0" bIns="0" rtlCol="0" anchor="ctr"/>
          <a:lstStyle/>
          <a:p>
            <a:pPr algn="ctr" indent="0" marL="0">
              <a:buNone/>
            </a:pPr>
            <a:r>
              <a:rPr lang="en-US" sz="800" i="1" dirty="0">
                <a:solidFill>
                  <a:srgbClr val="5B6778"/>
                </a:solidFill>
                <a:latin typeface="Calibri" pitchFamily="34" charset="0"/>
                <a:ea typeface="Calibri" pitchFamily="34" charset="-122"/>
                <a:cs typeface="Calibri" pitchFamily="34" charset="-120"/>
              </a:rPr>
              <a:t>[ status ]</a:t>
            </a:r>
            <a:endParaRPr lang="en-US" sz="800" dirty="0"/>
          </a:p>
        </p:txBody>
      </p:sp>
      <p:sp>
        <p:nvSpPr>
          <p:cNvPr id="42" name="Text 38"/>
          <p:cNvSpPr/>
          <p:nvPr/>
        </p:nvSpPr>
        <p:spPr>
          <a:xfrm>
            <a:off x="548640" y="4983480"/>
            <a:ext cx="534924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METRICS &amp; TREND (LAST 4 MONTHS)</a:t>
            </a:r>
            <a:endParaRPr lang="en-US" sz="1000" dirty="0"/>
          </a:p>
        </p:txBody>
      </p:sp>
      <p:sp>
        <p:nvSpPr>
          <p:cNvPr id="43" name="Shape 39"/>
          <p:cNvSpPr/>
          <p:nvPr/>
        </p:nvSpPr>
        <p:spPr>
          <a:xfrm>
            <a:off x="548640" y="5257800"/>
            <a:ext cx="1268730" cy="914400"/>
          </a:xfrm>
          <a:prstGeom prst="rect">
            <a:avLst/>
          </a:prstGeom>
          <a:solidFill>
            <a:srgbClr val="F6F8FB"/>
          </a:solidFill>
          <a:ln w="6350">
            <a:solidFill>
              <a:srgbClr val="D6DEE8"/>
            </a:solidFill>
            <a:prstDash val="solid"/>
          </a:ln>
        </p:spPr>
      </p:sp>
      <p:sp>
        <p:nvSpPr>
          <p:cNvPr id="44" name="Text 40"/>
          <p:cNvSpPr/>
          <p:nvPr/>
        </p:nvSpPr>
        <p:spPr>
          <a:xfrm>
            <a:off x="59436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45" name="Text 41"/>
          <p:cNvSpPr/>
          <p:nvPr/>
        </p:nvSpPr>
        <p:spPr>
          <a:xfrm>
            <a:off x="59436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IaC coverage %</a:t>
            </a:r>
            <a:endParaRPr lang="en-US" sz="850" dirty="0"/>
          </a:p>
        </p:txBody>
      </p:sp>
      <p:sp>
        <p:nvSpPr>
          <p:cNvPr id="46" name="Shape 42"/>
          <p:cNvSpPr/>
          <p:nvPr/>
        </p:nvSpPr>
        <p:spPr>
          <a:xfrm>
            <a:off x="713232" y="5971032"/>
            <a:ext cx="91440" cy="91440"/>
          </a:xfrm>
          <a:prstGeom prst="ellipse">
            <a:avLst/>
          </a:prstGeom>
          <a:solidFill>
            <a:srgbClr val="0051A5"/>
          </a:solidFill>
          <a:ln/>
        </p:spPr>
      </p:sp>
      <p:sp>
        <p:nvSpPr>
          <p:cNvPr id="47" name="Shape 43"/>
          <p:cNvSpPr/>
          <p:nvPr/>
        </p:nvSpPr>
        <p:spPr>
          <a:xfrm>
            <a:off x="1026414" y="5971032"/>
            <a:ext cx="91440" cy="91440"/>
          </a:xfrm>
          <a:prstGeom prst="ellipse">
            <a:avLst/>
          </a:prstGeom>
          <a:solidFill>
            <a:srgbClr val="0051A5"/>
          </a:solidFill>
          <a:ln/>
        </p:spPr>
      </p:sp>
      <p:sp>
        <p:nvSpPr>
          <p:cNvPr id="48" name="Shape 44"/>
          <p:cNvSpPr/>
          <p:nvPr/>
        </p:nvSpPr>
        <p:spPr>
          <a:xfrm>
            <a:off x="758952" y="6016752"/>
            <a:ext cx="313182" cy="0"/>
          </a:xfrm>
          <a:prstGeom prst="line">
            <a:avLst/>
          </a:prstGeom>
          <a:noFill/>
          <a:ln w="12700">
            <a:solidFill>
              <a:srgbClr val="0051A5"/>
            </a:solidFill>
            <a:prstDash val="solid"/>
          </a:ln>
        </p:spPr>
      </p:sp>
      <p:sp>
        <p:nvSpPr>
          <p:cNvPr id="49" name="Shape 45"/>
          <p:cNvSpPr/>
          <p:nvPr/>
        </p:nvSpPr>
        <p:spPr>
          <a:xfrm>
            <a:off x="1339596" y="5971032"/>
            <a:ext cx="91440" cy="91440"/>
          </a:xfrm>
          <a:prstGeom prst="ellipse">
            <a:avLst/>
          </a:prstGeom>
          <a:solidFill>
            <a:srgbClr val="0051A5"/>
          </a:solidFill>
          <a:ln/>
        </p:spPr>
      </p:sp>
      <p:sp>
        <p:nvSpPr>
          <p:cNvPr id="50" name="Shape 46"/>
          <p:cNvSpPr/>
          <p:nvPr/>
        </p:nvSpPr>
        <p:spPr>
          <a:xfrm>
            <a:off x="1072134" y="6016752"/>
            <a:ext cx="313182" cy="0"/>
          </a:xfrm>
          <a:prstGeom prst="line">
            <a:avLst/>
          </a:prstGeom>
          <a:noFill/>
          <a:ln w="12700">
            <a:solidFill>
              <a:srgbClr val="0051A5"/>
            </a:solidFill>
            <a:prstDash val="solid"/>
          </a:ln>
        </p:spPr>
      </p:sp>
      <p:sp>
        <p:nvSpPr>
          <p:cNvPr id="51" name="Shape 47"/>
          <p:cNvSpPr/>
          <p:nvPr/>
        </p:nvSpPr>
        <p:spPr>
          <a:xfrm>
            <a:off x="1652778" y="5971032"/>
            <a:ext cx="91440" cy="91440"/>
          </a:xfrm>
          <a:prstGeom prst="ellipse">
            <a:avLst/>
          </a:prstGeom>
          <a:solidFill>
            <a:srgbClr val="FEDF01"/>
          </a:solidFill>
          <a:ln/>
        </p:spPr>
      </p:sp>
      <p:sp>
        <p:nvSpPr>
          <p:cNvPr id="52" name="Shape 48"/>
          <p:cNvSpPr/>
          <p:nvPr/>
        </p:nvSpPr>
        <p:spPr>
          <a:xfrm>
            <a:off x="1385316" y="6016752"/>
            <a:ext cx="313182" cy="0"/>
          </a:xfrm>
          <a:prstGeom prst="line">
            <a:avLst/>
          </a:prstGeom>
          <a:noFill/>
          <a:ln w="12700">
            <a:solidFill>
              <a:srgbClr val="0051A5"/>
            </a:solidFill>
            <a:prstDash val="solid"/>
          </a:ln>
        </p:spPr>
      </p:sp>
      <p:sp>
        <p:nvSpPr>
          <p:cNvPr id="53" name="Shape 49"/>
          <p:cNvSpPr/>
          <p:nvPr/>
        </p:nvSpPr>
        <p:spPr>
          <a:xfrm>
            <a:off x="1908810" y="5257800"/>
            <a:ext cx="1268730" cy="914400"/>
          </a:xfrm>
          <a:prstGeom prst="rect">
            <a:avLst/>
          </a:prstGeom>
          <a:solidFill>
            <a:srgbClr val="F6F8FB"/>
          </a:solidFill>
          <a:ln w="6350">
            <a:solidFill>
              <a:srgbClr val="D6DEE8"/>
            </a:solidFill>
            <a:prstDash val="solid"/>
          </a:ln>
        </p:spPr>
      </p:sp>
      <p:sp>
        <p:nvSpPr>
          <p:cNvPr id="54" name="Text 50"/>
          <p:cNvSpPr/>
          <p:nvPr/>
        </p:nvSpPr>
        <p:spPr>
          <a:xfrm>
            <a:off x="195453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55" name="Text 51"/>
          <p:cNvSpPr/>
          <p:nvPr/>
        </p:nvSpPr>
        <p:spPr>
          <a:xfrm>
            <a:off x="195453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Drift incidents</a:t>
            </a:r>
            <a:endParaRPr lang="en-US" sz="850" dirty="0"/>
          </a:p>
        </p:txBody>
      </p:sp>
      <p:sp>
        <p:nvSpPr>
          <p:cNvPr id="56" name="Shape 52"/>
          <p:cNvSpPr/>
          <p:nvPr/>
        </p:nvSpPr>
        <p:spPr>
          <a:xfrm>
            <a:off x="2073402" y="5971032"/>
            <a:ext cx="91440" cy="91440"/>
          </a:xfrm>
          <a:prstGeom prst="ellipse">
            <a:avLst/>
          </a:prstGeom>
          <a:solidFill>
            <a:srgbClr val="0051A5"/>
          </a:solidFill>
          <a:ln/>
        </p:spPr>
      </p:sp>
      <p:sp>
        <p:nvSpPr>
          <p:cNvPr id="57" name="Shape 53"/>
          <p:cNvSpPr/>
          <p:nvPr/>
        </p:nvSpPr>
        <p:spPr>
          <a:xfrm>
            <a:off x="2386584" y="5971032"/>
            <a:ext cx="91440" cy="91440"/>
          </a:xfrm>
          <a:prstGeom prst="ellipse">
            <a:avLst/>
          </a:prstGeom>
          <a:solidFill>
            <a:srgbClr val="0051A5"/>
          </a:solidFill>
          <a:ln/>
        </p:spPr>
      </p:sp>
      <p:sp>
        <p:nvSpPr>
          <p:cNvPr id="58" name="Shape 54"/>
          <p:cNvSpPr/>
          <p:nvPr/>
        </p:nvSpPr>
        <p:spPr>
          <a:xfrm>
            <a:off x="2119122" y="6016752"/>
            <a:ext cx="313182" cy="0"/>
          </a:xfrm>
          <a:prstGeom prst="line">
            <a:avLst/>
          </a:prstGeom>
          <a:noFill/>
          <a:ln w="12700">
            <a:solidFill>
              <a:srgbClr val="0051A5"/>
            </a:solidFill>
            <a:prstDash val="solid"/>
          </a:ln>
        </p:spPr>
      </p:sp>
      <p:sp>
        <p:nvSpPr>
          <p:cNvPr id="59" name="Shape 55"/>
          <p:cNvSpPr/>
          <p:nvPr/>
        </p:nvSpPr>
        <p:spPr>
          <a:xfrm>
            <a:off x="2699766" y="5971032"/>
            <a:ext cx="91440" cy="91440"/>
          </a:xfrm>
          <a:prstGeom prst="ellipse">
            <a:avLst/>
          </a:prstGeom>
          <a:solidFill>
            <a:srgbClr val="0051A5"/>
          </a:solidFill>
          <a:ln/>
        </p:spPr>
      </p:sp>
      <p:sp>
        <p:nvSpPr>
          <p:cNvPr id="60" name="Shape 56"/>
          <p:cNvSpPr/>
          <p:nvPr/>
        </p:nvSpPr>
        <p:spPr>
          <a:xfrm>
            <a:off x="2432304" y="6016752"/>
            <a:ext cx="313182" cy="0"/>
          </a:xfrm>
          <a:prstGeom prst="line">
            <a:avLst/>
          </a:prstGeom>
          <a:noFill/>
          <a:ln w="12700">
            <a:solidFill>
              <a:srgbClr val="0051A5"/>
            </a:solidFill>
            <a:prstDash val="solid"/>
          </a:ln>
        </p:spPr>
      </p:sp>
      <p:sp>
        <p:nvSpPr>
          <p:cNvPr id="61" name="Shape 57"/>
          <p:cNvSpPr/>
          <p:nvPr/>
        </p:nvSpPr>
        <p:spPr>
          <a:xfrm>
            <a:off x="3012948" y="5971032"/>
            <a:ext cx="91440" cy="91440"/>
          </a:xfrm>
          <a:prstGeom prst="ellipse">
            <a:avLst/>
          </a:prstGeom>
          <a:solidFill>
            <a:srgbClr val="FEDF01"/>
          </a:solidFill>
          <a:ln/>
        </p:spPr>
      </p:sp>
      <p:sp>
        <p:nvSpPr>
          <p:cNvPr id="62" name="Shape 58"/>
          <p:cNvSpPr/>
          <p:nvPr/>
        </p:nvSpPr>
        <p:spPr>
          <a:xfrm>
            <a:off x="2745486" y="6016752"/>
            <a:ext cx="313182" cy="0"/>
          </a:xfrm>
          <a:prstGeom prst="line">
            <a:avLst/>
          </a:prstGeom>
          <a:noFill/>
          <a:ln w="12700">
            <a:solidFill>
              <a:srgbClr val="0051A5"/>
            </a:solidFill>
            <a:prstDash val="solid"/>
          </a:ln>
        </p:spPr>
      </p:sp>
      <p:sp>
        <p:nvSpPr>
          <p:cNvPr id="63" name="Shape 59"/>
          <p:cNvSpPr/>
          <p:nvPr/>
        </p:nvSpPr>
        <p:spPr>
          <a:xfrm>
            <a:off x="3268980" y="5257800"/>
            <a:ext cx="1268730" cy="914400"/>
          </a:xfrm>
          <a:prstGeom prst="rect">
            <a:avLst/>
          </a:prstGeom>
          <a:solidFill>
            <a:srgbClr val="F6F8FB"/>
          </a:solidFill>
          <a:ln w="6350">
            <a:solidFill>
              <a:srgbClr val="D6DEE8"/>
            </a:solidFill>
            <a:prstDash val="solid"/>
          </a:ln>
        </p:spPr>
      </p:sp>
      <p:sp>
        <p:nvSpPr>
          <p:cNvPr id="64" name="Text 60"/>
          <p:cNvSpPr/>
          <p:nvPr/>
        </p:nvSpPr>
        <p:spPr>
          <a:xfrm>
            <a:off x="331470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65" name="Text 61"/>
          <p:cNvSpPr/>
          <p:nvPr/>
        </p:nvSpPr>
        <p:spPr>
          <a:xfrm>
            <a:off x="331470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Open audit findings</a:t>
            </a:r>
            <a:endParaRPr lang="en-US" sz="850" dirty="0"/>
          </a:p>
        </p:txBody>
      </p:sp>
      <p:sp>
        <p:nvSpPr>
          <p:cNvPr id="66" name="Shape 62"/>
          <p:cNvSpPr/>
          <p:nvPr/>
        </p:nvSpPr>
        <p:spPr>
          <a:xfrm>
            <a:off x="3433572" y="5971032"/>
            <a:ext cx="91440" cy="91440"/>
          </a:xfrm>
          <a:prstGeom prst="ellipse">
            <a:avLst/>
          </a:prstGeom>
          <a:solidFill>
            <a:srgbClr val="0051A5"/>
          </a:solidFill>
          <a:ln/>
        </p:spPr>
      </p:sp>
      <p:sp>
        <p:nvSpPr>
          <p:cNvPr id="67" name="Shape 63"/>
          <p:cNvSpPr/>
          <p:nvPr/>
        </p:nvSpPr>
        <p:spPr>
          <a:xfrm>
            <a:off x="3746754" y="5971032"/>
            <a:ext cx="91440" cy="91440"/>
          </a:xfrm>
          <a:prstGeom prst="ellipse">
            <a:avLst/>
          </a:prstGeom>
          <a:solidFill>
            <a:srgbClr val="0051A5"/>
          </a:solidFill>
          <a:ln/>
        </p:spPr>
      </p:sp>
      <p:sp>
        <p:nvSpPr>
          <p:cNvPr id="68" name="Shape 64"/>
          <p:cNvSpPr/>
          <p:nvPr/>
        </p:nvSpPr>
        <p:spPr>
          <a:xfrm>
            <a:off x="3479292" y="6016752"/>
            <a:ext cx="313182" cy="0"/>
          </a:xfrm>
          <a:prstGeom prst="line">
            <a:avLst/>
          </a:prstGeom>
          <a:noFill/>
          <a:ln w="12700">
            <a:solidFill>
              <a:srgbClr val="0051A5"/>
            </a:solidFill>
            <a:prstDash val="solid"/>
          </a:ln>
        </p:spPr>
      </p:sp>
      <p:sp>
        <p:nvSpPr>
          <p:cNvPr id="69" name="Shape 65"/>
          <p:cNvSpPr/>
          <p:nvPr/>
        </p:nvSpPr>
        <p:spPr>
          <a:xfrm>
            <a:off x="4059936" y="5971032"/>
            <a:ext cx="91440" cy="91440"/>
          </a:xfrm>
          <a:prstGeom prst="ellipse">
            <a:avLst/>
          </a:prstGeom>
          <a:solidFill>
            <a:srgbClr val="0051A5"/>
          </a:solidFill>
          <a:ln/>
        </p:spPr>
      </p:sp>
      <p:sp>
        <p:nvSpPr>
          <p:cNvPr id="70" name="Shape 66"/>
          <p:cNvSpPr/>
          <p:nvPr/>
        </p:nvSpPr>
        <p:spPr>
          <a:xfrm>
            <a:off x="3792474" y="6016752"/>
            <a:ext cx="313182" cy="0"/>
          </a:xfrm>
          <a:prstGeom prst="line">
            <a:avLst/>
          </a:prstGeom>
          <a:noFill/>
          <a:ln w="12700">
            <a:solidFill>
              <a:srgbClr val="0051A5"/>
            </a:solidFill>
            <a:prstDash val="solid"/>
          </a:ln>
        </p:spPr>
      </p:sp>
      <p:sp>
        <p:nvSpPr>
          <p:cNvPr id="71" name="Shape 67"/>
          <p:cNvSpPr/>
          <p:nvPr/>
        </p:nvSpPr>
        <p:spPr>
          <a:xfrm>
            <a:off x="4373118" y="5971032"/>
            <a:ext cx="91440" cy="91440"/>
          </a:xfrm>
          <a:prstGeom prst="ellipse">
            <a:avLst/>
          </a:prstGeom>
          <a:solidFill>
            <a:srgbClr val="FEDF01"/>
          </a:solidFill>
          <a:ln/>
        </p:spPr>
      </p:sp>
      <p:sp>
        <p:nvSpPr>
          <p:cNvPr id="72" name="Shape 68"/>
          <p:cNvSpPr/>
          <p:nvPr/>
        </p:nvSpPr>
        <p:spPr>
          <a:xfrm>
            <a:off x="4105656" y="6016752"/>
            <a:ext cx="313182" cy="0"/>
          </a:xfrm>
          <a:prstGeom prst="line">
            <a:avLst/>
          </a:prstGeom>
          <a:noFill/>
          <a:ln w="12700">
            <a:solidFill>
              <a:srgbClr val="0051A5"/>
            </a:solidFill>
            <a:prstDash val="solid"/>
          </a:ln>
        </p:spPr>
      </p:sp>
      <p:sp>
        <p:nvSpPr>
          <p:cNvPr id="73" name="Shape 69"/>
          <p:cNvSpPr/>
          <p:nvPr/>
        </p:nvSpPr>
        <p:spPr>
          <a:xfrm>
            <a:off x="4629150" y="5257800"/>
            <a:ext cx="1268730" cy="914400"/>
          </a:xfrm>
          <a:prstGeom prst="rect">
            <a:avLst/>
          </a:prstGeom>
          <a:solidFill>
            <a:srgbClr val="F6F8FB"/>
          </a:solidFill>
          <a:ln w="6350">
            <a:solidFill>
              <a:srgbClr val="D6DEE8"/>
            </a:solidFill>
            <a:prstDash val="solid"/>
          </a:ln>
        </p:spPr>
      </p:sp>
      <p:sp>
        <p:nvSpPr>
          <p:cNvPr id="74" name="Text 70"/>
          <p:cNvSpPr/>
          <p:nvPr/>
        </p:nvSpPr>
        <p:spPr>
          <a:xfrm>
            <a:off x="4674870" y="5312664"/>
            <a:ext cx="1177290" cy="310896"/>
          </a:xfrm>
          <a:prstGeom prst="rect">
            <a:avLst/>
          </a:prstGeom>
          <a:noFill/>
          <a:ln/>
        </p:spPr>
        <p:txBody>
          <a:bodyPr wrap="square" lIns="0" tIns="0" rIns="0" bIns="0" rtlCol="0" anchor="ctr"/>
          <a:lstStyle/>
          <a:p>
            <a:pPr algn="ctr" indent="0" marL="0">
              <a:buNone/>
            </a:pPr>
            <a:r>
              <a:rPr lang="en-US" sz="1400" b="1" dirty="0">
                <a:solidFill>
                  <a:srgbClr val="001F47"/>
                </a:solidFill>
                <a:latin typeface="Trebuchet MS" pitchFamily="34" charset="0"/>
                <a:ea typeface="Trebuchet MS" pitchFamily="34" charset="-122"/>
                <a:cs typeface="Trebuchet MS" pitchFamily="34" charset="-120"/>
              </a:rPr>
              <a:t>[ % ]</a:t>
            </a:r>
            <a:endParaRPr lang="en-US" sz="1400" dirty="0"/>
          </a:p>
        </p:txBody>
      </p:sp>
      <p:sp>
        <p:nvSpPr>
          <p:cNvPr id="75" name="Text 71"/>
          <p:cNvSpPr/>
          <p:nvPr/>
        </p:nvSpPr>
        <p:spPr>
          <a:xfrm>
            <a:off x="4674870" y="5623560"/>
            <a:ext cx="1177290" cy="201168"/>
          </a:xfrm>
          <a:prstGeom prst="rect">
            <a:avLst/>
          </a:prstGeom>
          <a:noFill/>
          <a:ln/>
        </p:spPr>
        <p:txBody>
          <a:bodyPr wrap="square" lIns="0" tIns="0" rIns="0" bIns="0" rtlCol="0" anchor="ctr"/>
          <a:lstStyle/>
          <a:p>
            <a:pPr algn="ctr" indent="0" marL="0">
              <a:buNone/>
            </a:pPr>
            <a:r>
              <a:rPr lang="en-US" sz="850" dirty="0">
                <a:solidFill>
                  <a:srgbClr val="5B6778"/>
                </a:solidFill>
                <a:latin typeface="Calibri" pitchFamily="34" charset="0"/>
                <a:ea typeface="Calibri" pitchFamily="34" charset="-122"/>
                <a:cs typeface="Calibri" pitchFamily="34" charset="-120"/>
              </a:rPr>
              <a:t>Utilization %</a:t>
            </a:r>
            <a:endParaRPr lang="en-US" sz="850" dirty="0"/>
          </a:p>
        </p:txBody>
      </p:sp>
      <p:sp>
        <p:nvSpPr>
          <p:cNvPr id="76" name="Shape 72"/>
          <p:cNvSpPr/>
          <p:nvPr/>
        </p:nvSpPr>
        <p:spPr>
          <a:xfrm>
            <a:off x="4793742" y="5971032"/>
            <a:ext cx="91440" cy="91440"/>
          </a:xfrm>
          <a:prstGeom prst="ellipse">
            <a:avLst/>
          </a:prstGeom>
          <a:solidFill>
            <a:srgbClr val="0051A5"/>
          </a:solidFill>
          <a:ln/>
        </p:spPr>
      </p:sp>
      <p:sp>
        <p:nvSpPr>
          <p:cNvPr id="77" name="Shape 73"/>
          <p:cNvSpPr/>
          <p:nvPr/>
        </p:nvSpPr>
        <p:spPr>
          <a:xfrm>
            <a:off x="5106924" y="5971032"/>
            <a:ext cx="91440" cy="91440"/>
          </a:xfrm>
          <a:prstGeom prst="ellipse">
            <a:avLst/>
          </a:prstGeom>
          <a:solidFill>
            <a:srgbClr val="0051A5"/>
          </a:solidFill>
          <a:ln/>
        </p:spPr>
      </p:sp>
      <p:sp>
        <p:nvSpPr>
          <p:cNvPr id="78" name="Shape 74"/>
          <p:cNvSpPr/>
          <p:nvPr/>
        </p:nvSpPr>
        <p:spPr>
          <a:xfrm>
            <a:off x="4839462" y="6016752"/>
            <a:ext cx="313182" cy="0"/>
          </a:xfrm>
          <a:prstGeom prst="line">
            <a:avLst/>
          </a:prstGeom>
          <a:noFill/>
          <a:ln w="12700">
            <a:solidFill>
              <a:srgbClr val="0051A5"/>
            </a:solidFill>
            <a:prstDash val="solid"/>
          </a:ln>
        </p:spPr>
      </p:sp>
      <p:sp>
        <p:nvSpPr>
          <p:cNvPr id="79" name="Shape 75"/>
          <p:cNvSpPr/>
          <p:nvPr/>
        </p:nvSpPr>
        <p:spPr>
          <a:xfrm>
            <a:off x="5420106" y="5971032"/>
            <a:ext cx="91440" cy="91440"/>
          </a:xfrm>
          <a:prstGeom prst="ellipse">
            <a:avLst/>
          </a:prstGeom>
          <a:solidFill>
            <a:srgbClr val="0051A5"/>
          </a:solidFill>
          <a:ln/>
        </p:spPr>
      </p:sp>
      <p:sp>
        <p:nvSpPr>
          <p:cNvPr id="80" name="Shape 76"/>
          <p:cNvSpPr/>
          <p:nvPr/>
        </p:nvSpPr>
        <p:spPr>
          <a:xfrm>
            <a:off x="5152644" y="6016752"/>
            <a:ext cx="313182" cy="0"/>
          </a:xfrm>
          <a:prstGeom prst="line">
            <a:avLst/>
          </a:prstGeom>
          <a:noFill/>
          <a:ln w="12700">
            <a:solidFill>
              <a:srgbClr val="0051A5"/>
            </a:solidFill>
            <a:prstDash val="solid"/>
          </a:ln>
        </p:spPr>
      </p:sp>
      <p:sp>
        <p:nvSpPr>
          <p:cNvPr id="81" name="Shape 77"/>
          <p:cNvSpPr/>
          <p:nvPr/>
        </p:nvSpPr>
        <p:spPr>
          <a:xfrm>
            <a:off x="5733288" y="5971032"/>
            <a:ext cx="91440" cy="91440"/>
          </a:xfrm>
          <a:prstGeom prst="ellipse">
            <a:avLst/>
          </a:prstGeom>
          <a:solidFill>
            <a:srgbClr val="FEDF01"/>
          </a:solidFill>
          <a:ln/>
        </p:spPr>
      </p:sp>
      <p:sp>
        <p:nvSpPr>
          <p:cNvPr id="82" name="Shape 78"/>
          <p:cNvSpPr/>
          <p:nvPr/>
        </p:nvSpPr>
        <p:spPr>
          <a:xfrm>
            <a:off x="5465826" y="6016752"/>
            <a:ext cx="313182" cy="0"/>
          </a:xfrm>
          <a:prstGeom prst="line">
            <a:avLst/>
          </a:prstGeom>
          <a:noFill/>
          <a:ln w="12700">
            <a:solidFill>
              <a:srgbClr val="0051A5"/>
            </a:solidFill>
            <a:prstDash val="solid"/>
          </a:ln>
        </p:spPr>
      </p:sp>
      <p:sp>
        <p:nvSpPr>
          <p:cNvPr id="83" name="Text 79"/>
          <p:cNvSpPr/>
          <p:nvPr/>
        </p:nvSpPr>
        <p:spPr>
          <a:xfrm>
            <a:off x="6126480" y="2514600"/>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KEY ACCOMPLISHMENTS — LAST 30 DAYS</a:t>
            </a:r>
            <a:endParaRPr lang="en-US" sz="1000" dirty="0"/>
          </a:p>
        </p:txBody>
      </p:sp>
      <p:sp>
        <p:nvSpPr>
          <p:cNvPr id="84" name="Text 80"/>
          <p:cNvSpPr/>
          <p:nvPr/>
        </p:nvSpPr>
        <p:spPr>
          <a:xfrm>
            <a:off x="6126480" y="2788920"/>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Accomplishment ] — [ workstream ]</a:t>
            </a:r>
            <a:endParaRPr lang="en-US" sz="1100" dirty="0"/>
          </a:p>
        </p:txBody>
      </p:sp>
      <p:sp>
        <p:nvSpPr>
          <p:cNvPr id="85" name="Text 81"/>
          <p:cNvSpPr/>
          <p:nvPr/>
        </p:nvSpPr>
        <p:spPr>
          <a:xfrm>
            <a:off x="6126480" y="3657600"/>
            <a:ext cx="22860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BLOCKERS &amp; RISKS</a:t>
            </a:r>
            <a:endParaRPr lang="en-US" sz="1000" dirty="0"/>
          </a:p>
        </p:txBody>
      </p:sp>
      <p:sp>
        <p:nvSpPr>
          <p:cNvPr id="86" name="Text 82"/>
          <p:cNvSpPr/>
          <p:nvPr/>
        </p:nvSpPr>
        <p:spPr>
          <a:xfrm>
            <a:off x="8458200" y="3657600"/>
            <a:ext cx="3154680" cy="228600"/>
          </a:xfrm>
          <a:prstGeom prst="rect">
            <a:avLst/>
          </a:prstGeom>
          <a:noFill/>
          <a:ln/>
        </p:spPr>
        <p:txBody>
          <a:bodyPr wrap="square" lIns="0" tIns="0" rIns="0" bIns="0" rtlCol="0" anchor="ctr"/>
          <a:lstStyle/>
          <a:p>
            <a:pPr indent="0" marL="0">
              <a:buNone/>
            </a:pPr>
            <a:r>
              <a:rPr lang="en-US" sz="900" i="1" dirty="0">
                <a:solidFill>
                  <a:srgbClr val="5B6778"/>
                </a:solidFill>
                <a:latin typeface="Calibri" pitchFamily="34" charset="0"/>
                <a:ea typeface="Calibri" pitchFamily="34" charset="-122"/>
                <a:cs typeface="Calibri" pitchFamily="34" charset="-120"/>
              </a:rPr>
              <a:t>blocker · severity · owner · ETA</a:t>
            </a:r>
            <a:endParaRPr lang="en-US" sz="900" dirty="0"/>
          </a:p>
        </p:txBody>
      </p:sp>
      <p:sp>
        <p:nvSpPr>
          <p:cNvPr id="87" name="Shape 83"/>
          <p:cNvSpPr/>
          <p:nvPr/>
        </p:nvSpPr>
        <p:spPr>
          <a:xfrm>
            <a:off x="6126480" y="3931920"/>
            <a:ext cx="5486400" cy="292608"/>
          </a:xfrm>
          <a:prstGeom prst="rect">
            <a:avLst/>
          </a:prstGeom>
          <a:solidFill>
            <a:srgbClr val="F6F8FB"/>
          </a:solidFill>
          <a:ln w="5080">
            <a:solidFill>
              <a:srgbClr val="D6DEE8"/>
            </a:solidFill>
            <a:prstDash val="solid"/>
          </a:ln>
        </p:spPr>
      </p:sp>
      <p:sp>
        <p:nvSpPr>
          <p:cNvPr id="88" name="Shape 84"/>
          <p:cNvSpPr/>
          <p:nvPr/>
        </p:nvSpPr>
        <p:spPr>
          <a:xfrm>
            <a:off x="6126480" y="3931920"/>
            <a:ext cx="54864" cy="292608"/>
          </a:xfrm>
          <a:prstGeom prst="rect">
            <a:avLst/>
          </a:prstGeom>
          <a:solidFill>
            <a:srgbClr val="B91C1C"/>
          </a:solidFill>
          <a:ln/>
        </p:spPr>
      </p:sp>
      <p:sp>
        <p:nvSpPr>
          <p:cNvPr id="89" name="Text 85"/>
          <p:cNvSpPr/>
          <p:nvPr/>
        </p:nvSpPr>
        <p:spPr>
          <a:xfrm>
            <a:off x="6263640" y="3931920"/>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0" name="Text 86"/>
          <p:cNvSpPr/>
          <p:nvPr/>
        </p:nvSpPr>
        <p:spPr>
          <a:xfrm>
            <a:off x="9052560" y="3931920"/>
            <a:ext cx="365760" cy="292608"/>
          </a:xfrm>
          <a:prstGeom prst="rect">
            <a:avLst/>
          </a:prstGeom>
          <a:noFill/>
          <a:ln/>
        </p:spPr>
        <p:txBody>
          <a:bodyPr wrap="square" lIns="0" tIns="0" rIns="0" bIns="0" rtlCol="0" anchor="ctr"/>
          <a:lstStyle/>
          <a:p>
            <a:pPr algn="ctr" indent="0" marL="0">
              <a:buNone/>
            </a:pPr>
            <a:r>
              <a:rPr lang="en-US" sz="1100" b="1" dirty="0">
                <a:solidFill>
                  <a:srgbClr val="B91C1C"/>
                </a:solidFill>
                <a:latin typeface="Trebuchet MS" pitchFamily="34" charset="0"/>
                <a:ea typeface="Trebuchet MS" pitchFamily="34" charset="-122"/>
                <a:cs typeface="Trebuchet MS" pitchFamily="34" charset="-120"/>
              </a:rPr>
              <a:t>H</a:t>
            </a:r>
            <a:endParaRPr lang="en-US" sz="1100" dirty="0"/>
          </a:p>
        </p:txBody>
      </p:sp>
      <p:sp>
        <p:nvSpPr>
          <p:cNvPr id="91" name="Text 87"/>
          <p:cNvSpPr/>
          <p:nvPr/>
        </p:nvSpPr>
        <p:spPr>
          <a:xfrm>
            <a:off x="9464040" y="3931920"/>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2" name="Text 88"/>
          <p:cNvSpPr/>
          <p:nvPr/>
        </p:nvSpPr>
        <p:spPr>
          <a:xfrm>
            <a:off x="10652760" y="3931920"/>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3" name="Shape 89"/>
          <p:cNvSpPr/>
          <p:nvPr/>
        </p:nvSpPr>
        <p:spPr>
          <a:xfrm>
            <a:off x="6126480" y="4261104"/>
            <a:ext cx="5486400" cy="292608"/>
          </a:xfrm>
          <a:prstGeom prst="rect">
            <a:avLst/>
          </a:prstGeom>
          <a:solidFill>
            <a:srgbClr val="F6F8FB"/>
          </a:solidFill>
          <a:ln w="5080">
            <a:solidFill>
              <a:srgbClr val="D6DEE8"/>
            </a:solidFill>
            <a:prstDash val="solid"/>
          </a:ln>
        </p:spPr>
      </p:sp>
      <p:sp>
        <p:nvSpPr>
          <p:cNvPr id="94" name="Shape 90"/>
          <p:cNvSpPr/>
          <p:nvPr/>
        </p:nvSpPr>
        <p:spPr>
          <a:xfrm>
            <a:off x="6126480" y="4261104"/>
            <a:ext cx="54864" cy="292608"/>
          </a:xfrm>
          <a:prstGeom prst="rect">
            <a:avLst/>
          </a:prstGeom>
          <a:solidFill>
            <a:srgbClr val="C97A00"/>
          </a:solidFill>
          <a:ln/>
        </p:spPr>
      </p:sp>
      <p:sp>
        <p:nvSpPr>
          <p:cNvPr id="95" name="Text 91"/>
          <p:cNvSpPr/>
          <p:nvPr/>
        </p:nvSpPr>
        <p:spPr>
          <a:xfrm>
            <a:off x="6263640" y="4261104"/>
            <a:ext cx="274320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Blocker ]</a:t>
            </a:r>
            <a:endParaRPr lang="en-US" sz="1050" dirty="0"/>
          </a:p>
        </p:txBody>
      </p:sp>
      <p:sp>
        <p:nvSpPr>
          <p:cNvPr id="96" name="Text 92"/>
          <p:cNvSpPr/>
          <p:nvPr/>
        </p:nvSpPr>
        <p:spPr>
          <a:xfrm>
            <a:off x="9052560" y="4261104"/>
            <a:ext cx="365760" cy="292608"/>
          </a:xfrm>
          <a:prstGeom prst="rect">
            <a:avLst/>
          </a:prstGeom>
          <a:noFill/>
          <a:ln/>
        </p:spPr>
        <p:txBody>
          <a:bodyPr wrap="square" lIns="0" tIns="0" rIns="0" bIns="0" rtlCol="0" anchor="ctr"/>
          <a:lstStyle/>
          <a:p>
            <a:pPr algn="ctr" indent="0" marL="0">
              <a:buNone/>
            </a:pPr>
            <a:r>
              <a:rPr lang="en-US" sz="1100" b="1" dirty="0">
                <a:solidFill>
                  <a:srgbClr val="C97A00"/>
                </a:solidFill>
                <a:latin typeface="Trebuchet MS" pitchFamily="34" charset="0"/>
                <a:ea typeface="Trebuchet MS" pitchFamily="34" charset="-122"/>
                <a:cs typeface="Trebuchet MS" pitchFamily="34" charset="-120"/>
              </a:rPr>
              <a:t>M</a:t>
            </a:r>
            <a:endParaRPr lang="en-US" sz="1100" dirty="0"/>
          </a:p>
        </p:txBody>
      </p:sp>
      <p:sp>
        <p:nvSpPr>
          <p:cNvPr id="97" name="Text 93"/>
          <p:cNvSpPr/>
          <p:nvPr/>
        </p:nvSpPr>
        <p:spPr>
          <a:xfrm>
            <a:off x="9464040" y="4261104"/>
            <a:ext cx="1188720" cy="292608"/>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 Owner ]</a:t>
            </a:r>
            <a:endParaRPr lang="en-US" sz="1050" dirty="0"/>
          </a:p>
        </p:txBody>
      </p:sp>
      <p:sp>
        <p:nvSpPr>
          <p:cNvPr id="98" name="Text 94"/>
          <p:cNvSpPr/>
          <p:nvPr/>
        </p:nvSpPr>
        <p:spPr>
          <a:xfrm>
            <a:off x="10652760" y="4261104"/>
            <a:ext cx="914400" cy="292608"/>
          </a:xfrm>
          <a:prstGeom prst="rect">
            <a:avLst/>
          </a:prstGeom>
          <a:noFill/>
          <a:ln/>
        </p:spPr>
        <p:txBody>
          <a:bodyPr wrap="square" lIns="0" tIns="0" rIns="0" bIns="0" rtlCol="0" anchor="ctr"/>
          <a:lstStyle/>
          <a:p>
            <a:pPr indent="0" marL="0">
              <a:buNone/>
            </a:pPr>
            <a:r>
              <a:rPr lang="en-US" sz="1050" dirty="0">
                <a:solidFill>
                  <a:srgbClr val="5B6778"/>
                </a:solidFill>
                <a:latin typeface="Calibri" pitchFamily="34" charset="0"/>
                <a:ea typeface="Calibri" pitchFamily="34" charset="-122"/>
                <a:cs typeface="Calibri" pitchFamily="34" charset="-120"/>
              </a:rPr>
              <a:t>[ Date ]</a:t>
            </a:r>
            <a:endParaRPr lang="en-US" sz="1050" dirty="0"/>
          </a:p>
        </p:txBody>
      </p:sp>
      <p:sp>
        <p:nvSpPr>
          <p:cNvPr id="99" name="Text 95"/>
          <p:cNvSpPr/>
          <p:nvPr/>
        </p:nvSpPr>
        <p:spPr>
          <a:xfrm>
            <a:off x="6126480" y="4681728"/>
            <a:ext cx="5486400" cy="228600"/>
          </a:xfrm>
          <a:prstGeom prst="rect">
            <a:avLst/>
          </a:prstGeom>
          <a:noFill/>
          <a:ln/>
        </p:spPr>
        <p:txBody>
          <a:bodyPr wrap="square" lIns="0" tIns="0" rIns="0" bIns="0" rtlCol="0" anchor="ctr"/>
          <a:lstStyle/>
          <a:p>
            <a:pPr indent="0" marL="0">
              <a:buNone/>
            </a:pPr>
            <a:r>
              <a:rPr lang="en-US" sz="1000" b="1" spc="300" kern="0" dirty="0">
                <a:solidFill>
                  <a:srgbClr val="0051A5"/>
                </a:solidFill>
                <a:latin typeface="Trebuchet MS" pitchFamily="34" charset="0"/>
                <a:ea typeface="Trebuchet MS" pitchFamily="34" charset="-122"/>
                <a:cs typeface="Trebuchet MS" pitchFamily="34" charset="-120"/>
              </a:rPr>
              <a:t>NEXT 30 DAYS — KEY DELIVERABLES</a:t>
            </a:r>
            <a:endParaRPr lang="en-US" sz="1000" dirty="0"/>
          </a:p>
        </p:txBody>
      </p:sp>
      <p:sp>
        <p:nvSpPr>
          <p:cNvPr id="100" name="Text 96"/>
          <p:cNvSpPr/>
          <p:nvPr/>
        </p:nvSpPr>
        <p:spPr>
          <a:xfrm>
            <a:off x="6126480" y="4956048"/>
            <a:ext cx="54864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a:p>
            <a:pPr marL="342900" indent="-342900">
              <a:spcAft>
                <a:spcPts val="200"/>
              </a:spcAft>
              <a:buSzPct val="100000"/>
              <a:buChar char="•"/>
            </a:pPr>
            <a:r>
              <a:rPr lang="en-US" sz="1100" dirty="0">
                <a:solidFill>
                  <a:srgbClr val="0F172A"/>
                </a:solidFill>
                <a:latin typeface="Calibri" pitchFamily="34" charset="0"/>
                <a:ea typeface="Calibri" pitchFamily="34" charset="-122"/>
                <a:cs typeface="Calibri" pitchFamily="34" charset="-120"/>
              </a:rPr>
              <a:t>[ Deliverable ] — by [ date ] — [ workstream ]</a:t>
            </a:r>
            <a:endParaRPr lang="en-US" sz="1100" dirty="0"/>
          </a:p>
        </p:txBody>
      </p:sp>
      <p:sp>
        <p:nvSpPr>
          <p:cNvPr id="101" name="Shape 97"/>
          <p:cNvSpPr/>
          <p:nvPr/>
        </p:nvSpPr>
        <p:spPr>
          <a:xfrm>
            <a:off x="6126480" y="5824728"/>
            <a:ext cx="5486400" cy="594360"/>
          </a:xfrm>
          <a:prstGeom prst="rect">
            <a:avLst/>
          </a:prstGeom>
          <a:solidFill>
            <a:srgbClr val="001F47"/>
          </a:solidFill>
          <a:ln/>
        </p:spPr>
      </p:sp>
      <p:sp>
        <p:nvSpPr>
          <p:cNvPr id="102" name="Text 98"/>
          <p:cNvSpPr/>
          <p:nvPr/>
        </p:nvSpPr>
        <p:spPr>
          <a:xfrm>
            <a:off x="6309360" y="5879592"/>
            <a:ext cx="5212080" cy="201168"/>
          </a:xfrm>
          <a:prstGeom prst="rect">
            <a:avLst/>
          </a:prstGeom>
          <a:noFill/>
          <a:ln/>
        </p:spPr>
        <p:txBody>
          <a:bodyPr wrap="square" lIns="0" tIns="0" rIns="0" bIns="0" rtlCol="0" anchor="ctr"/>
          <a:lstStyle/>
          <a:p>
            <a:pPr indent="0" marL="0">
              <a:buNone/>
            </a:pPr>
            <a:r>
              <a:rPr lang="en-US" sz="900" b="1" spc="300" kern="0" dirty="0">
                <a:solidFill>
                  <a:srgbClr val="FEDF01"/>
                </a:solidFill>
                <a:latin typeface="Trebuchet MS" pitchFamily="34" charset="0"/>
                <a:ea typeface="Trebuchet MS" pitchFamily="34" charset="-122"/>
                <a:cs typeface="Trebuchet MS" pitchFamily="34" charset="-120"/>
              </a:rPr>
              <a:t>ASK FROM STEERING</a:t>
            </a:r>
            <a:endParaRPr lang="en-US" sz="900" dirty="0"/>
          </a:p>
        </p:txBody>
      </p:sp>
      <p:sp>
        <p:nvSpPr>
          <p:cNvPr id="103" name="Text 99"/>
          <p:cNvSpPr/>
          <p:nvPr/>
        </p:nvSpPr>
        <p:spPr>
          <a:xfrm>
            <a:off x="6309360" y="6080760"/>
            <a:ext cx="5212080" cy="32004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 Decision needed, by when ]</a:t>
            </a:r>
            <a:endParaRPr lang="en-US" sz="1100" dirty="0"/>
          </a:p>
        </p:txBody>
      </p:sp>
      <p:sp>
        <p:nvSpPr>
          <p:cNvPr id="104" name="Text 100"/>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29 / 30</a:t>
            </a:r>
            <a:endParaRPr lang="en-US" sz="900" dirty="0"/>
          </a:p>
        </p:txBody>
      </p:sp>
      <p:sp>
        <p:nvSpPr>
          <p:cNvPr id="105" name="Text 101"/>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75720" y="228600"/>
            <a:ext cx="502920" cy="658368"/>
          </a:xfrm>
          <a:prstGeom prst="rect">
            <a:avLst/>
          </a:prstGeom>
        </p:spPr>
      </p:pic>
      <p:sp>
        <p:nvSpPr>
          <p:cNvPr id="3" name="Text 0"/>
          <p:cNvSpPr/>
          <p:nvPr/>
        </p:nvSpPr>
        <p:spPr>
          <a:xfrm>
            <a:off x="548640" y="365760"/>
            <a:ext cx="10515600" cy="274320"/>
          </a:xfrm>
          <a:prstGeom prst="rect">
            <a:avLst/>
          </a:prstGeom>
          <a:noFill/>
          <a:ln/>
        </p:spPr>
        <p:txBody>
          <a:bodyPr wrap="square" lIns="0" tIns="0" rIns="0" bIns="0" rtlCol="0" anchor="ctr"/>
          <a:lstStyle/>
          <a:p>
            <a:pPr indent="0" marL="0">
              <a:buNone/>
            </a:pPr>
            <a:r>
              <a:rPr lang="en-US" sz="1100" b="1" spc="400" kern="0" dirty="0">
                <a:solidFill>
                  <a:srgbClr val="0051A5"/>
                </a:solidFill>
                <a:latin typeface="Trebuchet MS" pitchFamily="34" charset="0"/>
                <a:ea typeface="Trebuchet MS" pitchFamily="34" charset="-122"/>
                <a:cs typeface="Trebuchet MS" pitchFamily="34" charset="-120"/>
              </a:rPr>
              <a:t>28  ·  CLOSEOUT</a:t>
            </a:r>
            <a:endParaRPr lang="en-US" sz="1100" dirty="0"/>
          </a:p>
        </p:txBody>
      </p:sp>
      <p:sp>
        <p:nvSpPr>
          <p:cNvPr id="4" name="Text 1"/>
          <p:cNvSpPr/>
          <p:nvPr/>
        </p:nvSpPr>
        <p:spPr>
          <a:xfrm>
            <a:off x="548640" y="713232"/>
            <a:ext cx="10515600" cy="777240"/>
          </a:xfrm>
          <a:prstGeom prst="rect">
            <a:avLst/>
          </a:prstGeom>
          <a:noFill/>
          <a:ln/>
        </p:spPr>
        <p:txBody>
          <a:bodyPr wrap="square" lIns="0" tIns="0" rIns="0" bIns="0" rtlCol="0" anchor="ctr"/>
          <a:lstStyle/>
          <a:p>
            <a:pPr indent="0" marL="0">
              <a:buNone/>
            </a:pPr>
            <a:r>
              <a:rPr lang="en-US" sz="2600" b="1" dirty="0">
                <a:solidFill>
                  <a:srgbClr val="001F47"/>
                </a:solidFill>
                <a:latin typeface="Trebuchet MS" pitchFamily="34" charset="0"/>
                <a:ea typeface="Trebuchet MS" pitchFamily="34" charset="-122"/>
                <a:cs typeface="Trebuchet MS" pitchFamily="34" charset="-120"/>
              </a:rPr>
              <a:t>Decisions · Parking lot · Watchlist</a:t>
            </a:r>
            <a:endParaRPr lang="en-US" sz="2600" dirty="0"/>
          </a:p>
        </p:txBody>
      </p:sp>
      <p:sp>
        <p:nvSpPr>
          <p:cNvPr id="5" name="Shape 2"/>
          <p:cNvSpPr/>
          <p:nvPr/>
        </p:nvSpPr>
        <p:spPr>
          <a:xfrm>
            <a:off x="548640" y="1417320"/>
            <a:ext cx="457200" cy="45720"/>
          </a:xfrm>
          <a:prstGeom prst="rect">
            <a:avLst/>
          </a:prstGeom>
          <a:solidFill>
            <a:srgbClr val="FEDF01"/>
          </a:solidFill>
          <a:ln/>
        </p:spPr>
      </p:sp>
      <p:sp>
        <p:nvSpPr>
          <p:cNvPr id="6" name="Shape 3"/>
          <p:cNvSpPr/>
          <p:nvPr/>
        </p:nvSpPr>
        <p:spPr>
          <a:xfrm>
            <a:off x="548640" y="1783080"/>
            <a:ext cx="3611880" cy="4160520"/>
          </a:xfrm>
          <a:prstGeom prst="rect">
            <a:avLst/>
          </a:prstGeom>
          <a:solidFill>
            <a:srgbClr val="F6F8FB"/>
          </a:solidFill>
          <a:ln w="6350">
            <a:solidFill>
              <a:srgbClr val="D6DEE8"/>
            </a:solidFill>
            <a:prstDash val="solid"/>
          </a:ln>
        </p:spPr>
      </p:sp>
      <p:sp>
        <p:nvSpPr>
          <p:cNvPr id="7" name="Shape 4"/>
          <p:cNvSpPr/>
          <p:nvPr/>
        </p:nvSpPr>
        <p:spPr>
          <a:xfrm>
            <a:off x="548640" y="1783080"/>
            <a:ext cx="3611880" cy="640080"/>
          </a:xfrm>
          <a:prstGeom prst="rect">
            <a:avLst/>
          </a:prstGeom>
          <a:solidFill>
            <a:srgbClr val="0051A5"/>
          </a:solidFill>
          <a:ln/>
        </p:spPr>
      </p:sp>
      <p:sp>
        <p:nvSpPr>
          <p:cNvPr id="8" name="Text 5"/>
          <p:cNvSpPr/>
          <p:nvPr/>
        </p:nvSpPr>
        <p:spPr>
          <a:xfrm>
            <a:off x="731520" y="1856232"/>
            <a:ext cx="333756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Trebuchet MS" pitchFamily="34" charset="0"/>
                <a:ea typeface="Trebuchet MS" pitchFamily="34" charset="-122"/>
                <a:cs typeface="Trebuchet MS" pitchFamily="34" charset="-120"/>
              </a:rPr>
              <a:t>DECISIONS MADE TODAY</a:t>
            </a:r>
            <a:endParaRPr lang="en-US" sz="1100" dirty="0"/>
          </a:p>
        </p:txBody>
      </p:sp>
      <p:sp>
        <p:nvSpPr>
          <p:cNvPr id="9" name="Text 6"/>
          <p:cNvSpPr/>
          <p:nvPr/>
        </p:nvSpPr>
        <p:spPr>
          <a:xfrm>
            <a:off x="731520" y="2148840"/>
            <a:ext cx="3337560" cy="228600"/>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filled in live · distributed within 24 hours</a:t>
            </a:r>
            <a:endParaRPr lang="en-US" sz="950" dirty="0"/>
          </a:p>
        </p:txBody>
      </p:sp>
      <p:sp>
        <p:nvSpPr>
          <p:cNvPr id="10" name="Shape 7"/>
          <p:cNvSpPr/>
          <p:nvPr/>
        </p:nvSpPr>
        <p:spPr>
          <a:xfrm>
            <a:off x="731520" y="2560320"/>
            <a:ext cx="3246120" cy="36576"/>
          </a:xfrm>
          <a:prstGeom prst="rect">
            <a:avLst/>
          </a:prstGeom>
          <a:solidFill>
            <a:srgbClr val="FEDF01"/>
          </a:solidFill>
          <a:ln/>
        </p:spPr>
      </p:sp>
      <p:sp>
        <p:nvSpPr>
          <p:cNvPr id="11" name="Text 8"/>
          <p:cNvSpPr/>
          <p:nvPr/>
        </p:nvSpPr>
        <p:spPr>
          <a:xfrm>
            <a:off x="731520" y="2633472"/>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Decision ] · [ Owner ] · [ By when ]</a:t>
            </a:r>
            <a:endParaRPr lang="en-US" sz="1050" dirty="0"/>
          </a:p>
        </p:txBody>
      </p:sp>
      <p:sp>
        <p:nvSpPr>
          <p:cNvPr id="12" name="Shape 9"/>
          <p:cNvSpPr/>
          <p:nvPr/>
        </p:nvSpPr>
        <p:spPr>
          <a:xfrm>
            <a:off x="731520" y="3218688"/>
            <a:ext cx="3246120" cy="36576"/>
          </a:xfrm>
          <a:prstGeom prst="rect">
            <a:avLst/>
          </a:prstGeom>
          <a:solidFill>
            <a:srgbClr val="FEDF01"/>
          </a:solidFill>
          <a:ln/>
        </p:spPr>
      </p:sp>
      <p:sp>
        <p:nvSpPr>
          <p:cNvPr id="13" name="Text 10"/>
          <p:cNvSpPr/>
          <p:nvPr/>
        </p:nvSpPr>
        <p:spPr>
          <a:xfrm>
            <a:off x="731520" y="3291840"/>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Decision ] · [ Owner ] · [ By when ]</a:t>
            </a:r>
            <a:endParaRPr lang="en-US" sz="1050" dirty="0"/>
          </a:p>
        </p:txBody>
      </p:sp>
      <p:sp>
        <p:nvSpPr>
          <p:cNvPr id="14" name="Shape 11"/>
          <p:cNvSpPr/>
          <p:nvPr/>
        </p:nvSpPr>
        <p:spPr>
          <a:xfrm>
            <a:off x="731520" y="3877056"/>
            <a:ext cx="3246120" cy="36576"/>
          </a:xfrm>
          <a:prstGeom prst="rect">
            <a:avLst/>
          </a:prstGeom>
          <a:solidFill>
            <a:srgbClr val="FEDF01"/>
          </a:solidFill>
          <a:ln/>
        </p:spPr>
      </p:sp>
      <p:sp>
        <p:nvSpPr>
          <p:cNvPr id="15" name="Text 12"/>
          <p:cNvSpPr/>
          <p:nvPr/>
        </p:nvSpPr>
        <p:spPr>
          <a:xfrm>
            <a:off x="731520" y="3950208"/>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Decision ] · [ Owner ] · [ By when ]</a:t>
            </a:r>
            <a:endParaRPr lang="en-US" sz="1050" dirty="0"/>
          </a:p>
        </p:txBody>
      </p:sp>
      <p:sp>
        <p:nvSpPr>
          <p:cNvPr id="16" name="Shape 13"/>
          <p:cNvSpPr/>
          <p:nvPr/>
        </p:nvSpPr>
        <p:spPr>
          <a:xfrm>
            <a:off x="731520" y="4535424"/>
            <a:ext cx="3246120" cy="36576"/>
          </a:xfrm>
          <a:prstGeom prst="rect">
            <a:avLst/>
          </a:prstGeom>
          <a:solidFill>
            <a:srgbClr val="FEDF01"/>
          </a:solidFill>
          <a:ln/>
        </p:spPr>
      </p:sp>
      <p:sp>
        <p:nvSpPr>
          <p:cNvPr id="17" name="Text 14"/>
          <p:cNvSpPr/>
          <p:nvPr/>
        </p:nvSpPr>
        <p:spPr>
          <a:xfrm>
            <a:off x="731520" y="4608576"/>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Decision ] · [ Owner ] · [ By when ]</a:t>
            </a:r>
            <a:endParaRPr lang="en-US" sz="1050" dirty="0"/>
          </a:p>
        </p:txBody>
      </p:sp>
      <p:sp>
        <p:nvSpPr>
          <p:cNvPr id="18" name="Shape 15"/>
          <p:cNvSpPr/>
          <p:nvPr/>
        </p:nvSpPr>
        <p:spPr>
          <a:xfrm>
            <a:off x="4325112" y="1783080"/>
            <a:ext cx="3611880" cy="4160520"/>
          </a:xfrm>
          <a:prstGeom prst="rect">
            <a:avLst/>
          </a:prstGeom>
          <a:solidFill>
            <a:srgbClr val="F6F8FB"/>
          </a:solidFill>
          <a:ln w="6350">
            <a:solidFill>
              <a:srgbClr val="D6DEE8"/>
            </a:solidFill>
            <a:prstDash val="solid"/>
          </a:ln>
        </p:spPr>
      </p:sp>
      <p:sp>
        <p:nvSpPr>
          <p:cNvPr id="19" name="Shape 16"/>
          <p:cNvSpPr/>
          <p:nvPr/>
        </p:nvSpPr>
        <p:spPr>
          <a:xfrm>
            <a:off x="4325112" y="1783080"/>
            <a:ext cx="3611880" cy="640080"/>
          </a:xfrm>
          <a:prstGeom prst="rect">
            <a:avLst/>
          </a:prstGeom>
          <a:solidFill>
            <a:srgbClr val="C9AC00"/>
          </a:solidFill>
          <a:ln/>
        </p:spPr>
      </p:sp>
      <p:sp>
        <p:nvSpPr>
          <p:cNvPr id="20" name="Text 17"/>
          <p:cNvSpPr/>
          <p:nvPr/>
        </p:nvSpPr>
        <p:spPr>
          <a:xfrm>
            <a:off x="4507992" y="1856232"/>
            <a:ext cx="3337560" cy="274320"/>
          </a:xfrm>
          <a:prstGeom prst="rect">
            <a:avLst/>
          </a:prstGeom>
          <a:noFill/>
          <a:ln/>
        </p:spPr>
        <p:txBody>
          <a:bodyPr wrap="square" lIns="0" tIns="0" rIns="0" bIns="0" rtlCol="0" anchor="ctr"/>
          <a:lstStyle/>
          <a:p>
            <a:pPr indent="0" marL="0">
              <a:buNone/>
            </a:pPr>
            <a:r>
              <a:rPr lang="en-US" sz="1100" b="1" spc="300" kern="0" dirty="0">
                <a:solidFill>
                  <a:srgbClr val="001F47"/>
                </a:solidFill>
                <a:latin typeface="Trebuchet MS" pitchFamily="34" charset="0"/>
                <a:ea typeface="Trebuchet MS" pitchFamily="34" charset="-122"/>
                <a:cs typeface="Trebuchet MS" pitchFamily="34" charset="-120"/>
              </a:rPr>
              <a:t>PARKING LOT</a:t>
            </a:r>
            <a:endParaRPr lang="en-US" sz="1100" dirty="0"/>
          </a:p>
        </p:txBody>
      </p:sp>
      <p:sp>
        <p:nvSpPr>
          <p:cNvPr id="21" name="Text 18"/>
          <p:cNvSpPr/>
          <p:nvPr/>
        </p:nvSpPr>
        <p:spPr>
          <a:xfrm>
            <a:off x="4507992" y="2148840"/>
            <a:ext cx="3337560" cy="228600"/>
          </a:xfrm>
          <a:prstGeom prst="rect">
            <a:avLst/>
          </a:prstGeom>
          <a:noFill/>
          <a:ln/>
        </p:spPr>
        <p:txBody>
          <a:bodyPr wrap="square" lIns="0" tIns="0" rIns="0" bIns="0" rtlCol="0" anchor="ctr"/>
          <a:lstStyle/>
          <a:p>
            <a:pPr indent="0" marL="0">
              <a:buNone/>
            </a:pPr>
            <a:r>
              <a:rPr lang="en-US" sz="950" i="1" dirty="0">
                <a:solidFill>
                  <a:srgbClr val="001F47"/>
                </a:solidFill>
                <a:latin typeface="Calibri" pitchFamily="34" charset="0"/>
                <a:ea typeface="Calibri" pitchFamily="34" charset="-122"/>
                <a:cs typeface="Calibri" pitchFamily="34" charset="-120"/>
              </a:rPr>
              <a:t>deferred · reviewed at start of next meeting</a:t>
            </a:r>
            <a:endParaRPr lang="en-US" sz="950" dirty="0"/>
          </a:p>
        </p:txBody>
      </p:sp>
      <p:sp>
        <p:nvSpPr>
          <p:cNvPr id="22" name="Shape 19"/>
          <p:cNvSpPr/>
          <p:nvPr/>
        </p:nvSpPr>
        <p:spPr>
          <a:xfrm>
            <a:off x="4507992" y="2560320"/>
            <a:ext cx="3246120" cy="36576"/>
          </a:xfrm>
          <a:prstGeom prst="rect">
            <a:avLst/>
          </a:prstGeom>
          <a:solidFill>
            <a:srgbClr val="FEDF01"/>
          </a:solidFill>
          <a:ln/>
        </p:spPr>
      </p:sp>
      <p:sp>
        <p:nvSpPr>
          <p:cNvPr id="23" name="Text 20"/>
          <p:cNvSpPr/>
          <p:nvPr/>
        </p:nvSpPr>
        <p:spPr>
          <a:xfrm>
            <a:off x="4507992" y="2633472"/>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Topic ] · [ Owner ] · [ Returns ]</a:t>
            </a:r>
            <a:endParaRPr lang="en-US" sz="1050" dirty="0"/>
          </a:p>
        </p:txBody>
      </p:sp>
      <p:sp>
        <p:nvSpPr>
          <p:cNvPr id="24" name="Shape 21"/>
          <p:cNvSpPr/>
          <p:nvPr/>
        </p:nvSpPr>
        <p:spPr>
          <a:xfrm>
            <a:off x="4507992" y="3218688"/>
            <a:ext cx="3246120" cy="36576"/>
          </a:xfrm>
          <a:prstGeom prst="rect">
            <a:avLst/>
          </a:prstGeom>
          <a:solidFill>
            <a:srgbClr val="FEDF01"/>
          </a:solidFill>
          <a:ln/>
        </p:spPr>
      </p:sp>
      <p:sp>
        <p:nvSpPr>
          <p:cNvPr id="25" name="Text 22"/>
          <p:cNvSpPr/>
          <p:nvPr/>
        </p:nvSpPr>
        <p:spPr>
          <a:xfrm>
            <a:off x="4507992" y="3291840"/>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Topic ] · [ Owner ] · [ Returns ]</a:t>
            </a:r>
            <a:endParaRPr lang="en-US" sz="1050" dirty="0"/>
          </a:p>
        </p:txBody>
      </p:sp>
      <p:sp>
        <p:nvSpPr>
          <p:cNvPr id="26" name="Shape 23"/>
          <p:cNvSpPr/>
          <p:nvPr/>
        </p:nvSpPr>
        <p:spPr>
          <a:xfrm>
            <a:off x="4507992" y="3877056"/>
            <a:ext cx="3246120" cy="36576"/>
          </a:xfrm>
          <a:prstGeom prst="rect">
            <a:avLst/>
          </a:prstGeom>
          <a:solidFill>
            <a:srgbClr val="FEDF01"/>
          </a:solidFill>
          <a:ln/>
        </p:spPr>
      </p:sp>
      <p:sp>
        <p:nvSpPr>
          <p:cNvPr id="27" name="Text 24"/>
          <p:cNvSpPr/>
          <p:nvPr/>
        </p:nvSpPr>
        <p:spPr>
          <a:xfrm>
            <a:off x="4507992" y="3950208"/>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Topic ] · [ Owner ] · [ Returns ]</a:t>
            </a:r>
            <a:endParaRPr lang="en-US" sz="1050" dirty="0"/>
          </a:p>
        </p:txBody>
      </p:sp>
      <p:sp>
        <p:nvSpPr>
          <p:cNvPr id="28" name="Shape 25"/>
          <p:cNvSpPr/>
          <p:nvPr/>
        </p:nvSpPr>
        <p:spPr>
          <a:xfrm>
            <a:off x="4507992" y="4535424"/>
            <a:ext cx="3246120" cy="36576"/>
          </a:xfrm>
          <a:prstGeom prst="rect">
            <a:avLst/>
          </a:prstGeom>
          <a:solidFill>
            <a:srgbClr val="FEDF01"/>
          </a:solidFill>
          <a:ln/>
        </p:spPr>
      </p:sp>
      <p:sp>
        <p:nvSpPr>
          <p:cNvPr id="29" name="Text 26"/>
          <p:cNvSpPr/>
          <p:nvPr/>
        </p:nvSpPr>
        <p:spPr>
          <a:xfrm>
            <a:off x="4507992" y="4608576"/>
            <a:ext cx="3246120" cy="594360"/>
          </a:xfrm>
          <a:prstGeom prst="rect">
            <a:avLst/>
          </a:prstGeom>
          <a:noFill/>
          <a:ln/>
        </p:spPr>
        <p:txBody>
          <a:bodyPr wrap="square" lIns="0" tIns="0" rIns="0" bIns="0" rtlCol="0" anchor="ctr"/>
          <a:lstStyle/>
          <a:p>
            <a:pPr indent="0" marL="0">
              <a:buNone/>
            </a:pPr>
            <a:r>
              <a:rPr lang="en-US" sz="1050" i="1" dirty="0">
                <a:solidFill>
                  <a:srgbClr val="5B6778"/>
                </a:solidFill>
                <a:latin typeface="Calibri" pitchFamily="34" charset="0"/>
                <a:ea typeface="Calibri" pitchFamily="34" charset="-122"/>
                <a:cs typeface="Calibri" pitchFamily="34" charset="-120"/>
              </a:rPr>
              <a:t>[ Topic ] · [ Owner ] · [ Returns ]</a:t>
            </a:r>
            <a:endParaRPr lang="en-US" sz="1050" dirty="0"/>
          </a:p>
        </p:txBody>
      </p:sp>
      <p:sp>
        <p:nvSpPr>
          <p:cNvPr id="30" name="Shape 27"/>
          <p:cNvSpPr/>
          <p:nvPr/>
        </p:nvSpPr>
        <p:spPr>
          <a:xfrm>
            <a:off x="8101584" y="1783080"/>
            <a:ext cx="3611880" cy="4160520"/>
          </a:xfrm>
          <a:prstGeom prst="rect">
            <a:avLst/>
          </a:prstGeom>
          <a:solidFill>
            <a:srgbClr val="F6F8FB"/>
          </a:solidFill>
          <a:ln w="6350">
            <a:solidFill>
              <a:srgbClr val="D6DEE8"/>
            </a:solidFill>
            <a:prstDash val="solid"/>
          </a:ln>
        </p:spPr>
      </p:sp>
      <p:sp>
        <p:nvSpPr>
          <p:cNvPr id="31" name="Shape 28"/>
          <p:cNvSpPr/>
          <p:nvPr/>
        </p:nvSpPr>
        <p:spPr>
          <a:xfrm>
            <a:off x="8101584" y="1783080"/>
            <a:ext cx="3611880" cy="640080"/>
          </a:xfrm>
          <a:prstGeom prst="rect">
            <a:avLst/>
          </a:prstGeom>
          <a:solidFill>
            <a:srgbClr val="001F47"/>
          </a:solidFill>
          <a:ln/>
        </p:spPr>
      </p:sp>
      <p:sp>
        <p:nvSpPr>
          <p:cNvPr id="32" name="Text 29"/>
          <p:cNvSpPr/>
          <p:nvPr/>
        </p:nvSpPr>
        <p:spPr>
          <a:xfrm>
            <a:off x="8284464" y="1856232"/>
            <a:ext cx="333756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Trebuchet MS" pitchFamily="34" charset="0"/>
                <a:ea typeface="Trebuchet MS" pitchFamily="34" charset="-122"/>
                <a:cs typeface="Trebuchet MS" pitchFamily="34" charset="-120"/>
              </a:rPr>
              <a:t>STEERING WATCHLIST</a:t>
            </a:r>
            <a:endParaRPr lang="en-US" sz="1100" dirty="0"/>
          </a:p>
        </p:txBody>
      </p:sp>
      <p:sp>
        <p:nvSpPr>
          <p:cNvPr id="33" name="Text 30"/>
          <p:cNvSpPr/>
          <p:nvPr/>
        </p:nvSpPr>
        <p:spPr>
          <a:xfrm>
            <a:off x="8284464" y="2148840"/>
            <a:ext cx="3337560" cy="228600"/>
          </a:xfrm>
          <a:prstGeom prst="rect">
            <a:avLst/>
          </a:prstGeom>
          <a:noFill/>
          <a:ln/>
        </p:spPr>
        <p:txBody>
          <a:bodyPr wrap="square" lIns="0" tIns="0" rIns="0" bIns="0" rtlCol="0" anchor="ctr"/>
          <a:lstStyle/>
          <a:p>
            <a:pPr indent="0" marL="0">
              <a:buNone/>
            </a:pPr>
            <a:r>
              <a:rPr lang="en-US" sz="950" i="1" dirty="0">
                <a:solidFill>
                  <a:srgbClr val="FEDF01"/>
                </a:solidFill>
                <a:latin typeface="Calibri" pitchFamily="34" charset="0"/>
                <a:ea typeface="Calibri" pitchFamily="34" charset="-122"/>
                <a:cs typeface="Calibri" pitchFamily="34" charset="-120"/>
              </a:rPr>
              <a:t>what the chair wants you to know</a:t>
            </a:r>
            <a:endParaRPr lang="en-US" sz="950" dirty="0"/>
          </a:p>
        </p:txBody>
      </p:sp>
      <p:sp>
        <p:nvSpPr>
          <p:cNvPr id="34" name="Shape 31"/>
          <p:cNvSpPr/>
          <p:nvPr/>
        </p:nvSpPr>
        <p:spPr>
          <a:xfrm>
            <a:off x="8284464" y="2560320"/>
            <a:ext cx="3246120" cy="36576"/>
          </a:xfrm>
          <a:prstGeom prst="rect">
            <a:avLst/>
          </a:prstGeom>
          <a:solidFill>
            <a:srgbClr val="FEDF01"/>
          </a:solidFill>
          <a:ln/>
        </p:spPr>
      </p:sp>
      <p:sp>
        <p:nvSpPr>
          <p:cNvPr id="35" name="Text 32"/>
          <p:cNvSpPr/>
          <p:nvPr/>
        </p:nvSpPr>
        <p:spPr>
          <a:xfrm>
            <a:off x="8284464" y="2633472"/>
            <a:ext cx="3246120" cy="59436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Vendor consolidation — 3 monitoring tools, study underway</a:t>
            </a:r>
            <a:endParaRPr lang="en-US" sz="1050" dirty="0"/>
          </a:p>
        </p:txBody>
      </p:sp>
      <p:sp>
        <p:nvSpPr>
          <p:cNvPr id="36" name="Shape 33"/>
          <p:cNvSpPr/>
          <p:nvPr/>
        </p:nvSpPr>
        <p:spPr>
          <a:xfrm>
            <a:off x="8284464" y="3218688"/>
            <a:ext cx="3246120" cy="36576"/>
          </a:xfrm>
          <a:prstGeom prst="rect">
            <a:avLst/>
          </a:prstGeom>
          <a:solidFill>
            <a:srgbClr val="FEDF01"/>
          </a:solidFill>
          <a:ln/>
        </p:spPr>
      </p:sp>
      <p:sp>
        <p:nvSpPr>
          <p:cNvPr id="37" name="Text 34"/>
          <p:cNvSpPr/>
          <p:nvPr/>
        </p:nvSpPr>
        <p:spPr>
          <a:xfrm>
            <a:off x="8284464" y="3291840"/>
            <a:ext cx="3246120" cy="59436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Talent risk — 2 of 4 Tech Leads are SPOFs</a:t>
            </a:r>
            <a:endParaRPr lang="en-US" sz="1050" dirty="0"/>
          </a:p>
        </p:txBody>
      </p:sp>
      <p:sp>
        <p:nvSpPr>
          <p:cNvPr id="38" name="Shape 35"/>
          <p:cNvSpPr/>
          <p:nvPr/>
        </p:nvSpPr>
        <p:spPr>
          <a:xfrm>
            <a:off x="8284464" y="3877056"/>
            <a:ext cx="3246120" cy="36576"/>
          </a:xfrm>
          <a:prstGeom prst="rect">
            <a:avLst/>
          </a:prstGeom>
          <a:solidFill>
            <a:srgbClr val="FEDF01"/>
          </a:solidFill>
          <a:ln/>
        </p:spPr>
      </p:sp>
      <p:sp>
        <p:nvSpPr>
          <p:cNvPr id="39" name="Text 36"/>
          <p:cNvSpPr/>
          <p:nvPr/>
        </p:nvSpPr>
        <p:spPr>
          <a:xfrm>
            <a:off x="8284464" y="3950208"/>
            <a:ext cx="3246120" cy="59436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Regulatory horizon — new data residency rule expected Q4</a:t>
            </a:r>
            <a:endParaRPr lang="en-US" sz="1050" dirty="0"/>
          </a:p>
        </p:txBody>
      </p:sp>
      <p:sp>
        <p:nvSpPr>
          <p:cNvPr id="40" name="Shape 37"/>
          <p:cNvSpPr/>
          <p:nvPr/>
        </p:nvSpPr>
        <p:spPr>
          <a:xfrm>
            <a:off x="8284464" y="4535424"/>
            <a:ext cx="3246120" cy="36576"/>
          </a:xfrm>
          <a:prstGeom prst="rect">
            <a:avLst/>
          </a:prstGeom>
          <a:solidFill>
            <a:srgbClr val="FEDF01"/>
          </a:solidFill>
          <a:ln/>
        </p:spPr>
      </p:sp>
      <p:sp>
        <p:nvSpPr>
          <p:cNvPr id="41" name="Text 38"/>
          <p:cNvSpPr/>
          <p:nvPr/>
        </p:nvSpPr>
        <p:spPr>
          <a:xfrm>
            <a:off x="8284464" y="4608576"/>
            <a:ext cx="3246120" cy="59436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AI safety review — agents moving 'recommend' → 'act' Q3</a:t>
            </a:r>
            <a:endParaRPr lang="en-US" sz="1050" dirty="0"/>
          </a:p>
        </p:txBody>
      </p:sp>
      <p:sp>
        <p:nvSpPr>
          <p:cNvPr id="42" name="Shape 39"/>
          <p:cNvSpPr/>
          <p:nvPr/>
        </p:nvSpPr>
        <p:spPr>
          <a:xfrm>
            <a:off x="8284464" y="5193792"/>
            <a:ext cx="3246120" cy="36576"/>
          </a:xfrm>
          <a:prstGeom prst="rect">
            <a:avLst/>
          </a:prstGeom>
          <a:solidFill>
            <a:srgbClr val="FEDF01"/>
          </a:solidFill>
          <a:ln/>
        </p:spPr>
      </p:sp>
      <p:sp>
        <p:nvSpPr>
          <p:cNvPr id="43" name="Text 40"/>
          <p:cNvSpPr/>
          <p:nvPr/>
        </p:nvSpPr>
        <p:spPr>
          <a:xfrm>
            <a:off x="8284464" y="5266944"/>
            <a:ext cx="3246120" cy="59436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External audit — SOC 2 fieldwork begins in 8 weeks</a:t>
            </a:r>
            <a:endParaRPr lang="en-US" sz="1050" dirty="0"/>
          </a:p>
        </p:txBody>
      </p:sp>
      <p:sp>
        <p:nvSpPr>
          <p:cNvPr id="44" name="Text 41"/>
          <p:cNvSpPr/>
          <p:nvPr/>
        </p:nvSpPr>
        <p:spPr>
          <a:xfrm>
            <a:off x="548640" y="6172200"/>
            <a:ext cx="11064240" cy="274320"/>
          </a:xfrm>
          <a:prstGeom prst="rect">
            <a:avLst/>
          </a:prstGeom>
          <a:noFill/>
          <a:ln/>
        </p:spPr>
        <p:txBody>
          <a:bodyPr wrap="square" lIns="0" tIns="0" rIns="0" bIns="0" rtlCol="0" anchor="ctr"/>
          <a:lstStyle/>
          <a:p>
            <a:pPr algn="ctr" indent="0" marL="0">
              <a:buNone/>
            </a:pPr>
            <a:r>
              <a:rPr lang="en-US" sz="1100" i="1" dirty="0">
                <a:solidFill>
                  <a:srgbClr val="001F47"/>
                </a:solidFill>
                <a:latin typeface="Calibri" pitchFamily="34" charset="0"/>
                <a:ea typeface="Calibri" pitchFamily="34" charset="-122"/>
                <a:cs typeface="Calibri" pitchFamily="34" charset="-120"/>
              </a:rPr>
              <a:t>Next steering meeting: [Date]  ·  Pre-read distributed [Date - 2]  ·  Parking lot reviewed at the top of the next session.</a:t>
            </a:r>
            <a:endParaRPr lang="en-US" sz="1100" dirty="0"/>
          </a:p>
        </p:txBody>
      </p:sp>
      <p:sp>
        <p:nvSpPr>
          <p:cNvPr id="45" name="Text 42"/>
          <p:cNvSpPr/>
          <p:nvPr/>
        </p:nvSpPr>
        <p:spPr>
          <a:xfrm>
            <a:off x="11430000" y="6583680"/>
            <a:ext cx="640080" cy="201168"/>
          </a:xfrm>
          <a:prstGeom prst="rect">
            <a:avLst/>
          </a:prstGeom>
          <a:noFill/>
          <a:ln/>
        </p:spPr>
        <p:txBody>
          <a:bodyPr wrap="square" lIns="0" tIns="0" rIns="0" bIns="0" rtlCol="0" anchor="ctr"/>
          <a:lstStyle/>
          <a:p>
            <a:pPr algn="r" indent="0" marL="0">
              <a:buNone/>
            </a:pPr>
            <a:r>
              <a:rPr lang="en-US" sz="900" dirty="0">
                <a:solidFill>
                  <a:srgbClr val="5B6778"/>
                </a:solidFill>
                <a:latin typeface="Calibri" pitchFamily="34" charset="0"/>
                <a:ea typeface="Calibri" pitchFamily="34" charset="-122"/>
                <a:cs typeface="Calibri" pitchFamily="34" charset="-120"/>
              </a:rPr>
              <a:t>30 / 30</a:t>
            </a:r>
            <a:endParaRPr lang="en-US" sz="900" dirty="0"/>
          </a:p>
        </p:txBody>
      </p:sp>
      <p:sp>
        <p:nvSpPr>
          <p:cNvPr id="46" name="Text 43"/>
          <p:cNvSpPr/>
          <p:nvPr/>
        </p:nvSpPr>
        <p:spPr>
          <a:xfrm>
            <a:off x="548640" y="6583680"/>
            <a:ext cx="8229600" cy="201168"/>
          </a:xfrm>
          <a:prstGeom prst="rect">
            <a:avLst/>
          </a:prstGeom>
          <a:noFill/>
          <a:ln/>
        </p:spPr>
        <p:txBody>
          <a:bodyPr wrap="square" lIns="0" tIns="0" rIns="0" bIns="0" rtlCol="0" anchor="ctr"/>
          <a:lstStyle/>
          <a:p>
            <a:pPr indent="0" marL="0">
              <a:buNone/>
            </a:pPr>
            <a:r>
              <a:rPr lang="en-US" sz="900" dirty="0">
                <a:solidFill>
                  <a:srgbClr val="5B6778"/>
                </a:solidFill>
                <a:latin typeface="Calibri" pitchFamily="34" charset="0"/>
                <a:ea typeface="Calibri" pitchFamily="34" charset="-122"/>
                <a:cs typeface="Calibri" pitchFamily="34" charset="-120"/>
              </a:rPr>
              <a:t>Zephyr On-Prem  ·  Steering Committee  ·  CONFIDENTIAL</a:t>
            </a:r>
            <a:endParaRPr lang="en-US" sz="9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02920"/>
          </a:xfrm>
          <a:prstGeom prst="rect">
            <a:avLst/>
          </a:prstGeom>
          <a:solidFill>
            <a:srgbClr val="E8E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8686800" cy="411480"/>
          </a:xfrm>
          <a:prstGeom prst="rect">
            <a:avLst/>
          </a:prstGeom>
          <a:noFill/>
        </p:spPr>
        <p:txBody>
          <a:bodyPr wrap="none" lIns="0" rIns="0" tIns="0" bIns="0">
            <a:spAutoFit/>
          </a:bodyPr>
          <a:lstStyle/>
          <a:p>
            <a:pPr algn="l"/>
            <a:r>
              <a:rPr sz="2000" b="1">
                <a:solidFill>
                  <a:srgbClr val="2A2A2A"/>
                </a:solidFill>
                <a:latin typeface="Calibri"/>
              </a:rPr>
              <a:t>WHAT IS INTELLIGENT OPERATIONS?</a:t>
            </a:r>
          </a:p>
        </p:txBody>
      </p:sp>
      <p:sp>
        <p:nvSpPr>
          <p:cNvPr id="5" name="Rectangle 4"/>
          <p:cNvSpPr/>
          <p:nvPr/>
        </p:nvSpPr>
        <p:spPr>
          <a:xfrm>
            <a:off x="11475720" y="91440"/>
            <a:ext cx="502920" cy="365760"/>
          </a:xfrm>
          <a:prstGeom prst="rect">
            <a:avLst/>
          </a:prstGeom>
          <a:solidFill>
            <a:srgbClr val="003569"/>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r>
              <a:rPr sz="1100" b="1">
                <a:solidFill>
                  <a:srgbClr val="FFFFFF"/>
                </a:solidFill>
                <a:latin typeface="Calibri"/>
              </a:rPr>
              <a:t>RBC</a:t>
            </a:r>
          </a:p>
        </p:txBody>
      </p:sp>
      <p:sp>
        <p:nvSpPr>
          <p:cNvPr id="6" name="TextBox 5"/>
          <p:cNvSpPr txBox="1"/>
          <p:nvPr/>
        </p:nvSpPr>
        <p:spPr>
          <a:xfrm>
            <a:off x="411480" y="640080"/>
            <a:ext cx="11384280" cy="685800"/>
          </a:xfrm>
          <a:prstGeom prst="rect">
            <a:avLst/>
          </a:prstGeom>
          <a:noFill/>
        </p:spPr>
        <p:txBody>
          <a:bodyPr wrap="square" lIns="0" rIns="0" tIns="0" bIns="0">
            <a:spAutoFit/>
          </a:bodyPr>
          <a:lstStyle/>
          <a:p>
            <a:pPr algn="l"/>
            <a:r>
              <a:rPr sz="1400" b="1">
                <a:solidFill>
                  <a:srgbClr val="333333"/>
                </a:solidFill>
                <a:latin typeface="Calibri"/>
              </a:rPr>
              <a:t>Intelligent Operations</a:t>
            </a:r>
            <a:r>
              <a:rPr sz="1400">
                <a:solidFill>
                  <a:srgbClr val="333333"/>
                </a:solidFill>
                <a:latin typeface="Calibri"/>
              </a:rPr>
              <a:t> harnesses the power of our unrivalled proprietary data to fuel AI at scale, enabling that connects business to tech stack. It empowers us to transform traditional infrastructure operations from reactive to proactive:</a:t>
            </a:r>
          </a:p>
        </p:txBody>
      </p:sp>
      <p:sp>
        <p:nvSpPr>
          <p:cNvPr id="7" name="Rounded Rectangle 6"/>
          <p:cNvSpPr/>
          <p:nvPr/>
        </p:nvSpPr>
        <p:spPr>
          <a:xfrm>
            <a:off x="411480" y="1783080"/>
            <a:ext cx="3678936" cy="1920240"/>
          </a:xfrm>
          <a:prstGeom prst="roundRect">
            <a:avLst>
              <a:gd name="adj" fmla="val 5000"/>
            </a:avLst>
          </a:prstGeom>
          <a:solidFill>
            <a:srgbClr val="FAFAFA"/>
          </a:solidFill>
          <a:ln w="12700">
            <a:solidFill>
              <a:srgbClr val="B6C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99488" y="1531620"/>
            <a:ext cx="502920" cy="50292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4F6E76"/>
                </a:solidFill>
                <a:latin typeface="Calibri"/>
              </a:rPr>
              <a:t>Ø</a:t>
            </a:r>
          </a:p>
        </p:txBody>
      </p:sp>
      <p:sp>
        <p:nvSpPr>
          <p:cNvPr id="9" name="TextBox 8"/>
          <p:cNvSpPr txBox="1"/>
          <p:nvPr/>
        </p:nvSpPr>
        <p:spPr>
          <a:xfrm>
            <a:off x="502920" y="2148840"/>
            <a:ext cx="3496056" cy="1508760"/>
          </a:xfrm>
          <a:prstGeom prst="rect">
            <a:avLst/>
          </a:prstGeom>
          <a:noFill/>
        </p:spPr>
        <p:txBody>
          <a:bodyPr wrap="square" lIns="0" rIns="0" tIns="0" bIns="0">
            <a:spAutoFit/>
          </a:bodyPr>
          <a:lstStyle/>
          <a:p>
            <a:pPr algn="ctr">
              <a:spcAft>
                <a:spcPts val="600"/>
              </a:spcAft>
            </a:pPr>
            <a:r>
              <a:rPr sz="2800" b="1">
                <a:solidFill>
                  <a:srgbClr val="7EA8B1"/>
                </a:solidFill>
                <a:latin typeface="Calibri"/>
              </a:rPr>
              <a:t>PREVENT</a:t>
            </a:r>
          </a:p>
          <a:p>
            <a:pPr algn="ctr">
              <a:spcAft>
                <a:spcPts val="400"/>
              </a:spcAft>
            </a:pPr>
            <a:r>
              <a:rPr sz="1100" b="1">
                <a:solidFill>
                  <a:srgbClr val="333333"/>
                </a:solidFill>
                <a:latin typeface="Calibri"/>
              </a:rPr>
              <a:t>INCIDENTS BEFORE CUSTOMER IMPACT</a:t>
            </a:r>
          </a:p>
          <a:p>
            <a:pPr algn="ctr"/>
            <a:r>
              <a:rPr sz="1100">
                <a:solidFill>
                  <a:srgbClr val="555555"/>
                </a:solidFill>
                <a:latin typeface="Calibri"/>
              </a:rPr>
              <a:t>Reducing downtime and</a:t>
            </a:r>
          </a:p>
          <a:p>
            <a:pPr algn="ctr"/>
            <a:r>
              <a:rPr sz="1100">
                <a:solidFill>
                  <a:srgbClr val="555555"/>
                </a:solidFill>
                <a:latin typeface="Calibri"/>
              </a:rPr>
              <a:t>eliminating avoidable incidents</a:t>
            </a:r>
          </a:p>
        </p:txBody>
      </p:sp>
      <p:sp>
        <p:nvSpPr>
          <p:cNvPr id="10" name="Rounded Rectangle 9"/>
          <p:cNvSpPr/>
          <p:nvPr/>
        </p:nvSpPr>
        <p:spPr>
          <a:xfrm>
            <a:off x="4255008" y="1783080"/>
            <a:ext cx="3678936" cy="1920240"/>
          </a:xfrm>
          <a:prstGeom prst="roundRect">
            <a:avLst>
              <a:gd name="adj" fmla="val 5000"/>
            </a:avLst>
          </a:prstGeom>
          <a:solidFill>
            <a:srgbClr val="FAFAFA"/>
          </a:solidFill>
          <a:ln w="12700">
            <a:solidFill>
              <a:srgbClr val="B6C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843016" y="1531620"/>
            <a:ext cx="502920" cy="50292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4F6E76"/>
                </a:solidFill>
                <a:latin typeface="Calibri"/>
              </a:rPr>
              <a:t>◎</a:t>
            </a:r>
          </a:p>
        </p:txBody>
      </p:sp>
      <p:sp>
        <p:nvSpPr>
          <p:cNvPr id="12" name="TextBox 11"/>
          <p:cNvSpPr txBox="1"/>
          <p:nvPr/>
        </p:nvSpPr>
        <p:spPr>
          <a:xfrm>
            <a:off x="4346448" y="2148840"/>
            <a:ext cx="3496056" cy="1508760"/>
          </a:xfrm>
          <a:prstGeom prst="rect">
            <a:avLst/>
          </a:prstGeom>
          <a:noFill/>
        </p:spPr>
        <p:txBody>
          <a:bodyPr wrap="square" lIns="0" rIns="0" tIns="0" bIns="0">
            <a:spAutoFit/>
          </a:bodyPr>
          <a:lstStyle/>
          <a:p>
            <a:pPr algn="ctr">
              <a:spcAft>
                <a:spcPts val="600"/>
              </a:spcAft>
            </a:pPr>
            <a:r>
              <a:rPr sz="2800" b="1">
                <a:solidFill>
                  <a:srgbClr val="7EA8B1"/>
                </a:solidFill>
                <a:latin typeface="Calibri"/>
              </a:rPr>
              <a:t>PREDICT</a:t>
            </a:r>
          </a:p>
          <a:p>
            <a:pPr algn="ctr">
              <a:spcAft>
                <a:spcPts val="400"/>
              </a:spcAft>
            </a:pPr>
            <a:r>
              <a:rPr sz="1100" b="1">
                <a:solidFill>
                  <a:srgbClr val="333333"/>
                </a:solidFill>
                <a:latin typeface="Calibri"/>
              </a:rPr>
              <a:t>SERVICE DEGRADATION &amp; RISK EXPOSURE</a:t>
            </a:r>
          </a:p>
          <a:p>
            <a:pPr algn="ctr"/>
            <a:r>
              <a:rPr sz="1100">
                <a:solidFill>
                  <a:srgbClr val="555555"/>
                </a:solidFill>
                <a:latin typeface="Calibri"/>
              </a:rPr>
              <a:t>Detecting anomalies early using telemetry,</a:t>
            </a:r>
          </a:p>
          <a:p>
            <a:pPr algn="ctr"/>
            <a:r>
              <a:rPr sz="1100">
                <a:solidFill>
                  <a:srgbClr val="555555"/>
                </a:solidFill>
                <a:latin typeface="Calibri"/>
              </a:rPr>
              <a:t>AI and behavioral baselining</a:t>
            </a:r>
          </a:p>
        </p:txBody>
      </p:sp>
      <p:sp>
        <p:nvSpPr>
          <p:cNvPr id="13" name="Rounded Rectangle 12"/>
          <p:cNvSpPr/>
          <p:nvPr/>
        </p:nvSpPr>
        <p:spPr>
          <a:xfrm>
            <a:off x="8098536" y="1783080"/>
            <a:ext cx="3678936" cy="1920240"/>
          </a:xfrm>
          <a:prstGeom prst="roundRect">
            <a:avLst>
              <a:gd name="adj" fmla="val 5000"/>
            </a:avLst>
          </a:prstGeom>
          <a:solidFill>
            <a:srgbClr val="FAFAFA"/>
          </a:solidFill>
          <a:ln w="12700">
            <a:solidFill>
              <a:srgbClr val="B6C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86544" y="1531620"/>
            <a:ext cx="502920" cy="50292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4F6E76"/>
                </a:solidFill>
                <a:latin typeface="Calibri"/>
              </a:rPr>
              <a:t>✓</a:t>
            </a:r>
          </a:p>
        </p:txBody>
      </p:sp>
      <p:sp>
        <p:nvSpPr>
          <p:cNvPr id="15" name="TextBox 14"/>
          <p:cNvSpPr txBox="1"/>
          <p:nvPr/>
        </p:nvSpPr>
        <p:spPr>
          <a:xfrm>
            <a:off x="8189976" y="2148840"/>
            <a:ext cx="3496056" cy="1508760"/>
          </a:xfrm>
          <a:prstGeom prst="rect">
            <a:avLst/>
          </a:prstGeom>
          <a:noFill/>
        </p:spPr>
        <p:txBody>
          <a:bodyPr wrap="square" lIns="0" rIns="0" tIns="0" bIns="0">
            <a:spAutoFit/>
          </a:bodyPr>
          <a:lstStyle/>
          <a:p>
            <a:pPr algn="ctr">
              <a:spcAft>
                <a:spcPts val="600"/>
              </a:spcAft>
            </a:pPr>
            <a:r>
              <a:rPr sz="2800" b="1">
                <a:solidFill>
                  <a:srgbClr val="7EA8B1"/>
                </a:solidFill>
                <a:latin typeface="Calibri"/>
              </a:rPr>
              <a:t>RESOLVE</a:t>
            </a:r>
          </a:p>
          <a:p>
            <a:pPr algn="ctr">
              <a:spcAft>
                <a:spcPts val="400"/>
              </a:spcAft>
            </a:pPr>
            <a:r>
              <a:rPr sz="1100" b="1">
                <a:solidFill>
                  <a:srgbClr val="333333"/>
                </a:solidFill>
                <a:latin typeface="Calibri"/>
              </a:rPr>
              <a:t>DISRUPTIONS AUTONOMOUSLY</a:t>
            </a:r>
          </a:p>
          <a:p>
            <a:pPr algn="ctr"/>
            <a:r>
              <a:rPr sz="1100">
                <a:solidFill>
                  <a:srgbClr val="555555"/>
                </a:solidFill>
                <a:latin typeface="Calibri"/>
              </a:rPr>
              <a:t>Accelerating recovery through autonomous</a:t>
            </a:r>
          </a:p>
          <a:p>
            <a:pPr algn="ctr"/>
            <a:r>
              <a:rPr sz="1100">
                <a:solidFill>
                  <a:srgbClr val="555555"/>
                </a:solidFill>
                <a:latin typeface="Calibri"/>
              </a:rPr>
              <a:t>agents that automate remediation</a:t>
            </a:r>
          </a:p>
        </p:txBody>
      </p:sp>
      <p:sp>
        <p:nvSpPr>
          <p:cNvPr id="16" name="Rounded Rectangle 15"/>
          <p:cNvSpPr/>
          <p:nvPr/>
        </p:nvSpPr>
        <p:spPr>
          <a:xfrm>
            <a:off x="563499" y="3886200"/>
            <a:ext cx="427482" cy="301752"/>
          </a:xfrm>
          <a:prstGeom prst="roundRect">
            <a:avLst>
              <a:gd name="adj" fmla="val 4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2036" y="4187952"/>
            <a:ext cx="70408" cy="100584"/>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8937" y="4288536"/>
            <a:ext cx="276606" cy="50292"/>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31920"/>
            <a:ext cx="2194560" cy="502920"/>
          </a:xfrm>
          <a:prstGeom prst="rect">
            <a:avLst/>
          </a:prstGeom>
          <a:noFill/>
        </p:spPr>
        <p:txBody>
          <a:bodyPr wrap="none" lIns="0" rIns="0" anchor="ctr">
            <a:spAutoFit/>
          </a:bodyPr>
          <a:lstStyle/>
          <a:p>
            <a:pPr algn="l"/>
            <a:r>
              <a:rPr sz="1500" b="1">
                <a:solidFill>
                  <a:srgbClr val="333333"/>
                </a:solidFill>
                <a:latin typeface="Calibri"/>
              </a:rPr>
              <a:t>FY28 Success Measures</a:t>
            </a:r>
          </a:p>
        </p:txBody>
      </p:sp>
      <p:sp>
        <p:nvSpPr>
          <p:cNvPr id="20" name="Oval 19"/>
          <p:cNvSpPr/>
          <p:nvPr/>
        </p:nvSpPr>
        <p:spPr>
          <a:xfrm>
            <a:off x="3566159" y="3954780"/>
            <a:ext cx="365760" cy="36576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632453" y="4000500"/>
            <a:ext cx="233172" cy="164592"/>
          </a:xfrm>
          <a:prstGeom prst="roundRect">
            <a:avLst>
              <a:gd name="adj" fmla="val 4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729837" y="4165092"/>
            <a:ext cx="38404" cy="54864"/>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3601" y="4219956"/>
            <a:ext cx="150876" cy="27432"/>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59" y="3886200"/>
            <a:ext cx="2468880" cy="502920"/>
          </a:xfrm>
          <a:prstGeom prst="rect">
            <a:avLst/>
          </a:prstGeom>
          <a:noFill/>
        </p:spPr>
        <p:txBody>
          <a:bodyPr wrap="none" lIns="0" rIns="0" tIns="0" bIns="0">
            <a:spAutoFit/>
          </a:bodyPr>
          <a:lstStyle/>
          <a:p>
            <a:pPr algn="l">
              <a:spcAft>
                <a:spcPts val="0"/>
              </a:spcAft>
            </a:pPr>
            <a:r>
              <a:rPr sz="1300" b="1">
                <a:solidFill>
                  <a:srgbClr val="333333"/>
                </a:solidFill>
                <a:latin typeface="Calibri"/>
              </a:rPr>
              <a:t>40% P1-P4</a:t>
            </a:r>
          </a:p>
          <a:p>
            <a:pPr algn="l"/>
            <a:r>
              <a:rPr sz="1100">
                <a:solidFill>
                  <a:srgbClr val="555555"/>
                </a:solidFill>
                <a:latin typeface="Calibri"/>
              </a:rPr>
              <a:t>Incident Reduction</a:t>
            </a:r>
          </a:p>
        </p:txBody>
      </p:sp>
      <p:sp>
        <p:nvSpPr>
          <p:cNvPr id="25" name="Oval 24"/>
          <p:cNvSpPr/>
          <p:nvPr/>
        </p:nvSpPr>
        <p:spPr>
          <a:xfrm>
            <a:off x="6400800" y="3954780"/>
            <a:ext cx="365760" cy="36576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67094" y="4000500"/>
            <a:ext cx="233172" cy="164592"/>
          </a:xfrm>
          <a:prstGeom prst="roundRect">
            <a:avLst>
              <a:gd name="adj" fmla="val 4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64478" y="4165092"/>
            <a:ext cx="38404" cy="54864"/>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08242" y="4219956"/>
            <a:ext cx="150876" cy="27432"/>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0" y="3886200"/>
            <a:ext cx="2468880" cy="502920"/>
          </a:xfrm>
          <a:prstGeom prst="rect">
            <a:avLst/>
          </a:prstGeom>
          <a:noFill/>
        </p:spPr>
        <p:txBody>
          <a:bodyPr wrap="none" lIns="0" rIns="0" tIns="0" bIns="0">
            <a:spAutoFit/>
          </a:bodyPr>
          <a:lstStyle/>
          <a:p>
            <a:pPr algn="l">
              <a:spcAft>
                <a:spcPts val="0"/>
              </a:spcAft>
            </a:pPr>
            <a:r>
              <a:rPr sz="1300" b="1">
                <a:solidFill>
                  <a:srgbClr val="333333"/>
                </a:solidFill>
                <a:latin typeface="Calibri"/>
              </a:rPr>
              <a:t>$200MM</a:t>
            </a:r>
          </a:p>
          <a:p>
            <a:pPr algn="l"/>
            <a:r>
              <a:rPr sz="1100">
                <a:solidFill>
                  <a:srgbClr val="555555"/>
                </a:solidFill>
                <a:latin typeface="Calibri"/>
              </a:rPr>
              <a:t>Efficiencies Delivered</a:t>
            </a:r>
          </a:p>
        </p:txBody>
      </p:sp>
      <p:sp>
        <p:nvSpPr>
          <p:cNvPr id="30" name="Oval 29"/>
          <p:cNvSpPr/>
          <p:nvPr/>
        </p:nvSpPr>
        <p:spPr>
          <a:xfrm>
            <a:off x="9098280" y="3954780"/>
            <a:ext cx="365760" cy="365760"/>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64574" y="4000500"/>
            <a:ext cx="233172" cy="164592"/>
          </a:xfrm>
          <a:prstGeom prst="roundRect">
            <a:avLst>
              <a:gd name="adj" fmla="val 4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61958" y="4165092"/>
            <a:ext cx="38404" cy="54864"/>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05722" y="4219956"/>
            <a:ext cx="150876" cy="27432"/>
          </a:xfrm>
          <a:prstGeom prst="rect">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55480" y="3886200"/>
            <a:ext cx="2468880" cy="502920"/>
          </a:xfrm>
          <a:prstGeom prst="rect">
            <a:avLst/>
          </a:prstGeom>
          <a:noFill/>
        </p:spPr>
        <p:txBody>
          <a:bodyPr wrap="none" lIns="0" rIns="0" tIns="0" bIns="0">
            <a:spAutoFit/>
          </a:bodyPr>
          <a:lstStyle/>
          <a:p>
            <a:pPr algn="l">
              <a:spcAft>
                <a:spcPts val="0"/>
              </a:spcAft>
            </a:pPr>
            <a:r>
              <a:rPr sz="1300" b="1">
                <a:solidFill>
                  <a:srgbClr val="333333"/>
                </a:solidFill>
                <a:latin typeface="Calibri"/>
              </a:rPr>
              <a:t>99.99% Critical</a:t>
            </a:r>
          </a:p>
          <a:p>
            <a:pPr algn="l"/>
            <a:r>
              <a:rPr sz="1100">
                <a:solidFill>
                  <a:srgbClr val="555555"/>
                </a:solidFill>
                <a:latin typeface="Calibri"/>
              </a:rPr>
              <a:t>System Availability</a:t>
            </a:r>
          </a:p>
        </p:txBody>
      </p:sp>
      <p:cxnSp>
        <p:nvCxnSpPr>
          <p:cNvPr id="35" name="Connector 34"/>
          <p:cNvCxnSpPr/>
          <p:nvPr/>
        </p:nvCxnSpPr>
        <p:spPr>
          <a:xfrm>
            <a:off x="411480" y="4526280"/>
            <a:ext cx="11365992" cy="0"/>
          </a:xfrm>
          <a:prstGeom prst="line">
            <a:avLst/>
          </a:prstGeom>
          <a:ln w="9525">
            <a:solidFill>
              <a:srgbClr val="B0B0B0"/>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80760" y="4709160"/>
            <a:ext cx="0" cy="1920240"/>
          </a:xfrm>
          <a:prstGeom prst="line">
            <a:avLst/>
          </a:prstGeom>
          <a:ln w="9525">
            <a:solidFill>
              <a:srgbClr val="B0B0B0"/>
            </a:solidFill>
            <a:prstDash val="sysDot"/>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57200" y="4709160"/>
            <a:ext cx="146304" cy="146304"/>
          </a:xfrm>
          <a:prstGeom prst="roundRect">
            <a:avLst>
              <a:gd name="adj" fmla="val 2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0080" y="4709160"/>
            <a:ext cx="146304" cy="146304"/>
          </a:xfrm>
          <a:prstGeom prst="roundRect">
            <a:avLst>
              <a:gd name="adj" fmla="val 20000"/>
            </a:avLst>
          </a:prstGeom>
          <a:solidFill>
            <a:srgbClr val="FAFAFA"/>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7200" y="4892040"/>
            <a:ext cx="146304" cy="146304"/>
          </a:xfrm>
          <a:prstGeom prst="roundRect">
            <a:avLst>
              <a:gd name="adj" fmla="val 20000"/>
            </a:avLst>
          </a:prstGeom>
          <a:solidFill>
            <a:srgbClr val="FAFAFA"/>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40080" y="4892040"/>
            <a:ext cx="146304" cy="146304"/>
          </a:xfrm>
          <a:prstGeom prst="roundRect">
            <a:avLst>
              <a:gd name="adj" fmla="val 20000"/>
            </a:avLst>
          </a:prstGeom>
          <a:solidFill>
            <a:srgbClr val="C8DCE0"/>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4709160"/>
            <a:ext cx="4114800" cy="411480"/>
          </a:xfrm>
          <a:prstGeom prst="rect">
            <a:avLst/>
          </a:prstGeom>
          <a:noFill/>
        </p:spPr>
        <p:txBody>
          <a:bodyPr wrap="none" lIns="0" rIns="0" tIns="0" bIns="0">
            <a:spAutoFit/>
          </a:bodyPr>
          <a:lstStyle/>
          <a:p>
            <a:pPr algn="l"/>
            <a:r>
              <a:rPr sz="1700" b="1">
                <a:solidFill>
                  <a:srgbClr val="333333"/>
                </a:solidFill>
                <a:latin typeface="Calibri"/>
              </a:rPr>
              <a:t>Strategic Context</a:t>
            </a:r>
          </a:p>
        </p:txBody>
      </p:sp>
      <p:sp>
        <p:nvSpPr>
          <p:cNvPr id="42" name="Oval 41"/>
          <p:cNvSpPr/>
          <p:nvPr/>
        </p:nvSpPr>
        <p:spPr>
          <a:xfrm>
            <a:off x="539496" y="534009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F6E76"/>
                </a:solidFill>
                <a:latin typeface="Calibri"/>
              </a:rPr>
              <a:t>+</a:t>
            </a:r>
          </a:p>
        </p:txBody>
      </p:sp>
      <p:sp>
        <p:nvSpPr>
          <p:cNvPr id="43" name="TextBox 42"/>
          <p:cNvSpPr txBox="1"/>
          <p:nvPr/>
        </p:nvSpPr>
        <p:spPr>
          <a:xfrm>
            <a:off x="1005840" y="5257800"/>
            <a:ext cx="4892040" cy="457200"/>
          </a:xfrm>
          <a:prstGeom prst="rect">
            <a:avLst/>
          </a:prstGeom>
          <a:noFill/>
        </p:spPr>
        <p:txBody>
          <a:bodyPr wrap="square" lIns="0" rIns="0" tIns="0" bIns="0" anchor="ctr">
            <a:spAutoFit/>
          </a:bodyPr>
          <a:lstStyle/>
          <a:p>
            <a:pPr algn="l"/>
            <a:r>
              <a:rPr sz="1100" i="1">
                <a:solidFill>
                  <a:srgbClr val="555555"/>
                </a:solidFill>
                <a:latin typeface="Calibri"/>
              </a:rPr>
              <a:t>Over last 10 years we’ve invested in automation, however we are close to the limit on what we can achieve with traditional automation</a:t>
            </a:r>
          </a:p>
        </p:txBody>
      </p:sp>
      <p:sp>
        <p:nvSpPr>
          <p:cNvPr id="44" name="Oval 43"/>
          <p:cNvSpPr/>
          <p:nvPr/>
        </p:nvSpPr>
        <p:spPr>
          <a:xfrm>
            <a:off x="539496" y="584301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F6E76"/>
                </a:solidFill>
                <a:latin typeface="Calibri"/>
              </a:rPr>
              <a:t>+</a:t>
            </a:r>
          </a:p>
        </p:txBody>
      </p:sp>
      <p:sp>
        <p:nvSpPr>
          <p:cNvPr id="45" name="TextBox 44"/>
          <p:cNvSpPr txBox="1"/>
          <p:nvPr/>
        </p:nvSpPr>
        <p:spPr>
          <a:xfrm>
            <a:off x="1005840" y="5760720"/>
            <a:ext cx="4892040" cy="457200"/>
          </a:xfrm>
          <a:prstGeom prst="rect">
            <a:avLst/>
          </a:prstGeom>
          <a:noFill/>
        </p:spPr>
        <p:txBody>
          <a:bodyPr wrap="square" lIns="0" rIns="0" tIns="0" bIns="0" anchor="ctr">
            <a:spAutoFit/>
          </a:bodyPr>
          <a:lstStyle/>
          <a:p>
            <a:pPr algn="l"/>
            <a:r>
              <a:rPr sz="1100" i="1">
                <a:solidFill>
                  <a:srgbClr val="555555"/>
                </a:solidFill>
                <a:latin typeface="Calibri"/>
              </a:rPr>
              <a:t>Many actions are still manual such as co-relating data while investigating incidents, with limited to no ability to predict proactively</a:t>
            </a:r>
          </a:p>
        </p:txBody>
      </p:sp>
      <p:sp>
        <p:nvSpPr>
          <p:cNvPr id="46" name="Oval 45"/>
          <p:cNvSpPr/>
          <p:nvPr/>
        </p:nvSpPr>
        <p:spPr>
          <a:xfrm>
            <a:off x="539496" y="634593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F6E76"/>
                </a:solidFill>
                <a:latin typeface="Calibri"/>
              </a:rPr>
              <a:t>+</a:t>
            </a:r>
          </a:p>
        </p:txBody>
      </p:sp>
      <p:sp>
        <p:nvSpPr>
          <p:cNvPr id="47" name="TextBox 46"/>
          <p:cNvSpPr txBox="1"/>
          <p:nvPr/>
        </p:nvSpPr>
        <p:spPr>
          <a:xfrm>
            <a:off x="1005840" y="6263640"/>
            <a:ext cx="4892040" cy="457200"/>
          </a:xfrm>
          <a:prstGeom prst="rect">
            <a:avLst/>
          </a:prstGeom>
          <a:noFill/>
        </p:spPr>
        <p:txBody>
          <a:bodyPr wrap="square" lIns="0" rIns="0" tIns="0" bIns="0" anchor="ctr">
            <a:spAutoFit/>
          </a:bodyPr>
          <a:lstStyle/>
          <a:p>
            <a:pPr algn="l"/>
            <a:r>
              <a:rPr sz="1100" i="1">
                <a:solidFill>
                  <a:srgbClr val="555555"/>
                </a:solidFill>
                <a:latin typeface="Calibri"/>
              </a:rPr>
              <a:t>Resolving incidents is highly manual, requiring human intervention and costly resources that are reactive in nature</a:t>
            </a:r>
          </a:p>
        </p:txBody>
      </p:sp>
      <p:sp>
        <p:nvSpPr>
          <p:cNvPr id="48" name="Oval 47"/>
          <p:cNvSpPr/>
          <p:nvPr/>
        </p:nvSpPr>
        <p:spPr>
          <a:xfrm>
            <a:off x="6263640" y="4681728"/>
            <a:ext cx="365760" cy="365760"/>
          </a:xfrm>
          <a:prstGeom prst="ellipse">
            <a:avLst/>
          </a:prstGeom>
          <a:solidFill>
            <a:srgbClr val="FAFAFA"/>
          </a:solidFill>
          <a:ln w="1905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327648" y="4745736"/>
            <a:ext cx="237744" cy="237744"/>
          </a:xfrm>
          <a:prstGeom prst="ellipse">
            <a:avLst/>
          </a:prstGeom>
          <a:solidFill>
            <a:srgbClr val="FAFAFA"/>
          </a:solidFill>
          <a:ln w="12700">
            <a:solidFill>
              <a:srgbClr val="4F6E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391656" y="4809744"/>
            <a:ext cx="109728" cy="109728"/>
          </a:xfrm>
          <a:prstGeom prst="ellipse">
            <a:avLst/>
          </a:prstGeom>
          <a:solidFill>
            <a:srgbClr val="4F6E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0" y="4709160"/>
            <a:ext cx="4572000" cy="411480"/>
          </a:xfrm>
          <a:prstGeom prst="rect">
            <a:avLst/>
          </a:prstGeom>
          <a:noFill/>
        </p:spPr>
        <p:txBody>
          <a:bodyPr wrap="none" lIns="0" rIns="0" tIns="0" bIns="0">
            <a:spAutoFit/>
          </a:bodyPr>
          <a:lstStyle/>
          <a:p>
            <a:pPr algn="l"/>
            <a:r>
              <a:rPr sz="1700" b="1">
                <a:solidFill>
                  <a:srgbClr val="333333"/>
                </a:solidFill>
                <a:latin typeface="Calibri"/>
              </a:rPr>
              <a:t>Key Business Outcomes</a:t>
            </a:r>
          </a:p>
        </p:txBody>
      </p:sp>
      <p:sp>
        <p:nvSpPr>
          <p:cNvPr id="52" name="Oval 51"/>
          <p:cNvSpPr/>
          <p:nvPr/>
        </p:nvSpPr>
        <p:spPr>
          <a:xfrm>
            <a:off x="6391656" y="534009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4F6E76"/>
                </a:solidFill>
                <a:latin typeface="Calibri"/>
              </a:rPr>
              <a:t>◎</a:t>
            </a:r>
          </a:p>
        </p:txBody>
      </p:sp>
      <p:sp>
        <p:nvSpPr>
          <p:cNvPr id="53" name="TextBox 52"/>
          <p:cNvSpPr txBox="1"/>
          <p:nvPr/>
        </p:nvSpPr>
        <p:spPr>
          <a:xfrm>
            <a:off x="6858000" y="5257800"/>
            <a:ext cx="4892040" cy="457200"/>
          </a:xfrm>
          <a:prstGeom prst="rect">
            <a:avLst/>
          </a:prstGeom>
          <a:noFill/>
        </p:spPr>
        <p:txBody>
          <a:bodyPr wrap="square" lIns="0" rIns="0" tIns="0" bIns="0" anchor="ctr">
            <a:spAutoFit/>
          </a:bodyPr>
          <a:lstStyle/>
          <a:p>
            <a:pPr algn="l"/>
            <a:r>
              <a:rPr sz="1100" b="1">
                <a:solidFill>
                  <a:srgbClr val="333333"/>
                </a:solidFill>
                <a:latin typeface="Calibri"/>
              </a:rPr>
              <a:t>AI-powered self-healing</a:t>
            </a:r>
            <a:r>
              <a:rPr sz="1100">
                <a:solidFill>
                  <a:srgbClr val="555555"/>
                </a:solidFill>
                <a:latin typeface="Calibri"/>
              </a:rPr>
              <a:t> to prevent &amp; predict failures before they impact services, eliminating outages before they happen.</a:t>
            </a:r>
          </a:p>
        </p:txBody>
      </p:sp>
      <p:sp>
        <p:nvSpPr>
          <p:cNvPr id="54" name="Oval 53"/>
          <p:cNvSpPr/>
          <p:nvPr/>
        </p:nvSpPr>
        <p:spPr>
          <a:xfrm>
            <a:off x="6391656" y="584301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4F6E76"/>
                </a:solidFill>
                <a:latin typeface="Calibri"/>
              </a:rPr>
              <a:t>◎</a:t>
            </a:r>
          </a:p>
        </p:txBody>
      </p:sp>
      <p:sp>
        <p:nvSpPr>
          <p:cNvPr id="55" name="TextBox 54"/>
          <p:cNvSpPr txBox="1"/>
          <p:nvPr/>
        </p:nvSpPr>
        <p:spPr>
          <a:xfrm>
            <a:off x="6858000" y="5760720"/>
            <a:ext cx="4892040" cy="457200"/>
          </a:xfrm>
          <a:prstGeom prst="rect">
            <a:avLst/>
          </a:prstGeom>
          <a:noFill/>
        </p:spPr>
        <p:txBody>
          <a:bodyPr wrap="square" lIns="0" rIns="0" tIns="0" bIns="0" anchor="ctr">
            <a:spAutoFit/>
          </a:bodyPr>
          <a:lstStyle/>
          <a:p>
            <a:pPr algn="l"/>
            <a:r>
              <a:rPr sz="1100" b="1">
                <a:solidFill>
                  <a:srgbClr val="333333"/>
                </a:solidFill>
                <a:latin typeface="Calibri"/>
              </a:rPr>
              <a:t>Zero unplanned downtime &amp; continuous business resilience</a:t>
            </a:r>
            <a:r>
              <a:rPr sz="1100">
                <a:solidFill>
                  <a:srgbClr val="555555"/>
                </a:solidFill>
                <a:latin typeface="Calibri"/>
              </a:rPr>
              <a:t> ensuring 24/7 uninterrupted operations for critical functions.</a:t>
            </a:r>
          </a:p>
        </p:txBody>
      </p:sp>
      <p:sp>
        <p:nvSpPr>
          <p:cNvPr id="56" name="Oval 55"/>
          <p:cNvSpPr/>
          <p:nvPr/>
        </p:nvSpPr>
        <p:spPr>
          <a:xfrm>
            <a:off x="6391656" y="6345936"/>
            <a:ext cx="292608" cy="292608"/>
          </a:xfrm>
          <a:prstGeom prst="ellipse">
            <a:avLst/>
          </a:prstGeom>
          <a:solidFill>
            <a:srgbClr val="C8DC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4F6E76"/>
                </a:solidFill>
                <a:latin typeface="Calibri"/>
              </a:rPr>
              <a:t>◎</a:t>
            </a:r>
          </a:p>
        </p:txBody>
      </p:sp>
      <p:sp>
        <p:nvSpPr>
          <p:cNvPr id="57" name="TextBox 56"/>
          <p:cNvSpPr txBox="1"/>
          <p:nvPr/>
        </p:nvSpPr>
        <p:spPr>
          <a:xfrm>
            <a:off x="6858000" y="6263640"/>
            <a:ext cx="4892040" cy="457200"/>
          </a:xfrm>
          <a:prstGeom prst="rect">
            <a:avLst/>
          </a:prstGeom>
          <a:noFill/>
        </p:spPr>
        <p:txBody>
          <a:bodyPr wrap="square" lIns="0" rIns="0" tIns="0" bIns="0" anchor="ctr">
            <a:spAutoFit/>
          </a:bodyPr>
          <a:lstStyle/>
          <a:p>
            <a:pPr algn="l"/>
            <a:r>
              <a:rPr sz="1100" b="1">
                <a:solidFill>
                  <a:srgbClr val="333333"/>
                </a:solidFill>
                <a:latin typeface="Calibri"/>
              </a:rPr>
              <a:t>Next level financial efficiency</a:t>
            </a:r>
            <a:r>
              <a:rPr sz="1100">
                <a:solidFill>
                  <a:srgbClr val="555555"/>
                </a:solidFill>
                <a:latin typeface="Calibri"/>
              </a:rPr>
              <a:t> through AI/automation-driven cost savings, capacity optimization and lower incident management costs.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Zephyr On-Prem Steering Committee</dc:title>
  <dc:subject>PptxGenJS Presentation</dc:subject>
  <dc:creator>Dhwanil</dc:creator>
  <cp:lastModifiedBy>Dhwanil</cp:lastModifiedBy>
  <cp:revision>1</cp:revision>
  <dcterms:created xsi:type="dcterms:W3CDTF">2026-04-27T16:13:42Z</dcterms:created>
  <dcterms:modified xsi:type="dcterms:W3CDTF">2026-04-27T16:13:42Z</dcterms:modified>
</cp:coreProperties>
</file>