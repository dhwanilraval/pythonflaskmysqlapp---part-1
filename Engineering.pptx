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F36"/>
                </a:solidFill>
                <a:latin typeface="Georgia"/>
              </a:defRPr>
            </a:pPr>
            <a:r>
              <a:rPr sz="1300" b="0" i="0" u="none" strike="noStrike">
                <a:solidFill>
                  <a:srgbClr val="1A1F36"/>
                </a:solidFill>
                <a:latin typeface="Georgia"/>
              </a:rPr>
              <a:t>Indicative FTE shape (Postgres + Linux)</a:t>
            </a:r>
          </a:p>
        </c:rich>
      </c:tx>
      <c:layout/>
      <c:overlay val="0"/>
    </c:title>
    <c:autoTitleDeleted val="0"/>
    <c:plotArea>
      <c:layout/>
      <c:barChart>
        <c:barDir val="bar"/>
        <c:grouping val="clustered"/>
        <c:varyColors val="0"/>
        <c:ser>
          <c:idx val="0"/>
          <c:order val="0"/>
          <c:tx>
            <c:strRef>
              <c:f>Sheet1!$B$1</c:f>
              <c:strCache>
                <c:ptCount val="1"/>
                <c:pt idx="0">
                  <c:v>Today</c:v>
                </c:pt>
              </c:strCache>
            </c:strRef>
          </c:tx>
          <c:spPr>
            <a:solidFill>
              <a:srgbClr val="5B6478"/>
            </a:solidFill>
            <a:effectLst/>
          </c:spPr>
          <c:invertIfNegative val="0"/>
          <c:dLbls>
            <c:numFmt formatCode="#,##0" sourceLinked="0"/>
            <c:txPr>
              <a:bodyPr/>
              <a:lstStyle/>
              <a:p>
                <a:pPr>
                  <a:defRPr b="0" i="0" strike="noStrike" sz="1000" u="none">
                    <a:solidFill>
                      <a:srgbClr val="1A1F36"/>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Platform Eng</c:v>
                  </c:pt>
                  <c:pt idx="1">
                    <c:v>SRE / Reliability</c:v>
                  </c:pt>
                  <c:pt idx="2">
                    <c:v>Governance &amp; Audit</c:v>
                  </c:pt>
                  <c:pt idx="3">
                    <c:v>Enablement</c:v>
                  </c:pt>
                  <c:pt idx="4">
                    <c:v>L1/L2 Support</c:v>
                  </c:pt>
                </c:lvl>
              </c:multiLvlStrCache>
            </c:multiLvlStrRef>
          </c:cat>
          <c:val>
            <c:numRef>
              <c:f>Sheet1!$B$2:$B$6</c:f>
              <c:numCache>
                <c:formatCode>General</c:formatCode>
                <c:ptCount val="5"/>
                <c:pt idx="0">
                  <c:v>30</c:v>
                </c:pt>
                <c:pt idx="1">
                  <c:v>15</c:v>
                </c:pt>
                <c:pt idx="2">
                  <c:v>20</c:v>
                </c:pt>
                <c:pt idx="3">
                  <c:v>10</c:v>
                </c:pt>
                <c:pt idx="4">
                  <c:v>125</c:v>
                </c:pt>
              </c:numCache>
            </c:numRef>
          </c:val>
        </c:ser>
        <c:ser>
          <c:idx val="1"/>
          <c:order val="1"/>
          <c:tx>
            <c:strRef>
              <c:f>Sheet1!$C$1</c:f>
              <c:strCache>
                <c:ptCount val="1"/>
                <c:pt idx="0">
                  <c:v>Target</c:v>
                </c:pt>
              </c:strCache>
            </c:strRef>
          </c:tx>
          <c:spPr>
            <a:solidFill>
              <a:srgbClr val="003DA5"/>
            </a:solidFill>
            <a:effectLst/>
          </c:spPr>
          <c:invertIfNegative val="0"/>
          <c:dLbls>
            <c:numFmt formatCode="#,##0" sourceLinked="0"/>
            <c:txPr>
              <a:bodyPr/>
              <a:lstStyle/>
              <a:p>
                <a:pPr>
                  <a:defRPr b="0" i="0" strike="noStrike" sz="1000" u="none">
                    <a:solidFill>
                      <a:srgbClr val="1A1F36"/>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Platform Eng</c:v>
                  </c:pt>
                  <c:pt idx="1">
                    <c:v>SRE / Reliability</c:v>
                  </c:pt>
                  <c:pt idx="2">
                    <c:v>Governance &amp; Audit</c:v>
                  </c:pt>
                  <c:pt idx="3">
                    <c:v>Enablement</c:v>
                  </c:pt>
                  <c:pt idx="4">
                    <c:v>L1/L2 Support</c:v>
                  </c:pt>
                </c:lvl>
              </c:multiLvlStrCache>
            </c:multiLvlStrRef>
          </c:cat>
          <c:val>
            <c:numRef>
              <c:f>Sheet1!$C$2:$C$6</c:f>
              <c:numCache>
                <c:formatCode>General</c:formatCode>
                <c:ptCount val="5"/>
                <c:pt idx="0">
                  <c:v>45</c:v>
                </c:pt>
                <c:pt idx="1">
                  <c:v>12</c:v>
                </c:pt>
                <c:pt idx="2">
                  <c:v>8</c:v>
                </c:pt>
                <c:pt idx="3">
                  <c:v>15</c:v>
                </c:pt>
                <c:pt idx="4">
                  <c:v>15</c:v>
                </c:pt>
              </c:numCache>
            </c:numRef>
          </c:val>
        </c:ser>
        <c:dLbls>
          <c:numFmt formatCode="#,##0" sourceLinked="0"/>
          <c:txPr>
            <a:bodyPr/>
            <a:lstStyle/>
            <a:p>
              <a:pPr>
                <a:defRPr b="0" i="0" strike="noStrike" sz="1000" u="none">
                  <a:solidFill>
                    <a:srgbClr val="1A1F3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F36"/>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8DE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A1F36"/>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060"/>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FC72C"/>
          </a:solidFill>
          <a:ln w="12700">
            <a:solidFill>
              <a:srgbClr val="FFC72C"/>
            </a:solidFill>
            <a:prstDash val="solid"/>
          </a:ln>
        </p:spPr>
      </p:sp>
      <p:sp>
        <p:nvSpPr>
          <p:cNvPr id="3" name="Text 1"/>
          <p:cNvSpPr/>
          <p:nvPr/>
        </p:nvSpPr>
        <p:spPr>
          <a:xfrm>
            <a:off x="822960" y="1463040"/>
            <a:ext cx="10058400" cy="365760"/>
          </a:xfrm>
          <a:prstGeom prst="rect">
            <a:avLst/>
          </a:prstGeom>
          <a:noFill/>
          <a:ln/>
        </p:spPr>
        <p:txBody>
          <a:bodyPr wrap="square" lIns="0" tIns="0" rIns="0" bIns="0" rtlCol="0" anchor="ctr"/>
          <a:lstStyle/>
          <a:p>
            <a:pPr indent="0" marL="0">
              <a:buNone/>
            </a:pPr>
            <a:r>
              <a:rPr lang="en-US" sz="1100" b="1" spc="600" kern="0" dirty="0">
                <a:solidFill>
                  <a:srgbClr val="FFC72C"/>
                </a:solidFill>
                <a:latin typeface="Calibri" pitchFamily="34" charset="0"/>
                <a:ea typeface="Calibri" pitchFamily="34" charset="-122"/>
                <a:cs typeface="Calibri" pitchFamily="34" charset="-120"/>
              </a:rPr>
              <a:t>ZEPHYR ON-PREM  |  PLATFORM ENGINEERING</a:t>
            </a:r>
            <a:endParaRPr lang="en-US" sz="1100" dirty="0"/>
          </a:p>
        </p:txBody>
      </p:sp>
      <p:sp>
        <p:nvSpPr>
          <p:cNvPr id="4" name="Text 2"/>
          <p:cNvSpPr/>
          <p:nvPr/>
        </p:nvSpPr>
        <p:spPr>
          <a:xfrm>
            <a:off x="822960" y="1920240"/>
            <a:ext cx="10515600" cy="91440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Engineering as a Product</a:t>
            </a:r>
            <a:endParaRPr lang="en-US" sz="5200" dirty="0"/>
          </a:p>
        </p:txBody>
      </p:sp>
      <p:sp>
        <p:nvSpPr>
          <p:cNvPr id="5" name="Text 3"/>
          <p:cNvSpPr/>
          <p:nvPr/>
        </p:nvSpPr>
        <p:spPr>
          <a:xfrm>
            <a:off x="822960" y="2834640"/>
            <a:ext cx="10515600" cy="548640"/>
          </a:xfrm>
          <a:prstGeom prst="rect">
            <a:avLst/>
          </a:prstGeom>
          <a:noFill/>
          <a:ln/>
        </p:spPr>
        <p:txBody>
          <a:bodyPr wrap="square" lIns="0" tIns="0" rIns="0" bIns="0" rtlCol="0" anchor="ctr"/>
          <a:lstStyle/>
          <a:p>
            <a:pPr indent="0" marL="0">
              <a:buNone/>
            </a:pPr>
            <a:r>
              <a:rPr lang="en-US" sz="2200" i="1" dirty="0">
                <a:solidFill>
                  <a:srgbClr val="B8C7E0"/>
                </a:solidFill>
                <a:latin typeface="Georgia" pitchFamily="34" charset="0"/>
                <a:ea typeface="Georgia" pitchFamily="34" charset="-122"/>
                <a:cs typeface="Georgia" pitchFamily="34" charset="-120"/>
              </a:rPr>
              <a:t>From Certification Documents to End-to-End IaC Delivery</a:t>
            </a:r>
            <a:endParaRPr lang="en-US" sz="2200" dirty="0"/>
          </a:p>
        </p:txBody>
      </p:sp>
      <p:sp>
        <p:nvSpPr>
          <p:cNvPr id="6" name="Shape 4"/>
          <p:cNvSpPr/>
          <p:nvPr/>
        </p:nvSpPr>
        <p:spPr>
          <a:xfrm>
            <a:off x="822960" y="3657600"/>
            <a:ext cx="731520" cy="36576"/>
          </a:xfrm>
          <a:prstGeom prst="rect">
            <a:avLst/>
          </a:prstGeom>
          <a:solidFill>
            <a:srgbClr val="FFC72C"/>
          </a:solidFill>
          <a:ln w="12700">
            <a:solidFill>
              <a:srgbClr val="FFC72C"/>
            </a:solidFill>
            <a:prstDash val="solid"/>
          </a:ln>
        </p:spPr>
      </p:sp>
      <p:sp>
        <p:nvSpPr>
          <p:cNvPr id="7" name="Text 5"/>
          <p:cNvSpPr/>
          <p:nvPr/>
        </p:nvSpPr>
        <p:spPr>
          <a:xfrm>
            <a:off x="822960" y="3886200"/>
            <a:ext cx="10058400" cy="365760"/>
          </a:xfrm>
          <a:prstGeom prst="rect">
            <a:avLst/>
          </a:prstGeom>
          <a:noFill/>
          <a:ln/>
        </p:spPr>
        <p:txBody>
          <a:bodyPr wrap="square" lIns="0" tIns="0" rIns="0" bIns="0"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CODIFY</a:t>
            </a:r>
            <a:pPr indent="0" marL="0">
              <a:buNone/>
            </a:pPr>
            <a:r>
              <a:rPr lang="en-US" sz="1400" dirty="0">
                <a:solidFill>
                  <a:srgbClr val="FFC72C"/>
                </a:solidFill>
                <a:latin typeface="Calibri" pitchFamily="34" charset="0"/>
                <a:ea typeface="Calibri" pitchFamily="34" charset="-122"/>
                <a:cs typeface="Calibri" pitchFamily="34" charset="-120"/>
              </a:rPr>
              <a:t>   ·   </a:t>
            </a:r>
            <a:pPr indent="0" marL="0">
              <a:buNone/>
            </a:pPr>
            <a:r>
              <a:rPr lang="en-US" sz="1400" b="1" spc="400" kern="0" dirty="0">
                <a:solidFill>
                  <a:srgbClr val="FFFFFF"/>
                </a:solidFill>
                <a:latin typeface="Calibri" pitchFamily="34" charset="0"/>
                <a:ea typeface="Calibri" pitchFamily="34" charset="-122"/>
                <a:cs typeface="Calibri" pitchFamily="34" charset="-120"/>
              </a:rPr>
              <a:t>ASSURE</a:t>
            </a:r>
            <a:pPr indent="0" marL="0">
              <a:buNone/>
            </a:pPr>
            <a:r>
              <a:rPr lang="en-US" sz="1400" dirty="0">
                <a:solidFill>
                  <a:srgbClr val="FFC72C"/>
                </a:solidFill>
                <a:latin typeface="Calibri" pitchFamily="34" charset="0"/>
                <a:ea typeface="Calibri" pitchFamily="34" charset="-122"/>
                <a:cs typeface="Calibri" pitchFamily="34" charset="-120"/>
              </a:rPr>
              <a:t>   ·   </a:t>
            </a:r>
            <a:pPr indent="0" marL="0">
              <a:buNone/>
            </a:pPr>
            <a:r>
              <a:rPr lang="en-US" sz="1400" b="1" spc="400" kern="0" dirty="0">
                <a:solidFill>
                  <a:srgbClr val="FFFFFF"/>
                </a:solidFill>
                <a:latin typeface="Calibri" pitchFamily="34" charset="0"/>
                <a:ea typeface="Calibri" pitchFamily="34" charset="-122"/>
                <a:cs typeface="Calibri" pitchFamily="34" charset="-120"/>
              </a:rPr>
              <a:t>AUTOMATE</a:t>
            </a:r>
            <a:endParaRPr lang="en-US" sz="1400" dirty="0"/>
          </a:p>
        </p:txBody>
      </p:sp>
      <p:sp>
        <p:nvSpPr>
          <p:cNvPr id="8" name="Text 6"/>
          <p:cNvSpPr/>
          <p:nvPr/>
        </p:nvSpPr>
        <p:spPr>
          <a:xfrm>
            <a:off x="822960" y="6035040"/>
            <a:ext cx="10058400" cy="274320"/>
          </a:xfrm>
          <a:prstGeom prst="rect">
            <a:avLst/>
          </a:prstGeom>
          <a:noFill/>
          <a:ln/>
        </p:spPr>
        <p:txBody>
          <a:bodyPr wrap="square" lIns="0" tIns="0" rIns="0" bIns="0" rtlCol="0" anchor="ctr"/>
          <a:lstStyle/>
          <a:p>
            <a:pPr indent="0" marL="0">
              <a:buNone/>
            </a:pPr>
            <a:r>
              <a:rPr lang="en-US" sz="1100" dirty="0">
                <a:solidFill>
                  <a:srgbClr val="B8C7E0"/>
                </a:solidFill>
                <a:latin typeface="Calibri" pitchFamily="34" charset="0"/>
                <a:ea typeface="Calibri" pitchFamily="34" charset="-122"/>
                <a:cs typeface="Calibri" pitchFamily="34" charset="-120"/>
              </a:rPr>
              <a:t>Dhwanil  |  Technology &amp; Operations  |  RBC</a:t>
            </a:r>
            <a:endParaRPr lang="en-US" sz="1100" dirty="0"/>
          </a:p>
        </p:txBody>
      </p:sp>
      <p:sp>
        <p:nvSpPr>
          <p:cNvPr id="9" name="Text 7"/>
          <p:cNvSpPr/>
          <p:nvPr/>
        </p:nvSpPr>
        <p:spPr>
          <a:xfrm>
            <a:off x="822960" y="6309360"/>
            <a:ext cx="10058400" cy="274320"/>
          </a:xfrm>
          <a:prstGeom prst="rect">
            <a:avLst/>
          </a:prstGeom>
          <a:noFill/>
          <a:ln/>
        </p:spPr>
        <p:txBody>
          <a:bodyPr wrap="square" lIns="0" tIns="0" rIns="0" bIns="0" rtlCol="0" anchor="ctr"/>
          <a:lstStyle/>
          <a:p>
            <a:pPr indent="0" marL="0">
              <a:buNone/>
            </a:pPr>
            <a:r>
              <a:rPr lang="en-US" sz="900" b="1" spc="400" kern="0" dirty="0">
                <a:solidFill>
                  <a:srgbClr val="FFC72C"/>
                </a:solidFill>
                <a:latin typeface="Calibri" pitchFamily="34" charset="0"/>
                <a:ea typeface="Calibri" pitchFamily="34" charset="-122"/>
                <a:cs typeface="Calibri" pitchFamily="34" charset="-120"/>
              </a:rPr>
              <a:t>INTERNAL — DISCUSSION DRAFT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QUESTION</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Two ways to organize a platform team</a:t>
            </a:r>
            <a:endParaRPr lang="en-US" sz="2800" dirty="0"/>
          </a:p>
        </p:txBody>
      </p:sp>
      <p:sp>
        <p:nvSpPr>
          <p:cNvPr id="4" name="Text 2"/>
          <p:cNvSpPr/>
          <p:nvPr/>
        </p:nvSpPr>
        <p:spPr>
          <a:xfrm>
            <a:off x="457200" y="1325880"/>
            <a:ext cx="11247120" cy="54864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We are deciding how the org delivers Postgres, Linux, and every other certified product. Two models exist — only one survives contact with regulators, CVEs, and brownfield reality.</a:t>
            </a:r>
            <a:endParaRPr lang="en-US" sz="1300" dirty="0"/>
          </a:p>
        </p:txBody>
      </p:sp>
      <p:sp>
        <p:nvSpPr>
          <p:cNvPr id="5" name="Shape 3"/>
          <p:cNvSpPr/>
          <p:nvPr/>
        </p:nvSpPr>
        <p:spPr>
          <a:xfrm>
            <a:off x="457200" y="2057400"/>
            <a:ext cx="5394960" cy="4114800"/>
          </a:xfrm>
          <a:prstGeom prst="rect">
            <a:avLst/>
          </a:prstGeom>
          <a:solidFill>
            <a:srgbClr val="F4F6FA"/>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457200" y="2057400"/>
            <a:ext cx="73152" cy="4114800"/>
          </a:xfrm>
          <a:prstGeom prst="rect">
            <a:avLst/>
          </a:prstGeom>
          <a:solidFill>
            <a:srgbClr val="C8102E"/>
          </a:solidFill>
          <a:ln w="12700">
            <a:solidFill>
              <a:srgbClr val="C8102E"/>
            </a:solidFill>
            <a:prstDash val="solid"/>
          </a:ln>
        </p:spPr>
      </p:sp>
      <p:sp>
        <p:nvSpPr>
          <p:cNvPr id="7" name="Text 5"/>
          <p:cNvSpPr/>
          <p:nvPr/>
        </p:nvSpPr>
        <p:spPr>
          <a:xfrm>
            <a:off x="777240" y="2286000"/>
            <a:ext cx="1828800" cy="228600"/>
          </a:xfrm>
          <a:prstGeom prst="rect">
            <a:avLst/>
          </a:prstGeom>
          <a:noFill/>
          <a:ln/>
        </p:spPr>
        <p:txBody>
          <a:bodyPr wrap="square" lIns="0" tIns="0" rIns="0" bIns="0" rtlCol="0" anchor="ctr"/>
          <a:lstStyle/>
          <a:p>
            <a:pPr indent="0" marL="0">
              <a:buNone/>
            </a:pPr>
            <a:r>
              <a:rPr lang="en-US" sz="900" b="1" spc="400" kern="0" dirty="0">
                <a:solidFill>
                  <a:srgbClr val="C8102E"/>
                </a:solidFill>
                <a:latin typeface="Calibri" pitchFamily="34" charset="0"/>
                <a:ea typeface="Calibri" pitchFamily="34" charset="-122"/>
                <a:cs typeface="Calibri" pitchFamily="34" charset="-120"/>
              </a:rPr>
              <a:t>MODEL A</a:t>
            </a:r>
            <a:endParaRPr lang="en-US" sz="900" dirty="0"/>
          </a:p>
        </p:txBody>
      </p:sp>
      <p:sp>
        <p:nvSpPr>
          <p:cNvPr id="8" name="Text 6"/>
          <p:cNvSpPr/>
          <p:nvPr/>
        </p:nvSpPr>
        <p:spPr>
          <a:xfrm>
            <a:off x="777240" y="2514600"/>
            <a:ext cx="4937760" cy="457200"/>
          </a:xfrm>
          <a:prstGeom prst="rect">
            <a:avLst/>
          </a:prstGeom>
          <a:noFill/>
          <a:ln/>
        </p:spPr>
        <p:txBody>
          <a:bodyPr wrap="square" lIns="0" tIns="0" rIns="0" bIns="0" rtlCol="0" anchor="ctr"/>
          <a:lstStyle/>
          <a:p>
            <a:pPr indent="0" marL="0">
              <a:buNone/>
            </a:pPr>
            <a:r>
              <a:rPr lang="en-US" sz="2200" b="1" dirty="0">
                <a:solidFill>
                  <a:srgbClr val="1A1F36"/>
                </a:solidFill>
                <a:latin typeface="Georgia" pitchFamily="34" charset="0"/>
                <a:ea typeface="Georgia" pitchFamily="34" charset="-122"/>
                <a:cs typeface="Georgia" pitchFamily="34" charset="-120"/>
              </a:rPr>
              <a:t>Certification-as-Document</a:t>
            </a:r>
            <a:endParaRPr lang="en-US" sz="2200" dirty="0"/>
          </a:p>
        </p:txBody>
      </p:sp>
      <p:sp>
        <p:nvSpPr>
          <p:cNvPr id="9" name="Text 7"/>
          <p:cNvSpPr/>
          <p:nvPr/>
        </p:nvSpPr>
        <p:spPr>
          <a:xfrm>
            <a:off x="777240" y="2971800"/>
            <a:ext cx="493776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Separate teams. Documents over the wall.</a:t>
            </a:r>
            <a:endParaRPr lang="en-US" sz="1200" dirty="0"/>
          </a:p>
        </p:txBody>
      </p:sp>
      <p:sp>
        <p:nvSpPr>
          <p:cNvPr id="10" name="Text 8"/>
          <p:cNvSpPr/>
          <p:nvPr/>
        </p:nvSpPr>
        <p:spPr>
          <a:xfrm>
            <a:off x="822960" y="3429000"/>
            <a:ext cx="475488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Cert team writes approved versions, hardening baselines, support matrices</a:t>
            </a:r>
            <a:endParaRPr lang="en-US" sz="1250" dirty="0"/>
          </a:p>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Platform team consumes those docs and writes Terraform / Ansible</a:t>
            </a:r>
            <a:endParaRPr lang="en-US" sz="1250" dirty="0"/>
          </a:p>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Ops team executes runbooks, patches, scales — third hop</a:t>
            </a:r>
            <a:endParaRPr lang="en-US" sz="1250" dirty="0"/>
          </a:p>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Handoff is PDFs, Confluence pages, exception forms</a:t>
            </a:r>
            <a:endParaRPr lang="en-US" sz="1250" dirty="0"/>
          </a:p>
          <a:p>
            <a:pPr marL="342900" indent="-342900">
              <a:buSzPct val="100000"/>
              <a:buChar char="•"/>
            </a:pPr>
            <a:r>
              <a:rPr lang="en-US" sz="1250" dirty="0">
                <a:solidFill>
                  <a:srgbClr val="1A1F36"/>
                </a:solidFill>
                <a:latin typeface="Calibri" pitchFamily="34" charset="0"/>
                <a:ea typeface="Calibri" pitchFamily="34" charset="-122"/>
                <a:cs typeface="Calibri" pitchFamily="34" charset="-120"/>
              </a:rPr>
              <a:t>Audit evidence is gathered manually after the fact</a:t>
            </a:r>
            <a:endParaRPr lang="en-US" sz="1250" dirty="0"/>
          </a:p>
        </p:txBody>
      </p:sp>
      <p:sp>
        <p:nvSpPr>
          <p:cNvPr id="11" name="Shape 9"/>
          <p:cNvSpPr/>
          <p:nvPr/>
        </p:nvSpPr>
        <p:spPr>
          <a:xfrm>
            <a:off x="6309360" y="2057400"/>
            <a:ext cx="5394960" cy="4114800"/>
          </a:xfrm>
          <a:prstGeom prst="rect">
            <a:avLst/>
          </a:prstGeom>
          <a:solidFill>
            <a:srgbClr val="F4F6FA"/>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12" name="Shape 10"/>
          <p:cNvSpPr/>
          <p:nvPr/>
        </p:nvSpPr>
        <p:spPr>
          <a:xfrm>
            <a:off x="6309360" y="2057400"/>
            <a:ext cx="73152" cy="4114800"/>
          </a:xfrm>
          <a:prstGeom prst="rect">
            <a:avLst/>
          </a:prstGeom>
          <a:solidFill>
            <a:srgbClr val="00875A"/>
          </a:solidFill>
          <a:ln w="12700">
            <a:solidFill>
              <a:srgbClr val="00875A"/>
            </a:solidFill>
            <a:prstDash val="solid"/>
          </a:ln>
        </p:spPr>
      </p:sp>
      <p:sp>
        <p:nvSpPr>
          <p:cNvPr id="13" name="Text 11"/>
          <p:cNvSpPr/>
          <p:nvPr/>
        </p:nvSpPr>
        <p:spPr>
          <a:xfrm>
            <a:off x="6629400" y="2286000"/>
            <a:ext cx="1828800" cy="228600"/>
          </a:xfrm>
          <a:prstGeom prst="rect">
            <a:avLst/>
          </a:prstGeom>
          <a:noFill/>
          <a:ln/>
        </p:spPr>
        <p:txBody>
          <a:bodyPr wrap="square" lIns="0" tIns="0" rIns="0" bIns="0" rtlCol="0" anchor="ctr"/>
          <a:lstStyle/>
          <a:p>
            <a:pPr indent="0" marL="0">
              <a:buNone/>
            </a:pPr>
            <a:r>
              <a:rPr lang="en-US" sz="900" b="1" spc="400" kern="0" dirty="0">
                <a:solidFill>
                  <a:srgbClr val="00875A"/>
                </a:solidFill>
                <a:latin typeface="Calibri" pitchFamily="34" charset="0"/>
                <a:ea typeface="Calibri" pitchFamily="34" charset="-122"/>
                <a:cs typeface="Calibri" pitchFamily="34" charset="-120"/>
              </a:rPr>
              <a:t>MODEL B</a:t>
            </a:r>
            <a:endParaRPr lang="en-US" sz="900" dirty="0"/>
          </a:p>
        </p:txBody>
      </p:sp>
      <p:sp>
        <p:nvSpPr>
          <p:cNvPr id="14" name="Text 12"/>
          <p:cNvSpPr/>
          <p:nvPr/>
        </p:nvSpPr>
        <p:spPr>
          <a:xfrm>
            <a:off x="6629400" y="2514600"/>
            <a:ext cx="4937760" cy="457200"/>
          </a:xfrm>
          <a:prstGeom prst="rect">
            <a:avLst/>
          </a:prstGeom>
          <a:noFill/>
          <a:ln/>
        </p:spPr>
        <p:txBody>
          <a:bodyPr wrap="square" lIns="0" tIns="0" rIns="0" bIns="0" rtlCol="0" anchor="ctr"/>
          <a:lstStyle/>
          <a:p>
            <a:pPr indent="0" marL="0">
              <a:buNone/>
            </a:pPr>
            <a:r>
              <a:rPr lang="en-US" sz="2200" b="1" dirty="0">
                <a:solidFill>
                  <a:srgbClr val="1A1F36"/>
                </a:solidFill>
                <a:latin typeface="Georgia" pitchFamily="34" charset="0"/>
                <a:ea typeface="Georgia" pitchFamily="34" charset="-122"/>
                <a:cs typeface="Georgia" pitchFamily="34" charset="-120"/>
              </a:rPr>
              <a:t>Certification-as-Product</a:t>
            </a:r>
            <a:endParaRPr lang="en-US" sz="2200" dirty="0"/>
          </a:p>
        </p:txBody>
      </p:sp>
      <p:sp>
        <p:nvSpPr>
          <p:cNvPr id="15" name="Text 13"/>
          <p:cNvSpPr/>
          <p:nvPr/>
        </p:nvSpPr>
        <p:spPr>
          <a:xfrm>
            <a:off x="6629400" y="2971800"/>
            <a:ext cx="493776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One product, end-to-end. The code is the standard.</a:t>
            </a:r>
            <a:endParaRPr lang="en-US" sz="1200" dirty="0"/>
          </a:p>
        </p:txBody>
      </p:sp>
      <p:sp>
        <p:nvSpPr>
          <p:cNvPr id="16" name="Text 14"/>
          <p:cNvSpPr/>
          <p:nvPr/>
        </p:nvSpPr>
        <p:spPr>
          <a:xfrm>
            <a:off x="6675120" y="3429000"/>
            <a:ext cx="475488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One team ships the product: module + policy + image + pipelines</a:t>
            </a:r>
            <a:endParaRPr lang="en-US" sz="1250" dirty="0"/>
          </a:p>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Approved versions, configs, controls live as code — not as PDFs</a:t>
            </a:r>
            <a:endParaRPr lang="en-US" sz="1250" dirty="0"/>
          </a:p>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Patching, scaling, backup, DR are workflows the product ships with</a:t>
            </a:r>
            <a:endParaRPr lang="en-US" sz="1250" dirty="0"/>
          </a:p>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Compliance evidence is continuously generated by the product itself</a:t>
            </a:r>
            <a:endParaRPr lang="en-US" sz="1250" dirty="0"/>
          </a:p>
          <a:p>
            <a:pPr marL="342900" indent="-342900">
              <a:buSzPct val="100000"/>
              <a:buChar char="•"/>
            </a:pPr>
            <a:r>
              <a:rPr lang="en-US" sz="1250" dirty="0">
                <a:solidFill>
                  <a:srgbClr val="1A1F36"/>
                </a:solidFill>
                <a:latin typeface="Calibri" pitchFamily="34" charset="0"/>
                <a:ea typeface="Calibri" pitchFamily="34" charset="-122"/>
                <a:cs typeface="Calibri" pitchFamily="34" charset="-120"/>
              </a:rPr>
              <a:t>App teams consume self-service; one throat to choke per product</a:t>
            </a:r>
            <a:endParaRPr lang="en-US" sz="1250" dirty="0"/>
          </a:p>
        </p:txBody>
      </p:sp>
      <p:sp>
        <p:nvSpPr>
          <p:cNvPr id="17" name="Shape 15"/>
          <p:cNvSpPr/>
          <p:nvPr/>
        </p:nvSpPr>
        <p:spPr>
          <a:xfrm>
            <a:off x="0" y="6537960"/>
            <a:ext cx="12161520" cy="18288"/>
          </a:xfrm>
          <a:prstGeom prst="rect">
            <a:avLst/>
          </a:prstGeom>
          <a:solidFill>
            <a:srgbClr val="D8DEE9"/>
          </a:solidFill>
          <a:ln w="12700">
            <a:solidFill>
              <a:srgbClr val="D8DEE9"/>
            </a:solidFill>
            <a:prstDash val="solid"/>
          </a:ln>
        </p:spPr>
      </p:sp>
      <p:sp>
        <p:nvSpPr>
          <p:cNvPr id="18" name="Text 16"/>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19" name="Text 17"/>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EVIDENCE</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Every certification decision is a line of code</a:t>
            </a:r>
            <a:endParaRPr lang="en-US" sz="2800" dirty="0"/>
          </a:p>
        </p:txBody>
      </p:sp>
      <p:sp>
        <p:nvSpPr>
          <p:cNvPr id="4" name="Text 2"/>
          <p:cNvSpPr/>
          <p:nvPr/>
        </p:nvSpPr>
        <p:spPr>
          <a:xfrm>
            <a:off x="457200" y="1325880"/>
            <a:ext cx="11247120" cy="54864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Take Postgres and Linux. Every "standard" the certification team would write maps directly to a module variable, a policy rule, or an image-build step. There is no certification artifact that is not also code.</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47120" cy="914400"/>
        </p:xfrm>
        <a:graphic>
          <a:graphicData uri="http://schemas.openxmlformats.org/drawingml/2006/table">
            <a:tbl>
              <a:tblPr/>
              <a:tblGrid>
                <a:gridCol w="3017520"/>
                <a:gridCol w="4114800"/>
                <a:gridCol w="4114800"/>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CERTIFICATION DECISION</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03DA5"/>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POSTGRES — WHERE IT LIVES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03DA5"/>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LINUX — WHERE IT LIVES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03DA5"/>
                    </a:solidFill>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Approved versions &amp; EOL</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module variable + OPA policy</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Packer/Image Builder + repo policy</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Hardening baseline</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pg_hba.conf, SCRAM-SHA-256, TLS</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CIS/STIG roles, SELinux, sysctl</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Approved extensions / pkgs</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pgvector, pgaudit pinned in catalog</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RPM allow-list, Satellite channels</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Backup &amp; recovery</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pgBackRest module + bucket policy</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snapshot policy + cloud-init</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High availability</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Patroni topology module</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systemd, multipath, cluster suite</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Audit &amp; logging</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pgaudit + log shipping config</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auditd rules + log forwarding</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Patch cadence</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pipeline schedule + blackout policy</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Satellite + Ansible patch trains</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Compliance evidence</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auto-attested from Terraform state</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auto-attested from image manifest</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bl>
          </a:graphicData>
        </a:graphic>
      </p:graphicFrame>
      <p:sp>
        <p:nvSpPr>
          <p:cNvPr id="6" name="Shape 3"/>
          <p:cNvSpPr/>
          <p:nvPr/>
        </p:nvSpPr>
        <p:spPr>
          <a:xfrm>
            <a:off x="457200" y="5943600"/>
            <a:ext cx="11247120" cy="502920"/>
          </a:xfrm>
          <a:prstGeom prst="rect">
            <a:avLst/>
          </a:prstGeom>
          <a:solidFill>
            <a:srgbClr val="002060"/>
          </a:solidFill>
          <a:ln w="12700">
            <a:solidFill>
              <a:srgbClr val="002060"/>
            </a:solidFill>
            <a:prstDash val="solid"/>
          </a:ln>
        </p:spPr>
      </p:sp>
      <p:sp>
        <p:nvSpPr>
          <p:cNvPr id="7" name="Shape 4"/>
          <p:cNvSpPr/>
          <p:nvPr/>
        </p:nvSpPr>
        <p:spPr>
          <a:xfrm>
            <a:off x="457200" y="5943600"/>
            <a:ext cx="73152" cy="502920"/>
          </a:xfrm>
          <a:prstGeom prst="rect">
            <a:avLst/>
          </a:prstGeom>
          <a:solidFill>
            <a:srgbClr val="FFC72C"/>
          </a:solidFill>
          <a:ln w="12700">
            <a:solidFill>
              <a:srgbClr val="FFC72C"/>
            </a:solidFill>
            <a:prstDash val="solid"/>
          </a:ln>
        </p:spPr>
      </p:sp>
      <p:sp>
        <p:nvSpPr>
          <p:cNvPr id="8" name="Text 5"/>
          <p:cNvSpPr/>
          <p:nvPr/>
        </p:nvSpPr>
        <p:spPr>
          <a:xfrm>
            <a:off x="685800" y="5943600"/>
            <a:ext cx="1097280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cert team without IaC ownership can only state these. </a:t>
            </a:r>
            <a:pPr indent="0" marL="0">
              <a:buNone/>
            </a:pPr>
            <a:r>
              <a:rPr lang="en-US" sz="1300" b="1" dirty="0">
                <a:solidFill>
                  <a:srgbClr val="FFC72C"/>
                </a:solidFill>
                <a:latin typeface="Calibri" pitchFamily="34" charset="0"/>
                <a:ea typeface="Calibri" pitchFamily="34" charset="-122"/>
                <a:cs typeface="Calibri" pitchFamily="34" charset="-120"/>
              </a:rPr>
              <a:t>They cannot enforce them.</a:t>
            </a:r>
            <a:endParaRPr lang="en-US" sz="1300" dirty="0"/>
          </a:p>
        </p:txBody>
      </p:sp>
      <p:sp>
        <p:nvSpPr>
          <p:cNvPr id="9" name="Shape 6"/>
          <p:cNvSpPr/>
          <p:nvPr/>
        </p:nvSpPr>
        <p:spPr>
          <a:xfrm>
            <a:off x="0" y="6537960"/>
            <a:ext cx="12161520" cy="18288"/>
          </a:xfrm>
          <a:prstGeom prst="rect">
            <a:avLst/>
          </a:prstGeom>
          <a:solidFill>
            <a:srgbClr val="D8DEE9"/>
          </a:solidFill>
          <a:ln w="12700">
            <a:solidFill>
              <a:srgbClr val="D8DEE9"/>
            </a:solidFill>
            <a:prstDash val="solid"/>
          </a:ln>
        </p:spPr>
      </p:sp>
      <p:sp>
        <p:nvSpPr>
          <p:cNvPr id="10" name="Text 7"/>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11" name="Text 8"/>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MODEL</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One product. Three layers. One engineering team.</a:t>
            </a:r>
            <a:endParaRPr lang="en-US" sz="2800" dirty="0"/>
          </a:p>
        </p:txBody>
      </p:sp>
      <p:sp>
        <p:nvSpPr>
          <p:cNvPr id="4" name="Text 2"/>
          <p:cNvSpPr/>
          <p:nvPr/>
        </p:nvSpPr>
        <p:spPr>
          <a:xfrm>
            <a:off x="457200" y="1325880"/>
            <a:ext cx="11247120" cy="36576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Operations is a property of the product, not a separate organization. Everything ops ever did is one of these three things — and the org chart writes itself.</a:t>
            </a:r>
            <a:endParaRPr lang="en-US" sz="1300" dirty="0"/>
          </a:p>
        </p:txBody>
      </p:sp>
      <p:sp>
        <p:nvSpPr>
          <p:cNvPr id="5" name="Shape 3"/>
          <p:cNvSpPr/>
          <p:nvPr/>
        </p:nvSpPr>
        <p:spPr>
          <a:xfrm>
            <a:off x="457200" y="1874520"/>
            <a:ext cx="3657600" cy="41148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457200" y="1874520"/>
            <a:ext cx="3657600" cy="109728"/>
          </a:xfrm>
          <a:prstGeom prst="rect">
            <a:avLst/>
          </a:prstGeom>
          <a:solidFill>
            <a:srgbClr val="003DA5"/>
          </a:solidFill>
          <a:ln w="12700">
            <a:solidFill>
              <a:srgbClr val="003DA5"/>
            </a:solidFill>
            <a:prstDash val="solid"/>
          </a:ln>
        </p:spPr>
      </p:sp>
      <p:pic>
        <p:nvPicPr>
          <p:cNvPr id="7" name="Image 0" descr="preencoded.png">    </p:cNvPr>
          <p:cNvPicPr>
            <a:picLocks noChangeAspect="1"/>
          </p:cNvPicPr>
          <p:nvPr/>
        </p:nvPicPr>
        <p:blipFill>
          <a:blip r:embed="rId1"/>
          <a:stretch>
            <a:fillRect/>
          </a:stretch>
        </p:blipFill>
        <p:spPr>
          <a:xfrm>
            <a:off x="822960" y="2286000"/>
            <a:ext cx="640080" cy="640080"/>
          </a:xfrm>
          <a:prstGeom prst="rect">
            <a:avLst/>
          </a:prstGeom>
        </p:spPr>
      </p:pic>
      <p:sp>
        <p:nvSpPr>
          <p:cNvPr id="8" name="Text 5"/>
          <p:cNvSpPr/>
          <p:nvPr/>
        </p:nvSpPr>
        <p:spPr>
          <a:xfrm>
            <a:off x="822960" y="3063240"/>
            <a:ext cx="2926080" cy="228600"/>
          </a:xfrm>
          <a:prstGeom prst="rect">
            <a:avLst/>
          </a:prstGeom>
          <a:noFill/>
          <a:ln/>
        </p:spPr>
        <p:txBody>
          <a:bodyPr wrap="square" lIns="0" tIns="0" rIns="0" bIns="0" rtlCol="0" anchor="ctr"/>
          <a:lstStyle/>
          <a:p>
            <a:pPr indent="0" marL="0">
              <a:buNone/>
            </a:pPr>
            <a:r>
              <a:rPr lang="en-US" sz="900" b="1" spc="400" kern="0" dirty="0">
                <a:solidFill>
                  <a:srgbClr val="E0A800"/>
                </a:solidFill>
                <a:latin typeface="Calibri" pitchFamily="34" charset="0"/>
                <a:ea typeface="Calibri" pitchFamily="34" charset="-122"/>
                <a:cs typeface="Calibri" pitchFamily="34" charset="-120"/>
              </a:rPr>
              <a:t>LAYER 1</a:t>
            </a:r>
            <a:endParaRPr lang="en-US" sz="900" dirty="0"/>
          </a:p>
        </p:txBody>
      </p:sp>
      <p:sp>
        <p:nvSpPr>
          <p:cNvPr id="9" name="Text 6"/>
          <p:cNvSpPr/>
          <p:nvPr/>
        </p:nvSpPr>
        <p:spPr>
          <a:xfrm>
            <a:off x="822960" y="3291840"/>
            <a:ext cx="2926080" cy="502920"/>
          </a:xfrm>
          <a:prstGeom prst="rect">
            <a:avLst/>
          </a:prstGeom>
          <a:noFill/>
          <a:ln/>
        </p:spPr>
        <p:txBody>
          <a:bodyPr wrap="square" lIns="0" tIns="0" rIns="0" bIns="0" rtlCol="0" anchor="ctr"/>
          <a:lstStyle/>
          <a:p>
            <a:pPr indent="0" marL="0">
              <a:buNone/>
            </a:pPr>
            <a:r>
              <a:rPr lang="en-US" sz="3000" b="1" dirty="0">
                <a:solidFill>
                  <a:srgbClr val="1A1F36"/>
                </a:solidFill>
                <a:latin typeface="Georgia" pitchFamily="34" charset="0"/>
                <a:ea typeface="Georgia" pitchFamily="34" charset="-122"/>
                <a:cs typeface="Georgia" pitchFamily="34" charset="-120"/>
              </a:rPr>
              <a:t>Codify</a:t>
            </a:r>
            <a:endParaRPr lang="en-US" sz="3000" dirty="0"/>
          </a:p>
        </p:txBody>
      </p:sp>
      <p:sp>
        <p:nvSpPr>
          <p:cNvPr id="10" name="Text 7"/>
          <p:cNvSpPr/>
          <p:nvPr/>
        </p:nvSpPr>
        <p:spPr>
          <a:xfrm>
            <a:off x="822960" y="3840480"/>
            <a:ext cx="292608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Declarative IaC — the "what"</a:t>
            </a:r>
            <a:endParaRPr lang="en-US" sz="1200" dirty="0"/>
          </a:p>
        </p:txBody>
      </p:sp>
      <p:sp>
        <p:nvSpPr>
          <p:cNvPr id="11" name="Shape 8"/>
          <p:cNvSpPr/>
          <p:nvPr/>
        </p:nvSpPr>
        <p:spPr>
          <a:xfrm>
            <a:off x="822960" y="4251960"/>
            <a:ext cx="457200" cy="22860"/>
          </a:xfrm>
          <a:prstGeom prst="rect">
            <a:avLst/>
          </a:prstGeom>
          <a:solidFill>
            <a:srgbClr val="FFC72C"/>
          </a:solidFill>
          <a:ln w="12700">
            <a:solidFill>
              <a:srgbClr val="FFC72C"/>
            </a:solidFill>
            <a:prstDash val="solid"/>
          </a:ln>
        </p:spPr>
      </p:sp>
      <p:sp>
        <p:nvSpPr>
          <p:cNvPr id="12" name="Text 9"/>
          <p:cNvSpPr/>
          <p:nvPr/>
        </p:nvSpPr>
        <p:spPr>
          <a:xfrm>
            <a:off x="822960" y="4389120"/>
            <a:ext cx="2926080" cy="1234440"/>
          </a:xfrm>
          <a:prstGeom prst="rect">
            <a:avLst/>
          </a:prstGeom>
          <a:noFill/>
          <a:ln/>
        </p:spPr>
        <p:txBody>
          <a:bodyPr wrap="square" lIns="0" tIns="0" rIns="0" bIns="0" rtlCol="0" anchor="t"/>
          <a:lstStyle/>
          <a:p>
            <a:pPr indent="0" marL="0">
              <a:buNone/>
            </a:pPr>
            <a:r>
              <a:rPr lang="en-US" sz="1150" dirty="0">
                <a:solidFill>
                  <a:srgbClr val="1A1F36"/>
                </a:solidFill>
                <a:latin typeface="Calibri" pitchFamily="34" charset="0"/>
                <a:ea typeface="Calibri" pitchFamily="34" charset="-122"/>
                <a:cs typeface="Calibri" pitchFamily="34" charset="-120"/>
              </a:rPr>
              <a:t>Terraform, Crossplane, Ansible, Packer, Helm, Liquibase. Versions, configs, topology, schema, dashboards, alerts. Provisioning and scaling parameters live here.</a:t>
            </a:r>
            <a:endParaRPr lang="en-US" sz="1150" dirty="0"/>
          </a:p>
        </p:txBody>
      </p:sp>
      <p:sp>
        <p:nvSpPr>
          <p:cNvPr id="13" name="Shape 10"/>
          <p:cNvSpPr/>
          <p:nvPr/>
        </p:nvSpPr>
        <p:spPr>
          <a:xfrm>
            <a:off x="457200" y="5623560"/>
            <a:ext cx="3657600" cy="365760"/>
          </a:xfrm>
          <a:prstGeom prst="rect">
            <a:avLst/>
          </a:prstGeom>
          <a:solidFill>
            <a:srgbClr val="F4F6FA"/>
          </a:solidFill>
          <a:ln w="12700">
            <a:solidFill>
              <a:srgbClr val="F4F6FA"/>
            </a:solidFill>
            <a:prstDash val="solid"/>
          </a:ln>
        </p:spPr>
      </p:sp>
      <p:sp>
        <p:nvSpPr>
          <p:cNvPr id="14" name="Text 11"/>
          <p:cNvSpPr/>
          <p:nvPr/>
        </p:nvSpPr>
        <p:spPr>
          <a:xfrm>
            <a:off x="640080" y="5623560"/>
            <a:ext cx="3291840" cy="365760"/>
          </a:xfrm>
          <a:prstGeom prst="rect">
            <a:avLst/>
          </a:prstGeom>
          <a:noFill/>
          <a:ln/>
        </p:spPr>
        <p:txBody>
          <a:bodyPr wrap="square" lIns="0" tIns="0" rIns="0" bIns="0" rtlCol="0" anchor="ctr"/>
          <a:lstStyle/>
          <a:p>
            <a:pPr algn="ctr" indent="0" marL="0">
              <a:buNone/>
            </a:pPr>
            <a:r>
              <a:rPr lang="en-US" sz="900" b="1" spc="200" kern="0" dirty="0">
                <a:solidFill>
                  <a:srgbClr val="003DA5"/>
                </a:solidFill>
                <a:latin typeface="Calibri" pitchFamily="34" charset="0"/>
                <a:ea typeface="Calibri" pitchFamily="34" charset="-122"/>
                <a:cs typeface="Calibri" pitchFamily="34" charset="-120"/>
              </a:rPr>
              <a:t>BUILT BY ENGINEERING</a:t>
            </a:r>
            <a:endParaRPr lang="en-US" sz="900" dirty="0"/>
          </a:p>
        </p:txBody>
      </p:sp>
      <p:sp>
        <p:nvSpPr>
          <p:cNvPr id="15" name="Shape 12"/>
          <p:cNvSpPr/>
          <p:nvPr/>
        </p:nvSpPr>
        <p:spPr>
          <a:xfrm>
            <a:off x="4251960" y="1874520"/>
            <a:ext cx="3657600" cy="41148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16" name="Shape 13"/>
          <p:cNvSpPr/>
          <p:nvPr/>
        </p:nvSpPr>
        <p:spPr>
          <a:xfrm>
            <a:off x="4251960" y="1874520"/>
            <a:ext cx="3657600" cy="109728"/>
          </a:xfrm>
          <a:prstGeom prst="rect">
            <a:avLst/>
          </a:prstGeom>
          <a:solidFill>
            <a:srgbClr val="003DA5"/>
          </a:solidFill>
          <a:ln w="12700">
            <a:solidFill>
              <a:srgbClr val="003DA5"/>
            </a:solidFill>
            <a:prstDash val="solid"/>
          </a:ln>
        </p:spPr>
      </p:sp>
      <p:pic>
        <p:nvPicPr>
          <p:cNvPr id="17" name="Image 1" descr="preencoded.png">    </p:cNvPr>
          <p:cNvPicPr>
            <a:picLocks noChangeAspect="1"/>
          </p:cNvPicPr>
          <p:nvPr/>
        </p:nvPicPr>
        <p:blipFill>
          <a:blip r:embed="rId2"/>
          <a:stretch>
            <a:fillRect/>
          </a:stretch>
        </p:blipFill>
        <p:spPr>
          <a:xfrm>
            <a:off x="4617720" y="2286000"/>
            <a:ext cx="640080" cy="640080"/>
          </a:xfrm>
          <a:prstGeom prst="rect">
            <a:avLst/>
          </a:prstGeom>
        </p:spPr>
      </p:pic>
      <p:sp>
        <p:nvSpPr>
          <p:cNvPr id="18" name="Text 14"/>
          <p:cNvSpPr/>
          <p:nvPr/>
        </p:nvSpPr>
        <p:spPr>
          <a:xfrm>
            <a:off x="4617720" y="3063240"/>
            <a:ext cx="2926080" cy="228600"/>
          </a:xfrm>
          <a:prstGeom prst="rect">
            <a:avLst/>
          </a:prstGeom>
          <a:noFill/>
          <a:ln/>
        </p:spPr>
        <p:txBody>
          <a:bodyPr wrap="square" lIns="0" tIns="0" rIns="0" bIns="0" rtlCol="0" anchor="ctr"/>
          <a:lstStyle/>
          <a:p>
            <a:pPr indent="0" marL="0">
              <a:buNone/>
            </a:pPr>
            <a:r>
              <a:rPr lang="en-US" sz="900" b="1" spc="400" kern="0" dirty="0">
                <a:solidFill>
                  <a:srgbClr val="E0A800"/>
                </a:solidFill>
                <a:latin typeface="Calibri" pitchFamily="34" charset="0"/>
                <a:ea typeface="Calibri" pitchFamily="34" charset="-122"/>
                <a:cs typeface="Calibri" pitchFamily="34" charset="-120"/>
              </a:rPr>
              <a:t>LAYER 2</a:t>
            </a:r>
            <a:endParaRPr lang="en-US" sz="900" dirty="0"/>
          </a:p>
        </p:txBody>
      </p:sp>
      <p:sp>
        <p:nvSpPr>
          <p:cNvPr id="19" name="Text 15"/>
          <p:cNvSpPr/>
          <p:nvPr/>
        </p:nvSpPr>
        <p:spPr>
          <a:xfrm>
            <a:off x="4617720" y="3291840"/>
            <a:ext cx="2926080" cy="502920"/>
          </a:xfrm>
          <a:prstGeom prst="rect">
            <a:avLst/>
          </a:prstGeom>
          <a:noFill/>
          <a:ln/>
        </p:spPr>
        <p:txBody>
          <a:bodyPr wrap="square" lIns="0" tIns="0" rIns="0" bIns="0" rtlCol="0" anchor="ctr"/>
          <a:lstStyle/>
          <a:p>
            <a:pPr indent="0" marL="0">
              <a:buNone/>
            </a:pPr>
            <a:r>
              <a:rPr lang="en-US" sz="3000" b="1" dirty="0">
                <a:solidFill>
                  <a:srgbClr val="1A1F36"/>
                </a:solidFill>
                <a:latin typeface="Georgia" pitchFamily="34" charset="0"/>
                <a:ea typeface="Georgia" pitchFamily="34" charset="-122"/>
                <a:cs typeface="Georgia" pitchFamily="34" charset="-120"/>
              </a:rPr>
              <a:t>Assure</a:t>
            </a:r>
            <a:endParaRPr lang="en-US" sz="3000" dirty="0"/>
          </a:p>
        </p:txBody>
      </p:sp>
      <p:sp>
        <p:nvSpPr>
          <p:cNvPr id="20" name="Text 16"/>
          <p:cNvSpPr/>
          <p:nvPr/>
        </p:nvSpPr>
        <p:spPr>
          <a:xfrm>
            <a:off x="4617720" y="3840480"/>
            <a:ext cx="292608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Policy-as-Code — the "must"</a:t>
            </a:r>
            <a:endParaRPr lang="en-US" sz="1200" dirty="0"/>
          </a:p>
        </p:txBody>
      </p:sp>
      <p:sp>
        <p:nvSpPr>
          <p:cNvPr id="21" name="Shape 17"/>
          <p:cNvSpPr/>
          <p:nvPr/>
        </p:nvSpPr>
        <p:spPr>
          <a:xfrm>
            <a:off x="4617720" y="4251960"/>
            <a:ext cx="457200" cy="22860"/>
          </a:xfrm>
          <a:prstGeom prst="rect">
            <a:avLst/>
          </a:prstGeom>
          <a:solidFill>
            <a:srgbClr val="FFC72C"/>
          </a:solidFill>
          <a:ln w="12700">
            <a:solidFill>
              <a:srgbClr val="FFC72C"/>
            </a:solidFill>
            <a:prstDash val="solid"/>
          </a:ln>
        </p:spPr>
      </p:sp>
      <p:sp>
        <p:nvSpPr>
          <p:cNvPr id="22" name="Text 18"/>
          <p:cNvSpPr/>
          <p:nvPr/>
        </p:nvSpPr>
        <p:spPr>
          <a:xfrm>
            <a:off x="4617720" y="4389120"/>
            <a:ext cx="2926080" cy="1234440"/>
          </a:xfrm>
          <a:prstGeom prst="rect">
            <a:avLst/>
          </a:prstGeom>
          <a:noFill/>
          <a:ln/>
        </p:spPr>
        <p:txBody>
          <a:bodyPr wrap="square" lIns="0" tIns="0" rIns="0" bIns="0" rtlCol="0" anchor="t"/>
          <a:lstStyle/>
          <a:p>
            <a:pPr indent="0" marL="0">
              <a:buNone/>
            </a:pPr>
            <a:r>
              <a:rPr lang="en-US" sz="1150" dirty="0">
                <a:solidFill>
                  <a:srgbClr val="1A1F36"/>
                </a:solidFill>
                <a:latin typeface="Calibri" pitchFamily="34" charset="0"/>
                <a:ea typeface="Calibri" pitchFamily="34" charset="-122"/>
                <a:cs typeface="Calibri" pitchFamily="34" charset="-120"/>
              </a:rPr>
              <a:t>OPA, Sentinel, Conftest. Approved versions, mandatory encryption, tagging, blast-radius limits, exception workflow. Drift detection and continuous compliance attestation.</a:t>
            </a:r>
            <a:endParaRPr lang="en-US" sz="1150" dirty="0"/>
          </a:p>
        </p:txBody>
      </p:sp>
      <p:sp>
        <p:nvSpPr>
          <p:cNvPr id="23" name="Shape 19"/>
          <p:cNvSpPr/>
          <p:nvPr/>
        </p:nvSpPr>
        <p:spPr>
          <a:xfrm>
            <a:off x="4251960" y="5623560"/>
            <a:ext cx="3657600" cy="365760"/>
          </a:xfrm>
          <a:prstGeom prst="rect">
            <a:avLst/>
          </a:prstGeom>
          <a:solidFill>
            <a:srgbClr val="F4F6FA"/>
          </a:solidFill>
          <a:ln w="12700">
            <a:solidFill>
              <a:srgbClr val="F4F6FA"/>
            </a:solidFill>
            <a:prstDash val="solid"/>
          </a:ln>
        </p:spPr>
      </p:sp>
      <p:sp>
        <p:nvSpPr>
          <p:cNvPr id="24" name="Text 20"/>
          <p:cNvSpPr/>
          <p:nvPr/>
        </p:nvSpPr>
        <p:spPr>
          <a:xfrm>
            <a:off x="4434840" y="5623560"/>
            <a:ext cx="3291840" cy="365760"/>
          </a:xfrm>
          <a:prstGeom prst="rect">
            <a:avLst/>
          </a:prstGeom>
          <a:noFill/>
          <a:ln/>
        </p:spPr>
        <p:txBody>
          <a:bodyPr wrap="square" lIns="0" tIns="0" rIns="0" bIns="0" rtlCol="0" anchor="ctr"/>
          <a:lstStyle/>
          <a:p>
            <a:pPr algn="ctr" indent="0" marL="0">
              <a:buNone/>
            </a:pPr>
            <a:r>
              <a:rPr lang="en-US" sz="900" b="1" spc="200" kern="0" dirty="0">
                <a:solidFill>
                  <a:srgbClr val="003DA5"/>
                </a:solidFill>
                <a:latin typeface="Calibri" pitchFamily="34" charset="0"/>
                <a:ea typeface="Calibri" pitchFamily="34" charset="-122"/>
                <a:cs typeface="Calibri" pitchFamily="34" charset="-120"/>
              </a:rPr>
              <a:t>BUILT BY ENGINEERING  ·  GUIDED BY GOVERNANCE</a:t>
            </a:r>
            <a:endParaRPr lang="en-US" sz="900" dirty="0"/>
          </a:p>
        </p:txBody>
      </p:sp>
      <p:sp>
        <p:nvSpPr>
          <p:cNvPr id="25" name="Shape 21"/>
          <p:cNvSpPr/>
          <p:nvPr/>
        </p:nvSpPr>
        <p:spPr>
          <a:xfrm>
            <a:off x="8046720" y="1874520"/>
            <a:ext cx="3657600" cy="41148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26" name="Shape 22"/>
          <p:cNvSpPr/>
          <p:nvPr/>
        </p:nvSpPr>
        <p:spPr>
          <a:xfrm>
            <a:off x="8046720" y="1874520"/>
            <a:ext cx="3657600" cy="109728"/>
          </a:xfrm>
          <a:prstGeom prst="rect">
            <a:avLst/>
          </a:prstGeom>
          <a:solidFill>
            <a:srgbClr val="003DA5"/>
          </a:solidFill>
          <a:ln w="12700">
            <a:solidFill>
              <a:srgbClr val="003DA5"/>
            </a:solidFill>
            <a:prstDash val="solid"/>
          </a:ln>
        </p:spPr>
      </p:sp>
      <p:pic>
        <p:nvPicPr>
          <p:cNvPr id="27" name="Image 2" descr="preencoded.png">    </p:cNvPr>
          <p:cNvPicPr>
            <a:picLocks noChangeAspect="1"/>
          </p:cNvPicPr>
          <p:nvPr/>
        </p:nvPicPr>
        <p:blipFill>
          <a:blip r:embed="rId3"/>
          <a:stretch>
            <a:fillRect/>
          </a:stretch>
        </p:blipFill>
        <p:spPr>
          <a:xfrm>
            <a:off x="8412480" y="2286000"/>
            <a:ext cx="640080" cy="640080"/>
          </a:xfrm>
          <a:prstGeom prst="rect">
            <a:avLst/>
          </a:prstGeom>
        </p:spPr>
      </p:pic>
      <p:sp>
        <p:nvSpPr>
          <p:cNvPr id="28" name="Text 23"/>
          <p:cNvSpPr/>
          <p:nvPr/>
        </p:nvSpPr>
        <p:spPr>
          <a:xfrm>
            <a:off x="8412480" y="3063240"/>
            <a:ext cx="2926080" cy="228600"/>
          </a:xfrm>
          <a:prstGeom prst="rect">
            <a:avLst/>
          </a:prstGeom>
          <a:noFill/>
          <a:ln/>
        </p:spPr>
        <p:txBody>
          <a:bodyPr wrap="square" lIns="0" tIns="0" rIns="0" bIns="0" rtlCol="0" anchor="ctr"/>
          <a:lstStyle/>
          <a:p>
            <a:pPr indent="0" marL="0">
              <a:buNone/>
            </a:pPr>
            <a:r>
              <a:rPr lang="en-US" sz="900" b="1" spc="400" kern="0" dirty="0">
                <a:solidFill>
                  <a:srgbClr val="E0A800"/>
                </a:solidFill>
                <a:latin typeface="Calibri" pitchFamily="34" charset="0"/>
                <a:ea typeface="Calibri" pitchFamily="34" charset="-122"/>
                <a:cs typeface="Calibri" pitchFamily="34" charset="-120"/>
              </a:rPr>
              <a:t>LAYER 3</a:t>
            </a:r>
            <a:endParaRPr lang="en-US" sz="900" dirty="0"/>
          </a:p>
        </p:txBody>
      </p:sp>
      <p:sp>
        <p:nvSpPr>
          <p:cNvPr id="29" name="Text 24"/>
          <p:cNvSpPr/>
          <p:nvPr/>
        </p:nvSpPr>
        <p:spPr>
          <a:xfrm>
            <a:off x="8412480" y="3291840"/>
            <a:ext cx="2926080" cy="502920"/>
          </a:xfrm>
          <a:prstGeom prst="rect">
            <a:avLst/>
          </a:prstGeom>
          <a:noFill/>
          <a:ln/>
        </p:spPr>
        <p:txBody>
          <a:bodyPr wrap="square" lIns="0" tIns="0" rIns="0" bIns="0" rtlCol="0" anchor="ctr"/>
          <a:lstStyle/>
          <a:p>
            <a:pPr indent="0" marL="0">
              <a:buNone/>
            </a:pPr>
            <a:r>
              <a:rPr lang="en-US" sz="3000" b="1" dirty="0">
                <a:solidFill>
                  <a:srgbClr val="1A1F36"/>
                </a:solidFill>
                <a:latin typeface="Georgia" pitchFamily="34" charset="0"/>
                <a:ea typeface="Georgia" pitchFamily="34" charset="-122"/>
                <a:cs typeface="Georgia" pitchFamily="34" charset="-120"/>
              </a:rPr>
              <a:t>Automate</a:t>
            </a:r>
            <a:endParaRPr lang="en-US" sz="3000" dirty="0"/>
          </a:p>
        </p:txBody>
      </p:sp>
      <p:sp>
        <p:nvSpPr>
          <p:cNvPr id="30" name="Text 25"/>
          <p:cNvSpPr/>
          <p:nvPr/>
        </p:nvSpPr>
        <p:spPr>
          <a:xfrm>
            <a:off x="8412480" y="3840480"/>
            <a:ext cx="292608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Workflow &amp; agents — the "when / how"</a:t>
            </a:r>
            <a:endParaRPr lang="en-US" sz="1200" dirty="0"/>
          </a:p>
        </p:txBody>
      </p:sp>
      <p:sp>
        <p:nvSpPr>
          <p:cNvPr id="31" name="Shape 26"/>
          <p:cNvSpPr/>
          <p:nvPr/>
        </p:nvSpPr>
        <p:spPr>
          <a:xfrm>
            <a:off x="8412480" y="4251960"/>
            <a:ext cx="457200" cy="22860"/>
          </a:xfrm>
          <a:prstGeom prst="rect">
            <a:avLst/>
          </a:prstGeom>
          <a:solidFill>
            <a:srgbClr val="FFC72C"/>
          </a:solidFill>
          <a:ln w="12700">
            <a:solidFill>
              <a:srgbClr val="FFC72C"/>
            </a:solidFill>
            <a:prstDash val="solid"/>
          </a:ln>
        </p:spPr>
      </p:sp>
      <p:sp>
        <p:nvSpPr>
          <p:cNvPr id="32" name="Text 27"/>
          <p:cNvSpPr/>
          <p:nvPr/>
        </p:nvSpPr>
        <p:spPr>
          <a:xfrm>
            <a:off x="8412480" y="4389120"/>
            <a:ext cx="2926080" cy="1234440"/>
          </a:xfrm>
          <a:prstGeom prst="rect">
            <a:avLst/>
          </a:prstGeom>
          <a:noFill/>
          <a:ln/>
        </p:spPr>
        <p:txBody>
          <a:bodyPr wrap="square" lIns="0" tIns="0" rIns="0" bIns="0" rtlCol="0" anchor="t"/>
          <a:lstStyle/>
          <a:p>
            <a:pPr indent="0" marL="0">
              <a:buNone/>
            </a:pPr>
            <a:r>
              <a:rPr lang="en-US" sz="1150" dirty="0">
                <a:solidFill>
                  <a:srgbClr val="1A1F36"/>
                </a:solidFill>
                <a:latin typeface="Calibri" pitchFamily="34" charset="0"/>
                <a:ea typeface="Calibri" pitchFamily="34" charset="-122"/>
                <a:cs typeface="Calibri" pitchFamily="34" charset="-120"/>
              </a:rPr>
              <a:t>Pipelines and event-driven automation that call Layer 1 and check Layer 2. Patching, CVE response, backup verification, DR failover, secret rotation, rollback, incident response.</a:t>
            </a:r>
            <a:endParaRPr lang="en-US" sz="1150" dirty="0"/>
          </a:p>
        </p:txBody>
      </p:sp>
      <p:sp>
        <p:nvSpPr>
          <p:cNvPr id="33" name="Shape 28"/>
          <p:cNvSpPr/>
          <p:nvPr/>
        </p:nvSpPr>
        <p:spPr>
          <a:xfrm>
            <a:off x="8046720" y="5623560"/>
            <a:ext cx="3657600" cy="365760"/>
          </a:xfrm>
          <a:prstGeom prst="rect">
            <a:avLst/>
          </a:prstGeom>
          <a:solidFill>
            <a:srgbClr val="F4F6FA"/>
          </a:solidFill>
          <a:ln w="12700">
            <a:solidFill>
              <a:srgbClr val="F4F6FA"/>
            </a:solidFill>
            <a:prstDash val="solid"/>
          </a:ln>
        </p:spPr>
      </p:sp>
      <p:sp>
        <p:nvSpPr>
          <p:cNvPr id="34" name="Text 29"/>
          <p:cNvSpPr/>
          <p:nvPr/>
        </p:nvSpPr>
        <p:spPr>
          <a:xfrm>
            <a:off x="8229600" y="5623560"/>
            <a:ext cx="3291840" cy="365760"/>
          </a:xfrm>
          <a:prstGeom prst="rect">
            <a:avLst/>
          </a:prstGeom>
          <a:noFill/>
          <a:ln/>
        </p:spPr>
        <p:txBody>
          <a:bodyPr wrap="square" lIns="0" tIns="0" rIns="0" bIns="0" rtlCol="0" anchor="ctr"/>
          <a:lstStyle/>
          <a:p>
            <a:pPr algn="ctr" indent="0" marL="0">
              <a:buNone/>
            </a:pPr>
            <a:r>
              <a:rPr lang="en-US" sz="900" b="1" spc="200" kern="0" dirty="0">
                <a:solidFill>
                  <a:srgbClr val="003DA5"/>
                </a:solidFill>
                <a:latin typeface="Calibri" pitchFamily="34" charset="0"/>
                <a:ea typeface="Calibri" pitchFamily="34" charset="-122"/>
                <a:cs typeface="Calibri" pitchFamily="34" charset="-120"/>
              </a:rPr>
              <a:t>BUILT BY ENGINEERING</a:t>
            </a:r>
            <a:endParaRPr lang="en-US" sz="900" dirty="0"/>
          </a:p>
        </p:txBody>
      </p:sp>
      <p:sp>
        <p:nvSpPr>
          <p:cNvPr id="35" name="Text 30"/>
          <p:cNvSpPr/>
          <p:nvPr/>
        </p:nvSpPr>
        <p:spPr>
          <a:xfrm>
            <a:off x="457200" y="6172200"/>
            <a:ext cx="11247120" cy="320040"/>
          </a:xfrm>
          <a:prstGeom prst="rect">
            <a:avLst/>
          </a:prstGeom>
          <a:noFill/>
          <a:ln/>
        </p:spPr>
        <p:txBody>
          <a:bodyPr wrap="square" lIns="0" tIns="0" rIns="0" bIns="0" rtlCol="0" anchor="ctr"/>
          <a:lstStyle/>
          <a:p>
            <a:pPr algn="ctr" indent="0" marL="0">
              <a:buNone/>
            </a:pPr>
            <a:r>
              <a:rPr lang="en-US" sz="1400" b="1" dirty="0">
                <a:solidFill>
                  <a:srgbClr val="003DA5"/>
                </a:solidFill>
                <a:latin typeface="Calibri" pitchFamily="34" charset="0"/>
                <a:ea typeface="Calibri" pitchFamily="34" charset="-122"/>
                <a:cs typeface="Calibri" pitchFamily="34" charset="-120"/>
              </a:rPr>
              <a:t>Codify </a:t>
            </a:r>
            <a:pPr algn="ctr" indent="0" marL="0">
              <a:buNone/>
            </a:pPr>
            <a:r>
              <a:rPr lang="en-US" sz="1400" dirty="0">
                <a:solidFill>
                  <a:srgbClr val="5B6478"/>
                </a:solidFill>
                <a:latin typeface="Calibri" pitchFamily="34" charset="0"/>
                <a:ea typeface="Calibri" pitchFamily="34" charset="-122"/>
                <a:cs typeface="Calibri" pitchFamily="34" charset="-120"/>
              </a:rPr>
              <a:t>+ </a:t>
            </a:r>
            <a:pPr algn="ctr" indent="0" marL="0">
              <a:buNone/>
            </a:pPr>
            <a:r>
              <a:rPr lang="en-US" sz="1400" b="1" dirty="0">
                <a:solidFill>
                  <a:srgbClr val="003DA5"/>
                </a:solidFill>
                <a:latin typeface="Calibri" pitchFamily="34" charset="0"/>
                <a:ea typeface="Calibri" pitchFamily="34" charset="-122"/>
                <a:cs typeface="Calibri" pitchFamily="34" charset="-120"/>
              </a:rPr>
              <a:t>Assure </a:t>
            </a:r>
            <a:pPr algn="ctr" indent="0" marL="0">
              <a:buNone/>
            </a:pPr>
            <a:r>
              <a:rPr lang="en-US" sz="1400" dirty="0">
                <a:solidFill>
                  <a:srgbClr val="5B6478"/>
                </a:solidFill>
                <a:latin typeface="Calibri" pitchFamily="34" charset="0"/>
                <a:ea typeface="Calibri" pitchFamily="34" charset="-122"/>
                <a:cs typeface="Calibri" pitchFamily="34" charset="-120"/>
              </a:rPr>
              <a:t>+ </a:t>
            </a:r>
            <a:pPr algn="ctr" indent="0" marL="0">
              <a:buNone/>
            </a:pPr>
            <a:r>
              <a:rPr lang="en-US" sz="1400" b="1" dirty="0">
                <a:solidFill>
                  <a:srgbClr val="003DA5"/>
                </a:solidFill>
                <a:latin typeface="Calibri" pitchFamily="34" charset="0"/>
                <a:ea typeface="Calibri" pitchFamily="34" charset="-122"/>
                <a:cs typeface="Calibri" pitchFamily="34" charset="-120"/>
              </a:rPr>
              <a:t>Automate  </a:t>
            </a:r>
            <a:pPr algn="ctr" indent="0" marL="0">
              <a:buNone/>
            </a:pPr>
            <a:r>
              <a:rPr lang="en-US" sz="1400" dirty="0">
                <a:solidFill>
                  <a:srgbClr val="5B6478"/>
                </a:solidFill>
                <a:latin typeface="Calibri" pitchFamily="34" charset="0"/>
                <a:ea typeface="Calibri" pitchFamily="34" charset="-122"/>
                <a:cs typeface="Calibri" pitchFamily="34" charset="-120"/>
              </a:rPr>
              <a:t>=  </a:t>
            </a:r>
            <a:pPr algn="ctr" indent="0" marL="0">
              <a:buNone/>
            </a:pPr>
            <a:r>
              <a:rPr lang="en-US" sz="1400" i="1" dirty="0">
                <a:solidFill>
                  <a:srgbClr val="1A1F36"/>
                </a:solidFill>
                <a:latin typeface="Calibri" pitchFamily="34" charset="0"/>
                <a:ea typeface="Calibri" pitchFamily="34" charset="-122"/>
                <a:cs typeface="Calibri" pitchFamily="34" charset="-120"/>
              </a:rPr>
              <a:t>one product, one team, one accountability line</a:t>
            </a:r>
            <a:endParaRPr lang="en-US" sz="1400" dirty="0"/>
          </a:p>
        </p:txBody>
      </p:sp>
      <p:sp>
        <p:nvSpPr>
          <p:cNvPr id="36" name="Shape 31"/>
          <p:cNvSpPr/>
          <p:nvPr/>
        </p:nvSpPr>
        <p:spPr>
          <a:xfrm>
            <a:off x="0" y="6537960"/>
            <a:ext cx="12161520" cy="18288"/>
          </a:xfrm>
          <a:prstGeom prst="rect">
            <a:avLst/>
          </a:prstGeom>
          <a:solidFill>
            <a:srgbClr val="D8DEE9"/>
          </a:solidFill>
          <a:ln w="12700">
            <a:solidFill>
              <a:srgbClr val="D8DEE9"/>
            </a:solidFill>
            <a:prstDash val="solid"/>
          </a:ln>
        </p:spPr>
      </p:sp>
      <p:sp>
        <p:nvSpPr>
          <p:cNvPr id="37" name="Text 32"/>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38" name="Text 33"/>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SCOPE</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What "operations" actually means once it's codified</a:t>
            </a:r>
            <a:endParaRPr lang="en-US" sz="2800" dirty="0"/>
          </a:p>
        </p:txBody>
      </p:sp>
      <p:sp>
        <p:nvSpPr>
          <p:cNvPr id="4" name="Text 2"/>
          <p:cNvSpPr/>
          <p:nvPr/>
        </p:nvSpPr>
        <p:spPr>
          <a:xfrm>
            <a:off x="457200" y="1325880"/>
            <a:ext cx="11247120" cy="36576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Every recurring activity below ships with the product as code. None of it requires a separate ops floor.</a:t>
            </a:r>
            <a:endParaRPr lang="en-US" sz="1300" dirty="0"/>
          </a:p>
        </p:txBody>
      </p:sp>
      <p:sp>
        <p:nvSpPr>
          <p:cNvPr id="5" name="Shape 3"/>
          <p:cNvSpPr/>
          <p:nvPr/>
        </p:nvSpPr>
        <p:spPr>
          <a:xfrm>
            <a:off x="416052" y="1874520"/>
            <a:ext cx="2743200" cy="2011680"/>
          </a:xfrm>
          <a:prstGeom prst="rect">
            <a:avLst/>
          </a:prstGeom>
          <a:solidFill>
            <a:srgbClr val="F4F6FA"/>
          </a:solidFill>
          <a:ln w="6350">
            <a:solidFill>
              <a:srgbClr val="D8DEE9"/>
            </a:solidFill>
            <a:prstDash val="solid"/>
          </a:ln>
        </p:spPr>
      </p:sp>
      <p:sp>
        <p:nvSpPr>
          <p:cNvPr id="6" name="Shape 4"/>
          <p:cNvSpPr/>
          <p:nvPr/>
        </p:nvSpPr>
        <p:spPr>
          <a:xfrm>
            <a:off x="416052" y="1874520"/>
            <a:ext cx="2743200" cy="54864"/>
          </a:xfrm>
          <a:prstGeom prst="rect">
            <a:avLst/>
          </a:prstGeom>
          <a:solidFill>
            <a:srgbClr val="FFC72C"/>
          </a:solidFill>
          <a:ln w="12700">
            <a:solidFill>
              <a:srgbClr val="FFC72C"/>
            </a:solidFill>
            <a:prstDash val="solid"/>
          </a:ln>
        </p:spPr>
      </p:sp>
      <p:pic>
        <p:nvPicPr>
          <p:cNvPr id="7" name="Image 0" descr="preencoded.png">    </p:cNvPr>
          <p:cNvPicPr>
            <a:picLocks noChangeAspect="1"/>
          </p:cNvPicPr>
          <p:nvPr/>
        </p:nvPicPr>
        <p:blipFill>
          <a:blip r:embed="rId1"/>
          <a:stretch>
            <a:fillRect/>
          </a:stretch>
        </p:blipFill>
        <p:spPr>
          <a:xfrm>
            <a:off x="644652" y="2148840"/>
            <a:ext cx="384048" cy="384048"/>
          </a:xfrm>
          <a:prstGeom prst="rect">
            <a:avLst/>
          </a:prstGeom>
        </p:spPr>
      </p:pic>
      <p:sp>
        <p:nvSpPr>
          <p:cNvPr id="8" name="Text 5"/>
          <p:cNvSpPr/>
          <p:nvPr/>
        </p:nvSpPr>
        <p:spPr>
          <a:xfrm>
            <a:off x="1129284" y="213055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Lifecycle</a:t>
            </a:r>
            <a:endParaRPr lang="en-US" sz="1400" dirty="0"/>
          </a:p>
        </p:txBody>
      </p:sp>
      <p:sp>
        <p:nvSpPr>
          <p:cNvPr id="9" name="Text 6"/>
          <p:cNvSpPr/>
          <p:nvPr/>
        </p:nvSpPr>
        <p:spPr>
          <a:xfrm>
            <a:off x="644652" y="274320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Provisioning · patching · major upgrades · scaling · decommission · image refresh</a:t>
            </a:r>
            <a:endParaRPr lang="en-US" sz="1050" dirty="0"/>
          </a:p>
        </p:txBody>
      </p:sp>
      <p:sp>
        <p:nvSpPr>
          <p:cNvPr id="10" name="Shape 7"/>
          <p:cNvSpPr/>
          <p:nvPr/>
        </p:nvSpPr>
        <p:spPr>
          <a:xfrm>
            <a:off x="3278124" y="1874520"/>
            <a:ext cx="2743200" cy="2011680"/>
          </a:xfrm>
          <a:prstGeom prst="rect">
            <a:avLst/>
          </a:prstGeom>
          <a:solidFill>
            <a:srgbClr val="F4F6FA"/>
          </a:solidFill>
          <a:ln w="6350">
            <a:solidFill>
              <a:srgbClr val="D8DEE9"/>
            </a:solidFill>
            <a:prstDash val="solid"/>
          </a:ln>
        </p:spPr>
      </p:sp>
      <p:sp>
        <p:nvSpPr>
          <p:cNvPr id="11" name="Shape 8"/>
          <p:cNvSpPr/>
          <p:nvPr/>
        </p:nvSpPr>
        <p:spPr>
          <a:xfrm>
            <a:off x="3278124" y="1874520"/>
            <a:ext cx="2743200" cy="54864"/>
          </a:xfrm>
          <a:prstGeom prst="rect">
            <a:avLst/>
          </a:prstGeom>
          <a:solidFill>
            <a:srgbClr val="FFC72C"/>
          </a:solidFill>
          <a:ln w="12700">
            <a:solidFill>
              <a:srgbClr val="FFC72C"/>
            </a:solidFill>
            <a:prstDash val="solid"/>
          </a:ln>
        </p:spPr>
      </p:sp>
      <p:pic>
        <p:nvPicPr>
          <p:cNvPr id="12" name="Image 1" descr="preencoded.png">    </p:cNvPr>
          <p:cNvPicPr>
            <a:picLocks noChangeAspect="1"/>
          </p:cNvPicPr>
          <p:nvPr/>
        </p:nvPicPr>
        <p:blipFill>
          <a:blip r:embed="rId2"/>
          <a:stretch>
            <a:fillRect/>
          </a:stretch>
        </p:blipFill>
        <p:spPr>
          <a:xfrm>
            <a:off x="3506724" y="2148840"/>
            <a:ext cx="384048" cy="384048"/>
          </a:xfrm>
          <a:prstGeom prst="rect">
            <a:avLst/>
          </a:prstGeom>
        </p:spPr>
      </p:pic>
      <p:sp>
        <p:nvSpPr>
          <p:cNvPr id="13" name="Text 9"/>
          <p:cNvSpPr/>
          <p:nvPr/>
        </p:nvSpPr>
        <p:spPr>
          <a:xfrm>
            <a:off x="3991356" y="213055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Resilience</a:t>
            </a:r>
            <a:endParaRPr lang="en-US" sz="1400" dirty="0"/>
          </a:p>
        </p:txBody>
      </p:sp>
      <p:sp>
        <p:nvSpPr>
          <p:cNvPr id="14" name="Text 10"/>
          <p:cNvSpPr/>
          <p:nvPr/>
        </p:nvSpPr>
        <p:spPr>
          <a:xfrm>
            <a:off x="3506724" y="274320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Backup &amp; restore tests · DR failover · HA chaos · snapshot lifecycle</a:t>
            </a:r>
            <a:endParaRPr lang="en-US" sz="1050" dirty="0"/>
          </a:p>
        </p:txBody>
      </p:sp>
      <p:sp>
        <p:nvSpPr>
          <p:cNvPr id="15" name="Shape 11"/>
          <p:cNvSpPr/>
          <p:nvPr/>
        </p:nvSpPr>
        <p:spPr>
          <a:xfrm>
            <a:off x="6140196" y="1874520"/>
            <a:ext cx="2743200" cy="2011680"/>
          </a:xfrm>
          <a:prstGeom prst="rect">
            <a:avLst/>
          </a:prstGeom>
          <a:solidFill>
            <a:srgbClr val="F4F6FA"/>
          </a:solidFill>
          <a:ln w="6350">
            <a:solidFill>
              <a:srgbClr val="D8DEE9"/>
            </a:solidFill>
            <a:prstDash val="solid"/>
          </a:ln>
        </p:spPr>
      </p:sp>
      <p:sp>
        <p:nvSpPr>
          <p:cNvPr id="16" name="Shape 12"/>
          <p:cNvSpPr/>
          <p:nvPr/>
        </p:nvSpPr>
        <p:spPr>
          <a:xfrm>
            <a:off x="6140196" y="1874520"/>
            <a:ext cx="2743200" cy="54864"/>
          </a:xfrm>
          <a:prstGeom prst="rect">
            <a:avLst/>
          </a:prstGeom>
          <a:solidFill>
            <a:srgbClr val="FFC72C"/>
          </a:solidFill>
          <a:ln w="12700">
            <a:solidFill>
              <a:srgbClr val="FFC72C"/>
            </a:solidFill>
            <a:prstDash val="solid"/>
          </a:ln>
        </p:spPr>
      </p:sp>
      <p:pic>
        <p:nvPicPr>
          <p:cNvPr id="17" name="Image 2" descr="preencoded.png">    </p:cNvPr>
          <p:cNvPicPr>
            <a:picLocks noChangeAspect="1"/>
          </p:cNvPicPr>
          <p:nvPr/>
        </p:nvPicPr>
        <p:blipFill>
          <a:blip r:embed="rId3"/>
          <a:stretch>
            <a:fillRect/>
          </a:stretch>
        </p:blipFill>
        <p:spPr>
          <a:xfrm>
            <a:off x="6368796" y="2148840"/>
            <a:ext cx="384048" cy="384048"/>
          </a:xfrm>
          <a:prstGeom prst="rect">
            <a:avLst/>
          </a:prstGeom>
        </p:spPr>
      </p:pic>
      <p:sp>
        <p:nvSpPr>
          <p:cNvPr id="18" name="Text 13"/>
          <p:cNvSpPr/>
          <p:nvPr/>
        </p:nvSpPr>
        <p:spPr>
          <a:xfrm>
            <a:off x="6853428" y="213055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Security &amp; Compliance</a:t>
            </a:r>
            <a:endParaRPr lang="en-US" sz="1400" dirty="0"/>
          </a:p>
        </p:txBody>
      </p:sp>
      <p:sp>
        <p:nvSpPr>
          <p:cNvPr id="19" name="Text 14"/>
          <p:cNvSpPr/>
          <p:nvPr/>
        </p:nvSpPr>
        <p:spPr>
          <a:xfrm>
            <a:off x="6368796" y="274320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Secret rotation · cert lifecycle · CVE remediation · audit evidence · drift remediation</a:t>
            </a:r>
            <a:endParaRPr lang="en-US" sz="1050" dirty="0"/>
          </a:p>
        </p:txBody>
      </p:sp>
      <p:sp>
        <p:nvSpPr>
          <p:cNvPr id="20" name="Shape 15"/>
          <p:cNvSpPr/>
          <p:nvPr/>
        </p:nvSpPr>
        <p:spPr>
          <a:xfrm>
            <a:off x="9002268" y="1874520"/>
            <a:ext cx="2743200" cy="2011680"/>
          </a:xfrm>
          <a:prstGeom prst="rect">
            <a:avLst/>
          </a:prstGeom>
          <a:solidFill>
            <a:srgbClr val="F4F6FA"/>
          </a:solidFill>
          <a:ln w="6350">
            <a:solidFill>
              <a:srgbClr val="D8DEE9"/>
            </a:solidFill>
            <a:prstDash val="solid"/>
          </a:ln>
        </p:spPr>
      </p:sp>
      <p:sp>
        <p:nvSpPr>
          <p:cNvPr id="21" name="Shape 16"/>
          <p:cNvSpPr/>
          <p:nvPr/>
        </p:nvSpPr>
        <p:spPr>
          <a:xfrm>
            <a:off x="9002268" y="1874520"/>
            <a:ext cx="2743200" cy="54864"/>
          </a:xfrm>
          <a:prstGeom prst="rect">
            <a:avLst/>
          </a:prstGeom>
          <a:solidFill>
            <a:srgbClr val="FFC72C"/>
          </a:solidFill>
          <a:ln w="12700">
            <a:solidFill>
              <a:srgbClr val="FFC72C"/>
            </a:solidFill>
            <a:prstDash val="solid"/>
          </a:ln>
        </p:spPr>
      </p:sp>
      <p:pic>
        <p:nvPicPr>
          <p:cNvPr id="22" name="Image 3" descr="preencoded.png">    </p:cNvPr>
          <p:cNvPicPr>
            <a:picLocks noChangeAspect="1"/>
          </p:cNvPicPr>
          <p:nvPr/>
        </p:nvPicPr>
        <p:blipFill>
          <a:blip r:embed="rId4"/>
          <a:stretch>
            <a:fillRect/>
          </a:stretch>
        </p:blipFill>
        <p:spPr>
          <a:xfrm>
            <a:off x="9230868" y="2148840"/>
            <a:ext cx="384048" cy="384048"/>
          </a:xfrm>
          <a:prstGeom prst="rect">
            <a:avLst/>
          </a:prstGeom>
        </p:spPr>
      </p:pic>
      <p:sp>
        <p:nvSpPr>
          <p:cNvPr id="23" name="Text 17"/>
          <p:cNvSpPr/>
          <p:nvPr/>
        </p:nvSpPr>
        <p:spPr>
          <a:xfrm>
            <a:off x="9715500" y="213055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Data Plane</a:t>
            </a:r>
            <a:endParaRPr lang="en-US" sz="1400" dirty="0"/>
          </a:p>
        </p:txBody>
      </p:sp>
      <p:sp>
        <p:nvSpPr>
          <p:cNvPr id="24" name="Text 18"/>
          <p:cNvSpPr/>
          <p:nvPr/>
        </p:nvSpPr>
        <p:spPr>
          <a:xfrm>
            <a:off x="9230868" y="274320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Schema migrations · index &amp; vacuum · partitions · replication lag · capacity triggers</a:t>
            </a:r>
            <a:endParaRPr lang="en-US" sz="1050" dirty="0"/>
          </a:p>
        </p:txBody>
      </p:sp>
      <p:sp>
        <p:nvSpPr>
          <p:cNvPr id="25" name="Shape 19"/>
          <p:cNvSpPr/>
          <p:nvPr/>
        </p:nvSpPr>
        <p:spPr>
          <a:xfrm>
            <a:off x="416052" y="4023360"/>
            <a:ext cx="2743200" cy="2011680"/>
          </a:xfrm>
          <a:prstGeom prst="rect">
            <a:avLst/>
          </a:prstGeom>
          <a:solidFill>
            <a:srgbClr val="F4F6FA"/>
          </a:solidFill>
          <a:ln w="6350">
            <a:solidFill>
              <a:srgbClr val="D8DEE9"/>
            </a:solidFill>
            <a:prstDash val="solid"/>
          </a:ln>
        </p:spPr>
      </p:sp>
      <p:sp>
        <p:nvSpPr>
          <p:cNvPr id="26" name="Shape 20"/>
          <p:cNvSpPr/>
          <p:nvPr/>
        </p:nvSpPr>
        <p:spPr>
          <a:xfrm>
            <a:off x="416052" y="4023360"/>
            <a:ext cx="2743200" cy="54864"/>
          </a:xfrm>
          <a:prstGeom prst="rect">
            <a:avLst/>
          </a:prstGeom>
          <a:solidFill>
            <a:srgbClr val="FFC72C"/>
          </a:solidFill>
          <a:ln w="12700">
            <a:solidFill>
              <a:srgbClr val="FFC72C"/>
            </a:solidFill>
            <a:prstDash val="solid"/>
          </a:ln>
        </p:spPr>
      </p:sp>
      <p:pic>
        <p:nvPicPr>
          <p:cNvPr id="27" name="Image 4" descr="preencoded.png">    </p:cNvPr>
          <p:cNvPicPr>
            <a:picLocks noChangeAspect="1"/>
          </p:cNvPicPr>
          <p:nvPr/>
        </p:nvPicPr>
        <p:blipFill>
          <a:blip r:embed="rId5"/>
          <a:stretch>
            <a:fillRect/>
          </a:stretch>
        </p:blipFill>
        <p:spPr>
          <a:xfrm>
            <a:off x="644652" y="4297680"/>
            <a:ext cx="384048" cy="384048"/>
          </a:xfrm>
          <a:prstGeom prst="rect">
            <a:avLst/>
          </a:prstGeom>
        </p:spPr>
      </p:pic>
      <p:sp>
        <p:nvSpPr>
          <p:cNvPr id="28" name="Text 21"/>
          <p:cNvSpPr/>
          <p:nvPr/>
        </p:nvSpPr>
        <p:spPr>
          <a:xfrm>
            <a:off x="1129284" y="427939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Observability</a:t>
            </a:r>
            <a:endParaRPr lang="en-US" sz="1400" dirty="0"/>
          </a:p>
        </p:txBody>
      </p:sp>
      <p:sp>
        <p:nvSpPr>
          <p:cNvPr id="29" name="Text 22"/>
          <p:cNvSpPr/>
          <p:nvPr/>
        </p:nvSpPr>
        <p:spPr>
          <a:xfrm>
            <a:off x="644652" y="489204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Metrics, logs, traces config · dashboards · SLO alerts · synthetics · runbook-as-code</a:t>
            </a:r>
            <a:endParaRPr lang="en-US" sz="1050" dirty="0"/>
          </a:p>
        </p:txBody>
      </p:sp>
      <p:sp>
        <p:nvSpPr>
          <p:cNvPr id="30" name="Shape 23"/>
          <p:cNvSpPr/>
          <p:nvPr/>
        </p:nvSpPr>
        <p:spPr>
          <a:xfrm>
            <a:off x="3278124" y="4023360"/>
            <a:ext cx="2743200" cy="2011680"/>
          </a:xfrm>
          <a:prstGeom prst="rect">
            <a:avLst/>
          </a:prstGeom>
          <a:solidFill>
            <a:srgbClr val="F4F6FA"/>
          </a:solidFill>
          <a:ln w="6350">
            <a:solidFill>
              <a:srgbClr val="D8DEE9"/>
            </a:solidFill>
            <a:prstDash val="solid"/>
          </a:ln>
        </p:spPr>
      </p:sp>
      <p:sp>
        <p:nvSpPr>
          <p:cNvPr id="31" name="Shape 24"/>
          <p:cNvSpPr/>
          <p:nvPr/>
        </p:nvSpPr>
        <p:spPr>
          <a:xfrm>
            <a:off x="3278124" y="4023360"/>
            <a:ext cx="2743200" cy="54864"/>
          </a:xfrm>
          <a:prstGeom prst="rect">
            <a:avLst/>
          </a:prstGeom>
          <a:solidFill>
            <a:srgbClr val="FFC72C"/>
          </a:solidFill>
          <a:ln w="12700">
            <a:solidFill>
              <a:srgbClr val="FFC72C"/>
            </a:solidFill>
            <a:prstDash val="solid"/>
          </a:ln>
        </p:spPr>
      </p:sp>
      <p:pic>
        <p:nvPicPr>
          <p:cNvPr id="32" name="Image 5" descr="preencoded.png">    </p:cNvPr>
          <p:cNvPicPr>
            <a:picLocks noChangeAspect="1"/>
          </p:cNvPicPr>
          <p:nvPr/>
        </p:nvPicPr>
        <p:blipFill>
          <a:blip r:embed="rId6"/>
          <a:stretch>
            <a:fillRect/>
          </a:stretch>
        </p:blipFill>
        <p:spPr>
          <a:xfrm>
            <a:off x="3506724" y="4297680"/>
            <a:ext cx="384048" cy="384048"/>
          </a:xfrm>
          <a:prstGeom prst="rect">
            <a:avLst/>
          </a:prstGeom>
        </p:spPr>
      </p:pic>
      <p:sp>
        <p:nvSpPr>
          <p:cNvPr id="33" name="Text 25"/>
          <p:cNvSpPr/>
          <p:nvPr/>
        </p:nvSpPr>
        <p:spPr>
          <a:xfrm>
            <a:off x="3991356" y="427939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FinOps</a:t>
            </a:r>
            <a:endParaRPr lang="en-US" sz="1400" dirty="0"/>
          </a:p>
        </p:txBody>
      </p:sp>
      <p:sp>
        <p:nvSpPr>
          <p:cNvPr id="34" name="Text 26"/>
          <p:cNvSpPr/>
          <p:nvPr/>
        </p:nvSpPr>
        <p:spPr>
          <a:xfrm>
            <a:off x="3506724" y="489204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Right-sizing · idle reaping · chargeback tags · reservation optimization</a:t>
            </a:r>
            <a:endParaRPr lang="en-US" sz="1050" dirty="0"/>
          </a:p>
        </p:txBody>
      </p:sp>
      <p:sp>
        <p:nvSpPr>
          <p:cNvPr id="35" name="Shape 27"/>
          <p:cNvSpPr/>
          <p:nvPr/>
        </p:nvSpPr>
        <p:spPr>
          <a:xfrm>
            <a:off x="6140196" y="4023360"/>
            <a:ext cx="2743200" cy="2011680"/>
          </a:xfrm>
          <a:prstGeom prst="rect">
            <a:avLst/>
          </a:prstGeom>
          <a:solidFill>
            <a:srgbClr val="F4F6FA"/>
          </a:solidFill>
          <a:ln w="6350">
            <a:solidFill>
              <a:srgbClr val="D8DEE9"/>
            </a:solidFill>
            <a:prstDash val="solid"/>
          </a:ln>
        </p:spPr>
      </p:sp>
      <p:sp>
        <p:nvSpPr>
          <p:cNvPr id="36" name="Shape 28"/>
          <p:cNvSpPr/>
          <p:nvPr/>
        </p:nvSpPr>
        <p:spPr>
          <a:xfrm>
            <a:off x="6140196" y="4023360"/>
            <a:ext cx="2743200" cy="54864"/>
          </a:xfrm>
          <a:prstGeom prst="rect">
            <a:avLst/>
          </a:prstGeom>
          <a:solidFill>
            <a:srgbClr val="FFC72C"/>
          </a:solidFill>
          <a:ln w="12700">
            <a:solidFill>
              <a:srgbClr val="FFC72C"/>
            </a:solidFill>
            <a:prstDash val="solid"/>
          </a:ln>
        </p:spPr>
      </p:sp>
      <p:pic>
        <p:nvPicPr>
          <p:cNvPr id="37" name="Image 6" descr="preencoded.png">    </p:cNvPr>
          <p:cNvPicPr>
            <a:picLocks noChangeAspect="1"/>
          </p:cNvPicPr>
          <p:nvPr/>
        </p:nvPicPr>
        <p:blipFill>
          <a:blip r:embed="rId7"/>
          <a:stretch>
            <a:fillRect/>
          </a:stretch>
        </p:blipFill>
        <p:spPr>
          <a:xfrm>
            <a:off x="6368796" y="4297680"/>
            <a:ext cx="384048" cy="384048"/>
          </a:xfrm>
          <a:prstGeom prst="rect">
            <a:avLst/>
          </a:prstGeom>
        </p:spPr>
      </p:pic>
      <p:sp>
        <p:nvSpPr>
          <p:cNvPr id="38" name="Text 29"/>
          <p:cNvSpPr/>
          <p:nvPr/>
        </p:nvSpPr>
        <p:spPr>
          <a:xfrm>
            <a:off x="6853428" y="427939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Change &amp; Incident</a:t>
            </a:r>
            <a:endParaRPr lang="en-US" sz="1400" dirty="0"/>
          </a:p>
        </p:txBody>
      </p:sp>
      <p:sp>
        <p:nvSpPr>
          <p:cNvPr id="39" name="Text 30"/>
          <p:cNvSpPr/>
          <p:nvPr/>
        </p:nvSpPr>
        <p:spPr>
          <a:xfrm>
            <a:off x="6368796" y="489204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CR auto-generation · blast-radius analysis · rollback · auto-triage · evidence capture</a:t>
            </a:r>
            <a:endParaRPr lang="en-US" sz="1050" dirty="0"/>
          </a:p>
        </p:txBody>
      </p:sp>
      <p:sp>
        <p:nvSpPr>
          <p:cNvPr id="40" name="Shape 31"/>
          <p:cNvSpPr/>
          <p:nvPr/>
        </p:nvSpPr>
        <p:spPr>
          <a:xfrm>
            <a:off x="9002268" y="4023360"/>
            <a:ext cx="2743200" cy="2011680"/>
          </a:xfrm>
          <a:prstGeom prst="rect">
            <a:avLst/>
          </a:prstGeom>
          <a:solidFill>
            <a:srgbClr val="F4F6FA"/>
          </a:solidFill>
          <a:ln w="6350">
            <a:solidFill>
              <a:srgbClr val="D8DEE9"/>
            </a:solidFill>
            <a:prstDash val="solid"/>
          </a:ln>
        </p:spPr>
      </p:sp>
      <p:sp>
        <p:nvSpPr>
          <p:cNvPr id="41" name="Shape 32"/>
          <p:cNvSpPr/>
          <p:nvPr/>
        </p:nvSpPr>
        <p:spPr>
          <a:xfrm>
            <a:off x="9002268" y="4023360"/>
            <a:ext cx="2743200" cy="54864"/>
          </a:xfrm>
          <a:prstGeom prst="rect">
            <a:avLst/>
          </a:prstGeom>
          <a:solidFill>
            <a:srgbClr val="FFC72C"/>
          </a:solidFill>
          <a:ln w="12700">
            <a:solidFill>
              <a:srgbClr val="FFC72C"/>
            </a:solidFill>
            <a:prstDash val="solid"/>
          </a:ln>
        </p:spPr>
      </p:sp>
      <p:pic>
        <p:nvPicPr>
          <p:cNvPr id="42" name="Image 7" descr="preencoded.png">    </p:cNvPr>
          <p:cNvPicPr>
            <a:picLocks noChangeAspect="1"/>
          </p:cNvPicPr>
          <p:nvPr/>
        </p:nvPicPr>
        <p:blipFill>
          <a:blip r:embed="rId8"/>
          <a:stretch>
            <a:fillRect/>
          </a:stretch>
        </p:blipFill>
        <p:spPr>
          <a:xfrm>
            <a:off x="9230868" y="4297680"/>
            <a:ext cx="384048" cy="384048"/>
          </a:xfrm>
          <a:prstGeom prst="rect">
            <a:avLst/>
          </a:prstGeom>
        </p:spPr>
      </p:pic>
      <p:sp>
        <p:nvSpPr>
          <p:cNvPr id="43" name="Text 33"/>
          <p:cNvSpPr/>
          <p:nvPr/>
        </p:nvSpPr>
        <p:spPr>
          <a:xfrm>
            <a:off x="9715500" y="427939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Inventory</a:t>
            </a:r>
            <a:endParaRPr lang="en-US" sz="1400" dirty="0"/>
          </a:p>
        </p:txBody>
      </p:sp>
      <p:sp>
        <p:nvSpPr>
          <p:cNvPr id="44" name="Text 34"/>
          <p:cNvSpPr/>
          <p:nvPr/>
        </p:nvSpPr>
        <p:spPr>
          <a:xfrm>
            <a:off x="9230868" y="489204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CMDB reconciliation · dependency graph · ownership attestation · tag hygiene</a:t>
            </a:r>
            <a:endParaRPr lang="en-US" sz="1050" dirty="0"/>
          </a:p>
        </p:txBody>
      </p:sp>
      <p:sp>
        <p:nvSpPr>
          <p:cNvPr id="45" name="Text 35"/>
          <p:cNvSpPr/>
          <p:nvPr/>
        </p:nvSpPr>
        <p:spPr>
          <a:xfrm>
            <a:off x="457200" y="6263640"/>
            <a:ext cx="11247120" cy="274320"/>
          </a:xfrm>
          <a:prstGeom prst="rect">
            <a:avLst/>
          </a:prstGeom>
          <a:noFill/>
          <a:ln/>
        </p:spPr>
        <p:txBody>
          <a:bodyPr wrap="square" lIns="0" tIns="0" rIns="0" bIns="0" rtlCol="0" anchor="ctr"/>
          <a:lstStyle/>
          <a:p>
            <a:pPr algn="ctr" indent="0" marL="0">
              <a:buNone/>
            </a:pPr>
            <a:r>
              <a:rPr lang="en-US" sz="1200" dirty="0">
                <a:solidFill>
                  <a:srgbClr val="1A1F36"/>
                </a:solidFill>
                <a:latin typeface="Calibri" pitchFamily="34" charset="0"/>
                <a:ea typeface="Calibri" pitchFamily="34" charset="-122"/>
                <a:cs typeface="Calibri" pitchFamily="34" charset="-120"/>
              </a:rPr>
              <a:t>All of the above slot into Layers 1–3.  </a:t>
            </a:r>
            <a:pPr algn="ctr" indent="0" marL="0">
              <a:buNone/>
            </a:pPr>
            <a:r>
              <a:rPr lang="en-US" sz="1200" b="1" i="1" dirty="0">
                <a:solidFill>
                  <a:srgbClr val="003DA5"/>
                </a:solidFill>
                <a:latin typeface="Calibri" pitchFamily="34" charset="0"/>
                <a:ea typeface="Calibri" pitchFamily="34" charset="-122"/>
                <a:cs typeface="Calibri" pitchFamily="34" charset="-120"/>
              </a:rPr>
              <a:t>There is no fourth layer called "ops team doing toil."</a:t>
            </a:r>
            <a:endParaRPr lang="en-US" sz="1200" dirty="0"/>
          </a:p>
        </p:txBody>
      </p:sp>
      <p:sp>
        <p:nvSpPr>
          <p:cNvPr id="46" name="Shape 36"/>
          <p:cNvSpPr/>
          <p:nvPr/>
        </p:nvSpPr>
        <p:spPr>
          <a:xfrm>
            <a:off x="0" y="6537960"/>
            <a:ext cx="12161520" cy="18288"/>
          </a:xfrm>
          <a:prstGeom prst="rect">
            <a:avLst/>
          </a:prstGeom>
          <a:solidFill>
            <a:srgbClr val="D8DEE9"/>
          </a:solidFill>
          <a:ln w="12700">
            <a:solidFill>
              <a:srgbClr val="D8DEE9"/>
            </a:solidFill>
            <a:prstDash val="solid"/>
          </a:ln>
        </p:spPr>
      </p:sp>
      <p:sp>
        <p:nvSpPr>
          <p:cNvPr id="47" name="Text 37"/>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48" name="Text 38"/>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AI-NATIVE LAYER</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Intelligent Ops — incidents predicted, prevented, managed</a:t>
            </a:r>
            <a:endParaRPr lang="en-US" sz="2800" dirty="0"/>
          </a:p>
        </p:txBody>
      </p:sp>
      <p:sp>
        <p:nvSpPr>
          <p:cNvPr id="4" name="Text 2"/>
          <p:cNvSpPr/>
          <p:nvPr/>
        </p:nvSpPr>
        <p:spPr>
          <a:xfrm>
            <a:off x="457200" y="1325880"/>
            <a:ext cx="11247120" cy="41148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On top of Layers 1–3, an intelligent ops layer turns telemetry into foresight. It proposes; the platform enforces; humans decide the exceptions.</a:t>
            </a:r>
            <a:endParaRPr lang="en-US" sz="1300" dirty="0"/>
          </a:p>
        </p:txBody>
      </p:sp>
      <p:sp>
        <p:nvSpPr>
          <p:cNvPr id="5" name="Shape 3"/>
          <p:cNvSpPr/>
          <p:nvPr/>
        </p:nvSpPr>
        <p:spPr>
          <a:xfrm>
            <a:off x="361188" y="1874520"/>
            <a:ext cx="3703320" cy="36576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361188" y="1874520"/>
            <a:ext cx="73152" cy="3657600"/>
          </a:xfrm>
          <a:prstGeom prst="rect">
            <a:avLst/>
          </a:prstGeom>
          <a:solidFill>
            <a:srgbClr val="003DA5"/>
          </a:solidFill>
          <a:ln w="12700">
            <a:solidFill>
              <a:srgbClr val="003DA5"/>
            </a:solidFill>
            <a:prstDash val="solid"/>
          </a:ln>
        </p:spPr>
      </p:sp>
      <p:sp>
        <p:nvSpPr>
          <p:cNvPr id="7" name="Text 5"/>
          <p:cNvSpPr/>
          <p:nvPr/>
        </p:nvSpPr>
        <p:spPr>
          <a:xfrm>
            <a:off x="635508" y="2057400"/>
            <a:ext cx="914400" cy="365760"/>
          </a:xfrm>
          <a:prstGeom prst="rect">
            <a:avLst/>
          </a:prstGeom>
          <a:noFill/>
          <a:ln/>
        </p:spPr>
        <p:txBody>
          <a:bodyPr wrap="square" lIns="0" tIns="0" rIns="0" bIns="0" rtlCol="0" anchor="ctr"/>
          <a:lstStyle/>
          <a:p>
            <a:pPr indent="0" marL="0">
              <a:buNone/>
            </a:pPr>
            <a:r>
              <a:rPr lang="en-US" sz="1200" b="1" dirty="0">
                <a:solidFill>
                  <a:srgbClr val="E0A800"/>
                </a:solidFill>
                <a:latin typeface="Georgia" pitchFamily="34" charset="0"/>
                <a:ea typeface="Georgia" pitchFamily="34" charset="-122"/>
                <a:cs typeface="Georgia" pitchFamily="34" charset="-120"/>
              </a:rPr>
              <a:t>01</a:t>
            </a:r>
            <a:endParaRPr lang="en-US" sz="1200" dirty="0"/>
          </a:p>
        </p:txBody>
      </p:sp>
      <p:pic>
        <p:nvPicPr>
          <p:cNvPr id="8" name="Image 0" descr="preencoded.png">    </p:cNvPr>
          <p:cNvPicPr>
            <a:picLocks noChangeAspect="1"/>
          </p:cNvPicPr>
          <p:nvPr/>
        </p:nvPicPr>
        <p:blipFill>
          <a:blip r:embed="rId1"/>
          <a:stretch>
            <a:fillRect/>
          </a:stretch>
        </p:blipFill>
        <p:spPr>
          <a:xfrm>
            <a:off x="3150108" y="2148840"/>
            <a:ext cx="548640" cy="548640"/>
          </a:xfrm>
          <a:prstGeom prst="rect">
            <a:avLst/>
          </a:prstGeom>
        </p:spPr>
      </p:pic>
      <p:sp>
        <p:nvSpPr>
          <p:cNvPr id="9" name="Text 6"/>
          <p:cNvSpPr/>
          <p:nvPr/>
        </p:nvSpPr>
        <p:spPr>
          <a:xfrm>
            <a:off x="635508" y="2468880"/>
            <a:ext cx="3154680" cy="274320"/>
          </a:xfrm>
          <a:prstGeom prst="rect">
            <a:avLst/>
          </a:prstGeom>
          <a:noFill/>
          <a:ln/>
        </p:spPr>
        <p:txBody>
          <a:bodyPr wrap="square" lIns="0" tIns="0" rIns="0" bIns="0" rtlCol="0" anchor="ctr"/>
          <a:lstStyle/>
          <a:p>
            <a:pPr indent="0" marL="0">
              <a:buNone/>
            </a:pPr>
            <a:r>
              <a:rPr lang="en-US" sz="1100" b="1" spc="400" kern="0" dirty="0">
                <a:solidFill>
                  <a:srgbClr val="003DA5"/>
                </a:solidFill>
                <a:latin typeface="Calibri" pitchFamily="34" charset="0"/>
                <a:ea typeface="Calibri" pitchFamily="34" charset="-122"/>
                <a:cs typeface="Calibri" pitchFamily="34" charset="-120"/>
              </a:rPr>
              <a:t>PREDICT</a:t>
            </a:r>
            <a:endParaRPr lang="en-US" sz="1100" dirty="0"/>
          </a:p>
        </p:txBody>
      </p:sp>
      <p:sp>
        <p:nvSpPr>
          <p:cNvPr id="10" name="Text 7"/>
          <p:cNvSpPr/>
          <p:nvPr/>
        </p:nvSpPr>
        <p:spPr>
          <a:xfrm>
            <a:off x="635508" y="2743200"/>
            <a:ext cx="3154680" cy="640080"/>
          </a:xfrm>
          <a:prstGeom prst="rect">
            <a:avLst/>
          </a:prstGeom>
          <a:noFill/>
          <a:ln/>
        </p:spPr>
        <p:txBody>
          <a:bodyPr wrap="square" lIns="0" tIns="0" rIns="0" bIns="0" rtlCol="0" anchor="ctr"/>
          <a:lstStyle/>
          <a:p>
            <a:pPr indent="0" marL="0">
              <a:buNone/>
            </a:pPr>
            <a:r>
              <a:rPr lang="en-US" sz="2000" b="1" dirty="0">
                <a:solidFill>
                  <a:srgbClr val="1A1F36"/>
                </a:solidFill>
                <a:latin typeface="Georgia" pitchFamily="34" charset="0"/>
                <a:ea typeface="Georgia" pitchFamily="34" charset="-122"/>
                <a:cs typeface="Georgia" pitchFamily="34" charset="-120"/>
              </a:rPr>
              <a:t>See it before it happens</a:t>
            </a:r>
            <a:endParaRPr lang="en-US" sz="2000" dirty="0"/>
          </a:p>
        </p:txBody>
      </p:sp>
      <p:sp>
        <p:nvSpPr>
          <p:cNvPr id="11" name="Shape 8"/>
          <p:cNvSpPr/>
          <p:nvPr/>
        </p:nvSpPr>
        <p:spPr>
          <a:xfrm>
            <a:off x="635508" y="3429000"/>
            <a:ext cx="365760" cy="22860"/>
          </a:xfrm>
          <a:prstGeom prst="rect">
            <a:avLst/>
          </a:prstGeom>
          <a:solidFill>
            <a:srgbClr val="FFC72C"/>
          </a:solidFill>
          <a:ln w="12700">
            <a:solidFill>
              <a:srgbClr val="FFC72C"/>
            </a:solidFill>
            <a:prstDash val="solid"/>
          </a:ln>
        </p:spPr>
      </p:sp>
      <p:sp>
        <p:nvSpPr>
          <p:cNvPr id="12" name="Text 9"/>
          <p:cNvSpPr/>
          <p:nvPr/>
        </p:nvSpPr>
        <p:spPr>
          <a:xfrm>
            <a:off x="681228" y="3566160"/>
            <a:ext cx="3154680" cy="18288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Anomaly detection on metrics, logs, and change events</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Capacity &amp; saturation forecasts per cluster, per tier</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CVE blast-radius prediction across the dependency graph</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Failure-pattern recognition from prior incident corpora</a:t>
            </a:r>
            <a:endParaRPr lang="en-US" sz="1100" dirty="0"/>
          </a:p>
        </p:txBody>
      </p:sp>
      <p:sp>
        <p:nvSpPr>
          <p:cNvPr id="13" name="Shape 10"/>
          <p:cNvSpPr/>
          <p:nvPr/>
        </p:nvSpPr>
        <p:spPr>
          <a:xfrm>
            <a:off x="4229100" y="1874520"/>
            <a:ext cx="3703320" cy="36576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14" name="Shape 11"/>
          <p:cNvSpPr/>
          <p:nvPr/>
        </p:nvSpPr>
        <p:spPr>
          <a:xfrm>
            <a:off x="4229100" y="1874520"/>
            <a:ext cx="73152" cy="3657600"/>
          </a:xfrm>
          <a:prstGeom prst="rect">
            <a:avLst/>
          </a:prstGeom>
          <a:solidFill>
            <a:srgbClr val="003DA5"/>
          </a:solidFill>
          <a:ln w="12700">
            <a:solidFill>
              <a:srgbClr val="003DA5"/>
            </a:solidFill>
            <a:prstDash val="solid"/>
          </a:ln>
        </p:spPr>
      </p:sp>
      <p:sp>
        <p:nvSpPr>
          <p:cNvPr id="15" name="Text 12"/>
          <p:cNvSpPr/>
          <p:nvPr/>
        </p:nvSpPr>
        <p:spPr>
          <a:xfrm>
            <a:off x="4503420" y="2057400"/>
            <a:ext cx="914400" cy="365760"/>
          </a:xfrm>
          <a:prstGeom prst="rect">
            <a:avLst/>
          </a:prstGeom>
          <a:noFill/>
          <a:ln/>
        </p:spPr>
        <p:txBody>
          <a:bodyPr wrap="square" lIns="0" tIns="0" rIns="0" bIns="0" rtlCol="0" anchor="ctr"/>
          <a:lstStyle/>
          <a:p>
            <a:pPr indent="0" marL="0">
              <a:buNone/>
            </a:pPr>
            <a:r>
              <a:rPr lang="en-US" sz="1200" b="1" dirty="0">
                <a:solidFill>
                  <a:srgbClr val="E0A800"/>
                </a:solidFill>
                <a:latin typeface="Georgia" pitchFamily="34" charset="0"/>
                <a:ea typeface="Georgia" pitchFamily="34" charset="-122"/>
                <a:cs typeface="Georgia" pitchFamily="34" charset="-120"/>
              </a:rPr>
              <a:t>02</a:t>
            </a:r>
            <a:endParaRPr lang="en-US" sz="1200" dirty="0"/>
          </a:p>
        </p:txBody>
      </p:sp>
      <p:pic>
        <p:nvPicPr>
          <p:cNvPr id="16" name="Image 1" descr="preencoded.png">    </p:cNvPr>
          <p:cNvPicPr>
            <a:picLocks noChangeAspect="1"/>
          </p:cNvPicPr>
          <p:nvPr/>
        </p:nvPicPr>
        <p:blipFill>
          <a:blip r:embed="rId2"/>
          <a:stretch>
            <a:fillRect/>
          </a:stretch>
        </p:blipFill>
        <p:spPr>
          <a:xfrm>
            <a:off x="7018020" y="2148840"/>
            <a:ext cx="548640" cy="548640"/>
          </a:xfrm>
          <a:prstGeom prst="rect">
            <a:avLst/>
          </a:prstGeom>
        </p:spPr>
      </p:pic>
      <p:sp>
        <p:nvSpPr>
          <p:cNvPr id="17" name="Text 13"/>
          <p:cNvSpPr/>
          <p:nvPr/>
        </p:nvSpPr>
        <p:spPr>
          <a:xfrm>
            <a:off x="4503420" y="2468880"/>
            <a:ext cx="3154680" cy="274320"/>
          </a:xfrm>
          <a:prstGeom prst="rect">
            <a:avLst/>
          </a:prstGeom>
          <a:noFill/>
          <a:ln/>
        </p:spPr>
        <p:txBody>
          <a:bodyPr wrap="square" lIns="0" tIns="0" rIns="0" bIns="0" rtlCol="0" anchor="ctr"/>
          <a:lstStyle/>
          <a:p>
            <a:pPr indent="0" marL="0">
              <a:buNone/>
            </a:pPr>
            <a:r>
              <a:rPr lang="en-US" sz="1100" b="1" spc="400" kern="0" dirty="0">
                <a:solidFill>
                  <a:srgbClr val="003DA5"/>
                </a:solidFill>
                <a:latin typeface="Calibri" pitchFamily="34" charset="0"/>
                <a:ea typeface="Calibri" pitchFamily="34" charset="-122"/>
                <a:cs typeface="Calibri" pitchFamily="34" charset="-120"/>
              </a:rPr>
              <a:t>PREVENT</a:t>
            </a:r>
            <a:endParaRPr lang="en-US" sz="1100" dirty="0"/>
          </a:p>
        </p:txBody>
      </p:sp>
      <p:sp>
        <p:nvSpPr>
          <p:cNvPr id="18" name="Text 14"/>
          <p:cNvSpPr/>
          <p:nvPr/>
        </p:nvSpPr>
        <p:spPr>
          <a:xfrm>
            <a:off x="4503420" y="2743200"/>
            <a:ext cx="3154680" cy="640080"/>
          </a:xfrm>
          <a:prstGeom prst="rect">
            <a:avLst/>
          </a:prstGeom>
          <a:noFill/>
          <a:ln/>
        </p:spPr>
        <p:txBody>
          <a:bodyPr wrap="square" lIns="0" tIns="0" rIns="0" bIns="0" rtlCol="0" anchor="ctr"/>
          <a:lstStyle/>
          <a:p>
            <a:pPr indent="0" marL="0">
              <a:buNone/>
            </a:pPr>
            <a:r>
              <a:rPr lang="en-US" sz="2000" b="1" dirty="0">
                <a:solidFill>
                  <a:srgbClr val="1A1F36"/>
                </a:solidFill>
                <a:latin typeface="Georgia" pitchFamily="34" charset="0"/>
                <a:ea typeface="Georgia" pitchFamily="34" charset="-122"/>
                <a:cs typeface="Georgia" pitchFamily="34" charset="-120"/>
              </a:rPr>
              <a:t>Stop it before it lands</a:t>
            </a:r>
            <a:endParaRPr lang="en-US" sz="2000" dirty="0"/>
          </a:p>
        </p:txBody>
      </p:sp>
      <p:sp>
        <p:nvSpPr>
          <p:cNvPr id="19" name="Shape 15"/>
          <p:cNvSpPr/>
          <p:nvPr/>
        </p:nvSpPr>
        <p:spPr>
          <a:xfrm>
            <a:off x="4503420" y="3429000"/>
            <a:ext cx="365760" cy="22860"/>
          </a:xfrm>
          <a:prstGeom prst="rect">
            <a:avLst/>
          </a:prstGeom>
          <a:solidFill>
            <a:srgbClr val="FFC72C"/>
          </a:solidFill>
          <a:ln w="12700">
            <a:solidFill>
              <a:srgbClr val="FFC72C"/>
            </a:solidFill>
            <a:prstDash val="solid"/>
          </a:ln>
        </p:spPr>
      </p:sp>
      <p:sp>
        <p:nvSpPr>
          <p:cNvPr id="20" name="Text 16"/>
          <p:cNvSpPr/>
          <p:nvPr/>
        </p:nvSpPr>
        <p:spPr>
          <a:xfrm>
            <a:off x="4549140" y="3566160"/>
            <a:ext cx="3154680" cy="18288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Pre-change risk scoring; high-risk changes auto-gated</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Auto-remediation of drift and known-bad configurations</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Pre-flight upgrade &amp; migration compatibility checks</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Chaos &amp; game-day workflows wired into the pipeline</a:t>
            </a:r>
            <a:endParaRPr lang="en-US" sz="1100" dirty="0"/>
          </a:p>
        </p:txBody>
      </p:sp>
      <p:sp>
        <p:nvSpPr>
          <p:cNvPr id="21" name="Shape 17"/>
          <p:cNvSpPr/>
          <p:nvPr/>
        </p:nvSpPr>
        <p:spPr>
          <a:xfrm>
            <a:off x="8097012" y="1874520"/>
            <a:ext cx="3703320" cy="36576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22" name="Shape 18"/>
          <p:cNvSpPr/>
          <p:nvPr/>
        </p:nvSpPr>
        <p:spPr>
          <a:xfrm>
            <a:off x="8097012" y="1874520"/>
            <a:ext cx="73152" cy="3657600"/>
          </a:xfrm>
          <a:prstGeom prst="rect">
            <a:avLst/>
          </a:prstGeom>
          <a:solidFill>
            <a:srgbClr val="003DA5"/>
          </a:solidFill>
          <a:ln w="12700">
            <a:solidFill>
              <a:srgbClr val="003DA5"/>
            </a:solidFill>
            <a:prstDash val="solid"/>
          </a:ln>
        </p:spPr>
      </p:sp>
      <p:sp>
        <p:nvSpPr>
          <p:cNvPr id="23" name="Text 19"/>
          <p:cNvSpPr/>
          <p:nvPr/>
        </p:nvSpPr>
        <p:spPr>
          <a:xfrm>
            <a:off x="8371332" y="2057400"/>
            <a:ext cx="914400" cy="365760"/>
          </a:xfrm>
          <a:prstGeom prst="rect">
            <a:avLst/>
          </a:prstGeom>
          <a:noFill/>
          <a:ln/>
        </p:spPr>
        <p:txBody>
          <a:bodyPr wrap="square" lIns="0" tIns="0" rIns="0" bIns="0" rtlCol="0" anchor="ctr"/>
          <a:lstStyle/>
          <a:p>
            <a:pPr indent="0" marL="0">
              <a:buNone/>
            </a:pPr>
            <a:r>
              <a:rPr lang="en-US" sz="1200" b="1" dirty="0">
                <a:solidFill>
                  <a:srgbClr val="E0A800"/>
                </a:solidFill>
                <a:latin typeface="Georgia" pitchFamily="34" charset="0"/>
                <a:ea typeface="Georgia" pitchFamily="34" charset="-122"/>
                <a:cs typeface="Georgia" pitchFamily="34" charset="-120"/>
              </a:rPr>
              <a:t>03</a:t>
            </a:r>
            <a:endParaRPr lang="en-US" sz="1200" dirty="0"/>
          </a:p>
        </p:txBody>
      </p:sp>
      <p:pic>
        <p:nvPicPr>
          <p:cNvPr id="24" name="Image 2" descr="preencoded.png">    </p:cNvPr>
          <p:cNvPicPr>
            <a:picLocks noChangeAspect="1"/>
          </p:cNvPicPr>
          <p:nvPr/>
        </p:nvPicPr>
        <p:blipFill>
          <a:blip r:embed="rId3"/>
          <a:stretch>
            <a:fillRect/>
          </a:stretch>
        </p:blipFill>
        <p:spPr>
          <a:xfrm>
            <a:off x="10885932" y="2148840"/>
            <a:ext cx="548640" cy="548640"/>
          </a:xfrm>
          <a:prstGeom prst="rect">
            <a:avLst/>
          </a:prstGeom>
        </p:spPr>
      </p:pic>
      <p:sp>
        <p:nvSpPr>
          <p:cNvPr id="25" name="Text 20"/>
          <p:cNvSpPr/>
          <p:nvPr/>
        </p:nvSpPr>
        <p:spPr>
          <a:xfrm>
            <a:off x="8371332" y="2468880"/>
            <a:ext cx="3154680" cy="274320"/>
          </a:xfrm>
          <a:prstGeom prst="rect">
            <a:avLst/>
          </a:prstGeom>
          <a:noFill/>
          <a:ln/>
        </p:spPr>
        <p:txBody>
          <a:bodyPr wrap="square" lIns="0" tIns="0" rIns="0" bIns="0" rtlCol="0" anchor="ctr"/>
          <a:lstStyle/>
          <a:p>
            <a:pPr indent="0" marL="0">
              <a:buNone/>
            </a:pPr>
            <a:r>
              <a:rPr lang="en-US" sz="1100" b="1" spc="400" kern="0" dirty="0">
                <a:solidFill>
                  <a:srgbClr val="003DA5"/>
                </a:solidFill>
                <a:latin typeface="Calibri" pitchFamily="34" charset="0"/>
                <a:ea typeface="Calibri" pitchFamily="34" charset="-122"/>
                <a:cs typeface="Calibri" pitchFamily="34" charset="-120"/>
              </a:rPr>
              <a:t>MANAGE</a:t>
            </a:r>
            <a:endParaRPr lang="en-US" sz="1100" dirty="0"/>
          </a:p>
        </p:txBody>
      </p:sp>
      <p:sp>
        <p:nvSpPr>
          <p:cNvPr id="26" name="Text 21"/>
          <p:cNvSpPr/>
          <p:nvPr/>
        </p:nvSpPr>
        <p:spPr>
          <a:xfrm>
            <a:off x="8371332" y="2743200"/>
            <a:ext cx="3154680" cy="640080"/>
          </a:xfrm>
          <a:prstGeom prst="rect">
            <a:avLst/>
          </a:prstGeom>
          <a:noFill/>
          <a:ln/>
        </p:spPr>
        <p:txBody>
          <a:bodyPr wrap="square" lIns="0" tIns="0" rIns="0" bIns="0" rtlCol="0" anchor="ctr"/>
          <a:lstStyle/>
          <a:p>
            <a:pPr indent="0" marL="0">
              <a:buNone/>
            </a:pPr>
            <a:r>
              <a:rPr lang="en-US" sz="2000" b="1" dirty="0">
                <a:solidFill>
                  <a:srgbClr val="1A1F36"/>
                </a:solidFill>
                <a:latin typeface="Georgia" pitchFamily="34" charset="0"/>
                <a:ea typeface="Georgia" pitchFamily="34" charset="-122"/>
                <a:cs typeface="Georgia" pitchFamily="34" charset="-120"/>
              </a:rPr>
              <a:t>Resolve it without humans, where safe</a:t>
            </a:r>
            <a:endParaRPr lang="en-US" sz="2000" dirty="0"/>
          </a:p>
        </p:txBody>
      </p:sp>
      <p:sp>
        <p:nvSpPr>
          <p:cNvPr id="27" name="Shape 22"/>
          <p:cNvSpPr/>
          <p:nvPr/>
        </p:nvSpPr>
        <p:spPr>
          <a:xfrm>
            <a:off x="8371332" y="3429000"/>
            <a:ext cx="365760" cy="22860"/>
          </a:xfrm>
          <a:prstGeom prst="rect">
            <a:avLst/>
          </a:prstGeom>
          <a:solidFill>
            <a:srgbClr val="FFC72C"/>
          </a:solidFill>
          <a:ln w="12700">
            <a:solidFill>
              <a:srgbClr val="FFC72C"/>
            </a:solidFill>
            <a:prstDash val="solid"/>
          </a:ln>
        </p:spPr>
      </p:sp>
      <p:sp>
        <p:nvSpPr>
          <p:cNvPr id="28" name="Text 23"/>
          <p:cNvSpPr/>
          <p:nvPr/>
        </p:nvSpPr>
        <p:spPr>
          <a:xfrm>
            <a:off x="8417052" y="3566160"/>
            <a:ext cx="3154680" cy="18288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Auto-triage: correlate alerts, assemble diagnostics, page once</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Agent-driven runbook execution with policy guardrails</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Automated rollback and blast-radius containment</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Post-incident evidence captured for audit &amp; learning</a:t>
            </a:r>
            <a:endParaRPr lang="en-US" sz="1100" dirty="0"/>
          </a:p>
        </p:txBody>
      </p:sp>
      <p:sp>
        <p:nvSpPr>
          <p:cNvPr id="29" name="Shape 24"/>
          <p:cNvSpPr/>
          <p:nvPr/>
        </p:nvSpPr>
        <p:spPr>
          <a:xfrm>
            <a:off x="457200" y="5943600"/>
            <a:ext cx="11247120" cy="502920"/>
          </a:xfrm>
          <a:prstGeom prst="rect">
            <a:avLst/>
          </a:prstGeom>
          <a:solidFill>
            <a:srgbClr val="F4F6FA"/>
          </a:solidFill>
          <a:ln w="6350">
            <a:solidFill>
              <a:srgbClr val="D8DEE9"/>
            </a:solidFill>
            <a:prstDash val="solid"/>
          </a:ln>
        </p:spPr>
      </p:sp>
      <p:sp>
        <p:nvSpPr>
          <p:cNvPr id="30" name="Shape 25"/>
          <p:cNvSpPr/>
          <p:nvPr/>
        </p:nvSpPr>
        <p:spPr>
          <a:xfrm>
            <a:off x="457200" y="5943600"/>
            <a:ext cx="73152" cy="502920"/>
          </a:xfrm>
          <a:prstGeom prst="rect">
            <a:avLst/>
          </a:prstGeom>
          <a:solidFill>
            <a:srgbClr val="FFC72C"/>
          </a:solidFill>
          <a:ln w="12700">
            <a:solidFill>
              <a:srgbClr val="FFC72C"/>
            </a:solidFill>
            <a:prstDash val="solid"/>
          </a:ln>
        </p:spPr>
      </p:sp>
      <p:sp>
        <p:nvSpPr>
          <p:cNvPr id="31" name="Text 26"/>
          <p:cNvSpPr/>
          <p:nvPr/>
        </p:nvSpPr>
        <p:spPr>
          <a:xfrm>
            <a:off x="685800" y="5943600"/>
            <a:ext cx="10972800" cy="502920"/>
          </a:xfrm>
          <a:prstGeom prst="rect">
            <a:avLst/>
          </a:prstGeom>
          <a:noFill/>
          <a:ln/>
        </p:spPr>
        <p:txBody>
          <a:bodyPr wrap="square" lIns="0" tIns="0" rIns="0" bIns="0" rtlCol="0" anchor="ctr"/>
          <a:lstStyle/>
          <a:p>
            <a:pPr indent="0" marL="0">
              <a:buNone/>
            </a:pPr>
            <a:r>
              <a:rPr lang="en-US" sz="1200" b="1" spc="300" kern="0" dirty="0">
                <a:solidFill>
                  <a:srgbClr val="003DA5"/>
                </a:solidFill>
                <a:latin typeface="Calibri" pitchFamily="34" charset="0"/>
                <a:ea typeface="Calibri" pitchFamily="34" charset="-122"/>
                <a:cs typeface="Calibri" pitchFamily="34" charset="-120"/>
              </a:rPr>
              <a:t>Governance principle:  </a:t>
            </a:r>
            <a:pPr indent="0" marL="0">
              <a:buNone/>
            </a:pPr>
            <a:r>
              <a:rPr lang="en-US" sz="1300" i="1" dirty="0">
                <a:solidFill>
                  <a:srgbClr val="1A1F36"/>
                </a:solidFill>
                <a:latin typeface="Calibri" pitchFamily="34" charset="0"/>
                <a:ea typeface="Calibri" pitchFamily="34" charset="-122"/>
                <a:cs typeface="Calibri" pitchFamily="34" charset="-120"/>
              </a:rPr>
              <a:t>AI proposes. Policy enforces. Humans decide the exceptions.</a:t>
            </a:r>
            <a:endParaRPr lang="en-US" sz="1200" dirty="0"/>
          </a:p>
        </p:txBody>
      </p:sp>
      <p:sp>
        <p:nvSpPr>
          <p:cNvPr id="32" name="Shape 27"/>
          <p:cNvSpPr/>
          <p:nvPr/>
        </p:nvSpPr>
        <p:spPr>
          <a:xfrm>
            <a:off x="0" y="6537960"/>
            <a:ext cx="12161520" cy="18288"/>
          </a:xfrm>
          <a:prstGeom prst="rect">
            <a:avLst/>
          </a:prstGeom>
          <a:solidFill>
            <a:srgbClr val="D8DEE9"/>
          </a:solidFill>
          <a:ln w="12700">
            <a:solidFill>
              <a:srgbClr val="D8DEE9"/>
            </a:solidFill>
            <a:prstDash val="solid"/>
          </a:ln>
        </p:spPr>
      </p:sp>
      <p:sp>
        <p:nvSpPr>
          <p:cNvPr id="33" name="Text 28"/>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34" name="Text 29"/>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HUMAN ROLE</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What humans do when the product runs itself</a:t>
            </a:r>
            <a:endParaRPr lang="en-US" sz="2800" dirty="0"/>
          </a:p>
        </p:txBody>
      </p:sp>
      <p:sp>
        <p:nvSpPr>
          <p:cNvPr id="4" name="Text 2"/>
          <p:cNvSpPr/>
          <p:nvPr/>
        </p:nvSpPr>
        <p:spPr>
          <a:xfrm>
            <a:off x="457200" y="1325880"/>
            <a:ext cx="11247120" cy="41148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Three categories — and only three. Everything else is either in the product or is tech debt waiting to become an audit finding.</a:t>
            </a:r>
            <a:endParaRPr lang="en-US" sz="1300" dirty="0"/>
          </a:p>
        </p:txBody>
      </p:sp>
      <p:sp>
        <p:nvSpPr>
          <p:cNvPr id="5" name="Shape 3"/>
          <p:cNvSpPr/>
          <p:nvPr/>
        </p:nvSpPr>
        <p:spPr>
          <a:xfrm>
            <a:off x="361188" y="1874520"/>
            <a:ext cx="3703320" cy="384048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361188" y="1874520"/>
            <a:ext cx="3703320" cy="109728"/>
          </a:xfrm>
          <a:prstGeom prst="rect">
            <a:avLst/>
          </a:prstGeom>
          <a:solidFill>
            <a:srgbClr val="FFC72C"/>
          </a:solidFill>
          <a:ln w="12700">
            <a:solidFill>
              <a:srgbClr val="FFC72C"/>
            </a:solidFill>
            <a:prstDash val="solid"/>
          </a:ln>
        </p:spPr>
      </p:sp>
      <p:sp>
        <p:nvSpPr>
          <p:cNvPr id="7" name="Shape 5"/>
          <p:cNvSpPr/>
          <p:nvPr/>
        </p:nvSpPr>
        <p:spPr>
          <a:xfrm>
            <a:off x="1709928" y="2240280"/>
            <a:ext cx="1005840" cy="1005840"/>
          </a:xfrm>
          <a:prstGeom prst="ellipse">
            <a:avLst/>
          </a:prstGeom>
          <a:solidFill>
            <a:srgbClr val="F4F6FA"/>
          </a:solidFill>
          <a:ln w="12700">
            <a:solidFill>
              <a:srgbClr val="F4F6FA"/>
            </a:solidFill>
            <a:prstDash val="solid"/>
          </a:ln>
        </p:spPr>
      </p:sp>
      <p:pic>
        <p:nvPicPr>
          <p:cNvPr id="8" name="Image 0" descr="preencoded.png">    </p:cNvPr>
          <p:cNvPicPr>
            <a:picLocks noChangeAspect="1"/>
          </p:cNvPicPr>
          <p:nvPr/>
        </p:nvPicPr>
        <p:blipFill>
          <a:blip r:embed="rId1"/>
          <a:stretch>
            <a:fillRect/>
          </a:stretch>
        </p:blipFill>
        <p:spPr>
          <a:xfrm>
            <a:off x="1938528" y="2468880"/>
            <a:ext cx="548640" cy="548640"/>
          </a:xfrm>
          <a:prstGeom prst="rect">
            <a:avLst/>
          </a:prstGeom>
        </p:spPr>
      </p:pic>
      <p:sp>
        <p:nvSpPr>
          <p:cNvPr id="9" name="Text 6"/>
          <p:cNvSpPr/>
          <p:nvPr/>
        </p:nvSpPr>
        <p:spPr>
          <a:xfrm>
            <a:off x="635508" y="3429000"/>
            <a:ext cx="3154680" cy="502920"/>
          </a:xfrm>
          <a:prstGeom prst="rect">
            <a:avLst/>
          </a:prstGeom>
          <a:noFill/>
          <a:ln/>
        </p:spPr>
        <p:txBody>
          <a:bodyPr wrap="square" lIns="0" tIns="0" rIns="0" bIns="0" rtlCol="0" anchor="ctr"/>
          <a:lstStyle/>
          <a:p>
            <a:pPr algn="ctr" indent="0" marL="0">
              <a:buNone/>
            </a:pPr>
            <a:r>
              <a:rPr lang="en-US" sz="2200" b="1" dirty="0">
                <a:solidFill>
                  <a:srgbClr val="1A1F36"/>
                </a:solidFill>
                <a:latin typeface="Georgia" pitchFamily="34" charset="0"/>
                <a:ea typeface="Georgia" pitchFamily="34" charset="-122"/>
                <a:cs typeface="Georgia" pitchFamily="34" charset="-120"/>
              </a:rPr>
              <a:t>Build the product</a:t>
            </a:r>
            <a:endParaRPr lang="en-US" sz="2200" dirty="0"/>
          </a:p>
        </p:txBody>
      </p:sp>
      <p:sp>
        <p:nvSpPr>
          <p:cNvPr id="10" name="Text 7"/>
          <p:cNvSpPr/>
          <p:nvPr/>
        </p:nvSpPr>
        <p:spPr>
          <a:xfrm>
            <a:off x="635508" y="3977640"/>
            <a:ext cx="3154680" cy="320040"/>
          </a:xfrm>
          <a:prstGeom prst="rect">
            <a:avLst/>
          </a:prstGeom>
          <a:noFill/>
          <a:ln/>
        </p:spPr>
        <p:txBody>
          <a:bodyPr wrap="square" lIns="0" tIns="0" rIns="0" bIns="0" rtlCol="0" anchor="ctr"/>
          <a:lstStyle/>
          <a:p>
            <a:pPr algn="ctr" indent="0" marL="0">
              <a:buNone/>
            </a:pPr>
            <a:r>
              <a:rPr lang="en-US" sz="1200" i="1" dirty="0">
                <a:solidFill>
                  <a:srgbClr val="003DA5"/>
                </a:solidFill>
                <a:latin typeface="Calibri" pitchFamily="34" charset="0"/>
                <a:ea typeface="Calibri" pitchFamily="34" charset="-122"/>
                <a:cs typeface="Calibri" pitchFamily="34" charset="-120"/>
              </a:rPr>
              <a:t>Engineering on Layers 1–3</a:t>
            </a:r>
            <a:endParaRPr lang="en-US" sz="1200" dirty="0"/>
          </a:p>
        </p:txBody>
      </p:sp>
      <p:sp>
        <p:nvSpPr>
          <p:cNvPr id="11" name="Shape 8"/>
          <p:cNvSpPr/>
          <p:nvPr/>
        </p:nvSpPr>
        <p:spPr>
          <a:xfrm>
            <a:off x="1984248" y="4343400"/>
            <a:ext cx="457200" cy="22860"/>
          </a:xfrm>
          <a:prstGeom prst="rect">
            <a:avLst/>
          </a:prstGeom>
          <a:solidFill>
            <a:srgbClr val="FFC72C"/>
          </a:solidFill>
          <a:ln w="12700">
            <a:solidFill>
              <a:srgbClr val="FFC72C"/>
            </a:solidFill>
            <a:prstDash val="solid"/>
          </a:ln>
        </p:spPr>
      </p:sp>
      <p:sp>
        <p:nvSpPr>
          <p:cNvPr id="12" name="Text 9"/>
          <p:cNvSpPr/>
          <p:nvPr/>
        </p:nvSpPr>
        <p:spPr>
          <a:xfrm>
            <a:off x="681228" y="4480560"/>
            <a:ext cx="3063240" cy="1097280"/>
          </a:xfrm>
          <a:prstGeom prst="rect">
            <a:avLst/>
          </a:prstGeom>
          <a:noFill/>
          <a:ln/>
        </p:spPr>
        <p:txBody>
          <a:bodyPr wrap="square" lIns="0" tIns="0" rIns="0" bIns="0" rtlCol="0" anchor="t"/>
          <a:lstStyle/>
          <a:p>
            <a:pPr indent="0" marL="0">
              <a:buNone/>
            </a:pPr>
            <a:r>
              <a:rPr lang="en-US" sz="1150" dirty="0">
                <a:solidFill>
                  <a:srgbClr val="1A1F36"/>
                </a:solidFill>
                <a:latin typeface="Calibri" pitchFamily="34" charset="0"/>
                <a:ea typeface="Calibri" pitchFamily="34" charset="-122"/>
                <a:cs typeface="Calibri" pitchFamily="34" charset="-120"/>
              </a:rPr>
              <a:t>New modules, new policies, new workflows, new agent capabilities. Largest surviving function. Former ops engineers reskill here and become the most valuable people in the org because they bring operational scar tissue to product design.</a:t>
            </a:r>
            <a:endParaRPr lang="en-US" sz="1150" dirty="0"/>
          </a:p>
        </p:txBody>
      </p:sp>
      <p:sp>
        <p:nvSpPr>
          <p:cNvPr id="13" name="Shape 10"/>
          <p:cNvSpPr/>
          <p:nvPr/>
        </p:nvSpPr>
        <p:spPr>
          <a:xfrm>
            <a:off x="4229100" y="1874520"/>
            <a:ext cx="3703320" cy="384048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14" name="Shape 11"/>
          <p:cNvSpPr/>
          <p:nvPr/>
        </p:nvSpPr>
        <p:spPr>
          <a:xfrm>
            <a:off x="4229100" y="1874520"/>
            <a:ext cx="3703320" cy="109728"/>
          </a:xfrm>
          <a:prstGeom prst="rect">
            <a:avLst/>
          </a:prstGeom>
          <a:solidFill>
            <a:srgbClr val="FFC72C"/>
          </a:solidFill>
          <a:ln w="12700">
            <a:solidFill>
              <a:srgbClr val="FFC72C"/>
            </a:solidFill>
            <a:prstDash val="solid"/>
          </a:ln>
        </p:spPr>
      </p:sp>
      <p:sp>
        <p:nvSpPr>
          <p:cNvPr id="15" name="Shape 12"/>
          <p:cNvSpPr/>
          <p:nvPr/>
        </p:nvSpPr>
        <p:spPr>
          <a:xfrm>
            <a:off x="5577840" y="2240280"/>
            <a:ext cx="1005840" cy="1005840"/>
          </a:xfrm>
          <a:prstGeom prst="ellipse">
            <a:avLst/>
          </a:prstGeom>
          <a:solidFill>
            <a:srgbClr val="F4F6FA"/>
          </a:solidFill>
          <a:ln w="12700">
            <a:solidFill>
              <a:srgbClr val="F4F6FA"/>
            </a:solidFill>
            <a:prstDash val="solid"/>
          </a:ln>
        </p:spPr>
      </p:sp>
      <p:pic>
        <p:nvPicPr>
          <p:cNvPr id="16" name="Image 1" descr="preencoded.png">    </p:cNvPr>
          <p:cNvPicPr>
            <a:picLocks noChangeAspect="1"/>
          </p:cNvPicPr>
          <p:nvPr/>
        </p:nvPicPr>
        <p:blipFill>
          <a:blip r:embed="rId2"/>
          <a:stretch>
            <a:fillRect/>
          </a:stretch>
        </p:blipFill>
        <p:spPr>
          <a:xfrm>
            <a:off x="5806440" y="2468880"/>
            <a:ext cx="548640" cy="548640"/>
          </a:xfrm>
          <a:prstGeom prst="rect">
            <a:avLst/>
          </a:prstGeom>
        </p:spPr>
      </p:pic>
      <p:sp>
        <p:nvSpPr>
          <p:cNvPr id="17" name="Text 13"/>
          <p:cNvSpPr/>
          <p:nvPr/>
        </p:nvSpPr>
        <p:spPr>
          <a:xfrm>
            <a:off x="4503420" y="3429000"/>
            <a:ext cx="3154680" cy="502920"/>
          </a:xfrm>
          <a:prstGeom prst="rect">
            <a:avLst/>
          </a:prstGeom>
          <a:noFill/>
          <a:ln/>
        </p:spPr>
        <p:txBody>
          <a:bodyPr wrap="square" lIns="0" tIns="0" rIns="0" bIns="0" rtlCol="0" anchor="ctr"/>
          <a:lstStyle/>
          <a:p>
            <a:pPr algn="ctr" indent="0" marL="0">
              <a:buNone/>
            </a:pPr>
            <a:r>
              <a:rPr lang="en-US" sz="2200" b="1" dirty="0">
                <a:solidFill>
                  <a:srgbClr val="1A1F36"/>
                </a:solidFill>
                <a:latin typeface="Georgia" pitchFamily="34" charset="0"/>
                <a:ea typeface="Georgia" pitchFamily="34" charset="-122"/>
                <a:cs typeface="Georgia" pitchFamily="34" charset="-120"/>
              </a:rPr>
              <a:t>Adjudicate exceptions</a:t>
            </a:r>
            <a:endParaRPr lang="en-US" sz="2200" dirty="0"/>
          </a:p>
        </p:txBody>
      </p:sp>
      <p:sp>
        <p:nvSpPr>
          <p:cNvPr id="18" name="Text 14"/>
          <p:cNvSpPr/>
          <p:nvPr/>
        </p:nvSpPr>
        <p:spPr>
          <a:xfrm>
            <a:off x="4503420" y="3977640"/>
            <a:ext cx="3154680" cy="320040"/>
          </a:xfrm>
          <a:prstGeom prst="rect">
            <a:avLst/>
          </a:prstGeom>
          <a:noFill/>
          <a:ln/>
        </p:spPr>
        <p:txBody>
          <a:bodyPr wrap="square" lIns="0" tIns="0" rIns="0" bIns="0" rtlCol="0" anchor="ctr"/>
          <a:lstStyle/>
          <a:p>
            <a:pPr algn="ctr" indent="0" marL="0">
              <a:buNone/>
            </a:pPr>
            <a:r>
              <a:rPr lang="en-US" sz="1200" i="1" dirty="0">
                <a:solidFill>
                  <a:srgbClr val="003DA5"/>
                </a:solidFill>
                <a:latin typeface="Calibri" pitchFamily="34" charset="0"/>
                <a:ea typeface="Calibri" pitchFamily="34" charset="-122"/>
                <a:cs typeface="Calibri" pitchFamily="34" charset="-120"/>
              </a:rPr>
              <a:t>What the platform won't auto-approve</a:t>
            </a:r>
            <a:endParaRPr lang="en-US" sz="1200" dirty="0"/>
          </a:p>
        </p:txBody>
      </p:sp>
      <p:sp>
        <p:nvSpPr>
          <p:cNvPr id="19" name="Shape 15"/>
          <p:cNvSpPr/>
          <p:nvPr/>
        </p:nvSpPr>
        <p:spPr>
          <a:xfrm>
            <a:off x="5852160" y="4343400"/>
            <a:ext cx="457200" cy="22860"/>
          </a:xfrm>
          <a:prstGeom prst="rect">
            <a:avLst/>
          </a:prstGeom>
          <a:solidFill>
            <a:srgbClr val="FFC72C"/>
          </a:solidFill>
          <a:ln w="12700">
            <a:solidFill>
              <a:srgbClr val="FFC72C"/>
            </a:solidFill>
            <a:prstDash val="solid"/>
          </a:ln>
        </p:spPr>
      </p:sp>
      <p:sp>
        <p:nvSpPr>
          <p:cNvPr id="20" name="Text 16"/>
          <p:cNvSpPr/>
          <p:nvPr/>
        </p:nvSpPr>
        <p:spPr>
          <a:xfrm>
            <a:off x="4549140" y="4480560"/>
            <a:ext cx="3063240" cy="1097280"/>
          </a:xfrm>
          <a:prstGeom prst="rect">
            <a:avLst/>
          </a:prstGeom>
          <a:noFill/>
          <a:ln/>
        </p:spPr>
        <p:txBody>
          <a:bodyPr wrap="square" lIns="0" tIns="0" rIns="0" bIns="0" rtlCol="0" anchor="t"/>
          <a:lstStyle/>
          <a:p>
            <a:pPr indent="0" marL="0">
              <a:buNone/>
            </a:pPr>
            <a:r>
              <a:rPr lang="en-US" sz="1150" dirty="0">
                <a:solidFill>
                  <a:srgbClr val="1A1F36"/>
                </a:solidFill>
                <a:latin typeface="Calibri" pitchFamily="34" charset="0"/>
                <a:ea typeface="Calibri" pitchFamily="34" charset="-122"/>
                <a:cs typeface="Calibri" pitchFamily="34" charset="-120"/>
              </a:rPr>
              <a:t>Policy-as-code is deliberately strict. A small, senior group reviews the exception, decides, attaches an expiry, and feeds recurring patterns back into policy. Low-volume, high-stakes judgment work.</a:t>
            </a:r>
            <a:endParaRPr lang="en-US" sz="1150" dirty="0"/>
          </a:p>
        </p:txBody>
      </p:sp>
      <p:sp>
        <p:nvSpPr>
          <p:cNvPr id="21" name="Shape 17"/>
          <p:cNvSpPr/>
          <p:nvPr/>
        </p:nvSpPr>
        <p:spPr>
          <a:xfrm>
            <a:off x="8097012" y="1874520"/>
            <a:ext cx="3703320" cy="384048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22" name="Shape 18"/>
          <p:cNvSpPr/>
          <p:nvPr/>
        </p:nvSpPr>
        <p:spPr>
          <a:xfrm>
            <a:off x="8097012" y="1874520"/>
            <a:ext cx="3703320" cy="109728"/>
          </a:xfrm>
          <a:prstGeom prst="rect">
            <a:avLst/>
          </a:prstGeom>
          <a:solidFill>
            <a:srgbClr val="FFC72C"/>
          </a:solidFill>
          <a:ln w="12700">
            <a:solidFill>
              <a:srgbClr val="FFC72C"/>
            </a:solidFill>
            <a:prstDash val="solid"/>
          </a:ln>
        </p:spPr>
      </p:sp>
      <p:sp>
        <p:nvSpPr>
          <p:cNvPr id="23" name="Shape 19"/>
          <p:cNvSpPr/>
          <p:nvPr/>
        </p:nvSpPr>
        <p:spPr>
          <a:xfrm>
            <a:off x="9445752" y="2240280"/>
            <a:ext cx="1005840" cy="1005840"/>
          </a:xfrm>
          <a:prstGeom prst="ellipse">
            <a:avLst/>
          </a:prstGeom>
          <a:solidFill>
            <a:srgbClr val="F4F6FA"/>
          </a:solidFill>
          <a:ln w="12700">
            <a:solidFill>
              <a:srgbClr val="F4F6FA"/>
            </a:solidFill>
            <a:prstDash val="solid"/>
          </a:ln>
        </p:spPr>
      </p:sp>
      <p:pic>
        <p:nvPicPr>
          <p:cNvPr id="24" name="Image 2" descr="preencoded.png">    </p:cNvPr>
          <p:cNvPicPr>
            <a:picLocks noChangeAspect="1"/>
          </p:cNvPicPr>
          <p:nvPr/>
        </p:nvPicPr>
        <p:blipFill>
          <a:blip r:embed="rId3"/>
          <a:stretch>
            <a:fillRect/>
          </a:stretch>
        </p:blipFill>
        <p:spPr>
          <a:xfrm>
            <a:off x="9674352" y="2468880"/>
            <a:ext cx="548640" cy="548640"/>
          </a:xfrm>
          <a:prstGeom prst="rect">
            <a:avLst/>
          </a:prstGeom>
        </p:spPr>
      </p:pic>
      <p:sp>
        <p:nvSpPr>
          <p:cNvPr id="25" name="Text 20"/>
          <p:cNvSpPr/>
          <p:nvPr/>
        </p:nvSpPr>
        <p:spPr>
          <a:xfrm>
            <a:off x="8371332" y="3429000"/>
            <a:ext cx="3154680" cy="502920"/>
          </a:xfrm>
          <a:prstGeom prst="rect">
            <a:avLst/>
          </a:prstGeom>
          <a:noFill/>
          <a:ln/>
        </p:spPr>
        <p:txBody>
          <a:bodyPr wrap="square" lIns="0" tIns="0" rIns="0" bIns="0" rtlCol="0" anchor="ctr"/>
          <a:lstStyle/>
          <a:p>
            <a:pPr algn="ctr" indent="0" marL="0">
              <a:buNone/>
            </a:pPr>
            <a:r>
              <a:rPr lang="en-US" sz="2200" b="1" dirty="0">
                <a:solidFill>
                  <a:srgbClr val="1A1F36"/>
                </a:solidFill>
                <a:latin typeface="Georgia" pitchFamily="34" charset="0"/>
                <a:ea typeface="Georgia" pitchFamily="34" charset="-122"/>
                <a:cs typeface="Georgia" pitchFamily="34" charset="-120"/>
              </a:rPr>
              <a:t>Solve novel problems</a:t>
            </a:r>
            <a:endParaRPr lang="en-US" sz="2200" dirty="0"/>
          </a:p>
        </p:txBody>
      </p:sp>
      <p:sp>
        <p:nvSpPr>
          <p:cNvPr id="26" name="Text 21"/>
          <p:cNvSpPr/>
          <p:nvPr/>
        </p:nvSpPr>
        <p:spPr>
          <a:xfrm>
            <a:off x="8371332" y="3977640"/>
            <a:ext cx="3154680" cy="320040"/>
          </a:xfrm>
          <a:prstGeom prst="rect">
            <a:avLst/>
          </a:prstGeom>
          <a:noFill/>
          <a:ln/>
        </p:spPr>
        <p:txBody>
          <a:bodyPr wrap="square" lIns="0" tIns="0" rIns="0" bIns="0" rtlCol="0" anchor="ctr"/>
          <a:lstStyle/>
          <a:p>
            <a:pPr algn="ctr" indent="0" marL="0">
              <a:buNone/>
            </a:pPr>
            <a:r>
              <a:rPr lang="en-US" sz="1200" i="1" dirty="0">
                <a:solidFill>
                  <a:srgbClr val="003DA5"/>
                </a:solidFill>
                <a:latin typeface="Calibri" pitchFamily="34" charset="0"/>
                <a:ea typeface="Calibri" pitchFamily="34" charset="-122"/>
                <a:cs typeface="Calibri" pitchFamily="34" charset="-120"/>
              </a:rPr>
              <a:t>What the system hasn't seen before</a:t>
            </a:r>
            <a:endParaRPr lang="en-US" sz="1200" dirty="0"/>
          </a:p>
        </p:txBody>
      </p:sp>
      <p:sp>
        <p:nvSpPr>
          <p:cNvPr id="27" name="Shape 22"/>
          <p:cNvSpPr/>
          <p:nvPr/>
        </p:nvSpPr>
        <p:spPr>
          <a:xfrm>
            <a:off x="9720072" y="4343400"/>
            <a:ext cx="457200" cy="22860"/>
          </a:xfrm>
          <a:prstGeom prst="rect">
            <a:avLst/>
          </a:prstGeom>
          <a:solidFill>
            <a:srgbClr val="FFC72C"/>
          </a:solidFill>
          <a:ln w="12700">
            <a:solidFill>
              <a:srgbClr val="FFC72C"/>
            </a:solidFill>
            <a:prstDash val="solid"/>
          </a:ln>
        </p:spPr>
      </p:sp>
      <p:sp>
        <p:nvSpPr>
          <p:cNvPr id="28" name="Text 23"/>
          <p:cNvSpPr/>
          <p:nvPr/>
        </p:nvSpPr>
        <p:spPr>
          <a:xfrm>
            <a:off x="8417052" y="4480560"/>
            <a:ext cx="3063240" cy="1097280"/>
          </a:xfrm>
          <a:prstGeom prst="rect">
            <a:avLst/>
          </a:prstGeom>
          <a:noFill/>
          <a:ln/>
        </p:spPr>
        <p:txBody>
          <a:bodyPr wrap="square" lIns="0" tIns="0" rIns="0" bIns="0" rtlCol="0" anchor="t"/>
          <a:lstStyle/>
          <a:p>
            <a:pPr indent="0" marL="0">
              <a:buNone/>
            </a:pPr>
            <a:r>
              <a:rPr lang="en-US" sz="1150" dirty="0">
                <a:solidFill>
                  <a:srgbClr val="1A1F36"/>
                </a:solidFill>
                <a:latin typeface="Calibri" pitchFamily="34" charset="0"/>
                <a:ea typeface="Calibri" pitchFamily="34" charset="-122"/>
                <a:cs typeface="Calibri" pitchFamily="34" charset="-120"/>
              </a:rPr>
              <a:t>Genuinely new failure modes, multi-product cascades, zero-days with no patch, capacity strategy, regulator conversations. The codified system arms humans with telemetry, blast-radius data, and rollback levers — diagnosis is still human.</a:t>
            </a:r>
            <a:endParaRPr lang="en-US" sz="1150" dirty="0"/>
          </a:p>
        </p:txBody>
      </p:sp>
      <p:sp>
        <p:nvSpPr>
          <p:cNvPr id="29" name="Text 24"/>
          <p:cNvSpPr/>
          <p:nvPr/>
        </p:nvSpPr>
        <p:spPr>
          <a:xfrm>
            <a:off x="457200" y="6035040"/>
            <a:ext cx="11247120" cy="320040"/>
          </a:xfrm>
          <a:prstGeom prst="rect">
            <a:avLst/>
          </a:prstGeom>
          <a:noFill/>
          <a:ln/>
        </p:spPr>
        <p:txBody>
          <a:bodyPr wrap="square" lIns="0" tIns="0" rIns="0" bIns="0" rtlCol="0" anchor="ctr"/>
          <a:lstStyle/>
          <a:p>
            <a:pPr algn="ctr" indent="0" marL="0">
              <a:buNone/>
            </a:pPr>
            <a:r>
              <a:rPr lang="en-US" sz="1300" dirty="0">
                <a:solidFill>
                  <a:srgbClr val="1A1F36"/>
                </a:solidFill>
                <a:latin typeface="Calibri" pitchFamily="34" charset="0"/>
                <a:ea typeface="Calibri" pitchFamily="34" charset="-122"/>
                <a:cs typeface="Calibri" pitchFamily="34" charset="-120"/>
              </a:rPr>
              <a:t>If it's recurring and not codified, </a:t>
            </a:r>
            <a:pPr algn="ctr" indent="0" marL="0">
              <a:buNone/>
            </a:pPr>
            <a:r>
              <a:rPr lang="en-US" sz="1300" b="1" i="1" dirty="0">
                <a:solidFill>
                  <a:srgbClr val="003DA5"/>
                </a:solidFill>
                <a:latin typeface="Calibri" pitchFamily="34" charset="0"/>
                <a:ea typeface="Calibri" pitchFamily="34" charset="-122"/>
                <a:cs typeface="Calibri" pitchFamily="34" charset="-120"/>
              </a:rPr>
              <a:t>it's a backlog item — not a job description.</a:t>
            </a:r>
            <a:endParaRPr lang="en-US" sz="1300" dirty="0"/>
          </a:p>
        </p:txBody>
      </p:sp>
      <p:sp>
        <p:nvSpPr>
          <p:cNvPr id="30" name="Shape 25"/>
          <p:cNvSpPr/>
          <p:nvPr/>
        </p:nvSpPr>
        <p:spPr>
          <a:xfrm>
            <a:off x="0" y="6537960"/>
            <a:ext cx="12161520" cy="18288"/>
          </a:xfrm>
          <a:prstGeom prst="rect">
            <a:avLst/>
          </a:prstGeom>
          <a:solidFill>
            <a:srgbClr val="D8DEE9"/>
          </a:solidFill>
          <a:ln w="12700">
            <a:solidFill>
              <a:srgbClr val="D8DEE9"/>
            </a:solidFill>
            <a:prstDash val="solid"/>
          </a:ln>
        </p:spPr>
      </p:sp>
      <p:sp>
        <p:nvSpPr>
          <p:cNvPr id="31" name="Text 26"/>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32" name="Text 27"/>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TRANSFORMATION</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Old world vs new world — the same activities, re-shaped</a:t>
            </a:r>
            <a:endParaRPr lang="en-US" sz="2800" dirty="0"/>
          </a:p>
        </p:txBody>
      </p:sp>
      <p:sp>
        <p:nvSpPr>
          <p:cNvPr id="4" name="Text 2"/>
          <p:cNvSpPr/>
          <p:nvPr/>
        </p:nvSpPr>
        <p:spPr>
          <a:xfrm>
            <a:off x="457200" y="1325880"/>
            <a:ext cx="11247120" cy="365760"/>
          </a:xfrm>
          <a:prstGeom prst="rect">
            <a:avLst/>
          </a:prstGeom>
          <a:noFill/>
          <a:ln/>
        </p:spPr>
        <p:txBody>
          <a:bodyPr wrap="square" lIns="0" tIns="0" rIns="0" bIns="0" rtlCol="0" anchor="ctr"/>
          <a:lstStyle/>
          <a:p>
            <a:pPr indent="0" marL="0">
              <a:buNone/>
            </a:pPr>
            <a:r>
              <a:rPr lang="en-US" sz="1250" i="1" dirty="0">
                <a:solidFill>
                  <a:srgbClr val="5B6478"/>
                </a:solidFill>
                <a:latin typeface="Calibri" pitchFamily="34" charset="0"/>
                <a:ea typeface="Calibri" pitchFamily="34" charset="-122"/>
                <a:cs typeface="Calibri" pitchFamily="34" charset="-120"/>
              </a:rPr>
              <a:t>Every operational concern still exists. Where it lives, who owns it, and how fast it moves are what change.</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47120" cy="914400"/>
        </p:xfrm>
        <a:graphic>
          <a:graphicData uri="http://schemas.openxmlformats.org/drawingml/2006/table">
            <a:tbl>
              <a:tblPr/>
              <a:tblGrid>
                <a:gridCol w="2377440"/>
                <a:gridCol w="4434840"/>
                <a:gridCol w="4434840"/>
              </a:tblGrid>
              <a:tr h="347472">
                <a:tc>
                  <a:txBody>
                    <a:bodyPr/>
                    <a:lstStyle/>
                    <a:p>
                      <a:pPr algn="l" indent="0" marL="0">
                        <a:buNone/>
                      </a:pPr>
                      <a:r>
                        <a:rPr lang="en-US" sz="1050" b="1" spc="200" kern="0" dirty="0">
                          <a:solidFill>
                            <a:srgbClr val="FFFFFF"/>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03DA5"/>
                    </a:solidFill>
                  </a:tcPr>
                </a:tc>
                <a:tc>
                  <a:txBody>
                    <a:bodyPr/>
                    <a:lstStyle/>
                    <a:p>
                      <a:pPr algn="l" indent="0" marL="0">
                        <a:buNone/>
                      </a:pPr>
                      <a:r>
                        <a:rPr lang="en-US" sz="1050" b="1" spc="200" kern="0" dirty="0">
                          <a:solidFill>
                            <a:srgbClr val="FFFFFF"/>
                          </a:solidFill>
                          <a:latin typeface="Calibri" pitchFamily="34" charset="0"/>
                          <a:ea typeface="Calibri" pitchFamily="34" charset="-122"/>
                          <a:cs typeface="Calibri" pitchFamily="34" charset="-120"/>
                        </a:rPr>
                        <a:t>OLD WORLD</a:t>
                      </a:r>
                      <a:endParaRPr lang="en-US" sz="10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8A2B30"/>
                    </a:solidFill>
                  </a:tcPr>
                </a:tc>
                <a:tc>
                  <a:txBody>
                    <a:bodyPr/>
                    <a:lstStyle/>
                    <a:p>
                      <a:pPr algn="l" indent="0" marL="0">
                        <a:buNone/>
                      </a:pPr>
                      <a:r>
                        <a:rPr lang="en-US" sz="1050" b="1" spc="200" kern="0" dirty="0">
                          <a:solidFill>
                            <a:srgbClr val="FFFFFF"/>
                          </a:solidFill>
                          <a:latin typeface="Calibri" pitchFamily="34" charset="0"/>
                          <a:ea typeface="Calibri" pitchFamily="34" charset="-122"/>
                          <a:cs typeface="Calibri" pitchFamily="34" charset="-120"/>
                        </a:rPr>
                        <a:t>NEW WORLD</a:t>
                      </a:r>
                      <a:endParaRPr lang="en-US" sz="10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02060"/>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Certification artifact</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PDFs, Confluence pages, support matrices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Code in Git: modules, policies, golden images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Standards enforcement</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Audit after the fact; exception forms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Policy-as-code; every change gated pre-merge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Provisioning &amp; scaling</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Ticket to ops; manual steps; days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Self-service module + variable change; minutes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Patching &amp; CVE response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Manual coordination across teams; weeks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Pipeline-driven across fleet; hours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Drift detection</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Discovered at audit time, if at all</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Continuous detection + auto-remediation</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Compliance evidence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Screenshots, exports, gathered manually</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Continuously generated from platform state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Incident response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NOC triage; runbook execution; page humans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AI predicts, prevents, auto-triages — humans handle novel</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Knowledge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Tribal; runbooks; SME-dependent</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Versioned code; reviewable; portable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Team model</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Certification + Platform + Ops, separate orgs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One product engineering team per platform</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Accountability</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Diffused across three+ teams; finger-pointing</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One throat to choke per product</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bl>
          </a:graphicData>
        </a:graphic>
      </p:graphicFrame>
      <p:sp>
        <p:nvSpPr>
          <p:cNvPr id="6" name="Shape 3"/>
          <p:cNvSpPr/>
          <p:nvPr/>
        </p:nvSpPr>
        <p:spPr>
          <a:xfrm>
            <a:off x="457200" y="6035040"/>
            <a:ext cx="11247120" cy="411480"/>
          </a:xfrm>
          <a:prstGeom prst="rect">
            <a:avLst/>
          </a:prstGeom>
          <a:solidFill>
            <a:srgbClr val="002060"/>
          </a:solidFill>
          <a:ln w="12700">
            <a:solidFill>
              <a:srgbClr val="002060"/>
            </a:solidFill>
            <a:prstDash val="solid"/>
          </a:ln>
        </p:spPr>
      </p:sp>
      <p:sp>
        <p:nvSpPr>
          <p:cNvPr id="7" name="Shape 4"/>
          <p:cNvSpPr/>
          <p:nvPr/>
        </p:nvSpPr>
        <p:spPr>
          <a:xfrm>
            <a:off x="457200" y="6035040"/>
            <a:ext cx="73152" cy="411480"/>
          </a:xfrm>
          <a:prstGeom prst="rect">
            <a:avLst/>
          </a:prstGeom>
          <a:solidFill>
            <a:srgbClr val="FFC72C"/>
          </a:solidFill>
          <a:ln w="12700">
            <a:solidFill>
              <a:srgbClr val="FFC72C"/>
            </a:solidFill>
            <a:prstDash val="solid"/>
          </a:ln>
        </p:spPr>
      </p:sp>
      <p:sp>
        <p:nvSpPr>
          <p:cNvPr id="8" name="Text 5"/>
          <p:cNvSpPr/>
          <p:nvPr/>
        </p:nvSpPr>
        <p:spPr>
          <a:xfrm>
            <a:off x="685800" y="6035040"/>
            <a:ext cx="1097280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Same activities. Same regulators. Same risks.  </a:t>
            </a:r>
            <a:pPr indent="0" marL="0">
              <a:buNone/>
            </a:pPr>
            <a:r>
              <a:rPr lang="en-US" sz="1200" i="1" dirty="0">
                <a:solidFill>
                  <a:srgbClr val="FFC72C"/>
                </a:solidFill>
                <a:latin typeface="Calibri" pitchFamily="34" charset="0"/>
                <a:ea typeface="Calibri" pitchFamily="34" charset="-122"/>
                <a:cs typeface="Calibri" pitchFamily="34" charset="-120"/>
              </a:rPr>
              <a:t>Different operating model — and the speed difference is the business case.</a:t>
            </a:r>
            <a:endParaRPr lang="en-US" sz="1200" dirty="0"/>
          </a:p>
        </p:txBody>
      </p:sp>
      <p:sp>
        <p:nvSpPr>
          <p:cNvPr id="9" name="Shape 6"/>
          <p:cNvSpPr/>
          <p:nvPr/>
        </p:nvSpPr>
        <p:spPr>
          <a:xfrm>
            <a:off x="0" y="6537960"/>
            <a:ext cx="12161520" cy="18288"/>
          </a:xfrm>
          <a:prstGeom prst="rect">
            <a:avLst/>
          </a:prstGeom>
          <a:solidFill>
            <a:srgbClr val="D8DEE9"/>
          </a:solidFill>
          <a:ln w="12700">
            <a:solidFill>
              <a:srgbClr val="D8DEE9"/>
            </a:solidFill>
            <a:prstDash val="solid"/>
          </a:ln>
        </p:spPr>
      </p:sp>
      <p:sp>
        <p:nvSpPr>
          <p:cNvPr id="10" name="Text 7"/>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11" name="Text 8"/>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ORG SHAPE</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Vertical pods own products. Horizontals own the leverage.</a:t>
            </a:r>
            <a:endParaRPr lang="en-US" sz="2800" dirty="0"/>
          </a:p>
        </p:txBody>
      </p:sp>
      <p:sp>
        <p:nvSpPr>
          <p:cNvPr id="4" name="Text 2"/>
          <p:cNvSpPr/>
          <p:nvPr/>
        </p:nvSpPr>
        <p:spPr>
          <a:xfrm>
            <a:off x="457200" y="1325880"/>
            <a:ext cx="11247120" cy="502920"/>
          </a:xfrm>
          <a:prstGeom prst="rect">
            <a:avLst/>
          </a:prstGeom>
          <a:noFill/>
          <a:ln/>
        </p:spPr>
        <p:txBody>
          <a:bodyPr wrap="square" lIns="0" tIns="0" rIns="0" bIns="0" rtlCol="0" anchor="ctr"/>
          <a:lstStyle/>
          <a:p>
            <a:pPr indent="0" marL="0">
              <a:buNone/>
            </a:pPr>
            <a:r>
              <a:rPr lang="en-US" sz="1250" i="1" dirty="0">
                <a:solidFill>
                  <a:srgbClr val="5B6478"/>
                </a:solidFill>
                <a:latin typeface="Calibri" pitchFamily="34" charset="0"/>
                <a:ea typeface="Calibri" pitchFamily="34" charset="-122"/>
                <a:cs typeface="Calibri" pitchFamily="34" charset="-120"/>
              </a:rPr>
              <a:t>Not everything belongs in a pod. Some capabilities are deliberately shared because they only work when they see the whole estate — and one voice, not twelve, faces the regulator.</a:t>
            </a:r>
            <a:endParaRPr lang="en-US" sz="1250" dirty="0"/>
          </a:p>
        </p:txBody>
      </p:sp>
      <p:sp>
        <p:nvSpPr>
          <p:cNvPr id="5" name="Shape 3"/>
          <p:cNvSpPr/>
          <p:nvPr/>
        </p:nvSpPr>
        <p:spPr>
          <a:xfrm>
            <a:off x="457200" y="1965960"/>
            <a:ext cx="5532120" cy="36576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457200" y="1965960"/>
            <a:ext cx="5532120" cy="109728"/>
          </a:xfrm>
          <a:prstGeom prst="rect">
            <a:avLst/>
          </a:prstGeom>
          <a:solidFill>
            <a:srgbClr val="003DA5"/>
          </a:solidFill>
          <a:ln w="12700">
            <a:solidFill>
              <a:srgbClr val="003DA5"/>
            </a:solidFill>
            <a:prstDash val="solid"/>
          </a:ln>
        </p:spPr>
      </p:sp>
      <p:sp>
        <p:nvSpPr>
          <p:cNvPr id="7" name="Text 5"/>
          <p:cNvSpPr/>
          <p:nvPr/>
        </p:nvSpPr>
        <p:spPr>
          <a:xfrm>
            <a:off x="731520" y="2167128"/>
            <a:ext cx="498348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VERTICAL</a:t>
            </a:r>
            <a:endParaRPr lang="en-US" sz="1000" dirty="0"/>
          </a:p>
        </p:txBody>
      </p:sp>
      <p:sp>
        <p:nvSpPr>
          <p:cNvPr id="8" name="Text 6"/>
          <p:cNvSpPr/>
          <p:nvPr/>
        </p:nvSpPr>
        <p:spPr>
          <a:xfrm>
            <a:off x="731520" y="2423160"/>
            <a:ext cx="4983480" cy="457200"/>
          </a:xfrm>
          <a:prstGeom prst="rect">
            <a:avLst/>
          </a:prstGeom>
          <a:noFill/>
          <a:ln/>
        </p:spPr>
        <p:txBody>
          <a:bodyPr wrap="square" lIns="0" tIns="0" rIns="0" bIns="0" rtlCol="0" anchor="ctr"/>
          <a:lstStyle/>
          <a:p>
            <a:pPr indent="0" marL="0">
              <a:buNone/>
            </a:pPr>
            <a:r>
              <a:rPr lang="en-US" sz="2000" b="1" dirty="0">
                <a:solidFill>
                  <a:srgbClr val="1A1F36"/>
                </a:solidFill>
                <a:latin typeface="Georgia" pitchFamily="34" charset="0"/>
                <a:ea typeface="Georgia" pitchFamily="34" charset="-122"/>
                <a:cs typeface="Georgia" pitchFamily="34" charset="-120"/>
              </a:rPr>
              <a:t>Pods own products end-to-end</a:t>
            </a:r>
            <a:endParaRPr lang="en-US" sz="2000" dirty="0"/>
          </a:p>
        </p:txBody>
      </p:sp>
      <p:sp>
        <p:nvSpPr>
          <p:cNvPr id="9" name="Text 7"/>
          <p:cNvSpPr/>
          <p:nvPr/>
        </p:nvSpPr>
        <p:spPr>
          <a:xfrm>
            <a:off x="731520" y="2880360"/>
            <a:ext cx="498348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One team carries the pager for one platform.</a:t>
            </a:r>
            <a:endParaRPr lang="en-US" sz="1200" dirty="0"/>
          </a:p>
        </p:txBody>
      </p:sp>
      <p:sp>
        <p:nvSpPr>
          <p:cNvPr id="10" name="Shape 8"/>
          <p:cNvSpPr/>
          <p:nvPr/>
        </p:nvSpPr>
        <p:spPr>
          <a:xfrm>
            <a:off x="731520" y="3246120"/>
            <a:ext cx="365760" cy="22860"/>
          </a:xfrm>
          <a:prstGeom prst="rect">
            <a:avLst/>
          </a:prstGeom>
          <a:solidFill>
            <a:srgbClr val="FFC72C"/>
          </a:solidFill>
          <a:ln w="12700">
            <a:solidFill>
              <a:srgbClr val="FFC72C"/>
            </a:solidFill>
            <a:prstDash val="solid"/>
          </a:ln>
        </p:spPr>
      </p:sp>
      <p:sp>
        <p:nvSpPr>
          <p:cNvPr id="11" name="Text 9"/>
          <p:cNvSpPr/>
          <p:nvPr/>
        </p:nvSpPr>
        <p:spPr>
          <a:xfrm>
            <a:off x="777240" y="3383280"/>
            <a:ext cx="4892040" cy="1828800"/>
          </a:xfrm>
          <a:prstGeom prst="rect">
            <a:avLst/>
          </a:prstGeom>
          <a:noFill/>
          <a:ln/>
        </p:spPr>
        <p:txBody>
          <a:bodyPr wrap="square" lIns="0" tIns="0" rIns="0" bIns="0" rtlCol="0" anchor="t"/>
          <a:lstStyle/>
          <a:p>
            <a:pPr indent="0" marL="0">
              <a:spcAft>
                <a:spcPts val="200"/>
              </a:spcAft>
              <a:buNone/>
            </a:pPr>
            <a:r>
              <a:rPr lang="en-US" sz="1150" b="1" dirty="0">
                <a:solidFill>
                  <a:srgbClr val="1A1F36"/>
                </a:solidFill>
                <a:latin typeface="Calibri" pitchFamily="34" charset="0"/>
                <a:ea typeface="Calibri" pitchFamily="34" charset="-122"/>
                <a:cs typeface="Calibri" pitchFamily="34" charset="-120"/>
              </a:rPr>
              <a:t>Postgres pod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Aurora-like modules, pgaudit policy, patch workflow</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Linux pod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golden images, CIS roles, kernel-CVE pipelines</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Kafka pod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cluster topology, ACL policy, rolling-restart workflow</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Kubernetes pod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cluster API, admission policy, upgrade automation</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Storage / Networking pods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same pattern, per platform</a:t>
            </a:r>
            <a:endParaRPr lang="en-US" sz="1150" dirty="0"/>
          </a:p>
        </p:txBody>
      </p:sp>
      <p:sp>
        <p:nvSpPr>
          <p:cNvPr id="12" name="Shape 10"/>
          <p:cNvSpPr/>
          <p:nvPr/>
        </p:nvSpPr>
        <p:spPr>
          <a:xfrm>
            <a:off x="457200" y="5120640"/>
            <a:ext cx="5532120" cy="502920"/>
          </a:xfrm>
          <a:prstGeom prst="rect">
            <a:avLst/>
          </a:prstGeom>
          <a:solidFill>
            <a:srgbClr val="F4F6FA"/>
          </a:solidFill>
          <a:ln w="12700">
            <a:solidFill>
              <a:srgbClr val="F4F6FA"/>
            </a:solidFill>
            <a:prstDash val="solid"/>
          </a:ln>
        </p:spPr>
      </p:sp>
      <p:sp>
        <p:nvSpPr>
          <p:cNvPr id="13" name="Text 11"/>
          <p:cNvSpPr/>
          <p:nvPr/>
        </p:nvSpPr>
        <p:spPr>
          <a:xfrm>
            <a:off x="731520" y="5120640"/>
            <a:ext cx="4983480" cy="502920"/>
          </a:xfrm>
          <a:prstGeom prst="rect">
            <a:avLst/>
          </a:prstGeom>
          <a:noFill/>
          <a:ln/>
        </p:spPr>
        <p:txBody>
          <a:bodyPr wrap="square" lIns="0" tIns="0" rIns="0" bIns="0" rtlCol="0" anchor="ctr"/>
          <a:lstStyle/>
          <a:p>
            <a:pPr indent="0" marL="0">
              <a:buNone/>
            </a:pPr>
            <a:r>
              <a:rPr lang="en-US" sz="1000" b="1" spc="300" kern="0" dirty="0">
                <a:solidFill>
                  <a:srgbClr val="003DA5"/>
                </a:solidFill>
                <a:latin typeface="Calibri" pitchFamily="34" charset="0"/>
                <a:ea typeface="Calibri" pitchFamily="34" charset="-122"/>
                <a:cs typeface="Calibri" pitchFamily="34" charset="-120"/>
              </a:rPr>
              <a:t>TEST: </a:t>
            </a:r>
            <a:pPr indent="0" marL="0">
              <a:buNone/>
            </a:pPr>
            <a:r>
              <a:rPr lang="en-US" sz="1100" dirty="0">
                <a:solidFill>
                  <a:srgbClr val="1A1F36"/>
                </a:solidFill>
                <a:latin typeface="Calibri" pitchFamily="34" charset="0"/>
                <a:ea typeface="Calibri" pitchFamily="34" charset="-122"/>
                <a:cs typeface="Calibri" pitchFamily="34" charset="-120"/>
              </a:rPr>
              <a:t>carries the pager for one platform?  </a:t>
            </a:r>
            <a:pPr indent="0" marL="0">
              <a:buNone/>
            </a:pPr>
            <a:r>
              <a:rPr lang="en-US" sz="1100" b="1" i="1" dirty="0">
                <a:solidFill>
                  <a:srgbClr val="003DA5"/>
                </a:solidFill>
                <a:latin typeface="Calibri" pitchFamily="34" charset="0"/>
                <a:ea typeface="Calibri" pitchFamily="34" charset="-122"/>
                <a:cs typeface="Calibri" pitchFamily="34" charset="-120"/>
              </a:rPr>
              <a:t>→ vertical, in a pod</a:t>
            </a:r>
            <a:endParaRPr lang="en-US" sz="1000" dirty="0"/>
          </a:p>
        </p:txBody>
      </p:sp>
      <p:sp>
        <p:nvSpPr>
          <p:cNvPr id="14" name="Shape 12"/>
          <p:cNvSpPr/>
          <p:nvPr/>
        </p:nvSpPr>
        <p:spPr>
          <a:xfrm>
            <a:off x="6172200" y="1965960"/>
            <a:ext cx="5532120" cy="36576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6172200" y="1965960"/>
            <a:ext cx="5532120" cy="109728"/>
          </a:xfrm>
          <a:prstGeom prst="rect">
            <a:avLst/>
          </a:prstGeom>
          <a:solidFill>
            <a:srgbClr val="FFC72C"/>
          </a:solidFill>
          <a:ln w="12700">
            <a:solidFill>
              <a:srgbClr val="FFC72C"/>
            </a:solidFill>
            <a:prstDash val="solid"/>
          </a:ln>
        </p:spPr>
      </p:sp>
      <p:sp>
        <p:nvSpPr>
          <p:cNvPr id="16" name="Text 14"/>
          <p:cNvSpPr/>
          <p:nvPr/>
        </p:nvSpPr>
        <p:spPr>
          <a:xfrm>
            <a:off x="6446520" y="2167128"/>
            <a:ext cx="4983480" cy="274320"/>
          </a:xfrm>
          <a:prstGeom prst="rect">
            <a:avLst/>
          </a:prstGeom>
          <a:noFill/>
          <a:ln/>
        </p:spPr>
        <p:txBody>
          <a:bodyPr wrap="square" lIns="0" tIns="0" rIns="0" bIns="0" rtlCol="0" anchor="ctr"/>
          <a:lstStyle/>
          <a:p>
            <a:pPr indent="0" marL="0">
              <a:buNone/>
            </a:pPr>
            <a:r>
              <a:rPr lang="en-US" sz="1000" b="1" spc="400" kern="0" dirty="0">
                <a:solidFill>
                  <a:srgbClr val="E0A800"/>
                </a:solidFill>
                <a:latin typeface="Calibri" pitchFamily="34" charset="0"/>
                <a:ea typeface="Calibri" pitchFamily="34" charset="-122"/>
                <a:cs typeface="Calibri" pitchFamily="34" charset="-120"/>
              </a:rPr>
              <a:t>HORIZONTAL</a:t>
            </a:r>
            <a:endParaRPr lang="en-US" sz="1000" dirty="0"/>
          </a:p>
        </p:txBody>
      </p:sp>
      <p:sp>
        <p:nvSpPr>
          <p:cNvPr id="17" name="Text 15"/>
          <p:cNvSpPr/>
          <p:nvPr/>
        </p:nvSpPr>
        <p:spPr>
          <a:xfrm>
            <a:off x="6446520" y="2423160"/>
            <a:ext cx="4983480" cy="457200"/>
          </a:xfrm>
          <a:prstGeom prst="rect">
            <a:avLst/>
          </a:prstGeom>
          <a:noFill/>
          <a:ln/>
        </p:spPr>
        <p:txBody>
          <a:bodyPr wrap="square" lIns="0" tIns="0" rIns="0" bIns="0" rtlCol="0" anchor="ctr"/>
          <a:lstStyle/>
          <a:p>
            <a:pPr indent="0" marL="0">
              <a:buNone/>
            </a:pPr>
            <a:r>
              <a:rPr lang="en-US" sz="2000" b="1" dirty="0">
                <a:solidFill>
                  <a:srgbClr val="1A1F36"/>
                </a:solidFill>
                <a:latin typeface="Georgia" pitchFamily="34" charset="0"/>
                <a:ea typeface="Georgia" pitchFamily="34" charset="-122"/>
                <a:cs typeface="Georgia" pitchFamily="34" charset="-120"/>
              </a:rPr>
              <a:t>Shared functions own the leverage</a:t>
            </a:r>
            <a:endParaRPr lang="en-US" sz="2000" dirty="0"/>
          </a:p>
        </p:txBody>
      </p:sp>
      <p:sp>
        <p:nvSpPr>
          <p:cNvPr id="18" name="Text 16"/>
          <p:cNvSpPr/>
          <p:nvPr/>
        </p:nvSpPr>
        <p:spPr>
          <a:xfrm>
            <a:off x="6446520" y="2880360"/>
            <a:ext cx="498348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Define the bar; aggregate the signal; pods implement.</a:t>
            </a:r>
            <a:endParaRPr lang="en-US" sz="1200" dirty="0"/>
          </a:p>
        </p:txBody>
      </p:sp>
      <p:sp>
        <p:nvSpPr>
          <p:cNvPr id="19" name="Shape 17"/>
          <p:cNvSpPr/>
          <p:nvPr/>
        </p:nvSpPr>
        <p:spPr>
          <a:xfrm>
            <a:off x="6446520" y="3246120"/>
            <a:ext cx="365760" cy="22860"/>
          </a:xfrm>
          <a:prstGeom prst="rect">
            <a:avLst/>
          </a:prstGeom>
          <a:solidFill>
            <a:srgbClr val="FFC72C"/>
          </a:solidFill>
          <a:ln w="12700">
            <a:solidFill>
              <a:srgbClr val="FFC72C"/>
            </a:solidFill>
            <a:prstDash val="solid"/>
          </a:ln>
        </p:spPr>
      </p:sp>
      <p:sp>
        <p:nvSpPr>
          <p:cNvPr id="20" name="Text 18"/>
          <p:cNvSpPr/>
          <p:nvPr/>
        </p:nvSpPr>
        <p:spPr>
          <a:xfrm>
            <a:off x="6492240" y="3383280"/>
            <a:ext cx="4892040" cy="1828800"/>
          </a:xfrm>
          <a:prstGeom prst="rect">
            <a:avLst/>
          </a:prstGeom>
          <a:noFill/>
          <a:ln/>
        </p:spPr>
        <p:txBody>
          <a:bodyPr wrap="square" lIns="0" tIns="0" rIns="0" bIns="0" rtlCol="0" anchor="t"/>
          <a:lstStyle/>
          <a:p>
            <a:pPr indent="0" marL="0">
              <a:spcAft>
                <a:spcPts val="200"/>
              </a:spcAft>
              <a:buNone/>
            </a:pPr>
            <a:r>
              <a:rPr lang="en-US" sz="1150" b="1" dirty="0">
                <a:solidFill>
                  <a:srgbClr val="1A1F36"/>
                </a:solidFill>
                <a:latin typeface="Calibri" pitchFamily="34" charset="0"/>
                <a:ea typeface="Calibri" pitchFamily="34" charset="-122"/>
                <a:cs typeface="Calibri" pitchFamily="34" charset="-120"/>
              </a:rPr>
              <a:t>Compliance &amp; Audit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one control catalog, one evidence schema, one regulator voice</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Optimize / FinOps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cross-platform cost &amp; utilization; right-size, reap, reserve</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Platform Governance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principles, identity, network, security baseline</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Shared Tooling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IaC backplane, OPA bundles, pipelines, observability</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SRE Practice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error budgets, chaos, incident command, learning</a:t>
            </a:r>
            <a:endParaRPr lang="en-US" sz="1150" dirty="0"/>
          </a:p>
        </p:txBody>
      </p:sp>
      <p:sp>
        <p:nvSpPr>
          <p:cNvPr id="21" name="Shape 19"/>
          <p:cNvSpPr/>
          <p:nvPr/>
        </p:nvSpPr>
        <p:spPr>
          <a:xfrm>
            <a:off x="6172200" y="5120640"/>
            <a:ext cx="5532120" cy="502920"/>
          </a:xfrm>
          <a:prstGeom prst="rect">
            <a:avLst/>
          </a:prstGeom>
          <a:solidFill>
            <a:srgbClr val="FFF6E0"/>
          </a:solidFill>
          <a:ln w="12700">
            <a:solidFill>
              <a:srgbClr val="FFF6E0"/>
            </a:solidFill>
            <a:prstDash val="solid"/>
          </a:ln>
        </p:spPr>
      </p:sp>
      <p:sp>
        <p:nvSpPr>
          <p:cNvPr id="22" name="Text 20"/>
          <p:cNvSpPr/>
          <p:nvPr/>
        </p:nvSpPr>
        <p:spPr>
          <a:xfrm>
            <a:off x="6446520" y="5120640"/>
            <a:ext cx="4983480" cy="502920"/>
          </a:xfrm>
          <a:prstGeom prst="rect">
            <a:avLst/>
          </a:prstGeom>
          <a:noFill/>
          <a:ln/>
        </p:spPr>
        <p:txBody>
          <a:bodyPr wrap="square" lIns="0" tIns="0" rIns="0" bIns="0" rtlCol="0" anchor="ctr"/>
          <a:lstStyle/>
          <a:p>
            <a:pPr indent="0" marL="0">
              <a:buNone/>
            </a:pPr>
            <a:r>
              <a:rPr lang="en-US" sz="1000" b="1" spc="300" kern="0" dirty="0">
                <a:solidFill>
                  <a:srgbClr val="E0A800"/>
                </a:solidFill>
                <a:latin typeface="Calibri" pitchFamily="34" charset="0"/>
                <a:ea typeface="Calibri" pitchFamily="34" charset="-122"/>
                <a:cs typeface="Calibri" pitchFamily="34" charset="-120"/>
              </a:rPr>
              <a:t>TEST: </a:t>
            </a:r>
            <a:pPr indent="0" marL="0">
              <a:buNone/>
            </a:pPr>
            <a:r>
              <a:rPr lang="en-US" sz="1100" dirty="0">
                <a:solidFill>
                  <a:srgbClr val="1A1F36"/>
                </a:solidFill>
                <a:latin typeface="Calibri" pitchFamily="34" charset="0"/>
                <a:ea typeface="Calibri" pitchFamily="34" charset="-122"/>
                <a:cs typeface="Calibri" pitchFamily="34" charset="-120"/>
              </a:rPr>
              <a:t>leverage that makes every pod better?  </a:t>
            </a:r>
            <a:pPr indent="0" marL="0">
              <a:buNone/>
            </a:pPr>
            <a:r>
              <a:rPr lang="en-US" sz="1100" b="1" i="1" dirty="0">
                <a:solidFill>
                  <a:srgbClr val="E0A800"/>
                </a:solidFill>
                <a:latin typeface="Calibri" pitchFamily="34" charset="0"/>
                <a:ea typeface="Calibri" pitchFamily="34" charset="-122"/>
                <a:cs typeface="Calibri" pitchFamily="34" charset="-120"/>
              </a:rPr>
              <a:t>→ horizontal, shared</a:t>
            </a:r>
            <a:endParaRPr lang="en-US" sz="1000" dirty="0"/>
          </a:p>
        </p:txBody>
      </p:sp>
      <p:sp>
        <p:nvSpPr>
          <p:cNvPr id="23" name="Shape 21"/>
          <p:cNvSpPr/>
          <p:nvPr/>
        </p:nvSpPr>
        <p:spPr>
          <a:xfrm>
            <a:off x="457200" y="5943600"/>
            <a:ext cx="11247120" cy="502920"/>
          </a:xfrm>
          <a:prstGeom prst="rect">
            <a:avLst/>
          </a:prstGeom>
          <a:solidFill>
            <a:srgbClr val="002060"/>
          </a:solidFill>
          <a:ln w="12700">
            <a:solidFill>
              <a:srgbClr val="002060"/>
            </a:solidFill>
            <a:prstDash val="solid"/>
          </a:ln>
        </p:spPr>
      </p:sp>
      <p:sp>
        <p:nvSpPr>
          <p:cNvPr id="24" name="Shape 22"/>
          <p:cNvSpPr/>
          <p:nvPr/>
        </p:nvSpPr>
        <p:spPr>
          <a:xfrm>
            <a:off x="457200" y="5943600"/>
            <a:ext cx="73152" cy="502920"/>
          </a:xfrm>
          <a:prstGeom prst="rect">
            <a:avLst/>
          </a:prstGeom>
          <a:solidFill>
            <a:srgbClr val="FFC72C"/>
          </a:solidFill>
          <a:ln w="12700">
            <a:solidFill>
              <a:srgbClr val="FFC72C"/>
            </a:solidFill>
            <a:prstDash val="solid"/>
          </a:ln>
        </p:spPr>
      </p:sp>
      <p:sp>
        <p:nvSpPr>
          <p:cNvPr id="25" name="Text 23"/>
          <p:cNvSpPr/>
          <p:nvPr/>
        </p:nvSpPr>
        <p:spPr>
          <a:xfrm>
            <a:off x="685800" y="5943600"/>
            <a:ext cx="1097280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Horizontals don't run platforms — they shape how platforms get run.  </a:t>
            </a:r>
            <a:pPr indent="0" marL="0">
              <a:buNone/>
            </a:pPr>
            <a:r>
              <a:rPr lang="en-US" sz="1200" i="1" dirty="0">
                <a:solidFill>
                  <a:srgbClr val="FFC72C"/>
                </a:solidFill>
                <a:latin typeface="Calibri" pitchFamily="34" charset="0"/>
                <a:ea typeface="Calibri" pitchFamily="34" charset="-122"/>
                <a:cs typeface="Calibri" pitchFamily="34" charset="-120"/>
              </a:rPr>
              <a:t>Different function. Different team. Different job — not central engineering by another name.</a:t>
            </a:r>
            <a:endParaRPr lang="en-US" sz="1200" dirty="0"/>
          </a:p>
        </p:txBody>
      </p:sp>
      <p:sp>
        <p:nvSpPr>
          <p:cNvPr id="26" name="Shape 24"/>
          <p:cNvSpPr/>
          <p:nvPr/>
        </p:nvSpPr>
        <p:spPr>
          <a:xfrm>
            <a:off x="0" y="6537960"/>
            <a:ext cx="12161520" cy="18288"/>
          </a:xfrm>
          <a:prstGeom prst="rect">
            <a:avLst/>
          </a:prstGeom>
          <a:solidFill>
            <a:srgbClr val="D8DEE9"/>
          </a:solidFill>
          <a:ln w="12700">
            <a:solidFill>
              <a:srgbClr val="D8DEE9"/>
            </a:solidFill>
            <a:prstDash val="solid"/>
          </a:ln>
        </p:spPr>
      </p:sp>
      <p:sp>
        <p:nvSpPr>
          <p:cNvPr id="27" name="Text 25"/>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28" name="Text 26"/>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ANTI-PATTERN</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Why we run capabilities as horizontals, not as vertical silos</a:t>
            </a:r>
            <a:endParaRPr lang="en-US" sz="2800" dirty="0"/>
          </a:p>
        </p:txBody>
      </p:sp>
      <p:sp>
        <p:nvSpPr>
          <p:cNvPr id="4" name="Text 2"/>
          <p:cNvSpPr/>
          <p:nvPr/>
        </p:nvSpPr>
        <p:spPr>
          <a:xfrm>
            <a:off x="457200" y="1325880"/>
            <a:ext cx="11247120" cy="50292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IaC, engineering, compliance, asset, and optimize can each be built per-product (5 capabilities × N products of disjoint work) — or as horizontal layers built once and applied to all. Same boxes. Different topology.</a:t>
            </a:r>
            <a:endParaRPr lang="en-US" sz="1200" dirty="0"/>
          </a:p>
        </p:txBody>
      </p:sp>
      <p:sp>
        <p:nvSpPr>
          <p:cNvPr id="5" name="Shape 3"/>
          <p:cNvSpPr/>
          <p:nvPr/>
        </p:nvSpPr>
        <p:spPr>
          <a:xfrm>
            <a:off x="365760" y="1965960"/>
            <a:ext cx="5623560" cy="3703320"/>
          </a:xfrm>
          <a:prstGeom prst="rect">
            <a:avLst/>
          </a:prstGeom>
          <a:solidFill>
            <a:srgbClr val="FBEEF0"/>
          </a:solidFill>
          <a:ln w="6350">
            <a:solidFill>
              <a:srgbClr val="8A2B30"/>
            </a:solidFill>
            <a:prstDash val="solid"/>
          </a:ln>
        </p:spPr>
      </p:sp>
      <p:sp>
        <p:nvSpPr>
          <p:cNvPr id="6" name="Shape 4"/>
          <p:cNvSpPr/>
          <p:nvPr/>
        </p:nvSpPr>
        <p:spPr>
          <a:xfrm>
            <a:off x="365760" y="1965960"/>
            <a:ext cx="5623560" cy="411480"/>
          </a:xfrm>
          <a:prstGeom prst="rect">
            <a:avLst/>
          </a:prstGeom>
          <a:solidFill>
            <a:srgbClr val="8A2B30"/>
          </a:solidFill>
          <a:ln w="12700">
            <a:solidFill>
              <a:srgbClr val="8A2B30"/>
            </a:solidFill>
            <a:prstDash val="solid"/>
          </a:ln>
        </p:spPr>
      </p:sp>
      <p:sp>
        <p:nvSpPr>
          <p:cNvPr id="7" name="Text 5"/>
          <p:cNvSpPr/>
          <p:nvPr/>
        </p:nvSpPr>
        <p:spPr>
          <a:xfrm>
            <a:off x="548640" y="2011680"/>
            <a:ext cx="5257800" cy="32004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DISJOINT VERTICALS  —  the anti-pattern</a:t>
            </a:r>
            <a:endParaRPr lang="en-US" sz="1100" dirty="0"/>
          </a:p>
        </p:txBody>
      </p:sp>
      <p:sp>
        <p:nvSpPr>
          <p:cNvPr id="8" name="Text 6"/>
          <p:cNvSpPr/>
          <p:nvPr/>
        </p:nvSpPr>
        <p:spPr>
          <a:xfrm>
            <a:off x="155448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Postgres</a:t>
            </a:r>
            <a:endParaRPr lang="en-US" sz="900" dirty="0"/>
          </a:p>
        </p:txBody>
      </p:sp>
      <p:sp>
        <p:nvSpPr>
          <p:cNvPr id="9" name="Text 7"/>
          <p:cNvSpPr/>
          <p:nvPr/>
        </p:nvSpPr>
        <p:spPr>
          <a:xfrm>
            <a:off x="262890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Linux</a:t>
            </a:r>
            <a:endParaRPr lang="en-US" sz="900" dirty="0"/>
          </a:p>
        </p:txBody>
      </p:sp>
      <p:sp>
        <p:nvSpPr>
          <p:cNvPr id="10" name="Text 8"/>
          <p:cNvSpPr/>
          <p:nvPr/>
        </p:nvSpPr>
        <p:spPr>
          <a:xfrm>
            <a:off x="370332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Kafka</a:t>
            </a:r>
            <a:endParaRPr lang="en-US" sz="900" dirty="0"/>
          </a:p>
        </p:txBody>
      </p:sp>
      <p:sp>
        <p:nvSpPr>
          <p:cNvPr id="11" name="Text 9"/>
          <p:cNvSpPr/>
          <p:nvPr/>
        </p:nvSpPr>
        <p:spPr>
          <a:xfrm>
            <a:off x="477774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K8s</a:t>
            </a:r>
            <a:endParaRPr lang="en-US" sz="900" dirty="0"/>
          </a:p>
        </p:txBody>
      </p:sp>
      <p:sp>
        <p:nvSpPr>
          <p:cNvPr id="12" name="Text 10"/>
          <p:cNvSpPr/>
          <p:nvPr/>
        </p:nvSpPr>
        <p:spPr>
          <a:xfrm>
            <a:off x="548640" y="2834640"/>
            <a:ext cx="914400" cy="400507"/>
          </a:xfrm>
          <a:prstGeom prst="rect">
            <a:avLst/>
          </a:prstGeom>
          <a:noFill/>
          <a:ln/>
        </p:spPr>
        <p:txBody>
          <a:bodyPr wrap="square" lIns="0" tIns="0" rIns="0" bIns="0" rtlCol="0" anchor="ctr"/>
          <a:lstStyle/>
          <a:p>
            <a:pPr indent="0" marL="0">
              <a:buNone/>
            </a:pPr>
            <a:r>
              <a:rPr lang="en-US" sz="950" b="1" dirty="0">
                <a:solidFill>
                  <a:srgbClr val="9B5B00"/>
                </a:solidFill>
                <a:latin typeface="Calibri" pitchFamily="34" charset="0"/>
                <a:ea typeface="Calibri" pitchFamily="34" charset="-122"/>
                <a:cs typeface="Calibri" pitchFamily="34" charset="-120"/>
              </a:rPr>
              <a:t>Optimize</a:t>
            </a:r>
            <a:endParaRPr lang="en-US" sz="950" dirty="0"/>
          </a:p>
        </p:txBody>
      </p:sp>
      <p:sp>
        <p:nvSpPr>
          <p:cNvPr id="13" name="Shape 11"/>
          <p:cNvSpPr/>
          <p:nvPr/>
        </p:nvSpPr>
        <p:spPr>
          <a:xfrm>
            <a:off x="1554480" y="2834640"/>
            <a:ext cx="1028700" cy="400507"/>
          </a:xfrm>
          <a:prstGeom prst="rect">
            <a:avLst/>
          </a:prstGeom>
          <a:solidFill>
            <a:srgbClr val="FFFFFF"/>
          </a:solidFill>
          <a:ln w="9525">
            <a:solidFill>
              <a:srgbClr val="9B5B00"/>
            </a:solidFill>
            <a:prstDash val="solid"/>
          </a:ln>
        </p:spPr>
      </p:sp>
      <p:sp>
        <p:nvSpPr>
          <p:cNvPr id="14" name="Text 12"/>
          <p:cNvSpPr/>
          <p:nvPr/>
        </p:nvSpPr>
        <p:spPr>
          <a:xfrm>
            <a:off x="1554480" y="2834640"/>
            <a:ext cx="1028700" cy="400507"/>
          </a:xfrm>
          <a:prstGeom prst="rect">
            <a:avLst/>
          </a:prstGeom>
          <a:noFill/>
          <a:ln/>
        </p:spPr>
        <p:txBody>
          <a:bodyPr wrap="square" lIns="0" tIns="0" rIns="0" bIns="0" rtlCol="0" anchor="ctr"/>
          <a:lstStyle/>
          <a:p>
            <a:pPr algn="ctr" indent="0" marL="0">
              <a:buNone/>
            </a:pPr>
            <a:r>
              <a:rPr lang="en-US" sz="1100" b="1" dirty="0">
                <a:solidFill>
                  <a:srgbClr val="9B5B00"/>
                </a:solidFill>
                <a:latin typeface="Calibri" pitchFamily="34" charset="0"/>
                <a:ea typeface="Calibri" pitchFamily="34" charset="-122"/>
                <a:cs typeface="Calibri" pitchFamily="34" charset="-120"/>
              </a:rPr>
              <a:t>×</a:t>
            </a:r>
            <a:endParaRPr lang="en-US" sz="1100" dirty="0"/>
          </a:p>
        </p:txBody>
      </p:sp>
      <p:sp>
        <p:nvSpPr>
          <p:cNvPr id="15" name="Shape 13"/>
          <p:cNvSpPr/>
          <p:nvPr/>
        </p:nvSpPr>
        <p:spPr>
          <a:xfrm>
            <a:off x="2628900" y="2834640"/>
            <a:ext cx="1028700" cy="400507"/>
          </a:xfrm>
          <a:prstGeom prst="rect">
            <a:avLst/>
          </a:prstGeom>
          <a:solidFill>
            <a:srgbClr val="FFFFFF"/>
          </a:solidFill>
          <a:ln w="9525">
            <a:solidFill>
              <a:srgbClr val="9B5B00"/>
            </a:solidFill>
            <a:prstDash val="solid"/>
          </a:ln>
        </p:spPr>
      </p:sp>
      <p:sp>
        <p:nvSpPr>
          <p:cNvPr id="16" name="Text 14"/>
          <p:cNvSpPr/>
          <p:nvPr/>
        </p:nvSpPr>
        <p:spPr>
          <a:xfrm>
            <a:off x="2628900" y="2834640"/>
            <a:ext cx="1028700" cy="400507"/>
          </a:xfrm>
          <a:prstGeom prst="rect">
            <a:avLst/>
          </a:prstGeom>
          <a:noFill/>
          <a:ln/>
        </p:spPr>
        <p:txBody>
          <a:bodyPr wrap="square" lIns="0" tIns="0" rIns="0" bIns="0" rtlCol="0" anchor="ctr"/>
          <a:lstStyle/>
          <a:p>
            <a:pPr algn="ctr" indent="0" marL="0">
              <a:buNone/>
            </a:pPr>
            <a:r>
              <a:rPr lang="en-US" sz="1100" b="1" dirty="0">
                <a:solidFill>
                  <a:srgbClr val="9B5B00"/>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3703320" y="2834640"/>
            <a:ext cx="1028700" cy="400507"/>
          </a:xfrm>
          <a:prstGeom prst="rect">
            <a:avLst/>
          </a:prstGeom>
          <a:solidFill>
            <a:srgbClr val="FFFFFF"/>
          </a:solidFill>
          <a:ln w="9525">
            <a:solidFill>
              <a:srgbClr val="9B5B00"/>
            </a:solidFill>
            <a:prstDash val="solid"/>
          </a:ln>
        </p:spPr>
      </p:sp>
      <p:sp>
        <p:nvSpPr>
          <p:cNvPr id="18" name="Text 16"/>
          <p:cNvSpPr/>
          <p:nvPr/>
        </p:nvSpPr>
        <p:spPr>
          <a:xfrm>
            <a:off x="3703320" y="2834640"/>
            <a:ext cx="1028700" cy="400507"/>
          </a:xfrm>
          <a:prstGeom prst="rect">
            <a:avLst/>
          </a:prstGeom>
          <a:noFill/>
          <a:ln/>
        </p:spPr>
        <p:txBody>
          <a:bodyPr wrap="square" lIns="0" tIns="0" rIns="0" bIns="0" rtlCol="0" anchor="ctr"/>
          <a:lstStyle/>
          <a:p>
            <a:pPr algn="ctr" indent="0" marL="0">
              <a:buNone/>
            </a:pPr>
            <a:r>
              <a:rPr lang="en-US" sz="1100" b="1" dirty="0">
                <a:solidFill>
                  <a:srgbClr val="9B5B00"/>
                </a:solidFill>
                <a:latin typeface="Calibri" pitchFamily="34" charset="0"/>
                <a:ea typeface="Calibri" pitchFamily="34" charset="-122"/>
                <a:cs typeface="Calibri" pitchFamily="34" charset="-120"/>
              </a:rPr>
              <a:t>×</a:t>
            </a:r>
            <a:endParaRPr lang="en-US" sz="1100" dirty="0"/>
          </a:p>
        </p:txBody>
      </p:sp>
      <p:sp>
        <p:nvSpPr>
          <p:cNvPr id="19" name="Shape 17"/>
          <p:cNvSpPr/>
          <p:nvPr/>
        </p:nvSpPr>
        <p:spPr>
          <a:xfrm>
            <a:off x="4777740" y="2834640"/>
            <a:ext cx="1028700" cy="400507"/>
          </a:xfrm>
          <a:prstGeom prst="rect">
            <a:avLst/>
          </a:prstGeom>
          <a:solidFill>
            <a:srgbClr val="FFFFFF"/>
          </a:solidFill>
          <a:ln w="9525">
            <a:solidFill>
              <a:srgbClr val="9B5B00"/>
            </a:solidFill>
            <a:prstDash val="solid"/>
          </a:ln>
        </p:spPr>
      </p:sp>
      <p:sp>
        <p:nvSpPr>
          <p:cNvPr id="20" name="Text 18"/>
          <p:cNvSpPr/>
          <p:nvPr/>
        </p:nvSpPr>
        <p:spPr>
          <a:xfrm>
            <a:off x="4777740" y="2834640"/>
            <a:ext cx="1028700" cy="400507"/>
          </a:xfrm>
          <a:prstGeom prst="rect">
            <a:avLst/>
          </a:prstGeom>
          <a:noFill/>
          <a:ln/>
        </p:spPr>
        <p:txBody>
          <a:bodyPr wrap="square" lIns="0" tIns="0" rIns="0" bIns="0" rtlCol="0" anchor="ctr"/>
          <a:lstStyle/>
          <a:p>
            <a:pPr algn="ctr" indent="0" marL="0">
              <a:buNone/>
            </a:pPr>
            <a:r>
              <a:rPr lang="en-US" sz="1100" b="1" dirty="0">
                <a:solidFill>
                  <a:srgbClr val="9B5B00"/>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548640" y="3290011"/>
            <a:ext cx="914400" cy="400507"/>
          </a:xfrm>
          <a:prstGeom prst="rect">
            <a:avLst/>
          </a:prstGeom>
          <a:noFill/>
          <a:ln/>
        </p:spPr>
        <p:txBody>
          <a:bodyPr wrap="square" lIns="0" tIns="0" rIns="0" bIns="0" rtlCol="0" anchor="ctr"/>
          <a:lstStyle/>
          <a:p>
            <a:pPr indent="0" marL="0">
              <a:buNone/>
            </a:pPr>
            <a:r>
              <a:rPr lang="en-US" sz="950" b="1" dirty="0">
                <a:solidFill>
                  <a:srgbClr val="8A6500"/>
                </a:solidFill>
                <a:latin typeface="Calibri" pitchFamily="34" charset="0"/>
                <a:ea typeface="Calibri" pitchFamily="34" charset="-122"/>
                <a:cs typeface="Calibri" pitchFamily="34" charset="-120"/>
              </a:rPr>
              <a:t>Asset</a:t>
            </a:r>
            <a:endParaRPr lang="en-US" sz="950" dirty="0"/>
          </a:p>
        </p:txBody>
      </p:sp>
      <p:sp>
        <p:nvSpPr>
          <p:cNvPr id="22" name="Shape 20"/>
          <p:cNvSpPr/>
          <p:nvPr/>
        </p:nvSpPr>
        <p:spPr>
          <a:xfrm>
            <a:off x="1554480" y="3290011"/>
            <a:ext cx="1028700" cy="400507"/>
          </a:xfrm>
          <a:prstGeom prst="rect">
            <a:avLst/>
          </a:prstGeom>
          <a:solidFill>
            <a:srgbClr val="FFFFFF"/>
          </a:solidFill>
          <a:ln w="9525">
            <a:solidFill>
              <a:srgbClr val="8A6500"/>
            </a:solidFill>
            <a:prstDash val="solid"/>
          </a:ln>
        </p:spPr>
      </p:sp>
      <p:sp>
        <p:nvSpPr>
          <p:cNvPr id="23" name="Text 21"/>
          <p:cNvSpPr/>
          <p:nvPr/>
        </p:nvSpPr>
        <p:spPr>
          <a:xfrm>
            <a:off x="1554480" y="3290011"/>
            <a:ext cx="1028700" cy="400507"/>
          </a:xfrm>
          <a:prstGeom prst="rect">
            <a:avLst/>
          </a:prstGeom>
          <a:noFill/>
          <a:ln/>
        </p:spPr>
        <p:txBody>
          <a:bodyPr wrap="square" lIns="0" tIns="0" rIns="0" bIns="0" rtlCol="0" anchor="ctr"/>
          <a:lstStyle/>
          <a:p>
            <a:pPr algn="ctr" indent="0" marL="0">
              <a:buNone/>
            </a:pPr>
            <a:r>
              <a:rPr lang="en-US" sz="1100" b="1" dirty="0">
                <a:solidFill>
                  <a:srgbClr val="8A6500"/>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2628900" y="3290011"/>
            <a:ext cx="1028700" cy="400507"/>
          </a:xfrm>
          <a:prstGeom prst="rect">
            <a:avLst/>
          </a:prstGeom>
          <a:solidFill>
            <a:srgbClr val="FFFFFF"/>
          </a:solidFill>
          <a:ln w="9525">
            <a:solidFill>
              <a:srgbClr val="8A6500"/>
            </a:solidFill>
            <a:prstDash val="solid"/>
          </a:ln>
        </p:spPr>
      </p:sp>
      <p:sp>
        <p:nvSpPr>
          <p:cNvPr id="25" name="Text 23"/>
          <p:cNvSpPr/>
          <p:nvPr/>
        </p:nvSpPr>
        <p:spPr>
          <a:xfrm>
            <a:off x="2628900" y="3290011"/>
            <a:ext cx="1028700" cy="400507"/>
          </a:xfrm>
          <a:prstGeom prst="rect">
            <a:avLst/>
          </a:prstGeom>
          <a:noFill/>
          <a:ln/>
        </p:spPr>
        <p:txBody>
          <a:bodyPr wrap="square" lIns="0" tIns="0" rIns="0" bIns="0" rtlCol="0" anchor="ctr"/>
          <a:lstStyle/>
          <a:p>
            <a:pPr algn="ctr" indent="0" marL="0">
              <a:buNone/>
            </a:pPr>
            <a:r>
              <a:rPr lang="en-US" sz="1100" b="1" dirty="0">
                <a:solidFill>
                  <a:srgbClr val="8A6500"/>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3703320" y="3290011"/>
            <a:ext cx="1028700" cy="400507"/>
          </a:xfrm>
          <a:prstGeom prst="rect">
            <a:avLst/>
          </a:prstGeom>
          <a:solidFill>
            <a:srgbClr val="FFFFFF"/>
          </a:solidFill>
          <a:ln w="9525">
            <a:solidFill>
              <a:srgbClr val="8A6500"/>
            </a:solidFill>
            <a:prstDash val="solid"/>
          </a:ln>
        </p:spPr>
      </p:sp>
      <p:sp>
        <p:nvSpPr>
          <p:cNvPr id="27" name="Text 25"/>
          <p:cNvSpPr/>
          <p:nvPr/>
        </p:nvSpPr>
        <p:spPr>
          <a:xfrm>
            <a:off x="3703320" y="3290011"/>
            <a:ext cx="1028700" cy="400507"/>
          </a:xfrm>
          <a:prstGeom prst="rect">
            <a:avLst/>
          </a:prstGeom>
          <a:noFill/>
          <a:ln/>
        </p:spPr>
        <p:txBody>
          <a:bodyPr wrap="square" lIns="0" tIns="0" rIns="0" bIns="0" rtlCol="0" anchor="ctr"/>
          <a:lstStyle/>
          <a:p>
            <a:pPr algn="ctr" indent="0" marL="0">
              <a:buNone/>
            </a:pPr>
            <a:r>
              <a:rPr lang="en-US" sz="1100" b="1" dirty="0">
                <a:solidFill>
                  <a:srgbClr val="8A6500"/>
                </a:solidFill>
                <a:latin typeface="Calibri" pitchFamily="34" charset="0"/>
                <a:ea typeface="Calibri" pitchFamily="34" charset="-122"/>
                <a:cs typeface="Calibri" pitchFamily="34" charset="-120"/>
              </a:rPr>
              <a:t>×</a:t>
            </a:r>
            <a:endParaRPr lang="en-US" sz="1100" dirty="0"/>
          </a:p>
        </p:txBody>
      </p:sp>
      <p:sp>
        <p:nvSpPr>
          <p:cNvPr id="28" name="Shape 26"/>
          <p:cNvSpPr/>
          <p:nvPr/>
        </p:nvSpPr>
        <p:spPr>
          <a:xfrm>
            <a:off x="4777740" y="3290011"/>
            <a:ext cx="1028700" cy="400507"/>
          </a:xfrm>
          <a:prstGeom prst="rect">
            <a:avLst/>
          </a:prstGeom>
          <a:solidFill>
            <a:srgbClr val="FFFFFF"/>
          </a:solidFill>
          <a:ln w="9525">
            <a:solidFill>
              <a:srgbClr val="8A6500"/>
            </a:solidFill>
            <a:prstDash val="solid"/>
          </a:ln>
        </p:spPr>
      </p:sp>
      <p:sp>
        <p:nvSpPr>
          <p:cNvPr id="29" name="Text 27"/>
          <p:cNvSpPr/>
          <p:nvPr/>
        </p:nvSpPr>
        <p:spPr>
          <a:xfrm>
            <a:off x="4777740" y="3290011"/>
            <a:ext cx="1028700" cy="400507"/>
          </a:xfrm>
          <a:prstGeom prst="rect">
            <a:avLst/>
          </a:prstGeom>
          <a:noFill/>
          <a:ln/>
        </p:spPr>
        <p:txBody>
          <a:bodyPr wrap="square" lIns="0" tIns="0" rIns="0" bIns="0" rtlCol="0" anchor="ctr"/>
          <a:lstStyle/>
          <a:p>
            <a:pPr algn="ctr" indent="0" marL="0">
              <a:buNone/>
            </a:pPr>
            <a:r>
              <a:rPr lang="en-US" sz="1100" b="1" dirty="0">
                <a:solidFill>
                  <a:srgbClr val="8A6500"/>
                </a:solidFill>
                <a:latin typeface="Calibri" pitchFamily="34" charset="0"/>
                <a:ea typeface="Calibri" pitchFamily="34" charset="-122"/>
                <a:cs typeface="Calibri" pitchFamily="34" charset="-120"/>
              </a:rPr>
              <a:t>×</a:t>
            </a:r>
            <a:endParaRPr lang="en-US" sz="1100" dirty="0"/>
          </a:p>
        </p:txBody>
      </p:sp>
      <p:sp>
        <p:nvSpPr>
          <p:cNvPr id="30" name="Text 28"/>
          <p:cNvSpPr/>
          <p:nvPr/>
        </p:nvSpPr>
        <p:spPr>
          <a:xfrm>
            <a:off x="548640" y="3745382"/>
            <a:ext cx="914400" cy="400507"/>
          </a:xfrm>
          <a:prstGeom prst="rect">
            <a:avLst/>
          </a:prstGeom>
          <a:noFill/>
          <a:ln/>
        </p:spPr>
        <p:txBody>
          <a:bodyPr wrap="square" lIns="0" tIns="0" rIns="0" bIns="0" rtlCol="0" anchor="ctr"/>
          <a:lstStyle/>
          <a:p>
            <a:pPr indent="0" marL="0">
              <a:buNone/>
            </a:pPr>
            <a:r>
              <a:rPr lang="en-US" sz="950" b="1" dirty="0">
                <a:solidFill>
                  <a:srgbClr val="B85C00"/>
                </a:solidFill>
                <a:latin typeface="Calibri" pitchFamily="34" charset="0"/>
                <a:ea typeface="Calibri" pitchFamily="34" charset="-122"/>
                <a:cs typeface="Calibri" pitchFamily="34" charset="-120"/>
              </a:rPr>
              <a:t>Compliance</a:t>
            </a:r>
            <a:endParaRPr lang="en-US" sz="950" dirty="0"/>
          </a:p>
        </p:txBody>
      </p:sp>
      <p:sp>
        <p:nvSpPr>
          <p:cNvPr id="31" name="Shape 29"/>
          <p:cNvSpPr/>
          <p:nvPr/>
        </p:nvSpPr>
        <p:spPr>
          <a:xfrm>
            <a:off x="1554480" y="3745382"/>
            <a:ext cx="1028700" cy="400507"/>
          </a:xfrm>
          <a:prstGeom prst="rect">
            <a:avLst/>
          </a:prstGeom>
          <a:solidFill>
            <a:srgbClr val="FFFFFF"/>
          </a:solidFill>
          <a:ln w="9525">
            <a:solidFill>
              <a:srgbClr val="B85C00"/>
            </a:solidFill>
            <a:prstDash val="solid"/>
          </a:ln>
        </p:spPr>
      </p:sp>
      <p:sp>
        <p:nvSpPr>
          <p:cNvPr id="32" name="Text 30"/>
          <p:cNvSpPr/>
          <p:nvPr/>
        </p:nvSpPr>
        <p:spPr>
          <a:xfrm>
            <a:off x="1554480" y="3745382"/>
            <a:ext cx="1028700" cy="400507"/>
          </a:xfrm>
          <a:prstGeom prst="rect">
            <a:avLst/>
          </a:prstGeom>
          <a:noFill/>
          <a:ln/>
        </p:spPr>
        <p:txBody>
          <a:bodyPr wrap="square" lIns="0" tIns="0" rIns="0" bIns="0" rtlCol="0" anchor="ctr"/>
          <a:lstStyle/>
          <a:p>
            <a:pPr algn="ctr" indent="0" marL="0">
              <a:buNone/>
            </a:pPr>
            <a:r>
              <a:rPr lang="en-US" sz="1100" b="1" dirty="0">
                <a:solidFill>
                  <a:srgbClr val="B85C00"/>
                </a:solidFill>
                <a:latin typeface="Calibri" pitchFamily="34" charset="0"/>
                <a:ea typeface="Calibri" pitchFamily="34" charset="-122"/>
                <a:cs typeface="Calibri" pitchFamily="34" charset="-120"/>
              </a:rPr>
              <a:t>×</a:t>
            </a:r>
            <a:endParaRPr lang="en-US" sz="1100" dirty="0"/>
          </a:p>
        </p:txBody>
      </p:sp>
      <p:sp>
        <p:nvSpPr>
          <p:cNvPr id="33" name="Shape 31"/>
          <p:cNvSpPr/>
          <p:nvPr/>
        </p:nvSpPr>
        <p:spPr>
          <a:xfrm>
            <a:off x="2628900" y="3745382"/>
            <a:ext cx="1028700" cy="400507"/>
          </a:xfrm>
          <a:prstGeom prst="rect">
            <a:avLst/>
          </a:prstGeom>
          <a:solidFill>
            <a:srgbClr val="FFFFFF"/>
          </a:solidFill>
          <a:ln w="9525">
            <a:solidFill>
              <a:srgbClr val="B85C00"/>
            </a:solidFill>
            <a:prstDash val="solid"/>
          </a:ln>
        </p:spPr>
      </p:sp>
      <p:sp>
        <p:nvSpPr>
          <p:cNvPr id="34" name="Text 32"/>
          <p:cNvSpPr/>
          <p:nvPr/>
        </p:nvSpPr>
        <p:spPr>
          <a:xfrm>
            <a:off x="2628900" y="3745382"/>
            <a:ext cx="1028700" cy="400507"/>
          </a:xfrm>
          <a:prstGeom prst="rect">
            <a:avLst/>
          </a:prstGeom>
          <a:noFill/>
          <a:ln/>
        </p:spPr>
        <p:txBody>
          <a:bodyPr wrap="square" lIns="0" tIns="0" rIns="0" bIns="0" rtlCol="0" anchor="ctr"/>
          <a:lstStyle/>
          <a:p>
            <a:pPr algn="ctr" indent="0" marL="0">
              <a:buNone/>
            </a:pPr>
            <a:r>
              <a:rPr lang="en-US" sz="1100" b="1" dirty="0">
                <a:solidFill>
                  <a:srgbClr val="B85C00"/>
                </a:solidFill>
                <a:latin typeface="Calibri" pitchFamily="34" charset="0"/>
                <a:ea typeface="Calibri" pitchFamily="34" charset="-122"/>
                <a:cs typeface="Calibri" pitchFamily="34" charset="-120"/>
              </a:rPr>
              <a:t>×</a:t>
            </a:r>
            <a:endParaRPr lang="en-US" sz="1100" dirty="0"/>
          </a:p>
        </p:txBody>
      </p:sp>
      <p:sp>
        <p:nvSpPr>
          <p:cNvPr id="35" name="Shape 33"/>
          <p:cNvSpPr/>
          <p:nvPr/>
        </p:nvSpPr>
        <p:spPr>
          <a:xfrm>
            <a:off x="3703320" y="3745382"/>
            <a:ext cx="1028700" cy="400507"/>
          </a:xfrm>
          <a:prstGeom prst="rect">
            <a:avLst/>
          </a:prstGeom>
          <a:solidFill>
            <a:srgbClr val="FFFFFF"/>
          </a:solidFill>
          <a:ln w="9525">
            <a:solidFill>
              <a:srgbClr val="B85C00"/>
            </a:solidFill>
            <a:prstDash val="solid"/>
          </a:ln>
        </p:spPr>
      </p:sp>
      <p:sp>
        <p:nvSpPr>
          <p:cNvPr id="36" name="Text 34"/>
          <p:cNvSpPr/>
          <p:nvPr/>
        </p:nvSpPr>
        <p:spPr>
          <a:xfrm>
            <a:off x="3703320" y="3745382"/>
            <a:ext cx="1028700" cy="400507"/>
          </a:xfrm>
          <a:prstGeom prst="rect">
            <a:avLst/>
          </a:prstGeom>
          <a:noFill/>
          <a:ln/>
        </p:spPr>
        <p:txBody>
          <a:bodyPr wrap="square" lIns="0" tIns="0" rIns="0" bIns="0" rtlCol="0" anchor="ctr"/>
          <a:lstStyle/>
          <a:p>
            <a:pPr algn="ctr" indent="0" marL="0">
              <a:buNone/>
            </a:pPr>
            <a:r>
              <a:rPr lang="en-US" sz="1100" b="1" dirty="0">
                <a:solidFill>
                  <a:srgbClr val="B85C00"/>
                </a:solidFill>
                <a:latin typeface="Calibri" pitchFamily="34" charset="0"/>
                <a:ea typeface="Calibri" pitchFamily="34" charset="-122"/>
                <a:cs typeface="Calibri" pitchFamily="34" charset="-120"/>
              </a:rPr>
              <a:t>×</a:t>
            </a:r>
            <a:endParaRPr lang="en-US" sz="1100" dirty="0"/>
          </a:p>
        </p:txBody>
      </p:sp>
      <p:sp>
        <p:nvSpPr>
          <p:cNvPr id="37" name="Shape 35"/>
          <p:cNvSpPr/>
          <p:nvPr/>
        </p:nvSpPr>
        <p:spPr>
          <a:xfrm>
            <a:off x="4777740" y="3745382"/>
            <a:ext cx="1028700" cy="400507"/>
          </a:xfrm>
          <a:prstGeom prst="rect">
            <a:avLst/>
          </a:prstGeom>
          <a:solidFill>
            <a:srgbClr val="FFFFFF"/>
          </a:solidFill>
          <a:ln w="9525">
            <a:solidFill>
              <a:srgbClr val="B85C00"/>
            </a:solidFill>
            <a:prstDash val="solid"/>
          </a:ln>
        </p:spPr>
      </p:sp>
      <p:sp>
        <p:nvSpPr>
          <p:cNvPr id="38" name="Text 36"/>
          <p:cNvSpPr/>
          <p:nvPr/>
        </p:nvSpPr>
        <p:spPr>
          <a:xfrm>
            <a:off x="4777740" y="3745382"/>
            <a:ext cx="1028700" cy="400507"/>
          </a:xfrm>
          <a:prstGeom prst="rect">
            <a:avLst/>
          </a:prstGeom>
          <a:noFill/>
          <a:ln/>
        </p:spPr>
        <p:txBody>
          <a:bodyPr wrap="square" lIns="0" tIns="0" rIns="0" bIns="0" rtlCol="0" anchor="ctr"/>
          <a:lstStyle/>
          <a:p>
            <a:pPr algn="ctr" indent="0" marL="0">
              <a:buNone/>
            </a:pPr>
            <a:r>
              <a:rPr lang="en-US" sz="1100" b="1" dirty="0">
                <a:solidFill>
                  <a:srgbClr val="B85C00"/>
                </a:solidFill>
                <a:latin typeface="Calibri" pitchFamily="34" charset="0"/>
                <a:ea typeface="Calibri" pitchFamily="34" charset="-122"/>
                <a:cs typeface="Calibri" pitchFamily="34" charset="-120"/>
              </a:rPr>
              <a:t>×</a:t>
            </a:r>
            <a:endParaRPr lang="en-US" sz="1100" dirty="0"/>
          </a:p>
        </p:txBody>
      </p:sp>
      <p:sp>
        <p:nvSpPr>
          <p:cNvPr id="39" name="Text 37"/>
          <p:cNvSpPr/>
          <p:nvPr/>
        </p:nvSpPr>
        <p:spPr>
          <a:xfrm>
            <a:off x="548640" y="4200754"/>
            <a:ext cx="914400" cy="400507"/>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Engineering</a:t>
            </a:r>
            <a:endParaRPr lang="en-US" sz="950" dirty="0"/>
          </a:p>
        </p:txBody>
      </p:sp>
      <p:sp>
        <p:nvSpPr>
          <p:cNvPr id="40" name="Shape 38"/>
          <p:cNvSpPr/>
          <p:nvPr/>
        </p:nvSpPr>
        <p:spPr>
          <a:xfrm>
            <a:off x="1554480" y="4200754"/>
            <a:ext cx="1028700" cy="400507"/>
          </a:xfrm>
          <a:prstGeom prst="rect">
            <a:avLst/>
          </a:prstGeom>
          <a:solidFill>
            <a:srgbClr val="FFFFFF"/>
          </a:solidFill>
          <a:ln w="9525">
            <a:solidFill>
              <a:srgbClr val="003DA5"/>
            </a:solidFill>
            <a:prstDash val="solid"/>
          </a:ln>
        </p:spPr>
      </p:sp>
      <p:sp>
        <p:nvSpPr>
          <p:cNvPr id="41" name="Text 39"/>
          <p:cNvSpPr/>
          <p:nvPr/>
        </p:nvSpPr>
        <p:spPr>
          <a:xfrm>
            <a:off x="1554480" y="4200754"/>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42" name="Shape 40"/>
          <p:cNvSpPr/>
          <p:nvPr/>
        </p:nvSpPr>
        <p:spPr>
          <a:xfrm>
            <a:off x="2628900" y="4200754"/>
            <a:ext cx="1028700" cy="400507"/>
          </a:xfrm>
          <a:prstGeom prst="rect">
            <a:avLst/>
          </a:prstGeom>
          <a:solidFill>
            <a:srgbClr val="FFFFFF"/>
          </a:solidFill>
          <a:ln w="9525">
            <a:solidFill>
              <a:srgbClr val="003DA5"/>
            </a:solidFill>
            <a:prstDash val="solid"/>
          </a:ln>
        </p:spPr>
      </p:sp>
      <p:sp>
        <p:nvSpPr>
          <p:cNvPr id="43" name="Text 41"/>
          <p:cNvSpPr/>
          <p:nvPr/>
        </p:nvSpPr>
        <p:spPr>
          <a:xfrm>
            <a:off x="2628900" y="4200754"/>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44" name="Shape 42"/>
          <p:cNvSpPr/>
          <p:nvPr/>
        </p:nvSpPr>
        <p:spPr>
          <a:xfrm>
            <a:off x="3703320" y="4200754"/>
            <a:ext cx="1028700" cy="400507"/>
          </a:xfrm>
          <a:prstGeom prst="rect">
            <a:avLst/>
          </a:prstGeom>
          <a:solidFill>
            <a:srgbClr val="FFFFFF"/>
          </a:solidFill>
          <a:ln w="9525">
            <a:solidFill>
              <a:srgbClr val="003DA5"/>
            </a:solidFill>
            <a:prstDash val="solid"/>
          </a:ln>
        </p:spPr>
      </p:sp>
      <p:sp>
        <p:nvSpPr>
          <p:cNvPr id="45" name="Text 43"/>
          <p:cNvSpPr/>
          <p:nvPr/>
        </p:nvSpPr>
        <p:spPr>
          <a:xfrm>
            <a:off x="3703320" y="4200754"/>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46" name="Shape 44"/>
          <p:cNvSpPr/>
          <p:nvPr/>
        </p:nvSpPr>
        <p:spPr>
          <a:xfrm>
            <a:off x="4777740" y="4200754"/>
            <a:ext cx="1028700" cy="400507"/>
          </a:xfrm>
          <a:prstGeom prst="rect">
            <a:avLst/>
          </a:prstGeom>
          <a:solidFill>
            <a:srgbClr val="FFFFFF"/>
          </a:solidFill>
          <a:ln w="9525">
            <a:solidFill>
              <a:srgbClr val="003DA5"/>
            </a:solidFill>
            <a:prstDash val="solid"/>
          </a:ln>
        </p:spPr>
      </p:sp>
      <p:sp>
        <p:nvSpPr>
          <p:cNvPr id="47" name="Text 45"/>
          <p:cNvSpPr/>
          <p:nvPr/>
        </p:nvSpPr>
        <p:spPr>
          <a:xfrm>
            <a:off x="4777740" y="4200754"/>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48" name="Text 46"/>
          <p:cNvSpPr/>
          <p:nvPr/>
        </p:nvSpPr>
        <p:spPr>
          <a:xfrm>
            <a:off x="548640" y="4656125"/>
            <a:ext cx="914400" cy="400507"/>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IaC</a:t>
            </a:r>
            <a:endParaRPr lang="en-US" sz="950" dirty="0"/>
          </a:p>
        </p:txBody>
      </p:sp>
      <p:sp>
        <p:nvSpPr>
          <p:cNvPr id="49" name="Shape 47"/>
          <p:cNvSpPr/>
          <p:nvPr/>
        </p:nvSpPr>
        <p:spPr>
          <a:xfrm>
            <a:off x="1554480" y="4656125"/>
            <a:ext cx="1028700" cy="400507"/>
          </a:xfrm>
          <a:prstGeom prst="rect">
            <a:avLst/>
          </a:prstGeom>
          <a:solidFill>
            <a:srgbClr val="FFFFFF"/>
          </a:solidFill>
          <a:ln w="9525">
            <a:solidFill>
              <a:srgbClr val="003DA5"/>
            </a:solidFill>
            <a:prstDash val="solid"/>
          </a:ln>
        </p:spPr>
      </p:sp>
      <p:sp>
        <p:nvSpPr>
          <p:cNvPr id="50" name="Text 48"/>
          <p:cNvSpPr/>
          <p:nvPr/>
        </p:nvSpPr>
        <p:spPr>
          <a:xfrm>
            <a:off x="1554480" y="4656125"/>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51" name="Shape 49"/>
          <p:cNvSpPr/>
          <p:nvPr/>
        </p:nvSpPr>
        <p:spPr>
          <a:xfrm>
            <a:off x="2628900" y="4656125"/>
            <a:ext cx="1028700" cy="400507"/>
          </a:xfrm>
          <a:prstGeom prst="rect">
            <a:avLst/>
          </a:prstGeom>
          <a:solidFill>
            <a:srgbClr val="FFFFFF"/>
          </a:solidFill>
          <a:ln w="9525">
            <a:solidFill>
              <a:srgbClr val="003DA5"/>
            </a:solidFill>
            <a:prstDash val="solid"/>
          </a:ln>
        </p:spPr>
      </p:sp>
      <p:sp>
        <p:nvSpPr>
          <p:cNvPr id="52" name="Text 50"/>
          <p:cNvSpPr/>
          <p:nvPr/>
        </p:nvSpPr>
        <p:spPr>
          <a:xfrm>
            <a:off x="2628900" y="4656125"/>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53" name="Shape 51"/>
          <p:cNvSpPr/>
          <p:nvPr/>
        </p:nvSpPr>
        <p:spPr>
          <a:xfrm>
            <a:off x="3703320" y="4656125"/>
            <a:ext cx="1028700" cy="400507"/>
          </a:xfrm>
          <a:prstGeom prst="rect">
            <a:avLst/>
          </a:prstGeom>
          <a:solidFill>
            <a:srgbClr val="FFFFFF"/>
          </a:solidFill>
          <a:ln w="9525">
            <a:solidFill>
              <a:srgbClr val="003DA5"/>
            </a:solidFill>
            <a:prstDash val="solid"/>
          </a:ln>
        </p:spPr>
      </p:sp>
      <p:sp>
        <p:nvSpPr>
          <p:cNvPr id="54" name="Text 52"/>
          <p:cNvSpPr/>
          <p:nvPr/>
        </p:nvSpPr>
        <p:spPr>
          <a:xfrm>
            <a:off x="3703320" y="4656125"/>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55" name="Shape 53"/>
          <p:cNvSpPr/>
          <p:nvPr/>
        </p:nvSpPr>
        <p:spPr>
          <a:xfrm>
            <a:off x="4777740" y="4656125"/>
            <a:ext cx="1028700" cy="400507"/>
          </a:xfrm>
          <a:prstGeom prst="rect">
            <a:avLst/>
          </a:prstGeom>
          <a:solidFill>
            <a:srgbClr val="FFFFFF"/>
          </a:solidFill>
          <a:ln w="9525">
            <a:solidFill>
              <a:srgbClr val="003DA5"/>
            </a:solidFill>
            <a:prstDash val="solid"/>
          </a:ln>
        </p:spPr>
      </p:sp>
      <p:sp>
        <p:nvSpPr>
          <p:cNvPr id="56" name="Text 54"/>
          <p:cNvSpPr/>
          <p:nvPr/>
        </p:nvSpPr>
        <p:spPr>
          <a:xfrm>
            <a:off x="4777740" y="4656125"/>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57" name="Shape 55"/>
          <p:cNvSpPr/>
          <p:nvPr/>
        </p:nvSpPr>
        <p:spPr>
          <a:xfrm>
            <a:off x="365760" y="5212080"/>
            <a:ext cx="5623560" cy="457200"/>
          </a:xfrm>
          <a:prstGeom prst="rect">
            <a:avLst/>
          </a:prstGeom>
          <a:solidFill>
            <a:srgbClr val="FFFFFF"/>
          </a:solidFill>
          <a:ln w="12700">
            <a:solidFill>
              <a:srgbClr val="8A2B30"/>
            </a:solidFill>
            <a:prstDash val="solid"/>
          </a:ln>
        </p:spPr>
      </p:sp>
      <p:sp>
        <p:nvSpPr>
          <p:cNvPr id="58" name="Text 56"/>
          <p:cNvSpPr/>
          <p:nvPr/>
        </p:nvSpPr>
        <p:spPr>
          <a:xfrm>
            <a:off x="548640" y="5212080"/>
            <a:ext cx="5349240" cy="457200"/>
          </a:xfrm>
          <a:prstGeom prst="rect">
            <a:avLst/>
          </a:prstGeom>
          <a:noFill/>
          <a:ln/>
        </p:spPr>
        <p:txBody>
          <a:bodyPr wrap="square" lIns="0" tIns="0" rIns="0" bIns="0" rtlCol="0" anchor="ctr"/>
          <a:lstStyle/>
          <a:p>
            <a:pPr indent="0" marL="0">
              <a:buNone/>
            </a:pPr>
            <a:r>
              <a:rPr lang="en-US" sz="1000" b="1" dirty="0">
                <a:solidFill>
                  <a:srgbClr val="8A2B30"/>
                </a:solidFill>
                <a:latin typeface="Calibri" pitchFamily="34" charset="0"/>
                <a:ea typeface="Calibri" pitchFamily="34" charset="-122"/>
                <a:cs typeface="Calibri" pitchFamily="34" charset="-120"/>
              </a:rPr>
              <a:t>Result:  </a:t>
            </a:r>
            <a:pPr indent="0" marL="0">
              <a:buNone/>
            </a:pPr>
            <a:r>
              <a:rPr lang="en-US" sz="1000" dirty="0">
                <a:solidFill>
                  <a:srgbClr val="1A1F36"/>
                </a:solidFill>
                <a:latin typeface="Calibri" pitchFamily="34" charset="0"/>
                <a:ea typeface="Calibri" pitchFamily="34" charset="-122"/>
                <a:cs typeface="Calibri" pitchFamily="34" charset="-120"/>
              </a:rPr>
              <a:t>5 silos × 4 products = </a:t>
            </a:r>
            <a:pPr indent="0" marL="0">
              <a:buNone/>
            </a:pPr>
            <a:r>
              <a:rPr lang="en-US" sz="1000" b="1" dirty="0">
                <a:solidFill>
                  <a:srgbClr val="8A2B30"/>
                </a:solidFill>
                <a:latin typeface="Calibri" pitchFamily="34" charset="0"/>
                <a:ea typeface="Calibri" pitchFamily="34" charset="-122"/>
                <a:cs typeface="Calibri" pitchFamily="34" charset="-120"/>
              </a:rPr>
              <a:t>20 disjoint implementations. </a:t>
            </a:r>
            <a:pPr indent="0" marL="0">
              <a:buNone/>
            </a:pPr>
            <a:r>
              <a:rPr lang="en-US" sz="1000" i="1" dirty="0">
                <a:solidFill>
                  <a:srgbClr val="8A2B30"/>
                </a:solidFill>
                <a:latin typeface="Calibri" pitchFamily="34" charset="0"/>
                <a:ea typeface="Calibri" pitchFamily="34" charset="-122"/>
                <a:cs typeface="Calibri" pitchFamily="34" charset="-120"/>
              </a:rPr>
              <a:t>20 dialects of "compliant."</a:t>
            </a:r>
            <a:endParaRPr lang="en-US" sz="1000" dirty="0"/>
          </a:p>
        </p:txBody>
      </p:sp>
      <p:sp>
        <p:nvSpPr>
          <p:cNvPr id="59" name="Shape 57"/>
          <p:cNvSpPr/>
          <p:nvPr/>
        </p:nvSpPr>
        <p:spPr>
          <a:xfrm>
            <a:off x="6172200" y="1965960"/>
            <a:ext cx="5623560" cy="3703320"/>
          </a:xfrm>
          <a:prstGeom prst="rect">
            <a:avLst/>
          </a:prstGeom>
          <a:solidFill>
            <a:srgbClr val="EAF1FB"/>
          </a:solidFill>
          <a:ln w="6350">
            <a:solidFill>
              <a:srgbClr val="003DA5"/>
            </a:solidFill>
            <a:prstDash val="solid"/>
          </a:ln>
        </p:spPr>
      </p:sp>
      <p:sp>
        <p:nvSpPr>
          <p:cNvPr id="60" name="Shape 58"/>
          <p:cNvSpPr/>
          <p:nvPr/>
        </p:nvSpPr>
        <p:spPr>
          <a:xfrm>
            <a:off x="6172200" y="1965960"/>
            <a:ext cx="5623560" cy="411480"/>
          </a:xfrm>
          <a:prstGeom prst="rect">
            <a:avLst/>
          </a:prstGeom>
          <a:solidFill>
            <a:srgbClr val="003DA5"/>
          </a:solidFill>
          <a:ln w="12700">
            <a:solidFill>
              <a:srgbClr val="003DA5"/>
            </a:solidFill>
            <a:prstDash val="solid"/>
          </a:ln>
        </p:spPr>
      </p:sp>
      <p:sp>
        <p:nvSpPr>
          <p:cNvPr id="61" name="Text 59"/>
          <p:cNvSpPr/>
          <p:nvPr/>
        </p:nvSpPr>
        <p:spPr>
          <a:xfrm>
            <a:off x="6355080" y="2011680"/>
            <a:ext cx="5257800" cy="32004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HORIZONTAL LAYERS  —  the model</a:t>
            </a:r>
            <a:endParaRPr lang="en-US" sz="1100" dirty="0"/>
          </a:p>
        </p:txBody>
      </p:sp>
      <p:sp>
        <p:nvSpPr>
          <p:cNvPr id="62" name="Text 60"/>
          <p:cNvSpPr/>
          <p:nvPr/>
        </p:nvSpPr>
        <p:spPr>
          <a:xfrm>
            <a:off x="736092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Postgres</a:t>
            </a:r>
            <a:endParaRPr lang="en-US" sz="900" dirty="0"/>
          </a:p>
        </p:txBody>
      </p:sp>
      <p:sp>
        <p:nvSpPr>
          <p:cNvPr id="63" name="Text 61"/>
          <p:cNvSpPr/>
          <p:nvPr/>
        </p:nvSpPr>
        <p:spPr>
          <a:xfrm>
            <a:off x="843534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Linux</a:t>
            </a:r>
            <a:endParaRPr lang="en-US" sz="900" dirty="0"/>
          </a:p>
        </p:txBody>
      </p:sp>
      <p:sp>
        <p:nvSpPr>
          <p:cNvPr id="64" name="Text 62"/>
          <p:cNvSpPr/>
          <p:nvPr/>
        </p:nvSpPr>
        <p:spPr>
          <a:xfrm>
            <a:off x="950976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Kafka</a:t>
            </a:r>
            <a:endParaRPr lang="en-US" sz="900" dirty="0"/>
          </a:p>
        </p:txBody>
      </p:sp>
      <p:sp>
        <p:nvSpPr>
          <p:cNvPr id="65" name="Text 63"/>
          <p:cNvSpPr/>
          <p:nvPr/>
        </p:nvSpPr>
        <p:spPr>
          <a:xfrm>
            <a:off x="1058418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K8s</a:t>
            </a:r>
            <a:endParaRPr lang="en-US" sz="900" dirty="0"/>
          </a:p>
        </p:txBody>
      </p:sp>
      <p:sp>
        <p:nvSpPr>
          <p:cNvPr id="66" name="Text 64"/>
          <p:cNvSpPr/>
          <p:nvPr/>
        </p:nvSpPr>
        <p:spPr>
          <a:xfrm>
            <a:off x="6355080" y="2834640"/>
            <a:ext cx="914400" cy="400507"/>
          </a:xfrm>
          <a:prstGeom prst="rect">
            <a:avLst/>
          </a:prstGeom>
          <a:noFill/>
          <a:ln/>
        </p:spPr>
        <p:txBody>
          <a:bodyPr wrap="square" lIns="0" tIns="0" rIns="0" bIns="0" rtlCol="0" anchor="ctr"/>
          <a:lstStyle/>
          <a:p>
            <a:pPr indent="0" marL="0">
              <a:buNone/>
            </a:pPr>
            <a:r>
              <a:rPr lang="en-US" sz="950" b="1" dirty="0">
                <a:solidFill>
                  <a:srgbClr val="9B5B00"/>
                </a:solidFill>
                <a:latin typeface="Calibri" pitchFamily="34" charset="0"/>
                <a:ea typeface="Calibri" pitchFamily="34" charset="-122"/>
                <a:cs typeface="Calibri" pitchFamily="34" charset="-120"/>
              </a:rPr>
              <a:t>Optimize</a:t>
            </a:r>
            <a:endParaRPr lang="en-US" sz="950" dirty="0"/>
          </a:p>
        </p:txBody>
      </p:sp>
      <p:sp>
        <p:nvSpPr>
          <p:cNvPr id="67" name="Shape 65"/>
          <p:cNvSpPr/>
          <p:nvPr/>
        </p:nvSpPr>
        <p:spPr>
          <a:xfrm>
            <a:off x="7360920" y="2834640"/>
            <a:ext cx="4251960" cy="400507"/>
          </a:xfrm>
          <a:prstGeom prst="rect">
            <a:avLst/>
          </a:prstGeom>
          <a:solidFill>
            <a:srgbClr val="FFF6E0"/>
          </a:solidFill>
          <a:ln w="12700">
            <a:solidFill>
              <a:srgbClr val="9B5B00"/>
            </a:solidFill>
            <a:prstDash val="solid"/>
          </a:ln>
        </p:spPr>
      </p:sp>
      <p:sp>
        <p:nvSpPr>
          <p:cNvPr id="68" name="Text 66"/>
          <p:cNvSpPr/>
          <p:nvPr/>
        </p:nvSpPr>
        <p:spPr>
          <a:xfrm>
            <a:off x="7360920" y="2834640"/>
            <a:ext cx="4251960" cy="400507"/>
          </a:xfrm>
          <a:prstGeom prst="rect">
            <a:avLst/>
          </a:prstGeom>
          <a:noFill/>
          <a:ln/>
        </p:spPr>
        <p:txBody>
          <a:bodyPr wrap="square" lIns="0" tIns="0" rIns="0" bIns="0" rtlCol="0" anchor="ctr"/>
          <a:lstStyle/>
          <a:p>
            <a:pPr algn="ctr" indent="0" marL="0">
              <a:buNone/>
            </a:pPr>
            <a:r>
              <a:rPr lang="en-US" sz="800" i="1" dirty="0">
                <a:solidFill>
                  <a:srgbClr val="9B5B00"/>
                </a:solidFill>
                <a:latin typeface="Calibri" pitchFamily="34" charset="0"/>
                <a:ea typeface="Calibri" pitchFamily="34" charset="-122"/>
                <a:cs typeface="Calibri" pitchFamily="34" charset="-120"/>
              </a:rPr>
              <a:t>built once  ·  applied to all products</a:t>
            </a:r>
            <a:endParaRPr lang="en-US" sz="800" dirty="0"/>
          </a:p>
        </p:txBody>
      </p:sp>
      <p:sp>
        <p:nvSpPr>
          <p:cNvPr id="69" name="Text 67"/>
          <p:cNvSpPr/>
          <p:nvPr/>
        </p:nvSpPr>
        <p:spPr>
          <a:xfrm>
            <a:off x="6355080" y="3290011"/>
            <a:ext cx="914400" cy="400507"/>
          </a:xfrm>
          <a:prstGeom prst="rect">
            <a:avLst/>
          </a:prstGeom>
          <a:noFill/>
          <a:ln/>
        </p:spPr>
        <p:txBody>
          <a:bodyPr wrap="square" lIns="0" tIns="0" rIns="0" bIns="0" rtlCol="0" anchor="ctr"/>
          <a:lstStyle/>
          <a:p>
            <a:pPr indent="0" marL="0">
              <a:buNone/>
            </a:pPr>
            <a:r>
              <a:rPr lang="en-US" sz="950" b="1" dirty="0">
                <a:solidFill>
                  <a:srgbClr val="8A6500"/>
                </a:solidFill>
                <a:latin typeface="Calibri" pitchFamily="34" charset="0"/>
                <a:ea typeface="Calibri" pitchFamily="34" charset="-122"/>
                <a:cs typeface="Calibri" pitchFamily="34" charset="-120"/>
              </a:rPr>
              <a:t>Asset</a:t>
            </a:r>
            <a:endParaRPr lang="en-US" sz="950" dirty="0"/>
          </a:p>
        </p:txBody>
      </p:sp>
      <p:sp>
        <p:nvSpPr>
          <p:cNvPr id="70" name="Shape 68"/>
          <p:cNvSpPr/>
          <p:nvPr/>
        </p:nvSpPr>
        <p:spPr>
          <a:xfrm>
            <a:off x="7360920" y="3290011"/>
            <a:ext cx="4251960" cy="400507"/>
          </a:xfrm>
          <a:prstGeom prst="rect">
            <a:avLst/>
          </a:prstGeom>
          <a:solidFill>
            <a:srgbClr val="FFF6E0"/>
          </a:solidFill>
          <a:ln w="12700">
            <a:solidFill>
              <a:srgbClr val="8A6500"/>
            </a:solidFill>
            <a:prstDash val="solid"/>
          </a:ln>
        </p:spPr>
      </p:sp>
      <p:sp>
        <p:nvSpPr>
          <p:cNvPr id="71" name="Text 69"/>
          <p:cNvSpPr/>
          <p:nvPr/>
        </p:nvSpPr>
        <p:spPr>
          <a:xfrm>
            <a:off x="7360920" y="3290011"/>
            <a:ext cx="4251960" cy="400507"/>
          </a:xfrm>
          <a:prstGeom prst="rect">
            <a:avLst/>
          </a:prstGeom>
          <a:noFill/>
          <a:ln/>
        </p:spPr>
        <p:txBody>
          <a:bodyPr wrap="square" lIns="0" tIns="0" rIns="0" bIns="0" rtlCol="0" anchor="ctr"/>
          <a:lstStyle/>
          <a:p>
            <a:pPr algn="ctr" indent="0" marL="0">
              <a:buNone/>
            </a:pPr>
            <a:r>
              <a:rPr lang="en-US" sz="800" i="1" dirty="0">
                <a:solidFill>
                  <a:srgbClr val="8A6500"/>
                </a:solidFill>
                <a:latin typeface="Calibri" pitchFamily="34" charset="0"/>
                <a:ea typeface="Calibri" pitchFamily="34" charset="-122"/>
                <a:cs typeface="Calibri" pitchFamily="34" charset="-120"/>
              </a:rPr>
              <a:t>built once  ·  applied to all products</a:t>
            </a:r>
            <a:endParaRPr lang="en-US" sz="800" dirty="0"/>
          </a:p>
        </p:txBody>
      </p:sp>
      <p:sp>
        <p:nvSpPr>
          <p:cNvPr id="72" name="Text 70"/>
          <p:cNvSpPr/>
          <p:nvPr/>
        </p:nvSpPr>
        <p:spPr>
          <a:xfrm>
            <a:off x="6355080" y="3745382"/>
            <a:ext cx="914400" cy="400507"/>
          </a:xfrm>
          <a:prstGeom prst="rect">
            <a:avLst/>
          </a:prstGeom>
          <a:noFill/>
          <a:ln/>
        </p:spPr>
        <p:txBody>
          <a:bodyPr wrap="square" lIns="0" tIns="0" rIns="0" bIns="0" rtlCol="0" anchor="ctr"/>
          <a:lstStyle/>
          <a:p>
            <a:pPr indent="0" marL="0">
              <a:buNone/>
            </a:pPr>
            <a:r>
              <a:rPr lang="en-US" sz="950" b="1" dirty="0">
                <a:solidFill>
                  <a:srgbClr val="B85C00"/>
                </a:solidFill>
                <a:latin typeface="Calibri" pitchFamily="34" charset="0"/>
                <a:ea typeface="Calibri" pitchFamily="34" charset="-122"/>
                <a:cs typeface="Calibri" pitchFamily="34" charset="-120"/>
              </a:rPr>
              <a:t>Compliance</a:t>
            </a:r>
            <a:endParaRPr lang="en-US" sz="950" dirty="0"/>
          </a:p>
        </p:txBody>
      </p:sp>
      <p:sp>
        <p:nvSpPr>
          <p:cNvPr id="73" name="Shape 71"/>
          <p:cNvSpPr/>
          <p:nvPr/>
        </p:nvSpPr>
        <p:spPr>
          <a:xfrm>
            <a:off x="7360920" y="3745382"/>
            <a:ext cx="4251960" cy="400507"/>
          </a:xfrm>
          <a:prstGeom prst="rect">
            <a:avLst/>
          </a:prstGeom>
          <a:solidFill>
            <a:srgbClr val="FFF6E0"/>
          </a:solidFill>
          <a:ln w="12700">
            <a:solidFill>
              <a:srgbClr val="B85C00"/>
            </a:solidFill>
            <a:prstDash val="solid"/>
          </a:ln>
        </p:spPr>
      </p:sp>
      <p:sp>
        <p:nvSpPr>
          <p:cNvPr id="74" name="Text 72"/>
          <p:cNvSpPr/>
          <p:nvPr/>
        </p:nvSpPr>
        <p:spPr>
          <a:xfrm>
            <a:off x="7360920" y="3745382"/>
            <a:ext cx="4251960" cy="400507"/>
          </a:xfrm>
          <a:prstGeom prst="rect">
            <a:avLst/>
          </a:prstGeom>
          <a:noFill/>
          <a:ln/>
        </p:spPr>
        <p:txBody>
          <a:bodyPr wrap="square" lIns="0" tIns="0" rIns="0" bIns="0" rtlCol="0" anchor="ctr"/>
          <a:lstStyle/>
          <a:p>
            <a:pPr algn="ctr" indent="0" marL="0">
              <a:buNone/>
            </a:pPr>
            <a:r>
              <a:rPr lang="en-US" sz="800" i="1" dirty="0">
                <a:solidFill>
                  <a:srgbClr val="B85C00"/>
                </a:solidFill>
                <a:latin typeface="Calibri" pitchFamily="34" charset="0"/>
                <a:ea typeface="Calibri" pitchFamily="34" charset="-122"/>
                <a:cs typeface="Calibri" pitchFamily="34" charset="-120"/>
              </a:rPr>
              <a:t>built once  ·  applied to all products</a:t>
            </a:r>
            <a:endParaRPr lang="en-US" sz="800" dirty="0"/>
          </a:p>
        </p:txBody>
      </p:sp>
      <p:sp>
        <p:nvSpPr>
          <p:cNvPr id="75" name="Text 73"/>
          <p:cNvSpPr/>
          <p:nvPr/>
        </p:nvSpPr>
        <p:spPr>
          <a:xfrm>
            <a:off x="6355080" y="4200754"/>
            <a:ext cx="914400" cy="400507"/>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Engineering</a:t>
            </a:r>
            <a:endParaRPr lang="en-US" sz="950" dirty="0"/>
          </a:p>
        </p:txBody>
      </p:sp>
      <p:sp>
        <p:nvSpPr>
          <p:cNvPr id="76" name="Shape 74"/>
          <p:cNvSpPr/>
          <p:nvPr/>
        </p:nvSpPr>
        <p:spPr>
          <a:xfrm>
            <a:off x="7360920" y="4200754"/>
            <a:ext cx="4251960" cy="400507"/>
          </a:xfrm>
          <a:prstGeom prst="rect">
            <a:avLst/>
          </a:prstGeom>
          <a:solidFill>
            <a:srgbClr val="DCE6F5"/>
          </a:solidFill>
          <a:ln w="12700">
            <a:solidFill>
              <a:srgbClr val="003DA5"/>
            </a:solidFill>
            <a:prstDash val="solid"/>
          </a:ln>
        </p:spPr>
      </p:sp>
      <p:sp>
        <p:nvSpPr>
          <p:cNvPr id="77" name="Text 75"/>
          <p:cNvSpPr/>
          <p:nvPr/>
        </p:nvSpPr>
        <p:spPr>
          <a:xfrm>
            <a:off x="7360920" y="4200754"/>
            <a:ext cx="4251960" cy="400507"/>
          </a:xfrm>
          <a:prstGeom prst="rect">
            <a:avLst/>
          </a:prstGeom>
          <a:noFill/>
          <a:ln/>
        </p:spPr>
        <p:txBody>
          <a:bodyPr wrap="square" lIns="0" tIns="0" rIns="0" bIns="0" rtlCol="0" anchor="ctr"/>
          <a:lstStyle/>
          <a:p>
            <a:pPr algn="ctr" indent="0" marL="0">
              <a:buNone/>
            </a:pPr>
            <a:r>
              <a:rPr lang="en-US" sz="800" i="1" dirty="0">
                <a:solidFill>
                  <a:srgbClr val="003DA5"/>
                </a:solidFill>
                <a:latin typeface="Calibri" pitchFamily="34" charset="0"/>
                <a:ea typeface="Calibri" pitchFamily="34" charset="-122"/>
                <a:cs typeface="Calibri" pitchFamily="34" charset="-120"/>
              </a:rPr>
              <a:t>built once  ·  applied to all products</a:t>
            </a:r>
            <a:endParaRPr lang="en-US" sz="800" dirty="0"/>
          </a:p>
        </p:txBody>
      </p:sp>
      <p:sp>
        <p:nvSpPr>
          <p:cNvPr id="78" name="Text 76"/>
          <p:cNvSpPr/>
          <p:nvPr/>
        </p:nvSpPr>
        <p:spPr>
          <a:xfrm>
            <a:off x="6355080" y="4656125"/>
            <a:ext cx="914400" cy="400507"/>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IaC</a:t>
            </a:r>
            <a:endParaRPr lang="en-US" sz="950" dirty="0"/>
          </a:p>
        </p:txBody>
      </p:sp>
      <p:sp>
        <p:nvSpPr>
          <p:cNvPr id="79" name="Shape 77"/>
          <p:cNvSpPr/>
          <p:nvPr/>
        </p:nvSpPr>
        <p:spPr>
          <a:xfrm>
            <a:off x="7360920" y="4656125"/>
            <a:ext cx="4251960" cy="400507"/>
          </a:xfrm>
          <a:prstGeom prst="rect">
            <a:avLst/>
          </a:prstGeom>
          <a:solidFill>
            <a:srgbClr val="DCE6F5"/>
          </a:solidFill>
          <a:ln w="12700">
            <a:solidFill>
              <a:srgbClr val="003DA5"/>
            </a:solidFill>
            <a:prstDash val="solid"/>
          </a:ln>
        </p:spPr>
      </p:sp>
      <p:sp>
        <p:nvSpPr>
          <p:cNvPr id="80" name="Text 78"/>
          <p:cNvSpPr/>
          <p:nvPr/>
        </p:nvSpPr>
        <p:spPr>
          <a:xfrm>
            <a:off x="7360920" y="4656125"/>
            <a:ext cx="4251960" cy="400507"/>
          </a:xfrm>
          <a:prstGeom prst="rect">
            <a:avLst/>
          </a:prstGeom>
          <a:noFill/>
          <a:ln/>
        </p:spPr>
        <p:txBody>
          <a:bodyPr wrap="square" lIns="0" tIns="0" rIns="0" bIns="0" rtlCol="0" anchor="ctr"/>
          <a:lstStyle/>
          <a:p>
            <a:pPr algn="ctr" indent="0" marL="0">
              <a:buNone/>
            </a:pPr>
            <a:r>
              <a:rPr lang="en-US" sz="800" i="1" dirty="0">
                <a:solidFill>
                  <a:srgbClr val="003DA5"/>
                </a:solidFill>
                <a:latin typeface="Calibri" pitchFamily="34" charset="0"/>
                <a:ea typeface="Calibri" pitchFamily="34" charset="-122"/>
                <a:cs typeface="Calibri" pitchFamily="34" charset="-120"/>
              </a:rPr>
              <a:t>built once  ·  applied to all products</a:t>
            </a:r>
            <a:endParaRPr lang="en-US" sz="800" dirty="0"/>
          </a:p>
        </p:txBody>
      </p:sp>
      <p:sp>
        <p:nvSpPr>
          <p:cNvPr id="81" name="Shape 79"/>
          <p:cNvSpPr/>
          <p:nvPr/>
        </p:nvSpPr>
        <p:spPr>
          <a:xfrm>
            <a:off x="6172200" y="5212080"/>
            <a:ext cx="5623560" cy="457200"/>
          </a:xfrm>
          <a:prstGeom prst="rect">
            <a:avLst/>
          </a:prstGeom>
          <a:solidFill>
            <a:srgbClr val="FFFFFF"/>
          </a:solidFill>
          <a:ln w="12700">
            <a:solidFill>
              <a:srgbClr val="003DA5"/>
            </a:solidFill>
            <a:prstDash val="solid"/>
          </a:ln>
        </p:spPr>
      </p:sp>
      <p:sp>
        <p:nvSpPr>
          <p:cNvPr id="82" name="Text 80"/>
          <p:cNvSpPr/>
          <p:nvPr/>
        </p:nvSpPr>
        <p:spPr>
          <a:xfrm>
            <a:off x="6355080" y="5212080"/>
            <a:ext cx="5349240" cy="457200"/>
          </a:xfrm>
          <a:prstGeom prst="rect">
            <a:avLst/>
          </a:prstGeom>
          <a:noFill/>
          <a:ln/>
        </p:spPr>
        <p:txBody>
          <a:bodyPr wrap="square" lIns="0" tIns="0" rIns="0" bIns="0" rtlCol="0" anchor="ctr"/>
          <a:lstStyle/>
          <a:p>
            <a:pPr indent="0" marL="0">
              <a:buNone/>
            </a:pPr>
            <a:r>
              <a:rPr lang="en-US" sz="1000" b="1" dirty="0">
                <a:solidFill>
                  <a:srgbClr val="003DA5"/>
                </a:solidFill>
                <a:latin typeface="Calibri" pitchFamily="34" charset="0"/>
                <a:ea typeface="Calibri" pitchFamily="34" charset="-122"/>
                <a:cs typeface="Calibri" pitchFamily="34" charset="-120"/>
              </a:rPr>
              <a:t>Result:  </a:t>
            </a:r>
            <a:pPr indent="0" marL="0">
              <a:buNone/>
            </a:pPr>
            <a:r>
              <a:rPr lang="en-US" sz="1000" dirty="0">
                <a:solidFill>
                  <a:srgbClr val="1A1F36"/>
                </a:solidFill>
                <a:latin typeface="Calibri" pitchFamily="34" charset="0"/>
                <a:ea typeface="Calibri" pitchFamily="34" charset="-122"/>
                <a:cs typeface="Calibri" pitchFamily="34" charset="-120"/>
              </a:rPr>
              <a:t>5 capabilities × 1 implementation = </a:t>
            </a:r>
            <a:pPr indent="0" marL="0">
              <a:buNone/>
            </a:pPr>
            <a:r>
              <a:rPr lang="en-US" sz="1000" b="1" dirty="0">
                <a:solidFill>
                  <a:srgbClr val="003DA5"/>
                </a:solidFill>
                <a:latin typeface="Calibri" pitchFamily="34" charset="0"/>
                <a:ea typeface="Calibri" pitchFamily="34" charset="-122"/>
                <a:cs typeface="Calibri" pitchFamily="34" charset="-120"/>
              </a:rPr>
              <a:t>5 things to build &amp; maintain. </a:t>
            </a:r>
            <a:pPr indent="0" marL="0">
              <a:buNone/>
            </a:pPr>
            <a:r>
              <a:rPr lang="en-US" sz="1000" i="1" dirty="0">
                <a:solidFill>
                  <a:srgbClr val="003DA5"/>
                </a:solidFill>
                <a:latin typeface="Calibri" pitchFamily="34" charset="0"/>
                <a:ea typeface="Calibri" pitchFamily="34" charset="-122"/>
                <a:cs typeface="Calibri" pitchFamily="34" charset="-120"/>
              </a:rPr>
              <a:t>One dialect of "compliant."</a:t>
            </a:r>
            <a:endParaRPr lang="en-US" sz="1000" dirty="0"/>
          </a:p>
        </p:txBody>
      </p:sp>
      <p:sp>
        <p:nvSpPr>
          <p:cNvPr id="83" name="Shape 81"/>
          <p:cNvSpPr/>
          <p:nvPr/>
        </p:nvSpPr>
        <p:spPr>
          <a:xfrm>
            <a:off x="365760" y="5897880"/>
            <a:ext cx="11430000" cy="502920"/>
          </a:xfrm>
          <a:prstGeom prst="rect">
            <a:avLst/>
          </a:prstGeom>
          <a:solidFill>
            <a:srgbClr val="002060"/>
          </a:solidFill>
          <a:ln w="12700">
            <a:solidFill>
              <a:srgbClr val="002060"/>
            </a:solidFill>
            <a:prstDash val="solid"/>
          </a:ln>
        </p:spPr>
      </p:sp>
      <p:sp>
        <p:nvSpPr>
          <p:cNvPr id="84" name="Shape 82"/>
          <p:cNvSpPr/>
          <p:nvPr/>
        </p:nvSpPr>
        <p:spPr>
          <a:xfrm>
            <a:off x="365760" y="5897880"/>
            <a:ext cx="73152" cy="502920"/>
          </a:xfrm>
          <a:prstGeom prst="rect">
            <a:avLst/>
          </a:prstGeom>
          <a:solidFill>
            <a:srgbClr val="FFC72C"/>
          </a:solidFill>
          <a:ln w="12700">
            <a:solidFill>
              <a:srgbClr val="FFC72C"/>
            </a:solidFill>
            <a:prstDash val="solid"/>
          </a:ln>
        </p:spPr>
      </p:sp>
      <p:sp>
        <p:nvSpPr>
          <p:cNvPr id="85" name="Text 83"/>
          <p:cNvSpPr/>
          <p:nvPr/>
        </p:nvSpPr>
        <p:spPr>
          <a:xfrm>
            <a:off x="594360" y="5897880"/>
            <a:ext cx="1097280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Same capabilities. Different topology.  </a:t>
            </a:r>
            <a:pPr indent="0" marL="0">
              <a:buNone/>
            </a:pPr>
            <a:r>
              <a:rPr lang="en-US" sz="1200" i="1" dirty="0">
                <a:solidFill>
                  <a:srgbClr val="FFC72C"/>
                </a:solidFill>
                <a:latin typeface="Calibri" pitchFamily="34" charset="0"/>
                <a:ea typeface="Calibri" pitchFamily="34" charset="-122"/>
                <a:cs typeface="Calibri" pitchFamily="34" charset="-120"/>
              </a:rPr>
              <a:t>Horizontals scale linearly. Disjoint verticals scale with capabilities × products.</a:t>
            </a:r>
            <a:endParaRPr lang="en-US" sz="1200" dirty="0"/>
          </a:p>
        </p:txBody>
      </p:sp>
      <p:sp>
        <p:nvSpPr>
          <p:cNvPr id="86" name="Shape 84"/>
          <p:cNvSpPr/>
          <p:nvPr/>
        </p:nvSpPr>
        <p:spPr>
          <a:xfrm>
            <a:off x="0" y="6537960"/>
            <a:ext cx="12161520" cy="18288"/>
          </a:xfrm>
          <a:prstGeom prst="rect">
            <a:avLst/>
          </a:prstGeom>
          <a:solidFill>
            <a:srgbClr val="D8DEE9"/>
          </a:solidFill>
          <a:ln w="12700">
            <a:solidFill>
              <a:srgbClr val="D8DEE9"/>
            </a:solidFill>
            <a:prstDash val="solid"/>
          </a:ln>
        </p:spPr>
      </p:sp>
      <p:sp>
        <p:nvSpPr>
          <p:cNvPr id="87" name="Text 85"/>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88" name="Text 86"/>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OPS QUESTION</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Where does today's operations team land?</a:t>
            </a:r>
            <a:endParaRPr lang="en-US" sz="2800" dirty="0"/>
          </a:p>
        </p:txBody>
      </p:sp>
      <p:sp>
        <p:nvSpPr>
          <p:cNvPr id="4" name="Text 2"/>
          <p:cNvSpPr/>
          <p:nvPr/>
        </p:nvSpPr>
        <p:spPr>
          <a:xfrm>
            <a:off x="457200" y="1325880"/>
            <a:ext cx="11247120" cy="50292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Operations doesn't disappear — it redistributes. Today's ops engineers are the people with the deepest production scar tissue, which is precisely what the platform needs. Seven landing zones, with most of the people moving into product engineering.</a:t>
            </a:r>
            <a:endParaRPr lang="en-US" sz="1200" dirty="0"/>
          </a:p>
        </p:txBody>
      </p:sp>
      <p:sp>
        <p:nvSpPr>
          <p:cNvPr id="5" name="Shape 3"/>
          <p:cNvSpPr/>
          <p:nvPr/>
        </p:nvSpPr>
        <p:spPr>
          <a:xfrm>
            <a:off x="365760" y="1920240"/>
            <a:ext cx="2768346" cy="1783080"/>
          </a:xfrm>
          <a:prstGeom prst="rect">
            <a:avLst/>
          </a:prstGeom>
          <a:solidFill>
            <a:srgbClr val="EAF1FB"/>
          </a:solidFill>
          <a:ln w="6350">
            <a:solidFill>
              <a:srgbClr val="D8DEE9"/>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365760" y="1920240"/>
            <a:ext cx="2768346" cy="73152"/>
          </a:xfrm>
          <a:prstGeom prst="rect">
            <a:avLst/>
          </a:prstGeom>
          <a:solidFill>
            <a:srgbClr val="003DA5"/>
          </a:solidFill>
          <a:ln w="12700">
            <a:solidFill>
              <a:srgbClr val="003DA5"/>
            </a:solidFill>
            <a:prstDash val="solid"/>
          </a:ln>
        </p:spPr>
      </p:sp>
      <p:sp>
        <p:nvSpPr>
          <p:cNvPr id="7" name="Text 5"/>
          <p:cNvSpPr/>
          <p:nvPr/>
        </p:nvSpPr>
        <p:spPr>
          <a:xfrm>
            <a:off x="2356866" y="2084832"/>
            <a:ext cx="685800" cy="292608"/>
          </a:xfrm>
          <a:prstGeom prst="rect">
            <a:avLst/>
          </a:prstGeom>
          <a:noFill/>
          <a:ln/>
        </p:spPr>
        <p:txBody>
          <a:bodyPr wrap="square" lIns="0" tIns="0" rIns="0" bIns="0" rtlCol="0" anchor="ctr"/>
          <a:lstStyle/>
          <a:p>
            <a:pPr algn="r" indent="0" marL="0">
              <a:buNone/>
            </a:pPr>
            <a:r>
              <a:rPr lang="en-US" sz="1400" b="1" dirty="0">
                <a:solidFill>
                  <a:srgbClr val="003DA5"/>
                </a:solidFill>
                <a:latin typeface="Georgia" pitchFamily="34" charset="0"/>
                <a:ea typeface="Georgia" pitchFamily="34" charset="-122"/>
                <a:cs typeface="Georgia" pitchFamily="34" charset="-120"/>
              </a:rPr>
              <a:t>~50%</a:t>
            </a:r>
            <a:endParaRPr lang="en-US" sz="1400" dirty="0"/>
          </a:p>
        </p:txBody>
      </p:sp>
      <p:sp>
        <p:nvSpPr>
          <p:cNvPr id="8" name="Text 6"/>
          <p:cNvSpPr/>
          <p:nvPr/>
        </p:nvSpPr>
        <p:spPr>
          <a:xfrm>
            <a:off x="530352" y="2103120"/>
            <a:ext cx="1853946" cy="320040"/>
          </a:xfrm>
          <a:prstGeom prst="rect">
            <a:avLst/>
          </a:prstGeom>
          <a:noFill/>
          <a:ln/>
        </p:spPr>
        <p:txBody>
          <a:bodyPr wrap="square" lIns="0" tIns="0" rIns="0" bIns="0" rtlCol="0" anchor="ctr"/>
          <a:lstStyle/>
          <a:p>
            <a:pPr indent="0" marL="0">
              <a:buNone/>
            </a:pPr>
            <a:r>
              <a:rPr lang="en-US" sz="1300" b="1" dirty="0">
                <a:solidFill>
                  <a:srgbClr val="1A1F36"/>
                </a:solidFill>
                <a:latin typeface="Georgia" pitchFamily="34" charset="0"/>
                <a:ea typeface="Georgia" pitchFamily="34" charset="-122"/>
                <a:cs typeface="Georgia" pitchFamily="34" charset="-120"/>
              </a:rPr>
              <a:t>Product Engineering</a:t>
            </a:r>
            <a:endParaRPr lang="en-US" sz="1300" dirty="0"/>
          </a:p>
        </p:txBody>
      </p:sp>
      <p:sp>
        <p:nvSpPr>
          <p:cNvPr id="9" name="Text 7"/>
          <p:cNvSpPr/>
          <p:nvPr/>
        </p:nvSpPr>
        <p:spPr>
          <a:xfrm>
            <a:off x="530352" y="2423160"/>
            <a:ext cx="2494026" cy="228600"/>
          </a:xfrm>
          <a:prstGeom prst="rect">
            <a:avLst/>
          </a:prstGeom>
          <a:noFill/>
          <a:ln/>
        </p:spPr>
        <p:txBody>
          <a:bodyPr wrap="square" lIns="0" tIns="0" rIns="0" bIns="0" rtlCol="0" anchor="ctr"/>
          <a:lstStyle/>
          <a:p>
            <a:pPr indent="0" marL="0">
              <a:buNone/>
            </a:pPr>
            <a:r>
              <a:rPr lang="en-US" sz="950" i="1" dirty="0">
                <a:solidFill>
                  <a:srgbClr val="003DA5"/>
                </a:solidFill>
                <a:latin typeface="Calibri" pitchFamily="34" charset="0"/>
                <a:ea typeface="Calibri" pitchFamily="34" charset="-122"/>
                <a:cs typeface="Calibri" pitchFamily="34" charset="-120"/>
              </a:rPr>
              <a:t>Largest landing zone</a:t>
            </a:r>
            <a:endParaRPr lang="en-US" sz="950" dirty="0"/>
          </a:p>
        </p:txBody>
      </p:sp>
      <p:sp>
        <p:nvSpPr>
          <p:cNvPr id="10" name="Shape 8"/>
          <p:cNvSpPr/>
          <p:nvPr/>
        </p:nvSpPr>
        <p:spPr>
          <a:xfrm>
            <a:off x="530352" y="2697480"/>
            <a:ext cx="320040" cy="22860"/>
          </a:xfrm>
          <a:prstGeom prst="rect">
            <a:avLst/>
          </a:prstGeom>
          <a:solidFill>
            <a:srgbClr val="003DA5"/>
          </a:solidFill>
          <a:ln w="12700">
            <a:solidFill>
              <a:srgbClr val="003DA5"/>
            </a:solidFill>
            <a:prstDash val="solid"/>
          </a:ln>
        </p:spPr>
      </p:sp>
      <p:sp>
        <p:nvSpPr>
          <p:cNvPr id="11" name="Text 9"/>
          <p:cNvSpPr/>
          <p:nvPr/>
        </p:nvSpPr>
        <p:spPr>
          <a:xfrm>
            <a:off x="530352" y="2788920"/>
            <a:ext cx="2439162" cy="822960"/>
          </a:xfrm>
          <a:prstGeom prst="rect">
            <a:avLst/>
          </a:prstGeom>
          <a:noFill/>
          <a:ln/>
        </p:spPr>
        <p:txBody>
          <a:bodyPr wrap="square" lIns="0" tIns="0" rIns="0" bIns="0" rtlCol="0" anchor="t"/>
          <a:lstStyle/>
          <a:p>
            <a:pPr indent="0" marL="0">
              <a:buNone/>
            </a:pPr>
            <a:r>
              <a:rPr lang="en-US" sz="950" dirty="0">
                <a:solidFill>
                  <a:srgbClr val="1A1F36"/>
                </a:solidFill>
                <a:latin typeface="Calibri" pitchFamily="34" charset="0"/>
                <a:ea typeface="Calibri" pitchFamily="34" charset="-122"/>
                <a:cs typeface="Calibri" pitchFamily="34" charset="-120"/>
              </a:rPr>
              <a:t>Build Layer-1 modules, Layer-2 policies, Layer-3 workflows. Operational scar tissue becomes product judgment.</a:t>
            </a:r>
            <a:endParaRPr lang="en-US" sz="950" dirty="0"/>
          </a:p>
        </p:txBody>
      </p:sp>
      <p:sp>
        <p:nvSpPr>
          <p:cNvPr id="12" name="Shape 10"/>
          <p:cNvSpPr/>
          <p:nvPr/>
        </p:nvSpPr>
        <p:spPr>
          <a:xfrm>
            <a:off x="3252978" y="1920240"/>
            <a:ext cx="2768346" cy="1783080"/>
          </a:xfrm>
          <a:prstGeom prst="rect">
            <a:avLst/>
          </a:prstGeom>
          <a:solidFill>
            <a:srgbClr val="EAF1FB"/>
          </a:solidFill>
          <a:ln w="6350">
            <a:solidFill>
              <a:srgbClr val="D8DEE9"/>
            </a:solidFill>
            <a:prstDash val="solid"/>
          </a:ln>
          <a:effectLst>
            <a:outerShdw sx="100000" sy="100000" kx="0" ky="0" algn="bl" rotWithShape="0" blurRad="101600" dist="25400" dir="5400000">
              <a:srgbClr val="000000">
                <a:alpha val="8000"/>
              </a:srgbClr>
            </a:outerShdw>
          </a:effectLst>
        </p:spPr>
      </p:sp>
      <p:sp>
        <p:nvSpPr>
          <p:cNvPr id="13" name="Shape 11"/>
          <p:cNvSpPr/>
          <p:nvPr/>
        </p:nvSpPr>
        <p:spPr>
          <a:xfrm>
            <a:off x="3252978" y="1920240"/>
            <a:ext cx="2768346" cy="73152"/>
          </a:xfrm>
          <a:prstGeom prst="rect">
            <a:avLst/>
          </a:prstGeom>
          <a:solidFill>
            <a:srgbClr val="003DA5"/>
          </a:solidFill>
          <a:ln w="12700">
            <a:solidFill>
              <a:srgbClr val="003DA5"/>
            </a:solidFill>
            <a:prstDash val="solid"/>
          </a:ln>
        </p:spPr>
      </p:sp>
      <p:sp>
        <p:nvSpPr>
          <p:cNvPr id="14" name="Text 12"/>
          <p:cNvSpPr/>
          <p:nvPr/>
        </p:nvSpPr>
        <p:spPr>
          <a:xfrm>
            <a:off x="5244084" y="2084832"/>
            <a:ext cx="685800" cy="292608"/>
          </a:xfrm>
          <a:prstGeom prst="rect">
            <a:avLst/>
          </a:prstGeom>
          <a:noFill/>
          <a:ln/>
        </p:spPr>
        <p:txBody>
          <a:bodyPr wrap="square" lIns="0" tIns="0" rIns="0" bIns="0" rtlCol="0" anchor="ctr"/>
          <a:lstStyle/>
          <a:p>
            <a:pPr algn="r" indent="0" marL="0">
              <a:buNone/>
            </a:pPr>
            <a:r>
              <a:rPr lang="en-US" sz="1400" b="1" dirty="0">
                <a:solidFill>
                  <a:srgbClr val="003DA5"/>
                </a:solidFill>
                <a:latin typeface="Georgia" pitchFamily="34" charset="0"/>
                <a:ea typeface="Georgia" pitchFamily="34" charset="-122"/>
                <a:cs typeface="Georgia" pitchFamily="34" charset="-120"/>
              </a:rPr>
              <a:t>~10%</a:t>
            </a:r>
            <a:endParaRPr lang="en-US" sz="1400" dirty="0"/>
          </a:p>
        </p:txBody>
      </p:sp>
      <p:sp>
        <p:nvSpPr>
          <p:cNvPr id="15" name="Text 13"/>
          <p:cNvSpPr/>
          <p:nvPr/>
        </p:nvSpPr>
        <p:spPr>
          <a:xfrm>
            <a:off x="3417570" y="2103120"/>
            <a:ext cx="1853946" cy="320040"/>
          </a:xfrm>
          <a:prstGeom prst="rect">
            <a:avLst/>
          </a:prstGeom>
          <a:noFill/>
          <a:ln/>
        </p:spPr>
        <p:txBody>
          <a:bodyPr wrap="square" lIns="0" tIns="0" rIns="0" bIns="0" rtlCol="0" anchor="ctr"/>
          <a:lstStyle/>
          <a:p>
            <a:pPr indent="0" marL="0">
              <a:buNone/>
            </a:pPr>
            <a:r>
              <a:rPr lang="en-US" sz="1300" b="1" dirty="0">
                <a:solidFill>
                  <a:srgbClr val="1A1F36"/>
                </a:solidFill>
                <a:latin typeface="Georgia" pitchFamily="34" charset="0"/>
                <a:ea typeface="Georgia" pitchFamily="34" charset="-122"/>
                <a:cs typeface="Georgia" pitchFamily="34" charset="-120"/>
              </a:rPr>
              <a:t>SRE / Reliability</a:t>
            </a:r>
            <a:endParaRPr lang="en-US" sz="1300" dirty="0"/>
          </a:p>
        </p:txBody>
      </p:sp>
      <p:sp>
        <p:nvSpPr>
          <p:cNvPr id="16" name="Text 14"/>
          <p:cNvSpPr/>
          <p:nvPr/>
        </p:nvSpPr>
        <p:spPr>
          <a:xfrm>
            <a:off x="3417570" y="2423160"/>
            <a:ext cx="2494026" cy="228600"/>
          </a:xfrm>
          <a:prstGeom prst="rect">
            <a:avLst/>
          </a:prstGeom>
          <a:noFill/>
          <a:ln/>
        </p:spPr>
        <p:txBody>
          <a:bodyPr wrap="square" lIns="0" tIns="0" rIns="0" bIns="0" rtlCol="0" anchor="ctr"/>
          <a:lstStyle/>
          <a:p>
            <a:pPr indent="0" marL="0">
              <a:buNone/>
            </a:pPr>
            <a:r>
              <a:rPr lang="en-US" sz="950" i="1" dirty="0">
                <a:solidFill>
                  <a:srgbClr val="003DA5"/>
                </a:solidFill>
                <a:latin typeface="Calibri" pitchFamily="34" charset="0"/>
                <a:ea typeface="Calibri" pitchFamily="34" charset="-122"/>
                <a:cs typeface="Calibri" pitchFamily="34" charset="-120"/>
              </a:rPr>
              <a:t>Senior incident &amp; chaos work</a:t>
            </a:r>
            <a:endParaRPr lang="en-US" sz="950" dirty="0"/>
          </a:p>
        </p:txBody>
      </p:sp>
      <p:sp>
        <p:nvSpPr>
          <p:cNvPr id="17" name="Shape 15"/>
          <p:cNvSpPr/>
          <p:nvPr/>
        </p:nvSpPr>
        <p:spPr>
          <a:xfrm>
            <a:off x="3417570" y="2697480"/>
            <a:ext cx="320040" cy="22860"/>
          </a:xfrm>
          <a:prstGeom prst="rect">
            <a:avLst/>
          </a:prstGeom>
          <a:solidFill>
            <a:srgbClr val="003DA5"/>
          </a:solidFill>
          <a:ln w="12700">
            <a:solidFill>
              <a:srgbClr val="003DA5"/>
            </a:solidFill>
            <a:prstDash val="solid"/>
          </a:ln>
        </p:spPr>
      </p:sp>
      <p:sp>
        <p:nvSpPr>
          <p:cNvPr id="18" name="Text 16"/>
          <p:cNvSpPr/>
          <p:nvPr/>
        </p:nvSpPr>
        <p:spPr>
          <a:xfrm>
            <a:off x="3417570" y="2788920"/>
            <a:ext cx="2439162" cy="822960"/>
          </a:xfrm>
          <a:prstGeom prst="rect">
            <a:avLst/>
          </a:prstGeom>
          <a:noFill/>
          <a:ln/>
        </p:spPr>
        <p:txBody>
          <a:bodyPr wrap="square" lIns="0" tIns="0" rIns="0" bIns="0" rtlCol="0" anchor="t"/>
          <a:lstStyle/>
          <a:p>
            <a:pPr indent="0" marL="0">
              <a:buNone/>
            </a:pPr>
            <a:r>
              <a:rPr lang="en-US" sz="950" dirty="0">
                <a:solidFill>
                  <a:srgbClr val="1A1F36"/>
                </a:solidFill>
                <a:latin typeface="Calibri" pitchFamily="34" charset="0"/>
                <a:ea typeface="Calibri" pitchFamily="34" charset="-122"/>
                <a:cs typeface="Calibri" pitchFamily="34" charset="-120"/>
              </a:rPr>
              <a:t>Carry the pager for novel failures. Run chaos engineering, error budgets, post-incident learning.</a:t>
            </a:r>
            <a:endParaRPr lang="en-US" sz="950" dirty="0"/>
          </a:p>
        </p:txBody>
      </p:sp>
      <p:sp>
        <p:nvSpPr>
          <p:cNvPr id="19" name="Shape 17"/>
          <p:cNvSpPr/>
          <p:nvPr/>
        </p:nvSpPr>
        <p:spPr>
          <a:xfrm>
            <a:off x="6140196" y="1920240"/>
            <a:ext cx="2768346" cy="1783080"/>
          </a:xfrm>
          <a:prstGeom prst="rect">
            <a:avLst/>
          </a:prstGeom>
          <a:solidFill>
            <a:srgbClr val="FFF6E0"/>
          </a:solidFill>
          <a:ln w="6350">
            <a:solidFill>
              <a:srgbClr val="D8DEE9"/>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6140196" y="1920240"/>
            <a:ext cx="2768346" cy="73152"/>
          </a:xfrm>
          <a:prstGeom prst="rect">
            <a:avLst/>
          </a:prstGeom>
          <a:solidFill>
            <a:srgbClr val="E0A800"/>
          </a:solidFill>
          <a:ln w="12700">
            <a:solidFill>
              <a:srgbClr val="E0A800"/>
            </a:solidFill>
            <a:prstDash val="solid"/>
          </a:ln>
        </p:spPr>
      </p:sp>
      <p:sp>
        <p:nvSpPr>
          <p:cNvPr id="21" name="Text 19"/>
          <p:cNvSpPr/>
          <p:nvPr/>
        </p:nvSpPr>
        <p:spPr>
          <a:xfrm>
            <a:off x="8131302" y="2084832"/>
            <a:ext cx="685800" cy="292608"/>
          </a:xfrm>
          <a:prstGeom prst="rect">
            <a:avLst/>
          </a:prstGeom>
          <a:noFill/>
          <a:ln/>
        </p:spPr>
        <p:txBody>
          <a:bodyPr wrap="square" lIns="0" tIns="0" rIns="0" bIns="0" rtlCol="0" anchor="ctr"/>
          <a:lstStyle/>
          <a:p>
            <a:pPr algn="r" indent="0" marL="0">
              <a:buNone/>
            </a:pPr>
            <a:r>
              <a:rPr lang="en-US" sz="1400" b="1" dirty="0">
                <a:solidFill>
                  <a:srgbClr val="E0A800"/>
                </a:solidFill>
                <a:latin typeface="Georgia" pitchFamily="34" charset="0"/>
                <a:ea typeface="Georgia" pitchFamily="34" charset="-122"/>
                <a:cs typeface="Georgia" pitchFamily="34" charset="-120"/>
              </a:rPr>
              <a:t>~15%</a:t>
            </a:r>
            <a:endParaRPr lang="en-US" sz="1400" dirty="0"/>
          </a:p>
        </p:txBody>
      </p:sp>
      <p:sp>
        <p:nvSpPr>
          <p:cNvPr id="22" name="Text 20"/>
          <p:cNvSpPr/>
          <p:nvPr/>
        </p:nvSpPr>
        <p:spPr>
          <a:xfrm>
            <a:off x="6304788" y="2103120"/>
            <a:ext cx="1853946" cy="320040"/>
          </a:xfrm>
          <a:prstGeom prst="rect">
            <a:avLst/>
          </a:prstGeom>
          <a:noFill/>
          <a:ln/>
        </p:spPr>
        <p:txBody>
          <a:bodyPr wrap="square" lIns="0" tIns="0" rIns="0" bIns="0" rtlCol="0" anchor="ctr"/>
          <a:lstStyle/>
          <a:p>
            <a:pPr indent="0" marL="0">
              <a:buNone/>
            </a:pPr>
            <a:r>
              <a:rPr lang="en-US" sz="1300" b="1" dirty="0">
                <a:solidFill>
                  <a:srgbClr val="1A1F36"/>
                </a:solidFill>
                <a:latin typeface="Georgia" pitchFamily="34" charset="0"/>
                <a:ea typeface="Georgia" pitchFamily="34" charset="-122"/>
                <a:cs typeface="Georgia" pitchFamily="34" charset="-120"/>
              </a:rPr>
              <a:t>Horizontal Functions</a:t>
            </a:r>
            <a:endParaRPr lang="en-US" sz="1300" dirty="0"/>
          </a:p>
        </p:txBody>
      </p:sp>
      <p:sp>
        <p:nvSpPr>
          <p:cNvPr id="23" name="Text 21"/>
          <p:cNvSpPr/>
          <p:nvPr/>
        </p:nvSpPr>
        <p:spPr>
          <a:xfrm>
            <a:off x="6304788" y="2423160"/>
            <a:ext cx="2494026" cy="228600"/>
          </a:xfrm>
          <a:prstGeom prst="rect">
            <a:avLst/>
          </a:prstGeom>
          <a:noFill/>
          <a:ln/>
        </p:spPr>
        <p:txBody>
          <a:bodyPr wrap="square" lIns="0" tIns="0" rIns="0" bIns="0" rtlCol="0" anchor="ctr"/>
          <a:lstStyle/>
          <a:p>
            <a:pPr indent="0" marL="0">
              <a:buNone/>
            </a:pPr>
            <a:r>
              <a:rPr lang="en-US" sz="950" i="1" dirty="0">
                <a:solidFill>
                  <a:srgbClr val="E0A800"/>
                </a:solidFill>
                <a:latin typeface="Calibri" pitchFamily="34" charset="0"/>
                <a:ea typeface="Calibri" pitchFamily="34" charset="-122"/>
                <a:cs typeface="Calibri" pitchFamily="34" charset="-120"/>
              </a:rPr>
              <a:t>Compliance · Optimize · Tooling</a:t>
            </a:r>
            <a:endParaRPr lang="en-US" sz="950" dirty="0"/>
          </a:p>
        </p:txBody>
      </p:sp>
      <p:sp>
        <p:nvSpPr>
          <p:cNvPr id="24" name="Shape 22"/>
          <p:cNvSpPr/>
          <p:nvPr/>
        </p:nvSpPr>
        <p:spPr>
          <a:xfrm>
            <a:off x="6304788" y="2697480"/>
            <a:ext cx="320040" cy="22860"/>
          </a:xfrm>
          <a:prstGeom prst="rect">
            <a:avLst/>
          </a:prstGeom>
          <a:solidFill>
            <a:srgbClr val="E0A800"/>
          </a:solidFill>
          <a:ln w="12700">
            <a:solidFill>
              <a:srgbClr val="E0A800"/>
            </a:solidFill>
            <a:prstDash val="solid"/>
          </a:ln>
        </p:spPr>
      </p:sp>
      <p:sp>
        <p:nvSpPr>
          <p:cNvPr id="25" name="Text 23"/>
          <p:cNvSpPr/>
          <p:nvPr/>
        </p:nvSpPr>
        <p:spPr>
          <a:xfrm>
            <a:off x="6304788" y="2788920"/>
            <a:ext cx="2439162" cy="822960"/>
          </a:xfrm>
          <a:prstGeom prst="rect">
            <a:avLst/>
          </a:prstGeom>
          <a:noFill/>
          <a:ln/>
        </p:spPr>
        <p:txBody>
          <a:bodyPr wrap="square" lIns="0" tIns="0" rIns="0" bIns="0" rtlCol="0" anchor="t"/>
          <a:lstStyle/>
          <a:p>
            <a:pPr indent="0" marL="0">
              <a:buNone/>
            </a:pPr>
            <a:r>
              <a:rPr lang="en-US" sz="950" dirty="0">
                <a:solidFill>
                  <a:srgbClr val="1A1F36"/>
                </a:solidFill>
                <a:latin typeface="Calibri" pitchFamily="34" charset="0"/>
                <a:ea typeface="Calibri" pitchFamily="34" charset="-122"/>
                <a:cs typeface="Calibri" pitchFamily="34" charset="-120"/>
              </a:rPr>
              <a:t>Build the shared layers used by every pod. Cross-platform leverage no single vertical can produce.</a:t>
            </a:r>
            <a:endParaRPr lang="en-US" sz="950" dirty="0"/>
          </a:p>
        </p:txBody>
      </p:sp>
      <p:sp>
        <p:nvSpPr>
          <p:cNvPr id="26" name="Shape 24"/>
          <p:cNvSpPr/>
          <p:nvPr/>
        </p:nvSpPr>
        <p:spPr>
          <a:xfrm>
            <a:off x="9027414" y="1920240"/>
            <a:ext cx="2768346" cy="1783080"/>
          </a:xfrm>
          <a:prstGeom prst="rect">
            <a:avLst/>
          </a:prstGeom>
          <a:solidFill>
            <a:srgbClr val="FFF6E0"/>
          </a:solidFill>
          <a:ln w="6350">
            <a:solidFill>
              <a:srgbClr val="D8DEE9"/>
            </a:solidFill>
            <a:prstDash val="solid"/>
          </a:ln>
          <a:effectLst>
            <a:outerShdw sx="100000" sy="100000" kx="0" ky="0" algn="bl" rotWithShape="0" blurRad="101600" dist="25400" dir="5400000">
              <a:srgbClr val="000000">
                <a:alpha val="8000"/>
              </a:srgbClr>
            </a:outerShdw>
          </a:effectLst>
        </p:spPr>
      </p:sp>
      <p:sp>
        <p:nvSpPr>
          <p:cNvPr id="27" name="Shape 25"/>
          <p:cNvSpPr/>
          <p:nvPr/>
        </p:nvSpPr>
        <p:spPr>
          <a:xfrm>
            <a:off x="9027414" y="1920240"/>
            <a:ext cx="2768346" cy="73152"/>
          </a:xfrm>
          <a:prstGeom prst="rect">
            <a:avLst/>
          </a:prstGeom>
          <a:solidFill>
            <a:srgbClr val="E0A800"/>
          </a:solidFill>
          <a:ln w="12700">
            <a:solidFill>
              <a:srgbClr val="E0A800"/>
            </a:solidFill>
            <a:prstDash val="solid"/>
          </a:ln>
        </p:spPr>
      </p:sp>
      <p:sp>
        <p:nvSpPr>
          <p:cNvPr id="28" name="Text 26"/>
          <p:cNvSpPr/>
          <p:nvPr/>
        </p:nvSpPr>
        <p:spPr>
          <a:xfrm>
            <a:off x="11018520" y="2084832"/>
            <a:ext cx="685800" cy="292608"/>
          </a:xfrm>
          <a:prstGeom prst="rect">
            <a:avLst/>
          </a:prstGeom>
          <a:noFill/>
          <a:ln/>
        </p:spPr>
        <p:txBody>
          <a:bodyPr wrap="square" lIns="0" tIns="0" rIns="0" bIns="0" rtlCol="0" anchor="ctr"/>
          <a:lstStyle/>
          <a:p>
            <a:pPr algn="r" indent="0" marL="0">
              <a:buNone/>
            </a:pPr>
            <a:r>
              <a:rPr lang="en-US" sz="1400" b="1" dirty="0">
                <a:solidFill>
                  <a:srgbClr val="E0A800"/>
                </a:solidFill>
                <a:latin typeface="Georgia" pitchFamily="34" charset="0"/>
                <a:ea typeface="Georgia" pitchFamily="34" charset="-122"/>
                <a:cs typeface="Georgia" pitchFamily="34" charset="-120"/>
              </a:rPr>
              <a:t>~10%</a:t>
            </a:r>
            <a:endParaRPr lang="en-US" sz="1400" dirty="0"/>
          </a:p>
        </p:txBody>
      </p:sp>
      <p:sp>
        <p:nvSpPr>
          <p:cNvPr id="29" name="Text 27"/>
          <p:cNvSpPr/>
          <p:nvPr/>
        </p:nvSpPr>
        <p:spPr>
          <a:xfrm>
            <a:off x="9192006" y="2103120"/>
            <a:ext cx="1853946" cy="320040"/>
          </a:xfrm>
          <a:prstGeom prst="rect">
            <a:avLst/>
          </a:prstGeom>
          <a:noFill/>
          <a:ln/>
        </p:spPr>
        <p:txBody>
          <a:bodyPr wrap="square" lIns="0" tIns="0" rIns="0" bIns="0" rtlCol="0" anchor="ctr"/>
          <a:lstStyle/>
          <a:p>
            <a:pPr indent="0" marL="0">
              <a:buNone/>
            </a:pPr>
            <a:r>
              <a:rPr lang="en-US" sz="1300" b="1" dirty="0">
                <a:solidFill>
                  <a:srgbClr val="1A1F36"/>
                </a:solidFill>
                <a:latin typeface="Georgia" pitchFamily="34" charset="0"/>
                <a:ea typeface="Georgia" pitchFamily="34" charset="-122"/>
                <a:cs typeface="Georgia" pitchFamily="34" charset="-120"/>
              </a:rPr>
              <a:t>Platform Enablement</a:t>
            </a:r>
            <a:endParaRPr lang="en-US" sz="1300" dirty="0"/>
          </a:p>
        </p:txBody>
      </p:sp>
      <p:sp>
        <p:nvSpPr>
          <p:cNvPr id="30" name="Text 28"/>
          <p:cNvSpPr/>
          <p:nvPr/>
        </p:nvSpPr>
        <p:spPr>
          <a:xfrm>
            <a:off x="9192006" y="2423160"/>
            <a:ext cx="2494026" cy="228600"/>
          </a:xfrm>
          <a:prstGeom prst="rect">
            <a:avLst/>
          </a:prstGeom>
          <a:noFill/>
          <a:ln/>
        </p:spPr>
        <p:txBody>
          <a:bodyPr wrap="square" lIns="0" tIns="0" rIns="0" bIns="0" rtlCol="0" anchor="ctr"/>
          <a:lstStyle/>
          <a:p>
            <a:pPr indent="0" marL="0">
              <a:buNone/>
            </a:pPr>
            <a:r>
              <a:rPr lang="en-US" sz="950" i="1" dirty="0">
                <a:solidFill>
                  <a:srgbClr val="E0A800"/>
                </a:solidFill>
                <a:latin typeface="Calibri" pitchFamily="34" charset="0"/>
                <a:ea typeface="Calibri" pitchFamily="34" charset="-122"/>
                <a:cs typeface="Calibri" pitchFamily="34" charset="-120"/>
              </a:rPr>
              <a:t>Customer engineering for app teams</a:t>
            </a:r>
            <a:endParaRPr lang="en-US" sz="950" dirty="0"/>
          </a:p>
        </p:txBody>
      </p:sp>
      <p:sp>
        <p:nvSpPr>
          <p:cNvPr id="31" name="Shape 29"/>
          <p:cNvSpPr/>
          <p:nvPr/>
        </p:nvSpPr>
        <p:spPr>
          <a:xfrm>
            <a:off x="9192006" y="2697480"/>
            <a:ext cx="320040" cy="22860"/>
          </a:xfrm>
          <a:prstGeom prst="rect">
            <a:avLst/>
          </a:prstGeom>
          <a:solidFill>
            <a:srgbClr val="E0A800"/>
          </a:solidFill>
          <a:ln w="12700">
            <a:solidFill>
              <a:srgbClr val="E0A800"/>
            </a:solidFill>
            <a:prstDash val="solid"/>
          </a:ln>
        </p:spPr>
      </p:sp>
      <p:sp>
        <p:nvSpPr>
          <p:cNvPr id="32" name="Text 30"/>
          <p:cNvSpPr/>
          <p:nvPr/>
        </p:nvSpPr>
        <p:spPr>
          <a:xfrm>
            <a:off x="9192006" y="2788920"/>
            <a:ext cx="2439162" cy="822960"/>
          </a:xfrm>
          <a:prstGeom prst="rect">
            <a:avLst/>
          </a:prstGeom>
          <a:noFill/>
          <a:ln/>
        </p:spPr>
        <p:txBody>
          <a:bodyPr wrap="square" lIns="0" tIns="0" rIns="0" bIns="0" rtlCol="0" anchor="t"/>
          <a:lstStyle/>
          <a:p>
            <a:pPr indent="0" marL="0">
              <a:buNone/>
            </a:pPr>
            <a:r>
              <a:rPr lang="en-US" sz="950" dirty="0">
                <a:solidFill>
                  <a:srgbClr val="1A1F36"/>
                </a:solidFill>
                <a:latin typeface="Calibri" pitchFamily="34" charset="0"/>
                <a:ea typeface="Calibri" pitchFamily="34" charset="-122"/>
                <a:cs typeface="Calibri" pitchFamily="34" charset="-120"/>
              </a:rPr>
              <a:t>Office hours, design reviews, brownfield migrations. Help 600+ app teams consume the paved road well.</a:t>
            </a:r>
            <a:endParaRPr lang="en-US" sz="950" dirty="0"/>
          </a:p>
        </p:txBody>
      </p:sp>
      <p:sp>
        <p:nvSpPr>
          <p:cNvPr id="33" name="Shape 31"/>
          <p:cNvSpPr/>
          <p:nvPr/>
        </p:nvSpPr>
        <p:spPr>
          <a:xfrm>
            <a:off x="365760" y="3822192"/>
            <a:ext cx="3730752" cy="1783080"/>
          </a:xfrm>
          <a:prstGeom prst="rect">
            <a:avLst/>
          </a:prstGeom>
          <a:solidFill>
            <a:srgbClr val="F4F6FA"/>
          </a:solidFill>
          <a:ln w="6350">
            <a:solidFill>
              <a:srgbClr val="D8DEE9"/>
            </a:solidFill>
            <a:prstDash val="solid"/>
          </a:ln>
          <a:effectLst>
            <a:outerShdw sx="100000" sy="100000" kx="0" ky="0" algn="bl" rotWithShape="0" blurRad="101600" dist="25400" dir="5400000">
              <a:srgbClr val="000000">
                <a:alpha val="8000"/>
              </a:srgbClr>
            </a:outerShdw>
          </a:effectLst>
        </p:spPr>
      </p:sp>
      <p:sp>
        <p:nvSpPr>
          <p:cNvPr id="34" name="Shape 32"/>
          <p:cNvSpPr/>
          <p:nvPr/>
        </p:nvSpPr>
        <p:spPr>
          <a:xfrm>
            <a:off x="365760" y="3822192"/>
            <a:ext cx="3730752" cy="73152"/>
          </a:xfrm>
          <a:prstGeom prst="rect">
            <a:avLst/>
          </a:prstGeom>
          <a:solidFill>
            <a:srgbClr val="002060"/>
          </a:solidFill>
          <a:ln w="12700">
            <a:solidFill>
              <a:srgbClr val="002060"/>
            </a:solidFill>
            <a:prstDash val="solid"/>
          </a:ln>
        </p:spPr>
      </p:sp>
      <p:sp>
        <p:nvSpPr>
          <p:cNvPr id="35" name="Text 33"/>
          <p:cNvSpPr/>
          <p:nvPr/>
        </p:nvSpPr>
        <p:spPr>
          <a:xfrm>
            <a:off x="3319272" y="3986784"/>
            <a:ext cx="685800" cy="292608"/>
          </a:xfrm>
          <a:prstGeom prst="rect">
            <a:avLst/>
          </a:prstGeom>
          <a:noFill/>
          <a:ln/>
        </p:spPr>
        <p:txBody>
          <a:bodyPr wrap="square" lIns="0" tIns="0" rIns="0" bIns="0" rtlCol="0" anchor="ctr"/>
          <a:lstStyle/>
          <a:p>
            <a:pPr algn="r" indent="0" marL="0">
              <a:buNone/>
            </a:pPr>
            <a:r>
              <a:rPr lang="en-US" sz="1400" b="1" dirty="0">
                <a:solidFill>
                  <a:srgbClr val="002060"/>
                </a:solidFill>
                <a:latin typeface="Georgia" pitchFamily="34" charset="0"/>
                <a:ea typeface="Georgia" pitchFamily="34" charset="-122"/>
                <a:cs typeface="Georgia" pitchFamily="34" charset="-120"/>
              </a:rPr>
              <a:t>~5%</a:t>
            </a:r>
            <a:endParaRPr lang="en-US" sz="1400" dirty="0"/>
          </a:p>
        </p:txBody>
      </p:sp>
      <p:sp>
        <p:nvSpPr>
          <p:cNvPr id="36" name="Text 34"/>
          <p:cNvSpPr/>
          <p:nvPr/>
        </p:nvSpPr>
        <p:spPr>
          <a:xfrm>
            <a:off x="530352" y="4005072"/>
            <a:ext cx="2816352" cy="320040"/>
          </a:xfrm>
          <a:prstGeom prst="rect">
            <a:avLst/>
          </a:prstGeom>
          <a:noFill/>
          <a:ln/>
        </p:spPr>
        <p:txBody>
          <a:bodyPr wrap="square" lIns="0" tIns="0" rIns="0" bIns="0" rtlCol="0" anchor="ctr"/>
          <a:lstStyle/>
          <a:p>
            <a:pPr indent="0" marL="0">
              <a:buNone/>
            </a:pPr>
            <a:r>
              <a:rPr lang="en-US" sz="1300" b="1" dirty="0">
                <a:solidFill>
                  <a:srgbClr val="1A1F36"/>
                </a:solidFill>
                <a:latin typeface="Georgia" pitchFamily="34" charset="0"/>
                <a:ea typeface="Georgia" pitchFamily="34" charset="-122"/>
                <a:cs typeface="Georgia" pitchFamily="34" charset="-120"/>
              </a:rPr>
              <a:t>Exception Adjudication</a:t>
            </a:r>
            <a:endParaRPr lang="en-US" sz="1300" dirty="0"/>
          </a:p>
        </p:txBody>
      </p:sp>
      <p:sp>
        <p:nvSpPr>
          <p:cNvPr id="37" name="Text 35"/>
          <p:cNvSpPr/>
          <p:nvPr/>
        </p:nvSpPr>
        <p:spPr>
          <a:xfrm>
            <a:off x="530352" y="4325112"/>
            <a:ext cx="3456432" cy="228600"/>
          </a:xfrm>
          <a:prstGeom prst="rect">
            <a:avLst/>
          </a:prstGeom>
          <a:noFill/>
          <a:ln/>
        </p:spPr>
        <p:txBody>
          <a:bodyPr wrap="square" lIns="0" tIns="0" rIns="0" bIns="0" rtlCol="0" anchor="ctr"/>
          <a:lstStyle/>
          <a:p>
            <a:pPr indent="0" marL="0">
              <a:buNone/>
            </a:pPr>
            <a:r>
              <a:rPr lang="en-US" sz="950" i="1" dirty="0">
                <a:solidFill>
                  <a:srgbClr val="002060"/>
                </a:solidFill>
                <a:latin typeface="Calibri" pitchFamily="34" charset="0"/>
                <a:ea typeface="Calibri" pitchFamily="34" charset="-122"/>
                <a:cs typeface="Calibri" pitchFamily="34" charset="-120"/>
              </a:rPr>
              <a:t>Small, senior governance</a:t>
            </a:r>
            <a:endParaRPr lang="en-US" sz="950" dirty="0"/>
          </a:p>
        </p:txBody>
      </p:sp>
      <p:sp>
        <p:nvSpPr>
          <p:cNvPr id="38" name="Shape 36"/>
          <p:cNvSpPr/>
          <p:nvPr/>
        </p:nvSpPr>
        <p:spPr>
          <a:xfrm>
            <a:off x="530352" y="4599432"/>
            <a:ext cx="320040" cy="22860"/>
          </a:xfrm>
          <a:prstGeom prst="rect">
            <a:avLst/>
          </a:prstGeom>
          <a:solidFill>
            <a:srgbClr val="002060"/>
          </a:solidFill>
          <a:ln w="12700">
            <a:solidFill>
              <a:srgbClr val="002060"/>
            </a:solidFill>
            <a:prstDash val="solid"/>
          </a:ln>
        </p:spPr>
      </p:sp>
      <p:sp>
        <p:nvSpPr>
          <p:cNvPr id="39" name="Text 37"/>
          <p:cNvSpPr/>
          <p:nvPr/>
        </p:nvSpPr>
        <p:spPr>
          <a:xfrm>
            <a:off x="530352" y="4690872"/>
            <a:ext cx="3401568" cy="822960"/>
          </a:xfrm>
          <a:prstGeom prst="rect">
            <a:avLst/>
          </a:prstGeom>
          <a:noFill/>
          <a:ln/>
        </p:spPr>
        <p:txBody>
          <a:bodyPr wrap="square" lIns="0" tIns="0" rIns="0" bIns="0" rtlCol="0" anchor="t"/>
          <a:lstStyle/>
          <a:p>
            <a:pPr indent="0" marL="0">
              <a:buNone/>
            </a:pPr>
            <a:r>
              <a:rPr lang="en-US" sz="950" dirty="0">
                <a:solidFill>
                  <a:srgbClr val="1A1F36"/>
                </a:solidFill>
                <a:latin typeface="Calibri" pitchFamily="34" charset="0"/>
                <a:ea typeface="Calibri" pitchFamily="34" charset="-122"/>
                <a:cs typeface="Calibri" pitchFamily="34" charset="-120"/>
              </a:rPr>
              <a:t>Review what policy refuses to auto-approve. Decide, attach expiry, feed recurring patterns back into policy.</a:t>
            </a:r>
            <a:endParaRPr lang="en-US" sz="950" dirty="0"/>
          </a:p>
        </p:txBody>
      </p:sp>
      <p:sp>
        <p:nvSpPr>
          <p:cNvPr id="40" name="Shape 38"/>
          <p:cNvSpPr/>
          <p:nvPr/>
        </p:nvSpPr>
        <p:spPr>
          <a:xfrm>
            <a:off x="4215384" y="3822192"/>
            <a:ext cx="3730752" cy="1783080"/>
          </a:xfrm>
          <a:prstGeom prst="rect">
            <a:avLst/>
          </a:prstGeom>
          <a:solidFill>
            <a:srgbClr val="F4F6FA"/>
          </a:solidFill>
          <a:ln w="6350">
            <a:solidFill>
              <a:srgbClr val="D8DEE9"/>
            </a:solidFill>
            <a:prstDash val="solid"/>
          </a:ln>
          <a:effectLst>
            <a:outerShdw sx="100000" sy="100000" kx="0" ky="0" algn="bl" rotWithShape="0" blurRad="101600" dist="25400" dir="5400000">
              <a:srgbClr val="000000">
                <a:alpha val="8000"/>
              </a:srgbClr>
            </a:outerShdw>
          </a:effectLst>
        </p:spPr>
      </p:sp>
      <p:sp>
        <p:nvSpPr>
          <p:cNvPr id="41" name="Shape 39"/>
          <p:cNvSpPr/>
          <p:nvPr/>
        </p:nvSpPr>
        <p:spPr>
          <a:xfrm>
            <a:off x="4215384" y="3822192"/>
            <a:ext cx="3730752" cy="73152"/>
          </a:xfrm>
          <a:prstGeom prst="rect">
            <a:avLst/>
          </a:prstGeom>
          <a:solidFill>
            <a:srgbClr val="002060"/>
          </a:solidFill>
          <a:ln w="12700">
            <a:solidFill>
              <a:srgbClr val="002060"/>
            </a:solidFill>
            <a:prstDash val="solid"/>
          </a:ln>
        </p:spPr>
      </p:sp>
      <p:sp>
        <p:nvSpPr>
          <p:cNvPr id="42" name="Text 40"/>
          <p:cNvSpPr/>
          <p:nvPr/>
        </p:nvSpPr>
        <p:spPr>
          <a:xfrm>
            <a:off x="7168896" y="3986784"/>
            <a:ext cx="685800" cy="292608"/>
          </a:xfrm>
          <a:prstGeom prst="rect">
            <a:avLst/>
          </a:prstGeom>
          <a:noFill/>
          <a:ln/>
        </p:spPr>
        <p:txBody>
          <a:bodyPr wrap="square" lIns="0" tIns="0" rIns="0" bIns="0" rtlCol="0" anchor="ctr"/>
          <a:lstStyle/>
          <a:p>
            <a:pPr algn="r" indent="0" marL="0">
              <a:buNone/>
            </a:pPr>
            <a:r>
              <a:rPr lang="en-US" sz="1400" b="1" dirty="0">
                <a:solidFill>
                  <a:srgbClr val="002060"/>
                </a:solidFill>
                <a:latin typeface="Georgia" pitchFamily="34" charset="0"/>
                <a:ea typeface="Georgia" pitchFamily="34" charset="-122"/>
                <a:cs typeface="Georgia" pitchFamily="34" charset="-120"/>
              </a:rPr>
              <a:t>~5%</a:t>
            </a:r>
            <a:endParaRPr lang="en-US" sz="1400" dirty="0"/>
          </a:p>
        </p:txBody>
      </p:sp>
      <p:sp>
        <p:nvSpPr>
          <p:cNvPr id="43" name="Text 41"/>
          <p:cNvSpPr/>
          <p:nvPr/>
        </p:nvSpPr>
        <p:spPr>
          <a:xfrm>
            <a:off x="4379976" y="4005072"/>
            <a:ext cx="2816352" cy="320040"/>
          </a:xfrm>
          <a:prstGeom prst="rect">
            <a:avLst/>
          </a:prstGeom>
          <a:noFill/>
          <a:ln/>
        </p:spPr>
        <p:txBody>
          <a:bodyPr wrap="square" lIns="0" tIns="0" rIns="0" bIns="0" rtlCol="0" anchor="ctr"/>
          <a:lstStyle/>
          <a:p>
            <a:pPr indent="0" marL="0">
              <a:buNone/>
            </a:pPr>
            <a:r>
              <a:rPr lang="en-US" sz="1300" b="1" dirty="0">
                <a:solidFill>
                  <a:srgbClr val="1A1F36"/>
                </a:solidFill>
                <a:latin typeface="Georgia" pitchFamily="34" charset="0"/>
                <a:ea typeface="Georgia" pitchFamily="34" charset="-122"/>
                <a:cs typeface="Georgia" pitchFamily="34" charset="-120"/>
              </a:rPr>
              <a:t>Escalation Desk</a:t>
            </a:r>
            <a:endParaRPr lang="en-US" sz="1300" dirty="0"/>
          </a:p>
        </p:txBody>
      </p:sp>
      <p:sp>
        <p:nvSpPr>
          <p:cNvPr id="44" name="Text 42"/>
          <p:cNvSpPr/>
          <p:nvPr/>
        </p:nvSpPr>
        <p:spPr>
          <a:xfrm>
            <a:off x="4379976" y="4325112"/>
            <a:ext cx="3456432" cy="228600"/>
          </a:xfrm>
          <a:prstGeom prst="rect">
            <a:avLst/>
          </a:prstGeom>
          <a:noFill/>
          <a:ln/>
        </p:spPr>
        <p:txBody>
          <a:bodyPr wrap="square" lIns="0" tIns="0" rIns="0" bIns="0" rtlCol="0" anchor="ctr"/>
          <a:lstStyle/>
          <a:p>
            <a:pPr indent="0" marL="0">
              <a:buNone/>
            </a:pPr>
            <a:r>
              <a:rPr lang="en-US" sz="950" i="1" dirty="0">
                <a:solidFill>
                  <a:srgbClr val="002060"/>
                </a:solidFill>
                <a:latin typeface="Calibri" pitchFamily="34" charset="0"/>
                <a:ea typeface="Calibri" pitchFamily="34" charset="-122"/>
                <a:cs typeface="Calibri" pitchFamily="34" charset="-120"/>
              </a:rPr>
              <a:t>Thin L1/L2 layer</a:t>
            </a:r>
            <a:endParaRPr lang="en-US" sz="950" dirty="0"/>
          </a:p>
        </p:txBody>
      </p:sp>
      <p:sp>
        <p:nvSpPr>
          <p:cNvPr id="45" name="Shape 43"/>
          <p:cNvSpPr/>
          <p:nvPr/>
        </p:nvSpPr>
        <p:spPr>
          <a:xfrm>
            <a:off x="4379976" y="4599432"/>
            <a:ext cx="320040" cy="22860"/>
          </a:xfrm>
          <a:prstGeom prst="rect">
            <a:avLst/>
          </a:prstGeom>
          <a:solidFill>
            <a:srgbClr val="002060"/>
          </a:solidFill>
          <a:ln w="12700">
            <a:solidFill>
              <a:srgbClr val="002060"/>
            </a:solidFill>
            <a:prstDash val="solid"/>
          </a:ln>
        </p:spPr>
      </p:sp>
      <p:sp>
        <p:nvSpPr>
          <p:cNvPr id="46" name="Text 44"/>
          <p:cNvSpPr/>
          <p:nvPr/>
        </p:nvSpPr>
        <p:spPr>
          <a:xfrm>
            <a:off x="4379976" y="4690872"/>
            <a:ext cx="3401568" cy="822960"/>
          </a:xfrm>
          <a:prstGeom prst="rect">
            <a:avLst/>
          </a:prstGeom>
          <a:noFill/>
          <a:ln/>
        </p:spPr>
        <p:txBody>
          <a:bodyPr wrap="square" lIns="0" tIns="0" rIns="0" bIns="0" rtlCol="0" anchor="t"/>
          <a:lstStyle/>
          <a:p>
            <a:pPr indent="0" marL="0">
              <a:buNone/>
            </a:pPr>
            <a:r>
              <a:rPr lang="en-US" sz="950" dirty="0">
                <a:solidFill>
                  <a:srgbClr val="1A1F36"/>
                </a:solidFill>
                <a:latin typeface="Calibri" pitchFamily="34" charset="0"/>
                <a:ea typeface="Calibri" pitchFamily="34" charset="-122"/>
                <a:cs typeface="Calibri" pitchFamily="34" charset="-120"/>
              </a:rPr>
              <a:t>What the platform can't auto-resolve. Often shared across products; deliberately small.</a:t>
            </a:r>
            <a:endParaRPr lang="en-US" sz="950" dirty="0"/>
          </a:p>
        </p:txBody>
      </p:sp>
      <p:sp>
        <p:nvSpPr>
          <p:cNvPr id="47" name="Shape 45"/>
          <p:cNvSpPr/>
          <p:nvPr/>
        </p:nvSpPr>
        <p:spPr>
          <a:xfrm>
            <a:off x="8065008" y="3822192"/>
            <a:ext cx="3730752" cy="1783080"/>
          </a:xfrm>
          <a:prstGeom prst="rect">
            <a:avLst/>
          </a:prstGeom>
          <a:solidFill>
            <a:srgbClr val="F4F6FA"/>
          </a:solidFill>
          <a:ln w="6350">
            <a:solidFill>
              <a:srgbClr val="D8DEE9"/>
            </a:solidFill>
            <a:prstDash val="solid"/>
          </a:ln>
          <a:effectLst>
            <a:outerShdw sx="100000" sy="100000" kx="0" ky="0" algn="bl" rotWithShape="0" blurRad="101600" dist="25400" dir="5400000">
              <a:srgbClr val="000000">
                <a:alpha val="8000"/>
              </a:srgbClr>
            </a:outerShdw>
          </a:effectLst>
        </p:spPr>
      </p:sp>
      <p:sp>
        <p:nvSpPr>
          <p:cNvPr id="48" name="Shape 46"/>
          <p:cNvSpPr/>
          <p:nvPr/>
        </p:nvSpPr>
        <p:spPr>
          <a:xfrm>
            <a:off x="8065008" y="3822192"/>
            <a:ext cx="3730752" cy="73152"/>
          </a:xfrm>
          <a:prstGeom prst="rect">
            <a:avLst/>
          </a:prstGeom>
          <a:solidFill>
            <a:srgbClr val="5B6478"/>
          </a:solidFill>
          <a:ln w="12700">
            <a:solidFill>
              <a:srgbClr val="5B6478"/>
            </a:solidFill>
            <a:prstDash val="solid"/>
          </a:ln>
        </p:spPr>
      </p:sp>
      <p:sp>
        <p:nvSpPr>
          <p:cNvPr id="49" name="Text 47"/>
          <p:cNvSpPr/>
          <p:nvPr/>
        </p:nvSpPr>
        <p:spPr>
          <a:xfrm>
            <a:off x="11018520" y="3986784"/>
            <a:ext cx="685800" cy="292608"/>
          </a:xfrm>
          <a:prstGeom prst="rect">
            <a:avLst/>
          </a:prstGeom>
          <a:noFill/>
          <a:ln/>
        </p:spPr>
        <p:txBody>
          <a:bodyPr wrap="square" lIns="0" tIns="0" rIns="0" bIns="0" rtlCol="0" anchor="ctr"/>
          <a:lstStyle/>
          <a:p>
            <a:pPr algn="r" indent="0" marL="0">
              <a:buNone/>
            </a:pPr>
            <a:r>
              <a:rPr lang="en-US" sz="1400" b="1" dirty="0">
                <a:solidFill>
                  <a:srgbClr val="5B6478"/>
                </a:solidFill>
                <a:latin typeface="Georgia" pitchFamily="34" charset="0"/>
                <a:ea typeface="Georgia" pitchFamily="34" charset="-122"/>
                <a:cs typeface="Georgia" pitchFamily="34" charset="-120"/>
              </a:rPr>
              <a:t>~5%</a:t>
            </a:r>
            <a:endParaRPr lang="en-US" sz="1400" dirty="0"/>
          </a:p>
        </p:txBody>
      </p:sp>
      <p:sp>
        <p:nvSpPr>
          <p:cNvPr id="50" name="Text 48"/>
          <p:cNvSpPr/>
          <p:nvPr/>
        </p:nvSpPr>
        <p:spPr>
          <a:xfrm>
            <a:off x="8229600" y="4005072"/>
            <a:ext cx="2816352" cy="320040"/>
          </a:xfrm>
          <a:prstGeom prst="rect">
            <a:avLst/>
          </a:prstGeom>
          <a:noFill/>
          <a:ln/>
        </p:spPr>
        <p:txBody>
          <a:bodyPr wrap="square" lIns="0" tIns="0" rIns="0" bIns="0" rtlCol="0" anchor="ctr"/>
          <a:lstStyle/>
          <a:p>
            <a:pPr indent="0" marL="0">
              <a:buNone/>
            </a:pPr>
            <a:r>
              <a:rPr lang="en-US" sz="1300" b="1" dirty="0">
                <a:solidFill>
                  <a:srgbClr val="1A1F36"/>
                </a:solidFill>
                <a:latin typeface="Georgia" pitchFamily="34" charset="0"/>
                <a:ea typeface="Georgia" pitchFamily="34" charset="-122"/>
                <a:cs typeface="Georgia" pitchFamily="34" charset="-120"/>
              </a:rPr>
              <a:t>Move On</a:t>
            </a:r>
            <a:endParaRPr lang="en-US" sz="1300" dirty="0"/>
          </a:p>
        </p:txBody>
      </p:sp>
      <p:sp>
        <p:nvSpPr>
          <p:cNvPr id="51" name="Text 49"/>
          <p:cNvSpPr/>
          <p:nvPr/>
        </p:nvSpPr>
        <p:spPr>
          <a:xfrm>
            <a:off x="8229600" y="4325112"/>
            <a:ext cx="3456432" cy="228600"/>
          </a:xfrm>
          <a:prstGeom prst="rect">
            <a:avLst/>
          </a:prstGeom>
          <a:noFill/>
          <a:ln/>
        </p:spPr>
        <p:txBody>
          <a:bodyPr wrap="square" lIns="0" tIns="0" rIns="0" bIns="0"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Honest transition support</a:t>
            </a:r>
            <a:endParaRPr lang="en-US" sz="950" dirty="0"/>
          </a:p>
        </p:txBody>
      </p:sp>
      <p:sp>
        <p:nvSpPr>
          <p:cNvPr id="52" name="Shape 50"/>
          <p:cNvSpPr/>
          <p:nvPr/>
        </p:nvSpPr>
        <p:spPr>
          <a:xfrm>
            <a:off x="8229600" y="4599432"/>
            <a:ext cx="320040" cy="22860"/>
          </a:xfrm>
          <a:prstGeom prst="rect">
            <a:avLst/>
          </a:prstGeom>
          <a:solidFill>
            <a:srgbClr val="5B6478"/>
          </a:solidFill>
          <a:ln w="12700">
            <a:solidFill>
              <a:srgbClr val="5B6478"/>
            </a:solidFill>
            <a:prstDash val="solid"/>
          </a:ln>
        </p:spPr>
      </p:sp>
      <p:sp>
        <p:nvSpPr>
          <p:cNvPr id="53" name="Text 51"/>
          <p:cNvSpPr/>
          <p:nvPr/>
        </p:nvSpPr>
        <p:spPr>
          <a:xfrm>
            <a:off x="8229600" y="4690872"/>
            <a:ext cx="3401568" cy="822960"/>
          </a:xfrm>
          <a:prstGeom prst="rect">
            <a:avLst/>
          </a:prstGeom>
          <a:noFill/>
          <a:ln/>
        </p:spPr>
        <p:txBody>
          <a:bodyPr wrap="square" lIns="0" tIns="0" rIns="0" bIns="0" rtlCol="0" anchor="t"/>
          <a:lstStyle/>
          <a:p>
            <a:pPr indent="0" marL="0">
              <a:buNone/>
            </a:pPr>
            <a:r>
              <a:rPr lang="en-US" sz="950" dirty="0">
                <a:solidFill>
                  <a:srgbClr val="1A1F36"/>
                </a:solidFill>
                <a:latin typeface="Calibri" pitchFamily="34" charset="0"/>
                <a:ea typeface="Calibri" pitchFamily="34" charset="-122"/>
                <a:cs typeface="Calibri" pitchFamily="34" charset="-120"/>
              </a:rPr>
              <a:t>Some roles don't have a natural landing zone. Reskilling programs, internal mobility, redeployment to other transformations.</a:t>
            </a:r>
            <a:endParaRPr lang="en-US" sz="950" dirty="0"/>
          </a:p>
        </p:txBody>
      </p:sp>
      <p:sp>
        <p:nvSpPr>
          <p:cNvPr id="54" name="Shape 52"/>
          <p:cNvSpPr/>
          <p:nvPr/>
        </p:nvSpPr>
        <p:spPr>
          <a:xfrm>
            <a:off x="365760" y="5989320"/>
            <a:ext cx="11430000" cy="502920"/>
          </a:xfrm>
          <a:prstGeom prst="rect">
            <a:avLst/>
          </a:prstGeom>
          <a:solidFill>
            <a:srgbClr val="002060"/>
          </a:solidFill>
          <a:ln w="12700">
            <a:solidFill>
              <a:srgbClr val="002060"/>
            </a:solidFill>
            <a:prstDash val="solid"/>
          </a:ln>
        </p:spPr>
      </p:sp>
      <p:sp>
        <p:nvSpPr>
          <p:cNvPr id="55" name="Shape 53"/>
          <p:cNvSpPr/>
          <p:nvPr/>
        </p:nvSpPr>
        <p:spPr>
          <a:xfrm>
            <a:off x="365760" y="5989320"/>
            <a:ext cx="73152" cy="502920"/>
          </a:xfrm>
          <a:prstGeom prst="rect">
            <a:avLst/>
          </a:prstGeom>
          <a:solidFill>
            <a:srgbClr val="FFC72C"/>
          </a:solidFill>
          <a:ln w="12700">
            <a:solidFill>
              <a:srgbClr val="FFC72C"/>
            </a:solidFill>
            <a:prstDash val="solid"/>
          </a:ln>
        </p:spPr>
      </p:sp>
      <p:sp>
        <p:nvSpPr>
          <p:cNvPr id="56" name="Text 54"/>
          <p:cNvSpPr/>
          <p:nvPr/>
        </p:nvSpPr>
        <p:spPr>
          <a:xfrm>
            <a:off x="594360" y="5989320"/>
            <a:ext cx="1097280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Most of Ops becomes Engineering.  </a:t>
            </a:r>
            <a:pPr indent="0" marL="0">
              <a:buNone/>
            </a:pPr>
            <a:r>
              <a:rPr lang="en-US" sz="1200" i="1" dirty="0">
                <a:solidFill>
                  <a:srgbClr val="FFC72C"/>
                </a:solidFill>
                <a:latin typeface="Calibri" pitchFamily="34" charset="0"/>
                <a:ea typeface="Calibri" pitchFamily="34" charset="-122"/>
                <a:cs typeface="Calibri" pitchFamily="34" charset="-120"/>
              </a:rPr>
              <a:t>Same people, different work — the ones who already know what breaks in production are the ones who should build what prevents it.</a:t>
            </a:r>
            <a:endParaRPr lang="en-US" sz="1200" dirty="0"/>
          </a:p>
        </p:txBody>
      </p:sp>
      <p:sp>
        <p:nvSpPr>
          <p:cNvPr id="57" name="Shape 55"/>
          <p:cNvSpPr/>
          <p:nvPr/>
        </p:nvSpPr>
        <p:spPr>
          <a:xfrm>
            <a:off x="0" y="6537960"/>
            <a:ext cx="12161520" cy="18288"/>
          </a:xfrm>
          <a:prstGeom prst="rect">
            <a:avLst/>
          </a:prstGeom>
          <a:solidFill>
            <a:srgbClr val="D8DEE9"/>
          </a:solidFill>
          <a:ln w="12700">
            <a:solidFill>
              <a:srgbClr val="D8DEE9"/>
            </a:solidFill>
            <a:prstDash val="solid"/>
          </a:ln>
        </p:spPr>
      </p:sp>
      <p:sp>
        <p:nvSpPr>
          <p:cNvPr id="58" name="Text 56"/>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59" name="Text 57"/>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NEW JOB</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What an Ops engineer does in the future state</a:t>
            </a:r>
            <a:endParaRPr lang="en-US" sz="2800" dirty="0"/>
          </a:p>
        </p:txBody>
      </p:sp>
      <p:sp>
        <p:nvSpPr>
          <p:cNvPr id="4" name="Text 2"/>
          <p:cNvSpPr/>
          <p:nvPr/>
        </p:nvSpPr>
        <p:spPr>
          <a:xfrm>
            <a:off x="457200" y="1325880"/>
            <a:ext cx="11247120" cy="50292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Not tickets. Not runbook execution. Not on-call for the same fire every Tuesday. The work shifts from operating the system to engineering the system that operates itself — and the value that ops brings is exactly the experience the platform needs.</a:t>
            </a:r>
            <a:endParaRPr lang="en-US" sz="1200" dirty="0"/>
          </a:p>
        </p:txBody>
      </p:sp>
      <p:sp>
        <p:nvSpPr>
          <p:cNvPr id="5" name="Shape 3"/>
          <p:cNvSpPr/>
          <p:nvPr/>
        </p:nvSpPr>
        <p:spPr>
          <a:xfrm>
            <a:off x="365760" y="1965960"/>
            <a:ext cx="4937760" cy="36576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365760" y="1965960"/>
            <a:ext cx="4937760" cy="411480"/>
          </a:xfrm>
          <a:prstGeom prst="rect">
            <a:avLst/>
          </a:prstGeom>
          <a:solidFill>
            <a:srgbClr val="003DA5"/>
          </a:solidFill>
          <a:ln w="12700">
            <a:solidFill>
              <a:srgbClr val="003DA5"/>
            </a:solidFill>
            <a:prstDash val="solid"/>
          </a:ln>
        </p:spPr>
      </p:sp>
      <p:sp>
        <p:nvSpPr>
          <p:cNvPr id="7" name="Text 5"/>
          <p:cNvSpPr/>
          <p:nvPr/>
        </p:nvSpPr>
        <p:spPr>
          <a:xfrm>
            <a:off x="548640" y="2011680"/>
            <a:ext cx="4572000" cy="32004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A TYPICAL WEEK</a:t>
            </a:r>
            <a:endParaRPr lang="en-US" sz="1100" dirty="0"/>
          </a:p>
        </p:txBody>
      </p:sp>
      <p:sp>
        <p:nvSpPr>
          <p:cNvPr id="8" name="Text 6"/>
          <p:cNvSpPr/>
          <p:nvPr/>
        </p:nvSpPr>
        <p:spPr>
          <a:xfrm>
            <a:off x="548640" y="2514600"/>
            <a:ext cx="2194560" cy="228600"/>
          </a:xfrm>
          <a:prstGeom prst="rect">
            <a:avLst/>
          </a:prstGeom>
          <a:noFill/>
          <a:ln/>
        </p:spPr>
        <p:txBody>
          <a:bodyPr wrap="square" lIns="0" tIns="0" rIns="0" bIns="0" rtlCol="0" anchor="ctr"/>
          <a:lstStyle/>
          <a:p>
            <a:pPr indent="0" marL="0">
              <a:buNone/>
            </a:pPr>
            <a:r>
              <a:rPr lang="en-US" sz="900" b="1" spc="300" kern="0" dirty="0">
                <a:solidFill>
                  <a:srgbClr val="8A2B30"/>
                </a:solidFill>
                <a:latin typeface="Calibri" pitchFamily="34" charset="0"/>
                <a:ea typeface="Calibri" pitchFamily="34" charset="-122"/>
                <a:cs typeface="Calibri" pitchFamily="34" charset="-120"/>
              </a:rPr>
              <a:t>TODAY</a:t>
            </a:r>
            <a:endParaRPr lang="en-US" sz="900" dirty="0"/>
          </a:p>
        </p:txBody>
      </p:sp>
      <p:sp>
        <p:nvSpPr>
          <p:cNvPr id="9" name="Text 7"/>
          <p:cNvSpPr/>
          <p:nvPr/>
        </p:nvSpPr>
        <p:spPr>
          <a:xfrm>
            <a:off x="2926080" y="2514600"/>
            <a:ext cx="2194560" cy="228600"/>
          </a:xfrm>
          <a:prstGeom prst="rect">
            <a:avLst/>
          </a:prstGeom>
          <a:noFill/>
          <a:ln/>
        </p:spPr>
        <p:txBody>
          <a:bodyPr wrap="square" lIns="0" tIns="0" rIns="0" bIns="0" rtlCol="0" anchor="ctr"/>
          <a:lstStyle/>
          <a:p>
            <a:pPr indent="0" marL="0">
              <a:buNone/>
            </a:pPr>
            <a:r>
              <a:rPr lang="en-US" sz="900" b="1" spc="300" kern="0" dirty="0">
                <a:solidFill>
                  <a:srgbClr val="003DA5"/>
                </a:solidFill>
                <a:latin typeface="Calibri" pitchFamily="34" charset="0"/>
                <a:ea typeface="Calibri" pitchFamily="34" charset="-122"/>
                <a:cs typeface="Calibri" pitchFamily="34" charset="-120"/>
              </a:rPr>
              <a:t>FUTURE</a:t>
            </a:r>
            <a:endParaRPr lang="en-US" sz="900" dirty="0"/>
          </a:p>
        </p:txBody>
      </p:sp>
      <p:sp>
        <p:nvSpPr>
          <p:cNvPr id="10" name="Shape 8"/>
          <p:cNvSpPr/>
          <p:nvPr/>
        </p:nvSpPr>
        <p:spPr>
          <a:xfrm>
            <a:off x="548640" y="2743200"/>
            <a:ext cx="2103120" cy="18288"/>
          </a:xfrm>
          <a:prstGeom prst="rect">
            <a:avLst/>
          </a:prstGeom>
          <a:solidFill>
            <a:srgbClr val="8A2B30"/>
          </a:solidFill>
          <a:ln w="12700">
            <a:solidFill>
              <a:srgbClr val="8A2B30"/>
            </a:solidFill>
            <a:prstDash val="solid"/>
          </a:ln>
        </p:spPr>
      </p:sp>
      <p:sp>
        <p:nvSpPr>
          <p:cNvPr id="11" name="Shape 9"/>
          <p:cNvSpPr/>
          <p:nvPr/>
        </p:nvSpPr>
        <p:spPr>
          <a:xfrm>
            <a:off x="2926080" y="2743200"/>
            <a:ext cx="2103120" cy="18288"/>
          </a:xfrm>
          <a:prstGeom prst="rect">
            <a:avLst/>
          </a:prstGeom>
          <a:solidFill>
            <a:srgbClr val="003DA5"/>
          </a:solidFill>
          <a:ln w="12700">
            <a:solidFill>
              <a:srgbClr val="003DA5"/>
            </a:solidFill>
            <a:prstDash val="solid"/>
          </a:ln>
        </p:spPr>
      </p:sp>
      <p:sp>
        <p:nvSpPr>
          <p:cNvPr id="12" name="Text 10"/>
          <p:cNvSpPr/>
          <p:nvPr/>
        </p:nvSpPr>
        <p:spPr>
          <a:xfrm>
            <a:off x="548640" y="2880360"/>
            <a:ext cx="2103120" cy="338328"/>
          </a:xfrm>
          <a:prstGeom prst="rect">
            <a:avLst/>
          </a:prstGeom>
          <a:noFill/>
          <a:ln/>
        </p:spPr>
        <p:txBody>
          <a:bodyPr wrap="square" lIns="0" tIns="0" rIns="0" bIns="0" rtlCol="0" anchor="t"/>
          <a:lstStyle/>
          <a:p>
            <a:pPr indent="0" marL="0">
              <a:buNone/>
            </a:pPr>
            <a:r>
              <a:rPr lang="en-US" sz="1000" dirty="0">
                <a:solidFill>
                  <a:srgbClr val="5B6478"/>
                </a:solidFill>
                <a:latin typeface="Calibri" pitchFamily="34" charset="0"/>
                <a:ea typeface="Calibri" pitchFamily="34" charset="-122"/>
                <a:cs typeface="Calibri" pitchFamily="34" charset="-120"/>
              </a:rPr>
              <a:t>Triage 40+ tickets</a:t>
            </a:r>
            <a:endParaRPr lang="en-US" sz="1000" dirty="0"/>
          </a:p>
        </p:txBody>
      </p:sp>
      <p:sp>
        <p:nvSpPr>
          <p:cNvPr id="13" name="Text 11"/>
          <p:cNvSpPr/>
          <p:nvPr/>
        </p:nvSpPr>
        <p:spPr>
          <a:xfrm>
            <a:off x="2761488" y="2880360"/>
            <a:ext cx="164592" cy="338328"/>
          </a:xfrm>
          <a:prstGeom prst="rect">
            <a:avLst/>
          </a:prstGeom>
          <a:noFill/>
          <a:ln/>
        </p:spPr>
        <p:txBody>
          <a:bodyPr wrap="square" lIns="0" tIns="0" rIns="0" bIns="0" rtlCol="0" anchor="t"/>
          <a:lstStyle/>
          <a:p>
            <a:pPr algn="ctr" indent="0" marL="0">
              <a:buNone/>
            </a:pPr>
            <a:r>
              <a:rPr lang="en-US" sz="1300" b="1" dirty="0">
                <a:solidFill>
                  <a:srgbClr val="E0A800"/>
                </a:solidFill>
                <a:latin typeface="Calibri" pitchFamily="34" charset="0"/>
                <a:ea typeface="Calibri" pitchFamily="34" charset="-122"/>
                <a:cs typeface="Calibri" pitchFamily="34" charset="-120"/>
              </a:rPr>
              <a:t>→</a:t>
            </a:r>
            <a:endParaRPr lang="en-US" sz="1300" dirty="0"/>
          </a:p>
        </p:txBody>
      </p:sp>
      <p:sp>
        <p:nvSpPr>
          <p:cNvPr id="14" name="Text 12"/>
          <p:cNvSpPr/>
          <p:nvPr/>
        </p:nvSpPr>
        <p:spPr>
          <a:xfrm>
            <a:off x="2926080" y="2880360"/>
            <a:ext cx="2103120" cy="338328"/>
          </a:xfrm>
          <a:prstGeom prst="rect">
            <a:avLst/>
          </a:prstGeom>
          <a:noFill/>
          <a:ln/>
        </p:spPr>
        <p:txBody>
          <a:bodyPr wrap="square" lIns="0" tIns="0" rIns="0" bIns="0" rtlCol="0" anchor="t"/>
          <a:lstStyle/>
          <a:p>
            <a:pPr indent="0" marL="0">
              <a:buNone/>
            </a:pPr>
            <a:r>
              <a:rPr lang="en-US" sz="1000" b="1" dirty="0">
                <a:solidFill>
                  <a:srgbClr val="1A1F36"/>
                </a:solidFill>
                <a:latin typeface="Calibri" pitchFamily="34" charset="0"/>
                <a:ea typeface="Calibri" pitchFamily="34" charset="-122"/>
                <a:cs typeface="Calibri" pitchFamily="34" charset="-120"/>
              </a:rPr>
              <a:t>Review &amp; merge module PRs</a:t>
            </a:r>
            <a:endParaRPr lang="en-US" sz="1000" dirty="0"/>
          </a:p>
        </p:txBody>
      </p:sp>
      <p:sp>
        <p:nvSpPr>
          <p:cNvPr id="15" name="Text 13"/>
          <p:cNvSpPr/>
          <p:nvPr/>
        </p:nvSpPr>
        <p:spPr>
          <a:xfrm>
            <a:off x="548640" y="3264408"/>
            <a:ext cx="2103120" cy="338328"/>
          </a:xfrm>
          <a:prstGeom prst="rect">
            <a:avLst/>
          </a:prstGeom>
          <a:noFill/>
          <a:ln/>
        </p:spPr>
        <p:txBody>
          <a:bodyPr wrap="square" lIns="0" tIns="0" rIns="0" bIns="0" rtlCol="0" anchor="t"/>
          <a:lstStyle/>
          <a:p>
            <a:pPr indent="0" marL="0">
              <a:buNone/>
            </a:pPr>
            <a:r>
              <a:rPr lang="en-US" sz="1000" dirty="0">
                <a:solidFill>
                  <a:srgbClr val="5B6478"/>
                </a:solidFill>
                <a:latin typeface="Calibri" pitchFamily="34" charset="0"/>
                <a:ea typeface="Calibri" pitchFamily="34" charset="-122"/>
                <a:cs typeface="Calibri" pitchFamily="34" charset="-120"/>
              </a:rPr>
              <a:t>Page at 3am for known issues</a:t>
            </a:r>
            <a:endParaRPr lang="en-US" sz="1000" dirty="0"/>
          </a:p>
        </p:txBody>
      </p:sp>
      <p:sp>
        <p:nvSpPr>
          <p:cNvPr id="16" name="Text 14"/>
          <p:cNvSpPr/>
          <p:nvPr/>
        </p:nvSpPr>
        <p:spPr>
          <a:xfrm>
            <a:off x="2761488" y="3264408"/>
            <a:ext cx="164592" cy="338328"/>
          </a:xfrm>
          <a:prstGeom prst="rect">
            <a:avLst/>
          </a:prstGeom>
          <a:noFill/>
          <a:ln/>
        </p:spPr>
        <p:txBody>
          <a:bodyPr wrap="square" lIns="0" tIns="0" rIns="0" bIns="0" rtlCol="0" anchor="t"/>
          <a:lstStyle/>
          <a:p>
            <a:pPr algn="ctr" indent="0" marL="0">
              <a:buNone/>
            </a:pPr>
            <a:r>
              <a:rPr lang="en-US" sz="1300" b="1" dirty="0">
                <a:solidFill>
                  <a:srgbClr val="E0A800"/>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2926080" y="3264408"/>
            <a:ext cx="2103120" cy="338328"/>
          </a:xfrm>
          <a:prstGeom prst="rect">
            <a:avLst/>
          </a:prstGeom>
          <a:noFill/>
          <a:ln/>
        </p:spPr>
        <p:txBody>
          <a:bodyPr wrap="square" lIns="0" tIns="0" rIns="0" bIns="0" rtlCol="0" anchor="t"/>
          <a:lstStyle/>
          <a:p>
            <a:pPr indent="0" marL="0">
              <a:buNone/>
            </a:pPr>
            <a:r>
              <a:rPr lang="en-US" sz="1000" b="1" dirty="0">
                <a:solidFill>
                  <a:srgbClr val="1A1F36"/>
                </a:solidFill>
                <a:latin typeface="Calibri" pitchFamily="34" charset="0"/>
                <a:ea typeface="Calibri" pitchFamily="34" charset="-122"/>
                <a:cs typeface="Calibri" pitchFamily="34" charset="-120"/>
              </a:rPr>
              <a:t>Build the auto-remediation</a:t>
            </a:r>
            <a:endParaRPr lang="en-US" sz="1000" dirty="0"/>
          </a:p>
        </p:txBody>
      </p:sp>
      <p:sp>
        <p:nvSpPr>
          <p:cNvPr id="18" name="Text 16"/>
          <p:cNvSpPr/>
          <p:nvPr/>
        </p:nvSpPr>
        <p:spPr>
          <a:xfrm>
            <a:off x="548640" y="3648456"/>
            <a:ext cx="2103120" cy="338328"/>
          </a:xfrm>
          <a:prstGeom prst="rect">
            <a:avLst/>
          </a:prstGeom>
          <a:noFill/>
          <a:ln/>
        </p:spPr>
        <p:txBody>
          <a:bodyPr wrap="square" lIns="0" tIns="0" rIns="0" bIns="0" rtlCol="0" anchor="t"/>
          <a:lstStyle/>
          <a:p>
            <a:pPr indent="0" marL="0">
              <a:buNone/>
            </a:pPr>
            <a:r>
              <a:rPr lang="en-US" sz="1000" dirty="0">
                <a:solidFill>
                  <a:srgbClr val="5B6478"/>
                </a:solidFill>
                <a:latin typeface="Calibri" pitchFamily="34" charset="0"/>
                <a:ea typeface="Calibri" pitchFamily="34" charset="-122"/>
                <a:cs typeface="Calibri" pitchFamily="34" charset="-120"/>
              </a:rPr>
              <a:t>Apply patches manually, by host</a:t>
            </a:r>
            <a:endParaRPr lang="en-US" sz="1000" dirty="0"/>
          </a:p>
        </p:txBody>
      </p:sp>
      <p:sp>
        <p:nvSpPr>
          <p:cNvPr id="19" name="Text 17"/>
          <p:cNvSpPr/>
          <p:nvPr/>
        </p:nvSpPr>
        <p:spPr>
          <a:xfrm>
            <a:off x="2761488" y="3648456"/>
            <a:ext cx="164592" cy="338328"/>
          </a:xfrm>
          <a:prstGeom prst="rect">
            <a:avLst/>
          </a:prstGeom>
          <a:noFill/>
          <a:ln/>
        </p:spPr>
        <p:txBody>
          <a:bodyPr wrap="square" lIns="0" tIns="0" rIns="0" bIns="0" rtlCol="0" anchor="t"/>
          <a:lstStyle/>
          <a:p>
            <a:pPr algn="ctr" indent="0" marL="0">
              <a:buNone/>
            </a:pPr>
            <a:r>
              <a:rPr lang="en-US" sz="1300" b="1" dirty="0">
                <a:solidFill>
                  <a:srgbClr val="E0A800"/>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2926080" y="3648456"/>
            <a:ext cx="2103120" cy="338328"/>
          </a:xfrm>
          <a:prstGeom prst="rect">
            <a:avLst/>
          </a:prstGeom>
          <a:noFill/>
          <a:ln/>
        </p:spPr>
        <p:txBody>
          <a:bodyPr wrap="square" lIns="0" tIns="0" rIns="0" bIns="0" rtlCol="0" anchor="t"/>
          <a:lstStyle/>
          <a:p>
            <a:pPr indent="0" marL="0">
              <a:buNone/>
            </a:pPr>
            <a:r>
              <a:rPr lang="en-US" sz="1000" b="1" dirty="0">
                <a:solidFill>
                  <a:srgbClr val="1A1F36"/>
                </a:solidFill>
                <a:latin typeface="Calibri" pitchFamily="34" charset="0"/>
                <a:ea typeface="Calibri" pitchFamily="34" charset="-122"/>
                <a:cs typeface="Calibri" pitchFamily="34" charset="-120"/>
              </a:rPr>
              <a:t>Ship the patch pipeline once</a:t>
            </a:r>
            <a:endParaRPr lang="en-US" sz="1000" dirty="0"/>
          </a:p>
        </p:txBody>
      </p:sp>
      <p:sp>
        <p:nvSpPr>
          <p:cNvPr id="21" name="Text 19"/>
          <p:cNvSpPr/>
          <p:nvPr/>
        </p:nvSpPr>
        <p:spPr>
          <a:xfrm>
            <a:off x="548640" y="4032504"/>
            <a:ext cx="2103120" cy="338328"/>
          </a:xfrm>
          <a:prstGeom prst="rect">
            <a:avLst/>
          </a:prstGeom>
          <a:noFill/>
          <a:ln/>
        </p:spPr>
        <p:txBody>
          <a:bodyPr wrap="square" lIns="0" tIns="0" rIns="0" bIns="0" rtlCol="0" anchor="t"/>
          <a:lstStyle/>
          <a:p>
            <a:pPr indent="0" marL="0">
              <a:buNone/>
            </a:pPr>
            <a:r>
              <a:rPr lang="en-US" sz="1000" dirty="0">
                <a:solidFill>
                  <a:srgbClr val="5B6478"/>
                </a:solidFill>
                <a:latin typeface="Calibri" pitchFamily="34" charset="0"/>
                <a:ea typeface="Calibri" pitchFamily="34" charset="-122"/>
                <a:cs typeface="Calibri" pitchFamily="34" charset="-120"/>
              </a:rPr>
              <a:t>Run change advisory boards</a:t>
            </a:r>
            <a:endParaRPr lang="en-US" sz="1000" dirty="0"/>
          </a:p>
        </p:txBody>
      </p:sp>
      <p:sp>
        <p:nvSpPr>
          <p:cNvPr id="22" name="Text 20"/>
          <p:cNvSpPr/>
          <p:nvPr/>
        </p:nvSpPr>
        <p:spPr>
          <a:xfrm>
            <a:off x="2761488" y="4032504"/>
            <a:ext cx="164592" cy="338328"/>
          </a:xfrm>
          <a:prstGeom prst="rect">
            <a:avLst/>
          </a:prstGeom>
          <a:noFill/>
          <a:ln/>
        </p:spPr>
        <p:txBody>
          <a:bodyPr wrap="square" lIns="0" tIns="0" rIns="0" bIns="0" rtlCol="0" anchor="t"/>
          <a:lstStyle/>
          <a:p>
            <a:pPr algn="ctr" indent="0" marL="0">
              <a:buNone/>
            </a:pPr>
            <a:r>
              <a:rPr lang="en-US" sz="1300" b="1" dirty="0">
                <a:solidFill>
                  <a:srgbClr val="E0A800"/>
                </a:solidFill>
                <a:latin typeface="Calibri" pitchFamily="34" charset="0"/>
                <a:ea typeface="Calibri" pitchFamily="34" charset="-122"/>
                <a:cs typeface="Calibri" pitchFamily="34" charset="-120"/>
              </a:rPr>
              <a:t>→</a:t>
            </a:r>
            <a:endParaRPr lang="en-US" sz="1300" dirty="0"/>
          </a:p>
        </p:txBody>
      </p:sp>
      <p:sp>
        <p:nvSpPr>
          <p:cNvPr id="23" name="Text 21"/>
          <p:cNvSpPr/>
          <p:nvPr/>
        </p:nvSpPr>
        <p:spPr>
          <a:xfrm>
            <a:off x="2926080" y="4032504"/>
            <a:ext cx="2103120" cy="338328"/>
          </a:xfrm>
          <a:prstGeom prst="rect">
            <a:avLst/>
          </a:prstGeom>
          <a:noFill/>
          <a:ln/>
        </p:spPr>
        <p:txBody>
          <a:bodyPr wrap="square" lIns="0" tIns="0" rIns="0" bIns="0" rtlCol="0" anchor="t"/>
          <a:lstStyle/>
          <a:p>
            <a:pPr indent="0" marL="0">
              <a:buNone/>
            </a:pPr>
            <a:r>
              <a:rPr lang="en-US" sz="1000" b="1" dirty="0">
                <a:solidFill>
                  <a:srgbClr val="1A1F36"/>
                </a:solidFill>
                <a:latin typeface="Calibri" pitchFamily="34" charset="0"/>
                <a:ea typeface="Calibri" pitchFamily="34" charset="-122"/>
                <a:cs typeface="Calibri" pitchFamily="34" charset="-120"/>
              </a:rPr>
              <a:t>Wire blast-radius check into CI</a:t>
            </a:r>
            <a:endParaRPr lang="en-US" sz="1000" dirty="0"/>
          </a:p>
        </p:txBody>
      </p:sp>
      <p:sp>
        <p:nvSpPr>
          <p:cNvPr id="24" name="Text 22"/>
          <p:cNvSpPr/>
          <p:nvPr/>
        </p:nvSpPr>
        <p:spPr>
          <a:xfrm>
            <a:off x="548640" y="4416552"/>
            <a:ext cx="2103120" cy="338328"/>
          </a:xfrm>
          <a:prstGeom prst="rect">
            <a:avLst/>
          </a:prstGeom>
          <a:noFill/>
          <a:ln/>
        </p:spPr>
        <p:txBody>
          <a:bodyPr wrap="square" lIns="0" tIns="0" rIns="0" bIns="0" rtlCol="0" anchor="t"/>
          <a:lstStyle/>
          <a:p>
            <a:pPr indent="0" marL="0">
              <a:buNone/>
            </a:pPr>
            <a:r>
              <a:rPr lang="en-US" sz="1000" dirty="0">
                <a:solidFill>
                  <a:srgbClr val="5B6478"/>
                </a:solidFill>
                <a:latin typeface="Calibri" pitchFamily="34" charset="0"/>
                <a:ea typeface="Calibri" pitchFamily="34" charset="-122"/>
                <a:cs typeface="Calibri" pitchFamily="34" charset="-120"/>
              </a:rPr>
              <a:t>Pull screenshots for auditors</a:t>
            </a:r>
            <a:endParaRPr lang="en-US" sz="1000" dirty="0"/>
          </a:p>
        </p:txBody>
      </p:sp>
      <p:sp>
        <p:nvSpPr>
          <p:cNvPr id="25" name="Text 23"/>
          <p:cNvSpPr/>
          <p:nvPr/>
        </p:nvSpPr>
        <p:spPr>
          <a:xfrm>
            <a:off x="2761488" y="4416552"/>
            <a:ext cx="164592" cy="338328"/>
          </a:xfrm>
          <a:prstGeom prst="rect">
            <a:avLst/>
          </a:prstGeom>
          <a:noFill/>
          <a:ln/>
        </p:spPr>
        <p:txBody>
          <a:bodyPr wrap="square" lIns="0" tIns="0" rIns="0" bIns="0" rtlCol="0" anchor="t"/>
          <a:lstStyle/>
          <a:p>
            <a:pPr algn="ctr" indent="0" marL="0">
              <a:buNone/>
            </a:pPr>
            <a:r>
              <a:rPr lang="en-US" sz="1300" b="1" dirty="0">
                <a:solidFill>
                  <a:srgbClr val="E0A800"/>
                </a:solidFill>
                <a:latin typeface="Calibri" pitchFamily="34" charset="0"/>
                <a:ea typeface="Calibri" pitchFamily="34" charset="-122"/>
                <a:cs typeface="Calibri" pitchFamily="34" charset="-120"/>
              </a:rPr>
              <a:t>→</a:t>
            </a:r>
            <a:endParaRPr lang="en-US" sz="1300" dirty="0"/>
          </a:p>
        </p:txBody>
      </p:sp>
      <p:sp>
        <p:nvSpPr>
          <p:cNvPr id="26" name="Text 24"/>
          <p:cNvSpPr/>
          <p:nvPr/>
        </p:nvSpPr>
        <p:spPr>
          <a:xfrm>
            <a:off x="2926080" y="4416552"/>
            <a:ext cx="2103120" cy="338328"/>
          </a:xfrm>
          <a:prstGeom prst="rect">
            <a:avLst/>
          </a:prstGeom>
          <a:noFill/>
          <a:ln/>
        </p:spPr>
        <p:txBody>
          <a:bodyPr wrap="square" lIns="0" tIns="0" rIns="0" bIns="0" rtlCol="0" anchor="t"/>
          <a:lstStyle/>
          <a:p>
            <a:pPr indent="0" marL="0">
              <a:buNone/>
            </a:pPr>
            <a:r>
              <a:rPr lang="en-US" sz="1000" b="1" dirty="0">
                <a:solidFill>
                  <a:srgbClr val="1A1F36"/>
                </a:solidFill>
                <a:latin typeface="Calibri" pitchFamily="34" charset="0"/>
                <a:ea typeface="Calibri" pitchFamily="34" charset="-122"/>
                <a:cs typeface="Calibri" pitchFamily="34" charset="-120"/>
              </a:rPr>
              <a:t>Author the control as code</a:t>
            </a:r>
            <a:endParaRPr lang="en-US" sz="1000" dirty="0"/>
          </a:p>
        </p:txBody>
      </p:sp>
      <p:sp>
        <p:nvSpPr>
          <p:cNvPr id="27" name="Text 25"/>
          <p:cNvSpPr/>
          <p:nvPr/>
        </p:nvSpPr>
        <p:spPr>
          <a:xfrm>
            <a:off x="548640" y="4800600"/>
            <a:ext cx="2103120" cy="338328"/>
          </a:xfrm>
          <a:prstGeom prst="rect">
            <a:avLst/>
          </a:prstGeom>
          <a:noFill/>
          <a:ln/>
        </p:spPr>
        <p:txBody>
          <a:bodyPr wrap="square" lIns="0" tIns="0" rIns="0" bIns="0" rtlCol="0" anchor="t"/>
          <a:lstStyle/>
          <a:p>
            <a:pPr indent="0" marL="0">
              <a:buNone/>
            </a:pPr>
            <a:r>
              <a:rPr lang="en-US" sz="1000" dirty="0">
                <a:solidFill>
                  <a:srgbClr val="5B6478"/>
                </a:solidFill>
                <a:latin typeface="Calibri" pitchFamily="34" charset="0"/>
                <a:ea typeface="Calibri" pitchFamily="34" charset="-122"/>
                <a:cs typeface="Calibri" pitchFamily="34" charset="-120"/>
              </a:rPr>
              <a:t>Document the runbook</a:t>
            </a:r>
            <a:endParaRPr lang="en-US" sz="1000" dirty="0"/>
          </a:p>
        </p:txBody>
      </p:sp>
      <p:sp>
        <p:nvSpPr>
          <p:cNvPr id="28" name="Text 26"/>
          <p:cNvSpPr/>
          <p:nvPr/>
        </p:nvSpPr>
        <p:spPr>
          <a:xfrm>
            <a:off x="2761488" y="4800600"/>
            <a:ext cx="164592" cy="338328"/>
          </a:xfrm>
          <a:prstGeom prst="rect">
            <a:avLst/>
          </a:prstGeom>
          <a:noFill/>
          <a:ln/>
        </p:spPr>
        <p:txBody>
          <a:bodyPr wrap="square" lIns="0" tIns="0" rIns="0" bIns="0" rtlCol="0" anchor="t"/>
          <a:lstStyle/>
          <a:p>
            <a:pPr algn="ctr" indent="0" marL="0">
              <a:buNone/>
            </a:pPr>
            <a:r>
              <a:rPr lang="en-US" sz="1300" b="1" dirty="0">
                <a:solidFill>
                  <a:srgbClr val="E0A800"/>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2926080" y="4800600"/>
            <a:ext cx="2103120" cy="338328"/>
          </a:xfrm>
          <a:prstGeom prst="rect">
            <a:avLst/>
          </a:prstGeom>
          <a:noFill/>
          <a:ln/>
        </p:spPr>
        <p:txBody>
          <a:bodyPr wrap="square" lIns="0" tIns="0" rIns="0" bIns="0" rtlCol="0" anchor="t"/>
          <a:lstStyle/>
          <a:p>
            <a:pPr indent="0" marL="0">
              <a:buNone/>
            </a:pPr>
            <a:r>
              <a:rPr lang="en-US" sz="1000" b="1" dirty="0">
                <a:solidFill>
                  <a:srgbClr val="1A1F36"/>
                </a:solidFill>
                <a:latin typeface="Calibri" pitchFamily="34" charset="0"/>
                <a:ea typeface="Calibri" pitchFamily="34" charset="-122"/>
                <a:cs typeface="Calibri" pitchFamily="34" charset="-120"/>
              </a:rPr>
              <a:t>Codify the runbook</a:t>
            </a:r>
            <a:endParaRPr lang="en-US" sz="1000" dirty="0"/>
          </a:p>
        </p:txBody>
      </p:sp>
      <p:sp>
        <p:nvSpPr>
          <p:cNvPr id="30" name="Text 28"/>
          <p:cNvSpPr/>
          <p:nvPr/>
        </p:nvSpPr>
        <p:spPr>
          <a:xfrm>
            <a:off x="548640" y="5184648"/>
            <a:ext cx="2103120" cy="338328"/>
          </a:xfrm>
          <a:prstGeom prst="rect">
            <a:avLst/>
          </a:prstGeom>
          <a:noFill/>
          <a:ln/>
        </p:spPr>
        <p:txBody>
          <a:bodyPr wrap="square" lIns="0" tIns="0" rIns="0" bIns="0" rtlCol="0" anchor="t"/>
          <a:lstStyle/>
          <a:p>
            <a:pPr indent="0" marL="0">
              <a:buNone/>
            </a:pPr>
            <a:r>
              <a:rPr lang="en-US" sz="1000" dirty="0">
                <a:solidFill>
                  <a:srgbClr val="5B6478"/>
                </a:solidFill>
                <a:latin typeface="Calibri" pitchFamily="34" charset="0"/>
                <a:ea typeface="Calibri" pitchFamily="34" charset="-122"/>
                <a:cs typeface="Calibri" pitchFamily="34" charset="-120"/>
              </a:rPr>
              <a:t>Track the spreadsheet of drift</a:t>
            </a:r>
            <a:endParaRPr lang="en-US" sz="1000" dirty="0"/>
          </a:p>
        </p:txBody>
      </p:sp>
      <p:sp>
        <p:nvSpPr>
          <p:cNvPr id="31" name="Text 29"/>
          <p:cNvSpPr/>
          <p:nvPr/>
        </p:nvSpPr>
        <p:spPr>
          <a:xfrm>
            <a:off x="2761488" y="5184648"/>
            <a:ext cx="164592" cy="338328"/>
          </a:xfrm>
          <a:prstGeom prst="rect">
            <a:avLst/>
          </a:prstGeom>
          <a:noFill/>
          <a:ln/>
        </p:spPr>
        <p:txBody>
          <a:bodyPr wrap="square" lIns="0" tIns="0" rIns="0" bIns="0" rtlCol="0" anchor="t"/>
          <a:lstStyle/>
          <a:p>
            <a:pPr algn="ctr" indent="0" marL="0">
              <a:buNone/>
            </a:pPr>
            <a:r>
              <a:rPr lang="en-US" sz="1300" b="1" dirty="0">
                <a:solidFill>
                  <a:srgbClr val="E0A800"/>
                </a:solidFill>
                <a:latin typeface="Calibri" pitchFamily="34" charset="0"/>
                <a:ea typeface="Calibri" pitchFamily="34" charset="-122"/>
                <a:cs typeface="Calibri" pitchFamily="34" charset="-120"/>
              </a:rPr>
              <a:t>→</a:t>
            </a:r>
            <a:endParaRPr lang="en-US" sz="1300" dirty="0"/>
          </a:p>
        </p:txBody>
      </p:sp>
      <p:sp>
        <p:nvSpPr>
          <p:cNvPr id="32" name="Text 30"/>
          <p:cNvSpPr/>
          <p:nvPr/>
        </p:nvSpPr>
        <p:spPr>
          <a:xfrm>
            <a:off x="2926080" y="5184648"/>
            <a:ext cx="2103120" cy="338328"/>
          </a:xfrm>
          <a:prstGeom prst="rect">
            <a:avLst/>
          </a:prstGeom>
          <a:noFill/>
          <a:ln/>
        </p:spPr>
        <p:txBody>
          <a:bodyPr wrap="square" lIns="0" tIns="0" rIns="0" bIns="0" rtlCol="0" anchor="t"/>
          <a:lstStyle/>
          <a:p>
            <a:pPr indent="0" marL="0">
              <a:buNone/>
            </a:pPr>
            <a:r>
              <a:rPr lang="en-US" sz="1000" b="1" dirty="0">
                <a:solidFill>
                  <a:srgbClr val="1A1F36"/>
                </a:solidFill>
                <a:latin typeface="Calibri" pitchFamily="34" charset="0"/>
                <a:ea typeface="Calibri" pitchFamily="34" charset="-122"/>
                <a:cs typeface="Calibri" pitchFamily="34" charset="-120"/>
              </a:rPr>
              <a:t>Watch the drift dashboard the platform built</a:t>
            </a:r>
            <a:endParaRPr lang="en-US" sz="1000" dirty="0"/>
          </a:p>
        </p:txBody>
      </p:sp>
      <p:sp>
        <p:nvSpPr>
          <p:cNvPr id="33" name="Shape 31"/>
          <p:cNvSpPr/>
          <p:nvPr/>
        </p:nvSpPr>
        <p:spPr>
          <a:xfrm>
            <a:off x="5532120" y="1965960"/>
            <a:ext cx="6263640" cy="36576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34" name="Shape 32"/>
          <p:cNvSpPr/>
          <p:nvPr/>
        </p:nvSpPr>
        <p:spPr>
          <a:xfrm>
            <a:off x="5532120" y="1965960"/>
            <a:ext cx="6263640" cy="411480"/>
          </a:xfrm>
          <a:prstGeom prst="rect">
            <a:avLst/>
          </a:prstGeom>
          <a:solidFill>
            <a:srgbClr val="FFC72C"/>
          </a:solidFill>
          <a:ln w="12700">
            <a:solidFill>
              <a:srgbClr val="FFC72C"/>
            </a:solidFill>
            <a:prstDash val="solid"/>
          </a:ln>
        </p:spPr>
      </p:sp>
      <p:sp>
        <p:nvSpPr>
          <p:cNvPr id="35" name="Text 33"/>
          <p:cNvSpPr/>
          <p:nvPr/>
        </p:nvSpPr>
        <p:spPr>
          <a:xfrm>
            <a:off x="5715000" y="2011680"/>
            <a:ext cx="5897880" cy="320040"/>
          </a:xfrm>
          <a:prstGeom prst="rect">
            <a:avLst/>
          </a:prstGeom>
          <a:noFill/>
          <a:ln/>
        </p:spPr>
        <p:txBody>
          <a:bodyPr wrap="square" lIns="0" tIns="0" rIns="0" bIns="0" rtlCol="0" anchor="ctr"/>
          <a:lstStyle/>
          <a:p>
            <a:pPr indent="0" marL="0">
              <a:buNone/>
            </a:pPr>
            <a:r>
              <a:rPr lang="en-US" sz="1100" b="1" spc="300" kern="0" dirty="0">
                <a:solidFill>
                  <a:srgbClr val="002060"/>
                </a:solidFill>
                <a:latin typeface="Calibri" pitchFamily="34" charset="0"/>
                <a:ea typeface="Calibri" pitchFamily="34" charset="-122"/>
                <a:cs typeface="Calibri" pitchFamily="34" charset="-120"/>
              </a:rPr>
              <a:t>THE WORK ITSELF</a:t>
            </a:r>
            <a:endParaRPr lang="en-US" sz="1100" dirty="0"/>
          </a:p>
        </p:txBody>
      </p:sp>
      <p:sp>
        <p:nvSpPr>
          <p:cNvPr id="36" name="Shape 34"/>
          <p:cNvSpPr/>
          <p:nvPr/>
        </p:nvSpPr>
        <p:spPr>
          <a:xfrm>
            <a:off x="5715000" y="2468880"/>
            <a:ext cx="2894076" cy="963168"/>
          </a:xfrm>
          <a:prstGeom prst="rect">
            <a:avLst/>
          </a:prstGeom>
          <a:solidFill>
            <a:srgbClr val="F4F6FA"/>
          </a:solidFill>
          <a:ln w="6350">
            <a:solidFill>
              <a:srgbClr val="D8DEE9"/>
            </a:solidFill>
            <a:prstDash val="solid"/>
          </a:ln>
        </p:spPr>
      </p:sp>
      <p:sp>
        <p:nvSpPr>
          <p:cNvPr id="37" name="Shape 35"/>
          <p:cNvSpPr/>
          <p:nvPr/>
        </p:nvSpPr>
        <p:spPr>
          <a:xfrm>
            <a:off x="5715000" y="2468880"/>
            <a:ext cx="45720" cy="963168"/>
          </a:xfrm>
          <a:prstGeom prst="rect">
            <a:avLst/>
          </a:prstGeom>
          <a:solidFill>
            <a:srgbClr val="FFC72C"/>
          </a:solidFill>
          <a:ln w="12700">
            <a:solidFill>
              <a:srgbClr val="FFC72C"/>
            </a:solidFill>
            <a:prstDash val="solid"/>
          </a:ln>
        </p:spPr>
      </p:sp>
      <p:sp>
        <p:nvSpPr>
          <p:cNvPr id="38" name="Text 36"/>
          <p:cNvSpPr/>
          <p:nvPr/>
        </p:nvSpPr>
        <p:spPr>
          <a:xfrm>
            <a:off x="5852160" y="2542032"/>
            <a:ext cx="2665476" cy="256032"/>
          </a:xfrm>
          <a:prstGeom prst="rect">
            <a:avLst/>
          </a:prstGeom>
          <a:noFill/>
          <a:ln/>
        </p:spPr>
        <p:txBody>
          <a:bodyPr wrap="square" lIns="0" tIns="0" rIns="0" bIns="0" rtlCol="0" anchor="ctr"/>
          <a:lstStyle/>
          <a:p>
            <a:pPr indent="0" marL="0">
              <a:buNone/>
            </a:pPr>
            <a:r>
              <a:rPr lang="en-US" sz="1100" b="1" dirty="0">
                <a:solidFill>
                  <a:srgbClr val="1A1F36"/>
                </a:solidFill>
                <a:latin typeface="Georgia" pitchFamily="34" charset="0"/>
                <a:ea typeface="Georgia" pitchFamily="34" charset="-122"/>
                <a:cs typeface="Georgia" pitchFamily="34" charset="-120"/>
              </a:rPr>
              <a:t>Author modules &amp; policies</a:t>
            </a:r>
            <a:endParaRPr lang="en-US" sz="1100" dirty="0"/>
          </a:p>
        </p:txBody>
      </p:sp>
      <p:sp>
        <p:nvSpPr>
          <p:cNvPr id="39" name="Text 37"/>
          <p:cNvSpPr/>
          <p:nvPr/>
        </p:nvSpPr>
        <p:spPr>
          <a:xfrm>
            <a:off x="5852160" y="2816352"/>
            <a:ext cx="2665476" cy="551688"/>
          </a:xfrm>
          <a:prstGeom prst="rect">
            <a:avLst/>
          </a:prstGeom>
          <a:noFill/>
          <a:ln/>
        </p:spPr>
        <p:txBody>
          <a:bodyPr wrap="square" lIns="0" tIns="0" rIns="0" bIns="0" rtlCol="0" anchor="t"/>
          <a:lstStyle/>
          <a:p>
            <a:pPr indent="0" marL="0">
              <a:buNone/>
            </a:pPr>
            <a:r>
              <a:rPr lang="en-US" sz="850" dirty="0">
                <a:solidFill>
                  <a:srgbClr val="5B6478"/>
                </a:solidFill>
                <a:latin typeface="Calibri" pitchFamily="34" charset="0"/>
                <a:ea typeface="Calibri" pitchFamily="34" charset="-122"/>
                <a:cs typeface="Calibri" pitchFamily="34" charset="-120"/>
              </a:rPr>
              <a:t>Translate hard-won operational knowledge into Terraform modules, OPA rules, image-build steps. The thing you used to fix by hand becomes the thing the platform now does for everyone.</a:t>
            </a:r>
            <a:endParaRPr lang="en-US" sz="850" dirty="0"/>
          </a:p>
        </p:txBody>
      </p:sp>
      <p:sp>
        <p:nvSpPr>
          <p:cNvPr id="40" name="Shape 38"/>
          <p:cNvSpPr/>
          <p:nvPr/>
        </p:nvSpPr>
        <p:spPr>
          <a:xfrm>
            <a:off x="8718804" y="2468880"/>
            <a:ext cx="2894076" cy="963168"/>
          </a:xfrm>
          <a:prstGeom prst="rect">
            <a:avLst/>
          </a:prstGeom>
          <a:solidFill>
            <a:srgbClr val="F4F6FA"/>
          </a:solidFill>
          <a:ln w="6350">
            <a:solidFill>
              <a:srgbClr val="D8DEE9"/>
            </a:solidFill>
            <a:prstDash val="solid"/>
          </a:ln>
        </p:spPr>
      </p:sp>
      <p:sp>
        <p:nvSpPr>
          <p:cNvPr id="41" name="Shape 39"/>
          <p:cNvSpPr/>
          <p:nvPr/>
        </p:nvSpPr>
        <p:spPr>
          <a:xfrm>
            <a:off x="8718804" y="2468880"/>
            <a:ext cx="45720" cy="963168"/>
          </a:xfrm>
          <a:prstGeom prst="rect">
            <a:avLst/>
          </a:prstGeom>
          <a:solidFill>
            <a:srgbClr val="FFC72C"/>
          </a:solidFill>
          <a:ln w="12700">
            <a:solidFill>
              <a:srgbClr val="FFC72C"/>
            </a:solidFill>
            <a:prstDash val="solid"/>
          </a:ln>
        </p:spPr>
      </p:sp>
      <p:sp>
        <p:nvSpPr>
          <p:cNvPr id="42" name="Text 40"/>
          <p:cNvSpPr/>
          <p:nvPr/>
        </p:nvSpPr>
        <p:spPr>
          <a:xfrm>
            <a:off x="8855964" y="2542032"/>
            <a:ext cx="2665476" cy="256032"/>
          </a:xfrm>
          <a:prstGeom prst="rect">
            <a:avLst/>
          </a:prstGeom>
          <a:noFill/>
          <a:ln/>
        </p:spPr>
        <p:txBody>
          <a:bodyPr wrap="square" lIns="0" tIns="0" rIns="0" bIns="0" rtlCol="0" anchor="ctr"/>
          <a:lstStyle/>
          <a:p>
            <a:pPr indent="0" marL="0">
              <a:buNone/>
            </a:pPr>
            <a:r>
              <a:rPr lang="en-US" sz="1100" b="1" dirty="0">
                <a:solidFill>
                  <a:srgbClr val="1A1F36"/>
                </a:solidFill>
                <a:latin typeface="Georgia" pitchFamily="34" charset="0"/>
                <a:ea typeface="Georgia" pitchFamily="34" charset="-122"/>
                <a:cs typeface="Georgia" pitchFamily="34" charset="-120"/>
              </a:rPr>
              <a:t>Build auto-remediation</a:t>
            </a:r>
            <a:endParaRPr lang="en-US" sz="1100" dirty="0"/>
          </a:p>
        </p:txBody>
      </p:sp>
      <p:sp>
        <p:nvSpPr>
          <p:cNvPr id="43" name="Text 41"/>
          <p:cNvSpPr/>
          <p:nvPr/>
        </p:nvSpPr>
        <p:spPr>
          <a:xfrm>
            <a:off x="8855964" y="2816352"/>
            <a:ext cx="2665476" cy="551688"/>
          </a:xfrm>
          <a:prstGeom prst="rect">
            <a:avLst/>
          </a:prstGeom>
          <a:noFill/>
          <a:ln/>
        </p:spPr>
        <p:txBody>
          <a:bodyPr wrap="square" lIns="0" tIns="0" rIns="0" bIns="0" rtlCol="0" anchor="t"/>
          <a:lstStyle/>
          <a:p>
            <a:pPr indent="0" marL="0">
              <a:buNone/>
            </a:pPr>
            <a:r>
              <a:rPr lang="en-US" sz="850" dirty="0">
                <a:solidFill>
                  <a:srgbClr val="5B6478"/>
                </a:solidFill>
                <a:latin typeface="Calibri" pitchFamily="34" charset="0"/>
                <a:ea typeface="Calibri" pitchFamily="34" charset="-122"/>
                <a:cs typeface="Calibri" pitchFamily="34" charset="-120"/>
              </a:rPr>
              <a:t>When something breaks at 3am, write the code that detects and fixes it next time. Each incident becomes a workflow, an alert rule, or a policy gate — never the same fire twice.</a:t>
            </a:r>
            <a:endParaRPr lang="en-US" sz="850" dirty="0"/>
          </a:p>
        </p:txBody>
      </p:sp>
      <p:sp>
        <p:nvSpPr>
          <p:cNvPr id="44" name="Shape 42"/>
          <p:cNvSpPr/>
          <p:nvPr/>
        </p:nvSpPr>
        <p:spPr>
          <a:xfrm>
            <a:off x="5715000" y="3541776"/>
            <a:ext cx="2894076" cy="963168"/>
          </a:xfrm>
          <a:prstGeom prst="rect">
            <a:avLst/>
          </a:prstGeom>
          <a:solidFill>
            <a:srgbClr val="F4F6FA"/>
          </a:solidFill>
          <a:ln w="6350">
            <a:solidFill>
              <a:srgbClr val="D8DEE9"/>
            </a:solidFill>
            <a:prstDash val="solid"/>
          </a:ln>
        </p:spPr>
      </p:sp>
      <p:sp>
        <p:nvSpPr>
          <p:cNvPr id="45" name="Shape 43"/>
          <p:cNvSpPr/>
          <p:nvPr/>
        </p:nvSpPr>
        <p:spPr>
          <a:xfrm>
            <a:off x="5715000" y="3541776"/>
            <a:ext cx="45720" cy="963168"/>
          </a:xfrm>
          <a:prstGeom prst="rect">
            <a:avLst/>
          </a:prstGeom>
          <a:solidFill>
            <a:srgbClr val="FFC72C"/>
          </a:solidFill>
          <a:ln w="12700">
            <a:solidFill>
              <a:srgbClr val="FFC72C"/>
            </a:solidFill>
            <a:prstDash val="solid"/>
          </a:ln>
        </p:spPr>
      </p:sp>
      <p:sp>
        <p:nvSpPr>
          <p:cNvPr id="46" name="Text 44"/>
          <p:cNvSpPr/>
          <p:nvPr/>
        </p:nvSpPr>
        <p:spPr>
          <a:xfrm>
            <a:off x="5852160" y="3614928"/>
            <a:ext cx="2665476" cy="256032"/>
          </a:xfrm>
          <a:prstGeom prst="rect">
            <a:avLst/>
          </a:prstGeom>
          <a:noFill/>
          <a:ln/>
        </p:spPr>
        <p:txBody>
          <a:bodyPr wrap="square" lIns="0" tIns="0" rIns="0" bIns="0" rtlCol="0" anchor="ctr"/>
          <a:lstStyle/>
          <a:p>
            <a:pPr indent="0" marL="0">
              <a:buNone/>
            </a:pPr>
            <a:r>
              <a:rPr lang="en-US" sz="1100" b="1" dirty="0">
                <a:solidFill>
                  <a:srgbClr val="1A1F36"/>
                </a:solidFill>
                <a:latin typeface="Georgia" pitchFamily="34" charset="0"/>
                <a:ea typeface="Georgia" pitchFamily="34" charset="-122"/>
                <a:cs typeface="Georgia" pitchFamily="34" charset="-120"/>
              </a:rPr>
              <a:t>Codify the runbook</a:t>
            </a:r>
            <a:endParaRPr lang="en-US" sz="1100" dirty="0"/>
          </a:p>
        </p:txBody>
      </p:sp>
      <p:sp>
        <p:nvSpPr>
          <p:cNvPr id="47" name="Text 45"/>
          <p:cNvSpPr/>
          <p:nvPr/>
        </p:nvSpPr>
        <p:spPr>
          <a:xfrm>
            <a:off x="5852160" y="3889248"/>
            <a:ext cx="2665476" cy="551688"/>
          </a:xfrm>
          <a:prstGeom prst="rect">
            <a:avLst/>
          </a:prstGeom>
          <a:noFill/>
          <a:ln/>
        </p:spPr>
        <p:txBody>
          <a:bodyPr wrap="square" lIns="0" tIns="0" rIns="0" bIns="0" rtlCol="0" anchor="t"/>
          <a:lstStyle/>
          <a:p>
            <a:pPr indent="0" marL="0">
              <a:buNone/>
            </a:pPr>
            <a:r>
              <a:rPr lang="en-US" sz="850" dirty="0">
                <a:solidFill>
                  <a:srgbClr val="5B6478"/>
                </a:solidFill>
                <a:latin typeface="Calibri" pitchFamily="34" charset="0"/>
                <a:ea typeface="Calibri" pitchFamily="34" charset="-122"/>
                <a:cs typeface="Calibri" pitchFamily="34" charset="-120"/>
              </a:rPr>
              <a:t>Every wiki-page runbook becomes executable code with tests. The agent runs it under policy guardrails; you review and improve. Tribal knowledge becomes versioned, reviewable, portable.</a:t>
            </a:r>
            <a:endParaRPr lang="en-US" sz="850" dirty="0"/>
          </a:p>
        </p:txBody>
      </p:sp>
      <p:sp>
        <p:nvSpPr>
          <p:cNvPr id="48" name="Shape 46"/>
          <p:cNvSpPr/>
          <p:nvPr/>
        </p:nvSpPr>
        <p:spPr>
          <a:xfrm>
            <a:off x="8718804" y="3541776"/>
            <a:ext cx="2894076" cy="963168"/>
          </a:xfrm>
          <a:prstGeom prst="rect">
            <a:avLst/>
          </a:prstGeom>
          <a:solidFill>
            <a:srgbClr val="F4F6FA"/>
          </a:solidFill>
          <a:ln w="6350">
            <a:solidFill>
              <a:srgbClr val="D8DEE9"/>
            </a:solidFill>
            <a:prstDash val="solid"/>
          </a:ln>
        </p:spPr>
      </p:sp>
      <p:sp>
        <p:nvSpPr>
          <p:cNvPr id="49" name="Shape 47"/>
          <p:cNvSpPr/>
          <p:nvPr/>
        </p:nvSpPr>
        <p:spPr>
          <a:xfrm>
            <a:off x="8718804" y="3541776"/>
            <a:ext cx="45720" cy="963168"/>
          </a:xfrm>
          <a:prstGeom prst="rect">
            <a:avLst/>
          </a:prstGeom>
          <a:solidFill>
            <a:srgbClr val="FFC72C"/>
          </a:solidFill>
          <a:ln w="12700">
            <a:solidFill>
              <a:srgbClr val="FFC72C"/>
            </a:solidFill>
            <a:prstDash val="solid"/>
          </a:ln>
        </p:spPr>
      </p:sp>
      <p:sp>
        <p:nvSpPr>
          <p:cNvPr id="50" name="Text 48"/>
          <p:cNvSpPr/>
          <p:nvPr/>
        </p:nvSpPr>
        <p:spPr>
          <a:xfrm>
            <a:off x="8855964" y="3614928"/>
            <a:ext cx="2665476" cy="256032"/>
          </a:xfrm>
          <a:prstGeom prst="rect">
            <a:avLst/>
          </a:prstGeom>
          <a:noFill/>
          <a:ln/>
        </p:spPr>
        <p:txBody>
          <a:bodyPr wrap="square" lIns="0" tIns="0" rIns="0" bIns="0" rtlCol="0" anchor="ctr"/>
          <a:lstStyle/>
          <a:p>
            <a:pPr indent="0" marL="0">
              <a:buNone/>
            </a:pPr>
            <a:r>
              <a:rPr lang="en-US" sz="1100" b="1" dirty="0">
                <a:solidFill>
                  <a:srgbClr val="1A1F36"/>
                </a:solidFill>
                <a:latin typeface="Georgia" pitchFamily="34" charset="0"/>
                <a:ea typeface="Georgia" pitchFamily="34" charset="-122"/>
                <a:cs typeface="Georgia" pitchFamily="34" charset="-120"/>
              </a:rPr>
              <a:t>Carry the pager for novel failures</a:t>
            </a:r>
            <a:endParaRPr lang="en-US" sz="1100" dirty="0"/>
          </a:p>
        </p:txBody>
      </p:sp>
      <p:sp>
        <p:nvSpPr>
          <p:cNvPr id="51" name="Text 49"/>
          <p:cNvSpPr/>
          <p:nvPr/>
        </p:nvSpPr>
        <p:spPr>
          <a:xfrm>
            <a:off x="8855964" y="3889248"/>
            <a:ext cx="2665476" cy="551688"/>
          </a:xfrm>
          <a:prstGeom prst="rect">
            <a:avLst/>
          </a:prstGeom>
          <a:noFill/>
          <a:ln/>
        </p:spPr>
        <p:txBody>
          <a:bodyPr wrap="square" lIns="0" tIns="0" rIns="0" bIns="0" rtlCol="0" anchor="t"/>
          <a:lstStyle/>
          <a:p>
            <a:pPr indent="0" marL="0">
              <a:buNone/>
            </a:pPr>
            <a:r>
              <a:rPr lang="en-US" sz="850" dirty="0">
                <a:solidFill>
                  <a:srgbClr val="5B6478"/>
                </a:solidFill>
                <a:latin typeface="Calibri" pitchFamily="34" charset="0"/>
                <a:ea typeface="Calibri" pitchFamily="34" charset="-122"/>
                <a:cs typeface="Calibri" pitchFamily="34" charset="-120"/>
              </a:rPr>
              <a:t>Only the genuinely new failure modes. The platform handles the known ones. When you're paged, it's because something interesting is happening — and your diagnosis becomes tomorrow's automation.</a:t>
            </a:r>
            <a:endParaRPr lang="en-US" sz="850" dirty="0"/>
          </a:p>
        </p:txBody>
      </p:sp>
      <p:sp>
        <p:nvSpPr>
          <p:cNvPr id="52" name="Shape 50"/>
          <p:cNvSpPr/>
          <p:nvPr/>
        </p:nvSpPr>
        <p:spPr>
          <a:xfrm>
            <a:off x="5715000" y="4614672"/>
            <a:ext cx="2894076" cy="963168"/>
          </a:xfrm>
          <a:prstGeom prst="rect">
            <a:avLst/>
          </a:prstGeom>
          <a:solidFill>
            <a:srgbClr val="F4F6FA"/>
          </a:solidFill>
          <a:ln w="6350">
            <a:solidFill>
              <a:srgbClr val="D8DEE9"/>
            </a:solidFill>
            <a:prstDash val="solid"/>
          </a:ln>
        </p:spPr>
      </p:sp>
      <p:sp>
        <p:nvSpPr>
          <p:cNvPr id="53" name="Shape 51"/>
          <p:cNvSpPr/>
          <p:nvPr/>
        </p:nvSpPr>
        <p:spPr>
          <a:xfrm>
            <a:off x="5715000" y="4614672"/>
            <a:ext cx="45720" cy="963168"/>
          </a:xfrm>
          <a:prstGeom prst="rect">
            <a:avLst/>
          </a:prstGeom>
          <a:solidFill>
            <a:srgbClr val="FFC72C"/>
          </a:solidFill>
          <a:ln w="12700">
            <a:solidFill>
              <a:srgbClr val="FFC72C"/>
            </a:solidFill>
            <a:prstDash val="solid"/>
          </a:ln>
        </p:spPr>
      </p:sp>
      <p:sp>
        <p:nvSpPr>
          <p:cNvPr id="54" name="Text 52"/>
          <p:cNvSpPr/>
          <p:nvPr/>
        </p:nvSpPr>
        <p:spPr>
          <a:xfrm>
            <a:off x="5852160" y="4687824"/>
            <a:ext cx="2665476" cy="256032"/>
          </a:xfrm>
          <a:prstGeom prst="rect">
            <a:avLst/>
          </a:prstGeom>
          <a:noFill/>
          <a:ln/>
        </p:spPr>
        <p:txBody>
          <a:bodyPr wrap="square" lIns="0" tIns="0" rIns="0" bIns="0" rtlCol="0" anchor="ctr"/>
          <a:lstStyle/>
          <a:p>
            <a:pPr indent="0" marL="0">
              <a:buNone/>
            </a:pPr>
            <a:r>
              <a:rPr lang="en-US" sz="1100" b="1" dirty="0">
                <a:solidFill>
                  <a:srgbClr val="1A1F36"/>
                </a:solidFill>
                <a:latin typeface="Georgia" pitchFamily="34" charset="0"/>
                <a:ea typeface="Georgia" pitchFamily="34" charset="-122"/>
                <a:cs typeface="Georgia" pitchFamily="34" charset="-120"/>
              </a:rPr>
              <a:t>Engineer reliability practice</a:t>
            </a:r>
            <a:endParaRPr lang="en-US" sz="1100" dirty="0"/>
          </a:p>
        </p:txBody>
      </p:sp>
      <p:sp>
        <p:nvSpPr>
          <p:cNvPr id="55" name="Text 53"/>
          <p:cNvSpPr/>
          <p:nvPr/>
        </p:nvSpPr>
        <p:spPr>
          <a:xfrm>
            <a:off x="5852160" y="4962144"/>
            <a:ext cx="2665476" cy="551688"/>
          </a:xfrm>
          <a:prstGeom prst="rect">
            <a:avLst/>
          </a:prstGeom>
          <a:noFill/>
          <a:ln/>
        </p:spPr>
        <p:txBody>
          <a:bodyPr wrap="square" lIns="0" tIns="0" rIns="0" bIns="0" rtlCol="0" anchor="t"/>
          <a:lstStyle/>
          <a:p>
            <a:pPr indent="0" marL="0">
              <a:buNone/>
            </a:pPr>
            <a:r>
              <a:rPr lang="en-US" sz="850" dirty="0">
                <a:solidFill>
                  <a:srgbClr val="5B6478"/>
                </a:solidFill>
                <a:latin typeface="Calibri" pitchFamily="34" charset="0"/>
                <a:ea typeface="Calibri" pitchFamily="34" charset="-122"/>
                <a:cs typeface="Calibri" pitchFamily="34" charset="-120"/>
              </a:rPr>
              <a:t>Error budgets, chaos game days, post-incident learning. Drive the reliability roadmap based on what you see in production — feed it back into the product backlog.</a:t>
            </a:r>
            <a:endParaRPr lang="en-US" sz="850" dirty="0"/>
          </a:p>
        </p:txBody>
      </p:sp>
      <p:sp>
        <p:nvSpPr>
          <p:cNvPr id="56" name="Shape 54"/>
          <p:cNvSpPr/>
          <p:nvPr/>
        </p:nvSpPr>
        <p:spPr>
          <a:xfrm>
            <a:off x="8718804" y="4614672"/>
            <a:ext cx="2894076" cy="963168"/>
          </a:xfrm>
          <a:prstGeom prst="rect">
            <a:avLst/>
          </a:prstGeom>
          <a:solidFill>
            <a:srgbClr val="F4F6FA"/>
          </a:solidFill>
          <a:ln w="6350">
            <a:solidFill>
              <a:srgbClr val="D8DEE9"/>
            </a:solidFill>
            <a:prstDash val="solid"/>
          </a:ln>
        </p:spPr>
      </p:sp>
      <p:sp>
        <p:nvSpPr>
          <p:cNvPr id="57" name="Shape 55"/>
          <p:cNvSpPr/>
          <p:nvPr/>
        </p:nvSpPr>
        <p:spPr>
          <a:xfrm>
            <a:off x="8718804" y="4614672"/>
            <a:ext cx="45720" cy="963168"/>
          </a:xfrm>
          <a:prstGeom prst="rect">
            <a:avLst/>
          </a:prstGeom>
          <a:solidFill>
            <a:srgbClr val="FFC72C"/>
          </a:solidFill>
          <a:ln w="12700">
            <a:solidFill>
              <a:srgbClr val="FFC72C"/>
            </a:solidFill>
            <a:prstDash val="solid"/>
          </a:ln>
        </p:spPr>
      </p:sp>
      <p:sp>
        <p:nvSpPr>
          <p:cNvPr id="58" name="Text 56"/>
          <p:cNvSpPr/>
          <p:nvPr/>
        </p:nvSpPr>
        <p:spPr>
          <a:xfrm>
            <a:off x="8855964" y="4687824"/>
            <a:ext cx="2665476" cy="256032"/>
          </a:xfrm>
          <a:prstGeom prst="rect">
            <a:avLst/>
          </a:prstGeom>
          <a:noFill/>
          <a:ln/>
        </p:spPr>
        <p:txBody>
          <a:bodyPr wrap="square" lIns="0" tIns="0" rIns="0" bIns="0" rtlCol="0" anchor="ctr"/>
          <a:lstStyle/>
          <a:p>
            <a:pPr indent="0" marL="0">
              <a:buNone/>
            </a:pPr>
            <a:r>
              <a:rPr lang="en-US" sz="1100" b="1" dirty="0">
                <a:solidFill>
                  <a:srgbClr val="1A1F36"/>
                </a:solidFill>
                <a:latin typeface="Georgia" pitchFamily="34" charset="0"/>
                <a:ea typeface="Georgia" pitchFamily="34" charset="-122"/>
                <a:cs typeface="Georgia" pitchFamily="34" charset="-120"/>
              </a:rPr>
              <a:t>Coach app teams</a:t>
            </a:r>
            <a:endParaRPr lang="en-US" sz="1100" dirty="0"/>
          </a:p>
        </p:txBody>
      </p:sp>
      <p:sp>
        <p:nvSpPr>
          <p:cNvPr id="59" name="Text 57"/>
          <p:cNvSpPr/>
          <p:nvPr/>
        </p:nvSpPr>
        <p:spPr>
          <a:xfrm>
            <a:off x="8855964" y="4962144"/>
            <a:ext cx="2665476" cy="551688"/>
          </a:xfrm>
          <a:prstGeom prst="rect">
            <a:avLst/>
          </a:prstGeom>
          <a:noFill/>
          <a:ln/>
        </p:spPr>
        <p:txBody>
          <a:bodyPr wrap="square" lIns="0" tIns="0" rIns="0" bIns="0" rtlCol="0" anchor="t"/>
          <a:lstStyle/>
          <a:p>
            <a:pPr indent="0" marL="0">
              <a:buNone/>
            </a:pPr>
            <a:r>
              <a:rPr lang="en-US" sz="850" dirty="0">
                <a:solidFill>
                  <a:srgbClr val="5B6478"/>
                </a:solidFill>
                <a:latin typeface="Calibri" pitchFamily="34" charset="0"/>
                <a:ea typeface="Calibri" pitchFamily="34" charset="-122"/>
                <a:cs typeface="Calibri" pitchFamily="34" charset="-120"/>
              </a:rPr>
              <a:t>Office hours, design reviews, brownfield migrations. Help 600+ application teams consume the paved road well. The expertise that used to sit behind a ticket queue now flows out to where decisions happen.</a:t>
            </a:r>
            <a:endParaRPr lang="en-US" sz="850" dirty="0"/>
          </a:p>
        </p:txBody>
      </p:sp>
      <p:sp>
        <p:nvSpPr>
          <p:cNvPr id="60" name="Shape 58"/>
          <p:cNvSpPr/>
          <p:nvPr/>
        </p:nvSpPr>
        <p:spPr>
          <a:xfrm>
            <a:off x="365760" y="5852160"/>
            <a:ext cx="11430000" cy="502920"/>
          </a:xfrm>
          <a:prstGeom prst="rect">
            <a:avLst/>
          </a:prstGeom>
          <a:solidFill>
            <a:srgbClr val="002060"/>
          </a:solidFill>
          <a:ln w="12700">
            <a:solidFill>
              <a:srgbClr val="002060"/>
            </a:solidFill>
            <a:prstDash val="solid"/>
          </a:ln>
        </p:spPr>
      </p:sp>
      <p:sp>
        <p:nvSpPr>
          <p:cNvPr id="61" name="Shape 59"/>
          <p:cNvSpPr/>
          <p:nvPr/>
        </p:nvSpPr>
        <p:spPr>
          <a:xfrm>
            <a:off x="365760" y="5852160"/>
            <a:ext cx="73152" cy="502920"/>
          </a:xfrm>
          <a:prstGeom prst="rect">
            <a:avLst/>
          </a:prstGeom>
          <a:solidFill>
            <a:srgbClr val="FFC72C"/>
          </a:solidFill>
          <a:ln w="12700">
            <a:solidFill>
              <a:srgbClr val="FFC72C"/>
            </a:solidFill>
            <a:prstDash val="solid"/>
          </a:ln>
        </p:spPr>
      </p:sp>
      <p:sp>
        <p:nvSpPr>
          <p:cNvPr id="62" name="Text 60"/>
          <p:cNvSpPr/>
          <p:nvPr/>
        </p:nvSpPr>
        <p:spPr>
          <a:xfrm>
            <a:off x="594360" y="5852160"/>
            <a:ext cx="1097280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The job changes from operating the system to engineering the system that operates itself.  </a:t>
            </a:r>
            <a:pPr indent="0" marL="0">
              <a:buNone/>
            </a:pPr>
            <a:r>
              <a:rPr lang="en-US" sz="1200" i="1" dirty="0">
                <a:solidFill>
                  <a:srgbClr val="FFC72C"/>
                </a:solidFill>
                <a:latin typeface="Calibri" pitchFamily="34" charset="0"/>
                <a:ea typeface="Calibri" pitchFamily="34" charset="-122"/>
                <a:cs typeface="Calibri" pitchFamily="34" charset="-120"/>
              </a:rPr>
              <a:t>Every incident becomes code that prevents the next one.</a:t>
            </a:r>
            <a:endParaRPr lang="en-US" sz="1200" dirty="0"/>
          </a:p>
        </p:txBody>
      </p:sp>
      <p:sp>
        <p:nvSpPr>
          <p:cNvPr id="63" name="Shape 61"/>
          <p:cNvSpPr/>
          <p:nvPr/>
        </p:nvSpPr>
        <p:spPr>
          <a:xfrm>
            <a:off x="0" y="6537960"/>
            <a:ext cx="12161520" cy="18288"/>
          </a:xfrm>
          <a:prstGeom prst="rect">
            <a:avLst/>
          </a:prstGeom>
          <a:solidFill>
            <a:srgbClr val="D8DEE9"/>
          </a:solidFill>
          <a:ln w="12700">
            <a:solidFill>
              <a:srgbClr val="D8DEE9"/>
            </a:solidFill>
            <a:prstDash val="solid"/>
          </a:ln>
        </p:spPr>
      </p:sp>
      <p:sp>
        <p:nvSpPr>
          <p:cNvPr id="64" name="Text 62"/>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65" name="Text 63"/>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TARGET ORG</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Governance, Pods, and Horizontals — one organization</a:t>
            </a:r>
            <a:endParaRPr lang="en-US" sz="2800" dirty="0"/>
          </a:p>
        </p:txBody>
      </p:sp>
      <p:sp>
        <p:nvSpPr>
          <p:cNvPr id="4" name="Text 2"/>
          <p:cNvSpPr/>
          <p:nvPr/>
        </p:nvSpPr>
        <p:spPr>
          <a:xfrm>
            <a:off x="457200" y="1325880"/>
            <a:ext cx="11247120" cy="457200"/>
          </a:xfrm>
          <a:prstGeom prst="rect">
            <a:avLst/>
          </a:prstGeom>
          <a:noFill/>
          <a:ln/>
        </p:spPr>
        <p:txBody>
          <a:bodyPr wrap="square" lIns="0" tIns="0" rIns="0" bIns="0" rtlCol="0" anchor="ctr"/>
          <a:lstStyle/>
          <a:p>
            <a:pPr indent="0" marL="0">
              <a:buNone/>
            </a:pPr>
            <a:r>
              <a:rPr lang="en-US" sz="1250" i="1" dirty="0">
                <a:solidFill>
                  <a:srgbClr val="5B6478"/>
                </a:solidFill>
                <a:latin typeface="Calibri" pitchFamily="34" charset="0"/>
                <a:ea typeface="Calibri" pitchFamily="34" charset="-122"/>
                <a:cs typeface="Calibri" pitchFamily="34" charset="-120"/>
              </a:rPr>
              <a:t>Vertical pods own products end-to-end. Horizontal functions sit underneath every pod — defining the bar, aggregating the signal, providing the leverage no single pod can build alone.</a:t>
            </a:r>
            <a:endParaRPr lang="en-US" sz="1250" dirty="0"/>
          </a:p>
        </p:txBody>
      </p:sp>
      <p:sp>
        <p:nvSpPr>
          <p:cNvPr id="5" name="Shape 3"/>
          <p:cNvSpPr/>
          <p:nvPr/>
        </p:nvSpPr>
        <p:spPr>
          <a:xfrm>
            <a:off x="3794760" y="1874520"/>
            <a:ext cx="4572000" cy="548640"/>
          </a:xfrm>
          <a:prstGeom prst="rect">
            <a:avLst/>
          </a:prstGeom>
          <a:solidFill>
            <a:srgbClr val="002060"/>
          </a:solidFill>
          <a:ln w="12700">
            <a:solidFill>
              <a:srgbClr val="002060"/>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3794760" y="1874520"/>
            <a:ext cx="4572000" cy="45720"/>
          </a:xfrm>
          <a:prstGeom prst="rect">
            <a:avLst/>
          </a:prstGeom>
          <a:solidFill>
            <a:srgbClr val="FFC72C"/>
          </a:solidFill>
          <a:ln w="12700">
            <a:solidFill>
              <a:srgbClr val="FFC72C"/>
            </a:solidFill>
            <a:prstDash val="solid"/>
          </a:ln>
        </p:spPr>
      </p:sp>
      <p:sp>
        <p:nvSpPr>
          <p:cNvPr id="7" name="Text 5"/>
          <p:cNvSpPr/>
          <p:nvPr/>
        </p:nvSpPr>
        <p:spPr>
          <a:xfrm>
            <a:off x="3794760" y="1947672"/>
            <a:ext cx="45720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Platform Governance</a:t>
            </a:r>
            <a:endParaRPr lang="en-US" sz="1400" dirty="0"/>
          </a:p>
        </p:txBody>
      </p:sp>
      <p:sp>
        <p:nvSpPr>
          <p:cNvPr id="8" name="Text 6"/>
          <p:cNvSpPr/>
          <p:nvPr/>
        </p:nvSpPr>
        <p:spPr>
          <a:xfrm>
            <a:off x="3794760" y="2203704"/>
            <a:ext cx="4572000" cy="201168"/>
          </a:xfrm>
          <a:prstGeom prst="rect">
            <a:avLst/>
          </a:prstGeom>
          <a:noFill/>
          <a:ln/>
        </p:spPr>
        <p:txBody>
          <a:bodyPr wrap="square" lIns="0" tIns="0" rIns="0" bIns="0" rtlCol="0" anchor="ctr"/>
          <a:lstStyle/>
          <a:p>
            <a:pPr algn="ctr" indent="0" marL="0">
              <a:buNone/>
            </a:pPr>
            <a:r>
              <a:rPr lang="en-US" sz="1000" i="1" dirty="0">
                <a:solidFill>
                  <a:srgbClr val="B8C7E0"/>
                </a:solidFill>
                <a:latin typeface="Calibri" pitchFamily="34" charset="0"/>
                <a:ea typeface="Calibri" pitchFamily="34" charset="-122"/>
                <a:cs typeface="Calibri" pitchFamily="34" charset="-120"/>
              </a:rPr>
              <a:t>Policy bar  ·  audit &amp; regulator interface  ·  exception framework</a:t>
            </a:r>
            <a:endParaRPr lang="en-US" sz="1000" dirty="0"/>
          </a:p>
        </p:txBody>
      </p:sp>
      <p:sp>
        <p:nvSpPr>
          <p:cNvPr id="9" name="Shape 7"/>
          <p:cNvSpPr/>
          <p:nvPr/>
        </p:nvSpPr>
        <p:spPr>
          <a:xfrm>
            <a:off x="6080760" y="2423160"/>
            <a:ext cx="0" cy="228600"/>
          </a:xfrm>
          <a:prstGeom prst="line">
            <a:avLst/>
          </a:prstGeom>
          <a:noFill/>
          <a:ln w="12700">
            <a:solidFill>
              <a:srgbClr val="5B6478"/>
            </a:solidFill>
            <a:prstDash val="solid"/>
          </a:ln>
        </p:spPr>
      </p:sp>
      <p:sp>
        <p:nvSpPr>
          <p:cNvPr id="10" name="Shape 8"/>
          <p:cNvSpPr/>
          <p:nvPr/>
        </p:nvSpPr>
        <p:spPr>
          <a:xfrm>
            <a:off x="640080" y="2697480"/>
            <a:ext cx="10881360" cy="1920240"/>
          </a:xfrm>
          <a:prstGeom prst="rect">
            <a:avLst/>
          </a:prstGeom>
          <a:solidFill>
            <a:srgbClr val="F4F6FA"/>
          </a:solidFill>
          <a:ln w="15875">
            <a:solidFill>
              <a:srgbClr val="003DA5"/>
            </a:solidFill>
            <a:prstDash val="solid"/>
          </a:ln>
          <a:effectLst>
            <a:outerShdw sx="100000" sy="100000" kx="0" ky="0" algn="bl" rotWithShape="0" blurRad="101600" dist="25400" dir="5400000">
              <a:srgbClr val="000000">
                <a:alpha val="8000"/>
              </a:srgbClr>
            </a:outerShdw>
          </a:effectLst>
        </p:spPr>
      </p:sp>
      <p:sp>
        <p:nvSpPr>
          <p:cNvPr id="11" name="Text 9"/>
          <p:cNvSpPr/>
          <p:nvPr/>
        </p:nvSpPr>
        <p:spPr>
          <a:xfrm>
            <a:off x="914400" y="2807208"/>
            <a:ext cx="10332720" cy="256032"/>
          </a:xfrm>
          <a:prstGeom prst="rect">
            <a:avLst/>
          </a:prstGeom>
          <a:noFill/>
          <a:ln/>
        </p:spPr>
        <p:txBody>
          <a:bodyPr wrap="square" lIns="0" tIns="0" rIns="0" bIns="0" rtlCol="0" anchor="ctr"/>
          <a:lstStyle/>
          <a:p>
            <a:pPr indent="0" marL="0">
              <a:buNone/>
            </a:pPr>
            <a:r>
              <a:rPr lang="en-US" sz="1100" b="1" spc="400" kern="0" dirty="0">
                <a:solidFill>
                  <a:srgbClr val="003DA5"/>
                </a:solidFill>
                <a:latin typeface="Calibri" pitchFamily="34" charset="0"/>
                <a:ea typeface="Calibri" pitchFamily="34" charset="-122"/>
                <a:cs typeface="Calibri" pitchFamily="34" charset="-120"/>
              </a:rPr>
              <a:t>PRODUCT ENGINEERING PODS</a:t>
            </a:r>
            <a:endParaRPr lang="en-US" sz="1100" dirty="0"/>
          </a:p>
        </p:txBody>
      </p:sp>
      <p:sp>
        <p:nvSpPr>
          <p:cNvPr id="12" name="Text 10"/>
          <p:cNvSpPr/>
          <p:nvPr/>
        </p:nvSpPr>
        <p:spPr>
          <a:xfrm>
            <a:off x="914400" y="3044952"/>
            <a:ext cx="10332720" cy="237744"/>
          </a:xfrm>
          <a:prstGeom prst="rect">
            <a:avLst/>
          </a:prstGeom>
          <a:noFill/>
          <a:ln/>
        </p:spPr>
        <p:txBody>
          <a:bodyPr wrap="square" lIns="0" tIns="0" rIns="0" bIns="0" rtlCol="0" anchor="ctr"/>
          <a:lstStyle/>
          <a:p>
            <a:pPr indent="0" marL="0">
              <a:buNone/>
            </a:pPr>
            <a:r>
              <a:rPr lang="en-US" sz="1100" i="1" dirty="0">
                <a:solidFill>
                  <a:srgbClr val="5B6478"/>
                </a:solidFill>
                <a:latin typeface="Calibri" pitchFamily="34" charset="0"/>
                <a:ea typeface="Calibri" pitchFamily="34" charset="-122"/>
                <a:cs typeface="Calibri" pitchFamily="34" charset="-120"/>
              </a:rPr>
              <a:t>Each pod owns Codify · Assure · Automate end-to-end for its product</a:t>
            </a:r>
            <a:endParaRPr lang="en-US" sz="1100" dirty="0"/>
          </a:p>
        </p:txBody>
      </p:sp>
      <p:sp>
        <p:nvSpPr>
          <p:cNvPr id="13" name="Shape 11"/>
          <p:cNvSpPr/>
          <p:nvPr/>
        </p:nvSpPr>
        <p:spPr>
          <a:xfrm>
            <a:off x="914400" y="3383280"/>
            <a:ext cx="1607820" cy="1097280"/>
          </a:xfrm>
          <a:prstGeom prst="rect">
            <a:avLst/>
          </a:prstGeom>
          <a:solidFill>
            <a:srgbClr val="FFFFFF"/>
          </a:solidFill>
          <a:ln w="9525">
            <a:solidFill>
              <a:srgbClr val="D8DEE9"/>
            </a:solidFill>
            <a:prstDash val="solid"/>
          </a:ln>
        </p:spPr>
      </p:sp>
      <p:sp>
        <p:nvSpPr>
          <p:cNvPr id="14" name="Shape 12"/>
          <p:cNvSpPr/>
          <p:nvPr/>
        </p:nvSpPr>
        <p:spPr>
          <a:xfrm>
            <a:off x="914400" y="3383280"/>
            <a:ext cx="1607820" cy="73152"/>
          </a:xfrm>
          <a:prstGeom prst="rect">
            <a:avLst/>
          </a:prstGeom>
          <a:solidFill>
            <a:srgbClr val="003DA5"/>
          </a:solidFill>
          <a:ln w="12700">
            <a:solidFill>
              <a:srgbClr val="003DA5"/>
            </a:solidFill>
            <a:prstDash val="solid"/>
          </a:ln>
        </p:spPr>
      </p:sp>
      <p:sp>
        <p:nvSpPr>
          <p:cNvPr id="15" name="Text 13"/>
          <p:cNvSpPr/>
          <p:nvPr/>
        </p:nvSpPr>
        <p:spPr>
          <a:xfrm>
            <a:off x="914400" y="3566160"/>
            <a:ext cx="1607820" cy="320040"/>
          </a:xfrm>
          <a:prstGeom prst="rect">
            <a:avLst/>
          </a:prstGeom>
          <a:noFill/>
          <a:ln/>
        </p:spPr>
        <p:txBody>
          <a:bodyPr wrap="square" lIns="0" tIns="0" rIns="0" bIns="0" rtlCol="0" anchor="ctr"/>
          <a:lstStyle/>
          <a:p>
            <a:pPr algn="ctr" indent="0" marL="0">
              <a:buNone/>
            </a:pPr>
            <a:r>
              <a:rPr lang="en-US" sz="1300" b="1" dirty="0">
                <a:solidFill>
                  <a:srgbClr val="1A1F36"/>
                </a:solidFill>
                <a:latin typeface="Georgia" pitchFamily="34" charset="0"/>
                <a:ea typeface="Georgia" pitchFamily="34" charset="-122"/>
                <a:cs typeface="Georgia" pitchFamily="34" charset="-120"/>
              </a:rPr>
              <a:t>Postgres</a:t>
            </a:r>
            <a:endParaRPr lang="en-US" sz="1300" dirty="0"/>
          </a:p>
        </p:txBody>
      </p:sp>
      <p:sp>
        <p:nvSpPr>
          <p:cNvPr id="16" name="Text 14"/>
          <p:cNvSpPr/>
          <p:nvPr/>
        </p:nvSpPr>
        <p:spPr>
          <a:xfrm>
            <a:off x="914400" y="3886200"/>
            <a:ext cx="1607820" cy="2286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Pod</a:t>
            </a:r>
            <a:endParaRPr lang="en-US" sz="1000" dirty="0"/>
          </a:p>
        </p:txBody>
      </p:sp>
      <p:sp>
        <p:nvSpPr>
          <p:cNvPr id="17" name="Text 15"/>
          <p:cNvSpPr/>
          <p:nvPr/>
        </p:nvSpPr>
        <p:spPr>
          <a:xfrm>
            <a:off x="914400" y="4206240"/>
            <a:ext cx="1607820" cy="274320"/>
          </a:xfrm>
          <a:prstGeom prst="rect">
            <a:avLst/>
          </a:prstGeom>
          <a:noFill/>
          <a:ln/>
        </p:spPr>
        <p:txBody>
          <a:bodyPr wrap="square" lIns="0" tIns="0" rIns="0" bIns="0" rtlCol="0" anchor="ctr"/>
          <a:lstStyle/>
          <a:p>
            <a:pPr algn="ctr" indent="0" marL="0">
              <a:buNone/>
            </a:pPr>
            <a:r>
              <a:rPr lang="en-US" sz="1000" b="1" spc="300" kern="0" dirty="0">
                <a:solidFill>
                  <a:srgbClr val="E0A800"/>
                </a:solidFill>
                <a:latin typeface="Calibri" pitchFamily="34" charset="0"/>
                <a:ea typeface="Calibri" pitchFamily="34" charset="-122"/>
                <a:cs typeface="Calibri" pitchFamily="34" charset="-120"/>
              </a:rPr>
              <a:t>C · A · A</a:t>
            </a:r>
            <a:endParaRPr lang="en-US" sz="1000" dirty="0"/>
          </a:p>
        </p:txBody>
      </p:sp>
      <p:sp>
        <p:nvSpPr>
          <p:cNvPr id="18" name="Shape 16"/>
          <p:cNvSpPr/>
          <p:nvPr/>
        </p:nvSpPr>
        <p:spPr>
          <a:xfrm>
            <a:off x="2659380" y="3383280"/>
            <a:ext cx="1607820" cy="1097280"/>
          </a:xfrm>
          <a:prstGeom prst="rect">
            <a:avLst/>
          </a:prstGeom>
          <a:solidFill>
            <a:srgbClr val="FFFFFF"/>
          </a:solidFill>
          <a:ln w="9525">
            <a:solidFill>
              <a:srgbClr val="D8DEE9"/>
            </a:solidFill>
            <a:prstDash val="solid"/>
          </a:ln>
        </p:spPr>
      </p:sp>
      <p:sp>
        <p:nvSpPr>
          <p:cNvPr id="19" name="Shape 17"/>
          <p:cNvSpPr/>
          <p:nvPr/>
        </p:nvSpPr>
        <p:spPr>
          <a:xfrm>
            <a:off x="2659380" y="3383280"/>
            <a:ext cx="1607820" cy="73152"/>
          </a:xfrm>
          <a:prstGeom prst="rect">
            <a:avLst/>
          </a:prstGeom>
          <a:solidFill>
            <a:srgbClr val="003DA5"/>
          </a:solidFill>
          <a:ln w="12700">
            <a:solidFill>
              <a:srgbClr val="003DA5"/>
            </a:solidFill>
            <a:prstDash val="solid"/>
          </a:ln>
        </p:spPr>
      </p:sp>
      <p:sp>
        <p:nvSpPr>
          <p:cNvPr id="20" name="Text 18"/>
          <p:cNvSpPr/>
          <p:nvPr/>
        </p:nvSpPr>
        <p:spPr>
          <a:xfrm>
            <a:off x="2659380" y="3566160"/>
            <a:ext cx="1607820" cy="320040"/>
          </a:xfrm>
          <a:prstGeom prst="rect">
            <a:avLst/>
          </a:prstGeom>
          <a:noFill/>
          <a:ln/>
        </p:spPr>
        <p:txBody>
          <a:bodyPr wrap="square" lIns="0" tIns="0" rIns="0" bIns="0" rtlCol="0" anchor="ctr"/>
          <a:lstStyle/>
          <a:p>
            <a:pPr algn="ctr" indent="0" marL="0">
              <a:buNone/>
            </a:pPr>
            <a:r>
              <a:rPr lang="en-US" sz="1300" b="1" dirty="0">
                <a:solidFill>
                  <a:srgbClr val="1A1F36"/>
                </a:solidFill>
                <a:latin typeface="Georgia" pitchFamily="34" charset="0"/>
                <a:ea typeface="Georgia" pitchFamily="34" charset="-122"/>
                <a:cs typeface="Georgia" pitchFamily="34" charset="-120"/>
              </a:rPr>
              <a:t>Linux</a:t>
            </a:r>
            <a:endParaRPr lang="en-US" sz="1300" dirty="0"/>
          </a:p>
        </p:txBody>
      </p:sp>
      <p:sp>
        <p:nvSpPr>
          <p:cNvPr id="21" name="Text 19"/>
          <p:cNvSpPr/>
          <p:nvPr/>
        </p:nvSpPr>
        <p:spPr>
          <a:xfrm>
            <a:off x="2659380" y="3886200"/>
            <a:ext cx="1607820" cy="2286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Pod</a:t>
            </a:r>
            <a:endParaRPr lang="en-US" sz="1000" dirty="0"/>
          </a:p>
        </p:txBody>
      </p:sp>
      <p:sp>
        <p:nvSpPr>
          <p:cNvPr id="22" name="Text 20"/>
          <p:cNvSpPr/>
          <p:nvPr/>
        </p:nvSpPr>
        <p:spPr>
          <a:xfrm>
            <a:off x="2659380" y="4206240"/>
            <a:ext cx="1607820" cy="274320"/>
          </a:xfrm>
          <a:prstGeom prst="rect">
            <a:avLst/>
          </a:prstGeom>
          <a:noFill/>
          <a:ln/>
        </p:spPr>
        <p:txBody>
          <a:bodyPr wrap="square" lIns="0" tIns="0" rIns="0" bIns="0" rtlCol="0" anchor="ctr"/>
          <a:lstStyle/>
          <a:p>
            <a:pPr algn="ctr" indent="0" marL="0">
              <a:buNone/>
            </a:pPr>
            <a:r>
              <a:rPr lang="en-US" sz="1000" b="1" spc="300" kern="0" dirty="0">
                <a:solidFill>
                  <a:srgbClr val="E0A800"/>
                </a:solidFill>
                <a:latin typeface="Calibri" pitchFamily="34" charset="0"/>
                <a:ea typeface="Calibri" pitchFamily="34" charset="-122"/>
                <a:cs typeface="Calibri" pitchFamily="34" charset="-120"/>
              </a:rPr>
              <a:t>C · A · A</a:t>
            </a:r>
            <a:endParaRPr lang="en-US" sz="1000" dirty="0"/>
          </a:p>
        </p:txBody>
      </p:sp>
      <p:sp>
        <p:nvSpPr>
          <p:cNvPr id="23" name="Shape 21"/>
          <p:cNvSpPr/>
          <p:nvPr/>
        </p:nvSpPr>
        <p:spPr>
          <a:xfrm>
            <a:off x="4404360" y="3383280"/>
            <a:ext cx="1607820" cy="1097280"/>
          </a:xfrm>
          <a:prstGeom prst="rect">
            <a:avLst/>
          </a:prstGeom>
          <a:solidFill>
            <a:srgbClr val="FFFFFF"/>
          </a:solidFill>
          <a:ln w="9525">
            <a:solidFill>
              <a:srgbClr val="D8DEE9"/>
            </a:solidFill>
            <a:prstDash val="solid"/>
          </a:ln>
        </p:spPr>
      </p:sp>
      <p:sp>
        <p:nvSpPr>
          <p:cNvPr id="24" name="Shape 22"/>
          <p:cNvSpPr/>
          <p:nvPr/>
        </p:nvSpPr>
        <p:spPr>
          <a:xfrm>
            <a:off x="4404360" y="3383280"/>
            <a:ext cx="1607820" cy="73152"/>
          </a:xfrm>
          <a:prstGeom prst="rect">
            <a:avLst/>
          </a:prstGeom>
          <a:solidFill>
            <a:srgbClr val="003DA5"/>
          </a:solidFill>
          <a:ln w="12700">
            <a:solidFill>
              <a:srgbClr val="003DA5"/>
            </a:solidFill>
            <a:prstDash val="solid"/>
          </a:ln>
        </p:spPr>
      </p:sp>
      <p:sp>
        <p:nvSpPr>
          <p:cNvPr id="25" name="Text 23"/>
          <p:cNvSpPr/>
          <p:nvPr/>
        </p:nvSpPr>
        <p:spPr>
          <a:xfrm>
            <a:off x="4404360" y="3566160"/>
            <a:ext cx="1607820" cy="320040"/>
          </a:xfrm>
          <a:prstGeom prst="rect">
            <a:avLst/>
          </a:prstGeom>
          <a:noFill/>
          <a:ln/>
        </p:spPr>
        <p:txBody>
          <a:bodyPr wrap="square" lIns="0" tIns="0" rIns="0" bIns="0" rtlCol="0" anchor="ctr"/>
          <a:lstStyle/>
          <a:p>
            <a:pPr algn="ctr" indent="0" marL="0">
              <a:buNone/>
            </a:pPr>
            <a:r>
              <a:rPr lang="en-US" sz="1300" b="1" dirty="0">
                <a:solidFill>
                  <a:srgbClr val="1A1F36"/>
                </a:solidFill>
                <a:latin typeface="Georgia" pitchFamily="34" charset="0"/>
                <a:ea typeface="Georgia" pitchFamily="34" charset="-122"/>
                <a:cs typeface="Georgia" pitchFamily="34" charset="-120"/>
              </a:rPr>
              <a:t>Kafka</a:t>
            </a:r>
            <a:endParaRPr lang="en-US" sz="1300" dirty="0"/>
          </a:p>
        </p:txBody>
      </p:sp>
      <p:sp>
        <p:nvSpPr>
          <p:cNvPr id="26" name="Text 24"/>
          <p:cNvSpPr/>
          <p:nvPr/>
        </p:nvSpPr>
        <p:spPr>
          <a:xfrm>
            <a:off x="4404360" y="3886200"/>
            <a:ext cx="1607820" cy="2286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Pod</a:t>
            </a:r>
            <a:endParaRPr lang="en-US" sz="1000" dirty="0"/>
          </a:p>
        </p:txBody>
      </p:sp>
      <p:sp>
        <p:nvSpPr>
          <p:cNvPr id="27" name="Text 25"/>
          <p:cNvSpPr/>
          <p:nvPr/>
        </p:nvSpPr>
        <p:spPr>
          <a:xfrm>
            <a:off x="4404360" y="4206240"/>
            <a:ext cx="1607820" cy="274320"/>
          </a:xfrm>
          <a:prstGeom prst="rect">
            <a:avLst/>
          </a:prstGeom>
          <a:noFill/>
          <a:ln/>
        </p:spPr>
        <p:txBody>
          <a:bodyPr wrap="square" lIns="0" tIns="0" rIns="0" bIns="0" rtlCol="0" anchor="ctr"/>
          <a:lstStyle/>
          <a:p>
            <a:pPr algn="ctr" indent="0" marL="0">
              <a:buNone/>
            </a:pPr>
            <a:r>
              <a:rPr lang="en-US" sz="1000" b="1" spc="300" kern="0" dirty="0">
                <a:solidFill>
                  <a:srgbClr val="E0A800"/>
                </a:solidFill>
                <a:latin typeface="Calibri" pitchFamily="34" charset="0"/>
                <a:ea typeface="Calibri" pitchFamily="34" charset="-122"/>
                <a:cs typeface="Calibri" pitchFamily="34" charset="-120"/>
              </a:rPr>
              <a:t>C · A · A</a:t>
            </a:r>
            <a:endParaRPr lang="en-US" sz="1000" dirty="0"/>
          </a:p>
        </p:txBody>
      </p:sp>
      <p:sp>
        <p:nvSpPr>
          <p:cNvPr id="28" name="Shape 26"/>
          <p:cNvSpPr/>
          <p:nvPr/>
        </p:nvSpPr>
        <p:spPr>
          <a:xfrm>
            <a:off x="6149340" y="3383280"/>
            <a:ext cx="1607820" cy="1097280"/>
          </a:xfrm>
          <a:prstGeom prst="rect">
            <a:avLst/>
          </a:prstGeom>
          <a:solidFill>
            <a:srgbClr val="FFFFFF"/>
          </a:solidFill>
          <a:ln w="9525">
            <a:solidFill>
              <a:srgbClr val="D8DEE9"/>
            </a:solidFill>
            <a:prstDash val="solid"/>
          </a:ln>
        </p:spPr>
      </p:sp>
      <p:sp>
        <p:nvSpPr>
          <p:cNvPr id="29" name="Shape 27"/>
          <p:cNvSpPr/>
          <p:nvPr/>
        </p:nvSpPr>
        <p:spPr>
          <a:xfrm>
            <a:off x="6149340" y="3383280"/>
            <a:ext cx="1607820" cy="73152"/>
          </a:xfrm>
          <a:prstGeom prst="rect">
            <a:avLst/>
          </a:prstGeom>
          <a:solidFill>
            <a:srgbClr val="003DA5"/>
          </a:solidFill>
          <a:ln w="12700">
            <a:solidFill>
              <a:srgbClr val="003DA5"/>
            </a:solidFill>
            <a:prstDash val="solid"/>
          </a:ln>
        </p:spPr>
      </p:sp>
      <p:sp>
        <p:nvSpPr>
          <p:cNvPr id="30" name="Text 28"/>
          <p:cNvSpPr/>
          <p:nvPr/>
        </p:nvSpPr>
        <p:spPr>
          <a:xfrm>
            <a:off x="6149340" y="3566160"/>
            <a:ext cx="1607820" cy="320040"/>
          </a:xfrm>
          <a:prstGeom prst="rect">
            <a:avLst/>
          </a:prstGeom>
          <a:noFill/>
          <a:ln/>
        </p:spPr>
        <p:txBody>
          <a:bodyPr wrap="square" lIns="0" tIns="0" rIns="0" bIns="0" rtlCol="0" anchor="ctr"/>
          <a:lstStyle/>
          <a:p>
            <a:pPr algn="ctr" indent="0" marL="0">
              <a:buNone/>
            </a:pPr>
            <a:r>
              <a:rPr lang="en-US" sz="1300" b="1" dirty="0">
                <a:solidFill>
                  <a:srgbClr val="1A1F36"/>
                </a:solidFill>
                <a:latin typeface="Georgia" pitchFamily="34" charset="0"/>
                <a:ea typeface="Georgia" pitchFamily="34" charset="-122"/>
                <a:cs typeface="Georgia" pitchFamily="34" charset="-120"/>
              </a:rPr>
              <a:t>Kubernetes</a:t>
            </a:r>
            <a:endParaRPr lang="en-US" sz="1300" dirty="0"/>
          </a:p>
        </p:txBody>
      </p:sp>
      <p:sp>
        <p:nvSpPr>
          <p:cNvPr id="31" name="Text 29"/>
          <p:cNvSpPr/>
          <p:nvPr/>
        </p:nvSpPr>
        <p:spPr>
          <a:xfrm>
            <a:off x="6149340" y="3886200"/>
            <a:ext cx="1607820" cy="2286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Pod</a:t>
            </a:r>
            <a:endParaRPr lang="en-US" sz="1000" dirty="0"/>
          </a:p>
        </p:txBody>
      </p:sp>
      <p:sp>
        <p:nvSpPr>
          <p:cNvPr id="32" name="Text 30"/>
          <p:cNvSpPr/>
          <p:nvPr/>
        </p:nvSpPr>
        <p:spPr>
          <a:xfrm>
            <a:off x="6149340" y="4206240"/>
            <a:ext cx="1607820" cy="274320"/>
          </a:xfrm>
          <a:prstGeom prst="rect">
            <a:avLst/>
          </a:prstGeom>
          <a:noFill/>
          <a:ln/>
        </p:spPr>
        <p:txBody>
          <a:bodyPr wrap="square" lIns="0" tIns="0" rIns="0" bIns="0" rtlCol="0" anchor="ctr"/>
          <a:lstStyle/>
          <a:p>
            <a:pPr algn="ctr" indent="0" marL="0">
              <a:buNone/>
            </a:pPr>
            <a:r>
              <a:rPr lang="en-US" sz="1000" b="1" spc="300" kern="0" dirty="0">
                <a:solidFill>
                  <a:srgbClr val="E0A800"/>
                </a:solidFill>
                <a:latin typeface="Calibri" pitchFamily="34" charset="0"/>
                <a:ea typeface="Calibri" pitchFamily="34" charset="-122"/>
                <a:cs typeface="Calibri" pitchFamily="34" charset="-120"/>
              </a:rPr>
              <a:t>C · A · A</a:t>
            </a:r>
            <a:endParaRPr lang="en-US" sz="1000" dirty="0"/>
          </a:p>
        </p:txBody>
      </p:sp>
      <p:sp>
        <p:nvSpPr>
          <p:cNvPr id="33" name="Shape 31"/>
          <p:cNvSpPr/>
          <p:nvPr/>
        </p:nvSpPr>
        <p:spPr>
          <a:xfrm>
            <a:off x="7894320" y="3383280"/>
            <a:ext cx="1607820" cy="1097280"/>
          </a:xfrm>
          <a:prstGeom prst="rect">
            <a:avLst/>
          </a:prstGeom>
          <a:solidFill>
            <a:srgbClr val="FFFFFF"/>
          </a:solidFill>
          <a:ln w="9525">
            <a:solidFill>
              <a:srgbClr val="D8DEE9"/>
            </a:solidFill>
            <a:prstDash val="solid"/>
          </a:ln>
        </p:spPr>
      </p:sp>
      <p:sp>
        <p:nvSpPr>
          <p:cNvPr id="34" name="Shape 32"/>
          <p:cNvSpPr/>
          <p:nvPr/>
        </p:nvSpPr>
        <p:spPr>
          <a:xfrm>
            <a:off x="7894320" y="3383280"/>
            <a:ext cx="1607820" cy="73152"/>
          </a:xfrm>
          <a:prstGeom prst="rect">
            <a:avLst/>
          </a:prstGeom>
          <a:solidFill>
            <a:srgbClr val="003DA5"/>
          </a:solidFill>
          <a:ln w="12700">
            <a:solidFill>
              <a:srgbClr val="003DA5"/>
            </a:solidFill>
            <a:prstDash val="solid"/>
          </a:ln>
        </p:spPr>
      </p:sp>
      <p:sp>
        <p:nvSpPr>
          <p:cNvPr id="35" name="Text 33"/>
          <p:cNvSpPr/>
          <p:nvPr/>
        </p:nvSpPr>
        <p:spPr>
          <a:xfrm>
            <a:off x="7894320" y="3566160"/>
            <a:ext cx="1607820" cy="320040"/>
          </a:xfrm>
          <a:prstGeom prst="rect">
            <a:avLst/>
          </a:prstGeom>
          <a:noFill/>
          <a:ln/>
        </p:spPr>
        <p:txBody>
          <a:bodyPr wrap="square" lIns="0" tIns="0" rIns="0" bIns="0" rtlCol="0" anchor="ctr"/>
          <a:lstStyle/>
          <a:p>
            <a:pPr algn="ctr" indent="0" marL="0">
              <a:buNone/>
            </a:pPr>
            <a:r>
              <a:rPr lang="en-US" sz="1300" b="1" dirty="0">
                <a:solidFill>
                  <a:srgbClr val="1A1F36"/>
                </a:solidFill>
                <a:latin typeface="Georgia" pitchFamily="34" charset="0"/>
                <a:ea typeface="Georgia" pitchFamily="34" charset="-122"/>
                <a:cs typeface="Georgia" pitchFamily="34" charset="-120"/>
              </a:rPr>
              <a:t>Storage</a:t>
            </a:r>
            <a:endParaRPr lang="en-US" sz="1300" dirty="0"/>
          </a:p>
        </p:txBody>
      </p:sp>
      <p:sp>
        <p:nvSpPr>
          <p:cNvPr id="36" name="Text 34"/>
          <p:cNvSpPr/>
          <p:nvPr/>
        </p:nvSpPr>
        <p:spPr>
          <a:xfrm>
            <a:off x="7894320" y="3886200"/>
            <a:ext cx="1607820" cy="2286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Pod</a:t>
            </a:r>
            <a:endParaRPr lang="en-US" sz="1000" dirty="0"/>
          </a:p>
        </p:txBody>
      </p:sp>
      <p:sp>
        <p:nvSpPr>
          <p:cNvPr id="37" name="Text 35"/>
          <p:cNvSpPr/>
          <p:nvPr/>
        </p:nvSpPr>
        <p:spPr>
          <a:xfrm>
            <a:off x="7894320" y="4206240"/>
            <a:ext cx="1607820" cy="274320"/>
          </a:xfrm>
          <a:prstGeom prst="rect">
            <a:avLst/>
          </a:prstGeom>
          <a:noFill/>
          <a:ln/>
        </p:spPr>
        <p:txBody>
          <a:bodyPr wrap="square" lIns="0" tIns="0" rIns="0" bIns="0" rtlCol="0" anchor="ctr"/>
          <a:lstStyle/>
          <a:p>
            <a:pPr algn="ctr" indent="0" marL="0">
              <a:buNone/>
            </a:pPr>
            <a:r>
              <a:rPr lang="en-US" sz="1000" b="1" spc="300" kern="0" dirty="0">
                <a:solidFill>
                  <a:srgbClr val="E0A800"/>
                </a:solidFill>
                <a:latin typeface="Calibri" pitchFamily="34" charset="0"/>
                <a:ea typeface="Calibri" pitchFamily="34" charset="-122"/>
                <a:cs typeface="Calibri" pitchFamily="34" charset="-120"/>
              </a:rPr>
              <a:t>C · A · A</a:t>
            </a:r>
            <a:endParaRPr lang="en-US" sz="1000" dirty="0"/>
          </a:p>
        </p:txBody>
      </p:sp>
      <p:sp>
        <p:nvSpPr>
          <p:cNvPr id="38" name="Shape 36"/>
          <p:cNvSpPr/>
          <p:nvPr/>
        </p:nvSpPr>
        <p:spPr>
          <a:xfrm>
            <a:off x="9639300" y="3383280"/>
            <a:ext cx="1607820" cy="1097280"/>
          </a:xfrm>
          <a:prstGeom prst="rect">
            <a:avLst/>
          </a:prstGeom>
          <a:solidFill>
            <a:srgbClr val="FFFFFF"/>
          </a:solidFill>
          <a:ln w="9525">
            <a:solidFill>
              <a:srgbClr val="D8DEE9"/>
            </a:solidFill>
            <a:prstDash val="solid"/>
          </a:ln>
        </p:spPr>
      </p:sp>
      <p:sp>
        <p:nvSpPr>
          <p:cNvPr id="39" name="Shape 37"/>
          <p:cNvSpPr/>
          <p:nvPr/>
        </p:nvSpPr>
        <p:spPr>
          <a:xfrm>
            <a:off x="9639300" y="3383280"/>
            <a:ext cx="1607820" cy="73152"/>
          </a:xfrm>
          <a:prstGeom prst="rect">
            <a:avLst/>
          </a:prstGeom>
          <a:solidFill>
            <a:srgbClr val="003DA5"/>
          </a:solidFill>
          <a:ln w="12700">
            <a:solidFill>
              <a:srgbClr val="003DA5"/>
            </a:solidFill>
            <a:prstDash val="solid"/>
          </a:ln>
        </p:spPr>
      </p:sp>
      <p:sp>
        <p:nvSpPr>
          <p:cNvPr id="40" name="Text 38"/>
          <p:cNvSpPr/>
          <p:nvPr/>
        </p:nvSpPr>
        <p:spPr>
          <a:xfrm>
            <a:off x="9639300" y="3566160"/>
            <a:ext cx="1607820" cy="320040"/>
          </a:xfrm>
          <a:prstGeom prst="rect">
            <a:avLst/>
          </a:prstGeom>
          <a:noFill/>
          <a:ln/>
        </p:spPr>
        <p:txBody>
          <a:bodyPr wrap="square" lIns="0" tIns="0" rIns="0" bIns="0" rtlCol="0" anchor="ctr"/>
          <a:lstStyle/>
          <a:p>
            <a:pPr algn="ctr" indent="0" marL="0">
              <a:buNone/>
            </a:pPr>
            <a:r>
              <a:rPr lang="en-US" sz="1300" b="1" dirty="0">
                <a:solidFill>
                  <a:srgbClr val="1A1F36"/>
                </a:solidFill>
                <a:latin typeface="Georgia" pitchFamily="34" charset="0"/>
                <a:ea typeface="Georgia" pitchFamily="34" charset="-122"/>
                <a:cs typeface="Georgia" pitchFamily="34" charset="-120"/>
              </a:rPr>
              <a:t>Networking</a:t>
            </a:r>
            <a:endParaRPr lang="en-US" sz="1300" dirty="0"/>
          </a:p>
        </p:txBody>
      </p:sp>
      <p:sp>
        <p:nvSpPr>
          <p:cNvPr id="41" name="Text 39"/>
          <p:cNvSpPr/>
          <p:nvPr/>
        </p:nvSpPr>
        <p:spPr>
          <a:xfrm>
            <a:off x="9639300" y="3886200"/>
            <a:ext cx="1607820" cy="2286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Pod</a:t>
            </a:r>
            <a:endParaRPr lang="en-US" sz="1000" dirty="0"/>
          </a:p>
        </p:txBody>
      </p:sp>
      <p:sp>
        <p:nvSpPr>
          <p:cNvPr id="42" name="Text 40"/>
          <p:cNvSpPr/>
          <p:nvPr/>
        </p:nvSpPr>
        <p:spPr>
          <a:xfrm>
            <a:off x="9639300" y="4206240"/>
            <a:ext cx="1607820" cy="274320"/>
          </a:xfrm>
          <a:prstGeom prst="rect">
            <a:avLst/>
          </a:prstGeom>
          <a:noFill/>
          <a:ln/>
        </p:spPr>
        <p:txBody>
          <a:bodyPr wrap="square" lIns="0" tIns="0" rIns="0" bIns="0" rtlCol="0" anchor="ctr"/>
          <a:lstStyle/>
          <a:p>
            <a:pPr algn="ctr" indent="0" marL="0">
              <a:buNone/>
            </a:pPr>
            <a:r>
              <a:rPr lang="en-US" sz="1000" b="1" spc="300" kern="0" dirty="0">
                <a:solidFill>
                  <a:srgbClr val="E0A800"/>
                </a:solidFill>
                <a:latin typeface="Calibri" pitchFamily="34" charset="0"/>
                <a:ea typeface="Calibri" pitchFamily="34" charset="-122"/>
                <a:cs typeface="Calibri" pitchFamily="34" charset="-120"/>
              </a:rPr>
              <a:t>C · A · A</a:t>
            </a:r>
            <a:endParaRPr lang="en-US" sz="1000" dirty="0"/>
          </a:p>
        </p:txBody>
      </p:sp>
      <p:sp>
        <p:nvSpPr>
          <p:cNvPr id="43" name="Shape 41"/>
          <p:cNvSpPr/>
          <p:nvPr/>
        </p:nvSpPr>
        <p:spPr>
          <a:xfrm>
            <a:off x="6080760" y="4617720"/>
            <a:ext cx="0" cy="201168"/>
          </a:xfrm>
          <a:prstGeom prst="line">
            <a:avLst/>
          </a:prstGeom>
          <a:noFill/>
          <a:ln w="12700">
            <a:solidFill>
              <a:srgbClr val="5B6478"/>
            </a:solidFill>
            <a:prstDash val="solid"/>
          </a:ln>
        </p:spPr>
      </p:sp>
      <p:sp>
        <p:nvSpPr>
          <p:cNvPr id="44" name="Shape 42"/>
          <p:cNvSpPr/>
          <p:nvPr/>
        </p:nvSpPr>
        <p:spPr>
          <a:xfrm>
            <a:off x="640080" y="4892040"/>
            <a:ext cx="10881360" cy="1097280"/>
          </a:xfrm>
          <a:prstGeom prst="rect">
            <a:avLst/>
          </a:prstGeom>
          <a:solidFill>
            <a:srgbClr val="FFF6E0"/>
          </a:solidFill>
          <a:ln w="15875">
            <a:solidFill>
              <a:srgbClr val="FFC72C"/>
            </a:solidFill>
            <a:prstDash val="solid"/>
          </a:ln>
        </p:spPr>
      </p:sp>
      <p:sp>
        <p:nvSpPr>
          <p:cNvPr id="45" name="Text 43"/>
          <p:cNvSpPr/>
          <p:nvPr/>
        </p:nvSpPr>
        <p:spPr>
          <a:xfrm>
            <a:off x="914400" y="4956048"/>
            <a:ext cx="10332720" cy="228600"/>
          </a:xfrm>
          <a:prstGeom prst="rect">
            <a:avLst/>
          </a:prstGeom>
          <a:noFill/>
          <a:ln/>
        </p:spPr>
        <p:txBody>
          <a:bodyPr wrap="square" lIns="0" tIns="0" rIns="0" bIns="0" rtlCol="0" anchor="ctr"/>
          <a:lstStyle/>
          <a:p>
            <a:pPr indent="0" marL="0">
              <a:buNone/>
            </a:pPr>
            <a:r>
              <a:rPr lang="en-US" sz="1000" b="1" spc="400" kern="0" dirty="0">
                <a:solidFill>
                  <a:srgbClr val="E0A800"/>
                </a:solidFill>
                <a:latin typeface="Calibri" pitchFamily="34" charset="0"/>
                <a:ea typeface="Calibri" pitchFamily="34" charset="-122"/>
                <a:cs typeface="Calibri" pitchFamily="34" charset="-120"/>
              </a:rPr>
              <a:t>HORIZONTAL FUNCTIONS</a:t>
            </a:r>
            <a:endParaRPr lang="en-US" sz="1000" dirty="0"/>
          </a:p>
        </p:txBody>
      </p:sp>
      <p:sp>
        <p:nvSpPr>
          <p:cNvPr id="46" name="Text 44"/>
          <p:cNvSpPr/>
          <p:nvPr/>
        </p:nvSpPr>
        <p:spPr>
          <a:xfrm>
            <a:off x="914400" y="5166360"/>
            <a:ext cx="10332720" cy="201168"/>
          </a:xfrm>
          <a:prstGeom prst="rect">
            <a:avLst/>
          </a:prstGeom>
          <a:noFill/>
          <a:ln/>
        </p:spPr>
        <p:txBody>
          <a:bodyPr wrap="square" lIns="0" tIns="0" rIns="0" bIns="0" rtlCol="0" anchor="ctr"/>
          <a:lstStyle/>
          <a:p>
            <a:pPr indent="0" marL="0">
              <a:buNone/>
            </a:pPr>
            <a:r>
              <a:rPr lang="en-US" sz="1000" i="1" dirty="0">
                <a:solidFill>
                  <a:srgbClr val="5B6478"/>
                </a:solidFill>
                <a:latin typeface="Calibri" pitchFamily="34" charset="0"/>
                <a:ea typeface="Calibri" pitchFamily="34" charset="-122"/>
                <a:cs typeface="Calibri" pitchFamily="34" charset="-120"/>
              </a:rPr>
              <a:t>Define the bar · aggregate the signal · serve every pod</a:t>
            </a:r>
            <a:endParaRPr lang="en-US" sz="1000" dirty="0"/>
          </a:p>
        </p:txBody>
      </p:sp>
      <p:sp>
        <p:nvSpPr>
          <p:cNvPr id="47" name="Shape 45"/>
          <p:cNvSpPr/>
          <p:nvPr/>
        </p:nvSpPr>
        <p:spPr>
          <a:xfrm>
            <a:off x="914400" y="5394960"/>
            <a:ext cx="1978762" cy="548640"/>
          </a:xfrm>
          <a:prstGeom prst="rect">
            <a:avLst/>
          </a:prstGeom>
          <a:solidFill>
            <a:srgbClr val="FFFFFF"/>
          </a:solidFill>
          <a:ln w="6350">
            <a:solidFill>
              <a:srgbClr val="FFC72C"/>
            </a:solidFill>
            <a:prstDash val="solid"/>
          </a:ln>
        </p:spPr>
      </p:sp>
      <p:sp>
        <p:nvSpPr>
          <p:cNvPr id="48" name="Shape 46"/>
          <p:cNvSpPr/>
          <p:nvPr/>
        </p:nvSpPr>
        <p:spPr>
          <a:xfrm>
            <a:off x="914400" y="5394960"/>
            <a:ext cx="45720" cy="548640"/>
          </a:xfrm>
          <a:prstGeom prst="rect">
            <a:avLst/>
          </a:prstGeom>
          <a:solidFill>
            <a:srgbClr val="FFC72C"/>
          </a:solidFill>
          <a:ln w="12700">
            <a:solidFill>
              <a:srgbClr val="FFC72C"/>
            </a:solidFill>
            <a:prstDash val="solid"/>
          </a:ln>
        </p:spPr>
      </p:sp>
      <p:sp>
        <p:nvSpPr>
          <p:cNvPr id="49" name="Text 47"/>
          <p:cNvSpPr/>
          <p:nvPr/>
        </p:nvSpPr>
        <p:spPr>
          <a:xfrm>
            <a:off x="1024128" y="5440680"/>
            <a:ext cx="1814170" cy="219456"/>
          </a:xfrm>
          <a:prstGeom prst="rect">
            <a:avLst/>
          </a:prstGeom>
          <a:noFill/>
          <a:ln/>
        </p:spPr>
        <p:txBody>
          <a:bodyPr wrap="square" lIns="0" tIns="0" rIns="0" bIns="0" rtlCol="0" anchor="ctr"/>
          <a:lstStyle/>
          <a:p>
            <a:pPr indent="0" marL="0">
              <a:buNone/>
            </a:pPr>
            <a:r>
              <a:rPr lang="en-US" sz="1050" b="1" dirty="0">
                <a:solidFill>
                  <a:srgbClr val="1A1F36"/>
                </a:solidFill>
                <a:latin typeface="Georgia" pitchFamily="34" charset="0"/>
                <a:ea typeface="Georgia" pitchFamily="34" charset="-122"/>
                <a:cs typeface="Georgia" pitchFamily="34" charset="-120"/>
              </a:rPr>
              <a:t>Compliance &amp; Audit</a:t>
            </a:r>
            <a:endParaRPr lang="en-US" sz="1050" dirty="0"/>
          </a:p>
        </p:txBody>
      </p:sp>
      <p:sp>
        <p:nvSpPr>
          <p:cNvPr id="50" name="Text 48"/>
          <p:cNvSpPr/>
          <p:nvPr/>
        </p:nvSpPr>
        <p:spPr>
          <a:xfrm>
            <a:off x="1024128" y="5669280"/>
            <a:ext cx="1814170" cy="237744"/>
          </a:xfrm>
          <a:prstGeom prst="rect">
            <a:avLst/>
          </a:prstGeom>
          <a:noFill/>
          <a:ln/>
        </p:spPr>
        <p:txBody>
          <a:bodyPr wrap="square" lIns="0" tIns="0" rIns="0" bIns="0" rtlCol="0" anchor="ctr"/>
          <a:lstStyle/>
          <a:p>
            <a:pPr indent="0" marL="0">
              <a:buNone/>
            </a:pPr>
            <a:r>
              <a:rPr lang="en-US" sz="800" i="1" dirty="0">
                <a:solidFill>
                  <a:srgbClr val="5B6478"/>
                </a:solidFill>
                <a:latin typeface="Calibri" pitchFamily="34" charset="0"/>
                <a:ea typeface="Calibri" pitchFamily="34" charset="-122"/>
                <a:cs typeface="Calibri" pitchFamily="34" charset="-120"/>
              </a:rPr>
              <a:t>Control catalog · regulator interface</a:t>
            </a:r>
            <a:endParaRPr lang="en-US" sz="800" dirty="0"/>
          </a:p>
        </p:txBody>
      </p:sp>
      <p:sp>
        <p:nvSpPr>
          <p:cNvPr id="51" name="Shape 49"/>
          <p:cNvSpPr/>
          <p:nvPr/>
        </p:nvSpPr>
        <p:spPr>
          <a:xfrm>
            <a:off x="3002890" y="5394960"/>
            <a:ext cx="1978762" cy="548640"/>
          </a:xfrm>
          <a:prstGeom prst="rect">
            <a:avLst/>
          </a:prstGeom>
          <a:solidFill>
            <a:srgbClr val="FFFFFF"/>
          </a:solidFill>
          <a:ln w="6350">
            <a:solidFill>
              <a:srgbClr val="FFC72C"/>
            </a:solidFill>
            <a:prstDash val="solid"/>
          </a:ln>
        </p:spPr>
      </p:sp>
      <p:sp>
        <p:nvSpPr>
          <p:cNvPr id="52" name="Shape 50"/>
          <p:cNvSpPr/>
          <p:nvPr/>
        </p:nvSpPr>
        <p:spPr>
          <a:xfrm>
            <a:off x="3002890" y="5394960"/>
            <a:ext cx="45720" cy="548640"/>
          </a:xfrm>
          <a:prstGeom prst="rect">
            <a:avLst/>
          </a:prstGeom>
          <a:solidFill>
            <a:srgbClr val="FFC72C"/>
          </a:solidFill>
          <a:ln w="12700">
            <a:solidFill>
              <a:srgbClr val="FFC72C"/>
            </a:solidFill>
            <a:prstDash val="solid"/>
          </a:ln>
        </p:spPr>
      </p:sp>
      <p:sp>
        <p:nvSpPr>
          <p:cNvPr id="53" name="Text 51"/>
          <p:cNvSpPr/>
          <p:nvPr/>
        </p:nvSpPr>
        <p:spPr>
          <a:xfrm>
            <a:off x="3112618" y="5440680"/>
            <a:ext cx="1814170" cy="219456"/>
          </a:xfrm>
          <a:prstGeom prst="rect">
            <a:avLst/>
          </a:prstGeom>
          <a:noFill/>
          <a:ln/>
        </p:spPr>
        <p:txBody>
          <a:bodyPr wrap="square" lIns="0" tIns="0" rIns="0" bIns="0" rtlCol="0" anchor="ctr"/>
          <a:lstStyle/>
          <a:p>
            <a:pPr indent="0" marL="0">
              <a:buNone/>
            </a:pPr>
            <a:r>
              <a:rPr lang="en-US" sz="1050" b="1" dirty="0">
                <a:solidFill>
                  <a:srgbClr val="1A1F36"/>
                </a:solidFill>
                <a:latin typeface="Georgia" pitchFamily="34" charset="0"/>
                <a:ea typeface="Georgia" pitchFamily="34" charset="-122"/>
                <a:cs typeface="Georgia" pitchFamily="34" charset="-120"/>
              </a:rPr>
              <a:t>Optimize / FinOps</a:t>
            </a:r>
            <a:endParaRPr lang="en-US" sz="1050" dirty="0"/>
          </a:p>
        </p:txBody>
      </p:sp>
      <p:sp>
        <p:nvSpPr>
          <p:cNvPr id="54" name="Text 52"/>
          <p:cNvSpPr/>
          <p:nvPr/>
        </p:nvSpPr>
        <p:spPr>
          <a:xfrm>
            <a:off x="3112618" y="5669280"/>
            <a:ext cx="1814170" cy="237744"/>
          </a:xfrm>
          <a:prstGeom prst="rect">
            <a:avLst/>
          </a:prstGeom>
          <a:noFill/>
          <a:ln/>
        </p:spPr>
        <p:txBody>
          <a:bodyPr wrap="square" lIns="0" tIns="0" rIns="0" bIns="0" rtlCol="0" anchor="ctr"/>
          <a:lstStyle/>
          <a:p>
            <a:pPr indent="0" marL="0">
              <a:buNone/>
            </a:pPr>
            <a:r>
              <a:rPr lang="en-US" sz="800" i="1" dirty="0">
                <a:solidFill>
                  <a:srgbClr val="5B6478"/>
                </a:solidFill>
                <a:latin typeface="Calibri" pitchFamily="34" charset="0"/>
                <a:ea typeface="Calibri" pitchFamily="34" charset="-122"/>
                <a:cs typeface="Calibri" pitchFamily="34" charset="-120"/>
              </a:rPr>
              <a:t>Right-size · reap · reserve</a:t>
            </a:r>
            <a:endParaRPr lang="en-US" sz="800" dirty="0"/>
          </a:p>
        </p:txBody>
      </p:sp>
      <p:sp>
        <p:nvSpPr>
          <p:cNvPr id="55" name="Shape 53"/>
          <p:cNvSpPr/>
          <p:nvPr/>
        </p:nvSpPr>
        <p:spPr>
          <a:xfrm>
            <a:off x="5091379" y="5394960"/>
            <a:ext cx="1978762" cy="548640"/>
          </a:xfrm>
          <a:prstGeom prst="rect">
            <a:avLst/>
          </a:prstGeom>
          <a:solidFill>
            <a:srgbClr val="FFFFFF"/>
          </a:solidFill>
          <a:ln w="6350">
            <a:solidFill>
              <a:srgbClr val="FFC72C"/>
            </a:solidFill>
            <a:prstDash val="solid"/>
          </a:ln>
        </p:spPr>
      </p:sp>
      <p:sp>
        <p:nvSpPr>
          <p:cNvPr id="56" name="Shape 54"/>
          <p:cNvSpPr/>
          <p:nvPr/>
        </p:nvSpPr>
        <p:spPr>
          <a:xfrm>
            <a:off x="5091379" y="5394960"/>
            <a:ext cx="45720" cy="548640"/>
          </a:xfrm>
          <a:prstGeom prst="rect">
            <a:avLst/>
          </a:prstGeom>
          <a:solidFill>
            <a:srgbClr val="FFC72C"/>
          </a:solidFill>
          <a:ln w="12700">
            <a:solidFill>
              <a:srgbClr val="FFC72C"/>
            </a:solidFill>
            <a:prstDash val="solid"/>
          </a:ln>
        </p:spPr>
      </p:sp>
      <p:sp>
        <p:nvSpPr>
          <p:cNvPr id="57" name="Text 55"/>
          <p:cNvSpPr/>
          <p:nvPr/>
        </p:nvSpPr>
        <p:spPr>
          <a:xfrm>
            <a:off x="5201107" y="5440680"/>
            <a:ext cx="1814170" cy="219456"/>
          </a:xfrm>
          <a:prstGeom prst="rect">
            <a:avLst/>
          </a:prstGeom>
          <a:noFill/>
          <a:ln/>
        </p:spPr>
        <p:txBody>
          <a:bodyPr wrap="square" lIns="0" tIns="0" rIns="0" bIns="0" rtlCol="0" anchor="ctr"/>
          <a:lstStyle/>
          <a:p>
            <a:pPr indent="0" marL="0">
              <a:buNone/>
            </a:pPr>
            <a:r>
              <a:rPr lang="en-US" sz="1050" b="1" dirty="0">
                <a:solidFill>
                  <a:srgbClr val="1A1F36"/>
                </a:solidFill>
                <a:latin typeface="Georgia" pitchFamily="34" charset="0"/>
                <a:ea typeface="Georgia" pitchFamily="34" charset="-122"/>
                <a:cs typeface="Georgia" pitchFamily="34" charset="-120"/>
              </a:rPr>
              <a:t>Shared Tooling</a:t>
            </a:r>
            <a:endParaRPr lang="en-US" sz="1050" dirty="0"/>
          </a:p>
        </p:txBody>
      </p:sp>
      <p:sp>
        <p:nvSpPr>
          <p:cNvPr id="58" name="Text 56"/>
          <p:cNvSpPr/>
          <p:nvPr/>
        </p:nvSpPr>
        <p:spPr>
          <a:xfrm>
            <a:off x="5201107" y="5669280"/>
            <a:ext cx="1814170" cy="237744"/>
          </a:xfrm>
          <a:prstGeom prst="rect">
            <a:avLst/>
          </a:prstGeom>
          <a:noFill/>
          <a:ln/>
        </p:spPr>
        <p:txBody>
          <a:bodyPr wrap="square" lIns="0" tIns="0" rIns="0" bIns="0" rtlCol="0" anchor="ctr"/>
          <a:lstStyle/>
          <a:p>
            <a:pPr indent="0" marL="0">
              <a:buNone/>
            </a:pPr>
            <a:r>
              <a:rPr lang="en-US" sz="800" i="1" dirty="0">
                <a:solidFill>
                  <a:srgbClr val="5B6478"/>
                </a:solidFill>
                <a:latin typeface="Calibri" pitchFamily="34" charset="0"/>
                <a:ea typeface="Calibri" pitchFamily="34" charset="-122"/>
                <a:cs typeface="Calibri" pitchFamily="34" charset="-120"/>
              </a:rPr>
              <a:t>IaC backplane · pipelines · obs</a:t>
            </a:r>
            <a:endParaRPr lang="en-US" sz="800" dirty="0"/>
          </a:p>
        </p:txBody>
      </p:sp>
      <p:sp>
        <p:nvSpPr>
          <p:cNvPr id="59" name="Shape 57"/>
          <p:cNvSpPr/>
          <p:nvPr/>
        </p:nvSpPr>
        <p:spPr>
          <a:xfrm>
            <a:off x="7179869" y="5394960"/>
            <a:ext cx="1978762" cy="548640"/>
          </a:xfrm>
          <a:prstGeom prst="rect">
            <a:avLst/>
          </a:prstGeom>
          <a:solidFill>
            <a:srgbClr val="FFFFFF"/>
          </a:solidFill>
          <a:ln w="6350">
            <a:solidFill>
              <a:srgbClr val="FFC72C"/>
            </a:solidFill>
            <a:prstDash val="solid"/>
          </a:ln>
        </p:spPr>
      </p:sp>
      <p:sp>
        <p:nvSpPr>
          <p:cNvPr id="60" name="Shape 58"/>
          <p:cNvSpPr/>
          <p:nvPr/>
        </p:nvSpPr>
        <p:spPr>
          <a:xfrm>
            <a:off x="7179869" y="5394960"/>
            <a:ext cx="45720" cy="548640"/>
          </a:xfrm>
          <a:prstGeom prst="rect">
            <a:avLst/>
          </a:prstGeom>
          <a:solidFill>
            <a:srgbClr val="FFC72C"/>
          </a:solidFill>
          <a:ln w="12700">
            <a:solidFill>
              <a:srgbClr val="FFC72C"/>
            </a:solidFill>
            <a:prstDash val="solid"/>
          </a:ln>
        </p:spPr>
      </p:sp>
      <p:sp>
        <p:nvSpPr>
          <p:cNvPr id="61" name="Text 59"/>
          <p:cNvSpPr/>
          <p:nvPr/>
        </p:nvSpPr>
        <p:spPr>
          <a:xfrm>
            <a:off x="7289597" y="5440680"/>
            <a:ext cx="1814170" cy="219456"/>
          </a:xfrm>
          <a:prstGeom prst="rect">
            <a:avLst/>
          </a:prstGeom>
          <a:noFill/>
          <a:ln/>
        </p:spPr>
        <p:txBody>
          <a:bodyPr wrap="square" lIns="0" tIns="0" rIns="0" bIns="0" rtlCol="0" anchor="ctr"/>
          <a:lstStyle/>
          <a:p>
            <a:pPr indent="0" marL="0">
              <a:buNone/>
            </a:pPr>
            <a:r>
              <a:rPr lang="en-US" sz="1050" b="1" dirty="0">
                <a:solidFill>
                  <a:srgbClr val="1A1F36"/>
                </a:solidFill>
                <a:latin typeface="Georgia" pitchFamily="34" charset="0"/>
                <a:ea typeface="Georgia" pitchFamily="34" charset="-122"/>
                <a:cs typeface="Georgia" pitchFamily="34" charset="-120"/>
              </a:rPr>
              <a:t>SRE Practice</a:t>
            </a:r>
            <a:endParaRPr lang="en-US" sz="1050" dirty="0"/>
          </a:p>
        </p:txBody>
      </p:sp>
      <p:sp>
        <p:nvSpPr>
          <p:cNvPr id="62" name="Text 60"/>
          <p:cNvSpPr/>
          <p:nvPr/>
        </p:nvSpPr>
        <p:spPr>
          <a:xfrm>
            <a:off x="7289597" y="5669280"/>
            <a:ext cx="1814170" cy="237744"/>
          </a:xfrm>
          <a:prstGeom prst="rect">
            <a:avLst/>
          </a:prstGeom>
          <a:noFill/>
          <a:ln/>
        </p:spPr>
        <p:txBody>
          <a:bodyPr wrap="square" lIns="0" tIns="0" rIns="0" bIns="0" rtlCol="0" anchor="ctr"/>
          <a:lstStyle/>
          <a:p>
            <a:pPr indent="0" marL="0">
              <a:buNone/>
            </a:pPr>
            <a:r>
              <a:rPr lang="en-US" sz="800" i="1" dirty="0">
                <a:solidFill>
                  <a:srgbClr val="5B6478"/>
                </a:solidFill>
                <a:latin typeface="Calibri" pitchFamily="34" charset="0"/>
                <a:ea typeface="Calibri" pitchFamily="34" charset="-122"/>
                <a:cs typeface="Calibri" pitchFamily="34" charset="-120"/>
              </a:rPr>
              <a:t>Error budgets · chaos · IC</a:t>
            </a:r>
            <a:endParaRPr lang="en-US" sz="800" dirty="0"/>
          </a:p>
        </p:txBody>
      </p:sp>
      <p:sp>
        <p:nvSpPr>
          <p:cNvPr id="63" name="Shape 61"/>
          <p:cNvSpPr/>
          <p:nvPr/>
        </p:nvSpPr>
        <p:spPr>
          <a:xfrm>
            <a:off x="9268358" y="5394960"/>
            <a:ext cx="1978762" cy="548640"/>
          </a:xfrm>
          <a:prstGeom prst="rect">
            <a:avLst/>
          </a:prstGeom>
          <a:solidFill>
            <a:srgbClr val="FFFFFF"/>
          </a:solidFill>
          <a:ln w="6350">
            <a:solidFill>
              <a:srgbClr val="FFC72C"/>
            </a:solidFill>
            <a:prstDash val="solid"/>
          </a:ln>
        </p:spPr>
      </p:sp>
      <p:sp>
        <p:nvSpPr>
          <p:cNvPr id="64" name="Shape 62"/>
          <p:cNvSpPr/>
          <p:nvPr/>
        </p:nvSpPr>
        <p:spPr>
          <a:xfrm>
            <a:off x="9268358" y="5394960"/>
            <a:ext cx="45720" cy="548640"/>
          </a:xfrm>
          <a:prstGeom prst="rect">
            <a:avLst/>
          </a:prstGeom>
          <a:solidFill>
            <a:srgbClr val="FFC72C"/>
          </a:solidFill>
          <a:ln w="12700">
            <a:solidFill>
              <a:srgbClr val="FFC72C"/>
            </a:solidFill>
            <a:prstDash val="solid"/>
          </a:ln>
        </p:spPr>
      </p:sp>
      <p:sp>
        <p:nvSpPr>
          <p:cNvPr id="65" name="Text 63"/>
          <p:cNvSpPr/>
          <p:nvPr/>
        </p:nvSpPr>
        <p:spPr>
          <a:xfrm>
            <a:off x="9378086" y="5440680"/>
            <a:ext cx="1814170" cy="219456"/>
          </a:xfrm>
          <a:prstGeom prst="rect">
            <a:avLst/>
          </a:prstGeom>
          <a:noFill/>
          <a:ln/>
        </p:spPr>
        <p:txBody>
          <a:bodyPr wrap="square" lIns="0" tIns="0" rIns="0" bIns="0" rtlCol="0" anchor="ctr"/>
          <a:lstStyle/>
          <a:p>
            <a:pPr indent="0" marL="0">
              <a:buNone/>
            </a:pPr>
            <a:r>
              <a:rPr lang="en-US" sz="1050" b="1" dirty="0">
                <a:solidFill>
                  <a:srgbClr val="1A1F36"/>
                </a:solidFill>
                <a:latin typeface="Georgia" pitchFamily="34" charset="0"/>
                <a:ea typeface="Georgia" pitchFamily="34" charset="-122"/>
                <a:cs typeface="Georgia" pitchFamily="34" charset="-120"/>
              </a:rPr>
              <a:t>Platform Enablement</a:t>
            </a:r>
            <a:endParaRPr lang="en-US" sz="1050" dirty="0"/>
          </a:p>
        </p:txBody>
      </p:sp>
      <p:sp>
        <p:nvSpPr>
          <p:cNvPr id="66" name="Text 64"/>
          <p:cNvSpPr/>
          <p:nvPr/>
        </p:nvSpPr>
        <p:spPr>
          <a:xfrm>
            <a:off x="9378086" y="5669280"/>
            <a:ext cx="1814170" cy="237744"/>
          </a:xfrm>
          <a:prstGeom prst="rect">
            <a:avLst/>
          </a:prstGeom>
          <a:noFill/>
          <a:ln/>
        </p:spPr>
        <p:txBody>
          <a:bodyPr wrap="square" lIns="0" tIns="0" rIns="0" bIns="0" rtlCol="0" anchor="ctr"/>
          <a:lstStyle/>
          <a:p>
            <a:pPr indent="0" marL="0">
              <a:buNone/>
            </a:pPr>
            <a:r>
              <a:rPr lang="en-US" sz="800" i="1" dirty="0">
                <a:solidFill>
                  <a:srgbClr val="5B6478"/>
                </a:solidFill>
                <a:latin typeface="Calibri" pitchFamily="34" charset="0"/>
                <a:ea typeface="Calibri" pitchFamily="34" charset="-122"/>
                <a:cs typeface="Calibri" pitchFamily="34" charset="-120"/>
              </a:rPr>
              <a:t>App-team adoption · brownfield</a:t>
            </a:r>
            <a:endParaRPr lang="en-US" sz="800" dirty="0"/>
          </a:p>
        </p:txBody>
      </p:sp>
      <p:sp>
        <p:nvSpPr>
          <p:cNvPr id="67" name="Shape 65"/>
          <p:cNvSpPr/>
          <p:nvPr/>
        </p:nvSpPr>
        <p:spPr>
          <a:xfrm>
            <a:off x="0" y="6537960"/>
            <a:ext cx="12161520" cy="18288"/>
          </a:xfrm>
          <a:prstGeom prst="rect">
            <a:avLst/>
          </a:prstGeom>
          <a:solidFill>
            <a:srgbClr val="D8DEE9"/>
          </a:solidFill>
          <a:ln w="12700">
            <a:solidFill>
              <a:srgbClr val="D8DEE9"/>
            </a:solidFill>
            <a:prstDash val="solid"/>
          </a:ln>
        </p:spPr>
      </p:sp>
      <p:sp>
        <p:nvSpPr>
          <p:cNvPr id="68" name="Text 66"/>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69" name="Text 67"/>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HONEST MATH</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Headcount shape changes — and we say so out loud</a:t>
            </a:r>
            <a:endParaRPr lang="en-US" sz="2800" dirty="0"/>
          </a:p>
        </p:txBody>
      </p:sp>
      <p:sp>
        <p:nvSpPr>
          <p:cNvPr id="4" name="Text 2"/>
          <p:cNvSpPr/>
          <p:nvPr/>
        </p:nvSpPr>
        <p:spPr>
          <a:xfrm>
            <a:off x="457200" y="1325880"/>
            <a:ext cx="11247120" cy="411480"/>
          </a:xfrm>
          <a:prstGeom prst="rect">
            <a:avLst/>
          </a:prstGeom>
          <a:noFill/>
          <a:ln/>
        </p:spPr>
        <p:txBody>
          <a:bodyPr wrap="square" lIns="0" tIns="0" rIns="0" bIns="0" rtlCol="0" anchor="ctr"/>
          <a:lstStyle/>
          <a:p>
            <a:pPr indent="0" marL="0">
              <a:buNone/>
            </a:pPr>
            <a:r>
              <a:rPr lang="en-US" sz="1250" i="1" dirty="0">
                <a:solidFill>
                  <a:srgbClr val="5B6478"/>
                </a:solidFill>
                <a:latin typeface="Calibri" pitchFamily="34" charset="0"/>
                <a:ea typeface="Calibri" pitchFamily="34" charset="-122"/>
                <a:cs typeface="Calibri" pitchFamily="34" charset="-120"/>
              </a:rPr>
              <a:t>Illustrative shape for a Postgres + Linux estate at RBC scale. Same people, different work — provided we fund the platform to actually codify the toil.</a:t>
            </a:r>
            <a:endParaRPr lang="en-US" sz="1250" dirty="0"/>
          </a:p>
        </p:txBody>
      </p:sp>
      <p:graphicFrame>
        <p:nvGraphicFramePr>
          <p:cNvPr id="5" name="Chart 0" descr=""/>
          <p:cNvGraphicFramePr/>
          <p:nvPr/>
        </p:nvGraphicFramePr>
        <p:xfrm>
          <a:off x="457200" y="192024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315200" y="1965960"/>
            <a:ext cx="438912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WHAT CHANGES</a:t>
            </a:r>
            <a:endParaRPr lang="en-US" sz="1000" dirty="0"/>
          </a:p>
        </p:txBody>
      </p:sp>
      <p:sp>
        <p:nvSpPr>
          <p:cNvPr id="7" name="Text 4"/>
          <p:cNvSpPr/>
          <p:nvPr/>
        </p:nvSpPr>
        <p:spPr>
          <a:xfrm>
            <a:off x="7315200" y="2240280"/>
            <a:ext cx="4389120" cy="640080"/>
          </a:xfrm>
          <a:prstGeom prst="rect">
            <a:avLst/>
          </a:prstGeom>
          <a:noFill/>
          <a:ln/>
        </p:spPr>
        <p:txBody>
          <a:bodyPr wrap="square" lIns="0" tIns="0" rIns="0" bIns="0" rtlCol="0" anchor="ctr"/>
          <a:lstStyle/>
          <a:p>
            <a:pPr indent="0" marL="0">
              <a:spcAft>
                <a:spcPts val="400"/>
              </a:spcAft>
              <a:buNone/>
            </a:pPr>
            <a:r>
              <a:rPr lang="en-US" sz="1200" b="1" dirty="0">
                <a:solidFill>
                  <a:srgbClr val="1A1F36"/>
                </a:solidFill>
                <a:latin typeface="Calibri" pitchFamily="34" charset="0"/>
                <a:ea typeface="Calibri" pitchFamily="34" charset="-122"/>
                <a:cs typeface="Calibri" pitchFamily="34" charset="-120"/>
              </a:rPr>
              <a:t>Platform Engineering grows.  </a:t>
            </a:r>
            <a:pPr indent="0" marL="0">
              <a:spcAft>
                <a:spcPts val="400"/>
              </a:spcAft>
              <a:buNone/>
            </a:pPr>
            <a:r>
              <a:rPr lang="en-US" sz="1200" dirty="0">
                <a:solidFill>
                  <a:srgbClr val="1A1F36"/>
                </a:solidFill>
                <a:latin typeface="Calibri" pitchFamily="34" charset="0"/>
                <a:ea typeface="Calibri" pitchFamily="34" charset="-122"/>
                <a:cs typeface="Calibri" pitchFamily="34" charset="-120"/>
              </a:rPr>
              <a:t>Former ops engineers reskill into module, policy, and agent owners.</a:t>
            </a:r>
            <a:endParaRPr lang="en-US" sz="1200" dirty="0"/>
          </a:p>
        </p:txBody>
      </p:sp>
      <p:sp>
        <p:nvSpPr>
          <p:cNvPr id="8" name="Text 5"/>
          <p:cNvSpPr/>
          <p:nvPr/>
        </p:nvSpPr>
        <p:spPr>
          <a:xfrm>
            <a:off x="7315200" y="3017520"/>
            <a:ext cx="4389120" cy="822960"/>
          </a:xfrm>
          <a:prstGeom prst="rect">
            <a:avLst/>
          </a:prstGeom>
          <a:noFill/>
          <a:ln/>
        </p:spPr>
        <p:txBody>
          <a:bodyPr wrap="square" lIns="0" tIns="0" rIns="0" bIns="0" rtlCol="0" anchor="ctr"/>
          <a:lstStyle/>
          <a:p>
            <a:pPr indent="0" marL="0">
              <a:buNone/>
            </a:pPr>
            <a:r>
              <a:rPr lang="en-US" sz="1200" b="1" dirty="0">
                <a:solidFill>
                  <a:srgbClr val="1A1F36"/>
                </a:solidFill>
                <a:latin typeface="Calibri" pitchFamily="34" charset="0"/>
                <a:ea typeface="Calibri" pitchFamily="34" charset="-122"/>
                <a:cs typeface="Calibri" pitchFamily="34" charset="-120"/>
              </a:rPr>
              <a:t>L1/L2 Support shrinks dramatically.  </a:t>
            </a:r>
            <a:pPr indent="0" marL="0">
              <a:buNone/>
            </a:pPr>
            <a:r>
              <a:rPr lang="en-US" sz="1200" dirty="0">
                <a:solidFill>
                  <a:srgbClr val="1A1F36"/>
                </a:solidFill>
                <a:latin typeface="Calibri" pitchFamily="34" charset="0"/>
                <a:ea typeface="Calibri" pitchFamily="34" charset="-122"/>
                <a:cs typeface="Calibri" pitchFamily="34" charset="-120"/>
              </a:rPr>
              <a:t>Self-service and auto-remediation replace ticket triage and runbook execution.</a:t>
            </a:r>
            <a:endParaRPr lang="en-US" sz="1200" dirty="0"/>
          </a:p>
        </p:txBody>
      </p:sp>
      <p:sp>
        <p:nvSpPr>
          <p:cNvPr id="9" name="Text 6"/>
          <p:cNvSpPr/>
          <p:nvPr/>
        </p:nvSpPr>
        <p:spPr>
          <a:xfrm>
            <a:off x="7315200" y="3931920"/>
            <a:ext cx="4389120" cy="822960"/>
          </a:xfrm>
          <a:prstGeom prst="rect">
            <a:avLst/>
          </a:prstGeom>
          <a:noFill/>
          <a:ln/>
        </p:spPr>
        <p:txBody>
          <a:bodyPr wrap="square" lIns="0" tIns="0" rIns="0" bIns="0" rtlCol="0" anchor="ctr"/>
          <a:lstStyle/>
          <a:p>
            <a:pPr indent="0" marL="0">
              <a:buNone/>
            </a:pPr>
            <a:r>
              <a:rPr lang="en-US" sz="1200" b="1" dirty="0">
                <a:solidFill>
                  <a:srgbClr val="1A1F36"/>
                </a:solidFill>
                <a:latin typeface="Calibri" pitchFamily="34" charset="0"/>
                <a:ea typeface="Calibri" pitchFamily="34" charset="-122"/>
                <a:cs typeface="Calibri" pitchFamily="34" charset="-120"/>
              </a:rPr>
              <a:t>Governance gets smaller and more senior.  </a:t>
            </a:r>
            <a:pPr indent="0" marL="0">
              <a:buNone/>
            </a:pPr>
            <a:r>
              <a:rPr lang="en-US" sz="1200" dirty="0">
                <a:solidFill>
                  <a:srgbClr val="1A1F36"/>
                </a:solidFill>
                <a:latin typeface="Calibri" pitchFamily="34" charset="0"/>
                <a:ea typeface="Calibri" pitchFamily="34" charset="-122"/>
                <a:cs typeface="Calibri" pitchFamily="34" charset="-120"/>
              </a:rPr>
              <a:t>Evidence is auto-generated; humans set the bar and face regulators.</a:t>
            </a:r>
            <a:endParaRPr lang="en-US" sz="1200" dirty="0"/>
          </a:p>
        </p:txBody>
      </p:sp>
      <p:sp>
        <p:nvSpPr>
          <p:cNvPr id="10" name="Text 7"/>
          <p:cNvSpPr/>
          <p:nvPr/>
        </p:nvSpPr>
        <p:spPr>
          <a:xfrm>
            <a:off x="7315200" y="4846320"/>
            <a:ext cx="4389120" cy="822960"/>
          </a:xfrm>
          <a:prstGeom prst="rect">
            <a:avLst/>
          </a:prstGeom>
          <a:noFill/>
          <a:ln/>
        </p:spPr>
        <p:txBody>
          <a:bodyPr wrap="square" lIns="0" tIns="0" rIns="0" bIns="0" rtlCol="0" anchor="ctr"/>
          <a:lstStyle/>
          <a:p>
            <a:pPr indent="0" marL="0">
              <a:buNone/>
            </a:pPr>
            <a:r>
              <a:rPr lang="en-US" sz="1200" b="1" dirty="0">
                <a:solidFill>
                  <a:srgbClr val="1A1F36"/>
                </a:solidFill>
                <a:latin typeface="Calibri" pitchFamily="34" charset="0"/>
                <a:ea typeface="Calibri" pitchFamily="34" charset="-122"/>
                <a:cs typeface="Calibri" pitchFamily="34" charset="-120"/>
              </a:rPr>
              <a:t>Enablement grows.  </a:t>
            </a:r>
            <a:pPr indent="0" marL="0">
              <a:buNone/>
            </a:pPr>
            <a:r>
              <a:rPr lang="en-US" sz="1200" dirty="0">
                <a:solidFill>
                  <a:srgbClr val="1A1F36"/>
                </a:solidFill>
                <a:latin typeface="Calibri" pitchFamily="34" charset="0"/>
                <a:ea typeface="Calibri" pitchFamily="34" charset="-122"/>
                <a:cs typeface="Calibri" pitchFamily="34" charset="-120"/>
              </a:rPr>
              <a:t>Helping 600+ app teams consume the paved road well is the new bottleneck.</a:t>
            </a:r>
            <a:endParaRPr lang="en-US" sz="1200" dirty="0"/>
          </a:p>
        </p:txBody>
      </p:sp>
      <p:sp>
        <p:nvSpPr>
          <p:cNvPr id="11" name="Shape 8"/>
          <p:cNvSpPr/>
          <p:nvPr/>
        </p:nvSpPr>
        <p:spPr>
          <a:xfrm>
            <a:off x="7315200" y="5669280"/>
            <a:ext cx="4389120" cy="502920"/>
          </a:xfrm>
          <a:prstGeom prst="rect">
            <a:avLst/>
          </a:prstGeom>
          <a:solidFill>
            <a:srgbClr val="FFF6E0"/>
          </a:solidFill>
          <a:ln w="12700">
            <a:solidFill>
              <a:srgbClr val="FFC72C"/>
            </a:solidFill>
            <a:prstDash val="solid"/>
          </a:ln>
        </p:spPr>
      </p:sp>
      <p:sp>
        <p:nvSpPr>
          <p:cNvPr id="12" name="Text 9"/>
          <p:cNvSpPr/>
          <p:nvPr/>
        </p:nvSpPr>
        <p:spPr>
          <a:xfrm>
            <a:off x="7452360" y="5669280"/>
            <a:ext cx="4114800" cy="502920"/>
          </a:xfrm>
          <a:prstGeom prst="rect">
            <a:avLst/>
          </a:prstGeom>
          <a:noFill/>
          <a:ln/>
        </p:spPr>
        <p:txBody>
          <a:bodyPr wrap="square" lIns="0" tIns="0" rIns="0" bIns="0" rtlCol="0" anchor="ctr"/>
          <a:lstStyle/>
          <a:p>
            <a:pPr indent="0" marL="0">
              <a:buNone/>
            </a:pPr>
            <a:r>
              <a:rPr lang="en-US" sz="1100" b="1" dirty="0">
                <a:solidFill>
                  <a:srgbClr val="E0A800"/>
                </a:solidFill>
                <a:latin typeface="Calibri" pitchFamily="34" charset="0"/>
                <a:ea typeface="Calibri" pitchFamily="34" charset="-122"/>
                <a:cs typeface="Calibri" pitchFamily="34" charset="-120"/>
              </a:rPr>
              <a:t>Failure mode:  </a:t>
            </a:r>
            <a:pPr indent="0" marL="0">
              <a:buNone/>
            </a:pPr>
            <a:r>
              <a:rPr lang="en-US" sz="1100" i="1" dirty="0">
                <a:solidFill>
                  <a:srgbClr val="1A1F36"/>
                </a:solidFill>
                <a:latin typeface="Calibri" pitchFamily="34" charset="0"/>
                <a:ea typeface="Calibri" pitchFamily="34" charset="-122"/>
                <a:cs typeface="Calibri" pitchFamily="34" charset="-120"/>
              </a:rPr>
              <a:t>fund half the platform and keep the full ops floor.</a:t>
            </a:r>
            <a:endParaRPr lang="en-US" sz="1100" dirty="0"/>
          </a:p>
        </p:txBody>
      </p:sp>
      <p:sp>
        <p:nvSpPr>
          <p:cNvPr id="13" name="Shape 10"/>
          <p:cNvSpPr/>
          <p:nvPr/>
        </p:nvSpPr>
        <p:spPr>
          <a:xfrm>
            <a:off x="0" y="6537960"/>
            <a:ext cx="12161520" cy="18288"/>
          </a:xfrm>
          <a:prstGeom prst="rect">
            <a:avLst/>
          </a:prstGeom>
          <a:solidFill>
            <a:srgbClr val="D8DEE9"/>
          </a:solidFill>
          <a:ln w="12700">
            <a:solidFill>
              <a:srgbClr val="D8DEE9"/>
            </a:solidFill>
            <a:prstDash val="solid"/>
          </a:ln>
        </p:spPr>
      </p:sp>
      <p:sp>
        <p:nvSpPr>
          <p:cNvPr id="14" name="Text 11"/>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15" name="Text 12"/>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2060"/>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FC72C"/>
          </a:solidFill>
          <a:ln w="12700">
            <a:solidFill>
              <a:srgbClr val="FFC72C"/>
            </a:solidFill>
            <a:prstDash val="solid"/>
          </a:ln>
        </p:spPr>
      </p:sp>
      <p:sp>
        <p:nvSpPr>
          <p:cNvPr id="3" name="Text 1"/>
          <p:cNvSpPr/>
          <p:nvPr/>
        </p:nvSpPr>
        <p:spPr>
          <a:xfrm>
            <a:off x="914400" y="1371600"/>
            <a:ext cx="10058400" cy="365760"/>
          </a:xfrm>
          <a:prstGeom prst="rect">
            <a:avLst/>
          </a:prstGeom>
          <a:noFill/>
          <a:ln/>
        </p:spPr>
        <p:txBody>
          <a:bodyPr wrap="square" lIns="0" tIns="0" rIns="0" bIns="0" rtlCol="0" anchor="ctr"/>
          <a:lstStyle/>
          <a:p>
            <a:pPr indent="0" marL="0">
              <a:buNone/>
            </a:pPr>
            <a:r>
              <a:rPr lang="en-US" sz="1100" b="1" spc="600" kern="0" dirty="0">
                <a:solidFill>
                  <a:srgbClr val="FFC72C"/>
                </a:solidFill>
                <a:latin typeface="Calibri" pitchFamily="34" charset="0"/>
                <a:ea typeface="Calibri" pitchFamily="34" charset="-122"/>
                <a:cs typeface="Calibri" pitchFamily="34" charset="-120"/>
              </a:rPr>
              <a:t>THE PRINCIPLE</a:t>
            </a:r>
            <a:endParaRPr lang="en-US" sz="1100" dirty="0"/>
          </a:p>
        </p:txBody>
      </p:sp>
      <p:sp>
        <p:nvSpPr>
          <p:cNvPr id="4" name="Text 2"/>
          <p:cNvSpPr/>
          <p:nvPr/>
        </p:nvSpPr>
        <p:spPr>
          <a:xfrm>
            <a:off x="914400" y="1920240"/>
            <a:ext cx="10972800" cy="3657600"/>
          </a:xfrm>
          <a:prstGeom prst="rect">
            <a:avLst/>
          </a:prstGeom>
          <a:noFill/>
          <a:ln/>
        </p:spPr>
        <p:txBody>
          <a:bodyPr wrap="square" lIns="0" tIns="0" rIns="0" bIns="0" rtlCol="0" anchor="ctr"/>
          <a:lstStyle/>
          <a:p>
            <a:pPr indent="0" marL="0">
              <a:spcAft>
                <a:spcPts val="1200"/>
              </a:spcAft>
              <a:buNone/>
            </a:pPr>
            <a:r>
              <a:rPr lang="en-US" sz="3000" b="1" dirty="0">
                <a:solidFill>
                  <a:srgbClr val="FFFFFF"/>
                </a:solidFill>
                <a:latin typeface="Georgia" pitchFamily="34" charset="0"/>
                <a:ea typeface="Georgia" pitchFamily="34" charset="-122"/>
                <a:cs typeface="Georgia" pitchFamily="34" charset="-120"/>
              </a:rPr>
              <a:t>Engineering builds the product.</a:t>
            </a:r>
            <a:endParaRPr lang="en-US" sz="3000" dirty="0"/>
          </a:p>
          <a:p>
            <a:pPr indent="0" marL="0">
              <a:spcAft>
                <a:spcPts val="1200"/>
              </a:spcAft>
              <a:buNone/>
            </a:pPr>
            <a:r>
              <a:rPr lang="en-US" sz="3000" b="1" dirty="0">
                <a:solidFill>
                  <a:srgbClr val="FFFFFF"/>
                </a:solidFill>
                <a:latin typeface="Georgia" pitchFamily="34" charset="0"/>
                <a:ea typeface="Georgia" pitchFamily="34" charset="-122"/>
                <a:cs typeface="Georgia" pitchFamily="34" charset="-120"/>
              </a:rPr>
              <a:t>The product performs operations.</a:t>
            </a:r>
            <a:endParaRPr lang="en-US" sz="3000" dirty="0"/>
          </a:p>
          <a:p>
            <a:pPr indent="0" marL="0">
              <a:spcAft>
                <a:spcPts val="1200"/>
              </a:spcAft>
              <a:buNone/>
            </a:pPr>
            <a:r>
              <a:rPr lang="en-US" sz="3000" b="1" dirty="0">
                <a:solidFill>
                  <a:srgbClr val="FFFFFF"/>
                </a:solidFill>
                <a:latin typeface="Georgia" pitchFamily="34" charset="0"/>
                <a:ea typeface="Georgia" pitchFamily="34" charset="-122"/>
                <a:cs typeface="Georgia" pitchFamily="34" charset="-120"/>
              </a:rPr>
              <a:t>Governance sets the rules it enforces.</a:t>
            </a:r>
            <a:endParaRPr lang="en-US" sz="3000" dirty="0"/>
          </a:p>
          <a:p>
            <a:pPr indent="0" marL="0">
              <a:spcAft>
                <a:spcPts val="1200"/>
              </a:spcAft>
              <a:buNone/>
            </a:pPr>
            <a:r>
              <a:rPr lang="en-US" sz="3000" b="1" dirty="0">
                <a:solidFill>
                  <a:srgbClr val="FFC72C"/>
                </a:solidFill>
                <a:latin typeface="Georgia" pitchFamily="34" charset="0"/>
                <a:ea typeface="Georgia" pitchFamily="34" charset="-122"/>
                <a:cs typeface="Georgia" pitchFamily="34" charset="-120"/>
              </a:rPr>
              <a:t>Intelligence makes it foresee and self-heal.</a:t>
            </a:r>
            <a:endParaRPr lang="en-US" sz="3000" dirty="0"/>
          </a:p>
        </p:txBody>
      </p:sp>
      <p:sp>
        <p:nvSpPr>
          <p:cNvPr id="5" name="Shape 3"/>
          <p:cNvSpPr/>
          <p:nvPr/>
        </p:nvSpPr>
        <p:spPr>
          <a:xfrm>
            <a:off x="914400" y="5669280"/>
            <a:ext cx="731520" cy="36576"/>
          </a:xfrm>
          <a:prstGeom prst="rect">
            <a:avLst/>
          </a:prstGeom>
          <a:solidFill>
            <a:srgbClr val="FFC72C"/>
          </a:solidFill>
          <a:ln w="12700">
            <a:solidFill>
              <a:srgbClr val="FFC72C"/>
            </a:solidFill>
            <a:prstDash val="solid"/>
          </a:ln>
        </p:spPr>
      </p:sp>
      <p:sp>
        <p:nvSpPr>
          <p:cNvPr id="6" name="Text 4"/>
          <p:cNvSpPr/>
          <p:nvPr/>
        </p:nvSpPr>
        <p:spPr>
          <a:xfrm>
            <a:off x="914400" y="5852160"/>
            <a:ext cx="10515600" cy="457200"/>
          </a:xfrm>
          <a:prstGeom prst="rect">
            <a:avLst/>
          </a:prstGeom>
          <a:noFill/>
          <a:ln/>
        </p:spPr>
        <p:txBody>
          <a:bodyPr wrap="square" lIns="0" tIns="0" rIns="0" bIns="0" rtlCol="0" anchor="ctr"/>
          <a:lstStyle/>
          <a:p>
            <a:pPr indent="0" marL="0">
              <a:buNone/>
            </a:pPr>
            <a:r>
              <a:rPr lang="en-US" sz="1300" i="1" dirty="0">
                <a:solidFill>
                  <a:srgbClr val="B8C7E0"/>
                </a:solidFill>
                <a:latin typeface="Georgia" pitchFamily="34" charset="0"/>
                <a:ea typeface="Georgia" pitchFamily="34" charset="-122"/>
                <a:cs typeface="Georgia" pitchFamily="34" charset="-120"/>
              </a:rPr>
              <a:t>Certification without automation is theater.  Automation without certification is risk.  They are two faces of one delivery.</a:t>
            </a:r>
            <a:endParaRPr lang="en-US" sz="1300" dirty="0"/>
          </a:p>
        </p:txBody>
      </p:sp>
      <p:sp>
        <p:nvSpPr>
          <p:cNvPr id="7" name="Text 5"/>
          <p:cNvSpPr/>
          <p:nvPr/>
        </p:nvSpPr>
        <p:spPr>
          <a:xfrm>
            <a:off x="914400" y="6400800"/>
            <a:ext cx="10058400" cy="274320"/>
          </a:xfrm>
          <a:prstGeom prst="rect">
            <a:avLst/>
          </a:prstGeom>
          <a:noFill/>
          <a:ln/>
        </p:spPr>
        <p:txBody>
          <a:bodyPr wrap="square" lIns="0" tIns="0" rIns="0" bIns="0" rtlCol="0" anchor="ctr"/>
          <a:lstStyle/>
          <a:p>
            <a:pPr indent="0" marL="0">
              <a:buNone/>
            </a:pPr>
            <a:r>
              <a:rPr lang="en-US" sz="1000" dirty="0">
                <a:solidFill>
                  <a:srgbClr val="8FA0BD"/>
                </a:solidFill>
                <a:latin typeface="Calibri" pitchFamily="34" charset="0"/>
                <a:ea typeface="Calibri" pitchFamily="34" charset="-122"/>
                <a:cs typeface="Calibri" pitchFamily="34" charset="-120"/>
              </a:rPr>
              <a:t>RBC  |  Technology &amp; Operations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as a Product</dc:title>
  <dc:subject>PptxGenJS Presentation</dc:subject>
  <dc:creator>Dhwanil</dc:creator>
  <cp:lastModifiedBy>Dhwanil</cp:lastModifiedBy>
  <cp:revision>1</cp:revision>
  <dcterms:created xsi:type="dcterms:W3CDTF">2026-05-13T12:04:25Z</dcterms:created>
  <dcterms:modified xsi:type="dcterms:W3CDTF">2026-05-13T12:04:25Z</dcterms:modified>
</cp:coreProperties>
</file>