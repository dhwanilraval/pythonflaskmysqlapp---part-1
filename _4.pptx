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3DA5"/>
                </a:solidFill>
                <a:latin typeface="Calibri"/>
              </a:defRPr>
            </a:pPr>
            <a:r>
              <a:rPr sz="1300" b="0" i="0" u="none" strike="noStrike">
                <a:solidFill>
                  <a:srgbClr val="003DA5"/>
                </a:solidFill>
                <a:latin typeface="Calibri"/>
              </a:rPr>
              <a:t>Targeted Improvement vs. Today (%)</a:t>
            </a:r>
          </a:p>
        </c:rich>
      </c:tx>
      <c:layout/>
      <c:overlay val="0"/>
    </c:title>
    <c:autoTitleDeleted val="0"/>
    <c:plotArea>
      <c:layout/>
      <c:barChart>
        <c:barDir val="bar"/>
        <c:grouping val="clustered"/>
        <c:varyColors val="0"/>
        <c:ser>
          <c:idx val="0"/>
          <c:order val="0"/>
          <c:tx>
            <c:strRef>
              <c:f>Sheet1!$B$1</c:f>
              <c:strCache>
                <c:ptCount val="1"/>
                <c:pt idx="0">
                  <c:v>Improvement</c:v>
                </c:pt>
              </c:strCache>
            </c:strRef>
          </c:tx>
          <c:spPr>
            <a:solidFill>
              <a:srgbClr val="003DA5"/>
            </a:solidFill>
            <a:effectLst/>
          </c:spPr>
          <c:invertIfNegative val="0"/>
          <c:dLbls>
            <c:numFmt formatCode="0&quot;%&quot;"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FTE reclaimed from toil</c:v>
                  </c:pt>
                  <c:pt idx="1">
                    <c:v>MTTR reduction</c:v>
                  </c:pt>
                  <c:pt idx="2">
                    <c:v>Provisioning lead time</c:v>
                  </c:pt>
                  <c:pt idx="3">
                    <c:v>Deployment frequency</c:v>
                  </c:pt>
                  <c:pt idx="4">
                    <c:v>Time-to-onboard team</c:v>
                  </c:pt>
                  <c:pt idx="5">
                    <c:v>DevEx NPS lift</c:v>
                  </c:pt>
                </c:lvl>
              </c:multiLvlStrCache>
            </c:multiLvlStrRef>
          </c:cat>
          <c:val>
            <c:numRef>
              <c:f>Sheet1!$B$2:$B$7</c:f>
              <c:numCache>
                <c:formatCode>General</c:formatCode>
                <c:ptCount val="6"/>
                <c:pt idx="0">
                  <c:v>20</c:v>
                </c:pt>
                <c:pt idx="1">
                  <c:v>40</c:v>
                </c:pt>
                <c:pt idx="2">
                  <c:v>75</c:v>
                </c:pt>
                <c:pt idx="3">
                  <c:v>75</c:v>
                </c:pt>
                <c:pt idx="4">
                  <c:v>70</c:v>
                </c:pt>
                <c:pt idx="5">
                  <c:v>50</c:v>
                </c:pt>
              </c:numCache>
            </c:numRef>
          </c:val>
        </c:ser>
        <c:dLbls>
          <c:numFmt formatCode="0&quot;%&quot;"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777240" y="548640"/>
            <a:ext cx="700226" cy="914400"/>
          </a:xfrm>
          <a:prstGeom prst="rect">
            <a:avLst/>
          </a:prstGeom>
        </p:spPr>
      </p:pic>
      <p:sp>
        <p:nvSpPr>
          <p:cNvPr id="4" name="Text 1"/>
          <p:cNvSpPr/>
          <p:nvPr/>
        </p:nvSpPr>
        <p:spPr>
          <a:xfrm>
            <a:off x="77724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FEDF01"/>
                </a:solidFill>
                <a:latin typeface="Calibri" pitchFamily="34" charset="0"/>
                <a:ea typeface="Calibri" pitchFamily="34" charset="-122"/>
                <a:cs typeface="Calibri" pitchFamily="34" charset="-120"/>
              </a:rPr>
              <a:t>OPERATING MODEL TRANSFORMATION</a:t>
            </a:r>
            <a:endParaRPr lang="en-US" sz="1400" dirty="0"/>
          </a:p>
        </p:txBody>
      </p:sp>
      <p:sp>
        <p:nvSpPr>
          <p:cNvPr id="5" name="Text 2"/>
          <p:cNvSpPr/>
          <p:nvPr/>
        </p:nvSpPr>
        <p:spPr>
          <a:xfrm>
            <a:off x="777240" y="2606040"/>
            <a:ext cx="10515600" cy="182880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From Vertical Silos</a:t>
            </a:r>
            <a:endParaRPr lang="en-US" sz="5600" dirty="0"/>
          </a:p>
          <a:p>
            <a:pPr indent="0" marL="0">
              <a:buNone/>
            </a:pPr>
            <a:r>
              <a:rPr lang="en-US" sz="5600" b="1" dirty="0">
                <a:solidFill>
                  <a:srgbClr val="FFFFFF"/>
                </a:solidFill>
                <a:latin typeface="Georgia" pitchFamily="34" charset="0"/>
                <a:ea typeface="Georgia" pitchFamily="34" charset="-122"/>
                <a:cs typeface="Georgia" pitchFamily="34" charset="-120"/>
              </a:rPr>
              <a:t>to Horizontal Flow</a:t>
            </a:r>
            <a:endParaRPr lang="en-US" sz="5600" dirty="0"/>
          </a:p>
        </p:txBody>
      </p:sp>
      <p:sp>
        <p:nvSpPr>
          <p:cNvPr id="6" name="Text 3"/>
          <p:cNvSpPr/>
          <p:nvPr/>
        </p:nvSpPr>
        <p:spPr>
          <a:xfrm>
            <a:off x="777240" y="4617720"/>
            <a:ext cx="10515600" cy="457200"/>
          </a:xfrm>
          <a:prstGeom prst="rect">
            <a:avLst/>
          </a:prstGeom>
          <a:noFill/>
          <a:ln/>
        </p:spPr>
        <p:txBody>
          <a:bodyPr wrap="square" lIns="0" tIns="0" rIns="0" bIns="0" rtlCol="0" anchor="ctr"/>
          <a:lstStyle/>
          <a:p>
            <a:pPr indent="0" marL="0">
              <a:buNone/>
            </a:pPr>
            <a:r>
              <a:rPr lang="en-US" sz="1800" i="1" dirty="0">
                <a:solidFill>
                  <a:srgbClr val="C9D6EE"/>
                </a:solidFill>
                <a:latin typeface="Calibri" pitchFamily="34" charset="0"/>
                <a:ea typeface="Calibri" pitchFamily="34" charset="-122"/>
                <a:cs typeface="Calibri" pitchFamily="34" charset="-120"/>
              </a:rPr>
              <a:t>A Proposed Horizontal Operating Model for a 2,500-Person Infrastructure Organization</a:t>
            </a:r>
            <a:endParaRPr lang="en-US" sz="1800" dirty="0"/>
          </a:p>
        </p:txBody>
      </p:sp>
      <p:sp>
        <p:nvSpPr>
          <p:cNvPr id="7" name="Shape 4"/>
          <p:cNvSpPr/>
          <p:nvPr/>
        </p:nvSpPr>
        <p:spPr>
          <a:xfrm>
            <a:off x="777240" y="5852160"/>
            <a:ext cx="2743200" cy="0"/>
          </a:xfrm>
          <a:prstGeom prst="line">
            <a:avLst/>
          </a:prstGeom>
          <a:noFill/>
          <a:ln w="25400">
            <a:solidFill>
              <a:srgbClr val="FEDF01"/>
            </a:solidFill>
            <a:prstDash val="solid"/>
          </a:ln>
        </p:spPr>
      </p:sp>
      <p:sp>
        <p:nvSpPr>
          <p:cNvPr id="8" name="Text 5"/>
          <p:cNvSpPr/>
          <p:nvPr/>
        </p:nvSpPr>
        <p:spPr>
          <a:xfrm>
            <a:off x="777240" y="5989320"/>
            <a:ext cx="100584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Prepared for:</a:t>
            </a:r>
            <a:pPr indent="0" marL="0">
              <a:buNone/>
            </a:pPr>
            <a:r>
              <a:rPr lang="en-US" sz="1200" dirty="0">
                <a:solidFill>
                  <a:srgbClr val="C9D6EE"/>
                </a:solidFill>
                <a:latin typeface="Calibri" pitchFamily="34" charset="0"/>
                <a:ea typeface="Calibri" pitchFamily="34" charset="-122"/>
                <a:cs typeface="Calibri" pitchFamily="34" charset="-120"/>
              </a:rPr>
              <a:t>  Executive Stakeholders   |   </a:t>
            </a:r>
            <a:pPr indent="0" marL="0">
              <a:buNone/>
            </a:pPr>
            <a:r>
              <a:rPr lang="en-US" sz="1200" b="1" dirty="0">
                <a:solidFill>
                  <a:srgbClr val="FEDF01"/>
                </a:solidFill>
                <a:latin typeface="Calibri" pitchFamily="34" charset="0"/>
                <a:ea typeface="Calibri" pitchFamily="34" charset="-122"/>
                <a:cs typeface="Calibri" pitchFamily="34" charset="-120"/>
              </a:rPr>
              <a:t>Discussion Document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EXECUTIVE SUMMARY</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The Case for a Horizontal Operating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73152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Today's vertical structure — Architecture, Engineering, Operations, AI/IM as separate towers — creates handoffs, queues, and conflicting priorities. A horizontal, platform-as-a-product model embeds these capabilities into outcome-owning teams.</a:t>
            </a:r>
            <a:endParaRPr lang="en-US" sz="1400" dirty="0"/>
          </a:p>
        </p:txBody>
      </p:sp>
      <p:sp>
        <p:nvSpPr>
          <p:cNvPr id="8" name="Shape 5"/>
          <p:cNvSpPr/>
          <p:nvPr/>
        </p:nvSpPr>
        <p:spPr>
          <a:xfrm>
            <a:off x="426568" y="2286000"/>
            <a:ext cx="2697480" cy="1828800"/>
          </a:xfrm>
          <a:prstGeom prst="rect">
            <a:avLst/>
          </a:prstGeom>
          <a:solidFill>
            <a:srgbClr val="003DA5"/>
          </a:solidFill>
          <a:ln w="12700">
            <a:solidFill>
              <a:srgbClr val="003DA5"/>
            </a:solidFill>
            <a:prstDash val="solid"/>
          </a:ln>
          <a:effectLst>
            <a:outerShdw sx="100000" sy="100000" kx="0" ky="0" algn="bl" rotWithShape="0" blurRad="177800" dist="38100" dir="5400000">
              <a:srgbClr val="000000">
                <a:alpha val="12000"/>
              </a:srgbClr>
            </a:outerShdw>
          </a:effectLst>
        </p:spPr>
      </p:sp>
      <p:sp>
        <p:nvSpPr>
          <p:cNvPr id="9" name="Shape 6"/>
          <p:cNvSpPr/>
          <p:nvPr/>
        </p:nvSpPr>
        <p:spPr>
          <a:xfrm>
            <a:off x="426568" y="2286000"/>
            <a:ext cx="2697480" cy="73152"/>
          </a:xfrm>
          <a:prstGeom prst="rect">
            <a:avLst/>
          </a:prstGeom>
          <a:solidFill>
            <a:srgbClr val="FEDF01"/>
          </a:solidFill>
          <a:ln w="12700">
            <a:solidFill>
              <a:srgbClr val="FEDF01"/>
            </a:solidFill>
            <a:prstDash val="solid"/>
          </a:ln>
        </p:spPr>
      </p:sp>
      <p:pic>
        <p:nvPicPr>
          <p:cNvPr id="10" name="Image 1" descr="preencoded.png">    </p:cNvPr>
          <p:cNvPicPr>
            <a:picLocks noChangeAspect="1"/>
          </p:cNvPicPr>
          <p:nvPr/>
        </p:nvPicPr>
        <p:blipFill>
          <a:blip r:embed="rId2"/>
          <a:stretch>
            <a:fillRect/>
          </a:stretch>
        </p:blipFill>
        <p:spPr>
          <a:xfrm>
            <a:off x="655168" y="2514600"/>
            <a:ext cx="365760" cy="365760"/>
          </a:xfrm>
          <a:prstGeom prst="rect">
            <a:avLst/>
          </a:prstGeom>
        </p:spPr>
      </p:pic>
      <p:sp>
        <p:nvSpPr>
          <p:cNvPr id="11" name="Text 7"/>
          <p:cNvSpPr/>
          <p:nvPr/>
        </p:nvSpPr>
        <p:spPr>
          <a:xfrm>
            <a:off x="609448" y="2880360"/>
            <a:ext cx="233172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15–25%</a:t>
            </a:r>
            <a:endParaRPr lang="en-US" sz="3600" dirty="0"/>
          </a:p>
        </p:txBody>
      </p:sp>
      <p:sp>
        <p:nvSpPr>
          <p:cNvPr id="12" name="Text 8"/>
          <p:cNvSpPr/>
          <p:nvPr/>
        </p:nvSpPr>
        <p:spPr>
          <a:xfrm>
            <a:off x="609448" y="352044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FTE capacity reclaimed</a:t>
            </a:r>
            <a:endParaRPr lang="en-US" sz="1200" dirty="0"/>
          </a:p>
        </p:txBody>
      </p:sp>
      <p:sp>
        <p:nvSpPr>
          <p:cNvPr id="13" name="Text 9"/>
          <p:cNvSpPr/>
          <p:nvPr/>
        </p:nvSpPr>
        <p:spPr>
          <a:xfrm>
            <a:off x="609448" y="3749040"/>
            <a:ext cx="2331720" cy="274320"/>
          </a:xfrm>
          <a:prstGeom prst="rect">
            <a:avLst/>
          </a:prstGeom>
          <a:noFill/>
          <a:ln/>
        </p:spPr>
        <p:txBody>
          <a:bodyPr wrap="square" lIns="0" tIns="0" rIns="0" bIns="0" rtlCol="0" anchor="ctr"/>
          <a:lstStyle/>
          <a:p>
            <a:pPr indent="0" marL="0">
              <a:buNone/>
            </a:pPr>
            <a:r>
              <a:rPr lang="en-US" sz="1000" dirty="0">
                <a:solidFill>
                  <a:srgbClr val="C9D6EE"/>
                </a:solidFill>
                <a:latin typeface="Calibri" pitchFamily="34" charset="0"/>
                <a:ea typeface="Calibri" pitchFamily="34" charset="-122"/>
                <a:cs typeface="Calibri" pitchFamily="34" charset="-120"/>
              </a:rPr>
              <a:t>from automated toil &amp; self-service</a:t>
            </a:r>
            <a:endParaRPr lang="en-US" sz="1000" dirty="0"/>
          </a:p>
        </p:txBody>
      </p:sp>
      <p:sp>
        <p:nvSpPr>
          <p:cNvPr id="14" name="Shape 10"/>
          <p:cNvSpPr/>
          <p:nvPr/>
        </p:nvSpPr>
        <p:spPr>
          <a:xfrm>
            <a:off x="3306928" y="2286000"/>
            <a:ext cx="2697480" cy="1828800"/>
          </a:xfrm>
          <a:prstGeom prst="rect">
            <a:avLst/>
          </a:prstGeom>
          <a:solidFill>
            <a:srgbClr val="002B7F"/>
          </a:solidFill>
          <a:ln w="12700">
            <a:solidFill>
              <a:srgbClr val="002B7F"/>
            </a:solidFill>
            <a:prstDash val="solid"/>
          </a:ln>
          <a:effectLst>
            <a:outerShdw sx="100000" sy="100000" kx="0" ky="0" algn="bl" rotWithShape="0" blurRad="177800" dist="38100" dir="5400000">
              <a:srgbClr val="000000">
                <a:alpha val="12000"/>
              </a:srgbClr>
            </a:outerShdw>
          </a:effectLst>
        </p:spPr>
      </p:sp>
      <p:sp>
        <p:nvSpPr>
          <p:cNvPr id="15" name="Shape 11"/>
          <p:cNvSpPr/>
          <p:nvPr/>
        </p:nvSpPr>
        <p:spPr>
          <a:xfrm>
            <a:off x="3306928" y="2286000"/>
            <a:ext cx="2697480" cy="73152"/>
          </a:xfrm>
          <a:prstGeom prst="rect">
            <a:avLst/>
          </a:prstGeom>
          <a:solidFill>
            <a:srgbClr val="FEDF01"/>
          </a:solidFill>
          <a:ln w="12700">
            <a:solidFill>
              <a:srgbClr val="FEDF01"/>
            </a:solidFill>
            <a:prstDash val="solid"/>
          </a:ln>
        </p:spPr>
      </p:sp>
      <p:pic>
        <p:nvPicPr>
          <p:cNvPr id="16" name="Image 2" descr="preencoded.png">    </p:cNvPr>
          <p:cNvPicPr>
            <a:picLocks noChangeAspect="1"/>
          </p:cNvPicPr>
          <p:nvPr/>
        </p:nvPicPr>
        <p:blipFill>
          <a:blip r:embed="rId3"/>
          <a:stretch>
            <a:fillRect/>
          </a:stretch>
        </p:blipFill>
        <p:spPr>
          <a:xfrm>
            <a:off x="3535528" y="2514600"/>
            <a:ext cx="365760" cy="365760"/>
          </a:xfrm>
          <a:prstGeom prst="rect">
            <a:avLst/>
          </a:prstGeom>
        </p:spPr>
      </p:pic>
      <p:sp>
        <p:nvSpPr>
          <p:cNvPr id="17" name="Text 12"/>
          <p:cNvSpPr/>
          <p:nvPr/>
        </p:nvSpPr>
        <p:spPr>
          <a:xfrm>
            <a:off x="3489808" y="2880360"/>
            <a:ext cx="233172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30–50%</a:t>
            </a:r>
            <a:endParaRPr lang="en-US" sz="3600" dirty="0"/>
          </a:p>
        </p:txBody>
      </p:sp>
      <p:sp>
        <p:nvSpPr>
          <p:cNvPr id="18" name="Text 13"/>
          <p:cNvSpPr/>
          <p:nvPr/>
        </p:nvSpPr>
        <p:spPr>
          <a:xfrm>
            <a:off x="3489808" y="352044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MTTR reduction</a:t>
            </a:r>
            <a:endParaRPr lang="en-US" sz="1200" dirty="0"/>
          </a:p>
        </p:txBody>
      </p:sp>
      <p:sp>
        <p:nvSpPr>
          <p:cNvPr id="19" name="Text 14"/>
          <p:cNvSpPr/>
          <p:nvPr/>
        </p:nvSpPr>
        <p:spPr>
          <a:xfrm>
            <a:off x="3489808" y="3749040"/>
            <a:ext cx="2331720" cy="274320"/>
          </a:xfrm>
          <a:prstGeom prst="rect">
            <a:avLst/>
          </a:prstGeom>
          <a:noFill/>
          <a:ln/>
        </p:spPr>
        <p:txBody>
          <a:bodyPr wrap="square" lIns="0" tIns="0" rIns="0" bIns="0" rtlCol="0" anchor="ctr"/>
          <a:lstStyle/>
          <a:p>
            <a:pPr indent="0" marL="0">
              <a:buNone/>
            </a:pPr>
            <a:r>
              <a:rPr lang="en-US" sz="1000" dirty="0">
                <a:solidFill>
                  <a:srgbClr val="C9D6EE"/>
                </a:solidFill>
                <a:latin typeface="Calibri" pitchFamily="34" charset="0"/>
                <a:ea typeface="Calibri" pitchFamily="34" charset="-122"/>
                <a:cs typeface="Calibri" pitchFamily="34" charset="-120"/>
              </a:rPr>
              <a:t>via embedded SRE + AIOps</a:t>
            </a:r>
            <a:endParaRPr lang="en-US" sz="1000" dirty="0"/>
          </a:p>
        </p:txBody>
      </p:sp>
      <p:sp>
        <p:nvSpPr>
          <p:cNvPr id="20" name="Shape 15"/>
          <p:cNvSpPr/>
          <p:nvPr/>
        </p:nvSpPr>
        <p:spPr>
          <a:xfrm>
            <a:off x="6187288" y="2286000"/>
            <a:ext cx="2697480" cy="1828800"/>
          </a:xfrm>
          <a:prstGeom prst="rect">
            <a:avLst/>
          </a:prstGeom>
          <a:solidFill>
            <a:srgbClr val="003DA5"/>
          </a:solidFill>
          <a:ln w="12700">
            <a:solidFill>
              <a:srgbClr val="003DA5"/>
            </a:solidFill>
            <a:prstDash val="solid"/>
          </a:ln>
          <a:effectLst>
            <a:outerShdw sx="100000" sy="100000" kx="0" ky="0" algn="bl" rotWithShape="0" blurRad="177800" dist="38100" dir="5400000">
              <a:srgbClr val="000000">
                <a:alpha val="12000"/>
              </a:srgbClr>
            </a:outerShdw>
          </a:effectLst>
        </p:spPr>
      </p:sp>
      <p:sp>
        <p:nvSpPr>
          <p:cNvPr id="21" name="Shape 16"/>
          <p:cNvSpPr/>
          <p:nvPr/>
        </p:nvSpPr>
        <p:spPr>
          <a:xfrm>
            <a:off x="6187288" y="2286000"/>
            <a:ext cx="2697480" cy="73152"/>
          </a:xfrm>
          <a:prstGeom prst="rect">
            <a:avLst/>
          </a:prstGeom>
          <a:solidFill>
            <a:srgbClr val="FEDF01"/>
          </a:solidFill>
          <a:ln w="12700">
            <a:solidFill>
              <a:srgbClr val="FEDF01"/>
            </a:solidFill>
            <a:prstDash val="solid"/>
          </a:ln>
        </p:spPr>
      </p:sp>
      <p:pic>
        <p:nvPicPr>
          <p:cNvPr id="22" name="Image 3" descr="preencoded.png">    </p:cNvPr>
          <p:cNvPicPr>
            <a:picLocks noChangeAspect="1"/>
          </p:cNvPicPr>
          <p:nvPr/>
        </p:nvPicPr>
        <p:blipFill>
          <a:blip r:embed="rId4"/>
          <a:stretch>
            <a:fillRect/>
          </a:stretch>
        </p:blipFill>
        <p:spPr>
          <a:xfrm>
            <a:off x="6415888" y="2514600"/>
            <a:ext cx="365760" cy="365760"/>
          </a:xfrm>
          <a:prstGeom prst="rect">
            <a:avLst/>
          </a:prstGeom>
        </p:spPr>
      </p:pic>
      <p:sp>
        <p:nvSpPr>
          <p:cNvPr id="23" name="Text 17"/>
          <p:cNvSpPr/>
          <p:nvPr/>
        </p:nvSpPr>
        <p:spPr>
          <a:xfrm>
            <a:off x="6370168" y="2880360"/>
            <a:ext cx="233172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2–5×</a:t>
            </a:r>
            <a:endParaRPr lang="en-US" sz="3600" dirty="0"/>
          </a:p>
        </p:txBody>
      </p:sp>
      <p:sp>
        <p:nvSpPr>
          <p:cNvPr id="24" name="Text 18"/>
          <p:cNvSpPr/>
          <p:nvPr/>
        </p:nvSpPr>
        <p:spPr>
          <a:xfrm>
            <a:off x="6370168" y="352044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Faster provisioning</a:t>
            </a:r>
            <a:endParaRPr lang="en-US" sz="1200" dirty="0"/>
          </a:p>
        </p:txBody>
      </p:sp>
      <p:sp>
        <p:nvSpPr>
          <p:cNvPr id="25" name="Text 19"/>
          <p:cNvSpPr/>
          <p:nvPr/>
        </p:nvSpPr>
        <p:spPr>
          <a:xfrm>
            <a:off x="6370168" y="3749040"/>
            <a:ext cx="2331720" cy="274320"/>
          </a:xfrm>
          <a:prstGeom prst="rect">
            <a:avLst/>
          </a:prstGeom>
          <a:noFill/>
          <a:ln/>
        </p:spPr>
        <p:txBody>
          <a:bodyPr wrap="square" lIns="0" tIns="0" rIns="0" bIns="0" rtlCol="0" anchor="ctr"/>
          <a:lstStyle/>
          <a:p>
            <a:pPr indent="0" marL="0">
              <a:buNone/>
            </a:pPr>
            <a:r>
              <a:rPr lang="en-US" sz="1000" dirty="0">
                <a:solidFill>
                  <a:srgbClr val="C9D6EE"/>
                </a:solidFill>
                <a:latin typeface="Calibri" pitchFamily="34" charset="0"/>
                <a:ea typeface="Calibri" pitchFamily="34" charset="-122"/>
                <a:cs typeface="Calibri" pitchFamily="34" charset="-120"/>
              </a:rPr>
              <a:t>self-service paved roads</a:t>
            </a:r>
            <a:endParaRPr lang="en-US" sz="1000" dirty="0"/>
          </a:p>
        </p:txBody>
      </p:sp>
      <p:sp>
        <p:nvSpPr>
          <p:cNvPr id="26" name="Shape 20"/>
          <p:cNvSpPr/>
          <p:nvPr/>
        </p:nvSpPr>
        <p:spPr>
          <a:xfrm>
            <a:off x="9067648" y="2286000"/>
            <a:ext cx="2697480" cy="1828800"/>
          </a:xfrm>
          <a:prstGeom prst="rect">
            <a:avLst/>
          </a:prstGeom>
          <a:solidFill>
            <a:srgbClr val="002B7F"/>
          </a:solidFill>
          <a:ln w="12700">
            <a:solidFill>
              <a:srgbClr val="002B7F"/>
            </a:solidFill>
            <a:prstDash val="solid"/>
          </a:ln>
          <a:effectLst>
            <a:outerShdw sx="100000" sy="100000" kx="0" ky="0" algn="bl" rotWithShape="0" blurRad="177800" dist="38100" dir="5400000">
              <a:srgbClr val="000000">
                <a:alpha val="12000"/>
              </a:srgbClr>
            </a:outerShdw>
          </a:effectLst>
        </p:spPr>
      </p:sp>
      <p:sp>
        <p:nvSpPr>
          <p:cNvPr id="27" name="Shape 21"/>
          <p:cNvSpPr/>
          <p:nvPr/>
        </p:nvSpPr>
        <p:spPr>
          <a:xfrm>
            <a:off x="9067648" y="2286000"/>
            <a:ext cx="2697480" cy="73152"/>
          </a:xfrm>
          <a:prstGeom prst="rect">
            <a:avLst/>
          </a:prstGeom>
          <a:solidFill>
            <a:srgbClr val="FEDF01"/>
          </a:solidFill>
          <a:ln w="12700">
            <a:solidFill>
              <a:srgbClr val="FEDF01"/>
            </a:solidFill>
            <a:prstDash val="solid"/>
          </a:ln>
        </p:spPr>
      </p:sp>
      <p:pic>
        <p:nvPicPr>
          <p:cNvPr id="28" name="Image 4" descr="preencoded.png">    </p:cNvPr>
          <p:cNvPicPr>
            <a:picLocks noChangeAspect="1"/>
          </p:cNvPicPr>
          <p:nvPr/>
        </p:nvPicPr>
        <p:blipFill>
          <a:blip r:embed="rId5"/>
          <a:stretch>
            <a:fillRect/>
          </a:stretch>
        </p:blipFill>
        <p:spPr>
          <a:xfrm>
            <a:off x="9296248" y="2514600"/>
            <a:ext cx="365760" cy="365760"/>
          </a:xfrm>
          <a:prstGeom prst="rect">
            <a:avLst/>
          </a:prstGeom>
        </p:spPr>
      </p:pic>
      <p:sp>
        <p:nvSpPr>
          <p:cNvPr id="29" name="Text 22"/>
          <p:cNvSpPr/>
          <p:nvPr/>
        </p:nvSpPr>
        <p:spPr>
          <a:xfrm>
            <a:off x="9250528" y="2880360"/>
            <a:ext cx="233172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18–24</a:t>
            </a:r>
            <a:endParaRPr lang="en-US" sz="3600" dirty="0"/>
          </a:p>
        </p:txBody>
      </p:sp>
      <p:sp>
        <p:nvSpPr>
          <p:cNvPr id="30" name="Text 23"/>
          <p:cNvSpPr/>
          <p:nvPr/>
        </p:nvSpPr>
        <p:spPr>
          <a:xfrm>
            <a:off x="9250528" y="352044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Months to scale</a:t>
            </a:r>
            <a:endParaRPr lang="en-US" sz="1200" dirty="0"/>
          </a:p>
        </p:txBody>
      </p:sp>
      <p:sp>
        <p:nvSpPr>
          <p:cNvPr id="31" name="Text 24"/>
          <p:cNvSpPr/>
          <p:nvPr/>
        </p:nvSpPr>
        <p:spPr>
          <a:xfrm>
            <a:off x="9250528" y="3749040"/>
            <a:ext cx="2331720" cy="274320"/>
          </a:xfrm>
          <a:prstGeom prst="rect">
            <a:avLst/>
          </a:prstGeom>
          <a:noFill/>
          <a:ln/>
        </p:spPr>
        <p:txBody>
          <a:bodyPr wrap="square" lIns="0" tIns="0" rIns="0" bIns="0" rtlCol="0" anchor="ctr"/>
          <a:lstStyle/>
          <a:p>
            <a:pPr indent="0" marL="0">
              <a:buNone/>
            </a:pPr>
            <a:r>
              <a:rPr lang="en-US" sz="1000" dirty="0">
                <a:solidFill>
                  <a:srgbClr val="C9D6EE"/>
                </a:solidFill>
                <a:latin typeface="Calibri" pitchFamily="34" charset="0"/>
                <a:ea typeface="Calibri" pitchFamily="34" charset="-122"/>
                <a:cs typeface="Calibri" pitchFamily="34" charset="-120"/>
              </a:rPr>
              <a:t>phased: pilot → expand → scale</a:t>
            </a:r>
            <a:endParaRPr lang="en-US" sz="1000" dirty="0"/>
          </a:p>
        </p:txBody>
      </p:sp>
      <p:sp>
        <p:nvSpPr>
          <p:cNvPr id="32" name="Shape 25"/>
          <p:cNvSpPr/>
          <p:nvPr/>
        </p:nvSpPr>
        <p:spPr>
          <a:xfrm>
            <a:off x="457200" y="4434840"/>
            <a:ext cx="5532120" cy="1828800"/>
          </a:xfrm>
          <a:prstGeom prst="rect">
            <a:avLst/>
          </a:prstGeom>
          <a:solidFill>
            <a:srgbClr val="F4F6F9"/>
          </a:solidFill>
          <a:ln w="12700">
            <a:solidFill>
              <a:srgbClr val="E2E8F0"/>
            </a:solidFill>
            <a:prstDash val="solid"/>
          </a:ln>
        </p:spPr>
      </p:sp>
      <p:sp>
        <p:nvSpPr>
          <p:cNvPr id="33" name="Shape 26"/>
          <p:cNvSpPr/>
          <p:nvPr/>
        </p:nvSpPr>
        <p:spPr>
          <a:xfrm>
            <a:off x="457200" y="4434840"/>
            <a:ext cx="73152" cy="1828800"/>
          </a:xfrm>
          <a:prstGeom prst="rect">
            <a:avLst/>
          </a:prstGeom>
          <a:solidFill>
            <a:srgbClr val="003DA5"/>
          </a:solidFill>
          <a:ln w="12700">
            <a:solidFill>
              <a:srgbClr val="003DA5"/>
            </a:solidFill>
            <a:prstDash val="solid"/>
          </a:ln>
        </p:spPr>
      </p:sp>
      <p:sp>
        <p:nvSpPr>
          <p:cNvPr id="34" name="Text 27"/>
          <p:cNvSpPr/>
          <p:nvPr/>
        </p:nvSpPr>
        <p:spPr>
          <a:xfrm>
            <a:off x="685800" y="4572000"/>
            <a:ext cx="5166360"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WHAT CHANGES</a:t>
            </a:r>
            <a:endParaRPr lang="en-US" sz="1100" dirty="0"/>
          </a:p>
        </p:txBody>
      </p:sp>
      <p:sp>
        <p:nvSpPr>
          <p:cNvPr id="35" name="Text 28"/>
          <p:cNvSpPr/>
          <p:nvPr/>
        </p:nvSpPr>
        <p:spPr>
          <a:xfrm>
            <a:off x="777240"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Architecture, Operations &amp; AI become embedded capabilities, not departments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Persistent stream-aligned squads own platforms end-to-end (build + run)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Funding shifts from project-by-project to persistent platform teams</a:t>
            </a:r>
            <a:endParaRPr lang="en-US" sz="1200" dirty="0"/>
          </a:p>
        </p:txBody>
      </p:sp>
      <p:sp>
        <p:nvSpPr>
          <p:cNvPr id="36" name="Shape 29"/>
          <p:cNvSpPr/>
          <p:nvPr/>
        </p:nvSpPr>
        <p:spPr>
          <a:xfrm>
            <a:off x="6199632" y="4434840"/>
            <a:ext cx="5532120" cy="1828800"/>
          </a:xfrm>
          <a:prstGeom prst="rect">
            <a:avLst/>
          </a:prstGeom>
          <a:solidFill>
            <a:srgbClr val="F4F6F9"/>
          </a:solidFill>
          <a:ln w="12700">
            <a:solidFill>
              <a:srgbClr val="E2E8F0"/>
            </a:solidFill>
            <a:prstDash val="solid"/>
          </a:ln>
        </p:spPr>
      </p:sp>
      <p:sp>
        <p:nvSpPr>
          <p:cNvPr id="37" name="Shape 30"/>
          <p:cNvSpPr/>
          <p:nvPr/>
        </p:nvSpPr>
        <p:spPr>
          <a:xfrm>
            <a:off x="6199632" y="4434840"/>
            <a:ext cx="73152" cy="1828800"/>
          </a:xfrm>
          <a:prstGeom prst="rect">
            <a:avLst/>
          </a:prstGeom>
          <a:solidFill>
            <a:srgbClr val="FEDF01"/>
          </a:solidFill>
          <a:ln w="12700">
            <a:solidFill>
              <a:srgbClr val="FEDF01"/>
            </a:solidFill>
            <a:prstDash val="solid"/>
          </a:ln>
        </p:spPr>
      </p:sp>
      <p:sp>
        <p:nvSpPr>
          <p:cNvPr id="38" name="Text 31"/>
          <p:cNvSpPr/>
          <p:nvPr/>
        </p:nvSpPr>
        <p:spPr>
          <a:xfrm>
            <a:off x="6428232" y="4572000"/>
            <a:ext cx="5166360"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WHAT WE KEEP</a:t>
            </a:r>
            <a:endParaRPr lang="en-US" sz="1100" dirty="0"/>
          </a:p>
        </p:txBody>
      </p:sp>
      <p:sp>
        <p:nvSpPr>
          <p:cNvPr id="39" name="Text 32"/>
          <p:cNvSpPr/>
          <p:nvPr/>
        </p:nvSpPr>
        <p:spPr>
          <a:xfrm>
            <a:off x="6519672"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Functional depth, via Communities of Practice &amp; Guilds (Architecture, SRE, AI/ML,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Senior IC ladder — Principal Engineers, Distinguished Architects retain career path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Regulatory rigor — strengthened via Assurance-as-Code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CHALLENGE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Where Today's Vertical Model Creates Friction</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548640" y="1051560"/>
            <a:ext cx="5248656" cy="274320"/>
          </a:xfrm>
          <a:prstGeom prst="rect">
            <a:avLst/>
          </a:prstGeom>
          <a:noFill/>
          <a:ln/>
        </p:spPr>
        <p:txBody>
          <a:bodyPr wrap="square" lIns="0" tIns="0" rIns="0" bIns="0" rtlCol="0" anchor="ctr"/>
          <a:lstStyle/>
          <a:p>
            <a:pPr algn="ctr" indent="0" marL="0">
              <a:buNone/>
            </a:pPr>
            <a:r>
              <a:rPr lang="en-US" sz="1100" b="1" spc="400" kern="0" dirty="0">
                <a:solidFill>
                  <a:srgbClr val="003DA5"/>
                </a:solidFill>
                <a:latin typeface="Calibri" pitchFamily="34" charset="0"/>
                <a:ea typeface="Calibri" pitchFamily="34" charset="-122"/>
                <a:cs typeface="Calibri" pitchFamily="34" charset="-120"/>
              </a:rPr>
              <a:t>TODAY</a:t>
            </a:r>
            <a:endParaRPr lang="en-US" sz="1100" dirty="0"/>
          </a:p>
        </p:txBody>
      </p:sp>
      <p:sp>
        <p:nvSpPr>
          <p:cNvPr id="8" name="Shape 5"/>
          <p:cNvSpPr/>
          <p:nvPr/>
        </p:nvSpPr>
        <p:spPr>
          <a:xfrm>
            <a:off x="548640" y="1463040"/>
            <a:ext cx="1188720" cy="4206240"/>
          </a:xfrm>
          <a:prstGeom prst="rect">
            <a:avLst/>
          </a:prstGeom>
          <a:solidFill>
            <a:srgbClr val="002B7F"/>
          </a:solidFill>
          <a:ln w="12700">
            <a:solidFill>
              <a:srgbClr val="002B7F"/>
            </a:solidFill>
            <a:prstDash val="solid"/>
          </a:ln>
          <a:effectLst>
            <a:outerShdw sx="100000" sy="100000" kx="0" ky="0" algn="bl" rotWithShape="0" blurRad="101600" dist="25400" dir="5400000">
              <a:srgbClr val="000000">
                <a:alpha val="8000"/>
              </a:srgbClr>
            </a:outerShdw>
          </a:effectLst>
        </p:spPr>
      </p:sp>
      <p:sp>
        <p:nvSpPr>
          <p:cNvPr id="9" name="Shape 6"/>
          <p:cNvSpPr/>
          <p:nvPr/>
        </p:nvSpPr>
        <p:spPr>
          <a:xfrm>
            <a:off x="548640" y="1463040"/>
            <a:ext cx="1188720" cy="109728"/>
          </a:xfrm>
          <a:prstGeom prst="rect">
            <a:avLst/>
          </a:prstGeom>
          <a:solidFill>
            <a:srgbClr val="FEDF01"/>
          </a:solidFill>
          <a:ln w="12700">
            <a:solidFill>
              <a:srgbClr val="FEDF01"/>
            </a:solidFill>
            <a:prstDash val="solid"/>
          </a:ln>
        </p:spPr>
      </p:sp>
      <p:pic>
        <p:nvPicPr>
          <p:cNvPr id="10" name="Image 1" descr="preencoded.png">    </p:cNvPr>
          <p:cNvPicPr>
            <a:picLocks noChangeAspect="1"/>
          </p:cNvPicPr>
          <p:nvPr/>
        </p:nvPicPr>
        <p:blipFill>
          <a:blip r:embed="rId2"/>
          <a:stretch>
            <a:fillRect/>
          </a:stretch>
        </p:blipFill>
        <p:spPr>
          <a:xfrm>
            <a:off x="914400" y="1874520"/>
            <a:ext cx="457200" cy="457200"/>
          </a:xfrm>
          <a:prstGeom prst="rect">
            <a:avLst/>
          </a:prstGeom>
        </p:spPr>
      </p:pic>
      <p:sp>
        <p:nvSpPr>
          <p:cNvPr id="11" name="Shape 7"/>
          <p:cNvSpPr/>
          <p:nvPr/>
        </p:nvSpPr>
        <p:spPr>
          <a:xfrm>
            <a:off x="1901952" y="1463040"/>
            <a:ext cx="1188720" cy="4206240"/>
          </a:xfrm>
          <a:prstGeom prst="rect">
            <a:avLst/>
          </a:prstGeom>
          <a:solidFill>
            <a:srgbClr val="002B7F"/>
          </a:solidFill>
          <a:ln w="12700">
            <a:solidFill>
              <a:srgbClr val="002B7F"/>
            </a:solidFill>
            <a:prstDash val="solid"/>
          </a:ln>
          <a:effectLst>
            <a:outerShdw sx="100000" sy="100000" kx="0" ky="0" algn="bl" rotWithShape="0" blurRad="101600" dist="25400" dir="5400000">
              <a:srgbClr val="000000">
                <a:alpha val="8000"/>
              </a:srgbClr>
            </a:outerShdw>
          </a:effectLst>
        </p:spPr>
      </p:sp>
      <p:sp>
        <p:nvSpPr>
          <p:cNvPr id="12" name="Shape 8"/>
          <p:cNvSpPr/>
          <p:nvPr/>
        </p:nvSpPr>
        <p:spPr>
          <a:xfrm>
            <a:off x="1901952" y="1463040"/>
            <a:ext cx="1188720" cy="109728"/>
          </a:xfrm>
          <a:prstGeom prst="rect">
            <a:avLst/>
          </a:prstGeom>
          <a:solidFill>
            <a:srgbClr val="FEDF01"/>
          </a:solidFill>
          <a:ln w="12700">
            <a:solidFill>
              <a:srgbClr val="FEDF01"/>
            </a:solidFill>
            <a:prstDash val="solid"/>
          </a:ln>
        </p:spPr>
      </p:sp>
      <p:pic>
        <p:nvPicPr>
          <p:cNvPr id="13" name="Image 2" descr="preencoded.png">    </p:cNvPr>
          <p:cNvPicPr>
            <a:picLocks noChangeAspect="1"/>
          </p:cNvPicPr>
          <p:nvPr/>
        </p:nvPicPr>
        <p:blipFill>
          <a:blip r:embed="rId3"/>
          <a:stretch>
            <a:fillRect/>
          </a:stretch>
        </p:blipFill>
        <p:spPr>
          <a:xfrm>
            <a:off x="2267712" y="1874520"/>
            <a:ext cx="457200" cy="457200"/>
          </a:xfrm>
          <a:prstGeom prst="rect">
            <a:avLst/>
          </a:prstGeom>
        </p:spPr>
      </p:pic>
      <p:sp>
        <p:nvSpPr>
          <p:cNvPr id="14" name="Shape 9"/>
          <p:cNvSpPr/>
          <p:nvPr/>
        </p:nvSpPr>
        <p:spPr>
          <a:xfrm>
            <a:off x="3255264" y="1463040"/>
            <a:ext cx="1188720" cy="4206240"/>
          </a:xfrm>
          <a:prstGeom prst="rect">
            <a:avLst/>
          </a:prstGeom>
          <a:solidFill>
            <a:srgbClr val="002B7F"/>
          </a:solidFill>
          <a:ln w="12700">
            <a:solidFill>
              <a:srgbClr val="002B7F"/>
            </a:solidFill>
            <a:prstDash val="solid"/>
          </a:ln>
          <a:effectLst>
            <a:outerShdw sx="100000" sy="100000" kx="0" ky="0" algn="bl" rotWithShape="0" blurRad="101600" dist="25400" dir="5400000">
              <a:srgbClr val="000000">
                <a:alpha val="8000"/>
              </a:srgbClr>
            </a:outerShdw>
          </a:effectLst>
        </p:spPr>
      </p:sp>
      <p:sp>
        <p:nvSpPr>
          <p:cNvPr id="15" name="Shape 10"/>
          <p:cNvSpPr/>
          <p:nvPr/>
        </p:nvSpPr>
        <p:spPr>
          <a:xfrm>
            <a:off x="3255264" y="1463040"/>
            <a:ext cx="1188720" cy="109728"/>
          </a:xfrm>
          <a:prstGeom prst="rect">
            <a:avLst/>
          </a:prstGeom>
          <a:solidFill>
            <a:srgbClr val="FEDF01"/>
          </a:solidFill>
          <a:ln w="12700">
            <a:solidFill>
              <a:srgbClr val="FEDF01"/>
            </a:solidFill>
            <a:prstDash val="solid"/>
          </a:ln>
        </p:spPr>
      </p:sp>
      <p:pic>
        <p:nvPicPr>
          <p:cNvPr id="16" name="Image 3" descr="preencoded.png">    </p:cNvPr>
          <p:cNvPicPr>
            <a:picLocks noChangeAspect="1"/>
          </p:cNvPicPr>
          <p:nvPr/>
        </p:nvPicPr>
        <p:blipFill>
          <a:blip r:embed="rId4"/>
          <a:stretch>
            <a:fillRect/>
          </a:stretch>
        </p:blipFill>
        <p:spPr>
          <a:xfrm>
            <a:off x="3621024" y="1874520"/>
            <a:ext cx="457200" cy="457200"/>
          </a:xfrm>
          <a:prstGeom prst="rect">
            <a:avLst/>
          </a:prstGeom>
        </p:spPr>
      </p:pic>
      <p:sp>
        <p:nvSpPr>
          <p:cNvPr id="17" name="Shape 11"/>
          <p:cNvSpPr/>
          <p:nvPr/>
        </p:nvSpPr>
        <p:spPr>
          <a:xfrm>
            <a:off x="4608576" y="1463040"/>
            <a:ext cx="1188720" cy="4206240"/>
          </a:xfrm>
          <a:prstGeom prst="rect">
            <a:avLst/>
          </a:prstGeom>
          <a:solidFill>
            <a:srgbClr val="002B7F"/>
          </a:solidFill>
          <a:ln w="12700">
            <a:solidFill>
              <a:srgbClr val="002B7F"/>
            </a:solidFill>
            <a:prstDash val="solid"/>
          </a:ln>
          <a:effectLst>
            <a:outerShdw sx="100000" sy="100000" kx="0" ky="0" algn="bl" rotWithShape="0" blurRad="101600" dist="25400" dir="5400000">
              <a:srgbClr val="000000">
                <a:alpha val="8000"/>
              </a:srgbClr>
            </a:outerShdw>
          </a:effectLst>
        </p:spPr>
      </p:sp>
      <p:sp>
        <p:nvSpPr>
          <p:cNvPr id="18" name="Shape 12"/>
          <p:cNvSpPr/>
          <p:nvPr/>
        </p:nvSpPr>
        <p:spPr>
          <a:xfrm>
            <a:off x="4608576" y="1463040"/>
            <a:ext cx="1188720" cy="109728"/>
          </a:xfrm>
          <a:prstGeom prst="rect">
            <a:avLst/>
          </a:prstGeom>
          <a:solidFill>
            <a:srgbClr val="FEDF01"/>
          </a:solidFill>
          <a:ln w="12700">
            <a:solidFill>
              <a:srgbClr val="FEDF01"/>
            </a:solidFill>
            <a:prstDash val="solid"/>
          </a:ln>
        </p:spPr>
      </p:sp>
      <p:pic>
        <p:nvPicPr>
          <p:cNvPr id="19" name="Image 4" descr="preencoded.png">    </p:cNvPr>
          <p:cNvPicPr>
            <a:picLocks noChangeAspect="1"/>
          </p:cNvPicPr>
          <p:nvPr/>
        </p:nvPicPr>
        <p:blipFill>
          <a:blip r:embed="rId5"/>
          <a:stretch>
            <a:fillRect/>
          </a:stretch>
        </p:blipFill>
        <p:spPr>
          <a:xfrm>
            <a:off x="4974336" y="1874520"/>
            <a:ext cx="457200" cy="457200"/>
          </a:xfrm>
          <a:prstGeom prst="rect">
            <a:avLst/>
          </a:prstGeom>
        </p:spPr>
      </p:pic>
      <p:pic>
        <p:nvPicPr>
          <p:cNvPr id="20" name="Image 5" descr="preencoded.png">    </p:cNvPr>
          <p:cNvPicPr>
            <a:picLocks noChangeAspect="1"/>
          </p:cNvPicPr>
          <p:nvPr/>
        </p:nvPicPr>
        <p:blipFill>
          <a:blip r:embed="rId6"/>
          <a:stretch>
            <a:fillRect/>
          </a:stretch>
        </p:blipFill>
        <p:spPr>
          <a:xfrm>
            <a:off x="914400" y="1874520"/>
            <a:ext cx="457200" cy="457200"/>
          </a:xfrm>
          <a:prstGeom prst="rect">
            <a:avLst/>
          </a:prstGeom>
        </p:spPr>
      </p:pic>
      <p:sp>
        <p:nvSpPr>
          <p:cNvPr id="21" name="Text 13"/>
          <p:cNvSpPr/>
          <p:nvPr/>
        </p:nvSpPr>
        <p:spPr>
          <a:xfrm>
            <a:off x="594360" y="242316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2" name="Shape 14"/>
          <p:cNvSpPr/>
          <p:nvPr/>
        </p:nvSpPr>
        <p:spPr>
          <a:xfrm>
            <a:off x="685800" y="3017520"/>
            <a:ext cx="914400" cy="0"/>
          </a:xfrm>
          <a:prstGeom prst="line">
            <a:avLst/>
          </a:prstGeom>
          <a:noFill/>
          <a:ln w="9525">
            <a:solidFill>
              <a:srgbClr val="335FB8"/>
            </a:solidFill>
            <a:prstDash val="dash"/>
          </a:ln>
        </p:spPr>
      </p:sp>
      <p:sp>
        <p:nvSpPr>
          <p:cNvPr id="23" name="Shape 15"/>
          <p:cNvSpPr/>
          <p:nvPr/>
        </p:nvSpPr>
        <p:spPr>
          <a:xfrm>
            <a:off x="685800" y="3520440"/>
            <a:ext cx="914400" cy="0"/>
          </a:xfrm>
          <a:prstGeom prst="line">
            <a:avLst/>
          </a:prstGeom>
          <a:noFill/>
          <a:ln w="9525">
            <a:solidFill>
              <a:srgbClr val="335FB8"/>
            </a:solidFill>
            <a:prstDash val="dash"/>
          </a:ln>
        </p:spPr>
      </p:sp>
      <p:sp>
        <p:nvSpPr>
          <p:cNvPr id="24" name="Shape 16"/>
          <p:cNvSpPr/>
          <p:nvPr/>
        </p:nvSpPr>
        <p:spPr>
          <a:xfrm>
            <a:off x="685800" y="4023360"/>
            <a:ext cx="914400" cy="0"/>
          </a:xfrm>
          <a:prstGeom prst="line">
            <a:avLst/>
          </a:prstGeom>
          <a:noFill/>
          <a:ln w="9525">
            <a:solidFill>
              <a:srgbClr val="335FB8"/>
            </a:solidFill>
            <a:prstDash val="dash"/>
          </a:ln>
        </p:spPr>
      </p:sp>
      <p:sp>
        <p:nvSpPr>
          <p:cNvPr id="25" name="Shape 17"/>
          <p:cNvSpPr/>
          <p:nvPr/>
        </p:nvSpPr>
        <p:spPr>
          <a:xfrm>
            <a:off x="685800" y="4526280"/>
            <a:ext cx="914400" cy="0"/>
          </a:xfrm>
          <a:prstGeom prst="line">
            <a:avLst/>
          </a:prstGeom>
          <a:noFill/>
          <a:ln w="9525">
            <a:solidFill>
              <a:srgbClr val="335FB8"/>
            </a:solidFill>
            <a:prstDash val="dash"/>
          </a:ln>
        </p:spPr>
      </p:sp>
      <p:sp>
        <p:nvSpPr>
          <p:cNvPr id="26" name="Shape 18"/>
          <p:cNvSpPr/>
          <p:nvPr/>
        </p:nvSpPr>
        <p:spPr>
          <a:xfrm>
            <a:off x="685800" y="5029200"/>
            <a:ext cx="914400" cy="0"/>
          </a:xfrm>
          <a:prstGeom prst="line">
            <a:avLst/>
          </a:prstGeom>
          <a:noFill/>
          <a:ln w="9525">
            <a:solidFill>
              <a:srgbClr val="335FB8"/>
            </a:solidFill>
            <a:prstDash val="dash"/>
          </a:ln>
        </p:spPr>
      </p:sp>
      <p:pic>
        <p:nvPicPr>
          <p:cNvPr id="27" name="Image 6" descr="preencoded.png">    </p:cNvPr>
          <p:cNvPicPr>
            <a:picLocks noChangeAspect="1"/>
          </p:cNvPicPr>
          <p:nvPr/>
        </p:nvPicPr>
        <p:blipFill>
          <a:blip r:embed="rId7"/>
          <a:stretch>
            <a:fillRect/>
          </a:stretch>
        </p:blipFill>
        <p:spPr>
          <a:xfrm>
            <a:off x="2267712" y="1874520"/>
            <a:ext cx="457200" cy="457200"/>
          </a:xfrm>
          <a:prstGeom prst="rect">
            <a:avLst/>
          </a:prstGeom>
        </p:spPr>
      </p:pic>
      <p:sp>
        <p:nvSpPr>
          <p:cNvPr id="28" name="Text 19"/>
          <p:cNvSpPr/>
          <p:nvPr/>
        </p:nvSpPr>
        <p:spPr>
          <a:xfrm>
            <a:off x="1947672" y="242316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29" name="Shape 20"/>
          <p:cNvSpPr/>
          <p:nvPr/>
        </p:nvSpPr>
        <p:spPr>
          <a:xfrm>
            <a:off x="2039112" y="3017520"/>
            <a:ext cx="914400" cy="0"/>
          </a:xfrm>
          <a:prstGeom prst="line">
            <a:avLst/>
          </a:prstGeom>
          <a:noFill/>
          <a:ln w="9525">
            <a:solidFill>
              <a:srgbClr val="335FB8"/>
            </a:solidFill>
            <a:prstDash val="dash"/>
          </a:ln>
        </p:spPr>
      </p:sp>
      <p:sp>
        <p:nvSpPr>
          <p:cNvPr id="30" name="Shape 21"/>
          <p:cNvSpPr/>
          <p:nvPr/>
        </p:nvSpPr>
        <p:spPr>
          <a:xfrm>
            <a:off x="2039112" y="3520440"/>
            <a:ext cx="914400" cy="0"/>
          </a:xfrm>
          <a:prstGeom prst="line">
            <a:avLst/>
          </a:prstGeom>
          <a:noFill/>
          <a:ln w="9525">
            <a:solidFill>
              <a:srgbClr val="335FB8"/>
            </a:solidFill>
            <a:prstDash val="dash"/>
          </a:ln>
        </p:spPr>
      </p:sp>
      <p:sp>
        <p:nvSpPr>
          <p:cNvPr id="31" name="Shape 22"/>
          <p:cNvSpPr/>
          <p:nvPr/>
        </p:nvSpPr>
        <p:spPr>
          <a:xfrm>
            <a:off x="2039112" y="4023360"/>
            <a:ext cx="914400" cy="0"/>
          </a:xfrm>
          <a:prstGeom prst="line">
            <a:avLst/>
          </a:prstGeom>
          <a:noFill/>
          <a:ln w="9525">
            <a:solidFill>
              <a:srgbClr val="335FB8"/>
            </a:solidFill>
            <a:prstDash val="dash"/>
          </a:ln>
        </p:spPr>
      </p:sp>
      <p:sp>
        <p:nvSpPr>
          <p:cNvPr id="32" name="Shape 23"/>
          <p:cNvSpPr/>
          <p:nvPr/>
        </p:nvSpPr>
        <p:spPr>
          <a:xfrm>
            <a:off x="2039112" y="4526280"/>
            <a:ext cx="914400" cy="0"/>
          </a:xfrm>
          <a:prstGeom prst="line">
            <a:avLst/>
          </a:prstGeom>
          <a:noFill/>
          <a:ln w="9525">
            <a:solidFill>
              <a:srgbClr val="335FB8"/>
            </a:solidFill>
            <a:prstDash val="dash"/>
          </a:ln>
        </p:spPr>
      </p:sp>
      <p:sp>
        <p:nvSpPr>
          <p:cNvPr id="33" name="Shape 24"/>
          <p:cNvSpPr/>
          <p:nvPr/>
        </p:nvSpPr>
        <p:spPr>
          <a:xfrm>
            <a:off x="2039112" y="5029200"/>
            <a:ext cx="914400" cy="0"/>
          </a:xfrm>
          <a:prstGeom prst="line">
            <a:avLst/>
          </a:prstGeom>
          <a:noFill/>
          <a:ln w="9525">
            <a:solidFill>
              <a:srgbClr val="335FB8"/>
            </a:solidFill>
            <a:prstDash val="dash"/>
          </a:ln>
        </p:spPr>
      </p:sp>
      <p:pic>
        <p:nvPicPr>
          <p:cNvPr id="34" name="Image 7" descr="preencoded.png">    </p:cNvPr>
          <p:cNvPicPr>
            <a:picLocks noChangeAspect="1"/>
          </p:cNvPicPr>
          <p:nvPr/>
        </p:nvPicPr>
        <p:blipFill>
          <a:blip r:embed="rId8"/>
          <a:stretch>
            <a:fillRect/>
          </a:stretch>
        </p:blipFill>
        <p:spPr>
          <a:xfrm>
            <a:off x="3621024" y="1874520"/>
            <a:ext cx="457200" cy="457200"/>
          </a:xfrm>
          <a:prstGeom prst="rect">
            <a:avLst/>
          </a:prstGeom>
        </p:spPr>
      </p:pic>
      <p:sp>
        <p:nvSpPr>
          <p:cNvPr id="35" name="Text 25"/>
          <p:cNvSpPr/>
          <p:nvPr/>
        </p:nvSpPr>
        <p:spPr>
          <a:xfrm>
            <a:off x="3300984" y="242316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Operations</a:t>
            </a:r>
            <a:endParaRPr lang="en-US" sz="1300" dirty="0"/>
          </a:p>
        </p:txBody>
      </p:sp>
      <p:sp>
        <p:nvSpPr>
          <p:cNvPr id="36" name="Shape 26"/>
          <p:cNvSpPr/>
          <p:nvPr/>
        </p:nvSpPr>
        <p:spPr>
          <a:xfrm>
            <a:off x="3392424" y="3017520"/>
            <a:ext cx="914400" cy="0"/>
          </a:xfrm>
          <a:prstGeom prst="line">
            <a:avLst/>
          </a:prstGeom>
          <a:noFill/>
          <a:ln w="9525">
            <a:solidFill>
              <a:srgbClr val="335FB8"/>
            </a:solidFill>
            <a:prstDash val="dash"/>
          </a:ln>
        </p:spPr>
      </p:sp>
      <p:sp>
        <p:nvSpPr>
          <p:cNvPr id="37" name="Shape 27"/>
          <p:cNvSpPr/>
          <p:nvPr/>
        </p:nvSpPr>
        <p:spPr>
          <a:xfrm>
            <a:off x="3392424" y="3520440"/>
            <a:ext cx="914400" cy="0"/>
          </a:xfrm>
          <a:prstGeom prst="line">
            <a:avLst/>
          </a:prstGeom>
          <a:noFill/>
          <a:ln w="9525">
            <a:solidFill>
              <a:srgbClr val="335FB8"/>
            </a:solidFill>
            <a:prstDash val="dash"/>
          </a:ln>
        </p:spPr>
      </p:sp>
      <p:sp>
        <p:nvSpPr>
          <p:cNvPr id="38" name="Shape 28"/>
          <p:cNvSpPr/>
          <p:nvPr/>
        </p:nvSpPr>
        <p:spPr>
          <a:xfrm>
            <a:off x="3392424" y="4023360"/>
            <a:ext cx="914400" cy="0"/>
          </a:xfrm>
          <a:prstGeom prst="line">
            <a:avLst/>
          </a:prstGeom>
          <a:noFill/>
          <a:ln w="9525">
            <a:solidFill>
              <a:srgbClr val="335FB8"/>
            </a:solidFill>
            <a:prstDash val="dash"/>
          </a:ln>
        </p:spPr>
      </p:sp>
      <p:sp>
        <p:nvSpPr>
          <p:cNvPr id="39" name="Shape 29"/>
          <p:cNvSpPr/>
          <p:nvPr/>
        </p:nvSpPr>
        <p:spPr>
          <a:xfrm>
            <a:off x="3392424" y="4526280"/>
            <a:ext cx="914400" cy="0"/>
          </a:xfrm>
          <a:prstGeom prst="line">
            <a:avLst/>
          </a:prstGeom>
          <a:noFill/>
          <a:ln w="9525">
            <a:solidFill>
              <a:srgbClr val="335FB8"/>
            </a:solidFill>
            <a:prstDash val="dash"/>
          </a:ln>
        </p:spPr>
      </p:sp>
      <p:sp>
        <p:nvSpPr>
          <p:cNvPr id="40" name="Shape 30"/>
          <p:cNvSpPr/>
          <p:nvPr/>
        </p:nvSpPr>
        <p:spPr>
          <a:xfrm>
            <a:off x="3392424" y="5029200"/>
            <a:ext cx="914400" cy="0"/>
          </a:xfrm>
          <a:prstGeom prst="line">
            <a:avLst/>
          </a:prstGeom>
          <a:noFill/>
          <a:ln w="9525">
            <a:solidFill>
              <a:srgbClr val="335FB8"/>
            </a:solidFill>
            <a:prstDash val="dash"/>
          </a:ln>
        </p:spPr>
      </p:sp>
      <p:pic>
        <p:nvPicPr>
          <p:cNvPr id="41" name="Image 8" descr="preencoded.png">    </p:cNvPr>
          <p:cNvPicPr>
            <a:picLocks noChangeAspect="1"/>
          </p:cNvPicPr>
          <p:nvPr/>
        </p:nvPicPr>
        <p:blipFill>
          <a:blip r:embed="rId9"/>
          <a:stretch>
            <a:fillRect/>
          </a:stretch>
        </p:blipFill>
        <p:spPr>
          <a:xfrm>
            <a:off x="4974336" y="1874520"/>
            <a:ext cx="457200" cy="457200"/>
          </a:xfrm>
          <a:prstGeom prst="rect">
            <a:avLst/>
          </a:prstGeom>
        </p:spPr>
      </p:pic>
      <p:sp>
        <p:nvSpPr>
          <p:cNvPr id="42" name="Text 31"/>
          <p:cNvSpPr/>
          <p:nvPr/>
        </p:nvSpPr>
        <p:spPr>
          <a:xfrm>
            <a:off x="4654296" y="242316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 IM</a:t>
            </a:r>
            <a:endParaRPr lang="en-US" sz="1300" dirty="0"/>
          </a:p>
        </p:txBody>
      </p:sp>
      <p:sp>
        <p:nvSpPr>
          <p:cNvPr id="43" name="Shape 32"/>
          <p:cNvSpPr/>
          <p:nvPr/>
        </p:nvSpPr>
        <p:spPr>
          <a:xfrm>
            <a:off x="4745736" y="3017520"/>
            <a:ext cx="914400" cy="0"/>
          </a:xfrm>
          <a:prstGeom prst="line">
            <a:avLst/>
          </a:prstGeom>
          <a:noFill/>
          <a:ln w="9525">
            <a:solidFill>
              <a:srgbClr val="335FB8"/>
            </a:solidFill>
            <a:prstDash val="dash"/>
          </a:ln>
        </p:spPr>
      </p:sp>
      <p:sp>
        <p:nvSpPr>
          <p:cNvPr id="44" name="Shape 33"/>
          <p:cNvSpPr/>
          <p:nvPr/>
        </p:nvSpPr>
        <p:spPr>
          <a:xfrm>
            <a:off x="4745736" y="3520440"/>
            <a:ext cx="914400" cy="0"/>
          </a:xfrm>
          <a:prstGeom prst="line">
            <a:avLst/>
          </a:prstGeom>
          <a:noFill/>
          <a:ln w="9525">
            <a:solidFill>
              <a:srgbClr val="335FB8"/>
            </a:solidFill>
            <a:prstDash val="dash"/>
          </a:ln>
        </p:spPr>
      </p:sp>
      <p:sp>
        <p:nvSpPr>
          <p:cNvPr id="45" name="Shape 34"/>
          <p:cNvSpPr/>
          <p:nvPr/>
        </p:nvSpPr>
        <p:spPr>
          <a:xfrm>
            <a:off x="4745736" y="4023360"/>
            <a:ext cx="914400" cy="0"/>
          </a:xfrm>
          <a:prstGeom prst="line">
            <a:avLst/>
          </a:prstGeom>
          <a:noFill/>
          <a:ln w="9525">
            <a:solidFill>
              <a:srgbClr val="335FB8"/>
            </a:solidFill>
            <a:prstDash val="dash"/>
          </a:ln>
        </p:spPr>
      </p:sp>
      <p:sp>
        <p:nvSpPr>
          <p:cNvPr id="46" name="Shape 35"/>
          <p:cNvSpPr/>
          <p:nvPr/>
        </p:nvSpPr>
        <p:spPr>
          <a:xfrm>
            <a:off x="4745736" y="4526280"/>
            <a:ext cx="914400" cy="0"/>
          </a:xfrm>
          <a:prstGeom prst="line">
            <a:avLst/>
          </a:prstGeom>
          <a:noFill/>
          <a:ln w="9525">
            <a:solidFill>
              <a:srgbClr val="335FB8"/>
            </a:solidFill>
            <a:prstDash val="dash"/>
          </a:ln>
        </p:spPr>
      </p:sp>
      <p:sp>
        <p:nvSpPr>
          <p:cNvPr id="47" name="Shape 36"/>
          <p:cNvSpPr/>
          <p:nvPr/>
        </p:nvSpPr>
        <p:spPr>
          <a:xfrm>
            <a:off x="4745736" y="5029200"/>
            <a:ext cx="914400" cy="0"/>
          </a:xfrm>
          <a:prstGeom prst="line">
            <a:avLst/>
          </a:prstGeom>
          <a:noFill/>
          <a:ln w="9525">
            <a:solidFill>
              <a:srgbClr val="335FB8"/>
            </a:solidFill>
            <a:prstDash val="dash"/>
          </a:ln>
        </p:spPr>
      </p:sp>
      <p:sp>
        <p:nvSpPr>
          <p:cNvPr id="48" name="Text 37"/>
          <p:cNvSpPr/>
          <p:nvPr/>
        </p:nvSpPr>
        <p:spPr>
          <a:xfrm>
            <a:off x="548640" y="5806440"/>
            <a:ext cx="5248656" cy="36576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Four functional towers — dotted lines = ticket queues, RFC handoffs, knowledge silos</a:t>
            </a:r>
            <a:endParaRPr lang="en-US" sz="1000" dirty="0"/>
          </a:p>
        </p:txBody>
      </p:sp>
      <p:sp>
        <p:nvSpPr>
          <p:cNvPr id="49" name="Text 38"/>
          <p:cNvSpPr/>
          <p:nvPr/>
        </p:nvSpPr>
        <p:spPr>
          <a:xfrm>
            <a:off x="6035040" y="1371600"/>
            <a:ext cx="5760720" cy="365760"/>
          </a:xfrm>
          <a:prstGeom prst="rect">
            <a:avLst/>
          </a:prstGeom>
          <a:noFill/>
          <a:ln/>
        </p:spPr>
        <p:txBody>
          <a:bodyPr wrap="square" lIns="0" tIns="0" rIns="0" bIns="0" rtlCol="0" anchor="ctr"/>
          <a:lstStyle/>
          <a:p>
            <a:pPr indent="0" marL="0">
              <a:buNone/>
            </a:pPr>
            <a:r>
              <a:rPr lang="en-US" sz="1600" b="1" dirty="0">
                <a:solidFill>
                  <a:srgbClr val="003DA5"/>
                </a:solidFill>
                <a:latin typeface="Georgia" pitchFamily="34" charset="0"/>
                <a:ea typeface="Georgia" pitchFamily="34" charset="-122"/>
                <a:cs typeface="Georgia" pitchFamily="34" charset="-120"/>
              </a:rPr>
              <a:t>Where this model leaks time and capacity</a:t>
            </a:r>
            <a:endParaRPr lang="en-US" sz="1600" dirty="0"/>
          </a:p>
        </p:txBody>
      </p:sp>
      <p:sp>
        <p:nvSpPr>
          <p:cNvPr id="50" name="Shape 39"/>
          <p:cNvSpPr/>
          <p:nvPr/>
        </p:nvSpPr>
        <p:spPr>
          <a:xfrm>
            <a:off x="6035040" y="1892808"/>
            <a:ext cx="164592" cy="164592"/>
          </a:xfrm>
          <a:prstGeom prst="ellipse">
            <a:avLst/>
          </a:prstGeom>
          <a:solidFill>
            <a:srgbClr val="FEDF01"/>
          </a:solidFill>
          <a:ln w="12700">
            <a:solidFill>
              <a:srgbClr val="FEDF01"/>
            </a:solidFill>
            <a:prstDash val="solid"/>
          </a:ln>
        </p:spPr>
      </p:sp>
      <p:sp>
        <p:nvSpPr>
          <p:cNvPr id="51" name="Text 40"/>
          <p:cNvSpPr/>
          <p:nvPr/>
        </p:nvSpPr>
        <p:spPr>
          <a:xfrm>
            <a:off x="6309360" y="1828800"/>
            <a:ext cx="5486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Approval &amp; ticket queues</a:t>
            </a:r>
            <a:endParaRPr lang="en-US" sz="1300" dirty="0"/>
          </a:p>
        </p:txBody>
      </p:sp>
      <p:sp>
        <p:nvSpPr>
          <p:cNvPr id="52" name="Text 41"/>
          <p:cNvSpPr/>
          <p:nvPr/>
        </p:nvSpPr>
        <p:spPr>
          <a:xfrm>
            <a:off x="6309360" y="2121408"/>
            <a:ext cx="548640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4–6 handoffs between idea and production. "Ticket ops" is the canonical anti-pattern.</a:t>
            </a:r>
            <a:endParaRPr lang="en-US" sz="1100" dirty="0"/>
          </a:p>
        </p:txBody>
      </p:sp>
      <p:sp>
        <p:nvSpPr>
          <p:cNvPr id="53" name="Shape 42"/>
          <p:cNvSpPr/>
          <p:nvPr/>
        </p:nvSpPr>
        <p:spPr>
          <a:xfrm>
            <a:off x="6035040" y="2734056"/>
            <a:ext cx="164592" cy="164592"/>
          </a:xfrm>
          <a:prstGeom prst="ellipse">
            <a:avLst/>
          </a:prstGeom>
          <a:solidFill>
            <a:srgbClr val="FEDF01"/>
          </a:solidFill>
          <a:ln w="12700">
            <a:solidFill>
              <a:srgbClr val="FEDF01"/>
            </a:solidFill>
            <a:prstDash val="solid"/>
          </a:ln>
        </p:spPr>
      </p:sp>
      <p:sp>
        <p:nvSpPr>
          <p:cNvPr id="54" name="Text 43"/>
          <p:cNvSpPr/>
          <p:nvPr/>
        </p:nvSpPr>
        <p:spPr>
          <a:xfrm>
            <a:off x="6309360" y="2670048"/>
            <a:ext cx="5486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Conflicting priorities</a:t>
            </a:r>
            <a:endParaRPr lang="en-US" sz="1300" dirty="0"/>
          </a:p>
        </p:txBody>
      </p:sp>
      <p:sp>
        <p:nvSpPr>
          <p:cNvPr id="55" name="Text 44"/>
          <p:cNvSpPr/>
          <p:nvPr/>
        </p:nvSpPr>
        <p:spPr>
          <a:xfrm>
            <a:off x="6309360" y="2962656"/>
            <a:ext cx="548640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Each tower optimizes its own KPI — uptime vs. velocity vs. compliance vs. cost — with no joint owner.</a:t>
            </a:r>
            <a:endParaRPr lang="en-US" sz="1100" dirty="0"/>
          </a:p>
        </p:txBody>
      </p:sp>
      <p:sp>
        <p:nvSpPr>
          <p:cNvPr id="56" name="Shape 45"/>
          <p:cNvSpPr/>
          <p:nvPr/>
        </p:nvSpPr>
        <p:spPr>
          <a:xfrm>
            <a:off x="6035040" y="3575304"/>
            <a:ext cx="164592" cy="164592"/>
          </a:xfrm>
          <a:prstGeom prst="ellipse">
            <a:avLst/>
          </a:prstGeom>
          <a:solidFill>
            <a:srgbClr val="FEDF01"/>
          </a:solidFill>
          <a:ln w="12700">
            <a:solidFill>
              <a:srgbClr val="FEDF01"/>
            </a:solidFill>
            <a:prstDash val="solid"/>
          </a:ln>
        </p:spPr>
      </p:sp>
      <p:sp>
        <p:nvSpPr>
          <p:cNvPr id="57" name="Text 46"/>
          <p:cNvSpPr/>
          <p:nvPr/>
        </p:nvSpPr>
        <p:spPr>
          <a:xfrm>
            <a:off x="6309360" y="3511296"/>
            <a:ext cx="5486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Wait time dominates</a:t>
            </a:r>
            <a:endParaRPr lang="en-US" sz="1300" dirty="0"/>
          </a:p>
        </p:txBody>
      </p:sp>
      <p:sp>
        <p:nvSpPr>
          <p:cNvPr id="58" name="Text 47"/>
          <p:cNvSpPr/>
          <p:nvPr/>
        </p:nvSpPr>
        <p:spPr>
          <a:xfrm>
            <a:off x="6309360" y="3803904"/>
            <a:ext cx="548640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Value-stream maps in regulated IaC environments routinely show 70%+ of lead time is queueing, not work.</a:t>
            </a:r>
            <a:endParaRPr lang="en-US" sz="1100" dirty="0"/>
          </a:p>
        </p:txBody>
      </p:sp>
      <p:sp>
        <p:nvSpPr>
          <p:cNvPr id="59" name="Shape 48"/>
          <p:cNvSpPr/>
          <p:nvPr/>
        </p:nvSpPr>
        <p:spPr>
          <a:xfrm>
            <a:off x="6035040" y="4416552"/>
            <a:ext cx="164592" cy="164592"/>
          </a:xfrm>
          <a:prstGeom prst="ellipse">
            <a:avLst/>
          </a:prstGeom>
          <a:solidFill>
            <a:srgbClr val="FEDF01"/>
          </a:solidFill>
          <a:ln w="12700">
            <a:solidFill>
              <a:srgbClr val="FEDF01"/>
            </a:solidFill>
            <a:prstDash val="solid"/>
          </a:ln>
        </p:spPr>
      </p:sp>
      <p:sp>
        <p:nvSpPr>
          <p:cNvPr id="60" name="Text 49"/>
          <p:cNvSpPr/>
          <p:nvPr/>
        </p:nvSpPr>
        <p:spPr>
          <a:xfrm>
            <a:off x="6309360" y="4352544"/>
            <a:ext cx="5486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Knowledge silos</a:t>
            </a:r>
            <a:endParaRPr lang="en-US" sz="1300" dirty="0"/>
          </a:p>
        </p:txBody>
      </p:sp>
      <p:sp>
        <p:nvSpPr>
          <p:cNvPr id="61" name="Text 50"/>
          <p:cNvSpPr/>
          <p:nvPr/>
        </p:nvSpPr>
        <p:spPr>
          <a:xfrm>
            <a:off x="6309360" y="4645152"/>
            <a:ext cx="548640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Operators learn things developers never see; architects design without operational feedback.</a:t>
            </a:r>
            <a:endParaRPr lang="en-US" sz="1100" dirty="0"/>
          </a:p>
        </p:txBody>
      </p:sp>
      <p:sp>
        <p:nvSpPr>
          <p:cNvPr id="62" name="Shape 51"/>
          <p:cNvSpPr/>
          <p:nvPr/>
        </p:nvSpPr>
        <p:spPr>
          <a:xfrm>
            <a:off x="6035040" y="5257800"/>
            <a:ext cx="164592" cy="164592"/>
          </a:xfrm>
          <a:prstGeom prst="ellipse">
            <a:avLst/>
          </a:prstGeom>
          <a:solidFill>
            <a:srgbClr val="FEDF01"/>
          </a:solidFill>
          <a:ln w="12700">
            <a:solidFill>
              <a:srgbClr val="FEDF01"/>
            </a:solidFill>
            <a:prstDash val="solid"/>
          </a:ln>
        </p:spPr>
      </p:sp>
      <p:sp>
        <p:nvSpPr>
          <p:cNvPr id="63" name="Text 52"/>
          <p:cNvSpPr/>
          <p:nvPr/>
        </p:nvSpPr>
        <p:spPr>
          <a:xfrm>
            <a:off x="6309360" y="5193792"/>
            <a:ext cx="5486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Reverse Conway</a:t>
            </a:r>
            <a:endParaRPr lang="en-US" sz="1300" dirty="0"/>
          </a:p>
        </p:txBody>
      </p:sp>
      <p:sp>
        <p:nvSpPr>
          <p:cNvPr id="64" name="Text 53"/>
          <p:cNvSpPr/>
          <p:nvPr/>
        </p:nvSpPr>
        <p:spPr>
          <a:xfrm>
            <a:off x="6309360" y="5486400"/>
            <a:ext cx="548640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Four towers produce a four-layer monolith with brittle interfaces — code, runbooks, ML models drift apart.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THE SHIFT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Vertical vs. Horizontal — At a Glance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017520" cy="457200"/>
          </a:xfrm>
          <a:prstGeom prst="rect">
            <a:avLst/>
          </a:prstGeom>
          <a:solidFill>
            <a:srgbClr val="1E293B"/>
          </a:solidFill>
          <a:ln w="12700">
            <a:solidFill>
              <a:srgbClr val="1E293B"/>
            </a:solidFill>
            <a:prstDash val="solid"/>
          </a:ln>
        </p:spPr>
      </p:sp>
      <p:sp>
        <p:nvSpPr>
          <p:cNvPr id="8" name="Text 5"/>
          <p:cNvSpPr/>
          <p:nvPr/>
        </p:nvSpPr>
        <p:spPr>
          <a:xfrm>
            <a:off x="621792" y="1417320"/>
            <a:ext cx="2688336"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DIMENSION</a:t>
            </a:r>
            <a:endParaRPr lang="en-US" sz="1200" dirty="0"/>
          </a:p>
        </p:txBody>
      </p:sp>
      <p:sp>
        <p:nvSpPr>
          <p:cNvPr id="9" name="Shape 6"/>
          <p:cNvSpPr/>
          <p:nvPr/>
        </p:nvSpPr>
        <p:spPr>
          <a:xfrm>
            <a:off x="3474720" y="1417320"/>
            <a:ext cx="4297680" cy="457200"/>
          </a:xfrm>
          <a:prstGeom prst="rect">
            <a:avLst/>
          </a:prstGeom>
          <a:solidFill>
            <a:srgbClr val="64748B"/>
          </a:solidFill>
          <a:ln w="12700">
            <a:solidFill>
              <a:srgbClr val="64748B"/>
            </a:solidFill>
            <a:prstDash val="solid"/>
          </a:ln>
        </p:spPr>
      </p:sp>
      <p:sp>
        <p:nvSpPr>
          <p:cNvPr id="10" name="Text 7"/>
          <p:cNvSpPr/>
          <p:nvPr/>
        </p:nvSpPr>
        <p:spPr>
          <a:xfrm>
            <a:off x="3639312" y="1417320"/>
            <a:ext cx="3968496"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TODAY  ·  VERTICAL</a:t>
            </a:r>
            <a:endParaRPr lang="en-US" sz="1200" dirty="0"/>
          </a:p>
        </p:txBody>
      </p:sp>
      <p:sp>
        <p:nvSpPr>
          <p:cNvPr id="11" name="Shape 8"/>
          <p:cNvSpPr/>
          <p:nvPr/>
        </p:nvSpPr>
        <p:spPr>
          <a:xfrm>
            <a:off x="7772400" y="1417320"/>
            <a:ext cx="4416552" cy="457200"/>
          </a:xfrm>
          <a:prstGeom prst="rect">
            <a:avLst/>
          </a:prstGeom>
          <a:solidFill>
            <a:srgbClr val="003DA5"/>
          </a:solidFill>
          <a:ln w="12700">
            <a:solidFill>
              <a:srgbClr val="003DA5"/>
            </a:solidFill>
            <a:prstDash val="solid"/>
          </a:ln>
        </p:spPr>
      </p:sp>
      <p:sp>
        <p:nvSpPr>
          <p:cNvPr id="12" name="Text 9"/>
          <p:cNvSpPr/>
          <p:nvPr/>
        </p:nvSpPr>
        <p:spPr>
          <a:xfrm>
            <a:off x="7936992" y="1417320"/>
            <a:ext cx="4087368"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TARGET  ·  HORIZONTAL</a:t>
            </a:r>
            <a:endParaRPr lang="en-US" sz="1200" dirty="0"/>
          </a:p>
        </p:txBody>
      </p:sp>
      <p:sp>
        <p:nvSpPr>
          <p:cNvPr id="13" name="Shape 10"/>
          <p:cNvSpPr/>
          <p:nvPr/>
        </p:nvSpPr>
        <p:spPr>
          <a:xfrm>
            <a:off x="7772400" y="1417320"/>
            <a:ext cx="4416552" cy="54864"/>
          </a:xfrm>
          <a:prstGeom prst="rect">
            <a:avLst/>
          </a:prstGeom>
          <a:solidFill>
            <a:srgbClr val="FEDF01"/>
          </a:solidFill>
          <a:ln w="12700">
            <a:solidFill>
              <a:srgbClr val="FEDF01"/>
            </a:solidFill>
            <a:prstDash val="solid"/>
          </a:ln>
        </p:spPr>
      </p:sp>
      <p:sp>
        <p:nvSpPr>
          <p:cNvPr id="14" name="Shape 11"/>
          <p:cNvSpPr/>
          <p:nvPr/>
        </p:nvSpPr>
        <p:spPr>
          <a:xfrm>
            <a:off x="457200" y="1874520"/>
            <a:ext cx="11731752" cy="457200"/>
          </a:xfrm>
          <a:prstGeom prst="rect">
            <a:avLst/>
          </a:prstGeom>
          <a:solidFill>
            <a:srgbClr val="F4F6F9"/>
          </a:solidFill>
          <a:ln w="6350">
            <a:solidFill>
              <a:srgbClr val="E2E8F0"/>
            </a:solidFill>
            <a:prstDash val="solid"/>
          </a:ln>
        </p:spPr>
      </p:sp>
      <p:sp>
        <p:nvSpPr>
          <p:cNvPr id="15" name="Text 12"/>
          <p:cNvSpPr/>
          <p:nvPr/>
        </p:nvSpPr>
        <p:spPr>
          <a:xfrm>
            <a:off x="621792" y="18745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Primary unit</a:t>
            </a:r>
            <a:endParaRPr lang="en-US" sz="1150" dirty="0"/>
          </a:p>
        </p:txBody>
      </p:sp>
      <p:sp>
        <p:nvSpPr>
          <p:cNvPr id="16" name="Text 13"/>
          <p:cNvSpPr/>
          <p:nvPr/>
        </p:nvSpPr>
        <p:spPr>
          <a:xfrm>
            <a:off x="3639312" y="18745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Function (Arch / Eng / Ops / AI)</a:t>
            </a:r>
            <a:endParaRPr lang="en-US" sz="1150" dirty="0"/>
          </a:p>
        </p:txBody>
      </p:sp>
      <p:sp>
        <p:nvSpPr>
          <p:cNvPr id="17" name="Text 14"/>
          <p:cNvSpPr/>
          <p:nvPr/>
        </p:nvSpPr>
        <p:spPr>
          <a:xfrm>
            <a:off x="7936992" y="18745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Persistent team owning a platform end-to-end</a:t>
            </a:r>
            <a:endParaRPr lang="en-US" sz="1150" dirty="0"/>
          </a:p>
        </p:txBody>
      </p:sp>
      <p:sp>
        <p:nvSpPr>
          <p:cNvPr id="18" name="Shape 15"/>
          <p:cNvSpPr/>
          <p:nvPr/>
        </p:nvSpPr>
        <p:spPr>
          <a:xfrm>
            <a:off x="457200" y="2331720"/>
            <a:ext cx="11731752" cy="457200"/>
          </a:xfrm>
          <a:prstGeom prst="rect">
            <a:avLst/>
          </a:prstGeom>
          <a:solidFill>
            <a:srgbClr val="FFFFFF"/>
          </a:solidFill>
          <a:ln w="6350">
            <a:solidFill>
              <a:srgbClr val="E2E8F0"/>
            </a:solidFill>
            <a:prstDash val="solid"/>
          </a:ln>
        </p:spPr>
      </p:sp>
      <p:sp>
        <p:nvSpPr>
          <p:cNvPr id="19" name="Text 16"/>
          <p:cNvSpPr/>
          <p:nvPr/>
        </p:nvSpPr>
        <p:spPr>
          <a:xfrm>
            <a:off x="621792" y="23317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Architecture</a:t>
            </a:r>
            <a:endParaRPr lang="en-US" sz="1150" dirty="0"/>
          </a:p>
        </p:txBody>
      </p:sp>
      <p:sp>
        <p:nvSpPr>
          <p:cNvPr id="20" name="Text 17"/>
          <p:cNvSpPr/>
          <p:nvPr/>
        </p:nvSpPr>
        <p:spPr>
          <a:xfrm>
            <a:off x="3639312" y="23317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Standalone group, design approval queue</a:t>
            </a:r>
            <a:endParaRPr lang="en-US" sz="1150" dirty="0"/>
          </a:p>
        </p:txBody>
      </p:sp>
      <p:sp>
        <p:nvSpPr>
          <p:cNvPr id="21" name="Text 18"/>
          <p:cNvSpPr/>
          <p:nvPr/>
        </p:nvSpPr>
        <p:spPr>
          <a:xfrm>
            <a:off x="7936992" y="23317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Embedded principals + part-time Architecture Guild</a:t>
            </a:r>
            <a:endParaRPr lang="en-US" sz="1150" dirty="0"/>
          </a:p>
        </p:txBody>
      </p:sp>
      <p:sp>
        <p:nvSpPr>
          <p:cNvPr id="22" name="Shape 19"/>
          <p:cNvSpPr/>
          <p:nvPr/>
        </p:nvSpPr>
        <p:spPr>
          <a:xfrm>
            <a:off x="457200" y="2788920"/>
            <a:ext cx="11731752" cy="457200"/>
          </a:xfrm>
          <a:prstGeom prst="rect">
            <a:avLst/>
          </a:prstGeom>
          <a:solidFill>
            <a:srgbClr val="F4F6F9"/>
          </a:solidFill>
          <a:ln w="6350">
            <a:solidFill>
              <a:srgbClr val="E2E8F0"/>
            </a:solidFill>
            <a:prstDash val="solid"/>
          </a:ln>
        </p:spPr>
      </p:sp>
      <p:sp>
        <p:nvSpPr>
          <p:cNvPr id="23" name="Text 20"/>
          <p:cNvSpPr/>
          <p:nvPr/>
        </p:nvSpPr>
        <p:spPr>
          <a:xfrm>
            <a:off x="621792" y="27889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Operations</a:t>
            </a:r>
            <a:endParaRPr lang="en-US" sz="1150" dirty="0"/>
          </a:p>
        </p:txBody>
      </p:sp>
      <p:sp>
        <p:nvSpPr>
          <p:cNvPr id="24" name="Text 21"/>
          <p:cNvSpPr/>
          <p:nvPr/>
        </p:nvSpPr>
        <p:spPr>
          <a:xfrm>
            <a:off x="3639312" y="27889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Separate run team taking handoffs</a:t>
            </a:r>
            <a:endParaRPr lang="en-US" sz="1150" dirty="0"/>
          </a:p>
        </p:txBody>
      </p:sp>
      <p:sp>
        <p:nvSpPr>
          <p:cNvPr id="25" name="Text 22"/>
          <p:cNvSpPr/>
          <p:nvPr/>
        </p:nvSpPr>
        <p:spPr>
          <a:xfrm>
            <a:off x="7936992" y="27889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Embedded SRE pods · "You build it, you run it"</a:t>
            </a:r>
            <a:endParaRPr lang="en-US" sz="1150" dirty="0"/>
          </a:p>
        </p:txBody>
      </p:sp>
      <p:sp>
        <p:nvSpPr>
          <p:cNvPr id="26" name="Shape 23"/>
          <p:cNvSpPr/>
          <p:nvPr/>
        </p:nvSpPr>
        <p:spPr>
          <a:xfrm>
            <a:off x="457200" y="3246120"/>
            <a:ext cx="11731752" cy="457200"/>
          </a:xfrm>
          <a:prstGeom prst="rect">
            <a:avLst/>
          </a:prstGeom>
          <a:solidFill>
            <a:srgbClr val="FFFFFF"/>
          </a:solidFill>
          <a:ln w="6350">
            <a:solidFill>
              <a:srgbClr val="E2E8F0"/>
            </a:solidFill>
            <a:prstDash val="solid"/>
          </a:ln>
        </p:spPr>
      </p:sp>
      <p:sp>
        <p:nvSpPr>
          <p:cNvPr id="27" name="Text 24"/>
          <p:cNvSpPr/>
          <p:nvPr/>
        </p:nvSpPr>
        <p:spPr>
          <a:xfrm>
            <a:off x="621792" y="32461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AI / Incident Mgmt</a:t>
            </a:r>
            <a:endParaRPr lang="en-US" sz="1150" dirty="0"/>
          </a:p>
        </p:txBody>
      </p:sp>
      <p:sp>
        <p:nvSpPr>
          <p:cNvPr id="28" name="Text 25"/>
          <p:cNvSpPr/>
          <p:nvPr/>
        </p:nvSpPr>
        <p:spPr>
          <a:xfrm>
            <a:off x="3639312" y="32461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Standalone vertical</a:t>
            </a:r>
            <a:endParaRPr lang="en-US" sz="1150" dirty="0"/>
          </a:p>
        </p:txBody>
      </p:sp>
      <p:sp>
        <p:nvSpPr>
          <p:cNvPr id="29" name="Text 26"/>
          <p:cNvSpPr/>
          <p:nvPr/>
        </p:nvSpPr>
        <p:spPr>
          <a:xfrm>
            <a:off x="7936992" y="32461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ML platform + embedded MLEs + AIOps as paved-road feature</a:t>
            </a:r>
            <a:endParaRPr lang="en-US" sz="1150" dirty="0"/>
          </a:p>
        </p:txBody>
      </p:sp>
      <p:sp>
        <p:nvSpPr>
          <p:cNvPr id="30" name="Shape 27"/>
          <p:cNvSpPr/>
          <p:nvPr/>
        </p:nvSpPr>
        <p:spPr>
          <a:xfrm>
            <a:off x="457200" y="3703320"/>
            <a:ext cx="11731752" cy="457200"/>
          </a:xfrm>
          <a:prstGeom prst="rect">
            <a:avLst/>
          </a:prstGeom>
          <a:solidFill>
            <a:srgbClr val="F4F6F9"/>
          </a:solidFill>
          <a:ln w="6350">
            <a:solidFill>
              <a:srgbClr val="E2E8F0"/>
            </a:solidFill>
            <a:prstDash val="solid"/>
          </a:ln>
        </p:spPr>
      </p:sp>
      <p:sp>
        <p:nvSpPr>
          <p:cNvPr id="31" name="Text 28"/>
          <p:cNvSpPr/>
          <p:nvPr/>
        </p:nvSpPr>
        <p:spPr>
          <a:xfrm>
            <a:off x="621792" y="37033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Funding model</a:t>
            </a:r>
            <a:endParaRPr lang="en-US" sz="1150" dirty="0"/>
          </a:p>
        </p:txBody>
      </p:sp>
      <p:sp>
        <p:nvSpPr>
          <p:cNvPr id="32" name="Text 29"/>
          <p:cNvSpPr/>
          <p:nvPr/>
        </p:nvSpPr>
        <p:spPr>
          <a:xfrm>
            <a:off x="3639312" y="37033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Project budgets, per function</a:t>
            </a:r>
            <a:endParaRPr lang="en-US" sz="1150" dirty="0"/>
          </a:p>
        </p:txBody>
      </p:sp>
      <p:sp>
        <p:nvSpPr>
          <p:cNvPr id="33" name="Text 30"/>
          <p:cNvSpPr/>
          <p:nvPr/>
        </p:nvSpPr>
        <p:spPr>
          <a:xfrm>
            <a:off x="7936992" y="37033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Persistent platform funding tied to OKRs</a:t>
            </a:r>
            <a:endParaRPr lang="en-US" sz="1150" dirty="0"/>
          </a:p>
        </p:txBody>
      </p:sp>
      <p:sp>
        <p:nvSpPr>
          <p:cNvPr id="34" name="Shape 31"/>
          <p:cNvSpPr/>
          <p:nvPr/>
        </p:nvSpPr>
        <p:spPr>
          <a:xfrm>
            <a:off x="457200" y="4160520"/>
            <a:ext cx="11731752" cy="457200"/>
          </a:xfrm>
          <a:prstGeom prst="rect">
            <a:avLst/>
          </a:prstGeom>
          <a:solidFill>
            <a:srgbClr val="FFFFFF"/>
          </a:solidFill>
          <a:ln w="6350">
            <a:solidFill>
              <a:srgbClr val="E2E8F0"/>
            </a:solidFill>
            <a:prstDash val="solid"/>
          </a:ln>
        </p:spPr>
      </p:sp>
      <p:sp>
        <p:nvSpPr>
          <p:cNvPr id="35" name="Text 32"/>
          <p:cNvSpPr/>
          <p:nvPr/>
        </p:nvSpPr>
        <p:spPr>
          <a:xfrm>
            <a:off x="621792" y="41605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Handoffs (idea → prod)</a:t>
            </a:r>
            <a:endParaRPr lang="en-US" sz="1150" dirty="0"/>
          </a:p>
        </p:txBody>
      </p:sp>
      <p:sp>
        <p:nvSpPr>
          <p:cNvPr id="36" name="Text 33"/>
          <p:cNvSpPr/>
          <p:nvPr/>
        </p:nvSpPr>
        <p:spPr>
          <a:xfrm>
            <a:off x="3639312" y="41605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4–6 queue stops</a:t>
            </a:r>
            <a:endParaRPr lang="en-US" sz="1150" dirty="0"/>
          </a:p>
        </p:txBody>
      </p:sp>
      <p:sp>
        <p:nvSpPr>
          <p:cNvPr id="37" name="Text 34"/>
          <p:cNvSpPr/>
          <p:nvPr/>
        </p:nvSpPr>
        <p:spPr>
          <a:xfrm>
            <a:off x="7936992" y="41605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0–1 (self-service via the platform)</a:t>
            </a:r>
            <a:endParaRPr lang="en-US" sz="1150" dirty="0"/>
          </a:p>
        </p:txBody>
      </p:sp>
      <p:sp>
        <p:nvSpPr>
          <p:cNvPr id="38" name="Shape 35"/>
          <p:cNvSpPr/>
          <p:nvPr/>
        </p:nvSpPr>
        <p:spPr>
          <a:xfrm>
            <a:off x="457200" y="4617720"/>
            <a:ext cx="11731752" cy="457200"/>
          </a:xfrm>
          <a:prstGeom prst="rect">
            <a:avLst/>
          </a:prstGeom>
          <a:solidFill>
            <a:srgbClr val="F4F6F9"/>
          </a:solidFill>
          <a:ln w="6350">
            <a:solidFill>
              <a:srgbClr val="E2E8F0"/>
            </a:solidFill>
            <a:prstDash val="solid"/>
          </a:ln>
        </p:spPr>
      </p:sp>
      <p:sp>
        <p:nvSpPr>
          <p:cNvPr id="39" name="Text 36"/>
          <p:cNvSpPr/>
          <p:nvPr/>
        </p:nvSpPr>
        <p:spPr>
          <a:xfrm>
            <a:off x="621792" y="46177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Lead time for infra</a:t>
            </a:r>
            <a:endParaRPr lang="en-US" sz="1150" dirty="0"/>
          </a:p>
        </p:txBody>
      </p:sp>
      <p:sp>
        <p:nvSpPr>
          <p:cNvPr id="40" name="Text 37"/>
          <p:cNvSpPr/>
          <p:nvPr/>
        </p:nvSpPr>
        <p:spPr>
          <a:xfrm>
            <a:off x="3639312" y="46177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Days to weeks (ticket ops)</a:t>
            </a:r>
            <a:endParaRPr lang="en-US" sz="1150" dirty="0"/>
          </a:p>
        </p:txBody>
      </p:sp>
      <p:sp>
        <p:nvSpPr>
          <p:cNvPr id="41" name="Text 38"/>
          <p:cNvSpPr/>
          <p:nvPr/>
        </p:nvSpPr>
        <p:spPr>
          <a:xfrm>
            <a:off x="7936992" y="46177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Minutes to hours (golden paths)</a:t>
            </a:r>
            <a:endParaRPr lang="en-US" sz="1150" dirty="0"/>
          </a:p>
        </p:txBody>
      </p:sp>
      <p:sp>
        <p:nvSpPr>
          <p:cNvPr id="42" name="Shape 39"/>
          <p:cNvSpPr/>
          <p:nvPr/>
        </p:nvSpPr>
        <p:spPr>
          <a:xfrm>
            <a:off x="457200" y="5074920"/>
            <a:ext cx="11731752" cy="457200"/>
          </a:xfrm>
          <a:prstGeom prst="rect">
            <a:avLst/>
          </a:prstGeom>
          <a:solidFill>
            <a:srgbClr val="FFFFFF"/>
          </a:solidFill>
          <a:ln w="6350">
            <a:solidFill>
              <a:srgbClr val="E2E8F0"/>
            </a:solidFill>
            <a:prstDash val="solid"/>
          </a:ln>
        </p:spPr>
      </p:sp>
      <p:sp>
        <p:nvSpPr>
          <p:cNvPr id="43" name="Text 40"/>
          <p:cNvSpPr/>
          <p:nvPr/>
        </p:nvSpPr>
        <p:spPr>
          <a:xfrm>
            <a:off x="621792" y="50749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Accountability</a:t>
            </a:r>
            <a:endParaRPr lang="en-US" sz="1150" dirty="0"/>
          </a:p>
        </p:txBody>
      </p:sp>
      <p:sp>
        <p:nvSpPr>
          <p:cNvPr id="44" name="Text 41"/>
          <p:cNvSpPr/>
          <p:nvPr/>
        </p:nvSpPr>
        <p:spPr>
          <a:xfrm>
            <a:off x="3639312" y="50749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Diffuse across functions</a:t>
            </a:r>
            <a:endParaRPr lang="en-US" sz="1150" dirty="0"/>
          </a:p>
        </p:txBody>
      </p:sp>
      <p:sp>
        <p:nvSpPr>
          <p:cNvPr id="45" name="Text 42"/>
          <p:cNvSpPr/>
          <p:nvPr/>
        </p:nvSpPr>
        <p:spPr>
          <a:xfrm>
            <a:off x="7936992" y="50749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Single team, single delivery lead, clear SLOs</a:t>
            </a:r>
            <a:endParaRPr lang="en-US" sz="1150" dirty="0"/>
          </a:p>
        </p:txBody>
      </p:sp>
      <p:sp>
        <p:nvSpPr>
          <p:cNvPr id="46" name="Shape 43"/>
          <p:cNvSpPr/>
          <p:nvPr/>
        </p:nvSpPr>
        <p:spPr>
          <a:xfrm>
            <a:off x="457200" y="5532120"/>
            <a:ext cx="11731752" cy="457200"/>
          </a:xfrm>
          <a:prstGeom prst="rect">
            <a:avLst/>
          </a:prstGeom>
          <a:solidFill>
            <a:srgbClr val="F4F6F9"/>
          </a:solidFill>
          <a:ln w="6350">
            <a:solidFill>
              <a:srgbClr val="E2E8F0"/>
            </a:solidFill>
            <a:prstDash val="solid"/>
          </a:ln>
        </p:spPr>
      </p:sp>
      <p:sp>
        <p:nvSpPr>
          <p:cNvPr id="47" name="Text 44"/>
          <p:cNvSpPr/>
          <p:nvPr/>
        </p:nvSpPr>
        <p:spPr>
          <a:xfrm>
            <a:off x="621792" y="5532120"/>
            <a:ext cx="2688336"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Knowledge sharing</a:t>
            </a:r>
            <a:endParaRPr lang="en-US" sz="1150" dirty="0"/>
          </a:p>
        </p:txBody>
      </p:sp>
      <p:sp>
        <p:nvSpPr>
          <p:cNvPr id="48" name="Text 45"/>
          <p:cNvSpPr/>
          <p:nvPr/>
        </p:nvSpPr>
        <p:spPr>
          <a:xfrm>
            <a:off x="3639312" y="5532120"/>
            <a:ext cx="3968496"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Trapped in functional managers</a:t>
            </a:r>
            <a:endParaRPr lang="en-US" sz="1150" dirty="0"/>
          </a:p>
        </p:txBody>
      </p:sp>
      <p:sp>
        <p:nvSpPr>
          <p:cNvPr id="49" name="Text 46"/>
          <p:cNvSpPr/>
          <p:nvPr/>
        </p:nvSpPr>
        <p:spPr>
          <a:xfrm>
            <a:off x="7936992" y="5532120"/>
            <a:ext cx="4087368" cy="457200"/>
          </a:xfrm>
          <a:prstGeom prst="rect">
            <a:avLst/>
          </a:prstGeom>
          <a:noFill/>
          <a:ln/>
        </p:spPr>
        <p:txBody>
          <a:bodyPr wrap="square" lIns="0" tIns="0" rIns="0" bIns="0" rtlCol="0" anchor="ctr"/>
          <a:lstStyle/>
          <a:p>
            <a:pPr indent="0" marL="0">
              <a:buNone/>
            </a:pPr>
            <a:r>
              <a:rPr lang="en-US" sz="1150" b="1" dirty="0">
                <a:solidFill>
                  <a:srgbClr val="003DA5"/>
                </a:solidFill>
                <a:latin typeface="Calibri" pitchFamily="34" charset="0"/>
                <a:ea typeface="Calibri" pitchFamily="34" charset="-122"/>
                <a:cs typeface="Calibri" pitchFamily="34" charset="-120"/>
              </a:rPr>
              <a:t>Communities of Practice / Guilds (horizontal)</a:t>
            </a:r>
            <a:endParaRPr lang="en-US" sz="1150" dirty="0"/>
          </a:p>
        </p:txBody>
      </p:sp>
      <p:sp>
        <p:nvSpPr>
          <p:cNvPr id="50" name="Shape 47"/>
          <p:cNvSpPr/>
          <p:nvPr/>
        </p:nvSpPr>
        <p:spPr>
          <a:xfrm>
            <a:off x="457200" y="6080760"/>
            <a:ext cx="11274552" cy="457200"/>
          </a:xfrm>
          <a:prstGeom prst="rect">
            <a:avLst/>
          </a:prstGeom>
          <a:solidFill>
            <a:srgbClr val="FFF1A8"/>
          </a:solidFill>
          <a:ln w="12700">
            <a:solidFill>
              <a:srgbClr val="FEDF01"/>
            </a:solidFill>
            <a:prstDash val="solid"/>
          </a:ln>
        </p:spPr>
      </p:sp>
      <p:pic>
        <p:nvPicPr>
          <p:cNvPr id="51" name="Image 1" descr="preencoded.png">    </p:cNvPr>
          <p:cNvPicPr>
            <a:picLocks noChangeAspect="1"/>
          </p:cNvPicPr>
          <p:nvPr/>
        </p:nvPicPr>
        <p:blipFill>
          <a:blip r:embed="rId2"/>
          <a:stretch>
            <a:fillRect/>
          </a:stretch>
        </p:blipFill>
        <p:spPr>
          <a:xfrm>
            <a:off x="640080" y="6172200"/>
            <a:ext cx="274320" cy="274320"/>
          </a:xfrm>
          <a:prstGeom prst="rect">
            <a:avLst/>
          </a:prstGeom>
        </p:spPr>
      </p:pic>
      <p:sp>
        <p:nvSpPr>
          <p:cNvPr id="52" name="Text 48"/>
          <p:cNvSpPr/>
          <p:nvPr/>
        </p:nvSpPr>
        <p:spPr>
          <a:xfrm>
            <a:off x="1005840" y="6080760"/>
            <a:ext cx="10515600" cy="457200"/>
          </a:xfrm>
          <a:prstGeom prst="rect">
            <a:avLst/>
          </a:prstGeom>
          <a:noFill/>
          <a:ln/>
        </p:spPr>
        <p:txBody>
          <a:bodyPr wrap="square" lIns="0" tIns="0" rIns="0" bIns="0" rtlCol="0" anchor="ctr"/>
          <a:lstStyle/>
          <a:p>
            <a:pPr indent="0" marL="0">
              <a:buNone/>
            </a:pPr>
            <a:r>
              <a:rPr lang="en-US" sz="1300" b="1" i="1" dirty="0">
                <a:solidFill>
                  <a:srgbClr val="1E293B"/>
                </a:solidFill>
                <a:latin typeface="Calibri" pitchFamily="34" charset="0"/>
                <a:ea typeface="Calibri" pitchFamily="34" charset="-122"/>
                <a:cs typeface="Calibri" pitchFamily="34" charset="-120"/>
              </a:rPr>
              <a:t>The horizontal model doesn't remove specialists — it removes the queues between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OPERATING MODEL EVOLUTION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Where Does the Ownership Line Fall?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As organizations evolve, more of the lifecycle moves into single teams. The legend below mirrors the well-known “Pizza-as-a-Service” model — but applied to who owns what across infrastructure delivery.</a:t>
            </a:r>
            <a:endParaRPr lang="en-US" sz="1200" dirty="0"/>
          </a:p>
        </p:txBody>
      </p:sp>
      <p:sp>
        <p:nvSpPr>
          <p:cNvPr id="8" name="Shape 5"/>
          <p:cNvSpPr/>
          <p:nvPr/>
        </p:nvSpPr>
        <p:spPr>
          <a:xfrm>
            <a:off x="457200" y="1874520"/>
            <a:ext cx="2668448" cy="4023360"/>
          </a:xfrm>
          <a:prstGeom prst="rect">
            <a:avLst/>
          </a:prstGeom>
          <a:solidFill>
            <a:srgbClr val="F4F6F9"/>
          </a:solidFill>
          <a:ln w="12700">
            <a:solidFill>
              <a:srgbClr val="E2E8F0"/>
            </a:solidFill>
            <a:prstDash val="solid"/>
          </a:ln>
        </p:spPr>
      </p:sp>
      <p:sp>
        <p:nvSpPr>
          <p:cNvPr id="9" name="Shape 6"/>
          <p:cNvSpPr/>
          <p:nvPr/>
        </p:nvSpPr>
        <p:spPr>
          <a:xfrm>
            <a:off x="457200" y="1874520"/>
            <a:ext cx="2668448" cy="777240"/>
          </a:xfrm>
          <a:prstGeom prst="rect">
            <a:avLst/>
          </a:prstGeom>
          <a:solidFill>
            <a:srgbClr val="002B7F"/>
          </a:solidFill>
          <a:ln w="12700">
            <a:solidFill>
              <a:srgbClr val="002B7F"/>
            </a:solidFill>
            <a:prstDash val="solid"/>
          </a:ln>
        </p:spPr>
      </p:sp>
      <p:sp>
        <p:nvSpPr>
          <p:cNvPr id="10" name="Shape 7"/>
          <p:cNvSpPr/>
          <p:nvPr/>
        </p:nvSpPr>
        <p:spPr>
          <a:xfrm>
            <a:off x="457200" y="1874520"/>
            <a:ext cx="2668448" cy="73152"/>
          </a:xfrm>
          <a:prstGeom prst="rect">
            <a:avLst/>
          </a:prstGeom>
          <a:solidFill>
            <a:srgbClr val="FEDF01"/>
          </a:solidFill>
          <a:ln w="12700">
            <a:solidFill>
              <a:srgbClr val="FEDF01"/>
            </a:solidFill>
            <a:prstDash val="solid"/>
          </a:ln>
        </p:spPr>
      </p:sp>
      <p:sp>
        <p:nvSpPr>
          <p:cNvPr id="11" name="Text 8"/>
          <p:cNvSpPr/>
          <p:nvPr/>
        </p:nvSpPr>
        <p:spPr>
          <a:xfrm>
            <a:off x="548640" y="2020824"/>
            <a:ext cx="248556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Traditional</a:t>
            </a:r>
            <a:endParaRPr lang="en-US" sz="1400" dirty="0"/>
          </a:p>
        </p:txBody>
      </p:sp>
      <p:sp>
        <p:nvSpPr>
          <p:cNvPr id="12" name="Text 9"/>
          <p:cNvSpPr/>
          <p:nvPr/>
        </p:nvSpPr>
        <p:spPr>
          <a:xfrm>
            <a:off x="548640" y="2295144"/>
            <a:ext cx="2485568" cy="201168"/>
          </a:xfrm>
          <a:prstGeom prst="rect">
            <a:avLst/>
          </a:prstGeom>
          <a:noFill/>
          <a:ln/>
        </p:spPr>
        <p:txBody>
          <a:bodyPr wrap="square" lIns="0" tIns="0" rIns="0" bIns="0" rtlCol="0" anchor="ctr"/>
          <a:lstStyle/>
          <a:p>
            <a:pPr algn="ctr" indent="0" marL="0">
              <a:buNone/>
            </a:pPr>
            <a:r>
              <a:rPr lang="en-US" sz="1000" dirty="0">
                <a:solidFill>
                  <a:srgbClr val="C9D6EE"/>
                </a:solidFill>
                <a:latin typeface="Calibri" pitchFamily="34" charset="0"/>
                <a:ea typeface="Calibri" pitchFamily="34" charset="-122"/>
                <a:cs typeface="Calibri" pitchFamily="34" charset="-120"/>
              </a:rPr>
              <a:t>Functional Silos</a:t>
            </a:r>
            <a:endParaRPr lang="en-US" sz="1000" dirty="0"/>
          </a:p>
        </p:txBody>
      </p:sp>
      <p:sp>
        <p:nvSpPr>
          <p:cNvPr id="13" name="Text 10"/>
          <p:cNvSpPr/>
          <p:nvPr/>
        </p:nvSpPr>
        <p:spPr>
          <a:xfrm>
            <a:off x="548640" y="2478024"/>
            <a:ext cx="2485568" cy="164592"/>
          </a:xfrm>
          <a:prstGeom prst="rect">
            <a:avLst/>
          </a:prstGeom>
          <a:noFill/>
          <a:ln/>
        </p:spPr>
        <p:txBody>
          <a:bodyPr wrap="square" lIns="0" tIns="0" rIns="0" bIns="0" rtlCol="0" anchor="ctr"/>
          <a:lstStyle/>
          <a:p>
            <a:pPr algn="ctr" indent="0" marL="0">
              <a:buNone/>
            </a:pPr>
            <a:r>
              <a:rPr lang="en-US" sz="900" i="1" dirty="0">
                <a:solidFill>
                  <a:srgbClr val="C9D6EE"/>
                </a:solidFill>
                <a:latin typeface="Calibri" pitchFamily="34" charset="0"/>
                <a:ea typeface="Calibri" pitchFamily="34" charset="-122"/>
                <a:cs typeface="Calibri" pitchFamily="34" charset="-120"/>
              </a:rPr>
              <a:t>(Pre-Cloud Era)</a:t>
            </a:r>
            <a:endParaRPr lang="en-US" sz="900" dirty="0"/>
          </a:p>
        </p:txBody>
      </p:sp>
      <p:sp>
        <p:nvSpPr>
          <p:cNvPr id="14" name="Shape 11"/>
          <p:cNvSpPr/>
          <p:nvPr/>
        </p:nvSpPr>
        <p:spPr>
          <a:xfrm>
            <a:off x="594360" y="2788920"/>
            <a:ext cx="2394128" cy="291465"/>
          </a:xfrm>
          <a:prstGeom prst="rect">
            <a:avLst/>
          </a:prstGeom>
          <a:solidFill>
            <a:srgbClr val="003DA5"/>
          </a:solidFill>
          <a:ln w="12700">
            <a:solidFill>
              <a:srgbClr val="003DA5"/>
            </a:solidFill>
            <a:prstDash val="solid"/>
          </a:ln>
        </p:spPr>
      </p:sp>
      <p:sp>
        <p:nvSpPr>
          <p:cNvPr id="15" name="Text 12"/>
          <p:cNvSpPr/>
          <p:nvPr/>
        </p:nvSpPr>
        <p:spPr>
          <a:xfrm>
            <a:off x="594360" y="278892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p>
        </p:txBody>
      </p:sp>
      <p:sp>
        <p:nvSpPr>
          <p:cNvPr id="16" name="Shape 13"/>
          <p:cNvSpPr/>
          <p:nvPr/>
        </p:nvSpPr>
        <p:spPr>
          <a:xfrm>
            <a:off x="594360" y="3126105"/>
            <a:ext cx="2394128" cy="291465"/>
          </a:xfrm>
          <a:prstGeom prst="rect">
            <a:avLst/>
          </a:prstGeom>
          <a:solidFill>
            <a:srgbClr val="003DA5"/>
          </a:solidFill>
          <a:ln w="12700">
            <a:solidFill>
              <a:srgbClr val="003DA5"/>
            </a:solidFill>
            <a:prstDash val="solid"/>
          </a:ln>
        </p:spPr>
      </p:sp>
      <p:sp>
        <p:nvSpPr>
          <p:cNvPr id="17" name="Text 14"/>
          <p:cNvSpPr/>
          <p:nvPr/>
        </p:nvSpPr>
        <p:spPr>
          <a:xfrm>
            <a:off x="594360" y="312610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Architecture</a:t>
            </a:r>
            <a:endParaRPr lang="en-US" sz="1050" dirty="0"/>
          </a:p>
        </p:txBody>
      </p:sp>
      <p:sp>
        <p:nvSpPr>
          <p:cNvPr id="18" name="Shape 15"/>
          <p:cNvSpPr/>
          <p:nvPr/>
        </p:nvSpPr>
        <p:spPr>
          <a:xfrm>
            <a:off x="594360" y="3463290"/>
            <a:ext cx="2394128" cy="291465"/>
          </a:xfrm>
          <a:prstGeom prst="rect">
            <a:avLst/>
          </a:prstGeom>
          <a:solidFill>
            <a:srgbClr val="003DA5"/>
          </a:solidFill>
          <a:ln w="12700">
            <a:solidFill>
              <a:srgbClr val="003DA5"/>
            </a:solidFill>
            <a:prstDash val="solid"/>
          </a:ln>
        </p:spPr>
      </p:sp>
      <p:sp>
        <p:nvSpPr>
          <p:cNvPr id="19" name="Text 16"/>
          <p:cNvSpPr/>
          <p:nvPr/>
        </p:nvSpPr>
        <p:spPr>
          <a:xfrm>
            <a:off x="594360" y="346329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20" name="Shape 17"/>
          <p:cNvSpPr/>
          <p:nvPr/>
        </p:nvSpPr>
        <p:spPr>
          <a:xfrm>
            <a:off x="594360" y="3800475"/>
            <a:ext cx="2394128" cy="291465"/>
          </a:xfrm>
          <a:prstGeom prst="rect">
            <a:avLst/>
          </a:prstGeom>
          <a:solidFill>
            <a:srgbClr val="003DA5"/>
          </a:solidFill>
          <a:ln w="12700">
            <a:solidFill>
              <a:srgbClr val="003DA5"/>
            </a:solidFill>
            <a:prstDash val="solid"/>
          </a:ln>
        </p:spPr>
      </p:sp>
      <p:sp>
        <p:nvSpPr>
          <p:cNvPr id="21" name="Text 18"/>
          <p:cNvSpPr/>
          <p:nvPr/>
        </p:nvSpPr>
        <p:spPr>
          <a:xfrm>
            <a:off x="594360" y="380047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IaC / Modules</a:t>
            </a:r>
            <a:endParaRPr lang="en-US" sz="1050" dirty="0"/>
          </a:p>
        </p:txBody>
      </p:sp>
      <p:sp>
        <p:nvSpPr>
          <p:cNvPr id="22" name="Shape 19"/>
          <p:cNvSpPr/>
          <p:nvPr/>
        </p:nvSpPr>
        <p:spPr>
          <a:xfrm>
            <a:off x="594360" y="4137660"/>
            <a:ext cx="2394128" cy="291465"/>
          </a:xfrm>
          <a:prstGeom prst="rect">
            <a:avLst/>
          </a:prstGeom>
          <a:solidFill>
            <a:srgbClr val="003DA5"/>
          </a:solidFill>
          <a:ln w="12700">
            <a:solidFill>
              <a:srgbClr val="003DA5"/>
            </a:solidFill>
            <a:prstDash val="solid"/>
          </a:ln>
        </p:spPr>
      </p:sp>
      <p:sp>
        <p:nvSpPr>
          <p:cNvPr id="23" name="Text 20"/>
          <p:cNvSpPr/>
          <p:nvPr/>
        </p:nvSpPr>
        <p:spPr>
          <a:xfrm>
            <a:off x="594360" y="413766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Deployment</a:t>
            </a:r>
            <a:endParaRPr lang="en-US" sz="1050" dirty="0"/>
          </a:p>
        </p:txBody>
      </p:sp>
      <p:sp>
        <p:nvSpPr>
          <p:cNvPr id="24" name="Shape 21"/>
          <p:cNvSpPr/>
          <p:nvPr/>
        </p:nvSpPr>
        <p:spPr>
          <a:xfrm>
            <a:off x="594360" y="4474845"/>
            <a:ext cx="2394128" cy="291465"/>
          </a:xfrm>
          <a:prstGeom prst="rect">
            <a:avLst/>
          </a:prstGeom>
          <a:solidFill>
            <a:srgbClr val="003DA5"/>
          </a:solidFill>
          <a:ln w="12700">
            <a:solidFill>
              <a:srgbClr val="003DA5"/>
            </a:solidFill>
            <a:prstDash val="solid"/>
          </a:ln>
        </p:spPr>
      </p:sp>
      <p:sp>
        <p:nvSpPr>
          <p:cNvPr id="25" name="Text 22"/>
          <p:cNvSpPr/>
          <p:nvPr/>
        </p:nvSpPr>
        <p:spPr>
          <a:xfrm>
            <a:off x="594360" y="447484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Operations</a:t>
            </a:r>
            <a:endParaRPr lang="en-US" sz="1050" dirty="0"/>
          </a:p>
        </p:txBody>
      </p:sp>
      <p:sp>
        <p:nvSpPr>
          <p:cNvPr id="26" name="Shape 23"/>
          <p:cNvSpPr/>
          <p:nvPr/>
        </p:nvSpPr>
        <p:spPr>
          <a:xfrm>
            <a:off x="594360" y="4812030"/>
            <a:ext cx="2394128" cy="291465"/>
          </a:xfrm>
          <a:prstGeom prst="rect">
            <a:avLst/>
          </a:prstGeom>
          <a:solidFill>
            <a:srgbClr val="003DA5"/>
          </a:solidFill>
          <a:ln w="12700">
            <a:solidFill>
              <a:srgbClr val="003DA5"/>
            </a:solidFill>
            <a:prstDash val="solid"/>
          </a:ln>
        </p:spPr>
      </p:sp>
      <p:sp>
        <p:nvSpPr>
          <p:cNvPr id="27" name="Text 24"/>
          <p:cNvSpPr/>
          <p:nvPr/>
        </p:nvSpPr>
        <p:spPr>
          <a:xfrm>
            <a:off x="594360" y="481203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Incident Response</a:t>
            </a:r>
            <a:endParaRPr lang="en-US" sz="1050" dirty="0"/>
          </a:p>
        </p:txBody>
      </p:sp>
      <p:sp>
        <p:nvSpPr>
          <p:cNvPr id="28" name="Shape 25"/>
          <p:cNvSpPr/>
          <p:nvPr/>
        </p:nvSpPr>
        <p:spPr>
          <a:xfrm>
            <a:off x="594360" y="5149215"/>
            <a:ext cx="2394128" cy="291465"/>
          </a:xfrm>
          <a:prstGeom prst="rect">
            <a:avLst/>
          </a:prstGeom>
          <a:solidFill>
            <a:srgbClr val="003DA5"/>
          </a:solidFill>
          <a:ln w="12700">
            <a:solidFill>
              <a:srgbClr val="003DA5"/>
            </a:solidFill>
            <a:prstDash val="solid"/>
          </a:ln>
        </p:spPr>
      </p:sp>
      <p:sp>
        <p:nvSpPr>
          <p:cNvPr id="29" name="Text 26"/>
          <p:cNvSpPr/>
          <p:nvPr/>
        </p:nvSpPr>
        <p:spPr>
          <a:xfrm>
            <a:off x="594360" y="514921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 Automation</a:t>
            </a:r>
            <a:endParaRPr lang="en-US" sz="1050" dirty="0"/>
          </a:p>
        </p:txBody>
      </p:sp>
      <p:sp>
        <p:nvSpPr>
          <p:cNvPr id="30" name="Shape 27"/>
          <p:cNvSpPr/>
          <p:nvPr/>
        </p:nvSpPr>
        <p:spPr>
          <a:xfrm>
            <a:off x="502920" y="5440680"/>
            <a:ext cx="2577008" cy="411480"/>
          </a:xfrm>
          <a:prstGeom prst="rect">
            <a:avLst/>
          </a:prstGeom>
          <a:solidFill>
            <a:srgbClr val="D8E0EC"/>
          </a:solidFill>
          <a:ln w="12700">
            <a:solidFill>
              <a:srgbClr val="E2E8F0"/>
            </a:solidFill>
            <a:prstDash val="solid"/>
          </a:ln>
        </p:spPr>
      </p:sp>
      <p:sp>
        <p:nvSpPr>
          <p:cNvPr id="31" name="Text 28"/>
          <p:cNvSpPr/>
          <p:nvPr/>
        </p:nvSpPr>
        <p:spPr>
          <a:xfrm>
            <a:off x="548640" y="5440680"/>
            <a:ext cx="2485568" cy="4114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Multi-week ticket queues</a:t>
            </a:r>
            <a:endParaRPr lang="en-US" sz="1000" dirty="0"/>
          </a:p>
        </p:txBody>
      </p:sp>
      <p:sp>
        <p:nvSpPr>
          <p:cNvPr id="32" name="Shape 29"/>
          <p:cNvSpPr/>
          <p:nvPr/>
        </p:nvSpPr>
        <p:spPr>
          <a:xfrm>
            <a:off x="3326816" y="1874520"/>
            <a:ext cx="2668448" cy="4023360"/>
          </a:xfrm>
          <a:prstGeom prst="rect">
            <a:avLst/>
          </a:prstGeom>
          <a:solidFill>
            <a:srgbClr val="F4F6F9"/>
          </a:solidFill>
          <a:ln w="12700">
            <a:solidFill>
              <a:srgbClr val="E2E8F0"/>
            </a:solidFill>
            <a:prstDash val="solid"/>
          </a:ln>
        </p:spPr>
      </p:sp>
      <p:sp>
        <p:nvSpPr>
          <p:cNvPr id="33" name="Shape 30"/>
          <p:cNvSpPr/>
          <p:nvPr/>
        </p:nvSpPr>
        <p:spPr>
          <a:xfrm>
            <a:off x="3326816" y="1874520"/>
            <a:ext cx="2668448" cy="777240"/>
          </a:xfrm>
          <a:prstGeom prst="rect">
            <a:avLst/>
          </a:prstGeom>
          <a:solidFill>
            <a:srgbClr val="003DA5"/>
          </a:solidFill>
          <a:ln w="12700">
            <a:solidFill>
              <a:srgbClr val="003DA5"/>
            </a:solidFill>
            <a:prstDash val="solid"/>
          </a:ln>
        </p:spPr>
      </p:sp>
      <p:sp>
        <p:nvSpPr>
          <p:cNvPr id="34" name="Shape 31"/>
          <p:cNvSpPr/>
          <p:nvPr/>
        </p:nvSpPr>
        <p:spPr>
          <a:xfrm>
            <a:off x="3326816" y="1874520"/>
            <a:ext cx="2668448" cy="73152"/>
          </a:xfrm>
          <a:prstGeom prst="rect">
            <a:avLst/>
          </a:prstGeom>
          <a:solidFill>
            <a:srgbClr val="FEDF01"/>
          </a:solidFill>
          <a:ln w="12700">
            <a:solidFill>
              <a:srgbClr val="FEDF01"/>
            </a:solidFill>
            <a:prstDash val="solid"/>
          </a:ln>
        </p:spPr>
      </p:sp>
      <p:sp>
        <p:nvSpPr>
          <p:cNvPr id="35" name="Text 32"/>
          <p:cNvSpPr/>
          <p:nvPr/>
        </p:nvSpPr>
        <p:spPr>
          <a:xfrm>
            <a:off x="3418256" y="2020824"/>
            <a:ext cx="248556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DevOps</a:t>
            </a:r>
            <a:endParaRPr lang="en-US" sz="1400" dirty="0"/>
          </a:p>
        </p:txBody>
      </p:sp>
      <p:sp>
        <p:nvSpPr>
          <p:cNvPr id="36" name="Text 33"/>
          <p:cNvSpPr/>
          <p:nvPr/>
        </p:nvSpPr>
        <p:spPr>
          <a:xfrm>
            <a:off x="3418256" y="2295144"/>
            <a:ext cx="2485568" cy="201168"/>
          </a:xfrm>
          <a:prstGeom prst="rect">
            <a:avLst/>
          </a:prstGeom>
          <a:noFill/>
          <a:ln/>
        </p:spPr>
        <p:txBody>
          <a:bodyPr wrap="square" lIns="0" tIns="0" rIns="0" bIns="0" rtlCol="0" anchor="ctr"/>
          <a:lstStyle/>
          <a:p>
            <a:pPr algn="ctr" indent="0" marL="0">
              <a:buNone/>
            </a:pPr>
            <a:r>
              <a:rPr lang="en-US" sz="1000" dirty="0">
                <a:solidFill>
                  <a:srgbClr val="C9D6EE"/>
                </a:solidFill>
                <a:latin typeface="Calibri" pitchFamily="34" charset="0"/>
                <a:ea typeface="Calibri" pitchFamily="34" charset="-122"/>
                <a:cs typeface="Calibri" pitchFamily="34" charset="-120"/>
              </a:rPr>
              <a:t>Dev + Ops Merged</a:t>
            </a:r>
            <a:endParaRPr lang="en-US" sz="1000" dirty="0"/>
          </a:p>
        </p:txBody>
      </p:sp>
      <p:sp>
        <p:nvSpPr>
          <p:cNvPr id="37" name="Text 34"/>
          <p:cNvSpPr/>
          <p:nvPr/>
        </p:nvSpPr>
        <p:spPr>
          <a:xfrm>
            <a:off x="3418256" y="2478024"/>
            <a:ext cx="2485568" cy="164592"/>
          </a:xfrm>
          <a:prstGeom prst="rect">
            <a:avLst/>
          </a:prstGeom>
          <a:noFill/>
          <a:ln/>
        </p:spPr>
        <p:txBody>
          <a:bodyPr wrap="square" lIns="0" tIns="0" rIns="0" bIns="0" rtlCol="0" anchor="ctr"/>
          <a:lstStyle/>
          <a:p>
            <a:pPr algn="ctr" indent="0" marL="0">
              <a:buNone/>
            </a:pPr>
            <a:r>
              <a:rPr lang="en-US" sz="900" i="1" dirty="0">
                <a:solidFill>
                  <a:srgbClr val="C9D6EE"/>
                </a:solidFill>
                <a:latin typeface="Calibri" pitchFamily="34" charset="0"/>
                <a:ea typeface="Calibri" pitchFamily="34" charset="-122"/>
                <a:cs typeface="Calibri" pitchFamily="34" charset="-120"/>
              </a:rPr>
              <a:t>(2010s)</a:t>
            </a:r>
            <a:endParaRPr lang="en-US" sz="900" dirty="0"/>
          </a:p>
        </p:txBody>
      </p:sp>
      <p:sp>
        <p:nvSpPr>
          <p:cNvPr id="38" name="Shape 35"/>
          <p:cNvSpPr/>
          <p:nvPr/>
        </p:nvSpPr>
        <p:spPr>
          <a:xfrm>
            <a:off x="3463976" y="2788920"/>
            <a:ext cx="2394128" cy="291465"/>
          </a:xfrm>
          <a:prstGeom prst="rect">
            <a:avLst/>
          </a:prstGeom>
          <a:solidFill>
            <a:srgbClr val="003DA5"/>
          </a:solidFill>
          <a:ln w="12700">
            <a:solidFill>
              <a:srgbClr val="003DA5"/>
            </a:solidFill>
            <a:prstDash val="solid"/>
          </a:ln>
        </p:spPr>
      </p:sp>
      <p:sp>
        <p:nvSpPr>
          <p:cNvPr id="39" name="Text 36"/>
          <p:cNvSpPr/>
          <p:nvPr/>
        </p:nvSpPr>
        <p:spPr>
          <a:xfrm>
            <a:off x="3463976" y="278892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p>
        </p:txBody>
      </p:sp>
      <p:sp>
        <p:nvSpPr>
          <p:cNvPr id="40" name="Shape 37"/>
          <p:cNvSpPr/>
          <p:nvPr/>
        </p:nvSpPr>
        <p:spPr>
          <a:xfrm>
            <a:off x="3463976" y="3126105"/>
            <a:ext cx="2394128" cy="291465"/>
          </a:xfrm>
          <a:prstGeom prst="rect">
            <a:avLst/>
          </a:prstGeom>
          <a:solidFill>
            <a:srgbClr val="003DA5"/>
          </a:solidFill>
          <a:ln w="12700">
            <a:solidFill>
              <a:srgbClr val="003DA5"/>
            </a:solidFill>
            <a:prstDash val="solid"/>
          </a:ln>
        </p:spPr>
      </p:sp>
      <p:sp>
        <p:nvSpPr>
          <p:cNvPr id="41" name="Text 38"/>
          <p:cNvSpPr/>
          <p:nvPr/>
        </p:nvSpPr>
        <p:spPr>
          <a:xfrm>
            <a:off x="3463976" y="312610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Architecture</a:t>
            </a:r>
            <a:endParaRPr lang="en-US" sz="1050" dirty="0"/>
          </a:p>
        </p:txBody>
      </p:sp>
      <p:sp>
        <p:nvSpPr>
          <p:cNvPr id="42" name="Shape 39"/>
          <p:cNvSpPr/>
          <p:nvPr/>
        </p:nvSpPr>
        <p:spPr>
          <a:xfrm>
            <a:off x="3463976" y="3463290"/>
            <a:ext cx="2394128" cy="291465"/>
          </a:xfrm>
          <a:prstGeom prst="rect">
            <a:avLst/>
          </a:prstGeom>
          <a:solidFill>
            <a:srgbClr val="003DA5"/>
          </a:solidFill>
          <a:ln w="12700">
            <a:solidFill>
              <a:srgbClr val="003DA5"/>
            </a:solidFill>
            <a:prstDash val="solid"/>
          </a:ln>
        </p:spPr>
      </p:sp>
      <p:sp>
        <p:nvSpPr>
          <p:cNvPr id="43" name="Text 40"/>
          <p:cNvSpPr/>
          <p:nvPr/>
        </p:nvSpPr>
        <p:spPr>
          <a:xfrm>
            <a:off x="3463976" y="346329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44" name="Shape 41"/>
          <p:cNvSpPr/>
          <p:nvPr/>
        </p:nvSpPr>
        <p:spPr>
          <a:xfrm>
            <a:off x="3463976" y="3800475"/>
            <a:ext cx="2394128" cy="291465"/>
          </a:xfrm>
          <a:prstGeom prst="rect">
            <a:avLst/>
          </a:prstGeom>
          <a:solidFill>
            <a:srgbClr val="10B981"/>
          </a:solidFill>
          <a:ln w="12700">
            <a:solidFill>
              <a:srgbClr val="10B981"/>
            </a:solidFill>
            <a:prstDash val="solid"/>
          </a:ln>
        </p:spPr>
      </p:sp>
      <p:sp>
        <p:nvSpPr>
          <p:cNvPr id="45" name="Text 42"/>
          <p:cNvSpPr/>
          <p:nvPr/>
        </p:nvSpPr>
        <p:spPr>
          <a:xfrm>
            <a:off x="3463976" y="380047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IaC / Modules</a:t>
            </a:r>
            <a:endParaRPr lang="en-US" sz="1050" dirty="0"/>
          </a:p>
        </p:txBody>
      </p:sp>
      <p:sp>
        <p:nvSpPr>
          <p:cNvPr id="46" name="Shape 43"/>
          <p:cNvSpPr/>
          <p:nvPr/>
        </p:nvSpPr>
        <p:spPr>
          <a:xfrm>
            <a:off x="3463976" y="4137660"/>
            <a:ext cx="2394128" cy="291465"/>
          </a:xfrm>
          <a:prstGeom prst="rect">
            <a:avLst/>
          </a:prstGeom>
          <a:solidFill>
            <a:srgbClr val="10B981"/>
          </a:solidFill>
          <a:ln w="12700">
            <a:solidFill>
              <a:srgbClr val="10B981"/>
            </a:solidFill>
            <a:prstDash val="solid"/>
          </a:ln>
        </p:spPr>
      </p:sp>
      <p:sp>
        <p:nvSpPr>
          <p:cNvPr id="47" name="Text 44"/>
          <p:cNvSpPr/>
          <p:nvPr/>
        </p:nvSpPr>
        <p:spPr>
          <a:xfrm>
            <a:off x="3463976" y="413766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Deployment</a:t>
            </a:r>
            <a:endParaRPr lang="en-US" sz="1050" dirty="0"/>
          </a:p>
        </p:txBody>
      </p:sp>
      <p:sp>
        <p:nvSpPr>
          <p:cNvPr id="48" name="Shape 45"/>
          <p:cNvSpPr/>
          <p:nvPr/>
        </p:nvSpPr>
        <p:spPr>
          <a:xfrm>
            <a:off x="3463976" y="4474845"/>
            <a:ext cx="2394128" cy="291465"/>
          </a:xfrm>
          <a:prstGeom prst="rect">
            <a:avLst/>
          </a:prstGeom>
          <a:solidFill>
            <a:srgbClr val="10B981"/>
          </a:solidFill>
          <a:ln w="12700">
            <a:solidFill>
              <a:srgbClr val="10B981"/>
            </a:solidFill>
            <a:prstDash val="solid"/>
          </a:ln>
        </p:spPr>
      </p:sp>
      <p:sp>
        <p:nvSpPr>
          <p:cNvPr id="49" name="Text 46"/>
          <p:cNvSpPr/>
          <p:nvPr/>
        </p:nvSpPr>
        <p:spPr>
          <a:xfrm>
            <a:off x="3463976" y="447484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Operations</a:t>
            </a:r>
            <a:endParaRPr lang="en-US" sz="1050" dirty="0"/>
          </a:p>
        </p:txBody>
      </p:sp>
      <p:sp>
        <p:nvSpPr>
          <p:cNvPr id="50" name="Shape 47"/>
          <p:cNvSpPr/>
          <p:nvPr/>
        </p:nvSpPr>
        <p:spPr>
          <a:xfrm>
            <a:off x="3463976" y="4812030"/>
            <a:ext cx="2394128" cy="291465"/>
          </a:xfrm>
          <a:prstGeom prst="rect">
            <a:avLst/>
          </a:prstGeom>
          <a:solidFill>
            <a:srgbClr val="003DA5"/>
          </a:solidFill>
          <a:ln w="12700">
            <a:solidFill>
              <a:srgbClr val="003DA5"/>
            </a:solidFill>
            <a:prstDash val="solid"/>
          </a:ln>
        </p:spPr>
      </p:sp>
      <p:sp>
        <p:nvSpPr>
          <p:cNvPr id="51" name="Text 48"/>
          <p:cNvSpPr/>
          <p:nvPr/>
        </p:nvSpPr>
        <p:spPr>
          <a:xfrm>
            <a:off x="3463976" y="481203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Incident Response</a:t>
            </a:r>
            <a:endParaRPr lang="en-US" sz="1050" dirty="0"/>
          </a:p>
        </p:txBody>
      </p:sp>
      <p:sp>
        <p:nvSpPr>
          <p:cNvPr id="52" name="Shape 49"/>
          <p:cNvSpPr/>
          <p:nvPr/>
        </p:nvSpPr>
        <p:spPr>
          <a:xfrm>
            <a:off x="3463976" y="5149215"/>
            <a:ext cx="2394128" cy="291465"/>
          </a:xfrm>
          <a:prstGeom prst="rect">
            <a:avLst/>
          </a:prstGeom>
          <a:solidFill>
            <a:srgbClr val="003DA5"/>
          </a:solidFill>
          <a:ln w="12700">
            <a:solidFill>
              <a:srgbClr val="003DA5"/>
            </a:solidFill>
            <a:prstDash val="solid"/>
          </a:ln>
        </p:spPr>
      </p:sp>
      <p:sp>
        <p:nvSpPr>
          <p:cNvPr id="53" name="Text 50"/>
          <p:cNvSpPr/>
          <p:nvPr/>
        </p:nvSpPr>
        <p:spPr>
          <a:xfrm>
            <a:off x="3463976" y="514921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 Automation</a:t>
            </a:r>
            <a:endParaRPr lang="en-US" sz="1050" dirty="0"/>
          </a:p>
        </p:txBody>
      </p:sp>
      <p:sp>
        <p:nvSpPr>
          <p:cNvPr id="54" name="Shape 51"/>
          <p:cNvSpPr/>
          <p:nvPr/>
        </p:nvSpPr>
        <p:spPr>
          <a:xfrm>
            <a:off x="3372536" y="5440680"/>
            <a:ext cx="2577008" cy="411480"/>
          </a:xfrm>
          <a:prstGeom prst="rect">
            <a:avLst/>
          </a:prstGeom>
          <a:solidFill>
            <a:srgbClr val="D8E0EC"/>
          </a:solidFill>
          <a:ln w="12700">
            <a:solidFill>
              <a:srgbClr val="E2E8F0"/>
            </a:solidFill>
            <a:prstDash val="solid"/>
          </a:ln>
        </p:spPr>
      </p:sp>
      <p:sp>
        <p:nvSpPr>
          <p:cNvPr id="55" name="Text 52"/>
          <p:cNvSpPr/>
          <p:nvPr/>
        </p:nvSpPr>
        <p:spPr>
          <a:xfrm>
            <a:off x="3418256" y="5440680"/>
            <a:ext cx="2485568" cy="4114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Faster app dev, slow infra</a:t>
            </a:r>
            <a:endParaRPr lang="en-US" sz="1000" dirty="0"/>
          </a:p>
        </p:txBody>
      </p:sp>
      <p:sp>
        <p:nvSpPr>
          <p:cNvPr id="56" name="Shape 53"/>
          <p:cNvSpPr/>
          <p:nvPr/>
        </p:nvSpPr>
        <p:spPr>
          <a:xfrm>
            <a:off x="6196432" y="1874520"/>
            <a:ext cx="2668448" cy="4023360"/>
          </a:xfrm>
          <a:prstGeom prst="rect">
            <a:avLst/>
          </a:prstGeom>
          <a:solidFill>
            <a:srgbClr val="F4F6F9"/>
          </a:solidFill>
          <a:ln w="12700">
            <a:solidFill>
              <a:srgbClr val="E2E8F0"/>
            </a:solidFill>
            <a:prstDash val="solid"/>
          </a:ln>
        </p:spPr>
      </p:sp>
      <p:sp>
        <p:nvSpPr>
          <p:cNvPr id="57" name="Shape 54"/>
          <p:cNvSpPr/>
          <p:nvPr/>
        </p:nvSpPr>
        <p:spPr>
          <a:xfrm>
            <a:off x="6196432" y="1874520"/>
            <a:ext cx="2668448" cy="777240"/>
          </a:xfrm>
          <a:prstGeom prst="rect">
            <a:avLst/>
          </a:prstGeom>
          <a:solidFill>
            <a:srgbClr val="003DA5"/>
          </a:solidFill>
          <a:ln w="12700">
            <a:solidFill>
              <a:srgbClr val="003DA5"/>
            </a:solidFill>
            <a:prstDash val="solid"/>
          </a:ln>
        </p:spPr>
      </p:sp>
      <p:sp>
        <p:nvSpPr>
          <p:cNvPr id="58" name="Shape 55"/>
          <p:cNvSpPr/>
          <p:nvPr/>
        </p:nvSpPr>
        <p:spPr>
          <a:xfrm>
            <a:off x="6196432" y="1874520"/>
            <a:ext cx="2668448" cy="73152"/>
          </a:xfrm>
          <a:prstGeom prst="rect">
            <a:avLst/>
          </a:prstGeom>
          <a:solidFill>
            <a:srgbClr val="FEDF01"/>
          </a:solidFill>
          <a:ln w="12700">
            <a:solidFill>
              <a:srgbClr val="FEDF01"/>
            </a:solidFill>
            <a:prstDash val="solid"/>
          </a:ln>
        </p:spPr>
      </p:sp>
      <p:sp>
        <p:nvSpPr>
          <p:cNvPr id="59" name="Text 56"/>
          <p:cNvSpPr/>
          <p:nvPr/>
        </p:nvSpPr>
        <p:spPr>
          <a:xfrm>
            <a:off x="6287872" y="2020824"/>
            <a:ext cx="248556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Platform Teams</a:t>
            </a:r>
            <a:endParaRPr lang="en-US" sz="1400" dirty="0"/>
          </a:p>
        </p:txBody>
      </p:sp>
      <p:sp>
        <p:nvSpPr>
          <p:cNvPr id="60" name="Text 57"/>
          <p:cNvSpPr/>
          <p:nvPr/>
        </p:nvSpPr>
        <p:spPr>
          <a:xfrm>
            <a:off x="6287872" y="2295144"/>
            <a:ext cx="2485568" cy="201168"/>
          </a:xfrm>
          <a:prstGeom prst="rect">
            <a:avLst/>
          </a:prstGeom>
          <a:noFill/>
          <a:ln/>
        </p:spPr>
        <p:txBody>
          <a:bodyPr wrap="square" lIns="0" tIns="0" rIns="0" bIns="0" rtlCol="0" anchor="ctr"/>
          <a:lstStyle/>
          <a:p>
            <a:pPr algn="ctr" indent="0" marL="0">
              <a:buNone/>
            </a:pPr>
            <a:r>
              <a:rPr lang="en-US" sz="1000" dirty="0">
                <a:solidFill>
                  <a:srgbClr val="C9D6EE"/>
                </a:solidFill>
                <a:latin typeface="Calibri" pitchFamily="34" charset="0"/>
                <a:ea typeface="Calibri" pitchFamily="34" charset="-122"/>
                <a:cs typeface="Calibri" pitchFamily="34" charset="-120"/>
              </a:rPr>
              <a:t>Stream + Platform</a:t>
            </a:r>
            <a:endParaRPr lang="en-US" sz="1000" dirty="0"/>
          </a:p>
        </p:txBody>
      </p:sp>
      <p:sp>
        <p:nvSpPr>
          <p:cNvPr id="61" name="Text 58"/>
          <p:cNvSpPr/>
          <p:nvPr/>
        </p:nvSpPr>
        <p:spPr>
          <a:xfrm>
            <a:off x="6287872" y="2478024"/>
            <a:ext cx="2485568" cy="164592"/>
          </a:xfrm>
          <a:prstGeom prst="rect">
            <a:avLst/>
          </a:prstGeom>
          <a:noFill/>
          <a:ln/>
        </p:spPr>
        <p:txBody>
          <a:bodyPr wrap="square" lIns="0" tIns="0" rIns="0" bIns="0" rtlCol="0" anchor="ctr"/>
          <a:lstStyle/>
          <a:p>
            <a:pPr algn="ctr" indent="0" marL="0">
              <a:buNone/>
            </a:pPr>
            <a:r>
              <a:rPr lang="en-US" sz="900" i="1" dirty="0">
                <a:solidFill>
                  <a:srgbClr val="C9D6EE"/>
                </a:solidFill>
                <a:latin typeface="Calibri" pitchFamily="34" charset="0"/>
                <a:ea typeface="Calibri" pitchFamily="34" charset="-122"/>
                <a:cs typeface="Calibri" pitchFamily="34" charset="-120"/>
              </a:rPr>
              <a:t>(2020s)</a:t>
            </a:r>
            <a:endParaRPr lang="en-US" sz="900" dirty="0"/>
          </a:p>
        </p:txBody>
      </p:sp>
      <p:sp>
        <p:nvSpPr>
          <p:cNvPr id="62" name="Shape 59"/>
          <p:cNvSpPr/>
          <p:nvPr/>
        </p:nvSpPr>
        <p:spPr>
          <a:xfrm>
            <a:off x="6333592" y="2788920"/>
            <a:ext cx="2394128" cy="291465"/>
          </a:xfrm>
          <a:prstGeom prst="rect">
            <a:avLst/>
          </a:prstGeom>
          <a:solidFill>
            <a:srgbClr val="003DA5"/>
          </a:solidFill>
          <a:ln w="12700">
            <a:solidFill>
              <a:srgbClr val="003DA5"/>
            </a:solidFill>
            <a:prstDash val="solid"/>
          </a:ln>
        </p:spPr>
      </p:sp>
      <p:sp>
        <p:nvSpPr>
          <p:cNvPr id="63" name="Text 60"/>
          <p:cNvSpPr/>
          <p:nvPr/>
        </p:nvSpPr>
        <p:spPr>
          <a:xfrm>
            <a:off x="6333592" y="278892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p>
        </p:txBody>
      </p:sp>
      <p:sp>
        <p:nvSpPr>
          <p:cNvPr id="64" name="Shape 61"/>
          <p:cNvSpPr/>
          <p:nvPr/>
        </p:nvSpPr>
        <p:spPr>
          <a:xfrm>
            <a:off x="6333592" y="3126105"/>
            <a:ext cx="2394128" cy="291465"/>
          </a:xfrm>
          <a:prstGeom prst="rect">
            <a:avLst/>
          </a:prstGeom>
          <a:solidFill>
            <a:srgbClr val="003DA5"/>
          </a:solidFill>
          <a:ln w="12700">
            <a:solidFill>
              <a:srgbClr val="003DA5"/>
            </a:solidFill>
            <a:prstDash val="solid"/>
          </a:ln>
        </p:spPr>
      </p:sp>
      <p:sp>
        <p:nvSpPr>
          <p:cNvPr id="65" name="Text 62"/>
          <p:cNvSpPr/>
          <p:nvPr/>
        </p:nvSpPr>
        <p:spPr>
          <a:xfrm>
            <a:off x="6333592" y="312610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Architecture</a:t>
            </a:r>
            <a:endParaRPr lang="en-US" sz="1050" dirty="0"/>
          </a:p>
        </p:txBody>
      </p:sp>
      <p:sp>
        <p:nvSpPr>
          <p:cNvPr id="66" name="Shape 63"/>
          <p:cNvSpPr/>
          <p:nvPr/>
        </p:nvSpPr>
        <p:spPr>
          <a:xfrm>
            <a:off x="6333592" y="3463290"/>
            <a:ext cx="2394128" cy="291465"/>
          </a:xfrm>
          <a:prstGeom prst="rect">
            <a:avLst/>
          </a:prstGeom>
          <a:solidFill>
            <a:srgbClr val="10B981"/>
          </a:solidFill>
          <a:ln w="12700">
            <a:solidFill>
              <a:srgbClr val="10B981"/>
            </a:solidFill>
            <a:prstDash val="solid"/>
          </a:ln>
        </p:spPr>
      </p:sp>
      <p:sp>
        <p:nvSpPr>
          <p:cNvPr id="67" name="Text 64"/>
          <p:cNvSpPr/>
          <p:nvPr/>
        </p:nvSpPr>
        <p:spPr>
          <a:xfrm>
            <a:off x="6333592" y="346329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68" name="Shape 65"/>
          <p:cNvSpPr/>
          <p:nvPr/>
        </p:nvSpPr>
        <p:spPr>
          <a:xfrm>
            <a:off x="6333592" y="3800475"/>
            <a:ext cx="2394128" cy="291465"/>
          </a:xfrm>
          <a:prstGeom prst="rect">
            <a:avLst/>
          </a:prstGeom>
          <a:solidFill>
            <a:srgbClr val="10B981"/>
          </a:solidFill>
          <a:ln w="12700">
            <a:solidFill>
              <a:srgbClr val="10B981"/>
            </a:solidFill>
            <a:prstDash val="solid"/>
          </a:ln>
        </p:spPr>
      </p:sp>
      <p:sp>
        <p:nvSpPr>
          <p:cNvPr id="69" name="Text 66"/>
          <p:cNvSpPr/>
          <p:nvPr/>
        </p:nvSpPr>
        <p:spPr>
          <a:xfrm>
            <a:off x="6333592" y="380047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IaC / Modules</a:t>
            </a:r>
            <a:endParaRPr lang="en-US" sz="1050" dirty="0"/>
          </a:p>
        </p:txBody>
      </p:sp>
      <p:sp>
        <p:nvSpPr>
          <p:cNvPr id="70" name="Shape 67"/>
          <p:cNvSpPr/>
          <p:nvPr/>
        </p:nvSpPr>
        <p:spPr>
          <a:xfrm>
            <a:off x="6333592" y="4137660"/>
            <a:ext cx="2394128" cy="291465"/>
          </a:xfrm>
          <a:prstGeom prst="rect">
            <a:avLst/>
          </a:prstGeom>
          <a:solidFill>
            <a:srgbClr val="10B981"/>
          </a:solidFill>
          <a:ln w="12700">
            <a:solidFill>
              <a:srgbClr val="10B981"/>
            </a:solidFill>
            <a:prstDash val="solid"/>
          </a:ln>
        </p:spPr>
      </p:sp>
      <p:sp>
        <p:nvSpPr>
          <p:cNvPr id="71" name="Text 68"/>
          <p:cNvSpPr/>
          <p:nvPr/>
        </p:nvSpPr>
        <p:spPr>
          <a:xfrm>
            <a:off x="6333592" y="413766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Deployment</a:t>
            </a:r>
            <a:endParaRPr lang="en-US" sz="1050" dirty="0"/>
          </a:p>
        </p:txBody>
      </p:sp>
      <p:sp>
        <p:nvSpPr>
          <p:cNvPr id="72" name="Shape 69"/>
          <p:cNvSpPr/>
          <p:nvPr/>
        </p:nvSpPr>
        <p:spPr>
          <a:xfrm>
            <a:off x="6333592" y="4474845"/>
            <a:ext cx="2394128" cy="291465"/>
          </a:xfrm>
          <a:prstGeom prst="rect">
            <a:avLst/>
          </a:prstGeom>
          <a:solidFill>
            <a:srgbClr val="10B981"/>
          </a:solidFill>
          <a:ln w="12700">
            <a:solidFill>
              <a:srgbClr val="10B981"/>
            </a:solidFill>
            <a:prstDash val="solid"/>
          </a:ln>
        </p:spPr>
      </p:sp>
      <p:sp>
        <p:nvSpPr>
          <p:cNvPr id="73" name="Text 70"/>
          <p:cNvSpPr/>
          <p:nvPr/>
        </p:nvSpPr>
        <p:spPr>
          <a:xfrm>
            <a:off x="6333592" y="447484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Operations</a:t>
            </a:r>
            <a:endParaRPr lang="en-US" sz="1050" dirty="0"/>
          </a:p>
        </p:txBody>
      </p:sp>
      <p:sp>
        <p:nvSpPr>
          <p:cNvPr id="74" name="Shape 71"/>
          <p:cNvSpPr/>
          <p:nvPr/>
        </p:nvSpPr>
        <p:spPr>
          <a:xfrm>
            <a:off x="6333592" y="4812030"/>
            <a:ext cx="2394128" cy="291465"/>
          </a:xfrm>
          <a:prstGeom prst="rect">
            <a:avLst/>
          </a:prstGeom>
          <a:solidFill>
            <a:srgbClr val="10B981"/>
          </a:solidFill>
          <a:ln w="12700">
            <a:solidFill>
              <a:srgbClr val="10B981"/>
            </a:solidFill>
            <a:prstDash val="solid"/>
          </a:ln>
        </p:spPr>
      </p:sp>
      <p:sp>
        <p:nvSpPr>
          <p:cNvPr id="75" name="Text 72"/>
          <p:cNvSpPr/>
          <p:nvPr/>
        </p:nvSpPr>
        <p:spPr>
          <a:xfrm>
            <a:off x="6333592" y="481203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Incident Response</a:t>
            </a:r>
            <a:endParaRPr lang="en-US" sz="1050" dirty="0"/>
          </a:p>
        </p:txBody>
      </p:sp>
      <p:sp>
        <p:nvSpPr>
          <p:cNvPr id="76" name="Shape 73"/>
          <p:cNvSpPr/>
          <p:nvPr/>
        </p:nvSpPr>
        <p:spPr>
          <a:xfrm>
            <a:off x="6333592" y="5149215"/>
            <a:ext cx="2394128" cy="291465"/>
          </a:xfrm>
          <a:prstGeom prst="rect">
            <a:avLst/>
          </a:prstGeom>
          <a:solidFill>
            <a:srgbClr val="003DA5"/>
          </a:solidFill>
          <a:ln w="12700">
            <a:solidFill>
              <a:srgbClr val="003DA5"/>
            </a:solidFill>
            <a:prstDash val="solid"/>
          </a:ln>
        </p:spPr>
      </p:sp>
      <p:sp>
        <p:nvSpPr>
          <p:cNvPr id="77" name="Text 74"/>
          <p:cNvSpPr/>
          <p:nvPr/>
        </p:nvSpPr>
        <p:spPr>
          <a:xfrm>
            <a:off x="6333592" y="514921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 Automation</a:t>
            </a:r>
            <a:endParaRPr lang="en-US" sz="1050" dirty="0"/>
          </a:p>
        </p:txBody>
      </p:sp>
      <p:sp>
        <p:nvSpPr>
          <p:cNvPr id="78" name="Shape 75"/>
          <p:cNvSpPr/>
          <p:nvPr/>
        </p:nvSpPr>
        <p:spPr>
          <a:xfrm>
            <a:off x="6242152" y="5440680"/>
            <a:ext cx="2577008" cy="411480"/>
          </a:xfrm>
          <a:prstGeom prst="rect">
            <a:avLst/>
          </a:prstGeom>
          <a:solidFill>
            <a:srgbClr val="D8E0EC"/>
          </a:solidFill>
          <a:ln w="12700">
            <a:solidFill>
              <a:srgbClr val="E2E8F0"/>
            </a:solidFill>
            <a:prstDash val="solid"/>
          </a:ln>
        </p:spPr>
      </p:sp>
      <p:sp>
        <p:nvSpPr>
          <p:cNvPr id="79" name="Text 76"/>
          <p:cNvSpPr/>
          <p:nvPr/>
        </p:nvSpPr>
        <p:spPr>
          <a:xfrm>
            <a:off x="6287872" y="5440680"/>
            <a:ext cx="2485568" cy="4114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Self-service for some</a:t>
            </a:r>
            <a:endParaRPr lang="en-US" sz="1000" dirty="0"/>
          </a:p>
        </p:txBody>
      </p:sp>
      <p:sp>
        <p:nvSpPr>
          <p:cNvPr id="80" name="Shape 77"/>
          <p:cNvSpPr/>
          <p:nvPr/>
        </p:nvSpPr>
        <p:spPr>
          <a:xfrm>
            <a:off x="9066047" y="1874520"/>
            <a:ext cx="2668448" cy="4023360"/>
          </a:xfrm>
          <a:prstGeom prst="rect">
            <a:avLst/>
          </a:prstGeom>
          <a:solidFill>
            <a:srgbClr val="F4F6F9"/>
          </a:solidFill>
          <a:ln w="12700">
            <a:solidFill>
              <a:srgbClr val="E2E8F0"/>
            </a:solidFill>
            <a:prstDash val="solid"/>
          </a:ln>
        </p:spPr>
      </p:sp>
      <p:sp>
        <p:nvSpPr>
          <p:cNvPr id="81" name="Shape 78"/>
          <p:cNvSpPr/>
          <p:nvPr/>
        </p:nvSpPr>
        <p:spPr>
          <a:xfrm>
            <a:off x="9066047" y="1874520"/>
            <a:ext cx="2668448" cy="777240"/>
          </a:xfrm>
          <a:prstGeom prst="rect">
            <a:avLst/>
          </a:prstGeom>
          <a:solidFill>
            <a:srgbClr val="001F5C"/>
          </a:solidFill>
          <a:ln w="12700">
            <a:solidFill>
              <a:srgbClr val="001F5C"/>
            </a:solidFill>
            <a:prstDash val="solid"/>
          </a:ln>
        </p:spPr>
      </p:sp>
      <p:sp>
        <p:nvSpPr>
          <p:cNvPr id="82" name="Shape 79"/>
          <p:cNvSpPr/>
          <p:nvPr/>
        </p:nvSpPr>
        <p:spPr>
          <a:xfrm>
            <a:off x="9066047" y="1874520"/>
            <a:ext cx="2668448" cy="109728"/>
          </a:xfrm>
          <a:prstGeom prst="rect">
            <a:avLst/>
          </a:prstGeom>
          <a:solidFill>
            <a:srgbClr val="FEDF01"/>
          </a:solidFill>
          <a:ln w="12700">
            <a:solidFill>
              <a:srgbClr val="FEDF01"/>
            </a:solidFill>
            <a:prstDash val="solid"/>
          </a:ln>
        </p:spPr>
      </p:sp>
      <p:sp>
        <p:nvSpPr>
          <p:cNvPr id="83" name="Text 80"/>
          <p:cNvSpPr/>
          <p:nvPr/>
        </p:nvSpPr>
        <p:spPr>
          <a:xfrm>
            <a:off x="9157487" y="2020824"/>
            <a:ext cx="248556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Full-Lifecycle Squads</a:t>
            </a:r>
            <a:endParaRPr lang="en-US" sz="1400" dirty="0"/>
          </a:p>
        </p:txBody>
      </p:sp>
      <p:sp>
        <p:nvSpPr>
          <p:cNvPr id="84" name="Text 81"/>
          <p:cNvSpPr/>
          <p:nvPr/>
        </p:nvSpPr>
        <p:spPr>
          <a:xfrm>
            <a:off x="9157487" y="2295144"/>
            <a:ext cx="2485568" cy="201168"/>
          </a:xfrm>
          <a:prstGeom prst="rect">
            <a:avLst/>
          </a:prstGeom>
          <a:noFill/>
          <a:ln/>
        </p:spPr>
        <p:txBody>
          <a:bodyPr wrap="square" lIns="0" tIns="0" rIns="0" bIns="0" rtlCol="0" anchor="ctr"/>
          <a:lstStyle/>
          <a:p>
            <a:pPr algn="ctr" indent="0" marL="0">
              <a:buNone/>
            </a:pPr>
            <a:r>
              <a:rPr lang="en-US" sz="1000" dirty="0">
                <a:solidFill>
                  <a:srgbClr val="C9D6EE"/>
                </a:solidFill>
                <a:latin typeface="Calibri" pitchFamily="34" charset="0"/>
                <a:ea typeface="Calibri" pitchFamily="34" charset="-122"/>
                <a:cs typeface="Calibri" pitchFamily="34" charset="-120"/>
              </a:rPr>
              <a:t>One Team Owns It All</a:t>
            </a:r>
            <a:endParaRPr lang="en-US" sz="1000" dirty="0"/>
          </a:p>
        </p:txBody>
      </p:sp>
      <p:sp>
        <p:nvSpPr>
          <p:cNvPr id="85" name="Text 82"/>
          <p:cNvSpPr/>
          <p:nvPr/>
        </p:nvSpPr>
        <p:spPr>
          <a:xfrm>
            <a:off x="9157487" y="2478024"/>
            <a:ext cx="2485568" cy="164592"/>
          </a:xfrm>
          <a:prstGeom prst="rect">
            <a:avLst/>
          </a:prstGeom>
          <a:noFill/>
          <a:ln/>
        </p:spPr>
        <p:txBody>
          <a:bodyPr wrap="square" lIns="0" tIns="0" rIns="0" bIns="0" rtlCol="0" anchor="ctr"/>
          <a:lstStyle/>
          <a:p>
            <a:pPr algn="ctr" indent="0" marL="0">
              <a:buNone/>
            </a:pPr>
            <a:r>
              <a:rPr lang="en-US" sz="900" b="1" i="1" dirty="0">
                <a:solidFill>
                  <a:srgbClr val="FEDF01"/>
                </a:solidFill>
                <a:latin typeface="Calibri" pitchFamily="34" charset="0"/>
                <a:ea typeface="Calibri" pitchFamily="34" charset="-122"/>
                <a:cs typeface="Calibri" pitchFamily="34" charset="-120"/>
              </a:rPr>
              <a:t>(TARGET)</a:t>
            </a:r>
            <a:endParaRPr lang="en-US" sz="900" dirty="0"/>
          </a:p>
        </p:txBody>
      </p:sp>
      <p:sp>
        <p:nvSpPr>
          <p:cNvPr id="86" name="Shape 83"/>
          <p:cNvSpPr/>
          <p:nvPr/>
        </p:nvSpPr>
        <p:spPr>
          <a:xfrm>
            <a:off x="9203207" y="2788920"/>
            <a:ext cx="2394128" cy="291465"/>
          </a:xfrm>
          <a:prstGeom prst="rect">
            <a:avLst/>
          </a:prstGeom>
          <a:solidFill>
            <a:srgbClr val="10B981"/>
          </a:solidFill>
          <a:ln w="12700">
            <a:solidFill>
              <a:srgbClr val="10B981"/>
            </a:solidFill>
            <a:prstDash val="solid"/>
          </a:ln>
        </p:spPr>
      </p:sp>
      <p:sp>
        <p:nvSpPr>
          <p:cNvPr id="87" name="Text 84"/>
          <p:cNvSpPr/>
          <p:nvPr/>
        </p:nvSpPr>
        <p:spPr>
          <a:xfrm>
            <a:off x="9203207" y="278892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p>
        </p:txBody>
      </p:sp>
      <p:sp>
        <p:nvSpPr>
          <p:cNvPr id="88" name="Shape 85"/>
          <p:cNvSpPr/>
          <p:nvPr/>
        </p:nvSpPr>
        <p:spPr>
          <a:xfrm>
            <a:off x="9203207" y="3126105"/>
            <a:ext cx="2394128" cy="291465"/>
          </a:xfrm>
          <a:prstGeom prst="rect">
            <a:avLst/>
          </a:prstGeom>
          <a:solidFill>
            <a:srgbClr val="10B981"/>
          </a:solidFill>
          <a:ln w="12700">
            <a:solidFill>
              <a:srgbClr val="10B981"/>
            </a:solidFill>
            <a:prstDash val="solid"/>
          </a:ln>
        </p:spPr>
      </p:sp>
      <p:sp>
        <p:nvSpPr>
          <p:cNvPr id="89" name="Text 86"/>
          <p:cNvSpPr/>
          <p:nvPr/>
        </p:nvSpPr>
        <p:spPr>
          <a:xfrm>
            <a:off x="9203207" y="312610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Architecture</a:t>
            </a:r>
            <a:endParaRPr lang="en-US" sz="1050" dirty="0"/>
          </a:p>
        </p:txBody>
      </p:sp>
      <p:sp>
        <p:nvSpPr>
          <p:cNvPr id="90" name="Shape 87"/>
          <p:cNvSpPr/>
          <p:nvPr/>
        </p:nvSpPr>
        <p:spPr>
          <a:xfrm>
            <a:off x="9203207" y="3463290"/>
            <a:ext cx="2394128" cy="291465"/>
          </a:xfrm>
          <a:prstGeom prst="rect">
            <a:avLst/>
          </a:prstGeom>
          <a:solidFill>
            <a:srgbClr val="10B981"/>
          </a:solidFill>
          <a:ln w="12700">
            <a:solidFill>
              <a:srgbClr val="10B981"/>
            </a:solidFill>
            <a:prstDash val="solid"/>
          </a:ln>
        </p:spPr>
      </p:sp>
      <p:sp>
        <p:nvSpPr>
          <p:cNvPr id="91" name="Text 88"/>
          <p:cNvSpPr/>
          <p:nvPr/>
        </p:nvSpPr>
        <p:spPr>
          <a:xfrm>
            <a:off x="9203207" y="346329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92" name="Shape 89"/>
          <p:cNvSpPr/>
          <p:nvPr/>
        </p:nvSpPr>
        <p:spPr>
          <a:xfrm>
            <a:off x="9203207" y="3800475"/>
            <a:ext cx="2394128" cy="291465"/>
          </a:xfrm>
          <a:prstGeom prst="rect">
            <a:avLst/>
          </a:prstGeom>
          <a:solidFill>
            <a:srgbClr val="10B981"/>
          </a:solidFill>
          <a:ln w="12700">
            <a:solidFill>
              <a:srgbClr val="10B981"/>
            </a:solidFill>
            <a:prstDash val="solid"/>
          </a:ln>
        </p:spPr>
      </p:sp>
      <p:sp>
        <p:nvSpPr>
          <p:cNvPr id="93" name="Text 90"/>
          <p:cNvSpPr/>
          <p:nvPr/>
        </p:nvSpPr>
        <p:spPr>
          <a:xfrm>
            <a:off x="9203207" y="380047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IaC / Modules</a:t>
            </a:r>
            <a:endParaRPr lang="en-US" sz="1050" dirty="0"/>
          </a:p>
        </p:txBody>
      </p:sp>
      <p:sp>
        <p:nvSpPr>
          <p:cNvPr id="94" name="Shape 91"/>
          <p:cNvSpPr/>
          <p:nvPr/>
        </p:nvSpPr>
        <p:spPr>
          <a:xfrm>
            <a:off x="9203207" y="4137660"/>
            <a:ext cx="2394128" cy="291465"/>
          </a:xfrm>
          <a:prstGeom prst="rect">
            <a:avLst/>
          </a:prstGeom>
          <a:solidFill>
            <a:srgbClr val="10B981"/>
          </a:solidFill>
          <a:ln w="12700">
            <a:solidFill>
              <a:srgbClr val="10B981"/>
            </a:solidFill>
            <a:prstDash val="solid"/>
          </a:ln>
        </p:spPr>
      </p:sp>
      <p:sp>
        <p:nvSpPr>
          <p:cNvPr id="95" name="Text 92"/>
          <p:cNvSpPr/>
          <p:nvPr/>
        </p:nvSpPr>
        <p:spPr>
          <a:xfrm>
            <a:off x="9203207" y="413766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Deployment</a:t>
            </a:r>
            <a:endParaRPr lang="en-US" sz="1050" dirty="0"/>
          </a:p>
        </p:txBody>
      </p:sp>
      <p:sp>
        <p:nvSpPr>
          <p:cNvPr id="96" name="Shape 93"/>
          <p:cNvSpPr/>
          <p:nvPr/>
        </p:nvSpPr>
        <p:spPr>
          <a:xfrm>
            <a:off x="9203207" y="4474845"/>
            <a:ext cx="2394128" cy="291465"/>
          </a:xfrm>
          <a:prstGeom prst="rect">
            <a:avLst/>
          </a:prstGeom>
          <a:solidFill>
            <a:srgbClr val="10B981"/>
          </a:solidFill>
          <a:ln w="12700">
            <a:solidFill>
              <a:srgbClr val="10B981"/>
            </a:solidFill>
            <a:prstDash val="solid"/>
          </a:ln>
        </p:spPr>
      </p:sp>
      <p:sp>
        <p:nvSpPr>
          <p:cNvPr id="97" name="Text 94"/>
          <p:cNvSpPr/>
          <p:nvPr/>
        </p:nvSpPr>
        <p:spPr>
          <a:xfrm>
            <a:off x="9203207" y="447484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Operations</a:t>
            </a:r>
            <a:endParaRPr lang="en-US" sz="1050" dirty="0"/>
          </a:p>
        </p:txBody>
      </p:sp>
      <p:sp>
        <p:nvSpPr>
          <p:cNvPr id="98" name="Shape 95"/>
          <p:cNvSpPr/>
          <p:nvPr/>
        </p:nvSpPr>
        <p:spPr>
          <a:xfrm>
            <a:off x="9203207" y="4812030"/>
            <a:ext cx="2394128" cy="291465"/>
          </a:xfrm>
          <a:prstGeom prst="rect">
            <a:avLst/>
          </a:prstGeom>
          <a:solidFill>
            <a:srgbClr val="10B981"/>
          </a:solidFill>
          <a:ln w="12700">
            <a:solidFill>
              <a:srgbClr val="10B981"/>
            </a:solidFill>
            <a:prstDash val="solid"/>
          </a:ln>
        </p:spPr>
      </p:sp>
      <p:sp>
        <p:nvSpPr>
          <p:cNvPr id="99" name="Text 96"/>
          <p:cNvSpPr/>
          <p:nvPr/>
        </p:nvSpPr>
        <p:spPr>
          <a:xfrm>
            <a:off x="9203207" y="4812030"/>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Incident Response</a:t>
            </a:r>
            <a:endParaRPr lang="en-US" sz="1050" dirty="0"/>
          </a:p>
        </p:txBody>
      </p:sp>
      <p:sp>
        <p:nvSpPr>
          <p:cNvPr id="100" name="Shape 97"/>
          <p:cNvSpPr/>
          <p:nvPr/>
        </p:nvSpPr>
        <p:spPr>
          <a:xfrm>
            <a:off x="9203207" y="5149215"/>
            <a:ext cx="2394128" cy="291465"/>
          </a:xfrm>
          <a:prstGeom prst="rect">
            <a:avLst/>
          </a:prstGeom>
          <a:solidFill>
            <a:srgbClr val="10B981"/>
          </a:solidFill>
          <a:ln w="12700">
            <a:solidFill>
              <a:srgbClr val="10B981"/>
            </a:solidFill>
            <a:prstDash val="solid"/>
          </a:ln>
        </p:spPr>
      </p:sp>
      <p:sp>
        <p:nvSpPr>
          <p:cNvPr id="101" name="Text 98"/>
          <p:cNvSpPr/>
          <p:nvPr/>
        </p:nvSpPr>
        <p:spPr>
          <a:xfrm>
            <a:off x="9203207" y="5149215"/>
            <a:ext cx="2394128" cy="291465"/>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 Automation</a:t>
            </a:r>
            <a:endParaRPr lang="en-US" sz="1050" dirty="0"/>
          </a:p>
        </p:txBody>
      </p:sp>
      <p:sp>
        <p:nvSpPr>
          <p:cNvPr id="102" name="Shape 99"/>
          <p:cNvSpPr/>
          <p:nvPr/>
        </p:nvSpPr>
        <p:spPr>
          <a:xfrm>
            <a:off x="9111767" y="5440680"/>
            <a:ext cx="2577008" cy="411480"/>
          </a:xfrm>
          <a:prstGeom prst="rect">
            <a:avLst/>
          </a:prstGeom>
          <a:solidFill>
            <a:srgbClr val="FEDF01"/>
          </a:solidFill>
          <a:ln w="12700">
            <a:solidFill>
              <a:srgbClr val="FEDF01"/>
            </a:solidFill>
            <a:prstDash val="solid"/>
          </a:ln>
        </p:spPr>
      </p:sp>
      <p:sp>
        <p:nvSpPr>
          <p:cNvPr id="103" name="Text 100"/>
          <p:cNvSpPr/>
          <p:nvPr/>
        </p:nvSpPr>
        <p:spPr>
          <a:xfrm>
            <a:off x="9157487" y="5440680"/>
            <a:ext cx="2485568" cy="411480"/>
          </a:xfrm>
          <a:prstGeom prst="rect">
            <a:avLst/>
          </a:prstGeom>
          <a:noFill/>
          <a:ln/>
        </p:spPr>
        <p:txBody>
          <a:bodyPr wrap="square" lIns="0" tIns="0" rIns="0" bIns="0" rtlCol="0" anchor="ctr"/>
          <a:lstStyle/>
          <a:p>
            <a:pPr algn="ctr" indent="0" marL="0">
              <a:buNone/>
            </a:pPr>
            <a:r>
              <a:rPr lang="en-US" sz="1000" b="1" dirty="0">
                <a:solidFill>
                  <a:srgbClr val="001F5C"/>
                </a:solidFill>
                <a:latin typeface="Calibri" pitchFamily="34" charset="0"/>
                <a:ea typeface="Calibri" pitchFamily="34" charset="-122"/>
                <a:cs typeface="Calibri" pitchFamily="34" charset="-120"/>
              </a:rPr>
              <a:t>Self-service for everything</a:t>
            </a:r>
            <a:endParaRPr lang="en-US" sz="1000" dirty="0"/>
          </a:p>
        </p:txBody>
      </p:sp>
      <p:sp>
        <p:nvSpPr>
          <p:cNvPr id="104" name="Shape 101"/>
          <p:cNvSpPr/>
          <p:nvPr/>
        </p:nvSpPr>
        <p:spPr>
          <a:xfrm>
            <a:off x="914400" y="1828800"/>
            <a:ext cx="10362895" cy="0"/>
          </a:xfrm>
          <a:prstGeom prst="line">
            <a:avLst/>
          </a:prstGeom>
          <a:noFill/>
          <a:ln w="19050">
            <a:solidFill>
              <a:srgbClr val="94A3B8"/>
            </a:solidFill>
            <a:prstDash val="dash"/>
            <a:tailEnd type="triangle"/>
          </a:ln>
        </p:spPr>
      </p:sp>
      <p:sp>
        <p:nvSpPr>
          <p:cNvPr id="105" name="Text 102"/>
          <p:cNvSpPr/>
          <p:nvPr/>
        </p:nvSpPr>
        <p:spPr>
          <a:xfrm>
            <a:off x="457200" y="1627632"/>
            <a:ext cx="11277295" cy="201168"/>
          </a:xfrm>
          <a:prstGeom prst="rect">
            <a:avLst/>
          </a:prstGeom>
          <a:noFill/>
          <a:ln/>
        </p:spPr>
        <p:txBody>
          <a:bodyPr wrap="square" lIns="0" tIns="0" rIns="0" bIns="0" rtlCol="0" anchor="ctr"/>
          <a:lstStyle/>
          <a:p>
            <a:pPr algn="ctr" indent="0" marL="0">
              <a:buNone/>
            </a:pPr>
            <a:r>
              <a:rPr lang="en-US" sz="900" b="1" i="1" spc="200" kern="0" dirty="0">
                <a:solidFill>
                  <a:srgbClr val="64748B"/>
                </a:solidFill>
                <a:latin typeface="Calibri" pitchFamily="34" charset="0"/>
                <a:ea typeface="Calibri" pitchFamily="34" charset="-122"/>
                <a:cs typeface="Calibri" pitchFamily="34" charset="-120"/>
              </a:rPr>
              <a:t>EVOLUTION  →  more ownership in one team</a:t>
            </a:r>
            <a:endParaRPr lang="en-US" sz="900" dirty="0"/>
          </a:p>
        </p:txBody>
      </p:sp>
      <p:sp>
        <p:nvSpPr>
          <p:cNvPr id="106" name="Shape 103"/>
          <p:cNvSpPr/>
          <p:nvPr/>
        </p:nvSpPr>
        <p:spPr>
          <a:xfrm>
            <a:off x="457200" y="6126480"/>
            <a:ext cx="11274552" cy="384048"/>
          </a:xfrm>
          <a:prstGeom prst="rect">
            <a:avLst/>
          </a:prstGeom>
          <a:solidFill>
            <a:srgbClr val="FFFFFF"/>
          </a:solidFill>
          <a:ln w="12700">
            <a:solidFill>
              <a:srgbClr val="E2E8F0"/>
            </a:solidFill>
            <a:prstDash val="solid"/>
          </a:ln>
        </p:spPr>
      </p:sp>
      <p:sp>
        <p:nvSpPr>
          <p:cNvPr id="107" name="Shape 104"/>
          <p:cNvSpPr/>
          <p:nvPr/>
        </p:nvSpPr>
        <p:spPr>
          <a:xfrm>
            <a:off x="3626968" y="6217920"/>
            <a:ext cx="201168" cy="201168"/>
          </a:xfrm>
          <a:prstGeom prst="rect">
            <a:avLst/>
          </a:prstGeom>
          <a:solidFill>
            <a:srgbClr val="10B981"/>
          </a:solidFill>
          <a:ln w="12700">
            <a:solidFill>
              <a:srgbClr val="10B981"/>
            </a:solidFill>
            <a:prstDash val="solid"/>
          </a:ln>
        </p:spPr>
      </p:sp>
      <p:sp>
        <p:nvSpPr>
          <p:cNvPr id="108" name="Text 105"/>
          <p:cNvSpPr/>
          <p:nvPr/>
        </p:nvSpPr>
        <p:spPr>
          <a:xfrm>
            <a:off x="3901288" y="6126480"/>
            <a:ext cx="2377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Owned by ONE team (end-to-end)</a:t>
            </a:r>
            <a:endParaRPr lang="en-US" sz="1100" dirty="0"/>
          </a:p>
        </p:txBody>
      </p:sp>
      <p:sp>
        <p:nvSpPr>
          <p:cNvPr id="109" name="Shape 106"/>
          <p:cNvSpPr/>
          <p:nvPr/>
        </p:nvSpPr>
        <p:spPr>
          <a:xfrm>
            <a:off x="6370168" y="6217920"/>
            <a:ext cx="201168" cy="201168"/>
          </a:xfrm>
          <a:prstGeom prst="rect">
            <a:avLst/>
          </a:prstGeom>
          <a:solidFill>
            <a:srgbClr val="003DA5"/>
          </a:solidFill>
          <a:ln w="12700">
            <a:solidFill>
              <a:srgbClr val="003DA5"/>
            </a:solidFill>
            <a:prstDash val="solid"/>
          </a:ln>
        </p:spPr>
      </p:sp>
      <p:sp>
        <p:nvSpPr>
          <p:cNvPr id="110" name="Text 107"/>
          <p:cNvSpPr/>
          <p:nvPr/>
        </p:nvSpPr>
        <p:spPr>
          <a:xfrm>
            <a:off x="6644488" y="6126480"/>
            <a:ext cx="2377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Siloed / handed off across teams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TARGET OPERATING MODEL</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One Squad, Full Lifecycle  ·  Peer Squads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Every infrastructure capability is owned by ONE persistent squad that does everything for it. No towers, no tiers — capabilities are peers, consuming each other as services through the Zephyr Control Plane.</a:t>
            </a:r>
            <a:endParaRPr lang="en-US" sz="1300" dirty="0"/>
          </a:p>
        </p:txBody>
      </p:sp>
      <p:sp>
        <p:nvSpPr>
          <p:cNvPr id="8" name="Shape 5"/>
          <p:cNvSpPr/>
          <p:nvPr/>
        </p:nvSpPr>
        <p:spPr>
          <a:xfrm>
            <a:off x="1280160" y="1965960"/>
            <a:ext cx="9601200" cy="960120"/>
          </a:xfrm>
          <a:prstGeom prst="rect">
            <a:avLst/>
          </a:prstGeom>
          <a:solidFill>
            <a:srgbClr val="001F5C"/>
          </a:solidFill>
          <a:ln w="12700">
            <a:solidFill>
              <a:srgbClr val="001F5C"/>
            </a:solidFill>
            <a:prstDash val="solid"/>
          </a:ln>
          <a:effectLst>
            <a:outerShdw sx="100000" sy="100000" kx="0" ky="0" algn="bl" rotWithShape="0" blurRad="177800" dist="38100" dir="5400000">
              <a:srgbClr val="000000">
                <a:alpha val="12000"/>
              </a:srgbClr>
            </a:outerShdw>
          </a:effectLst>
        </p:spPr>
      </p:sp>
      <p:sp>
        <p:nvSpPr>
          <p:cNvPr id="9" name="Shape 6"/>
          <p:cNvSpPr/>
          <p:nvPr/>
        </p:nvSpPr>
        <p:spPr>
          <a:xfrm>
            <a:off x="1280160" y="1965960"/>
            <a:ext cx="9601200" cy="73152"/>
          </a:xfrm>
          <a:prstGeom prst="rect">
            <a:avLst/>
          </a:prstGeom>
          <a:solidFill>
            <a:srgbClr val="FEDF01"/>
          </a:solidFill>
          <a:ln w="12700">
            <a:solidFill>
              <a:srgbClr val="FEDF01"/>
            </a:solidFill>
            <a:prstDash val="solid"/>
          </a:ln>
        </p:spPr>
      </p:sp>
      <p:sp>
        <p:nvSpPr>
          <p:cNvPr id="10" name="Text 7"/>
          <p:cNvSpPr/>
          <p:nvPr/>
        </p:nvSpPr>
        <p:spPr>
          <a:xfrm>
            <a:off x="1554480" y="2130552"/>
            <a:ext cx="5486400" cy="274320"/>
          </a:xfrm>
          <a:prstGeom prst="rect">
            <a:avLst/>
          </a:prstGeom>
          <a:noFill/>
          <a:ln/>
        </p:spPr>
        <p:txBody>
          <a:bodyPr wrap="square" lIns="0" tIns="0" rIns="0" bIns="0" rtlCol="0" anchor="ctr"/>
          <a:lstStyle/>
          <a:p>
            <a:pPr indent="0" marL="0">
              <a:buNone/>
            </a:pPr>
            <a:r>
              <a:rPr lang="en-US" sz="1100" b="1" spc="300" kern="0" dirty="0">
                <a:solidFill>
                  <a:srgbClr val="FEDF01"/>
                </a:solidFill>
                <a:latin typeface="Calibri" pitchFamily="34" charset="0"/>
                <a:ea typeface="Calibri" pitchFamily="34" charset="-122"/>
                <a:cs typeface="Calibri" pitchFamily="34" charset="-120"/>
              </a:rPr>
              <a:t>COMMON PLATFORM CAPABILITIES</a:t>
            </a:r>
            <a:endParaRPr lang="en-US" sz="1100" dirty="0"/>
          </a:p>
        </p:txBody>
      </p:sp>
      <p:sp>
        <p:nvSpPr>
          <p:cNvPr id="11" name="Text 8"/>
          <p:cNvSpPr/>
          <p:nvPr/>
        </p:nvSpPr>
        <p:spPr>
          <a:xfrm>
            <a:off x="1554480" y="2377440"/>
            <a:ext cx="9052560" cy="228600"/>
          </a:xfrm>
          <a:prstGeom prst="rect">
            <a:avLst/>
          </a:prstGeom>
          <a:noFill/>
          <a:ln/>
        </p:spPr>
        <p:txBody>
          <a:bodyPr wrap="square" lIns="0" tIns="0" rIns="0" bIns="0" rtlCol="0" anchor="ctr"/>
          <a:lstStyle/>
          <a:p>
            <a:pPr indent="0" marL="0">
              <a:buNone/>
            </a:pPr>
            <a:r>
              <a:rPr lang="en-US" sz="1050" i="1" dirty="0">
                <a:solidFill>
                  <a:srgbClr val="C9D6EE"/>
                </a:solidFill>
                <a:latin typeface="Calibri" pitchFamily="34" charset="0"/>
                <a:ea typeface="Calibri" pitchFamily="34" charset="-122"/>
                <a:cs typeface="Calibri" pitchFamily="34" charset="-120"/>
              </a:rPr>
              <a:t>Each is itself a squad doing the same five activities for its capability.</a:t>
            </a:r>
            <a:endParaRPr lang="en-US" sz="1050" dirty="0"/>
          </a:p>
        </p:txBody>
      </p:sp>
      <p:sp>
        <p:nvSpPr>
          <p:cNvPr id="12" name="Shape 9"/>
          <p:cNvSpPr/>
          <p:nvPr/>
        </p:nvSpPr>
        <p:spPr>
          <a:xfrm>
            <a:off x="1554480" y="2633472"/>
            <a:ext cx="1737360" cy="219456"/>
          </a:xfrm>
          <a:prstGeom prst="rect">
            <a:avLst/>
          </a:prstGeom>
          <a:solidFill>
            <a:srgbClr val="FFFFFF">
              <a:alpha val="20000"/>
            </a:srgbClr>
          </a:solidFill>
          <a:ln w="7620">
            <a:solidFill>
              <a:srgbClr val="FFFFFF"/>
            </a:solidFill>
            <a:prstDash val="solid"/>
          </a:ln>
        </p:spPr>
      </p:sp>
      <p:sp>
        <p:nvSpPr>
          <p:cNvPr id="13" name="Shape 10"/>
          <p:cNvSpPr/>
          <p:nvPr/>
        </p:nvSpPr>
        <p:spPr>
          <a:xfrm>
            <a:off x="1554480" y="2633472"/>
            <a:ext cx="1737360" cy="219456"/>
          </a:xfrm>
          <a:prstGeom prst="rect">
            <a:avLst/>
          </a:prstGeom>
          <a:solidFill>
            <a:srgbClr val="FEDF01"/>
          </a:solidFill>
          <a:ln w="12700">
            <a:solidFill>
              <a:srgbClr val="FEDF01"/>
            </a:solidFill>
            <a:prstDash val="solid"/>
          </a:ln>
        </p:spPr>
      </p:sp>
      <p:sp>
        <p:nvSpPr>
          <p:cNvPr id="14" name="Text 11"/>
          <p:cNvSpPr/>
          <p:nvPr/>
        </p:nvSpPr>
        <p:spPr>
          <a:xfrm>
            <a:off x="1554480" y="2633472"/>
            <a:ext cx="1737360" cy="219456"/>
          </a:xfrm>
          <a:prstGeom prst="rect">
            <a:avLst/>
          </a:prstGeom>
          <a:noFill/>
          <a:ln/>
        </p:spPr>
        <p:txBody>
          <a:bodyPr wrap="square" lIns="0" tIns="0" rIns="0" bIns="0" rtlCol="0" anchor="ctr"/>
          <a:lstStyle/>
          <a:p>
            <a:pPr algn="ctr" indent="0" marL="0">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5" name="Shape 12"/>
          <p:cNvSpPr/>
          <p:nvPr/>
        </p:nvSpPr>
        <p:spPr>
          <a:xfrm>
            <a:off x="3383280" y="2633472"/>
            <a:ext cx="1737360" cy="219456"/>
          </a:xfrm>
          <a:prstGeom prst="rect">
            <a:avLst/>
          </a:prstGeom>
          <a:solidFill>
            <a:srgbClr val="FFFFFF">
              <a:alpha val="20000"/>
            </a:srgbClr>
          </a:solidFill>
          <a:ln w="7620">
            <a:solidFill>
              <a:srgbClr val="FFFFFF"/>
            </a:solidFill>
            <a:prstDash val="solid"/>
          </a:ln>
        </p:spPr>
      </p:sp>
      <p:sp>
        <p:nvSpPr>
          <p:cNvPr id="16" name="Text 13"/>
          <p:cNvSpPr/>
          <p:nvPr/>
        </p:nvSpPr>
        <p:spPr>
          <a:xfrm>
            <a:off x="3383280" y="2633472"/>
            <a:ext cx="17373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7" name="Shape 14"/>
          <p:cNvSpPr/>
          <p:nvPr/>
        </p:nvSpPr>
        <p:spPr>
          <a:xfrm>
            <a:off x="5212080" y="2633472"/>
            <a:ext cx="1737360" cy="219456"/>
          </a:xfrm>
          <a:prstGeom prst="rect">
            <a:avLst/>
          </a:prstGeom>
          <a:solidFill>
            <a:srgbClr val="FFFFFF">
              <a:alpha val="20000"/>
            </a:srgbClr>
          </a:solidFill>
          <a:ln w="7620">
            <a:solidFill>
              <a:srgbClr val="FFFFFF"/>
            </a:solidFill>
            <a:prstDash val="solid"/>
          </a:ln>
        </p:spPr>
      </p:sp>
      <p:sp>
        <p:nvSpPr>
          <p:cNvPr id="18" name="Text 15"/>
          <p:cNvSpPr/>
          <p:nvPr/>
        </p:nvSpPr>
        <p:spPr>
          <a:xfrm>
            <a:off x="5212080" y="2633472"/>
            <a:ext cx="17373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9" name="Shape 16"/>
          <p:cNvSpPr/>
          <p:nvPr/>
        </p:nvSpPr>
        <p:spPr>
          <a:xfrm>
            <a:off x="7040880" y="2633472"/>
            <a:ext cx="1737360" cy="219456"/>
          </a:xfrm>
          <a:prstGeom prst="rect">
            <a:avLst/>
          </a:prstGeom>
          <a:solidFill>
            <a:srgbClr val="FFFFFF">
              <a:alpha val="20000"/>
            </a:srgbClr>
          </a:solidFill>
          <a:ln w="7620">
            <a:solidFill>
              <a:srgbClr val="FFFFFF"/>
            </a:solidFill>
            <a:prstDash val="solid"/>
          </a:ln>
        </p:spPr>
      </p:sp>
      <p:sp>
        <p:nvSpPr>
          <p:cNvPr id="20" name="Text 17"/>
          <p:cNvSpPr/>
          <p:nvPr/>
        </p:nvSpPr>
        <p:spPr>
          <a:xfrm>
            <a:off x="7040880" y="2633472"/>
            <a:ext cx="17373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Secrets &amp; Identity</a:t>
            </a:r>
            <a:endParaRPr lang="en-US" sz="900" dirty="0"/>
          </a:p>
        </p:txBody>
      </p:sp>
      <p:sp>
        <p:nvSpPr>
          <p:cNvPr id="21" name="Shape 18"/>
          <p:cNvSpPr/>
          <p:nvPr/>
        </p:nvSpPr>
        <p:spPr>
          <a:xfrm>
            <a:off x="8869680" y="2633472"/>
            <a:ext cx="1737360" cy="219456"/>
          </a:xfrm>
          <a:prstGeom prst="rect">
            <a:avLst/>
          </a:prstGeom>
          <a:solidFill>
            <a:srgbClr val="FFFFFF">
              <a:alpha val="20000"/>
            </a:srgbClr>
          </a:solidFill>
          <a:ln w="7620">
            <a:solidFill>
              <a:srgbClr val="FFFFFF"/>
            </a:solidFill>
            <a:prstDash val="solid"/>
          </a:ln>
        </p:spPr>
      </p:sp>
      <p:sp>
        <p:nvSpPr>
          <p:cNvPr id="22" name="Text 19"/>
          <p:cNvSpPr/>
          <p:nvPr/>
        </p:nvSpPr>
        <p:spPr>
          <a:xfrm>
            <a:off x="8869680" y="2633472"/>
            <a:ext cx="17373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3" name="Shape 20"/>
          <p:cNvSpPr/>
          <p:nvPr/>
        </p:nvSpPr>
        <p:spPr>
          <a:xfrm>
            <a:off x="2240280" y="2926080"/>
            <a:ext cx="0" cy="365760"/>
          </a:xfrm>
          <a:prstGeom prst="line">
            <a:avLst/>
          </a:prstGeom>
          <a:noFill/>
          <a:ln w="12700">
            <a:solidFill>
              <a:srgbClr val="94A3B8"/>
            </a:solidFill>
            <a:prstDash val="dash"/>
            <a:tailEnd type="triangle"/>
          </a:ln>
        </p:spPr>
      </p:sp>
      <p:sp>
        <p:nvSpPr>
          <p:cNvPr id="24" name="Shape 21"/>
          <p:cNvSpPr/>
          <p:nvPr/>
        </p:nvSpPr>
        <p:spPr>
          <a:xfrm>
            <a:off x="4160520" y="2926080"/>
            <a:ext cx="0" cy="365760"/>
          </a:xfrm>
          <a:prstGeom prst="line">
            <a:avLst/>
          </a:prstGeom>
          <a:noFill/>
          <a:ln w="12700">
            <a:solidFill>
              <a:srgbClr val="94A3B8"/>
            </a:solidFill>
            <a:prstDash val="dash"/>
            <a:tailEnd type="triangle"/>
          </a:ln>
        </p:spPr>
      </p:sp>
      <p:sp>
        <p:nvSpPr>
          <p:cNvPr id="25" name="Shape 22"/>
          <p:cNvSpPr/>
          <p:nvPr/>
        </p:nvSpPr>
        <p:spPr>
          <a:xfrm>
            <a:off x="6080760" y="2926080"/>
            <a:ext cx="0" cy="365760"/>
          </a:xfrm>
          <a:prstGeom prst="line">
            <a:avLst/>
          </a:prstGeom>
          <a:noFill/>
          <a:ln w="12700">
            <a:solidFill>
              <a:srgbClr val="94A3B8"/>
            </a:solidFill>
            <a:prstDash val="dash"/>
            <a:tailEnd type="triangle"/>
          </a:ln>
        </p:spPr>
      </p:sp>
      <p:sp>
        <p:nvSpPr>
          <p:cNvPr id="26" name="Shape 23"/>
          <p:cNvSpPr/>
          <p:nvPr/>
        </p:nvSpPr>
        <p:spPr>
          <a:xfrm>
            <a:off x="8001000" y="2926080"/>
            <a:ext cx="0" cy="365760"/>
          </a:xfrm>
          <a:prstGeom prst="line">
            <a:avLst/>
          </a:prstGeom>
          <a:noFill/>
          <a:ln w="12700">
            <a:solidFill>
              <a:srgbClr val="94A3B8"/>
            </a:solidFill>
            <a:prstDash val="dash"/>
            <a:tailEnd type="triangle"/>
          </a:ln>
        </p:spPr>
      </p:sp>
      <p:sp>
        <p:nvSpPr>
          <p:cNvPr id="27" name="Shape 24"/>
          <p:cNvSpPr/>
          <p:nvPr/>
        </p:nvSpPr>
        <p:spPr>
          <a:xfrm>
            <a:off x="9921240" y="2926080"/>
            <a:ext cx="0" cy="365760"/>
          </a:xfrm>
          <a:prstGeom prst="line">
            <a:avLst/>
          </a:prstGeom>
          <a:noFill/>
          <a:ln w="12700">
            <a:solidFill>
              <a:srgbClr val="94A3B8"/>
            </a:solidFill>
            <a:prstDash val="dash"/>
            <a:tailEnd type="triangle"/>
          </a:ln>
        </p:spPr>
      </p:sp>
      <p:sp>
        <p:nvSpPr>
          <p:cNvPr id="28" name="Text 25"/>
          <p:cNvSpPr/>
          <p:nvPr/>
        </p:nvSpPr>
        <p:spPr>
          <a:xfrm>
            <a:off x="1280160" y="2971800"/>
            <a:ext cx="960120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used by every squad</a:t>
            </a:r>
            <a:endParaRPr lang="en-US" sz="900" dirty="0"/>
          </a:p>
        </p:txBody>
      </p:sp>
      <p:sp>
        <p:nvSpPr>
          <p:cNvPr id="29" name="Shape 26"/>
          <p:cNvSpPr/>
          <p:nvPr/>
        </p:nvSpPr>
        <p:spPr>
          <a:xfrm>
            <a:off x="1280160"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30" name="Shape 27"/>
          <p:cNvSpPr/>
          <p:nvPr/>
        </p:nvSpPr>
        <p:spPr>
          <a:xfrm>
            <a:off x="1280160" y="3291840"/>
            <a:ext cx="1104138" cy="54864"/>
          </a:xfrm>
          <a:prstGeom prst="rect">
            <a:avLst/>
          </a:prstGeom>
          <a:solidFill>
            <a:srgbClr val="FEDF01"/>
          </a:solidFill>
          <a:ln w="12700">
            <a:solidFill>
              <a:srgbClr val="FEDF01"/>
            </a:solidFill>
            <a:prstDash val="solid"/>
          </a:ln>
        </p:spPr>
      </p:sp>
      <p:sp>
        <p:nvSpPr>
          <p:cNvPr id="31" name="Text 28"/>
          <p:cNvSpPr/>
          <p:nvPr/>
        </p:nvSpPr>
        <p:spPr>
          <a:xfrm>
            <a:off x="1280160"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SQL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p>
        </p:txBody>
      </p:sp>
      <p:sp>
        <p:nvSpPr>
          <p:cNvPr id="32" name="Text 29"/>
          <p:cNvSpPr/>
          <p:nvPr/>
        </p:nvSpPr>
        <p:spPr>
          <a:xfrm>
            <a:off x="1280160"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DB engine</a:t>
            </a:r>
            <a:endParaRPr lang="en-US" sz="800" dirty="0"/>
          </a:p>
        </p:txBody>
      </p:sp>
      <p:sp>
        <p:nvSpPr>
          <p:cNvPr id="33" name="Shape 30"/>
          <p:cNvSpPr/>
          <p:nvPr/>
        </p:nvSpPr>
        <p:spPr>
          <a:xfrm>
            <a:off x="1353312" y="4343400"/>
            <a:ext cx="957834" cy="274320"/>
          </a:xfrm>
          <a:prstGeom prst="rect">
            <a:avLst/>
          </a:prstGeom>
          <a:solidFill>
            <a:srgbClr val="001F5C"/>
          </a:solidFill>
          <a:ln w="12700">
            <a:solidFill>
              <a:srgbClr val="001F5C"/>
            </a:solidFill>
            <a:prstDash val="solid"/>
          </a:ln>
        </p:spPr>
      </p:sp>
      <p:sp>
        <p:nvSpPr>
          <p:cNvPr id="34" name="Text 31"/>
          <p:cNvSpPr/>
          <p:nvPr/>
        </p:nvSpPr>
        <p:spPr>
          <a:xfrm>
            <a:off x="1353312"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35" name="Shape 32"/>
          <p:cNvSpPr/>
          <p:nvPr/>
        </p:nvSpPr>
        <p:spPr>
          <a:xfrm>
            <a:off x="2494026"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36" name="Shape 33"/>
          <p:cNvSpPr/>
          <p:nvPr/>
        </p:nvSpPr>
        <p:spPr>
          <a:xfrm>
            <a:off x="2494026" y="3291840"/>
            <a:ext cx="1104138" cy="54864"/>
          </a:xfrm>
          <a:prstGeom prst="rect">
            <a:avLst/>
          </a:prstGeom>
          <a:solidFill>
            <a:srgbClr val="FEDF01"/>
          </a:solidFill>
          <a:ln w="12700">
            <a:solidFill>
              <a:srgbClr val="FEDF01"/>
            </a:solidFill>
            <a:prstDash val="solid"/>
          </a:ln>
        </p:spPr>
      </p:sp>
      <p:sp>
        <p:nvSpPr>
          <p:cNvPr id="37" name="Text 34"/>
          <p:cNvSpPr/>
          <p:nvPr/>
        </p:nvSpPr>
        <p:spPr>
          <a:xfrm>
            <a:off x="2494026"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Postgres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Mongo</a:t>
            </a:r>
            <a:endParaRPr lang="en-US" sz="1050" dirty="0"/>
          </a:p>
        </p:txBody>
      </p:sp>
      <p:sp>
        <p:nvSpPr>
          <p:cNvPr id="38" name="Text 35"/>
          <p:cNvSpPr/>
          <p:nvPr/>
        </p:nvSpPr>
        <p:spPr>
          <a:xfrm>
            <a:off x="2494026"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DB engines</a:t>
            </a:r>
            <a:endParaRPr lang="en-US" sz="800" dirty="0"/>
          </a:p>
        </p:txBody>
      </p:sp>
      <p:sp>
        <p:nvSpPr>
          <p:cNvPr id="39" name="Shape 36"/>
          <p:cNvSpPr/>
          <p:nvPr/>
        </p:nvSpPr>
        <p:spPr>
          <a:xfrm>
            <a:off x="2567178" y="4343400"/>
            <a:ext cx="957834" cy="274320"/>
          </a:xfrm>
          <a:prstGeom prst="rect">
            <a:avLst/>
          </a:prstGeom>
          <a:solidFill>
            <a:srgbClr val="001F5C"/>
          </a:solidFill>
          <a:ln w="12700">
            <a:solidFill>
              <a:srgbClr val="001F5C"/>
            </a:solidFill>
            <a:prstDash val="solid"/>
          </a:ln>
        </p:spPr>
      </p:sp>
      <p:sp>
        <p:nvSpPr>
          <p:cNvPr id="40" name="Text 37"/>
          <p:cNvSpPr/>
          <p:nvPr/>
        </p:nvSpPr>
        <p:spPr>
          <a:xfrm>
            <a:off x="2567178"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41" name="Shape 38"/>
          <p:cNvSpPr/>
          <p:nvPr/>
        </p:nvSpPr>
        <p:spPr>
          <a:xfrm>
            <a:off x="3707892"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42" name="Shape 39"/>
          <p:cNvSpPr/>
          <p:nvPr/>
        </p:nvSpPr>
        <p:spPr>
          <a:xfrm>
            <a:off x="3707892" y="3291840"/>
            <a:ext cx="1104138" cy="54864"/>
          </a:xfrm>
          <a:prstGeom prst="rect">
            <a:avLst/>
          </a:prstGeom>
          <a:solidFill>
            <a:srgbClr val="FEDF01"/>
          </a:solidFill>
          <a:ln w="12700">
            <a:solidFill>
              <a:srgbClr val="FEDF01"/>
            </a:solidFill>
            <a:prstDash val="solid"/>
          </a:ln>
        </p:spPr>
      </p:sp>
      <p:sp>
        <p:nvSpPr>
          <p:cNvPr id="43" name="Text 40"/>
          <p:cNvSpPr/>
          <p:nvPr/>
        </p:nvSpPr>
        <p:spPr>
          <a:xfrm>
            <a:off x="3707892"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Kubernetes</a:t>
            </a:r>
            <a:endParaRPr lang="en-US" sz="1050" dirty="0"/>
          </a:p>
        </p:txBody>
      </p:sp>
      <p:sp>
        <p:nvSpPr>
          <p:cNvPr id="44" name="Text 41"/>
          <p:cNvSpPr/>
          <p:nvPr/>
        </p:nvSpPr>
        <p:spPr>
          <a:xfrm>
            <a:off x="3707892"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Container</a:t>
            </a:r>
            <a:endParaRPr lang="en-US" sz="800" dirty="0"/>
          </a:p>
        </p:txBody>
      </p:sp>
      <p:sp>
        <p:nvSpPr>
          <p:cNvPr id="45" name="Shape 42"/>
          <p:cNvSpPr/>
          <p:nvPr/>
        </p:nvSpPr>
        <p:spPr>
          <a:xfrm>
            <a:off x="3781044" y="4343400"/>
            <a:ext cx="957834" cy="274320"/>
          </a:xfrm>
          <a:prstGeom prst="rect">
            <a:avLst/>
          </a:prstGeom>
          <a:solidFill>
            <a:srgbClr val="001F5C"/>
          </a:solidFill>
          <a:ln w="12700">
            <a:solidFill>
              <a:srgbClr val="001F5C"/>
            </a:solidFill>
            <a:prstDash val="solid"/>
          </a:ln>
        </p:spPr>
      </p:sp>
      <p:sp>
        <p:nvSpPr>
          <p:cNvPr id="46" name="Text 43"/>
          <p:cNvSpPr/>
          <p:nvPr/>
        </p:nvSpPr>
        <p:spPr>
          <a:xfrm>
            <a:off x="3781044"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47" name="Shape 44"/>
          <p:cNvSpPr/>
          <p:nvPr/>
        </p:nvSpPr>
        <p:spPr>
          <a:xfrm>
            <a:off x="4921758"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48" name="Shape 45"/>
          <p:cNvSpPr/>
          <p:nvPr/>
        </p:nvSpPr>
        <p:spPr>
          <a:xfrm>
            <a:off x="4921758" y="3291840"/>
            <a:ext cx="1104138" cy="54864"/>
          </a:xfrm>
          <a:prstGeom prst="rect">
            <a:avLst/>
          </a:prstGeom>
          <a:solidFill>
            <a:srgbClr val="FEDF01"/>
          </a:solidFill>
          <a:ln w="12700">
            <a:solidFill>
              <a:srgbClr val="FEDF01"/>
            </a:solidFill>
            <a:prstDash val="solid"/>
          </a:ln>
        </p:spPr>
      </p:sp>
      <p:sp>
        <p:nvSpPr>
          <p:cNvPr id="49" name="Text 46"/>
          <p:cNvSpPr/>
          <p:nvPr/>
        </p:nvSpPr>
        <p:spPr>
          <a:xfrm>
            <a:off x="4921758"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Compute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(VM/BM/GPU)</a:t>
            </a:r>
            <a:endParaRPr lang="en-US" sz="1050" dirty="0"/>
          </a:p>
        </p:txBody>
      </p:sp>
      <p:sp>
        <p:nvSpPr>
          <p:cNvPr id="50" name="Text 47"/>
          <p:cNvSpPr/>
          <p:nvPr/>
        </p:nvSpPr>
        <p:spPr>
          <a:xfrm>
            <a:off x="4921758"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Hosts</a:t>
            </a:r>
            <a:endParaRPr lang="en-US" sz="800" dirty="0"/>
          </a:p>
        </p:txBody>
      </p:sp>
      <p:sp>
        <p:nvSpPr>
          <p:cNvPr id="51" name="Shape 48"/>
          <p:cNvSpPr/>
          <p:nvPr/>
        </p:nvSpPr>
        <p:spPr>
          <a:xfrm>
            <a:off x="4994910" y="4343400"/>
            <a:ext cx="957834" cy="274320"/>
          </a:xfrm>
          <a:prstGeom prst="rect">
            <a:avLst/>
          </a:prstGeom>
          <a:solidFill>
            <a:srgbClr val="001F5C"/>
          </a:solidFill>
          <a:ln w="12700">
            <a:solidFill>
              <a:srgbClr val="001F5C"/>
            </a:solidFill>
            <a:prstDash val="solid"/>
          </a:ln>
        </p:spPr>
      </p:sp>
      <p:sp>
        <p:nvSpPr>
          <p:cNvPr id="52" name="Text 49"/>
          <p:cNvSpPr/>
          <p:nvPr/>
        </p:nvSpPr>
        <p:spPr>
          <a:xfrm>
            <a:off x="4994910"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53" name="Shape 50"/>
          <p:cNvSpPr/>
          <p:nvPr/>
        </p:nvSpPr>
        <p:spPr>
          <a:xfrm>
            <a:off x="6135624"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54" name="Shape 51"/>
          <p:cNvSpPr/>
          <p:nvPr/>
        </p:nvSpPr>
        <p:spPr>
          <a:xfrm>
            <a:off x="6135624" y="3291840"/>
            <a:ext cx="1104138" cy="54864"/>
          </a:xfrm>
          <a:prstGeom prst="rect">
            <a:avLst/>
          </a:prstGeom>
          <a:solidFill>
            <a:srgbClr val="FEDF01"/>
          </a:solidFill>
          <a:ln w="12700">
            <a:solidFill>
              <a:srgbClr val="FEDF01"/>
            </a:solidFill>
            <a:prstDash val="solid"/>
          </a:ln>
        </p:spPr>
      </p:sp>
      <p:sp>
        <p:nvSpPr>
          <p:cNvPr id="55" name="Text 52"/>
          <p:cNvSpPr/>
          <p:nvPr/>
        </p:nvSpPr>
        <p:spPr>
          <a:xfrm>
            <a:off x="6135624"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p>
        </p:txBody>
      </p:sp>
      <p:sp>
        <p:nvSpPr>
          <p:cNvPr id="56" name="Text 53"/>
          <p:cNvSpPr/>
          <p:nvPr/>
        </p:nvSpPr>
        <p:spPr>
          <a:xfrm>
            <a:off x="6135624"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Block / object</a:t>
            </a:r>
            <a:endParaRPr lang="en-US" sz="800" dirty="0"/>
          </a:p>
        </p:txBody>
      </p:sp>
      <p:sp>
        <p:nvSpPr>
          <p:cNvPr id="57" name="Shape 54"/>
          <p:cNvSpPr/>
          <p:nvPr/>
        </p:nvSpPr>
        <p:spPr>
          <a:xfrm>
            <a:off x="6208776" y="4343400"/>
            <a:ext cx="957834" cy="274320"/>
          </a:xfrm>
          <a:prstGeom prst="rect">
            <a:avLst/>
          </a:prstGeom>
          <a:solidFill>
            <a:srgbClr val="001F5C"/>
          </a:solidFill>
          <a:ln w="12700">
            <a:solidFill>
              <a:srgbClr val="001F5C"/>
            </a:solidFill>
            <a:prstDash val="solid"/>
          </a:ln>
        </p:spPr>
      </p:sp>
      <p:sp>
        <p:nvSpPr>
          <p:cNvPr id="58" name="Text 55"/>
          <p:cNvSpPr/>
          <p:nvPr/>
        </p:nvSpPr>
        <p:spPr>
          <a:xfrm>
            <a:off x="6208776"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59" name="Shape 56"/>
          <p:cNvSpPr/>
          <p:nvPr/>
        </p:nvSpPr>
        <p:spPr>
          <a:xfrm>
            <a:off x="7349490"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60" name="Shape 57"/>
          <p:cNvSpPr/>
          <p:nvPr/>
        </p:nvSpPr>
        <p:spPr>
          <a:xfrm>
            <a:off x="7349490" y="3291840"/>
            <a:ext cx="1104138" cy="54864"/>
          </a:xfrm>
          <a:prstGeom prst="rect">
            <a:avLst/>
          </a:prstGeom>
          <a:solidFill>
            <a:srgbClr val="FEDF01"/>
          </a:solidFill>
          <a:ln w="12700">
            <a:solidFill>
              <a:srgbClr val="FEDF01"/>
            </a:solidFill>
            <a:prstDash val="solid"/>
          </a:ln>
        </p:spPr>
      </p:sp>
      <p:sp>
        <p:nvSpPr>
          <p:cNvPr id="61" name="Text 58"/>
          <p:cNvSpPr/>
          <p:nvPr/>
        </p:nvSpPr>
        <p:spPr>
          <a:xfrm>
            <a:off x="7349490"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Network</a:t>
            </a:r>
            <a:endParaRPr lang="en-US" sz="1050" dirty="0"/>
          </a:p>
        </p:txBody>
      </p:sp>
      <p:sp>
        <p:nvSpPr>
          <p:cNvPr id="62" name="Text 59"/>
          <p:cNvSpPr/>
          <p:nvPr/>
        </p:nvSpPr>
        <p:spPr>
          <a:xfrm>
            <a:off x="7349490"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SDN / DNS / LB</a:t>
            </a:r>
            <a:endParaRPr lang="en-US" sz="800" dirty="0"/>
          </a:p>
        </p:txBody>
      </p:sp>
      <p:sp>
        <p:nvSpPr>
          <p:cNvPr id="63" name="Shape 60"/>
          <p:cNvSpPr/>
          <p:nvPr/>
        </p:nvSpPr>
        <p:spPr>
          <a:xfrm>
            <a:off x="7422642" y="4343400"/>
            <a:ext cx="957834" cy="274320"/>
          </a:xfrm>
          <a:prstGeom prst="rect">
            <a:avLst/>
          </a:prstGeom>
          <a:solidFill>
            <a:srgbClr val="001F5C"/>
          </a:solidFill>
          <a:ln w="12700">
            <a:solidFill>
              <a:srgbClr val="001F5C"/>
            </a:solidFill>
            <a:prstDash val="solid"/>
          </a:ln>
        </p:spPr>
      </p:sp>
      <p:sp>
        <p:nvSpPr>
          <p:cNvPr id="64" name="Text 61"/>
          <p:cNvSpPr/>
          <p:nvPr/>
        </p:nvSpPr>
        <p:spPr>
          <a:xfrm>
            <a:off x="7422642"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65" name="Shape 62"/>
          <p:cNvSpPr/>
          <p:nvPr/>
        </p:nvSpPr>
        <p:spPr>
          <a:xfrm>
            <a:off x="8563356"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66" name="Shape 63"/>
          <p:cNvSpPr/>
          <p:nvPr/>
        </p:nvSpPr>
        <p:spPr>
          <a:xfrm>
            <a:off x="8563356" y="3291840"/>
            <a:ext cx="1104138" cy="54864"/>
          </a:xfrm>
          <a:prstGeom prst="rect">
            <a:avLst/>
          </a:prstGeom>
          <a:solidFill>
            <a:srgbClr val="FEDF01"/>
          </a:solidFill>
          <a:ln w="12700">
            <a:solidFill>
              <a:srgbClr val="FEDF01"/>
            </a:solidFill>
            <a:prstDash val="solid"/>
          </a:ln>
        </p:spPr>
      </p:sp>
      <p:sp>
        <p:nvSpPr>
          <p:cNvPr id="67" name="Text 64"/>
          <p:cNvSpPr/>
          <p:nvPr/>
        </p:nvSpPr>
        <p:spPr>
          <a:xfrm>
            <a:off x="8563356"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Linux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p:txBody>
      </p:sp>
      <p:sp>
        <p:nvSpPr>
          <p:cNvPr id="68" name="Text 65"/>
          <p:cNvSpPr/>
          <p:nvPr/>
        </p:nvSpPr>
        <p:spPr>
          <a:xfrm>
            <a:off x="8563356"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OS fleet</a:t>
            </a:r>
            <a:endParaRPr lang="en-US" sz="800" dirty="0"/>
          </a:p>
        </p:txBody>
      </p:sp>
      <p:sp>
        <p:nvSpPr>
          <p:cNvPr id="69" name="Shape 66"/>
          <p:cNvSpPr/>
          <p:nvPr/>
        </p:nvSpPr>
        <p:spPr>
          <a:xfrm>
            <a:off x="8636508" y="4343400"/>
            <a:ext cx="957834" cy="274320"/>
          </a:xfrm>
          <a:prstGeom prst="rect">
            <a:avLst/>
          </a:prstGeom>
          <a:solidFill>
            <a:srgbClr val="001F5C"/>
          </a:solidFill>
          <a:ln w="12700">
            <a:solidFill>
              <a:srgbClr val="001F5C"/>
            </a:solidFill>
            <a:prstDash val="solid"/>
          </a:ln>
        </p:spPr>
      </p:sp>
      <p:sp>
        <p:nvSpPr>
          <p:cNvPr id="70" name="Text 67"/>
          <p:cNvSpPr/>
          <p:nvPr/>
        </p:nvSpPr>
        <p:spPr>
          <a:xfrm>
            <a:off x="8636508"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71" name="Shape 68"/>
          <p:cNvSpPr/>
          <p:nvPr/>
        </p:nvSpPr>
        <p:spPr>
          <a:xfrm>
            <a:off x="9777222" y="3291840"/>
            <a:ext cx="1104138" cy="1417320"/>
          </a:xfrm>
          <a:prstGeom prst="rect">
            <a:avLst/>
          </a:prstGeom>
          <a:solidFill>
            <a:srgbClr val="003DA5"/>
          </a:solidFill>
          <a:ln w="12700">
            <a:solidFill>
              <a:srgbClr val="003DA5"/>
            </a:solidFill>
            <a:prstDash val="solid"/>
          </a:ln>
          <a:effectLst>
            <a:outerShdw sx="100000" sy="100000" kx="0" ky="0" algn="bl" rotWithShape="0" blurRad="101600" dist="25400" dir="5400000">
              <a:srgbClr val="000000">
                <a:alpha val="8000"/>
              </a:srgbClr>
            </a:outerShdw>
          </a:effectLst>
        </p:spPr>
      </p:sp>
      <p:sp>
        <p:nvSpPr>
          <p:cNvPr id="72" name="Shape 69"/>
          <p:cNvSpPr/>
          <p:nvPr/>
        </p:nvSpPr>
        <p:spPr>
          <a:xfrm>
            <a:off x="9777222" y="3291840"/>
            <a:ext cx="1104138" cy="54864"/>
          </a:xfrm>
          <a:prstGeom prst="rect">
            <a:avLst/>
          </a:prstGeom>
          <a:solidFill>
            <a:srgbClr val="FEDF01"/>
          </a:solidFill>
          <a:ln w="12700">
            <a:solidFill>
              <a:srgbClr val="FEDF01"/>
            </a:solidFill>
            <a:prstDash val="solid"/>
          </a:ln>
        </p:spPr>
      </p:sp>
      <p:sp>
        <p:nvSpPr>
          <p:cNvPr id="73" name="Text 70"/>
          <p:cNvSpPr/>
          <p:nvPr/>
        </p:nvSpPr>
        <p:spPr>
          <a:xfrm>
            <a:off x="9777222" y="3410712"/>
            <a:ext cx="1104138" cy="59436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Edge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Messaging</a:t>
            </a:r>
            <a:endParaRPr lang="en-US" sz="1050" dirty="0"/>
          </a:p>
        </p:txBody>
      </p:sp>
      <p:sp>
        <p:nvSpPr>
          <p:cNvPr id="74" name="Text 71"/>
          <p:cNvSpPr/>
          <p:nvPr/>
        </p:nvSpPr>
        <p:spPr>
          <a:xfrm>
            <a:off x="9777222" y="4005072"/>
            <a:ext cx="1104138" cy="201168"/>
          </a:xfrm>
          <a:prstGeom prst="rect">
            <a:avLst/>
          </a:prstGeom>
          <a:noFill/>
          <a:ln/>
        </p:spPr>
        <p:txBody>
          <a:bodyPr wrap="square" lIns="0" tIns="0" rIns="0" bIns="0" rtlCol="0" anchor="ctr"/>
          <a:lstStyle/>
          <a:p>
            <a:pPr algn="ctr" indent="0" marL="0">
              <a:buNone/>
            </a:pPr>
            <a:r>
              <a:rPr lang="en-US" sz="800" i="1" dirty="0">
                <a:solidFill>
                  <a:srgbClr val="C9D6EE"/>
                </a:solidFill>
                <a:latin typeface="Calibri" pitchFamily="34" charset="0"/>
                <a:ea typeface="Calibri" pitchFamily="34" charset="-122"/>
                <a:cs typeface="Calibri" pitchFamily="34" charset="-120"/>
              </a:rPr>
              <a:t>+ many more</a:t>
            </a:r>
            <a:endParaRPr lang="en-US" sz="800" dirty="0"/>
          </a:p>
        </p:txBody>
      </p:sp>
      <p:sp>
        <p:nvSpPr>
          <p:cNvPr id="75" name="Shape 72"/>
          <p:cNvSpPr/>
          <p:nvPr/>
        </p:nvSpPr>
        <p:spPr>
          <a:xfrm>
            <a:off x="9850374" y="4343400"/>
            <a:ext cx="957834" cy="274320"/>
          </a:xfrm>
          <a:prstGeom prst="rect">
            <a:avLst/>
          </a:prstGeom>
          <a:solidFill>
            <a:srgbClr val="001F5C"/>
          </a:solidFill>
          <a:ln w="12700">
            <a:solidFill>
              <a:srgbClr val="001F5C"/>
            </a:solidFill>
            <a:prstDash val="solid"/>
          </a:ln>
        </p:spPr>
      </p:sp>
      <p:sp>
        <p:nvSpPr>
          <p:cNvPr id="76" name="Text 73"/>
          <p:cNvSpPr/>
          <p:nvPr/>
        </p:nvSpPr>
        <p:spPr>
          <a:xfrm>
            <a:off x="9850374" y="4343400"/>
            <a:ext cx="957834" cy="274320"/>
          </a:xfrm>
          <a:prstGeom prst="rect">
            <a:avLst/>
          </a:prstGeom>
          <a:noFill/>
          <a:ln/>
        </p:spPr>
        <p:txBody>
          <a:bodyPr wrap="square" lIns="0" tIns="0" rIns="0" bIns="0" rtlCol="0" anchor="ctr"/>
          <a:lstStyle/>
          <a:p>
            <a:pPr algn="ctr" indent="0" marL="0">
              <a:buNone/>
            </a:pPr>
            <a:r>
              <a:rPr lang="en-US" sz="800" b="1" spc="100" kern="0" dirty="0">
                <a:solidFill>
                  <a:srgbClr val="FEDF01"/>
                </a:solidFill>
                <a:latin typeface="Calibri" pitchFamily="34" charset="0"/>
                <a:ea typeface="Calibri" pitchFamily="34" charset="-122"/>
                <a:cs typeface="Calibri" pitchFamily="34" charset="-120"/>
              </a:rPr>
              <a:t>8–12 ENG</a:t>
            </a:r>
            <a:endParaRPr lang="en-US" sz="800" dirty="0"/>
          </a:p>
        </p:txBody>
      </p:sp>
      <p:sp>
        <p:nvSpPr>
          <p:cNvPr id="77" name="Shape 74"/>
          <p:cNvSpPr/>
          <p:nvPr/>
        </p:nvSpPr>
        <p:spPr>
          <a:xfrm>
            <a:off x="2384298" y="4000500"/>
            <a:ext cx="109728" cy="0"/>
          </a:xfrm>
          <a:prstGeom prst="line">
            <a:avLst/>
          </a:prstGeom>
          <a:noFill/>
          <a:ln w="12700">
            <a:solidFill>
              <a:srgbClr val="FEDF01"/>
            </a:solidFill>
            <a:prstDash val="solid"/>
          </a:ln>
        </p:spPr>
      </p:sp>
      <p:sp>
        <p:nvSpPr>
          <p:cNvPr id="78" name="Shape 75"/>
          <p:cNvSpPr/>
          <p:nvPr/>
        </p:nvSpPr>
        <p:spPr>
          <a:xfrm>
            <a:off x="3598164" y="4000500"/>
            <a:ext cx="109728" cy="0"/>
          </a:xfrm>
          <a:prstGeom prst="line">
            <a:avLst/>
          </a:prstGeom>
          <a:noFill/>
          <a:ln w="12700">
            <a:solidFill>
              <a:srgbClr val="FEDF01"/>
            </a:solidFill>
            <a:prstDash val="solid"/>
          </a:ln>
        </p:spPr>
      </p:sp>
      <p:sp>
        <p:nvSpPr>
          <p:cNvPr id="79" name="Shape 76"/>
          <p:cNvSpPr/>
          <p:nvPr/>
        </p:nvSpPr>
        <p:spPr>
          <a:xfrm>
            <a:off x="4812030" y="4000500"/>
            <a:ext cx="109728" cy="0"/>
          </a:xfrm>
          <a:prstGeom prst="line">
            <a:avLst/>
          </a:prstGeom>
          <a:noFill/>
          <a:ln w="12700">
            <a:solidFill>
              <a:srgbClr val="FEDF01"/>
            </a:solidFill>
            <a:prstDash val="solid"/>
          </a:ln>
        </p:spPr>
      </p:sp>
      <p:sp>
        <p:nvSpPr>
          <p:cNvPr id="80" name="Shape 77"/>
          <p:cNvSpPr/>
          <p:nvPr/>
        </p:nvSpPr>
        <p:spPr>
          <a:xfrm>
            <a:off x="6025896" y="4000500"/>
            <a:ext cx="109728" cy="0"/>
          </a:xfrm>
          <a:prstGeom prst="line">
            <a:avLst/>
          </a:prstGeom>
          <a:noFill/>
          <a:ln w="12700">
            <a:solidFill>
              <a:srgbClr val="FEDF01"/>
            </a:solidFill>
            <a:prstDash val="solid"/>
          </a:ln>
        </p:spPr>
      </p:sp>
      <p:sp>
        <p:nvSpPr>
          <p:cNvPr id="81" name="Shape 78"/>
          <p:cNvSpPr/>
          <p:nvPr/>
        </p:nvSpPr>
        <p:spPr>
          <a:xfrm>
            <a:off x="7239762" y="4000500"/>
            <a:ext cx="109728" cy="0"/>
          </a:xfrm>
          <a:prstGeom prst="line">
            <a:avLst/>
          </a:prstGeom>
          <a:noFill/>
          <a:ln w="12700">
            <a:solidFill>
              <a:srgbClr val="FEDF01"/>
            </a:solidFill>
            <a:prstDash val="solid"/>
          </a:ln>
        </p:spPr>
      </p:sp>
      <p:sp>
        <p:nvSpPr>
          <p:cNvPr id="82" name="Shape 79"/>
          <p:cNvSpPr/>
          <p:nvPr/>
        </p:nvSpPr>
        <p:spPr>
          <a:xfrm>
            <a:off x="8453628" y="4000500"/>
            <a:ext cx="109728" cy="0"/>
          </a:xfrm>
          <a:prstGeom prst="line">
            <a:avLst/>
          </a:prstGeom>
          <a:noFill/>
          <a:ln w="12700">
            <a:solidFill>
              <a:srgbClr val="FEDF01"/>
            </a:solidFill>
            <a:prstDash val="solid"/>
          </a:ln>
        </p:spPr>
      </p:sp>
      <p:sp>
        <p:nvSpPr>
          <p:cNvPr id="83" name="Shape 80"/>
          <p:cNvSpPr/>
          <p:nvPr/>
        </p:nvSpPr>
        <p:spPr>
          <a:xfrm>
            <a:off x="9667494" y="4000500"/>
            <a:ext cx="109728" cy="0"/>
          </a:xfrm>
          <a:prstGeom prst="line">
            <a:avLst/>
          </a:prstGeom>
          <a:noFill/>
          <a:ln w="12700">
            <a:solidFill>
              <a:srgbClr val="FEDF01"/>
            </a:solidFill>
            <a:prstDash val="solid"/>
          </a:ln>
        </p:spPr>
      </p:sp>
      <p:sp>
        <p:nvSpPr>
          <p:cNvPr id="84" name="Shape 81"/>
          <p:cNvSpPr/>
          <p:nvPr/>
        </p:nvSpPr>
        <p:spPr>
          <a:xfrm>
            <a:off x="1280160" y="4873752"/>
            <a:ext cx="9601200" cy="640080"/>
          </a:xfrm>
          <a:prstGeom prst="rect">
            <a:avLst/>
          </a:prstGeom>
          <a:solidFill>
            <a:srgbClr val="F4F6F9"/>
          </a:solidFill>
          <a:ln w="12700">
            <a:solidFill>
              <a:srgbClr val="E2E8F0"/>
            </a:solidFill>
            <a:prstDash val="solid"/>
          </a:ln>
        </p:spPr>
      </p:sp>
      <p:sp>
        <p:nvSpPr>
          <p:cNvPr id="85" name="Shape 82"/>
          <p:cNvSpPr/>
          <p:nvPr/>
        </p:nvSpPr>
        <p:spPr>
          <a:xfrm>
            <a:off x="1280160" y="4873752"/>
            <a:ext cx="91440" cy="640080"/>
          </a:xfrm>
          <a:prstGeom prst="rect">
            <a:avLst/>
          </a:prstGeom>
          <a:solidFill>
            <a:srgbClr val="FEDF01"/>
          </a:solidFill>
          <a:ln w="12700">
            <a:solidFill>
              <a:srgbClr val="FEDF01"/>
            </a:solidFill>
            <a:prstDash val="solid"/>
          </a:ln>
        </p:spPr>
      </p:sp>
      <p:sp>
        <p:nvSpPr>
          <p:cNvPr id="86" name="Text 83"/>
          <p:cNvSpPr/>
          <p:nvPr/>
        </p:nvSpPr>
        <p:spPr>
          <a:xfrm>
            <a:off x="1508760" y="4873752"/>
            <a:ext cx="2286000" cy="640080"/>
          </a:xfrm>
          <a:prstGeom prst="rect">
            <a:avLst/>
          </a:prstGeom>
          <a:noFill/>
          <a:ln/>
        </p:spPr>
        <p:txBody>
          <a:bodyPr wrap="square" lIns="0" tIns="0" rIns="0" bIns="0" rtlCol="0" anchor="ctr"/>
          <a:lstStyle/>
          <a:p>
            <a:pPr indent="0" marL="0">
              <a:buNone/>
            </a:pPr>
            <a:r>
              <a:rPr lang="en-US" sz="1000" b="1" spc="200" kern="0" dirty="0">
                <a:solidFill>
                  <a:srgbClr val="003DA5"/>
                </a:solidFill>
                <a:latin typeface="Calibri" pitchFamily="34" charset="0"/>
                <a:ea typeface="Calibri" pitchFamily="34" charset="-122"/>
                <a:cs typeface="Calibri" pitchFamily="34" charset="-120"/>
              </a:rPr>
              <a:t>EVERY SQUAD DOES:</a:t>
            </a:r>
            <a:endParaRPr lang="en-US" sz="1000" dirty="0"/>
          </a:p>
        </p:txBody>
      </p:sp>
      <p:sp>
        <p:nvSpPr>
          <p:cNvPr id="87" name="Text 84"/>
          <p:cNvSpPr/>
          <p:nvPr/>
        </p:nvSpPr>
        <p:spPr>
          <a:xfrm>
            <a:off x="3794760" y="4873752"/>
            <a:ext cx="1325880" cy="6400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Build IaC modules</a:t>
            </a:r>
            <a:endParaRPr lang="en-US" sz="1000" dirty="0"/>
          </a:p>
        </p:txBody>
      </p:sp>
      <p:sp>
        <p:nvSpPr>
          <p:cNvPr id="88" name="Text 85"/>
          <p:cNvSpPr/>
          <p:nvPr/>
        </p:nvSpPr>
        <p:spPr>
          <a:xfrm>
            <a:off x="5138928" y="4873752"/>
            <a:ext cx="54864" cy="640080"/>
          </a:xfrm>
          <a:prstGeom prst="rect">
            <a:avLst/>
          </a:prstGeom>
          <a:noFill/>
          <a:ln/>
        </p:spPr>
        <p:txBody>
          <a:bodyPr wrap="square" lIns="0" tIns="0" rIns="0" bIns="0" rtlCol="0" anchor="ctr"/>
          <a:lstStyle/>
          <a:p>
            <a:pPr algn="ctr" indent="0" marL="0">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89" name="Text 86"/>
          <p:cNvSpPr/>
          <p:nvPr/>
        </p:nvSpPr>
        <p:spPr>
          <a:xfrm>
            <a:off x="5212080" y="4873752"/>
            <a:ext cx="1325880" cy="6400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Engineer the platform</a:t>
            </a:r>
            <a:endParaRPr lang="en-US" sz="1000" dirty="0"/>
          </a:p>
        </p:txBody>
      </p:sp>
      <p:sp>
        <p:nvSpPr>
          <p:cNvPr id="90" name="Text 87"/>
          <p:cNvSpPr/>
          <p:nvPr/>
        </p:nvSpPr>
        <p:spPr>
          <a:xfrm>
            <a:off x="6556248" y="4873752"/>
            <a:ext cx="54864" cy="640080"/>
          </a:xfrm>
          <a:prstGeom prst="rect">
            <a:avLst/>
          </a:prstGeom>
          <a:noFill/>
          <a:ln/>
        </p:spPr>
        <p:txBody>
          <a:bodyPr wrap="square" lIns="0" tIns="0" rIns="0" bIns="0" rtlCol="0" anchor="ctr"/>
          <a:lstStyle/>
          <a:p>
            <a:pPr algn="ctr" indent="0" marL="0">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1" name="Text 88"/>
          <p:cNvSpPr/>
          <p:nvPr/>
        </p:nvSpPr>
        <p:spPr>
          <a:xfrm>
            <a:off x="6629400" y="4873752"/>
            <a:ext cx="1325880" cy="6400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Operate (SLO + on-call)</a:t>
            </a:r>
            <a:endParaRPr lang="en-US" sz="1000" dirty="0"/>
          </a:p>
        </p:txBody>
      </p:sp>
      <p:sp>
        <p:nvSpPr>
          <p:cNvPr id="92" name="Text 89"/>
          <p:cNvSpPr/>
          <p:nvPr/>
        </p:nvSpPr>
        <p:spPr>
          <a:xfrm>
            <a:off x="7973568" y="4873752"/>
            <a:ext cx="54864" cy="640080"/>
          </a:xfrm>
          <a:prstGeom prst="rect">
            <a:avLst/>
          </a:prstGeom>
          <a:noFill/>
          <a:ln/>
        </p:spPr>
        <p:txBody>
          <a:bodyPr wrap="square" lIns="0" tIns="0" rIns="0" bIns="0" rtlCol="0" anchor="ctr"/>
          <a:lstStyle/>
          <a:p>
            <a:pPr algn="ctr" indent="0" marL="0">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3" name="Text 90"/>
          <p:cNvSpPr/>
          <p:nvPr/>
        </p:nvSpPr>
        <p:spPr>
          <a:xfrm>
            <a:off x="8046720" y="4873752"/>
            <a:ext cx="1325880" cy="6400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AI agents for incidents</a:t>
            </a:r>
            <a:endParaRPr lang="en-US" sz="1000" dirty="0"/>
          </a:p>
        </p:txBody>
      </p:sp>
      <p:sp>
        <p:nvSpPr>
          <p:cNvPr id="94" name="Text 91"/>
          <p:cNvSpPr/>
          <p:nvPr/>
        </p:nvSpPr>
        <p:spPr>
          <a:xfrm>
            <a:off x="9390888" y="4873752"/>
            <a:ext cx="54864" cy="640080"/>
          </a:xfrm>
          <a:prstGeom prst="rect">
            <a:avLst/>
          </a:prstGeom>
          <a:noFill/>
          <a:ln/>
        </p:spPr>
        <p:txBody>
          <a:bodyPr wrap="square" lIns="0" tIns="0" rIns="0" bIns="0" rtlCol="0" anchor="ctr"/>
          <a:lstStyle/>
          <a:p>
            <a:pPr algn="ctr" indent="0" marL="0">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5" name="Text 92"/>
          <p:cNvSpPr/>
          <p:nvPr/>
        </p:nvSpPr>
        <p:spPr>
          <a:xfrm>
            <a:off x="9464040" y="4873752"/>
            <a:ext cx="1325880" cy="64008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Automate everything</a:t>
            </a:r>
            <a:endParaRPr lang="en-US" sz="1000" dirty="0"/>
          </a:p>
        </p:txBody>
      </p:sp>
      <p:sp>
        <p:nvSpPr>
          <p:cNvPr id="96" name="Shape 93"/>
          <p:cNvSpPr/>
          <p:nvPr/>
        </p:nvSpPr>
        <p:spPr>
          <a:xfrm>
            <a:off x="457200" y="1965960"/>
            <a:ext cx="749808" cy="3547872"/>
          </a:xfrm>
          <a:prstGeom prst="rect">
            <a:avLst/>
          </a:prstGeom>
          <a:solidFill>
            <a:srgbClr val="F4F6F9"/>
          </a:solidFill>
          <a:ln w="12700">
            <a:solidFill>
              <a:srgbClr val="E2E8F0"/>
            </a:solidFill>
            <a:prstDash val="solid"/>
          </a:ln>
        </p:spPr>
      </p:sp>
      <p:sp>
        <p:nvSpPr>
          <p:cNvPr id="97" name="Shape 94"/>
          <p:cNvSpPr/>
          <p:nvPr/>
        </p:nvSpPr>
        <p:spPr>
          <a:xfrm>
            <a:off x="457200" y="1965960"/>
            <a:ext cx="749808" cy="73152"/>
          </a:xfrm>
          <a:prstGeom prst="rect">
            <a:avLst/>
          </a:prstGeom>
          <a:solidFill>
            <a:srgbClr val="FEDF01"/>
          </a:solidFill>
          <a:ln w="12700">
            <a:solidFill>
              <a:srgbClr val="FEDF01"/>
            </a:solidFill>
            <a:prstDash val="solid"/>
          </a:ln>
        </p:spPr>
      </p:sp>
      <p:sp>
        <p:nvSpPr>
          <p:cNvPr id="98" name="Text 95"/>
          <p:cNvSpPr/>
          <p:nvPr/>
        </p:nvSpPr>
        <p:spPr>
          <a:xfrm>
            <a:off x="457200" y="2130552"/>
            <a:ext cx="749808" cy="27432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GUILDS</a:t>
            </a:r>
            <a:endParaRPr lang="en-US" sz="900" dirty="0"/>
          </a:p>
        </p:txBody>
      </p:sp>
      <p:sp>
        <p:nvSpPr>
          <p:cNvPr id="99" name="Text 96"/>
          <p:cNvSpPr/>
          <p:nvPr/>
        </p:nvSpPr>
        <p:spPr>
          <a:xfrm>
            <a:off x="457200" y="2377440"/>
            <a:ext cx="749808" cy="228600"/>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(craft)</a:t>
            </a:r>
            <a:endParaRPr lang="en-US" sz="800" dirty="0"/>
          </a:p>
        </p:txBody>
      </p:sp>
      <p:sp>
        <p:nvSpPr>
          <p:cNvPr id="100" name="Text 97"/>
          <p:cNvSpPr/>
          <p:nvPr/>
        </p:nvSpPr>
        <p:spPr>
          <a:xfrm>
            <a:off x="457200" y="2679192"/>
            <a:ext cx="749808" cy="2770632"/>
          </a:xfrm>
          <a:prstGeom prst="rect">
            <a:avLst/>
          </a:prstGeom>
          <a:noFill/>
          <a:ln/>
        </p:spPr>
        <p:txBody>
          <a:bodyPr wrap="square" lIns="0" tIns="0" rIns="0" bIns="0" rtlCol="0" anchor="ctr"/>
          <a:lstStyle/>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Architecture</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SRE</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IaC</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Incident</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Commander</a:t>
            </a:r>
            <a:endParaRPr lang="en-US" sz="850" dirty="0"/>
          </a:p>
        </p:txBody>
      </p:sp>
      <p:sp>
        <p:nvSpPr>
          <p:cNvPr id="101" name="Shape 98"/>
          <p:cNvSpPr/>
          <p:nvPr/>
        </p:nvSpPr>
        <p:spPr>
          <a:xfrm>
            <a:off x="10984687" y="1965960"/>
            <a:ext cx="749808" cy="3547872"/>
          </a:xfrm>
          <a:prstGeom prst="rect">
            <a:avLst/>
          </a:prstGeom>
          <a:solidFill>
            <a:srgbClr val="F4F6F9"/>
          </a:solidFill>
          <a:ln w="12700">
            <a:solidFill>
              <a:srgbClr val="E2E8F0"/>
            </a:solidFill>
            <a:prstDash val="solid"/>
          </a:ln>
        </p:spPr>
      </p:sp>
      <p:sp>
        <p:nvSpPr>
          <p:cNvPr id="102" name="Shape 99"/>
          <p:cNvSpPr/>
          <p:nvPr/>
        </p:nvSpPr>
        <p:spPr>
          <a:xfrm>
            <a:off x="10984687" y="1965960"/>
            <a:ext cx="749808" cy="73152"/>
          </a:xfrm>
          <a:prstGeom prst="rect">
            <a:avLst/>
          </a:prstGeom>
          <a:solidFill>
            <a:srgbClr val="FEDF01"/>
          </a:solidFill>
          <a:ln w="12700">
            <a:solidFill>
              <a:srgbClr val="FEDF01"/>
            </a:solidFill>
            <a:prstDash val="solid"/>
          </a:ln>
        </p:spPr>
      </p:sp>
      <p:sp>
        <p:nvSpPr>
          <p:cNvPr id="103" name="Text 100"/>
          <p:cNvSpPr/>
          <p:nvPr/>
        </p:nvSpPr>
        <p:spPr>
          <a:xfrm>
            <a:off x="10984687" y="2130552"/>
            <a:ext cx="749808" cy="274320"/>
          </a:xfrm>
          <a:prstGeom prst="rect">
            <a:avLst/>
          </a:prstGeom>
          <a:noFill/>
          <a:ln/>
        </p:spPr>
        <p:txBody>
          <a:bodyPr wrap="square" lIns="0" tIns="0" rIns="0" bIns="0" rtlCol="0" anchor="ctr"/>
          <a:lstStyle/>
          <a:p>
            <a:pPr algn="ctr" indent="0" marL="0">
              <a:buNone/>
            </a:pPr>
            <a:r>
              <a:rPr lang="en-US" sz="900" b="1" spc="200" kern="0" dirty="0">
                <a:solidFill>
                  <a:srgbClr val="003DA5"/>
                </a:solidFill>
                <a:latin typeface="Calibri" pitchFamily="34" charset="0"/>
                <a:ea typeface="Calibri" pitchFamily="34" charset="-122"/>
                <a:cs typeface="Calibri" pitchFamily="34" charset="-120"/>
              </a:rPr>
              <a:t>ENABLING</a:t>
            </a:r>
            <a:endParaRPr lang="en-US" sz="900" dirty="0"/>
          </a:p>
        </p:txBody>
      </p:sp>
      <p:sp>
        <p:nvSpPr>
          <p:cNvPr id="104" name="Text 101"/>
          <p:cNvSpPr/>
          <p:nvPr/>
        </p:nvSpPr>
        <p:spPr>
          <a:xfrm>
            <a:off x="10984687" y="2377440"/>
            <a:ext cx="749808" cy="228600"/>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(coaching)</a:t>
            </a:r>
            <a:endParaRPr lang="en-US" sz="800" dirty="0"/>
          </a:p>
        </p:txBody>
      </p:sp>
      <p:sp>
        <p:nvSpPr>
          <p:cNvPr id="105" name="Text 102"/>
          <p:cNvSpPr/>
          <p:nvPr/>
        </p:nvSpPr>
        <p:spPr>
          <a:xfrm>
            <a:off x="10984687" y="2679192"/>
            <a:ext cx="749808" cy="2770632"/>
          </a:xfrm>
          <a:prstGeom prst="rect">
            <a:avLst/>
          </a:prstGeom>
          <a:noFill/>
          <a:ln/>
        </p:spPr>
        <p:txBody>
          <a:bodyPr wrap="square" lIns="0" tIns="0" rIns="0" bIns="0" rtlCol="0" anchor="ctr"/>
          <a:lstStyle/>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Cloud-Native</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Platform-as-</a:t>
            </a:r>
            <a:endParaRPr lang="en-US" sz="850" dirty="0"/>
          </a:p>
          <a:p>
            <a:pPr algn="ctr" indent="0" marL="0">
              <a:spcAft>
                <a:spcPts val="200"/>
              </a:spcAft>
              <a:buNone/>
            </a:pPr>
            <a:r>
              <a:rPr lang="en-US" sz="850" dirty="0">
                <a:solidFill>
                  <a:srgbClr val="1E293B"/>
                </a:solidFill>
                <a:latin typeface="Calibri" pitchFamily="34" charset="0"/>
                <a:ea typeface="Calibri" pitchFamily="34" charset="-122"/>
                <a:cs typeface="Calibri" pitchFamily="34" charset="-120"/>
              </a:rPr>
              <a:t>Product</a:t>
            </a:r>
            <a:endParaRPr lang="en-US" sz="850" dirty="0"/>
          </a:p>
        </p:txBody>
      </p:sp>
      <p:sp>
        <p:nvSpPr>
          <p:cNvPr id="106" name="Text 103"/>
          <p:cNvSpPr/>
          <p:nvPr/>
        </p:nvSpPr>
        <p:spPr>
          <a:xfrm>
            <a:off x="457200" y="6263640"/>
            <a:ext cx="11274552"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Each engineer belongs to ONE squad (delivery accountability) and 1–2 Guilds (craft mastery). Cross-capability incidents handled by a rotational Incident Commander.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WORKED EXAMPLE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Where Does SQL Server Live?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64008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SQL Server is owned by ONE squad — they build the IaC modules, engineer it, operate it, build the AI agents that prevent its incidents, and automate everything. They consume other squads as peer services through the Zephyr Control Plane.</a:t>
            </a:r>
            <a:endParaRPr lang="en-US" sz="1300" dirty="0"/>
          </a:p>
        </p:txBody>
      </p:sp>
      <p:sp>
        <p:nvSpPr>
          <p:cNvPr id="8" name="Shape 5"/>
          <p:cNvSpPr/>
          <p:nvPr/>
        </p:nvSpPr>
        <p:spPr>
          <a:xfrm>
            <a:off x="548640" y="2057400"/>
            <a:ext cx="11091672" cy="640080"/>
          </a:xfrm>
          <a:prstGeom prst="rect">
            <a:avLst/>
          </a:prstGeom>
          <a:solidFill>
            <a:srgbClr val="001F5C"/>
          </a:solidFill>
          <a:ln w="12700">
            <a:solidFill>
              <a:srgbClr val="001F5C"/>
            </a:solidFill>
            <a:prstDash val="solid"/>
          </a:ln>
          <a:effectLst>
            <a:outerShdw sx="100000" sy="100000" kx="0" ky="0" algn="bl" rotWithShape="0" blurRad="101600" dist="25400" dir="5400000">
              <a:srgbClr val="000000">
                <a:alpha val="8000"/>
              </a:srgbClr>
            </a:outerShdw>
          </a:effectLst>
        </p:spPr>
      </p:sp>
      <p:sp>
        <p:nvSpPr>
          <p:cNvPr id="9" name="Shape 6"/>
          <p:cNvSpPr/>
          <p:nvPr/>
        </p:nvSpPr>
        <p:spPr>
          <a:xfrm>
            <a:off x="548640" y="2057400"/>
            <a:ext cx="11091672" cy="54864"/>
          </a:xfrm>
          <a:prstGeom prst="rect">
            <a:avLst/>
          </a:prstGeom>
          <a:solidFill>
            <a:srgbClr val="FEDF01"/>
          </a:solidFill>
          <a:ln w="12700">
            <a:solidFill>
              <a:srgbClr val="FEDF01"/>
            </a:solidFill>
            <a:prstDash val="solid"/>
          </a:ln>
        </p:spPr>
      </p:sp>
      <p:sp>
        <p:nvSpPr>
          <p:cNvPr id="10" name="Text 7"/>
          <p:cNvSpPr/>
          <p:nvPr/>
        </p:nvSpPr>
        <p:spPr>
          <a:xfrm>
            <a:off x="777240" y="2130552"/>
            <a:ext cx="10634472" cy="228600"/>
          </a:xfrm>
          <a:prstGeom prst="rect">
            <a:avLst/>
          </a:prstGeom>
          <a:noFill/>
          <a:ln/>
        </p:spPr>
        <p:txBody>
          <a:bodyPr wrap="square" lIns="0" tIns="0" rIns="0" bIns="0" rtlCol="0" anchor="ctr"/>
          <a:lstStyle/>
          <a:p>
            <a:pPr indent="0" marL="0">
              <a:buNone/>
            </a:pPr>
            <a:r>
              <a:rPr lang="en-US" sz="950" b="1" spc="200" kern="0" dirty="0">
                <a:solidFill>
                  <a:srgbClr val="FEDF01"/>
                </a:solidFill>
                <a:latin typeface="Calibri" pitchFamily="34" charset="0"/>
                <a:ea typeface="Calibri" pitchFamily="34" charset="-122"/>
                <a:cs typeface="Calibri" pitchFamily="34" charset="-120"/>
              </a:rPr>
              <a:t>COMMON PLATFORM CAPABILITIES — used by every squad</a:t>
            </a:r>
            <a:endParaRPr lang="en-US" sz="950" dirty="0"/>
          </a:p>
        </p:txBody>
      </p:sp>
      <p:sp>
        <p:nvSpPr>
          <p:cNvPr id="11" name="Shape 8"/>
          <p:cNvSpPr/>
          <p:nvPr/>
        </p:nvSpPr>
        <p:spPr>
          <a:xfrm>
            <a:off x="777240" y="2386584"/>
            <a:ext cx="2039112" cy="256032"/>
          </a:xfrm>
          <a:prstGeom prst="rect">
            <a:avLst/>
          </a:prstGeom>
          <a:solidFill>
            <a:srgbClr val="FEDF01"/>
          </a:solidFill>
          <a:ln w="9525">
            <a:solidFill>
              <a:srgbClr val="FEDF01"/>
            </a:solidFill>
            <a:prstDash val="solid"/>
          </a:ln>
        </p:spPr>
      </p:sp>
      <p:sp>
        <p:nvSpPr>
          <p:cNvPr id="12" name="Text 9"/>
          <p:cNvSpPr/>
          <p:nvPr/>
        </p:nvSpPr>
        <p:spPr>
          <a:xfrm>
            <a:off x="777240" y="2386584"/>
            <a:ext cx="2039112" cy="256032"/>
          </a:xfrm>
          <a:prstGeom prst="rect">
            <a:avLst/>
          </a:prstGeom>
          <a:noFill/>
          <a:ln/>
        </p:spPr>
        <p:txBody>
          <a:bodyPr wrap="square" lIns="0" tIns="0" rIns="0" bIns="0" rtlCol="0" anchor="ctr"/>
          <a:lstStyle/>
          <a:p>
            <a:pPr algn="ctr" indent="0" marL="0">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3" name="Shape 10"/>
          <p:cNvSpPr/>
          <p:nvPr/>
        </p:nvSpPr>
        <p:spPr>
          <a:xfrm>
            <a:off x="2926080" y="2386584"/>
            <a:ext cx="2039112" cy="256032"/>
          </a:xfrm>
          <a:prstGeom prst="rect">
            <a:avLst/>
          </a:prstGeom>
          <a:solidFill>
            <a:srgbClr val="1A4FB5"/>
          </a:solidFill>
          <a:ln w="9525">
            <a:solidFill>
              <a:srgbClr val="335FB8"/>
            </a:solidFill>
            <a:prstDash val="solid"/>
          </a:ln>
        </p:spPr>
      </p:sp>
      <p:sp>
        <p:nvSpPr>
          <p:cNvPr id="14" name="Text 11"/>
          <p:cNvSpPr/>
          <p:nvPr/>
        </p:nvSpPr>
        <p:spPr>
          <a:xfrm>
            <a:off x="2926080" y="2386584"/>
            <a:ext cx="20391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5" name="Shape 12"/>
          <p:cNvSpPr/>
          <p:nvPr/>
        </p:nvSpPr>
        <p:spPr>
          <a:xfrm>
            <a:off x="5074920" y="2386584"/>
            <a:ext cx="2039112" cy="256032"/>
          </a:xfrm>
          <a:prstGeom prst="rect">
            <a:avLst/>
          </a:prstGeom>
          <a:solidFill>
            <a:srgbClr val="1A4FB5"/>
          </a:solidFill>
          <a:ln w="9525">
            <a:solidFill>
              <a:srgbClr val="335FB8"/>
            </a:solidFill>
            <a:prstDash val="solid"/>
          </a:ln>
        </p:spPr>
      </p:sp>
      <p:sp>
        <p:nvSpPr>
          <p:cNvPr id="16" name="Text 13"/>
          <p:cNvSpPr/>
          <p:nvPr/>
        </p:nvSpPr>
        <p:spPr>
          <a:xfrm>
            <a:off x="5074920" y="2386584"/>
            <a:ext cx="20391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7" name="Shape 14"/>
          <p:cNvSpPr/>
          <p:nvPr/>
        </p:nvSpPr>
        <p:spPr>
          <a:xfrm>
            <a:off x="7223760" y="2386584"/>
            <a:ext cx="2039112" cy="256032"/>
          </a:xfrm>
          <a:prstGeom prst="rect">
            <a:avLst/>
          </a:prstGeom>
          <a:solidFill>
            <a:srgbClr val="1A4FB5"/>
          </a:solidFill>
          <a:ln w="9525">
            <a:solidFill>
              <a:srgbClr val="335FB8"/>
            </a:solidFill>
            <a:prstDash val="solid"/>
          </a:ln>
        </p:spPr>
      </p:sp>
      <p:sp>
        <p:nvSpPr>
          <p:cNvPr id="18" name="Text 15"/>
          <p:cNvSpPr/>
          <p:nvPr/>
        </p:nvSpPr>
        <p:spPr>
          <a:xfrm>
            <a:off x="7223760" y="2386584"/>
            <a:ext cx="20391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Secrets / Identity</a:t>
            </a:r>
            <a:endParaRPr lang="en-US" sz="900" dirty="0"/>
          </a:p>
        </p:txBody>
      </p:sp>
      <p:sp>
        <p:nvSpPr>
          <p:cNvPr id="19" name="Shape 16"/>
          <p:cNvSpPr/>
          <p:nvPr/>
        </p:nvSpPr>
        <p:spPr>
          <a:xfrm>
            <a:off x="9372600" y="2386584"/>
            <a:ext cx="2039112" cy="256032"/>
          </a:xfrm>
          <a:prstGeom prst="rect">
            <a:avLst/>
          </a:prstGeom>
          <a:solidFill>
            <a:srgbClr val="1A4FB5"/>
          </a:solidFill>
          <a:ln w="9525">
            <a:solidFill>
              <a:srgbClr val="335FB8"/>
            </a:solidFill>
            <a:prstDash val="solid"/>
          </a:ln>
        </p:spPr>
      </p:sp>
      <p:sp>
        <p:nvSpPr>
          <p:cNvPr id="20" name="Text 17"/>
          <p:cNvSpPr/>
          <p:nvPr/>
        </p:nvSpPr>
        <p:spPr>
          <a:xfrm>
            <a:off x="9372600" y="2386584"/>
            <a:ext cx="203911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1" name="Shape 18"/>
          <p:cNvSpPr/>
          <p:nvPr/>
        </p:nvSpPr>
        <p:spPr>
          <a:xfrm>
            <a:off x="4541368" y="3291840"/>
            <a:ext cx="3108960" cy="2286000"/>
          </a:xfrm>
          <a:prstGeom prst="rect">
            <a:avLst/>
          </a:prstGeom>
          <a:solidFill>
            <a:srgbClr val="001F5C"/>
          </a:solidFill>
          <a:ln w="12700">
            <a:solidFill>
              <a:srgbClr val="001F5C"/>
            </a:solidFill>
            <a:prstDash val="solid"/>
          </a:ln>
          <a:effectLst>
            <a:outerShdw sx="100000" sy="100000" kx="0" ky="0" algn="bl" rotWithShape="0" blurRad="177800" dist="38100" dir="5400000">
              <a:srgbClr val="000000">
                <a:alpha val="12000"/>
              </a:srgbClr>
            </a:outerShdw>
          </a:effectLst>
        </p:spPr>
      </p:sp>
      <p:sp>
        <p:nvSpPr>
          <p:cNvPr id="22" name="Shape 19"/>
          <p:cNvSpPr/>
          <p:nvPr/>
        </p:nvSpPr>
        <p:spPr>
          <a:xfrm>
            <a:off x="4541368" y="3291840"/>
            <a:ext cx="3108960" cy="109728"/>
          </a:xfrm>
          <a:prstGeom prst="rect">
            <a:avLst/>
          </a:prstGeom>
          <a:solidFill>
            <a:srgbClr val="FEDF01"/>
          </a:solidFill>
          <a:ln w="12700">
            <a:solidFill>
              <a:srgbClr val="FEDF01"/>
            </a:solidFill>
            <a:prstDash val="solid"/>
          </a:ln>
        </p:spPr>
      </p:sp>
      <p:sp>
        <p:nvSpPr>
          <p:cNvPr id="23" name="Shape 20"/>
          <p:cNvSpPr/>
          <p:nvPr/>
        </p:nvSpPr>
        <p:spPr>
          <a:xfrm>
            <a:off x="5775808" y="3456432"/>
            <a:ext cx="640080" cy="640080"/>
          </a:xfrm>
          <a:prstGeom prst="ellipse">
            <a:avLst/>
          </a:prstGeom>
          <a:solidFill>
            <a:srgbClr val="FFFFFF"/>
          </a:solidFill>
          <a:ln w="12700">
            <a:solidFill>
              <a:srgbClr val="FFFFFF"/>
            </a:solidFill>
            <a:prstDash val="solid"/>
          </a:ln>
        </p:spPr>
      </p:sp>
      <p:pic>
        <p:nvPicPr>
          <p:cNvPr id="24" name="Image 1" descr="preencoded.png">    </p:cNvPr>
          <p:cNvPicPr>
            <a:picLocks noChangeAspect="1"/>
          </p:cNvPicPr>
          <p:nvPr/>
        </p:nvPicPr>
        <p:blipFill>
          <a:blip r:embed="rId2"/>
          <a:stretch>
            <a:fillRect/>
          </a:stretch>
        </p:blipFill>
        <p:spPr>
          <a:xfrm>
            <a:off x="5848960" y="3529584"/>
            <a:ext cx="493776" cy="493776"/>
          </a:xfrm>
          <a:prstGeom prst="rect">
            <a:avLst/>
          </a:prstGeom>
        </p:spPr>
      </p:pic>
      <p:sp>
        <p:nvSpPr>
          <p:cNvPr id="25" name="Text 21"/>
          <p:cNvSpPr/>
          <p:nvPr/>
        </p:nvSpPr>
        <p:spPr>
          <a:xfrm>
            <a:off x="4541368" y="4133088"/>
            <a:ext cx="31089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SQL Server Squad</a:t>
            </a:r>
            <a:endParaRPr lang="en-US" sz="1600" dirty="0"/>
          </a:p>
        </p:txBody>
      </p:sp>
      <p:sp>
        <p:nvSpPr>
          <p:cNvPr id="26" name="Text 22"/>
          <p:cNvSpPr/>
          <p:nvPr/>
        </p:nvSpPr>
        <p:spPr>
          <a:xfrm>
            <a:off x="4541368" y="4480560"/>
            <a:ext cx="3108960" cy="228600"/>
          </a:xfrm>
          <a:prstGeom prst="rect">
            <a:avLst/>
          </a:prstGeom>
          <a:noFill/>
          <a:ln/>
        </p:spPr>
        <p:txBody>
          <a:bodyPr wrap="square" lIns="0" tIns="0" rIns="0" bIns="0" rtlCol="0" anchor="ctr"/>
          <a:lstStyle/>
          <a:p>
            <a:pPr algn="ctr" indent="0" marL="0">
              <a:buNone/>
            </a:pPr>
            <a:r>
              <a:rPr lang="en-US" sz="1000" i="1" dirty="0">
                <a:solidFill>
                  <a:srgbClr val="FEDF01"/>
                </a:solidFill>
                <a:latin typeface="Calibri" pitchFamily="34" charset="0"/>
                <a:ea typeface="Calibri" pitchFamily="34" charset="-122"/>
                <a:cs typeface="Calibri" pitchFamily="34" charset="-120"/>
              </a:rPr>
              <a:t>8–12 engineers · single team</a:t>
            </a:r>
            <a:endParaRPr lang="en-US" sz="1000" dirty="0"/>
          </a:p>
        </p:txBody>
      </p:sp>
      <p:sp>
        <p:nvSpPr>
          <p:cNvPr id="27" name="Text 23"/>
          <p:cNvSpPr/>
          <p:nvPr/>
        </p:nvSpPr>
        <p:spPr>
          <a:xfrm>
            <a:off x="4769968" y="4754880"/>
            <a:ext cx="2651760" cy="7772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Build IaC modules</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Engineer (HA, DR, performance)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Operate (SLOs, on-call, runbooks)</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AI agents for incident prevention</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Automate everything that can be</a:t>
            </a:r>
            <a:endParaRPr lang="en-US" sz="1000" dirty="0"/>
          </a:p>
        </p:txBody>
      </p:sp>
      <p:sp>
        <p:nvSpPr>
          <p:cNvPr id="28" name="Shape 24"/>
          <p:cNvSpPr/>
          <p:nvPr/>
        </p:nvSpPr>
        <p:spPr>
          <a:xfrm>
            <a:off x="548640" y="3291840"/>
            <a:ext cx="1783080" cy="777240"/>
          </a:xfrm>
          <a:prstGeom prst="rect">
            <a:avLst/>
          </a:prstGeom>
          <a:solidFill>
            <a:srgbClr val="FFFFFF"/>
          </a:solidFill>
          <a:ln w="19050">
            <a:solidFill>
              <a:srgbClr val="003DA5"/>
            </a:solidFill>
            <a:prstDash val="solid"/>
          </a:ln>
          <a:effectLst>
            <a:outerShdw sx="100000" sy="100000" kx="0" ky="0" algn="bl" rotWithShape="0" blurRad="101600" dist="25400" dir="5400000">
              <a:srgbClr val="000000">
                <a:alpha val="8000"/>
              </a:srgbClr>
            </a:outerShdw>
          </a:effectLst>
        </p:spPr>
      </p:sp>
      <p:sp>
        <p:nvSpPr>
          <p:cNvPr id="29" name="Shape 25"/>
          <p:cNvSpPr/>
          <p:nvPr/>
        </p:nvSpPr>
        <p:spPr>
          <a:xfrm>
            <a:off x="548640" y="3291840"/>
            <a:ext cx="54864" cy="777240"/>
          </a:xfrm>
          <a:prstGeom prst="rect">
            <a:avLst/>
          </a:prstGeom>
          <a:solidFill>
            <a:srgbClr val="FEDF01"/>
          </a:solidFill>
          <a:ln w="12700">
            <a:solidFill>
              <a:srgbClr val="FEDF01"/>
            </a:solidFill>
            <a:prstDash val="solid"/>
          </a:ln>
        </p:spPr>
      </p:sp>
      <p:sp>
        <p:nvSpPr>
          <p:cNvPr id="30" name="Text 26"/>
          <p:cNvSpPr/>
          <p:nvPr/>
        </p:nvSpPr>
        <p:spPr>
          <a:xfrm>
            <a:off x="685800" y="3383280"/>
            <a:ext cx="1600200" cy="292608"/>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Compute Squad</a:t>
            </a:r>
            <a:endParaRPr lang="en-US" sz="1100" dirty="0"/>
          </a:p>
        </p:txBody>
      </p:sp>
      <p:sp>
        <p:nvSpPr>
          <p:cNvPr id="31" name="Text 27"/>
          <p:cNvSpPr/>
          <p:nvPr/>
        </p:nvSpPr>
        <p:spPr>
          <a:xfrm>
            <a:off x="685800" y="36576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VMs / hosts</a:t>
            </a:r>
            <a:endParaRPr lang="en-US" sz="900" dirty="0"/>
          </a:p>
        </p:txBody>
      </p:sp>
      <p:sp>
        <p:nvSpPr>
          <p:cNvPr id="32" name="Text 28"/>
          <p:cNvSpPr/>
          <p:nvPr/>
        </p:nvSpPr>
        <p:spPr>
          <a:xfrm>
            <a:off x="685800" y="3840480"/>
            <a:ext cx="1600200" cy="182880"/>
          </a:xfrm>
          <a:prstGeom prst="rect">
            <a:avLst/>
          </a:prstGeom>
          <a:noFill/>
          <a:ln/>
        </p:spPr>
        <p:txBody>
          <a:bodyPr wrap="square" lIns="0" tIns="0" rIns="0" bIns="0" rtlCol="0" anchor="ctr"/>
          <a:lstStyle/>
          <a:p>
            <a:pPr indent="0" marL="0">
              <a:buNone/>
            </a:pPr>
            <a:r>
              <a:rPr lang="en-US" sz="750" b="1" spc="100" kern="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3" name="Shape 29"/>
          <p:cNvSpPr/>
          <p:nvPr/>
        </p:nvSpPr>
        <p:spPr>
          <a:xfrm>
            <a:off x="548640" y="4206240"/>
            <a:ext cx="1783080" cy="777240"/>
          </a:xfrm>
          <a:prstGeom prst="rect">
            <a:avLst/>
          </a:prstGeom>
          <a:solidFill>
            <a:srgbClr val="FFFFFF"/>
          </a:solidFill>
          <a:ln w="19050">
            <a:solidFill>
              <a:srgbClr val="003DA5"/>
            </a:solidFill>
            <a:prstDash val="solid"/>
          </a:ln>
          <a:effectLst>
            <a:outerShdw sx="100000" sy="100000" kx="0" ky="0" algn="bl" rotWithShape="0" blurRad="101600" dist="25400" dir="5400000">
              <a:srgbClr val="000000">
                <a:alpha val="8000"/>
              </a:srgbClr>
            </a:outerShdw>
          </a:effectLst>
        </p:spPr>
      </p:sp>
      <p:sp>
        <p:nvSpPr>
          <p:cNvPr id="34" name="Shape 30"/>
          <p:cNvSpPr/>
          <p:nvPr/>
        </p:nvSpPr>
        <p:spPr>
          <a:xfrm>
            <a:off x="548640" y="4206240"/>
            <a:ext cx="54864" cy="777240"/>
          </a:xfrm>
          <a:prstGeom prst="rect">
            <a:avLst/>
          </a:prstGeom>
          <a:solidFill>
            <a:srgbClr val="FEDF01"/>
          </a:solidFill>
          <a:ln w="12700">
            <a:solidFill>
              <a:srgbClr val="FEDF01"/>
            </a:solidFill>
            <a:prstDash val="solid"/>
          </a:ln>
        </p:spPr>
      </p:sp>
      <p:sp>
        <p:nvSpPr>
          <p:cNvPr id="35" name="Text 31"/>
          <p:cNvSpPr/>
          <p:nvPr/>
        </p:nvSpPr>
        <p:spPr>
          <a:xfrm>
            <a:off x="685800" y="4297680"/>
            <a:ext cx="1600200" cy="292608"/>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Storage Squad</a:t>
            </a:r>
            <a:endParaRPr lang="en-US" sz="1100" dirty="0"/>
          </a:p>
        </p:txBody>
      </p:sp>
      <p:sp>
        <p:nvSpPr>
          <p:cNvPr id="36" name="Text 32"/>
          <p:cNvSpPr/>
          <p:nvPr/>
        </p:nvSpPr>
        <p:spPr>
          <a:xfrm>
            <a:off x="685800" y="45720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Block / replication</a:t>
            </a:r>
            <a:endParaRPr lang="en-US" sz="900" dirty="0"/>
          </a:p>
        </p:txBody>
      </p:sp>
      <p:sp>
        <p:nvSpPr>
          <p:cNvPr id="37" name="Text 33"/>
          <p:cNvSpPr/>
          <p:nvPr/>
        </p:nvSpPr>
        <p:spPr>
          <a:xfrm>
            <a:off x="685800" y="4754880"/>
            <a:ext cx="1600200" cy="182880"/>
          </a:xfrm>
          <a:prstGeom prst="rect">
            <a:avLst/>
          </a:prstGeom>
          <a:noFill/>
          <a:ln/>
        </p:spPr>
        <p:txBody>
          <a:bodyPr wrap="square" lIns="0" tIns="0" rIns="0" bIns="0" rtlCol="0" anchor="ctr"/>
          <a:lstStyle/>
          <a:p>
            <a:pPr indent="0" marL="0">
              <a:buNone/>
            </a:pPr>
            <a:r>
              <a:rPr lang="en-US" sz="750" b="1" spc="100" kern="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8" name="Shape 34"/>
          <p:cNvSpPr/>
          <p:nvPr/>
        </p:nvSpPr>
        <p:spPr>
          <a:xfrm>
            <a:off x="548640" y="5120640"/>
            <a:ext cx="1783080" cy="777240"/>
          </a:xfrm>
          <a:prstGeom prst="rect">
            <a:avLst/>
          </a:prstGeom>
          <a:solidFill>
            <a:srgbClr val="FFFFFF"/>
          </a:solidFill>
          <a:ln w="19050">
            <a:solidFill>
              <a:srgbClr val="003DA5"/>
            </a:solidFill>
            <a:prstDash val="solid"/>
          </a:ln>
          <a:effectLst>
            <a:outerShdw sx="100000" sy="100000" kx="0" ky="0" algn="bl" rotWithShape="0" blurRad="101600" dist="25400" dir="5400000">
              <a:srgbClr val="000000">
                <a:alpha val="8000"/>
              </a:srgbClr>
            </a:outerShdw>
          </a:effectLst>
        </p:spPr>
      </p:sp>
      <p:sp>
        <p:nvSpPr>
          <p:cNvPr id="39" name="Shape 35"/>
          <p:cNvSpPr/>
          <p:nvPr/>
        </p:nvSpPr>
        <p:spPr>
          <a:xfrm>
            <a:off x="548640" y="5120640"/>
            <a:ext cx="54864" cy="777240"/>
          </a:xfrm>
          <a:prstGeom prst="rect">
            <a:avLst/>
          </a:prstGeom>
          <a:solidFill>
            <a:srgbClr val="FEDF01"/>
          </a:solidFill>
          <a:ln w="12700">
            <a:solidFill>
              <a:srgbClr val="FEDF01"/>
            </a:solidFill>
            <a:prstDash val="solid"/>
          </a:ln>
        </p:spPr>
      </p:sp>
      <p:sp>
        <p:nvSpPr>
          <p:cNvPr id="40" name="Text 36"/>
          <p:cNvSpPr/>
          <p:nvPr/>
        </p:nvSpPr>
        <p:spPr>
          <a:xfrm>
            <a:off x="685800" y="5212080"/>
            <a:ext cx="1600200" cy="292608"/>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Network Squad</a:t>
            </a:r>
            <a:endParaRPr lang="en-US" sz="1100" dirty="0"/>
          </a:p>
        </p:txBody>
      </p:sp>
      <p:sp>
        <p:nvSpPr>
          <p:cNvPr id="41" name="Text 37"/>
          <p:cNvSpPr/>
          <p:nvPr/>
        </p:nvSpPr>
        <p:spPr>
          <a:xfrm>
            <a:off x="685800" y="54864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ACLs / DNS / LB</a:t>
            </a:r>
            <a:endParaRPr lang="en-US" sz="900" dirty="0"/>
          </a:p>
        </p:txBody>
      </p:sp>
      <p:sp>
        <p:nvSpPr>
          <p:cNvPr id="42" name="Text 38"/>
          <p:cNvSpPr/>
          <p:nvPr/>
        </p:nvSpPr>
        <p:spPr>
          <a:xfrm>
            <a:off x="685800" y="5669280"/>
            <a:ext cx="1600200" cy="182880"/>
          </a:xfrm>
          <a:prstGeom prst="rect">
            <a:avLst/>
          </a:prstGeom>
          <a:noFill/>
          <a:ln/>
        </p:spPr>
        <p:txBody>
          <a:bodyPr wrap="square" lIns="0" tIns="0" rIns="0" bIns="0" rtlCol="0" anchor="ctr"/>
          <a:lstStyle/>
          <a:p>
            <a:pPr indent="0" marL="0">
              <a:buNone/>
            </a:pPr>
            <a:r>
              <a:rPr lang="en-US" sz="750" b="1" spc="100" kern="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3" name="Shape 39"/>
          <p:cNvSpPr/>
          <p:nvPr/>
        </p:nvSpPr>
        <p:spPr>
          <a:xfrm>
            <a:off x="9859975" y="3291840"/>
            <a:ext cx="1783080" cy="777240"/>
          </a:xfrm>
          <a:prstGeom prst="rect">
            <a:avLst/>
          </a:prstGeom>
          <a:solidFill>
            <a:srgbClr val="FFFFFF"/>
          </a:solidFill>
          <a:ln w="19050">
            <a:solidFill>
              <a:srgbClr val="003DA5"/>
            </a:solidFill>
            <a:prstDash val="solid"/>
          </a:ln>
          <a:effectLst>
            <a:outerShdw sx="100000" sy="100000" kx="0" ky="0" algn="bl" rotWithShape="0" blurRad="101600" dist="25400" dir="5400000">
              <a:srgbClr val="000000">
                <a:alpha val="8000"/>
              </a:srgbClr>
            </a:outerShdw>
          </a:effectLst>
        </p:spPr>
      </p:sp>
      <p:sp>
        <p:nvSpPr>
          <p:cNvPr id="44" name="Shape 40"/>
          <p:cNvSpPr/>
          <p:nvPr/>
        </p:nvSpPr>
        <p:spPr>
          <a:xfrm>
            <a:off x="9859975" y="3291840"/>
            <a:ext cx="54864" cy="777240"/>
          </a:xfrm>
          <a:prstGeom prst="rect">
            <a:avLst/>
          </a:prstGeom>
          <a:solidFill>
            <a:srgbClr val="FEDF01"/>
          </a:solidFill>
          <a:ln w="12700">
            <a:solidFill>
              <a:srgbClr val="FEDF01"/>
            </a:solidFill>
            <a:prstDash val="solid"/>
          </a:ln>
        </p:spPr>
      </p:sp>
      <p:sp>
        <p:nvSpPr>
          <p:cNvPr id="45" name="Text 41"/>
          <p:cNvSpPr/>
          <p:nvPr/>
        </p:nvSpPr>
        <p:spPr>
          <a:xfrm>
            <a:off x="9997135" y="3383280"/>
            <a:ext cx="1600200" cy="292608"/>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Identity Squad</a:t>
            </a:r>
            <a:endParaRPr lang="en-US" sz="1100" dirty="0"/>
          </a:p>
        </p:txBody>
      </p:sp>
      <p:sp>
        <p:nvSpPr>
          <p:cNvPr id="46" name="Text 42"/>
          <p:cNvSpPr/>
          <p:nvPr/>
        </p:nvSpPr>
        <p:spPr>
          <a:xfrm>
            <a:off x="9997135" y="36576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Service accounts</a:t>
            </a:r>
            <a:endParaRPr lang="en-US" sz="900" dirty="0"/>
          </a:p>
        </p:txBody>
      </p:sp>
      <p:sp>
        <p:nvSpPr>
          <p:cNvPr id="47" name="Text 43"/>
          <p:cNvSpPr/>
          <p:nvPr/>
        </p:nvSpPr>
        <p:spPr>
          <a:xfrm>
            <a:off x="9997135" y="3840480"/>
            <a:ext cx="1600200" cy="182880"/>
          </a:xfrm>
          <a:prstGeom prst="rect">
            <a:avLst/>
          </a:prstGeom>
          <a:noFill/>
          <a:ln/>
        </p:spPr>
        <p:txBody>
          <a:bodyPr wrap="square" lIns="0" tIns="0" rIns="0" bIns="0" rtlCol="0" anchor="ctr"/>
          <a:lstStyle/>
          <a:p>
            <a:pPr indent="0" marL="0">
              <a:buNone/>
            </a:pPr>
            <a:r>
              <a:rPr lang="en-US" sz="750" b="1" spc="100" kern="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8" name="Shape 44"/>
          <p:cNvSpPr/>
          <p:nvPr/>
        </p:nvSpPr>
        <p:spPr>
          <a:xfrm>
            <a:off x="9859975" y="4206240"/>
            <a:ext cx="1783080" cy="777240"/>
          </a:xfrm>
          <a:prstGeom prst="rect">
            <a:avLst/>
          </a:prstGeom>
          <a:solidFill>
            <a:srgbClr val="FFFFFF"/>
          </a:solidFill>
          <a:ln w="19050">
            <a:solidFill>
              <a:srgbClr val="003DA5"/>
            </a:solidFill>
            <a:prstDash val="solid"/>
          </a:ln>
          <a:effectLst>
            <a:outerShdw sx="100000" sy="100000" kx="0" ky="0" algn="bl" rotWithShape="0" blurRad="101600" dist="25400" dir="5400000">
              <a:srgbClr val="000000">
                <a:alpha val="8000"/>
              </a:srgbClr>
            </a:outerShdw>
          </a:effectLst>
        </p:spPr>
      </p:sp>
      <p:sp>
        <p:nvSpPr>
          <p:cNvPr id="49" name="Shape 45"/>
          <p:cNvSpPr/>
          <p:nvPr/>
        </p:nvSpPr>
        <p:spPr>
          <a:xfrm>
            <a:off x="9859975" y="4206240"/>
            <a:ext cx="54864" cy="777240"/>
          </a:xfrm>
          <a:prstGeom prst="rect">
            <a:avLst/>
          </a:prstGeom>
          <a:solidFill>
            <a:srgbClr val="FEDF01"/>
          </a:solidFill>
          <a:ln w="12700">
            <a:solidFill>
              <a:srgbClr val="FEDF01"/>
            </a:solidFill>
            <a:prstDash val="solid"/>
          </a:ln>
        </p:spPr>
      </p:sp>
      <p:sp>
        <p:nvSpPr>
          <p:cNvPr id="50" name="Text 46"/>
          <p:cNvSpPr/>
          <p:nvPr/>
        </p:nvSpPr>
        <p:spPr>
          <a:xfrm>
            <a:off x="9997135" y="4297680"/>
            <a:ext cx="1600200" cy="292608"/>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Observability Squad</a:t>
            </a:r>
            <a:endParaRPr lang="en-US" sz="1100" dirty="0"/>
          </a:p>
        </p:txBody>
      </p:sp>
      <p:sp>
        <p:nvSpPr>
          <p:cNvPr id="51" name="Text 47"/>
          <p:cNvSpPr/>
          <p:nvPr/>
        </p:nvSpPr>
        <p:spPr>
          <a:xfrm>
            <a:off x="9997135" y="45720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Metrics / logs</a:t>
            </a:r>
            <a:endParaRPr lang="en-US" sz="900" dirty="0"/>
          </a:p>
        </p:txBody>
      </p:sp>
      <p:sp>
        <p:nvSpPr>
          <p:cNvPr id="52" name="Text 48"/>
          <p:cNvSpPr/>
          <p:nvPr/>
        </p:nvSpPr>
        <p:spPr>
          <a:xfrm>
            <a:off x="9997135" y="4754880"/>
            <a:ext cx="1600200" cy="182880"/>
          </a:xfrm>
          <a:prstGeom prst="rect">
            <a:avLst/>
          </a:prstGeom>
          <a:noFill/>
          <a:ln/>
        </p:spPr>
        <p:txBody>
          <a:bodyPr wrap="square" lIns="0" tIns="0" rIns="0" bIns="0" rtlCol="0" anchor="ctr"/>
          <a:lstStyle/>
          <a:p>
            <a:pPr indent="0" marL="0">
              <a:buNone/>
            </a:pPr>
            <a:r>
              <a:rPr lang="en-US" sz="750" b="1" spc="100" kern="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3" name="Shape 49"/>
          <p:cNvSpPr/>
          <p:nvPr/>
        </p:nvSpPr>
        <p:spPr>
          <a:xfrm>
            <a:off x="9859975" y="5120640"/>
            <a:ext cx="1783080" cy="777240"/>
          </a:xfrm>
          <a:prstGeom prst="rect">
            <a:avLst/>
          </a:prstGeom>
          <a:solidFill>
            <a:srgbClr val="FFFFFF"/>
          </a:solidFill>
          <a:ln w="19050">
            <a:solidFill>
              <a:srgbClr val="003DA5"/>
            </a:solidFill>
            <a:prstDash val="solid"/>
          </a:ln>
          <a:effectLst>
            <a:outerShdw sx="100000" sy="100000" kx="0" ky="0" algn="bl" rotWithShape="0" blurRad="101600" dist="25400" dir="5400000">
              <a:srgbClr val="000000">
                <a:alpha val="8000"/>
              </a:srgbClr>
            </a:outerShdw>
          </a:effectLst>
        </p:spPr>
      </p:sp>
      <p:sp>
        <p:nvSpPr>
          <p:cNvPr id="54" name="Shape 50"/>
          <p:cNvSpPr/>
          <p:nvPr/>
        </p:nvSpPr>
        <p:spPr>
          <a:xfrm>
            <a:off x="9859975" y="5120640"/>
            <a:ext cx="54864" cy="777240"/>
          </a:xfrm>
          <a:prstGeom prst="rect">
            <a:avLst/>
          </a:prstGeom>
          <a:solidFill>
            <a:srgbClr val="FEDF01"/>
          </a:solidFill>
          <a:ln w="12700">
            <a:solidFill>
              <a:srgbClr val="FEDF01"/>
            </a:solidFill>
            <a:prstDash val="solid"/>
          </a:ln>
        </p:spPr>
      </p:sp>
      <p:sp>
        <p:nvSpPr>
          <p:cNvPr id="55" name="Text 51"/>
          <p:cNvSpPr/>
          <p:nvPr/>
        </p:nvSpPr>
        <p:spPr>
          <a:xfrm>
            <a:off x="9997135" y="5212080"/>
            <a:ext cx="1600200" cy="292608"/>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Security Squad</a:t>
            </a:r>
            <a:endParaRPr lang="en-US" sz="1100" dirty="0"/>
          </a:p>
        </p:txBody>
      </p:sp>
      <p:sp>
        <p:nvSpPr>
          <p:cNvPr id="56" name="Text 52"/>
          <p:cNvSpPr/>
          <p:nvPr/>
        </p:nvSpPr>
        <p:spPr>
          <a:xfrm>
            <a:off x="9997135" y="5486400"/>
            <a:ext cx="16002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Policy / scans</a:t>
            </a:r>
            <a:endParaRPr lang="en-US" sz="900" dirty="0"/>
          </a:p>
        </p:txBody>
      </p:sp>
      <p:sp>
        <p:nvSpPr>
          <p:cNvPr id="57" name="Text 53"/>
          <p:cNvSpPr/>
          <p:nvPr/>
        </p:nvSpPr>
        <p:spPr>
          <a:xfrm>
            <a:off x="9997135" y="5669280"/>
            <a:ext cx="1600200" cy="182880"/>
          </a:xfrm>
          <a:prstGeom prst="rect">
            <a:avLst/>
          </a:prstGeom>
          <a:noFill/>
          <a:ln/>
        </p:spPr>
        <p:txBody>
          <a:bodyPr wrap="square" lIns="0" tIns="0" rIns="0" bIns="0" rtlCol="0" anchor="ctr"/>
          <a:lstStyle/>
          <a:p>
            <a:pPr indent="0" marL="0">
              <a:buNone/>
            </a:pPr>
            <a:r>
              <a:rPr lang="en-US" sz="750" b="1" spc="100" kern="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8" name="Shape 54"/>
          <p:cNvSpPr/>
          <p:nvPr/>
        </p:nvSpPr>
        <p:spPr>
          <a:xfrm>
            <a:off x="2331720" y="3558540"/>
            <a:ext cx="2209648" cy="121920"/>
          </a:xfrm>
          <a:prstGeom prst="line">
            <a:avLst/>
          </a:prstGeom>
          <a:noFill/>
          <a:ln w="12700">
            <a:solidFill>
              <a:srgbClr val="94A3B8"/>
            </a:solidFill>
            <a:prstDash val="dash"/>
            <a:headEnd type="none"/>
            <a:tailEnd type="triangle"/>
          </a:ln>
        </p:spPr>
      </p:sp>
      <p:sp>
        <p:nvSpPr>
          <p:cNvPr id="59" name="Shape 55"/>
          <p:cNvSpPr/>
          <p:nvPr/>
        </p:nvSpPr>
        <p:spPr>
          <a:xfrm>
            <a:off x="2331720" y="4320540"/>
            <a:ext cx="2209648" cy="274320"/>
          </a:xfrm>
          <a:prstGeom prst="line">
            <a:avLst/>
          </a:prstGeom>
          <a:noFill/>
          <a:ln w="12700">
            <a:solidFill>
              <a:srgbClr val="94A3B8"/>
            </a:solidFill>
            <a:prstDash val="dash"/>
            <a:headEnd type="none"/>
            <a:tailEnd type="triangle"/>
          </a:ln>
        </p:spPr>
      </p:sp>
      <p:sp>
        <p:nvSpPr>
          <p:cNvPr id="60" name="Shape 56"/>
          <p:cNvSpPr/>
          <p:nvPr/>
        </p:nvSpPr>
        <p:spPr>
          <a:xfrm>
            <a:off x="2331720" y="5082540"/>
            <a:ext cx="2209648" cy="426720"/>
          </a:xfrm>
          <a:prstGeom prst="line">
            <a:avLst/>
          </a:prstGeom>
          <a:noFill/>
          <a:ln w="12700">
            <a:solidFill>
              <a:srgbClr val="94A3B8"/>
            </a:solidFill>
            <a:prstDash val="dash"/>
            <a:headEnd type="none"/>
            <a:tailEnd type="triangle"/>
          </a:ln>
        </p:spPr>
      </p:sp>
      <p:sp>
        <p:nvSpPr>
          <p:cNvPr id="61" name="Shape 57"/>
          <p:cNvSpPr/>
          <p:nvPr/>
        </p:nvSpPr>
        <p:spPr>
          <a:xfrm>
            <a:off x="7650328" y="3558540"/>
            <a:ext cx="2209648" cy="121920"/>
          </a:xfrm>
          <a:prstGeom prst="line">
            <a:avLst/>
          </a:prstGeom>
          <a:noFill/>
          <a:ln w="12700">
            <a:solidFill>
              <a:srgbClr val="94A3B8"/>
            </a:solidFill>
            <a:prstDash val="dash"/>
            <a:headEnd type="triangle"/>
            <a:tailEnd type="none"/>
          </a:ln>
        </p:spPr>
      </p:sp>
      <p:sp>
        <p:nvSpPr>
          <p:cNvPr id="62" name="Shape 58"/>
          <p:cNvSpPr/>
          <p:nvPr/>
        </p:nvSpPr>
        <p:spPr>
          <a:xfrm>
            <a:off x="7650328" y="4320540"/>
            <a:ext cx="2209648" cy="274320"/>
          </a:xfrm>
          <a:prstGeom prst="line">
            <a:avLst/>
          </a:prstGeom>
          <a:noFill/>
          <a:ln w="12700">
            <a:solidFill>
              <a:srgbClr val="94A3B8"/>
            </a:solidFill>
            <a:prstDash val="dash"/>
            <a:headEnd type="triangle"/>
            <a:tailEnd type="none"/>
          </a:ln>
        </p:spPr>
      </p:sp>
      <p:sp>
        <p:nvSpPr>
          <p:cNvPr id="63" name="Shape 59"/>
          <p:cNvSpPr/>
          <p:nvPr/>
        </p:nvSpPr>
        <p:spPr>
          <a:xfrm>
            <a:off x="7650328" y="5082540"/>
            <a:ext cx="2209648" cy="426720"/>
          </a:xfrm>
          <a:prstGeom prst="line">
            <a:avLst/>
          </a:prstGeom>
          <a:noFill/>
          <a:ln w="12700">
            <a:solidFill>
              <a:srgbClr val="94A3B8"/>
            </a:solidFill>
            <a:prstDash val="dash"/>
            <a:headEnd type="triangle"/>
            <a:tailEnd type="none"/>
          </a:ln>
        </p:spPr>
      </p:sp>
      <p:sp>
        <p:nvSpPr>
          <p:cNvPr id="64" name="Text 60"/>
          <p:cNvSpPr/>
          <p:nvPr/>
        </p:nvSpPr>
        <p:spPr>
          <a:xfrm>
            <a:off x="548640" y="5623560"/>
            <a:ext cx="11094415"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 consumes peer squads as services →</a:t>
            </a:r>
            <a:endParaRPr lang="en-US" sz="900" dirty="0"/>
          </a:p>
        </p:txBody>
      </p:sp>
      <p:sp>
        <p:nvSpPr>
          <p:cNvPr id="65" name="Shape 61"/>
          <p:cNvSpPr/>
          <p:nvPr/>
        </p:nvSpPr>
        <p:spPr>
          <a:xfrm>
            <a:off x="457200" y="6172200"/>
            <a:ext cx="11274552" cy="365760"/>
          </a:xfrm>
          <a:prstGeom prst="rect">
            <a:avLst/>
          </a:prstGeom>
          <a:solidFill>
            <a:srgbClr val="FFF1A8"/>
          </a:solidFill>
          <a:ln w="12700">
            <a:solidFill>
              <a:srgbClr val="FEDF01"/>
            </a:solidFill>
            <a:prstDash val="solid"/>
          </a:ln>
        </p:spPr>
      </p:sp>
      <p:pic>
        <p:nvPicPr>
          <p:cNvPr id="66" name="Image 2" descr="preencoded.png">    </p:cNvPr>
          <p:cNvPicPr>
            <a:picLocks noChangeAspect="1"/>
          </p:cNvPicPr>
          <p:nvPr/>
        </p:nvPicPr>
        <p:blipFill>
          <a:blip r:embed="rId3"/>
          <a:stretch>
            <a:fillRect/>
          </a:stretch>
        </p:blipFill>
        <p:spPr>
          <a:xfrm>
            <a:off x="640080" y="6245352"/>
            <a:ext cx="219456" cy="219456"/>
          </a:xfrm>
          <a:prstGeom prst="rect">
            <a:avLst/>
          </a:prstGeom>
        </p:spPr>
      </p:pic>
      <p:sp>
        <p:nvSpPr>
          <p:cNvPr id="67" name="Text 62"/>
          <p:cNvSpPr/>
          <p:nvPr/>
        </p:nvSpPr>
        <p:spPr>
          <a:xfrm>
            <a:off x="914400" y="6172200"/>
            <a:ext cx="10515600" cy="365760"/>
          </a:xfrm>
          <a:prstGeom prst="rect">
            <a:avLst/>
          </a:prstGeom>
          <a:noFill/>
          <a:ln/>
        </p:spPr>
        <p:txBody>
          <a:bodyPr wrap="square" lIns="0" tIns="0" rIns="0" bIns="0" rtlCol="0" anchor="ctr"/>
          <a:lstStyle/>
          <a:p>
            <a:pPr indent="0" marL="0">
              <a:buNone/>
            </a:pPr>
            <a:r>
              <a:rPr lang="en-US" sz="1150" b="1" i="1" dirty="0">
                <a:solidFill>
                  <a:srgbClr val="1E293B"/>
                </a:solidFill>
                <a:latin typeface="Calibri" pitchFamily="34" charset="0"/>
                <a:ea typeface="Calibri" pitchFamily="34" charset="-122"/>
                <a:cs typeface="Calibri" pitchFamily="34" charset="-120"/>
              </a:rPr>
              <a:t>Same pattern for every capability — Kubernetes, Compute, Network, Storage. Each is a peer squad doing the full lifecycle. No towers. No handoffs.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FOUNDATIONAL FRAMEWORK</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Four Team Types  ·  Three Interaction Modes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We adopt the Team Topologies framework (Skelton &amp; Pais) — the canonical model behind ING, Capital One, Netflix, JPMC's platform org, and Google SRE.</a:t>
            </a:r>
            <a:endParaRPr lang="en-US" sz="1200" dirty="0"/>
          </a:p>
        </p:txBody>
      </p:sp>
      <p:sp>
        <p:nvSpPr>
          <p:cNvPr id="8" name="Shape 5"/>
          <p:cNvSpPr/>
          <p:nvPr/>
        </p:nvSpPr>
        <p:spPr>
          <a:xfrm>
            <a:off x="545440" y="1874520"/>
            <a:ext cx="2651760" cy="3108960"/>
          </a:xfrm>
          <a:prstGeom prst="rect">
            <a:avLst/>
          </a:prstGeom>
          <a:solidFill>
            <a:srgbClr val="003DA5"/>
          </a:solidFill>
          <a:ln w="12700">
            <a:solidFill>
              <a:srgbClr val="003DA5"/>
            </a:solidFill>
            <a:prstDash val="solid"/>
          </a:ln>
          <a:effectLst>
            <a:outerShdw sx="100000" sy="100000" kx="0" ky="0" algn="bl" rotWithShape="0" blurRad="177800" dist="38100" dir="5400000">
              <a:srgbClr val="000000">
                <a:alpha val="12000"/>
              </a:srgbClr>
            </a:outerShdw>
          </a:effectLst>
        </p:spPr>
      </p:sp>
      <p:sp>
        <p:nvSpPr>
          <p:cNvPr id="9" name="Shape 6"/>
          <p:cNvSpPr/>
          <p:nvPr/>
        </p:nvSpPr>
        <p:spPr>
          <a:xfrm>
            <a:off x="545440" y="1874520"/>
            <a:ext cx="2651760" cy="91440"/>
          </a:xfrm>
          <a:prstGeom prst="rect">
            <a:avLst/>
          </a:prstGeom>
          <a:solidFill>
            <a:srgbClr val="FEDF01"/>
          </a:solidFill>
          <a:ln w="12700">
            <a:solidFill>
              <a:srgbClr val="FEDF01"/>
            </a:solidFill>
            <a:prstDash val="solid"/>
          </a:ln>
        </p:spPr>
      </p:sp>
      <p:pic>
        <p:nvPicPr>
          <p:cNvPr id="10" name="Image 1" descr="preencoded.png">    </p:cNvPr>
          <p:cNvPicPr>
            <a:picLocks noChangeAspect="1"/>
          </p:cNvPicPr>
          <p:nvPr/>
        </p:nvPicPr>
        <p:blipFill>
          <a:blip r:embed="rId2"/>
          <a:stretch>
            <a:fillRect/>
          </a:stretch>
        </p:blipFill>
        <p:spPr>
          <a:xfrm>
            <a:off x="819760" y="2194560"/>
            <a:ext cx="457200" cy="457200"/>
          </a:xfrm>
          <a:prstGeom prst="rect">
            <a:avLst/>
          </a:prstGeom>
        </p:spPr>
      </p:pic>
      <p:sp>
        <p:nvSpPr>
          <p:cNvPr id="11" name="Text 7"/>
          <p:cNvSpPr/>
          <p:nvPr/>
        </p:nvSpPr>
        <p:spPr>
          <a:xfrm>
            <a:off x="819760" y="27432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Stream-Aligned</a:t>
            </a:r>
            <a:endParaRPr lang="en-US" sz="1800" dirty="0"/>
          </a:p>
        </p:txBody>
      </p:sp>
      <p:sp>
        <p:nvSpPr>
          <p:cNvPr id="12" name="Text 8"/>
          <p:cNvSpPr/>
          <p:nvPr/>
        </p:nvSpPr>
        <p:spPr>
          <a:xfrm>
            <a:off x="819760" y="3200400"/>
            <a:ext cx="2103120" cy="457200"/>
          </a:xfrm>
          <a:prstGeom prst="rect">
            <a:avLst/>
          </a:prstGeom>
          <a:noFill/>
          <a:ln/>
        </p:spPr>
        <p:txBody>
          <a:bodyPr wrap="square" lIns="0" tIns="0" rIns="0" bIns="0" rtlCol="0" anchor="ctr"/>
          <a:lstStyle/>
          <a:p>
            <a:pPr indent="0" marL="0">
              <a:buNone/>
            </a:pPr>
            <a:r>
              <a:rPr lang="en-US" sz="3000" b="1" dirty="0">
                <a:solidFill>
                  <a:srgbClr val="FEDF01"/>
                </a:solidFill>
                <a:latin typeface="Georgia" pitchFamily="34" charset="0"/>
                <a:ea typeface="Georgia" pitchFamily="34" charset="-122"/>
                <a:cs typeface="Georgia" pitchFamily="34" charset="-120"/>
              </a:rPr>
              <a:t>60–80%</a:t>
            </a:r>
            <a:endParaRPr lang="en-US" sz="3000" dirty="0"/>
          </a:p>
        </p:txBody>
      </p:sp>
      <p:sp>
        <p:nvSpPr>
          <p:cNvPr id="13" name="Text 9"/>
          <p:cNvSpPr/>
          <p:nvPr/>
        </p:nvSpPr>
        <p:spPr>
          <a:xfrm>
            <a:off x="819760" y="3657600"/>
            <a:ext cx="2103120" cy="274320"/>
          </a:xfrm>
          <a:prstGeom prst="rect">
            <a:avLst/>
          </a:prstGeom>
          <a:noFill/>
          <a:ln/>
        </p:spPr>
        <p:txBody>
          <a:bodyPr wrap="square" lIns="0" tIns="0" rIns="0" bIns="0" rtlCol="0" anchor="ctr"/>
          <a:lstStyle/>
          <a:p>
            <a:pPr indent="0" marL="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14" name="Text 10"/>
          <p:cNvSpPr/>
          <p:nvPr/>
        </p:nvSpPr>
        <p:spPr>
          <a:xfrm>
            <a:off x="819760" y="4023360"/>
            <a:ext cx="21031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Persistent squads owning a value stream end-to-end. Build it, run it, improve it.</a:t>
            </a:r>
            <a:endParaRPr lang="en-US" sz="1100" dirty="0"/>
          </a:p>
        </p:txBody>
      </p:sp>
      <p:sp>
        <p:nvSpPr>
          <p:cNvPr id="15" name="Shape 11"/>
          <p:cNvSpPr/>
          <p:nvPr/>
        </p:nvSpPr>
        <p:spPr>
          <a:xfrm>
            <a:off x="3361792" y="1874520"/>
            <a:ext cx="2651760" cy="3108960"/>
          </a:xfrm>
          <a:prstGeom prst="rect">
            <a:avLst/>
          </a:prstGeom>
          <a:solidFill>
            <a:srgbClr val="002B7F"/>
          </a:solidFill>
          <a:ln w="12700">
            <a:solidFill>
              <a:srgbClr val="002B7F"/>
            </a:solidFill>
            <a:prstDash val="solid"/>
          </a:ln>
          <a:effectLst>
            <a:outerShdw sx="100000" sy="100000" kx="0" ky="0" algn="bl" rotWithShape="0" blurRad="177800" dist="38100" dir="5400000">
              <a:srgbClr val="000000">
                <a:alpha val="12000"/>
              </a:srgbClr>
            </a:outerShdw>
          </a:effectLst>
        </p:spPr>
      </p:sp>
      <p:sp>
        <p:nvSpPr>
          <p:cNvPr id="16" name="Shape 12"/>
          <p:cNvSpPr/>
          <p:nvPr/>
        </p:nvSpPr>
        <p:spPr>
          <a:xfrm>
            <a:off x="3361792" y="1874520"/>
            <a:ext cx="2651760" cy="91440"/>
          </a:xfrm>
          <a:prstGeom prst="rect">
            <a:avLst/>
          </a:prstGeom>
          <a:solidFill>
            <a:srgbClr val="FEDF01"/>
          </a:solidFill>
          <a:ln w="12700">
            <a:solidFill>
              <a:srgbClr val="FEDF01"/>
            </a:solidFill>
            <a:prstDash val="solid"/>
          </a:ln>
        </p:spPr>
      </p:sp>
      <p:pic>
        <p:nvPicPr>
          <p:cNvPr id="17" name="Image 2" descr="preencoded.png">    </p:cNvPr>
          <p:cNvPicPr>
            <a:picLocks noChangeAspect="1"/>
          </p:cNvPicPr>
          <p:nvPr/>
        </p:nvPicPr>
        <p:blipFill>
          <a:blip r:embed="rId3"/>
          <a:stretch>
            <a:fillRect/>
          </a:stretch>
        </p:blipFill>
        <p:spPr>
          <a:xfrm>
            <a:off x="3636112" y="2194560"/>
            <a:ext cx="457200" cy="457200"/>
          </a:xfrm>
          <a:prstGeom prst="rect">
            <a:avLst/>
          </a:prstGeom>
        </p:spPr>
      </p:pic>
      <p:sp>
        <p:nvSpPr>
          <p:cNvPr id="18" name="Text 13"/>
          <p:cNvSpPr/>
          <p:nvPr/>
        </p:nvSpPr>
        <p:spPr>
          <a:xfrm>
            <a:off x="3636112" y="27432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Platform</a:t>
            </a:r>
            <a:endParaRPr lang="en-US" sz="1800" dirty="0"/>
          </a:p>
        </p:txBody>
      </p:sp>
      <p:sp>
        <p:nvSpPr>
          <p:cNvPr id="19" name="Text 14"/>
          <p:cNvSpPr/>
          <p:nvPr/>
        </p:nvSpPr>
        <p:spPr>
          <a:xfrm>
            <a:off x="3636112" y="3200400"/>
            <a:ext cx="2103120" cy="457200"/>
          </a:xfrm>
          <a:prstGeom prst="rect">
            <a:avLst/>
          </a:prstGeom>
          <a:noFill/>
          <a:ln/>
        </p:spPr>
        <p:txBody>
          <a:bodyPr wrap="square" lIns="0" tIns="0" rIns="0" bIns="0" rtlCol="0" anchor="ctr"/>
          <a:lstStyle/>
          <a:p>
            <a:pPr indent="0" marL="0">
              <a:buNone/>
            </a:pPr>
            <a:r>
              <a:rPr lang="en-US" sz="3000" b="1" dirty="0">
                <a:solidFill>
                  <a:srgbClr val="FEDF01"/>
                </a:solidFill>
                <a:latin typeface="Georgia" pitchFamily="34" charset="0"/>
                <a:ea typeface="Georgia" pitchFamily="34" charset="-122"/>
                <a:cs typeface="Georgia" pitchFamily="34" charset="-120"/>
              </a:rPr>
              <a:t>10–20%</a:t>
            </a:r>
            <a:endParaRPr lang="en-US" sz="3000" dirty="0"/>
          </a:p>
        </p:txBody>
      </p:sp>
      <p:sp>
        <p:nvSpPr>
          <p:cNvPr id="20" name="Text 15"/>
          <p:cNvSpPr/>
          <p:nvPr/>
        </p:nvSpPr>
        <p:spPr>
          <a:xfrm>
            <a:off x="3636112" y="3657600"/>
            <a:ext cx="2103120" cy="274320"/>
          </a:xfrm>
          <a:prstGeom prst="rect">
            <a:avLst/>
          </a:prstGeom>
          <a:noFill/>
          <a:ln/>
        </p:spPr>
        <p:txBody>
          <a:bodyPr wrap="square" lIns="0" tIns="0" rIns="0" bIns="0" rtlCol="0" anchor="ctr"/>
          <a:lstStyle/>
          <a:p>
            <a:pPr indent="0" marL="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1" name="Text 16"/>
          <p:cNvSpPr/>
          <p:nvPr/>
        </p:nvSpPr>
        <p:spPr>
          <a:xfrm>
            <a:off x="3636112" y="4023360"/>
            <a:ext cx="21031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Internal services consumed by stream-aligned teams. Treated as products, with PMs and roadmaps.</a:t>
            </a:r>
            <a:endParaRPr lang="en-US" sz="1100" dirty="0"/>
          </a:p>
        </p:txBody>
      </p:sp>
      <p:sp>
        <p:nvSpPr>
          <p:cNvPr id="22" name="Shape 17"/>
          <p:cNvSpPr/>
          <p:nvPr/>
        </p:nvSpPr>
        <p:spPr>
          <a:xfrm>
            <a:off x="6178144" y="1874520"/>
            <a:ext cx="2651760" cy="3108960"/>
          </a:xfrm>
          <a:prstGeom prst="rect">
            <a:avLst/>
          </a:prstGeom>
          <a:solidFill>
            <a:srgbClr val="003DA5"/>
          </a:solidFill>
          <a:ln w="12700">
            <a:solidFill>
              <a:srgbClr val="003DA5"/>
            </a:solidFill>
            <a:prstDash val="solid"/>
          </a:ln>
          <a:effectLst>
            <a:outerShdw sx="100000" sy="100000" kx="0" ky="0" algn="bl" rotWithShape="0" blurRad="177800" dist="38100" dir="5400000">
              <a:srgbClr val="000000">
                <a:alpha val="12000"/>
              </a:srgbClr>
            </a:outerShdw>
          </a:effectLst>
        </p:spPr>
      </p:sp>
      <p:sp>
        <p:nvSpPr>
          <p:cNvPr id="23" name="Shape 18"/>
          <p:cNvSpPr/>
          <p:nvPr/>
        </p:nvSpPr>
        <p:spPr>
          <a:xfrm>
            <a:off x="6178144" y="1874520"/>
            <a:ext cx="2651760" cy="91440"/>
          </a:xfrm>
          <a:prstGeom prst="rect">
            <a:avLst/>
          </a:prstGeom>
          <a:solidFill>
            <a:srgbClr val="FEDF01"/>
          </a:solidFill>
          <a:ln w="12700">
            <a:solidFill>
              <a:srgbClr val="FEDF01"/>
            </a:solidFill>
            <a:prstDash val="solid"/>
          </a:ln>
        </p:spPr>
      </p:sp>
      <p:pic>
        <p:nvPicPr>
          <p:cNvPr id="24" name="Image 3" descr="preencoded.png">    </p:cNvPr>
          <p:cNvPicPr>
            <a:picLocks noChangeAspect="1"/>
          </p:cNvPicPr>
          <p:nvPr/>
        </p:nvPicPr>
        <p:blipFill>
          <a:blip r:embed="rId4"/>
          <a:stretch>
            <a:fillRect/>
          </a:stretch>
        </p:blipFill>
        <p:spPr>
          <a:xfrm>
            <a:off x="6452464" y="2194560"/>
            <a:ext cx="457200" cy="457200"/>
          </a:xfrm>
          <a:prstGeom prst="rect">
            <a:avLst/>
          </a:prstGeom>
        </p:spPr>
      </p:pic>
      <p:sp>
        <p:nvSpPr>
          <p:cNvPr id="25" name="Text 19"/>
          <p:cNvSpPr/>
          <p:nvPr/>
        </p:nvSpPr>
        <p:spPr>
          <a:xfrm>
            <a:off x="6452464" y="27432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Enabling</a:t>
            </a:r>
            <a:endParaRPr lang="en-US" sz="1800" dirty="0"/>
          </a:p>
        </p:txBody>
      </p:sp>
      <p:sp>
        <p:nvSpPr>
          <p:cNvPr id="26" name="Text 20"/>
          <p:cNvSpPr/>
          <p:nvPr/>
        </p:nvSpPr>
        <p:spPr>
          <a:xfrm>
            <a:off x="6452464" y="3200400"/>
            <a:ext cx="2103120" cy="457200"/>
          </a:xfrm>
          <a:prstGeom prst="rect">
            <a:avLst/>
          </a:prstGeom>
          <a:noFill/>
          <a:ln/>
        </p:spPr>
        <p:txBody>
          <a:bodyPr wrap="square" lIns="0" tIns="0" rIns="0" bIns="0" rtlCol="0" anchor="ctr"/>
          <a:lstStyle/>
          <a:p>
            <a:pPr indent="0" marL="0">
              <a:buNone/>
            </a:pPr>
            <a:r>
              <a:rPr lang="en-US" sz="3000" b="1" dirty="0">
                <a:solidFill>
                  <a:srgbClr val="FEDF01"/>
                </a:solidFill>
                <a:latin typeface="Georgia" pitchFamily="34" charset="0"/>
                <a:ea typeface="Georgia" pitchFamily="34" charset="-122"/>
                <a:cs typeface="Georgia" pitchFamily="34" charset="-120"/>
              </a:rPr>
              <a:t>5–15%</a:t>
            </a:r>
            <a:endParaRPr lang="en-US" sz="3000" dirty="0"/>
          </a:p>
        </p:txBody>
      </p:sp>
      <p:sp>
        <p:nvSpPr>
          <p:cNvPr id="27" name="Text 21"/>
          <p:cNvSpPr/>
          <p:nvPr/>
        </p:nvSpPr>
        <p:spPr>
          <a:xfrm>
            <a:off x="6452464" y="3657600"/>
            <a:ext cx="2103120" cy="274320"/>
          </a:xfrm>
          <a:prstGeom prst="rect">
            <a:avLst/>
          </a:prstGeom>
          <a:noFill/>
          <a:ln/>
        </p:spPr>
        <p:txBody>
          <a:bodyPr wrap="square" lIns="0" tIns="0" rIns="0" bIns="0" rtlCol="0" anchor="ctr"/>
          <a:lstStyle/>
          <a:p>
            <a:pPr indent="0" marL="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8" name="Text 22"/>
          <p:cNvSpPr/>
          <p:nvPr/>
        </p:nvSpPr>
        <p:spPr>
          <a:xfrm>
            <a:off x="6452464" y="4023360"/>
            <a:ext cx="21031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Time-boxed coaching teams that uplift capability, then move on. Architecture sits here as part-time enablers.</a:t>
            </a:r>
            <a:endParaRPr lang="en-US" sz="1100" dirty="0"/>
          </a:p>
        </p:txBody>
      </p:sp>
      <p:sp>
        <p:nvSpPr>
          <p:cNvPr id="29" name="Shape 23"/>
          <p:cNvSpPr/>
          <p:nvPr/>
        </p:nvSpPr>
        <p:spPr>
          <a:xfrm>
            <a:off x="8994496" y="1874520"/>
            <a:ext cx="2651760" cy="3108960"/>
          </a:xfrm>
          <a:prstGeom prst="rect">
            <a:avLst/>
          </a:prstGeom>
          <a:solidFill>
            <a:srgbClr val="002B7F"/>
          </a:solidFill>
          <a:ln w="12700">
            <a:solidFill>
              <a:srgbClr val="002B7F"/>
            </a:solidFill>
            <a:prstDash val="solid"/>
          </a:ln>
          <a:effectLst>
            <a:outerShdw sx="100000" sy="100000" kx="0" ky="0" algn="bl" rotWithShape="0" blurRad="177800" dist="38100" dir="5400000">
              <a:srgbClr val="000000">
                <a:alpha val="12000"/>
              </a:srgbClr>
            </a:outerShdw>
          </a:effectLst>
        </p:spPr>
      </p:sp>
      <p:sp>
        <p:nvSpPr>
          <p:cNvPr id="30" name="Shape 24"/>
          <p:cNvSpPr/>
          <p:nvPr/>
        </p:nvSpPr>
        <p:spPr>
          <a:xfrm>
            <a:off x="8994496" y="1874520"/>
            <a:ext cx="2651760" cy="91440"/>
          </a:xfrm>
          <a:prstGeom prst="rect">
            <a:avLst/>
          </a:prstGeom>
          <a:solidFill>
            <a:srgbClr val="FEDF01"/>
          </a:solidFill>
          <a:ln w="12700">
            <a:solidFill>
              <a:srgbClr val="FEDF01"/>
            </a:solidFill>
            <a:prstDash val="solid"/>
          </a:ln>
        </p:spPr>
      </p:sp>
      <p:pic>
        <p:nvPicPr>
          <p:cNvPr id="31" name="Image 4" descr="preencoded.png">    </p:cNvPr>
          <p:cNvPicPr>
            <a:picLocks noChangeAspect="1"/>
          </p:cNvPicPr>
          <p:nvPr/>
        </p:nvPicPr>
        <p:blipFill>
          <a:blip r:embed="rId5"/>
          <a:stretch>
            <a:fillRect/>
          </a:stretch>
        </p:blipFill>
        <p:spPr>
          <a:xfrm>
            <a:off x="9268816" y="2194560"/>
            <a:ext cx="457200" cy="457200"/>
          </a:xfrm>
          <a:prstGeom prst="rect">
            <a:avLst/>
          </a:prstGeom>
        </p:spPr>
      </p:pic>
      <p:sp>
        <p:nvSpPr>
          <p:cNvPr id="32" name="Text 25"/>
          <p:cNvSpPr/>
          <p:nvPr/>
        </p:nvSpPr>
        <p:spPr>
          <a:xfrm>
            <a:off x="9268816" y="27432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Complicated-Subsystem</a:t>
            </a:r>
            <a:endParaRPr lang="en-US" sz="1800" dirty="0"/>
          </a:p>
        </p:txBody>
      </p:sp>
      <p:sp>
        <p:nvSpPr>
          <p:cNvPr id="33" name="Text 26"/>
          <p:cNvSpPr/>
          <p:nvPr/>
        </p:nvSpPr>
        <p:spPr>
          <a:xfrm>
            <a:off x="9268816" y="3200400"/>
            <a:ext cx="2103120" cy="457200"/>
          </a:xfrm>
          <a:prstGeom prst="rect">
            <a:avLst/>
          </a:prstGeom>
          <a:noFill/>
          <a:ln/>
        </p:spPr>
        <p:txBody>
          <a:bodyPr wrap="square" lIns="0" tIns="0" rIns="0" bIns="0" rtlCol="0" anchor="ctr"/>
          <a:lstStyle/>
          <a:p>
            <a:pPr indent="0" marL="0">
              <a:buNone/>
            </a:pPr>
            <a:r>
              <a:rPr lang="en-US" sz="3000" b="1" dirty="0">
                <a:solidFill>
                  <a:srgbClr val="FEDF01"/>
                </a:solidFill>
                <a:latin typeface="Georgia" pitchFamily="34" charset="0"/>
                <a:ea typeface="Georgia" pitchFamily="34" charset="-122"/>
                <a:cs typeface="Georgia" pitchFamily="34" charset="-120"/>
              </a:rPr>
              <a:t>Few</a:t>
            </a:r>
            <a:endParaRPr lang="en-US" sz="3000" dirty="0"/>
          </a:p>
        </p:txBody>
      </p:sp>
      <p:sp>
        <p:nvSpPr>
          <p:cNvPr id="34" name="Text 27"/>
          <p:cNvSpPr/>
          <p:nvPr/>
        </p:nvSpPr>
        <p:spPr>
          <a:xfrm>
            <a:off x="9268816" y="3657600"/>
            <a:ext cx="2103120" cy="274320"/>
          </a:xfrm>
          <a:prstGeom prst="rect">
            <a:avLst/>
          </a:prstGeom>
          <a:noFill/>
          <a:ln/>
        </p:spPr>
        <p:txBody>
          <a:bodyPr wrap="square" lIns="0" tIns="0" rIns="0" bIns="0" rtlCol="0" anchor="ctr"/>
          <a:lstStyle/>
          <a:p>
            <a:pPr indent="0" marL="0">
              <a:buNone/>
            </a:pPr>
            <a:r>
              <a:rPr lang="en-US" sz="1000" i="1" dirty="0">
                <a:solidFill>
                  <a:srgbClr val="C9D6EE"/>
                </a:solidFill>
                <a:latin typeface="Calibri" pitchFamily="34" charset="0"/>
                <a:ea typeface="Calibri" pitchFamily="34" charset="-122"/>
                <a:cs typeface="Calibri" pitchFamily="34" charset="-120"/>
              </a:rPr>
              <a:t>where load justifies</a:t>
            </a:r>
            <a:endParaRPr lang="en-US" sz="1000" dirty="0"/>
          </a:p>
        </p:txBody>
      </p:sp>
      <p:sp>
        <p:nvSpPr>
          <p:cNvPr id="35" name="Text 28"/>
          <p:cNvSpPr/>
          <p:nvPr/>
        </p:nvSpPr>
        <p:spPr>
          <a:xfrm>
            <a:off x="9268816" y="4023360"/>
            <a:ext cx="2103120" cy="9144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Deep specialist teams for niches like crypto/HSM, kernel, specialized AI model serving.</a:t>
            </a:r>
            <a:endParaRPr lang="en-US" sz="1100" dirty="0"/>
          </a:p>
        </p:txBody>
      </p:sp>
      <p:sp>
        <p:nvSpPr>
          <p:cNvPr id="36" name="Text 29"/>
          <p:cNvSpPr/>
          <p:nvPr/>
        </p:nvSpPr>
        <p:spPr>
          <a:xfrm>
            <a:off x="457200" y="5212080"/>
            <a:ext cx="10972800" cy="274320"/>
          </a:xfrm>
          <a:prstGeom prst="rect">
            <a:avLst/>
          </a:prstGeom>
          <a:noFill/>
          <a:ln/>
        </p:spPr>
        <p:txBody>
          <a:bodyPr wrap="square" lIns="0" tIns="0" rIns="0" bIns="0" rtlCol="0" anchor="ctr"/>
          <a:lstStyle/>
          <a:p>
            <a:pPr indent="0" marL="0">
              <a:buNone/>
            </a:pPr>
            <a:r>
              <a:rPr lang="en-US" sz="1400" b="1" dirty="0">
                <a:solidFill>
                  <a:srgbClr val="003DA5"/>
                </a:solidFill>
                <a:latin typeface="Georgia" pitchFamily="34" charset="0"/>
                <a:ea typeface="Georgia" pitchFamily="34" charset="-122"/>
                <a:cs typeface="Georgia" pitchFamily="34" charset="-120"/>
              </a:rPr>
              <a:t>Three Interaction Modes</a:t>
            </a:r>
            <a:endParaRPr lang="en-US" sz="1400" dirty="0"/>
          </a:p>
        </p:txBody>
      </p:sp>
      <p:sp>
        <p:nvSpPr>
          <p:cNvPr id="37" name="Shape 30"/>
          <p:cNvSpPr/>
          <p:nvPr/>
        </p:nvSpPr>
        <p:spPr>
          <a:xfrm>
            <a:off x="457200" y="5577840"/>
            <a:ext cx="3703320" cy="868680"/>
          </a:xfrm>
          <a:prstGeom prst="rect">
            <a:avLst/>
          </a:prstGeom>
          <a:solidFill>
            <a:srgbClr val="F4F6F9"/>
          </a:solidFill>
          <a:ln w="12700">
            <a:solidFill>
              <a:srgbClr val="E2E8F0"/>
            </a:solidFill>
            <a:prstDash val="solid"/>
          </a:ln>
        </p:spPr>
      </p:sp>
      <p:sp>
        <p:nvSpPr>
          <p:cNvPr id="38" name="Shape 31"/>
          <p:cNvSpPr/>
          <p:nvPr/>
        </p:nvSpPr>
        <p:spPr>
          <a:xfrm>
            <a:off x="457200" y="5577840"/>
            <a:ext cx="73152" cy="868680"/>
          </a:xfrm>
          <a:prstGeom prst="rect">
            <a:avLst/>
          </a:prstGeom>
          <a:solidFill>
            <a:srgbClr val="FEDF01"/>
          </a:solidFill>
          <a:ln w="12700">
            <a:solidFill>
              <a:srgbClr val="FEDF01"/>
            </a:solidFill>
            <a:prstDash val="solid"/>
          </a:ln>
        </p:spPr>
      </p:sp>
      <p:sp>
        <p:nvSpPr>
          <p:cNvPr id="39" name="Text 32"/>
          <p:cNvSpPr/>
          <p:nvPr/>
        </p:nvSpPr>
        <p:spPr>
          <a:xfrm>
            <a:off x="685800" y="5669280"/>
            <a:ext cx="33375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Collaboration</a:t>
            </a:r>
            <a:endParaRPr lang="en-US" sz="1300" dirty="0"/>
          </a:p>
        </p:txBody>
      </p:sp>
      <p:sp>
        <p:nvSpPr>
          <p:cNvPr id="40" name="Text 33"/>
          <p:cNvSpPr/>
          <p:nvPr/>
        </p:nvSpPr>
        <p:spPr>
          <a:xfrm>
            <a:off x="685800" y="5989320"/>
            <a:ext cx="3337560" cy="4114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Short-lived discovery &amp; joint problem-solving</a:t>
            </a:r>
            <a:endParaRPr lang="en-US" sz="1100" dirty="0"/>
          </a:p>
        </p:txBody>
      </p:sp>
      <p:sp>
        <p:nvSpPr>
          <p:cNvPr id="41" name="Shape 34"/>
          <p:cNvSpPr/>
          <p:nvPr/>
        </p:nvSpPr>
        <p:spPr>
          <a:xfrm>
            <a:off x="4297680" y="5577840"/>
            <a:ext cx="3703320" cy="868680"/>
          </a:xfrm>
          <a:prstGeom prst="rect">
            <a:avLst/>
          </a:prstGeom>
          <a:solidFill>
            <a:srgbClr val="F4F6F9"/>
          </a:solidFill>
          <a:ln w="12700">
            <a:solidFill>
              <a:srgbClr val="E2E8F0"/>
            </a:solidFill>
            <a:prstDash val="solid"/>
          </a:ln>
        </p:spPr>
      </p:sp>
      <p:sp>
        <p:nvSpPr>
          <p:cNvPr id="42" name="Shape 35"/>
          <p:cNvSpPr/>
          <p:nvPr/>
        </p:nvSpPr>
        <p:spPr>
          <a:xfrm>
            <a:off x="4297680" y="5577840"/>
            <a:ext cx="73152" cy="868680"/>
          </a:xfrm>
          <a:prstGeom prst="rect">
            <a:avLst/>
          </a:prstGeom>
          <a:solidFill>
            <a:srgbClr val="FEDF01"/>
          </a:solidFill>
          <a:ln w="12700">
            <a:solidFill>
              <a:srgbClr val="FEDF01"/>
            </a:solidFill>
            <a:prstDash val="solid"/>
          </a:ln>
        </p:spPr>
      </p:sp>
      <p:sp>
        <p:nvSpPr>
          <p:cNvPr id="43" name="Text 36"/>
          <p:cNvSpPr/>
          <p:nvPr/>
        </p:nvSpPr>
        <p:spPr>
          <a:xfrm>
            <a:off x="4526280" y="5669280"/>
            <a:ext cx="33375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X-as-a-Service</a:t>
            </a:r>
            <a:endParaRPr lang="en-US" sz="1300" dirty="0"/>
          </a:p>
        </p:txBody>
      </p:sp>
      <p:sp>
        <p:nvSpPr>
          <p:cNvPr id="44" name="Text 37"/>
          <p:cNvSpPr/>
          <p:nvPr/>
        </p:nvSpPr>
        <p:spPr>
          <a:xfrm>
            <a:off x="4526280" y="5989320"/>
            <a:ext cx="3337560" cy="4114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Steady-state self-service consumption (default)</a:t>
            </a:r>
            <a:endParaRPr lang="en-US" sz="1100" dirty="0"/>
          </a:p>
        </p:txBody>
      </p:sp>
      <p:sp>
        <p:nvSpPr>
          <p:cNvPr id="45" name="Shape 38"/>
          <p:cNvSpPr/>
          <p:nvPr/>
        </p:nvSpPr>
        <p:spPr>
          <a:xfrm>
            <a:off x="8138160" y="5577840"/>
            <a:ext cx="3703320" cy="868680"/>
          </a:xfrm>
          <a:prstGeom prst="rect">
            <a:avLst/>
          </a:prstGeom>
          <a:solidFill>
            <a:srgbClr val="F4F6F9"/>
          </a:solidFill>
          <a:ln w="12700">
            <a:solidFill>
              <a:srgbClr val="E2E8F0"/>
            </a:solidFill>
            <a:prstDash val="solid"/>
          </a:ln>
        </p:spPr>
      </p:sp>
      <p:sp>
        <p:nvSpPr>
          <p:cNvPr id="46" name="Shape 39"/>
          <p:cNvSpPr/>
          <p:nvPr/>
        </p:nvSpPr>
        <p:spPr>
          <a:xfrm>
            <a:off x="8138160" y="5577840"/>
            <a:ext cx="73152" cy="868680"/>
          </a:xfrm>
          <a:prstGeom prst="rect">
            <a:avLst/>
          </a:prstGeom>
          <a:solidFill>
            <a:srgbClr val="FEDF01"/>
          </a:solidFill>
          <a:ln w="12700">
            <a:solidFill>
              <a:srgbClr val="FEDF01"/>
            </a:solidFill>
            <a:prstDash val="solid"/>
          </a:ln>
        </p:spPr>
      </p:sp>
      <p:sp>
        <p:nvSpPr>
          <p:cNvPr id="47" name="Text 40"/>
          <p:cNvSpPr/>
          <p:nvPr/>
        </p:nvSpPr>
        <p:spPr>
          <a:xfrm>
            <a:off x="8366760" y="5669280"/>
            <a:ext cx="333756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Facilitating</a:t>
            </a:r>
            <a:endParaRPr lang="en-US" sz="1300" dirty="0"/>
          </a:p>
        </p:txBody>
      </p:sp>
      <p:sp>
        <p:nvSpPr>
          <p:cNvPr id="48" name="Text 41"/>
          <p:cNvSpPr/>
          <p:nvPr/>
        </p:nvSpPr>
        <p:spPr>
          <a:xfrm>
            <a:off x="8366760" y="5989320"/>
            <a:ext cx="3337560" cy="4114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Enabling team coaches another for a fixed period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STRUCTURE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Seven Tribes Aligned to Value Streams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Each tribe groups 5–10 squads around a coherent infrastructure value stream. Led by a Tribe Lead + Tribe Product Lead + Tribe Engineering Lead triad.</a:t>
            </a:r>
            <a:endParaRPr lang="en-US" sz="1200" dirty="0"/>
          </a:p>
        </p:txBody>
      </p:sp>
      <p:sp>
        <p:nvSpPr>
          <p:cNvPr id="8" name="Shape 5"/>
          <p:cNvSpPr/>
          <p:nvPr/>
        </p:nvSpPr>
        <p:spPr>
          <a:xfrm>
            <a:off x="389992" y="1874520"/>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9" name="Shape 6"/>
          <p:cNvSpPr/>
          <p:nvPr/>
        </p:nvSpPr>
        <p:spPr>
          <a:xfrm>
            <a:off x="389992" y="1874520"/>
            <a:ext cx="2743200" cy="91440"/>
          </a:xfrm>
          <a:prstGeom prst="rect">
            <a:avLst/>
          </a:prstGeom>
          <a:solidFill>
            <a:srgbClr val="003DA5"/>
          </a:solidFill>
          <a:ln w="12700">
            <a:solidFill>
              <a:srgbClr val="003DA5"/>
            </a:solidFill>
            <a:prstDash val="solid"/>
          </a:ln>
        </p:spPr>
      </p:sp>
      <p:pic>
        <p:nvPicPr>
          <p:cNvPr id="10" name="Image 1" descr="preencoded.png">    </p:cNvPr>
          <p:cNvPicPr>
            <a:picLocks noChangeAspect="1"/>
          </p:cNvPicPr>
          <p:nvPr/>
        </p:nvPicPr>
        <p:blipFill>
          <a:blip r:embed="rId2"/>
          <a:stretch>
            <a:fillRect/>
          </a:stretch>
        </p:blipFill>
        <p:spPr>
          <a:xfrm>
            <a:off x="618592" y="2148840"/>
            <a:ext cx="457200" cy="457200"/>
          </a:xfrm>
          <a:prstGeom prst="rect">
            <a:avLst/>
          </a:prstGeom>
        </p:spPr>
      </p:pic>
      <p:sp>
        <p:nvSpPr>
          <p:cNvPr id="11" name="Text 7"/>
          <p:cNvSpPr/>
          <p:nvPr/>
        </p:nvSpPr>
        <p:spPr>
          <a:xfrm>
            <a:off x="1258672" y="2130552"/>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Compute &amp; Container Platforms</a:t>
            </a:r>
            <a:endParaRPr lang="en-US" sz="1300" dirty="0"/>
          </a:p>
        </p:txBody>
      </p:sp>
      <p:sp>
        <p:nvSpPr>
          <p:cNvPr id="12" name="Text 8"/>
          <p:cNvSpPr/>
          <p:nvPr/>
        </p:nvSpPr>
        <p:spPr>
          <a:xfrm>
            <a:off x="618592" y="2743200"/>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VM, Kubernetes, bare-metal, GPU runtime</a:t>
            </a:r>
            <a:endParaRPr lang="en-US" sz="1100" dirty="0"/>
          </a:p>
        </p:txBody>
      </p:sp>
      <p:sp>
        <p:nvSpPr>
          <p:cNvPr id="13" name="Shape 9"/>
          <p:cNvSpPr/>
          <p:nvPr/>
        </p:nvSpPr>
        <p:spPr>
          <a:xfrm>
            <a:off x="2081632" y="3291840"/>
            <a:ext cx="868680" cy="292608"/>
          </a:xfrm>
          <a:prstGeom prst="rect">
            <a:avLst/>
          </a:prstGeom>
          <a:solidFill>
            <a:srgbClr val="FFF1A8"/>
          </a:solidFill>
          <a:ln w="12700">
            <a:solidFill>
              <a:srgbClr val="FEDF01"/>
            </a:solidFill>
            <a:prstDash val="solid"/>
          </a:ln>
        </p:spPr>
      </p:sp>
      <p:sp>
        <p:nvSpPr>
          <p:cNvPr id="14" name="Text 10"/>
          <p:cNvSpPr/>
          <p:nvPr/>
        </p:nvSpPr>
        <p:spPr>
          <a:xfrm>
            <a:off x="2081632" y="3291840"/>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~350 FTE</a:t>
            </a:r>
            <a:endParaRPr lang="en-US" sz="1000" dirty="0"/>
          </a:p>
        </p:txBody>
      </p:sp>
      <p:sp>
        <p:nvSpPr>
          <p:cNvPr id="15" name="Shape 11"/>
          <p:cNvSpPr/>
          <p:nvPr/>
        </p:nvSpPr>
        <p:spPr>
          <a:xfrm>
            <a:off x="3279496" y="1874520"/>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6" name="Shape 12"/>
          <p:cNvSpPr/>
          <p:nvPr/>
        </p:nvSpPr>
        <p:spPr>
          <a:xfrm>
            <a:off x="3279496" y="1874520"/>
            <a:ext cx="2743200" cy="91440"/>
          </a:xfrm>
          <a:prstGeom prst="rect">
            <a:avLst/>
          </a:prstGeom>
          <a:solidFill>
            <a:srgbClr val="003DA5"/>
          </a:solidFill>
          <a:ln w="12700">
            <a:solidFill>
              <a:srgbClr val="003DA5"/>
            </a:solidFill>
            <a:prstDash val="solid"/>
          </a:ln>
        </p:spPr>
      </p:sp>
      <p:pic>
        <p:nvPicPr>
          <p:cNvPr id="17" name="Image 2" descr="preencoded.png">    </p:cNvPr>
          <p:cNvPicPr>
            <a:picLocks noChangeAspect="1"/>
          </p:cNvPicPr>
          <p:nvPr/>
        </p:nvPicPr>
        <p:blipFill>
          <a:blip r:embed="rId3"/>
          <a:stretch>
            <a:fillRect/>
          </a:stretch>
        </p:blipFill>
        <p:spPr>
          <a:xfrm>
            <a:off x="3508096" y="2148840"/>
            <a:ext cx="457200" cy="457200"/>
          </a:xfrm>
          <a:prstGeom prst="rect">
            <a:avLst/>
          </a:prstGeom>
        </p:spPr>
      </p:pic>
      <p:sp>
        <p:nvSpPr>
          <p:cNvPr id="18" name="Text 13"/>
          <p:cNvSpPr/>
          <p:nvPr/>
        </p:nvSpPr>
        <p:spPr>
          <a:xfrm>
            <a:off x="4148176" y="2130552"/>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Network, Edge &amp; Connectivity</a:t>
            </a:r>
            <a:endParaRPr lang="en-US" sz="1300" dirty="0"/>
          </a:p>
        </p:txBody>
      </p:sp>
      <p:sp>
        <p:nvSpPr>
          <p:cNvPr id="19" name="Text 14"/>
          <p:cNvSpPr/>
          <p:nvPr/>
        </p:nvSpPr>
        <p:spPr>
          <a:xfrm>
            <a:off x="3508096" y="2743200"/>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SDN, LB, DNS, edge, service mesh</a:t>
            </a:r>
            <a:endParaRPr lang="en-US" sz="1100" dirty="0"/>
          </a:p>
        </p:txBody>
      </p:sp>
      <p:sp>
        <p:nvSpPr>
          <p:cNvPr id="20" name="Shape 15"/>
          <p:cNvSpPr/>
          <p:nvPr/>
        </p:nvSpPr>
        <p:spPr>
          <a:xfrm>
            <a:off x="4971136" y="3291840"/>
            <a:ext cx="868680" cy="292608"/>
          </a:xfrm>
          <a:prstGeom prst="rect">
            <a:avLst/>
          </a:prstGeom>
          <a:solidFill>
            <a:srgbClr val="FFF1A8"/>
          </a:solidFill>
          <a:ln w="12700">
            <a:solidFill>
              <a:srgbClr val="FEDF01"/>
            </a:solidFill>
            <a:prstDash val="solid"/>
          </a:ln>
        </p:spPr>
      </p:sp>
      <p:sp>
        <p:nvSpPr>
          <p:cNvPr id="21" name="Text 16"/>
          <p:cNvSpPr/>
          <p:nvPr/>
        </p:nvSpPr>
        <p:spPr>
          <a:xfrm>
            <a:off x="4971136" y="3291840"/>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~280 FTE</a:t>
            </a:r>
            <a:endParaRPr lang="en-US" sz="1000" dirty="0"/>
          </a:p>
        </p:txBody>
      </p:sp>
      <p:sp>
        <p:nvSpPr>
          <p:cNvPr id="22" name="Shape 17"/>
          <p:cNvSpPr/>
          <p:nvPr/>
        </p:nvSpPr>
        <p:spPr>
          <a:xfrm>
            <a:off x="6169000" y="1874520"/>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3" name="Shape 18"/>
          <p:cNvSpPr/>
          <p:nvPr/>
        </p:nvSpPr>
        <p:spPr>
          <a:xfrm>
            <a:off x="6169000" y="1874520"/>
            <a:ext cx="2743200" cy="91440"/>
          </a:xfrm>
          <a:prstGeom prst="rect">
            <a:avLst/>
          </a:prstGeom>
          <a:solidFill>
            <a:srgbClr val="003DA5"/>
          </a:solidFill>
          <a:ln w="12700">
            <a:solidFill>
              <a:srgbClr val="003DA5"/>
            </a:solidFill>
            <a:prstDash val="solid"/>
          </a:ln>
        </p:spPr>
      </p:sp>
      <p:pic>
        <p:nvPicPr>
          <p:cNvPr id="24" name="Image 3" descr="preencoded.png">    </p:cNvPr>
          <p:cNvPicPr>
            <a:picLocks noChangeAspect="1"/>
          </p:cNvPicPr>
          <p:nvPr/>
        </p:nvPicPr>
        <p:blipFill>
          <a:blip r:embed="rId4"/>
          <a:stretch>
            <a:fillRect/>
          </a:stretch>
        </p:blipFill>
        <p:spPr>
          <a:xfrm>
            <a:off x="6397600" y="2148840"/>
            <a:ext cx="457200" cy="457200"/>
          </a:xfrm>
          <a:prstGeom prst="rect">
            <a:avLst/>
          </a:prstGeom>
        </p:spPr>
      </p:pic>
      <p:sp>
        <p:nvSpPr>
          <p:cNvPr id="25" name="Text 19"/>
          <p:cNvSpPr/>
          <p:nvPr/>
        </p:nvSpPr>
        <p:spPr>
          <a:xfrm>
            <a:off x="7037680" y="2130552"/>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Data, Storage &amp; Database</a:t>
            </a:r>
            <a:endParaRPr lang="en-US" sz="1300" dirty="0"/>
          </a:p>
        </p:txBody>
      </p:sp>
      <p:sp>
        <p:nvSpPr>
          <p:cNvPr id="26" name="Text 20"/>
          <p:cNvSpPr/>
          <p:nvPr/>
        </p:nvSpPr>
        <p:spPr>
          <a:xfrm>
            <a:off x="6397600" y="2743200"/>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Block / object / file, DBaaS, data fabric</a:t>
            </a:r>
            <a:endParaRPr lang="en-US" sz="1100" dirty="0"/>
          </a:p>
        </p:txBody>
      </p:sp>
      <p:sp>
        <p:nvSpPr>
          <p:cNvPr id="27" name="Shape 21"/>
          <p:cNvSpPr/>
          <p:nvPr/>
        </p:nvSpPr>
        <p:spPr>
          <a:xfrm>
            <a:off x="7860640" y="3291840"/>
            <a:ext cx="868680" cy="292608"/>
          </a:xfrm>
          <a:prstGeom prst="rect">
            <a:avLst/>
          </a:prstGeom>
          <a:solidFill>
            <a:srgbClr val="FFF1A8"/>
          </a:solidFill>
          <a:ln w="12700">
            <a:solidFill>
              <a:srgbClr val="FEDF01"/>
            </a:solidFill>
            <a:prstDash val="solid"/>
          </a:ln>
        </p:spPr>
      </p:sp>
      <p:sp>
        <p:nvSpPr>
          <p:cNvPr id="28" name="Text 22"/>
          <p:cNvSpPr/>
          <p:nvPr/>
        </p:nvSpPr>
        <p:spPr>
          <a:xfrm>
            <a:off x="7860640" y="3291840"/>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29" name="Shape 23"/>
          <p:cNvSpPr/>
          <p:nvPr/>
        </p:nvSpPr>
        <p:spPr>
          <a:xfrm>
            <a:off x="9058504" y="1874520"/>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0" name="Shape 24"/>
          <p:cNvSpPr/>
          <p:nvPr/>
        </p:nvSpPr>
        <p:spPr>
          <a:xfrm>
            <a:off x="9058504" y="1874520"/>
            <a:ext cx="2743200" cy="91440"/>
          </a:xfrm>
          <a:prstGeom prst="rect">
            <a:avLst/>
          </a:prstGeom>
          <a:solidFill>
            <a:srgbClr val="003DA5"/>
          </a:solidFill>
          <a:ln w="12700">
            <a:solidFill>
              <a:srgbClr val="003DA5"/>
            </a:solidFill>
            <a:prstDash val="solid"/>
          </a:ln>
        </p:spPr>
      </p:sp>
      <p:pic>
        <p:nvPicPr>
          <p:cNvPr id="31" name="Image 4" descr="preencoded.png">    </p:cNvPr>
          <p:cNvPicPr>
            <a:picLocks noChangeAspect="1"/>
          </p:cNvPicPr>
          <p:nvPr/>
        </p:nvPicPr>
        <p:blipFill>
          <a:blip r:embed="rId5"/>
          <a:stretch>
            <a:fillRect/>
          </a:stretch>
        </p:blipFill>
        <p:spPr>
          <a:xfrm>
            <a:off x="9287104" y="2148840"/>
            <a:ext cx="457200" cy="457200"/>
          </a:xfrm>
          <a:prstGeom prst="rect">
            <a:avLst/>
          </a:prstGeom>
        </p:spPr>
      </p:pic>
      <p:sp>
        <p:nvSpPr>
          <p:cNvPr id="32" name="Text 25"/>
          <p:cNvSpPr/>
          <p:nvPr/>
        </p:nvSpPr>
        <p:spPr>
          <a:xfrm>
            <a:off x="9927184" y="2130552"/>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Zephyr IaC &amp; Lifecycle</a:t>
            </a:r>
            <a:endParaRPr lang="en-US" sz="1300" dirty="0"/>
          </a:p>
        </p:txBody>
      </p:sp>
      <p:sp>
        <p:nvSpPr>
          <p:cNvPr id="33" name="Text 26"/>
          <p:cNvSpPr/>
          <p:nvPr/>
        </p:nvSpPr>
        <p:spPr>
          <a:xfrm>
            <a:off x="9287104" y="2743200"/>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34 platforms · Private Cloud Lifecycle</a:t>
            </a:r>
            <a:endParaRPr lang="en-US" sz="1100" dirty="0"/>
          </a:p>
        </p:txBody>
      </p:sp>
      <p:sp>
        <p:nvSpPr>
          <p:cNvPr id="34" name="Shape 27"/>
          <p:cNvSpPr/>
          <p:nvPr/>
        </p:nvSpPr>
        <p:spPr>
          <a:xfrm>
            <a:off x="10750144" y="3291840"/>
            <a:ext cx="868680" cy="292608"/>
          </a:xfrm>
          <a:prstGeom prst="rect">
            <a:avLst/>
          </a:prstGeom>
          <a:solidFill>
            <a:srgbClr val="FFF1A8"/>
          </a:solidFill>
          <a:ln w="12700">
            <a:solidFill>
              <a:srgbClr val="FEDF01"/>
            </a:solidFill>
            <a:prstDash val="solid"/>
          </a:ln>
        </p:spPr>
      </p:sp>
      <p:sp>
        <p:nvSpPr>
          <p:cNvPr id="35" name="Text 28"/>
          <p:cNvSpPr/>
          <p:nvPr/>
        </p:nvSpPr>
        <p:spPr>
          <a:xfrm>
            <a:off x="10750144" y="3291840"/>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~400 FTE</a:t>
            </a:r>
            <a:endParaRPr lang="en-US" sz="1000" dirty="0"/>
          </a:p>
        </p:txBody>
      </p:sp>
      <p:sp>
        <p:nvSpPr>
          <p:cNvPr id="36" name="Shape 29"/>
          <p:cNvSpPr/>
          <p:nvPr/>
        </p:nvSpPr>
        <p:spPr>
          <a:xfrm>
            <a:off x="1834744" y="3913632"/>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7" name="Shape 30"/>
          <p:cNvSpPr/>
          <p:nvPr/>
        </p:nvSpPr>
        <p:spPr>
          <a:xfrm>
            <a:off x="1834744" y="3913632"/>
            <a:ext cx="2743200" cy="91440"/>
          </a:xfrm>
          <a:prstGeom prst="rect">
            <a:avLst/>
          </a:prstGeom>
          <a:solidFill>
            <a:srgbClr val="003DA5"/>
          </a:solidFill>
          <a:ln w="12700">
            <a:solidFill>
              <a:srgbClr val="003DA5"/>
            </a:solidFill>
            <a:prstDash val="solid"/>
          </a:ln>
        </p:spPr>
      </p:sp>
      <p:pic>
        <p:nvPicPr>
          <p:cNvPr id="38" name="Image 5" descr="preencoded.png">    </p:cNvPr>
          <p:cNvPicPr>
            <a:picLocks noChangeAspect="1"/>
          </p:cNvPicPr>
          <p:nvPr/>
        </p:nvPicPr>
        <p:blipFill>
          <a:blip r:embed="rId6"/>
          <a:stretch>
            <a:fillRect/>
          </a:stretch>
        </p:blipFill>
        <p:spPr>
          <a:xfrm>
            <a:off x="2063344" y="4187952"/>
            <a:ext cx="457200" cy="457200"/>
          </a:xfrm>
          <a:prstGeom prst="rect">
            <a:avLst/>
          </a:prstGeom>
        </p:spPr>
      </p:pic>
      <p:sp>
        <p:nvSpPr>
          <p:cNvPr id="39" name="Text 31"/>
          <p:cNvSpPr/>
          <p:nvPr/>
        </p:nvSpPr>
        <p:spPr>
          <a:xfrm>
            <a:off x="2703424" y="4169664"/>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Developer Experience &amp; Delivery</a:t>
            </a:r>
            <a:endParaRPr lang="en-US" sz="1300" dirty="0"/>
          </a:p>
        </p:txBody>
      </p:sp>
      <p:sp>
        <p:nvSpPr>
          <p:cNvPr id="40" name="Text 32"/>
          <p:cNvSpPr/>
          <p:nvPr/>
        </p:nvSpPr>
        <p:spPr>
          <a:xfrm>
            <a:off x="2063344" y="4782312"/>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Backstage portal · CI/CD · golden paths · FinOps</a:t>
            </a:r>
            <a:endParaRPr lang="en-US" sz="1100" dirty="0"/>
          </a:p>
        </p:txBody>
      </p:sp>
      <p:sp>
        <p:nvSpPr>
          <p:cNvPr id="41" name="Shape 33"/>
          <p:cNvSpPr/>
          <p:nvPr/>
        </p:nvSpPr>
        <p:spPr>
          <a:xfrm>
            <a:off x="3526384" y="5330952"/>
            <a:ext cx="868680" cy="292608"/>
          </a:xfrm>
          <a:prstGeom prst="rect">
            <a:avLst/>
          </a:prstGeom>
          <a:solidFill>
            <a:srgbClr val="FFF1A8"/>
          </a:solidFill>
          <a:ln w="12700">
            <a:solidFill>
              <a:srgbClr val="FEDF01"/>
            </a:solidFill>
            <a:prstDash val="solid"/>
          </a:ln>
        </p:spPr>
      </p:sp>
      <p:sp>
        <p:nvSpPr>
          <p:cNvPr id="42" name="Text 34"/>
          <p:cNvSpPr/>
          <p:nvPr/>
        </p:nvSpPr>
        <p:spPr>
          <a:xfrm>
            <a:off x="3526384" y="5330952"/>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43" name="Shape 35"/>
          <p:cNvSpPr/>
          <p:nvPr/>
        </p:nvSpPr>
        <p:spPr>
          <a:xfrm>
            <a:off x="4724248" y="3913632"/>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44" name="Shape 36"/>
          <p:cNvSpPr/>
          <p:nvPr/>
        </p:nvSpPr>
        <p:spPr>
          <a:xfrm>
            <a:off x="4724248" y="3913632"/>
            <a:ext cx="2743200" cy="91440"/>
          </a:xfrm>
          <a:prstGeom prst="rect">
            <a:avLst/>
          </a:prstGeom>
          <a:solidFill>
            <a:srgbClr val="003DA5"/>
          </a:solidFill>
          <a:ln w="12700">
            <a:solidFill>
              <a:srgbClr val="003DA5"/>
            </a:solidFill>
            <a:prstDash val="solid"/>
          </a:ln>
        </p:spPr>
      </p:sp>
      <p:pic>
        <p:nvPicPr>
          <p:cNvPr id="45" name="Image 6" descr="preencoded.png">    </p:cNvPr>
          <p:cNvPicPr>
            <a:picLocks noChangeAspect="1"/>
          </p:cNvPicPr>
          <p:nvPr/>
        </p:nvPicPr>
        <p:blipFill>
          <a:blip r:embed="rId7"/>
          <a:stretch>
            <a:fillRect/>
          </a:stretch>
        </p:blipFill>
        <p:spPr>
          <a:xfrm>
            <a:off x="4952848" y="4187952"/>
            <a:ext cx="457200" cy="457200"/>
          </a:xfrm>
          <a:prstGeom prst="rect">
            <a:avLst/>
          </a:prstGeom>
        </p:spPr>
      </p:pic>
      <p:sp>
        <p:nvSpPr>
          <p:cNvPr id="46" name="Text 37"/>
          <p:cNvSpPr/>
          <p:nvPr/>
        </p:nvSpPr>
        <p:spPr>
          <a:xfrm>
            <a:off x="5592928" y="4169664"/>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Reliability, Observability &amp; AIOps</a:t>
            </a:r>
            <a:endParaRPr lang="en-US" sz="1300" dirty="0"/>
          </a:p>
        </p:txBody>
      </p:sp>
      <p:sp>
        <p:nvSpPr>
          <p:cNvPr id="47" name="Text 38"/>
          <p:cNvSpPr/>
          <p:nvPr/>
        </p:nvSpPr>
        <p:spPr>
          <a:xfrm>
            <a:off x="4952848" y="4782312"/>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SLO platform · incident intel · AI agents</a:t>
            </a:r>
            <a:endParaRPr lang="en-US" sz="1100" dirty="0"/>
          </a:p>
        </p:txBody>
      </p:sp>
      <p:sp>
        <p:nvSpPr>
          <p:cNvPr id="48" name="Shape 39"/>
          <p:cNvSpPr/>
          <p:nvPr/>
        </p:nvSpPr>
        <p:spPr>
          <a:xfrm>
            <a:off x="6415888" y="5330952"/>
            <a:ext cx="868680" cy="292608"/>
          </a:xfrm>
          <a:prstGeom prst="rect">
            <a:avLst/>
          </a:prstGeom>
          <a:solidFill>
            <a:srgbClr val="FFF1A8"/>
          </a:solidFill>
          <a:ln w="12700">
            <a:solidFill>
              <a:srgbClr val="FEDF01"/>
            </a:solidFill>
            <a:prstDash val="solid"/>
          </a:ln>
        </p:spPr>
      </p:sp>
      <p:sp>
        <p:nvSpPr>
          <p:cNvPr id="49" name="Text 40"/>
          <p:cNvSpPr/>
          <p:nvPr/>
        </p:nvSpPr>
        <p:spPr>
          <a:xfrm>
            <a:off x="6415888" y="5330952"/>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~340 FTE</a:t>
            </a:r>
            <a:endParaRPr lang="en-US" sz="1000" dirty="0"/>
          </a:p>
        </p:txBody>
      </p:sp>
      <p:sp>
        <p:nvSpPr>
          <p:cNvPr id="50" name="Shape 41"/>
          <p:cNvSpPr/>
          <p:nvPr/>
        </p:nvSpPr>
        <p:spPr>
          <a:xfrm>
            <a:off x="7613752" y="3913632"/>
            <a:ext cx="2743200" cy="1874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51" name="Shape 42"/>
          <p:cNvSpPr/>
          <p:nvPr/>
        </p:nvSpPr>
        <p:spPr>
          <a:xfrm>
            <a:off x="7613752" y="3913632"/>
            <a:ext cx="2743200" cy="91440"/>
          </a:xfrm>
          <a:prstGeom prst="rect">
            <a:avLst/>
          </a:prstGeom>
          <a:solidFill>
            <a:srgbClr val="003DA5"/>
          </a:solidFill>
          <a:ln w="12700">
            <a:solidFill>
              <a:srgbClr val="003DA5"/>
            </a:solidFill>
            <a:prstDash val="solid"/>
          </a:ln>
        </p:spPr>
      </p:sp>
      <p:pic>
        <p:nvPicPr>
          <p:cNvPr id="52" name="Image 7" descr="preencoded.png">    </p:cNvPr>
          <p:cNvPicPr>
            <a:picLocks noChangeAspect="1"/>
          </p:cNvPicPr>
          <p:nvPr/>
        </p:nvPicPr>
        <p:blipFill>
          <a:blip r:embed="rId8"/>
          <a:stretch>
            <a:fillRect/>
          </a:stretch>
        </p:blipFill>
        <p:spPr>
          <a:xfrm>
            <a:off x="7842352" y="4187952"/>
            <a:ext cx="457200" cy="457200"/>
          </a:xfrm>
          <a:prstGeom prst="rect">
            <a:avLst/>
          </a:prstGeom>
        </p:spPr>
      </p:pic>
      <p:sp>
        <p:nvSpPr>
          <p:cNvPr id="53" name="Text 43"/>
          <p:cNvSpPr/>
          <p:nvPr/>
        </p:nvSpPr>
        <p:spPr>
          <a:xfrm>
            <a:off x="8482432" y="4169664"/>
            <a:ext cx="1783080" cy="5029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Security, Compliance &amp; Assurance</a:t>
            </a:r>
            <a:endParaRPr lang="en-US" sz="1300" dirty="0"/>
          </a:p>
        </p:txBody>
      </p:sp>
      <p:sp>
        <p:nvSpPr>
          <p:cNvPr id="54" name="Text 44"/>
          <p:cNvSpPr/>
          <p:nvPr/>
        </p:nvSpPr>
        <p:spPr>
          <a:xfrm>
            <a:off x="7842352" y="4782312"/>
            <a:ext cx="2377440" cy="5943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IAM, secrets, policy-as-code, regulatory</a:t>
            </a:r>
            <a:endParaRPr lang="en-US" sz="1100" dirty="0"/>
          </a:p>
        </p:txBody>
      </p:sp>
      <p:sp>
        <p:nvSpPr>
          <p:cNvPr id="55" name="Shape 45"/>
          <p:cNvSpPr/>
          <p:nvPr/>
        </p:nvSpPr>
        <p:spPr>
          <a:xfrm>
            <a:off x="9305392" y="5330952"/>
            <a:ext cx="868680" cy="292608"/>
          </a:xfrm>
          <a:prstGeom prst="rect">
            <a:avLst/>
          </a:prstGeom>
          <a:solidFill>
            <a:srgbClr val="FFF1A8"/>
          </a:solidFill>
          <a:ln w="12700">
            <a:solidFill>
              <a:srgbClr val="FEDF01"/>
            </a:solidFill>
            <a:prstDash val="solid"/>
          </a:ln>
        </p:spPr>
      </p:sp>
      <p:sp>
        <p:nvSpPr>
          <p:cNvPr id="56" name="Text 46"/>
          <p:cNvSpPr/>
          <p:nvPr/>
        </p:nvSpPr>
        <p:spPr>
          <a:xfrm>
            <a:off x="9305392" y="5330952"/>
            <a:ext cx="86868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~290 FTE</a:t>
            </a:r>
            <a:endParaRPr lang="en-US" sz="1000" dirty="0"/>
          </a:p>
        </p:txBody>
      </p:sp>
      <p:sp>
        <p:nvSpPr>
          <p:cNvPr id="57" name="Shape 47"/>
          <p:cNvSpPr/>
          <p:nvPr/>
        </p:nvSpPr>
        <p:spPr>
          <a:xfrm>
            <a:off x="457200" y="5952744"/>
            <a:ext cx="11274552" cy="411480"/>
          </a:xfrm>
          <a:prstGeom prst="rect">
            <a:avLst/>
          </a:prstGeom>
          <a:solidFill>
            <a:srgbClr val="001F5C"/>
          </a:solidFill>
          <a:ln w="12700">
            <a:solidFill>
              <a:srgbClr val="001F5C"/>
            </a:solidFill>
            <a:prstDash val="solid"/>
          </a:ln>
        </p:spPr>
      </p:sp>
      <p:sp>
        <p:nvSpPr>
          <p:cNvPr id="58" name="Text 48"/>
          <p:cNvSpPr/>
          <p:nvPr/>
        </p:nvSpPr>
        <p:spPr>
          <a:xfrm>
            <a:off x="457200" y="5952744"/>
            <a:ext cx="11274552"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~2,300 FTE allocated to tribes  </a:t>
            </a:r>
            <a:pPr algn="ctr" indent="0" marL="0">
              <a:buNone/>
            </a:pPr>
            <a:r>
              <a:rPr lang="en-US" sz="1200" dirty="0">
                <a:solidFill>
                  <a:srgbClr val="FEDF01"/>
                </a:solidFill>
                <a:latin typeface="Calibri" pitchFamily="34" charset="0"/>
                <a:ea typeface="Calibri" pitchFamily="34" charset="-122"/>
                <a:cs typeface="Calibri" pitchFamily="34" charset="-120"/>
              </a:rPr>
              <a:t>·  </a:t>
            </a:r>
            <a:pPr algn="ctr" indent="0" marL="0">
              <a:buNone/>
            </a:pPr>
            <a:r>
              <a:rPr lang="en-US" sz="1200" i="1" dirty="0">
                <a:solidFill>
                  <a:srgbClr val="C9D6EE"/>
                </a:solidFill>
                <a:latin typeface="Calibri" pitchFamily="34" charset="0"/>
                <a:ea typeface="Calibri" pitchFamily="34" charset="-122"/>
                <a:cs typeface="Calibri" pitchFamily="34" charset="-120"/>
              </a:rPr>
              <a:t>5–10% slack reserved for enabling, transformation &amp; innovation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TRANSFORMATION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Where the Four Verticals Land in the New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26568" y="1417320"/>
            <a:ext cx="2697480" cy="4160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8" name="Shape 5"/>
          <p:cNvSpPr/>
          <p:nvPr/>
        </p:nvSpPr>
        <p:spPr>
          <a:xfrm>
            <a:off x="426568" y="1417320"/>
            <a:ext cx="2697480" cy="777240"/>
          </a:xfrm>
          <a:prstGeom prst="rect">
            <a:avLst/>
          </a:prstGeom>
          <a:solidFill>
            <a:srgbClr val="003DA5"/>
          </a:solidFill>
          <a:ln w="12700">
            <a:solidFill>
              <a:srgbClr val="003DA5"/>
            </a:solidFill>
            <a:prstDash val="solid"/>
          </a:ln>
        </p:spPr>
      </p:sp>
      <p:sp>
        <p:nvSpPr>
          <p:cNvPr id="9" name="Shape 6"/>
          <p:cNvSpPr/>
          <p:nvPr/>
        </p:nvSpPr>
        <p:spPr>
          <a:xfrm>
            <a:off x="426568" y="1417320"/>
            <a:ext cx="2697480" cy="73152"/>
          </a:xfrm>
          <a:prstGeom prst="rect">
            <a:avLst/>
          </a:prstGeom>
          <a:solidFill>
            <a:srgbClr val="FEDF01"/>
          </a:solidFill>
          <a:ln w="12700">
            <a:solidFill>
              <a:srgbClr val="FEDF01"/>
            </a:solidFill>
            <a:prstDash val="solid"/>
          </a:ln>
        </p:spPr>
      </p:sp>
      <p:sp>
        <p:nvSpPr>
          <p:cNvPr id="10" name="Text 7"/>
          <p:cNvSpPr/>
          <p:nvPr/>
        </p:nvSpPr>
        <p:spPr>
          <a:xfrm>
            <a:off x="609448" y="1554480"/>
            <a:ext cx="2331720" cy="27432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11" name="Text 8"/>
          <p:cNvSpPr/>
          <p:nvPr/>
        </p:nvSpPr>
        <p:spPr>
          <a:xfrm>
            <a:off x="609448" y="1828800"/>
            <a:ext cx="2331720" cy="320040"/>
          </a:xfrm>
          <a:prstGeom prst="rect">
            <a:avLst/>
          </a:prstGeom>
          <a:noFill/>
          <a:ln/>
        </p:spPr>
        <p:txBody>
          <a:bodyPr wrap="square" lIns="0" tIns="0" rIns="0" bIns="0" rtlCol="0" anchor="ctr"/>
          <a:lstStyle/>
          <a:p>
            <a:pPr indent="0" marL="0">
              <a:buNone/>
            </a:pPr>
            <a:r>
              <a:rPr lang="en-US" sz="1200" b="1" i="1" dirty="0">
                <a:solidFill>
                  <a:srgbClr val="FEDF01"/>
                </a:solidFill>
                <a:latin typeface="Georgia" pitchFamily="34" charset="0"/>
                <a:ea typeface="Georgia" pitchFamily="34" charset="-122"/>
                <a:cs typeface="Georgia" pitchFamily="34" charset="-120"/>
              </a:rPr>
              <a:t>→  Embedded enabler</a:t>
            </a:r>
            <a:endParaRPr lang="en-US" sz="1200" dirty="0"/>
          </a:p>
        </p:txBody>
      </p:sp>
      <p:sp>
        <p:nvSpPr>
          <p:cNvPr id="12" name="Text 9"/>
          <p:cNvSpPr/>
          <p:nvPr/>
        </p:nvSpPr>
        <p:spPr>
          <a:xfrm>
            <a:off x="609448" y="2377440"/>
            <a:ext cx="2331720" cy="22860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BEFORE</a:t>
            </a:r>
            <a:endParaRPr lang="en-US" sz="900" dirty="0"/>
          </a:p>
        </p:txBody>
      </p:sp>
      <p:sp>
        <p:nvSpPr>
          <p:cNvPr id="13" name="Text 10"/>
          <p:cNvSpPr/>
          <p:nvPr/>
        </p:nvSpPr>
        <p:spPr>
          <a:xfrm>
            <a:off x="609448" y="2606040"/>
            <a:ext cx="2331720" cy="45720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Standalone group, design-approval queue</a:t>
            </a:r>
            <a:endParaRPr lang="en-US" sz="1050" dirty="0"/>
          </a:p>
        </p:txBody>
      </p:sp>
      <p:sp>
        <p:nvSpPr>
          <p:cNvPr id="14" name="Shape 11"/>
          <p:cNvSpPr/>
          <p:nvPr/>
        </p:nvSpPr>
        <p:spPr>
          <a:xfrm>
            <a:off x="609448" y="3154680"/>
            <a:ext cx="2331720" cy="0"/>
          </a:xfrm>
          <a:prstGeom prst="line">
            <a:avLst/>
          </a:prstGeom>
          <a:noFill/>
          <a:ln w="12700">
            <a:solidFill>
              <a:srgbClr val="E2E8F0"/>
            </a:solidFill>
            <a:prstDash val="solid"/>
          </a:ln>
        </p:spPr>
      </p:sp>
      <p:sp>
        <p:nvSpPr>
          <p:cNvPr id="15" name="Text 12"/>
          <p:cNvSpPr/>
          <p:nvPr/>
        </p:nvSpPr>
        <p:spPr>
          <a:xfrm>
            <a:off x="609448" y="3246120"/>
            <a:ext cx="2331720" cy="228600"/>
          </a:xfrm>
          <a:prstGeom prst="rect">
            <a:avLst/>
          </a:prstGeom>
          <a:noFill/>
          <a:ln/>
        </p:spPr>
        <p:txBody>
          <a:bodyPr wrap="square" lIns="0" tIns="0" rIns="0" bIns="0" rtlCol="0" anchor="ctr"/>
          <a:lstStyle/>
          <a:p>
            <a:pPr indent="0" marL="0">
              <a:buNone/>
            </a:pPr>
            <a:r>
              <a:rPr lang="en-US" sz="900" b="1" spc="300" kern="0" dirty="0">
                <a:solidFill>
                  <a:srgbClr val="003DA5"/>
                </a:solidFill>
                <a:latin typeface="Calibri" pitchFamily="34" charset="0"/>
                <a:ea typeface="Calibri" pitchFamily="34" charset="-122"/>
                <a:cs typeface="Calibri" pitchFamily="34" charset="-120"/>
              </a:rPr>
              <a:t>AFTER</a:t>
            </a:r>
            <a:endParaRPr lang="en-US" sz="900" dirty="0"/>
          </a:p>
        </p:txBody>
      </p:sp>
      <p:sp>
        <p:nvSpPr>
          <p:cNvPr id="16" name="Text 13"/>
          <p:cNvSpPr/>
          <p:nvPr/>
        </p:nvSpPr>
        <p:spPr>
          <a:xfrm>
            <a:off x="70088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Senior/Principal architects embedded in Tier-1 &amp; Tier-2 platform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Part-time Architecture Guild owns standards, ADRs, reference architectures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Office of the Chief Architect (5–10) supports the Guild</a:t>
            </a:r>
            <a:endParaRPr lang="en-US" sz="1050" dirty="0"/>
          </a:p>
        </p:txBody>
      </p:sp>
      <p:sp>
        <p:nvSpPr>
          <p:cNvPr id="17" name="Shape 14"/>
          <p:cNvSpPr/>
          <p:nvPr/>
        </p:nvSpPr>
        <p:spPr>
          <a:xfrm>
            <a:off x="609448" y="5166360"/>
            <a:ext cx="2331720" cy="292608"/>
          </a:xfrm>
          <a:prstGeom prst="rect">
            <a:avLst/>
          </a:prstGeom>
          <a:solidFill>
            <a:srgbClr val="F4F6F9"/>
          </a:solidFill>
          <a:ln w="6350">
            <a:solidFill>
              <a:srgbClr val="E2E8F0"/>
            </a:solidFill>
            <a:prstDash val="solid"/>
          </a:ln>
        </p:spPr>
      </p:sp>
      <p:sp>
        <p:nvSpPr>
          <p:cNvPr id="18" name="Text 15"/>
          <p:cNvSpPr/>
          <p:nvPr/>
        </p:nvSpPr>
        <p:spPr>
          <a:xfrm>
            <a:off x="609448" y="5166360"/>
            <a:ext cx="2331720" cy="292608"/>
          </a:xfrm>
          <a:prstGeom prst="rect">
            <a:avLst/>
          </a:prstGeom>
          <a:noFill/>
          <a:ln/>
        </p:spPr>
        <p:txBody>
          <a:bodyPr wrap="square" lIns="0" tIns="0" rIns="0" bIns="0" rtlCol="0" anchor="ctr"/>
          <a:lstStyle/>
          <a:p>
            <a:pPr algn="ctr" indent="0" marL="0">
              <a:buNone/>
            </a:pPr>
            <a:r>
              <a:rPr lang="en-US" sz="1000" b="1" dirty="0">
                <a:solidFill>
                  <a:srgbClr val="003DA5"/>
                </a:solidFill>
                <a:latin typeface="Calibri" pitchFamily="34" charset="0"/>
                <a:ea typeface="Calibri" pitchFamily="34" charset="-122"/>
                <a:cs typeface="Calibri" pitchFamily="34" charset="-120"/>
              </a:rPr>
              <a:t>~40–60 FTE total</a:t>
            </a:r>
            <a:endParaRPr lang="en-US" sz="1000" dirty="0"/>
          </a:p>
        </p:txBody>
      </p:sp>
      <p:sp>
        <p:nvSpPr>
          <p:cNvPr id="19" name="Shape 16"/>
          <p:cNvSpPr/>
          <p:nvPr/>
        </p:nvSpPr>
        <p:spPr>
          <a:xfrm>
            <a:off x="3306928" y="1417320"/>
            <a:ext cx="2697480" cy="4160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0" name="Shape 17"/>
          <p:cNvSpPr/>
          <p:nvPr/>
        </p:nvSpPr>
        <p:spPr>
          <a:xfrm>
            <a:off x="3306928" y="1417320"/>
            <a:ext cx="2697480" cy="777240"/>
          </a:xfrm>
          <a:prstGeom prst="rect">
            <a:avLst/>
          </a:prstGeom>
          <a:solidFill>
            <a:srgbClr val="003DA5"/>
          </a:solidFill>
          <a:ln w="12700">
            <a:solidFill>
              <a:srgbClr val="003DA5"/>
            </a:solidFill>
            <a:prstDash val="solid"/>
          </a:ln>
        </p:spPr>
      </p:sp>
      <p:sp>
        <p:nvSpPr>
          <p:cNvPr id="21" name="Shape 18"/>
          <p:cNvSpPr/>
          <p:nvPr/>
        </p:nvSpPr>
        <p:spPr>
          <a:xfrm>
            <a:off x="3306928" y="1417320"/>
            <a:ext cx="2697480" cy="73152"/>
          </a:xfrm>
          <a:prstGeom prst="rect">
            <a:avLst/>
          </a:prstGeom>
          <a:solidFill>
            <a:srgbClr val="FEDF01"/>
          </a:solidFill>
          <a:ln w="12700">
            <a:solidFill>
              <a:srgbClr val="FEDF01"/>
            </a:solidFill>
            <a:prstDash val="solid"/>
          </a:ln>
        </p:spPr>
      </p:sp>
      <p:sp>
        <p:nvSpPr>
          <p:cNvPr id="22" name="Text 19"/>
          <p:cNvSpPr/>
          <p:nvPr/>
        </p:nvSpPr>
        <p:spPr>
          <a:xfrm>
            <a:off x="3489808" y="1554480"/>
            <a:ext cx="2331720" cy="27432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23" name="Text 20"/>
          <p:cNvSpPr/>
          <p:nvPr/>
        </p:nvSpPr>
        <p:spPr>
          <a:xfrm>
            <a:off x="3489808" y="1828800"/>
            <a:ext cx="2331720" cy="320040"/>
          </a:xfrm>
          <a:prstGeom prst="rect">
            <a:avLst/>
          </a:prstGeom>
          <a:noFill/>
          <a:ln/>
        </p:spPr>
        <p:txBody>
          <a:bodyPr wrap="square" lIns="0" tIns="0" rIns="0" bIns="0" rtlCol="0" anchor="ctr"/>
          <a:lstStyle/>
          <a:p>
            <a:pPr indent="0" marL="0">
              <a:buNone/>
            </a:pPr>
            <a:r>
              <a:rPr lang="en-US" sz="1200" b="1" i="1" dirty="0">
                <a:solidFill>
                  <a:srgbClr val="FEDF01"/>
                </a:solidFill>
                <a:latin typeface="Georgia" pitchFamily="34" charset="0"/>
                <a:ea typeface="Georgia" pitchFamily="34" charset="-122"/>
                <a:cs typeface="Georgia" pitchFamily="34" charset="-120"/>
              </a:rPr>
              <a:t>→  The core, reframed</a:t>
            </a:r>
            <a:endParaRPr lang="en-US" sz="1200" dirty="0"/>
          </a:p>
        </p:txBody>
      </p:sp>
      <p:sp>
        <p:nvSpPr>
          <p:cNvPr id="24" name="Text 21"/>
          <p:cNvSpPr/>
          <p:nvPr/>
        </p:nvSpPr>
        <p:spPr>
          <a:xfrm>
            <a:off x="3489808" y="2377440"/>
            <a:ext cx="2331720" cy="22860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BEFORE</a:t>
            </a:r>
            <a:endParaRPr lang="en-US" sz="900" dirty="0"/>
          </a:p>
        </p:txBody>
      </p:sp>
      <p:sp>
        <p:nvSpPr>
          <p:cNvPr id="25" name="Text 22"/>
          <p:cNvSpPr/>
          <p:nvPr/>
        </p:nvSpPr>
        <p:spPr>
          <a:xfrm>
            <a:off x="3489808" y="2606040"/>
            <a:ext cx="2331720" cy="45720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Functional vertical owning delivery</a:t>
            </a:r>
            <a:endParaRPr lang="en-US" sz="1050" dirty="0"/>
          </a:p>
        </p:txBody>
      </p:sp>
      <p:sp>
        <p:nvSpPr>
          <p:cNvPr id="26" name="Shape 23"/>
          <p:cNvSpPr/>
          <p:nvPr/>
        </p:nvSpPr>
        <p:spPr>
          <a:xfrm>
            <a:off x="3489808" y="3154680"/>
            <a:ext cx="2331720" cy="0"/>
          </a:xfrm>
          <a:prstGeom prst="line">
            <a:avLst/>
          </a:prstGeom>
          <a:noFill/>
          <a:ln w="12700">
            <a:solidFill>
              <a:srgbClr val="E2E8F0"/>
            </a:solidFill>
            <a:prstDash val="solid"/>
          </a:ln>
        </p:spPr>
      </p:sp>
      <p:sp>
        <p:nvSpPr>
          <p:cNvPr id="27" name="Text 24"/>
          <p:cNvSpPr/>
          <p:nvPr/>
        </p:nvSpPr>
        <p:spPr>
          <a:xfrm>
            <a:off x="3489808" y="3246120"/>
            <a:ext cx="2331720" cy="228600"/>
          </a:xfrm>
          <a:prstGeom prst="rect">
            <a:avLst/>
          </a:prstGeom>
          <a:noFill/>
          <a:ln/>
        </p:spPr>
        <p:txBody>
          <a:bodyPr wrap="square" lIns="0" tIns="0" rIns="0" bIns="0" rtlCol="0" anchor="ctr"/>
          <a:lstStyle/>
          <a:p>
            <a:pPr indent="0" marL="0">
              <a:buNone/>
            </a:pPr>
            <a:r>
              <a:rPr lang="en-US" sz="900" b="1" spc="300" kern="0" dirty="0">
                <a:solidFill>
                  <a:srgbClr val="003DA5"/>
                </a:solidFill>
                <a:latin typeface="Calibri" pitchFamily="34" charset="0"/>
                <a:ea typeface="Calibri" pitchFamily="34" charset="-122"/>
                <a:cs typeface="Calibri" pitchFamily="34" charset="-120"/>
              </a:rPr>
              <a:t>AFTER</a:t>
            </a:r>
            <a:endParaRPr lang="en-US" sz="900" dirty="0"/>
          </a:p>
        </p:txBody>
      </p:sp>
      <p:sp>
        <p:nvSpPr>
          <p:cNvPr id="28" name="Text 25"/>
          <p:cNvSpPr/>
          <p:nvPr/>
        </p:nvSpPr>
        <p:spPr>
          <a:xfrm>
            <a:off x="358124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Engineers distributed across Tier-1,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Accountable for product outcomes (adoption, SLOs, NPS), not just features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Excellence preserved through Engineering Chapters &amp; senior IC ladder</a:t>
            </a:r>
            <a:endParaRPr lang="en-US" sz="1050" dirty="0"/>
          </a:p>
        </p:txBody>
      </p:sp>
      <p:sp>
        <p:nvSpPr>
          <p:cNvPr id="29" name="Shape 26"/>
          <p:cNvSpPr/>
          <p:nvPr/>
        </p:nvSpPr>
        <p:spPr>
          <a:xfrm>
            <a:off x="3489808" y="5166360"/>
            <a:ext cx="2331720" cy="292608"/>
          </a:xfrm>
          <a:prstGeom prst="rect">
            <a:avLst/>
          </a:prstGeom>
          <a:solidFill>
            <a:srgbClr val="F4F6F9"/>
          </a:solidFill>
          <a:ln w="6350">
            <a:solidFill>
              <a:srgbClr val="E2E8F0"/>
            </a:solidFill>
            <a:prstDash val="solid"/>
          </a:ln>
        </p:spPr>
      </p:sp>
      <p:sp>
        <p:nvSpPr>
          <p:cNvPr id="30" name="Text 27"/>
          <p:cNvSpPr/>
          <p:nvPr/>
        </p:nvSpPr>
        <p:spPr>
          <a:xfrm>
            <a:off x="3489808" y="5166360"/>
            <a:ext cx="2331720" cy="292608"/>
          </a:xfrm>
          <a:prstGeom prst="rect">
            <a:avLst/>
          </a:prstGeom>
          <a:noFill/>
          <a:ln/>
        </p:spPr>
        <p:txBody>
          <a:bodyPr wrap="square" lIns="0" tIns="0" rIns="0" bIns="0" rtlCol="0" anchor="ctr"/>
          <a:lstStyle/>
          <a:p>
            <a:pPr algn="ctr" indent="0" marL="0">
              <a:buNone/>
            </a:pPr>
            <a:r>
              <a:rPr lang="en-US" sz="1000" b="1" dirty="0">
                <a:solidFill>
                  <a:srgbClr val="003DA5"/>
                </a:solidFill>
                <a:latin typeface="Calibri" pitchFamily="34" charset="0"/>
                <a:ea typeface="Calibri" pitchFamily="34" charset="-122"/>
                <a:cs typeface="Calibri" pitchFamily="34" charset="-120"/>
              </a:rPr>
              <a:t>Bulk of org</a:t>
            </a:r>
            <a:endParaRPr lang="en-US" sz="1000" dirty="0"/>
          </a:p>
        </p:txBody>
      </p:sp>
      <p:sp>
        <p:nvSpPr>
          <p:cNvPr id="31" name="Shape 28"/>
          <p:cNvSpPr/>
          <p:nvPr/>
        </p:nvSpPr>
        <p:spPr>
          <a:xfrm>
            <a:off x="6187288" y="1417320"/>
            <a:ext cx="2697480" cy="4160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2" name="Shape 29"/>
          <p:cNvSpPr/>
          <p:nvPr/>
        </p:nvSpPr>
        <p:spPr>
          <a:xfrm>
            <a:off x="6187288" y="1417320"/>
            <a:ext cx="2697480" cy="777240"/>
          </a:xfrm>
          <a:prstGeom prst="rect">
            <a:avLst/>
          </a:prstGeom>
          <a:solidFill>
            <a:srgbClr val="003DA5"/>
          </a:solidFill>
          <a:ln w="12700">
            <a:solidFill>
              <a:srgbClr val="003DA5"/>
            </a:solidFill>
            <a:prstDash val="solid"/>
          </a:ln>
        </p:spPr>
      </p:sp>
      <p:sp>
        <p:nvSpPr>
          <p:cNvPr id="33" name="Shape 30"/>
          <p:cNvSpPr/>
          <p:nvPr/>
        </p:nvSpPr>
        <p:spPr>
          <a:xfrm>
            <a:off x="6187288" y="1417320"/>
            <a:ext cx="2697480" cy="73152"/>
          </a:xfrm>
          <a:prstGeom prst="rect">
            <a:avLst/>
          </a:prstGeom>
          <a:solidFill>
            <a:srgbClr val="FEDF01"/>
          </a:solidFill>
          <a:ln w="12700">
            <a:solidFill>
              <a:srgbClr val="FEDF01"/>
            </a:solidFill>
            <a:prstDash val="solid"/>
          </a:ln>
        </p:spPr>
      </p:sp>
      <p:sp>
        <p:nvSpPr>
          <p:cNvPr id="34" name="Text 31"/>
          <p:cNvSpPr/>
          <p:nvPr/>
        </p:nvSpPr>
        <p:spPr>
          <a:xfrm>
            <a:off x="6370168" y="1554480"/>
            <a:ext cx="2331720" cy="27432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2"/>
          <p:cNvSpPr/>
          <p:nvPr/>
        </p:nvSpPr>
        <p:spPr>
          <a:xfrm>
            <a:off x="6370168" y="1828800"/>
            <a:ext cx="2331720" cy="320040"/>
          </a:xfrm>
          <a:prstGeom prst="rect">
            <a:avLst/>
          </a:prstGeom>
          <a:noFill/>
          <a:ln/>
        </p:spPr>
        <p:txBody>
          <a:bodyPr wrap="square" lIns="0" tIns="0" rIns="0" bIns="0" rtlCol="0" anchor="ctr"/>
          <a:lstStyle/>
          <a:p>
            <a:pPr indent="0" marL="0">
              <a:buNone/>
            </a:pPr>
            <a:r>
              <a:rPr lang="en-US" sz="1200" b="1" i="1" dirty="0">
                <a:solidFill>
                  <a:srgbClr val="FEDF01"/>
                </a:solidFill>
                <a:latin typeface="Georgia" pitchFamily="34" charset="0"/>
                <a:ea typeface="Georgia" pitchFamily="34" charset="-122"/>
                <a:cs typeface="Georgia" pitchFamily="34" charset="-120"/>
              </a:rPr>
              <a:t>→  Embedded SRE + AIOps</a:t>
            </a:r>
            <a:endParaRPr lang="en-US" sz="1200" dirty="0"/>
          </a:p>
        </p:txBody>
      </p:sp>
      <p:sp>
        <p:nvSpPr>
          <p:cNvPr id="36" name="Text 33"/>
          <p:cNvSpPr/>
          <p:nvPr/>
        </p:nvSpPr>
        <p:spPr>
          <a:xfrm>
            <a:off x="6370168" y="2377440"/>
            <a:ext cx="2331720" cy="22860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BEFORE</a:t>
            </a:r>
            <a:endParaRPr lang="en-US" sz="900" dirty="0"/>
          </a:p>
        </p:txBody>
      </p:sp>
      <p:sp>
        <p:nvSpPr>
          <p:cNvPr id="37" name="Text 34"/>
          <p:cNvSpPr/>
          <p:nvPr/>
        </p:nvSpPr>
        <p:spPr>
          <a:xfrm>
            <a:off x="6370168" y="2606040"/>
            <a:ext cx="2331720" cy="45720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Separate run team taking handoffs</a:t>
            </a:r>
            <a:endParaRPr lang="en-US" sz="1050" dirty="0"/>
          </a:p>
        </p:txBody>
      </p:sp>
      <p:sp>
        <p:nvSpPr>
          <p:cNvPr id="38" name="Shape 35"/>
          <p:cNvSpPr/>
          <p:nvPr/>
        </p:nvSpPr>
        <p:spPr>
          <a:xfrm>
            <a:off x="6370168" y="3154680"/>
            <a:ext cx="2331720" cy="0"/>
          </a:xfrm>
          <a:prstGeom prst="line">
            <a:avLst/>
          </a:prstGeom>
          <a:noFill/>
          <a:ln w="12700">
            <a:solidFill>
              <a:srgbClr val="E2E8F0"/>
            </a:solidFill>
            <a:prstDash val="solid"/>
          </a:ln>
        </p:spPr>
      </p:sp>
      <p:sp>
        <p:nvSpPr>
          <p:cNvPr id="39" name="Text 36"/>
          <p:cNvSpPr/>
          <p:nvPr/>
        </p:nvSpPr>
        <p:spPr>
          <a:xfrm>
            <a:off x="6370168" y="3246120"/>
            <a:ext cx="2331720" cy="228600"/>
          </a:xfrm>
          <a:prstGeom prst="rect">
            <a:avLst/>
          </a:prstGeom>
          <a:noFill/>
          <a:ln/>
        </p:spPr>
        <p:txBody>
          <a:bodyPr wrap="square" lIns="0" tIns="0" rIns="0" bIns="0" rtlCol="0" anchor="ctr"/>
          <a:lstStyle/>
          <a:p>
            <a:pPr indent="0" marL="0">
              <a:buNone/>
            </a:pPr>
            <a:r>
              <a:rPr lang="en-US" sz="900" b="1" spc="300" kern="0" dirty="0">
                <a:solidFill>
                  <a:srgbClr val="003DA5"/>
                </a:solidFill>
                <a:latin typeface="Calibri" pitchFamily="34" charset="0"/>
                <a:ea typeface="Calibri" pitchFamily="34" charset="-122"/>
                <a:cs typeface="Calibri" pitchFamily="34" charset="-120"/>
              </a:rPr>
              <a:t>AFTER</a:t>
            </a:r>
            <a:endParaRPr lang="en-US" sz="900" dirty="0"/>
          </a:p>
        </p:txBody>
      </p:sp>
      <p:sp>
        <p:nvSpPr>
          <p:cNvPr id="40" name="Text 37"/>
          <p:cNvSpPr/>
          <p:nvPr/>
        </p:nvSpPr>
        <p:spPr>
          <a:xfrm>
            <a:off x="646160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30–40 SRE pods embedded inside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&amp; Incident Intel as a Tier-2 product everyone consumes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Lightweight rotational Incident Command, drawn from a Chapter</a:t>
            </a:r>
            <a:endParaRPr lang="en-US" sz="1050" dirty="0"/>
          </a:p>
        </p:txBody>
      </p:sp>
      <p:sp>
        <p:nvSpPr>
          <p:cNvPr id="41" name="Shape 38"/>
          <p:cNvSpPr/>
          <p:nvPr/>
        </p:nvSpPr>
        <p:spPr>
          <a:xfrm>
            <a:off x="6370168" y="5166360"/>
            <a:ext cx="2331720" cy="292608"/>
          </a:xfrm>
          <a:prstGeom prst="rect">
            <a:avLst/>
          </a:prstGeom>
          <a:solidFill>
            <a:srgbClr val="F4F6F9"/>
          </a:solidFill>
          <a:ln w="6350">
            <a:solidFill>
              <a:srgbClr val="E2E8F0"/>
            </a:solidFill>
            <a:prstDash val="solid"/>
          </a:ln>
        </p:spPr>
      </p:sp>
      <p:sp>
        <p:nvSpPr>
          <p:cNvPr id="42" name="Text 39"/>
          <p:cNvSpPr/>
          <p:nvPr/>
        </p:nvSpPr>
        <p:spPr>
          <a:xfrm>
            <a:off x="6370168" y="5166360"/>
            <a:ext cx="2331720" cy="292608"/>
          </a:xfrm>
          <a:prstGeom prst="rect">
            <a:avLst/>
          </a:prstGeom>
          <a:noFill/>
          <a:ln/>
        </p:spPr>
        <p:txBody>
          <a:bodyPr wrap="square" lIns="0" tIns="0" rIns="0" bIns="0" rtlCol="0" anchor="ctr"/>
          <a:lstStyle/>
          <a:p>
            <a:pPr algn="ctr" indent="0" marL="0">
              <a:buNone/>
            </a:pPr>
            <a:r>
              <a:rPr lang="en-US" sz="1000" b="1" dirty="0">
                <a:solidFill>
                  <a:srgbClr val="003DA5"/>
                </a:solidFill>
                <a:latin typeface="Calibri" pitchFamily="34" charset="0"/>
                <a:ea typeface="Calibri" pitchFamily="34" charset="-122"/>
                <a:cs typeface="Calibri" pitchFamily="34" charset="-120"/>
              </a:rPr>
              <a:t>~150–220 FTE in pods</a:t>
            </a:r>
            <a:endParaRPr lang="en-US" sz="1000" dirty="0"/>
          </a:p>
        </p:txBody>
      </p:sp>
      <p:sp>
        <p:nvSpPr>
          <p:cNvPr id="43" name="Shape 40"/>
          <p:cNvSpPr/>
          <p:nvPr/>
        </p:nvSpPr>
        <p:spPr>
          <a:xfrm>
            <a:off x="9067648" y="1417320"/>
            <a:ext cx="2697480" cy="41605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44" name="Shape 41"/>
          <p:cNvSpPr/>
          <p:nvPr/>
        </p:nvSpPr>
        <p:spPr>
          <a:xfrm>
            <a:off x="9067648" y="1417320"/>
            <a:ext cx="2697480" cy="777240"/>
          </a:xfrm>
          <a:prstGeom prst="rect">
            <a:avLst/>
          </a:prstGeom>
          <a:solidFill>
            <a:srgbClr val="003DA5"/>
          </a:solidFill>
          <a:ln w="12700">
            <a:solidFill>
              <a:srgbClr val="003DA5"/>
            </a:solidFill>
            <a:prstDash val="solid"/>
          </a:ln>
        </p:spPr>
      </p:sp>
      <p:sp>
        <p:nvSpPr>
          <p:cNvPr id="45" name="Shape 42"/>
          <p:cNvSpPr/>
          <p:nvPr/>
        </p:nvSpPr>
        <p:spPr>
          <a:xfrm>
            <a:off x="9067648" y="1417320"/>
            <a:ext cx="2697480" cy="73152"/>
          </a:xfrm>
          <a:prstGeom prst="rect">
            <a:avLst/>
          </a:prstGeom>
          <a:solidFill>
            <a:srgbClr val="FEDF01"/>
          </a:solidFill>
          <a:ln w="12700">
            <a:solidFill>
              <a:srgbClr val="FEDF01"/>
            </a:solidFill>
            <a:prstDash val="solid"/>
          </a:ln>
        </p:spPr>
      </p:sp>
      <p:sp>
        <p:nvSpPr>
          <p:cNvPr id="46" name="Text 43"/>
          <p:cNvSpPr/>
          <p:nvPr/>
        </p:nvSpPr>
        <p:spPr>
          <a:xfrm>
            <a:off x="9250528" y="1554480"/>
            <a:ext cx="2331720" cy="27432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AI / IM</a:t>
            </a:r>
            <a:endParaRPr lang="en-US" sz="1200" dirty="0"/>
          </a:p>
        </p:txBody>
      </p:sp>
      <p:sp>
        <p:nvSpPr>
          <p:cNvPr id="47" name="Text 44"/>
          <p:cNvSpPr/>
          <p:nvPr/>
        </p:nvSpPr>
        <p:spPr>
          <a:xfrm>
            <a:off x="9250528" y="1828800"/>
            <a:ext cx="2331720" cy="320040"/>
          </a:xfrm>
          <a:prstGeom prst="rect">
            <a:avLst/>
          </a:prstGeom>
          <a:noFill/>
          <a:ln/>
        </p:spPr>
        <p:txBody>
          <a:bodyPr wrap="square" lIns="0" tIns="0" rIns="0" bIns="0" rtlCol="0" anchor="ctr"/>
          <a:lstStyle/>
          <a:p>
            <a:pPr indent="0" marL="0">
              <a:buNone/>
            </a:pPr>
            <a:r>
              <a:rPr lang="en-US" sz="1200" b="1" i="1" dirty="0">
                <a:solidFill>
                  <a:srgbClr val="FEDF01"/>
                </a:solidFill>
                <a:latin typeface="Georgia" pitchFamily="34" charset="0"/>
                <a:ea typeface="Georgia" pitchFamily="34" charset="-122"/>
                <a:cs typeface="Georgia" pitchFamily="34" charset="-120"/>
              </a:rPr>
              <a:t>→  Horizontal capability</a:t>
            </a:r>
            <a:endParaRPr lang="en-US" sz="1200" dirty="0"/>
          </a:p>
        </p:txBody>
      </p:sp>
      <p:sp>
        <p:nvSpPr>
          <p:cNvPr id="48" name="Text 45"/>
          <p:cNvSpPr/>
          <p:nvPr/>
        </p:nvSpPr>
        <p:spPr>
          <a:xfrm>
            <a:off x="9250528" y="2377440"/>
            <a:ext cx="2331720" cy="22860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BEFORE</a:t>
            </a:r>
            <a:endParaRPr lang="en-US" sz="900" dirty="0"/>
          </a:p>
        </p:txBody>
      </p:sp>
      <p:sp>
        <p:nvSpPr>
          <p:cNvPr id="49" name="Text 46"/>
          <p:cNvSpPr/>
          <p:nvPr/>
        </p:nvSpPr>
        <p:spPr>
          <a:xfrm>
            <a:off x="9250528" y="2606040"/>
            <a:ext cx="2331720" cy="45720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Standalone AI for IM/prediction tower</a:t>
            </a:r>
            <a:endParaRPr lang="en-US" sz="1050" dirty="0"/>
          </a:p>
        </p:txBody>
      </p:sp>
      <p:sp>
        <p:nvSpPr>
          <p:cNvPr id="50" name="Shape 47"/>
          <p:cNvSpPr/>
          <p:nvPr/>
        </p:nvSpPr>
        <p:spPr>
          <a:xfrm>
            <a:off x="9250528" y="3154680"/>
            <a:ext cx="2331720" cy="0"/>
          </a:xfrm>
          <a:prstGeom prst="line">
            <a:avLst/>
          </a:prstGeom>
          <a:noFill/>
          <a:ln w="12700">
            <a:solidFill>
              <a:srgbClr val="E2E8F0"/>
            </a:solidFill>
            <a:prstDash val="solid"/>
          </a:ln>
        </p:spPr>
      </p:sp>
      <p:sp>
        <p:nvSpPr>
          <p:cNvPr id="51" name="Text 48"/>
          <p:cNvSpPr/>
          <p:nvPr/>
        </p:nvSpPr>
        <p:spPr>
          <a:xfrm>
            <a:off x="9250528" y="3246120"/>
            <a:ext cx="2331720" cy="228600"/>
          </a:xfrm>
          <a:prstGeom prst="rect">
            <a:avLst/>
          </a:prstGeom>
          <a:noFill/>
          <a:ln/>
        </p:spPr>
        <p:txBody>
          <a:bodyPr wrap="square" lIns="0" tIns="0" rIns="0" bIns="0" rtlCol="0" anchor="ctr"/>
          <a:lstStyle/>
          <a:p>
            <a:pPr indent="0" marL="0">
              <a:buNone/>
            </a:pPr>
            <a:r>
              <a:rPr lang="en-US" sz="900" b="1" spc="300" kern="0" dirty="0">
                <a:solidFill>
                  <a:srgbClr val="003DA5"/>
                </a:solidFill>
                <a:latin typeface="Calibri" pitchFamily="34" charset="0"/>
                <a:ea typeface="Calibri" pitchFamily="34" charset="-122"/>
                <a:cs typeface="Calibri" pitchFamily="34" charset="-120"/>
              </a:rPr>
              <a:t>AFTER</a:t>
            </a:r>
            <a:endParaRPr lang="en-US" sz="900" dirty="0"/>
          </a:p>
        </p:txBody>
      </p:sp>
      <p:sp>
        <p:nvSpPr>
          <p:cNvPr id="52" name="Text 49"/>
          <p:cNvSpPr/>
          <p:nvPr/>
        </p:nvSpPr>
        <p:spPr>
          <a:xfrm>
            <a:off x="934196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Tier-2 ML Platform team (~25–40)</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~80 ML engineers embedded in Observability, IaC, DevEx, Lifecycle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as paved-road feature; AI agents shipped inside Zephyr</a:t>
            </a:r>
            <a:endParaRPr lang="en-US" sz="1050" dirty="0"/>
          </a:p>
        </p:txBody>
      </p:sp>
      <p:sp>
        <p:nvSpPr>
          <p:cNvPr id="53" name="Shape 50"/>
          <p:cNvSpPr/>
          <p:nvPr/>
        </p:nvSpPr>
        <p:spPr>
          <a:xfrm>
            <a:off x="9250528" y="5166360"/>
            <a:ext cx="2331720" cy="292608"/>
          </a:xfrm>
          <a:prstGeom prst="rect">
            <a:avLst/>
          </a:prstGeom>
          <a:solidFill>
            <a:srgbClr val="F4F6F9"/>
          </a:solidFill>
          <a:ln w="6350">
            <a:solidFill>
              <a:srgbClr val="E2E8F0"/>
            </a:solidFill>
            <a:prstDash val="solid"/>
          </a:ln>
        </p:spPr>
      </p:sp>
      <p:sp>
        <p:nvSpPr>
          <p:cNvPr id="54" name="Text 51"/>
          <p:cNvSpPr/>
          <p:nvPr/>
        </p:nvSpPr>
        <p:spPr>
          <a:xfrm>
            <a:off x="9250528" y="5166360"/>
            <a:ext cx="2331720" cy="292608"/>
          </a:xfrm>
          <a:prstGeom prst="rect">
            <a:avLst/>
          </a:prstGeom>
          <a:noFill/>
          <a:ln/>
        </p:spPr>
        <p:txBody>
          <a:bodyPr wrap="square" lIns="0" tIns="0" rIns="0" bIns="0" rtlCol="0" anchor="ctr"/>
          <a:lstStyle/>
          <a:p>
            <a:pPr algn="ctr" indent="0" marL="0">
              <a:buNone/>
            </a:pPr>
            <a:r>
              <a:rPr lang="en-US" sz="1000" b="1" dirty="0">
                <a:solidFill>
                  <a:srgbClr val="003DA5"/>
                </a:solidFill>
                <a:latin typeface="Calibri" pitchFamily="34" charset="0"/>
                <a:ea typeface="Calibri" pitchFamily="34" charset="-122"/>
                <a:cs typeface="Calibri" pitchFamily="34" charset="-120"/>
              </a:rPr>
              <a:t>~120–180 FTE</a:t>
            </a:r>
            <a:endParaRPr lang="en-US" sz="1000" dirty="0"/>
          </a:p>
        </p:txBody>
      </p:sp>
      <p:sp>
        <p:nvSpPr>
          <p:cNvPr id="55" name="Text 52"/>
          <p:cNvSpPr/>
          <p:nvPr/>
        </p:nvSpPr>
        <p:spPr>
          <a:xfrm>
            <a:off x="457200" y="5760720"/>
            <a:ext cx="11247120" cy="36576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No vertical disappears as a capability — only as a reporting silo. Headcount migrates into the new model with deliberate role conversions.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GOVERNANCE BY DESIGN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What Stays Vertical — Cross-Cutting Functions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Not everything embeds. Four cross-cutting functions remain vertical to preserve enterprise-wide perspective, independent governance, and end-to-end orchestration across the new horizontal structure.</a:t>
            </a:r>
            <a:endParaRPr lang="en-US" sz="1300" dirty="0"/>
          </a:p>
        </p:txBody>
      </p:sp>
      <p:sp>
        <p:nvSpPr>
          <p:cNvPr id="8" name="Shape 5"/>
          <p:cNvSpPr/>
          <p:nvPr/>
        </p:nvSpPr>
        <p:spPr>
          <a:xfrm>
            <a:off x="454000" y="1920240"/>
            <a:ext cx="2697480" cy="443484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9" name="Shape 6"/>
          <p:cNvSpPr/>
          <p:nvPr/>
        </p:nvSpPr>
        <p:spPr>
          <a:xfrm>
            <a:off x="454000" y="1920240"/>
            <a:ext cx="2697480" cy="1143000"/>
          </a:xfrm>
          <a:prstGeom prst="rect">
            <a:avLst/>
          </a:prstGeom>
          <a:solidFill>
            <a:srgbClr val="001F5C"/>
          </a:solidFill>
          <a:ln w="12700">
            <a:solidFill>
              <a:srgbClr val="001F5C"/>
            </a:solidFill>
            <a:prstDash val="solid"/>
          </a:ln>
        </p:spPr>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sp>
      <p:sp>
        <p:nvSpPr>
          <p:cNvPr id="11" name="Shape 8"/>
          <p:cNvSpPr/>
          <p:nvPr/>
        </p:nvSpPr>
        <p:spPr>
          <a:xfrm>
            <a:off x="454000" y="1920240"/>
            <a:ext cx="91440" cy="4434840"/>
          </a:xfrm>
          <a:prstGeom prst="rect">
            <a:avLst/>
          </a:prstGeom>
          <a:solidFill>
            <a:srgbClr val="FEDF01"/>
          </a:solidFill>
          <a:ln w="12700">
            <a:solidFill>
              <a:srgbClr val="FEDF01"/>
            </a:solidFill>
            <a:prstDash val="solid"/>
          </a:ln>
        </p:spPr>
      </p:sp>
      <p:pic>
        <p:nvPicPr>
          <p:cNvPr id="12" name="Image 1" descr="preencoded.png">    </p:cNvPr>
          <p:cNvPicPr>
            <a:picLocks noChangeAspect="1"/>
          </p:cNvPicPr>
          <p:nvPr/>
        </p:nvPicPr>
        <p:blipFill>
          <a:blip r:embed="rId2"/>
          <a:stretch>
            <a:fillRect/>
          </a:stretch>
        </p:blipFill>
        <p:spPr>
          <a:xfrm>
            <a:off x="710032" y="2167128"/>
            <a:ext cx="384048" cy="384048"/>
          </a:xfrm>
          <a:prstGeom prst="rect">
            <a:avLst/>
          </a:prstGeom>
        </p:spPr>
      </p:pic>
      <p:sp>
        <p:nvSpPr>
          <p:cNvPr id="13" name="Text 9"/>
          <p:cNvSpPr/>
          <p:nvPr/>
        </p:nvSpPr>
        <p:spPr>
          <a:xfrm>
            <a:off x="1203808" y="2121408"/>
            <a:ext cx="182880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Strategy</a:t>
            </a:r>
            <a:endParaRPr lang="en-US" sz="1300" dirty="0"/>
          </a:p>
        </p:txBody>
      </p:sp>
      <p:sp>
        <p:nvSpPr>
          <p:cNvPr id="14" name="Shape 10"/>
          <p:cNvSpPr/>
          <p:nvPr/>
        </p:nvSpPr>
        <p:spPr>
          <a:xfrm>
            <a:off x="710032" y="2651760"/>
            <a:ext cx="777240" cy="201168"/>
          </a:xfrm>
          <a:prstGeom prst="rect">
            <a:avLst/>
          </a:prstGeom>
          <a:solidFill>
            <a:srgbClr val="FEDF01"/>
          </a:solidFill>
          <a:ln w="12700">
            <a:solidFill>
              <a:srgbClr val="FEDF01"/>
            </a:solidFill>
            <a:prstDash val="solid"/>
          </a:ln>
        </p:spPr>
      </p:sp>
      <p:sp>
        <p:nvSpPr>
          <p:cNvPr id="15" name="Text 11"/>
          <p:cNvSpPr/>
          <p:nvPr/>
        </p:nvSpPr>
        <p:spPr>
          <a:xfrm>
            <a:off x="710032" y="2651760"/>
            <a:ext cx="777240" cy="201168"/>
          </a:xfrm>
          <a:prstGeom prst="rect">
            <a:avLst/>
          </a:prstGeom>
          <a:noFill/>
          <a:ln/>
        </p:spPr>
        <p:txBody>
          <a:bodyPr wrap="square" lIns="0" tIns="0" rIns="0" bIns="0" rtlCol="0" anchor="ctr"/>
          <a:lstStyle/>
          <a:p>
            <a:pPr algn="ctr" indent="0" marL="0">
              <a:buNone/>
            </a:pPr>
            <a:r>
              <a:rPr lang="en-US" sz="800" b="1" spc="200" kern="0" dirty="0">
                <a:solidFill>
                  <a:srgbClr val="001F5C"/>
                </a:solidFill>
                <a:latin typeface="Calibri" pitchFamily="34" charset="0"/>
                <a:ea typeface="Calibri" pitchFamily="34" charset="-122"/>
                <a:cs typeface="Calibri" pitchFamily="34" charset="-120"/>
              </a:rPr>
              <a:t>VERTICAL</a:t>
            </a:r>
            <a:endParaRPr lang="en-US" sz="800" dirty="0"/>
          </a:p>
        </p:txBody>
      </p:sp>
      <p:sp>
        <p:nvSpPr>
          <p:cNvPr id="16" name="Text 12"/>
          <p:cNvSpPr/>
          <p:nvPr/>
        </p:nvSpPr>
        <p:spPr>
          <a:xfrm>
            <a:off x="710032" y="2852928"/>
            <a:ext cx="2331720" cy="201168"/>
          </a:xfrm>
          <a:prstGeom prst="rect">
            <a:avLst/>
          </a:prstGeom>
          <a:noFill/>
          <a:ln/>
        </p:spPr>
        <p:txBody>
          <a:bodyPr wrap="square" lIns="0" tIns="0" rIns="0" bIns="0" rtlCol="0" anchor="ctr"/>
          <a:lstStyle/>
          <a:p>
            <a:pPr indent="0" marL="0">
              <a:buNone/>
            </a:pPr>
            <a:r>
              <a:rPr lang="en-US" sz="950" i="1" dirty="0">
                <a:solidFill>
                  <a:srgbClr val="FEDF01"/>
                </a:solidFill>
                <a:latin typeface="Calibri" pitchFamily="34" charset="0"/>
                <a:ea typeface="Calibri" pitchFamily="34" charset="-122"/>
                <a:cs typeface="Calibri" pitchFamily="34" charset="-120"/>
              </a:rPr>
              <a:t>Enterprise direction &amp; planning</a:t>
            </a:r>
            <a:endParaRPr lang="en-US" sz="950" dirty="0"/>
          </a:p>
        </p:txBody>
      </p:sp>
      <p:sp>
        <p:nvSpPr>
          <p:cNvPr id="17" name="Text 13"/>
          <p:cNvSpPr/>
          <p:nvPr/>
        </p:nvSpPr>
        <p:spPr>
          <a:xfrm>
            <a:off x="682600" y="3200400"/>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18" name="Text 14"/>
          <p:cNvSpPr/>
          <p:nvPr/>
        </p:nvSpPr>
        <p:spPr>
          <a:xfrm>
            <a:off x="682600" y="3429000"/>
            <a:ext cx="2331720" cy="9601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Multi-year strategy and target-state setting need enterprise-wide perspective beyond any tribe's quarterly delivery horizon.</a:t>
            </a:r>
            <a:endParaRPr lang="en-US" sz="950" dirty="0"/>
          </a:p>
        </p:txBody>
      </p:sp>
      <p:sp>
        <p:nvSpPr>
          <p:cNvPr id="19" name="Shape 15"/>
          <p:cNvSpPr/>
          <p:nvPr/>
        </p:nvSpPr>
        <p:spPr>
          <a:xfrm>
            <a:off x="682600" y="4462272"/>
            <a:ext cx="2331720" cy="0"/>
          </a:xfrm>
          <a:prstGeom prst="line">
            <a:avLst/>
          </a:prstGeom>
          <a:noFill/>
          <a:ln w="12700">
            <a:solidFill>
              <a:srgbClr val="E2E8F0"/>
            </a:solidFill>
            <a:prstDash val="solid"/>
          </a:ln>
        </p:spPr>
      </p:sp>
      <p:sp>
        <p:nvSpPr>
          <p:cNvPr id="20" name="Text 16"/>
          <p:cNvSpPr/>
          <p:nvPr/>
        </p:nvSpPr>
        <p:spPr>
          <a:xfrm>
            <a:off x="682600" y="4553712"/>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21" name="Text 17"/>
          <p:cNvSpPr/>
          <p:nvPr/>
        </p:nvSpPr>
        <p:spPr>
          <a:xfrm>
            <a:off x="746608"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multi-year tech strategy &amp; North Star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Sets investment thesis &amp; priorities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Enterprise Architecture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Tracks strategic OKRs org-wide</a:t>
            </a:r>
            <a:endParaRPr lang="en-US" sz="950" dirty="0"/>
          </a:p>
        </p:txBody>
      </p:sp>
      <p:sp>
        <p:nvSpPr>
          <p:cNvPr id="22" name="Shape 18"/>
          <p:cNvSpPr/>
          <p:nvPr/>
        </p:nvSpPr>
        <p:spPr>
          <a:xfrm>
            <a:off x="618592" y="5989320"/>
            <a:ext cx="2368296" cy="256032"/>
          </a:xfrm>
          <a:prstGeom prst="rect">
            <a:avLst/>
          </a:prstGeom>
          <a:solidFill>
            <a:srgbClr val="F4F6F9"/>
          </a:solidFill>
          <a:ln w="6350">
            <a:solidFill>
              <a:srgbClr val="E2E8F0"/>
            </a:solidFill>
            <a:prstDash val="solid"/>
          </a:ln>
        </p:spPr>
      </p:sp>
      <p:sp>
        <p:nvSpPr>
          <p:cNvPr id="23" name="Text 19"/>
          <p:cNvSpPr/>
          <p:nvPr/>
        </p:nvSpPr>
        <p:spPr>
          <a:xfrm>
            <a:off x="618592" y="5989320"/>
            <a:ext cx="2368296" cy="256032"/>
          </a:xfrm>
          <a:prstGeom prst="rect">
            <a:avLst/>
          </a:prstGeom>
          <a:noFill/>
          <a:ln/>
        </p:spPr>
        <p:txBody>
          <a:bodyPr wrap="square" lIns="0" tIns="0" rIns="0" bIns="0" rtlCol="0" anchor="ctr"/>
          <a:lstStyle/>
          <a:p>
            <a:pPr algn="ctr" indent="0" marL="0">
              <a:buNone/>
            </a:pPr>
            <a:r>
              <a:rPr lang="en-US" sz="900" b="1" dirty="0">
                <a:solidFill>
                  <a:srgbClr val="003DA5"/>
                </a:solidFill>
                <a:latin typeface="Calibri" pitchFamily="34" charset="0"/>
                <a:ea typeface="Calibri" pitchFamily="34" charset="-122"/>
                <a:cs typeface="Calibri" pitchFamily="34" charset="-120"/>
              </a:rPr>
              <a:t>Reports to: CTO / Head of Strategy</a:t>
            </a:r>
            <a:endParaRPr lang="en-US" sz="900" dirty="0"/>
          </a:p>
        </p:txBody>
      </p:sp>
      <p:sp>
        <p:nvSpPr>
          <p:cNvPr id="24" name="Shape 20"/>
          <p:cNvSpPr/>
          <p:nvPr/>
        </p:nvSpPr>
        <p:spPr>
          <a:xfrm>
            <a:off x="3316072" y="1920240"/>
            <a:ext cx="2697480" cy="443484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25" name="Shape 21"/>
          <p:cNvSpPr/>
          <p:nvPr/>
        </p:nvSpPr>
        <p:spPr>
          <a:xfrm>
            <a:off x="3316072" y="1920240"/>
            <a:ext cx="2697480" cy="1143000"/>
          </a:xfrm>
          <a:prstGeom prst="rect">
            <a:avLst/>
          </a:prstGeom>
          <a:solidFill>
            <a:srgbClr val="001F5C"/>
          </a:solidFill>
          <a:ln w="12700">
            <a:solidFill>
              <a:srgbClr val="001F5C"/>
            </a:solidFill>
            <a:prstDash val="solid"/>
          </a:ln>
        </p:spPr>
      </p:sp>
      <p:sp>
        <p:nvSpPr>
          <p:cNvPr id="26" name="Shape 22"/>
          <p:cNvSpPr/>
          <p:nvPr/>
        </p:nvSpPr>
        <p:spPr>
          <a:xfrm>
            <a:off x="3316072" y="1920240"/>
            <a:ext cx="2697480" cy="73152"/>
          </a:xfrm>
          <a:prstGeom prst="rect">
            <a:avLst/>
          </a:prstGeom>
          <a:solidFill>
            <a:srgbClr val="FEDF01"/>
          </a:solidFill>
          <a:ln w="12700">
            <a:solidFill>
              <a:srgbClr val="FEDF01"/>
            </a:solidFill>
            <a:prstDash val="solid"/>
          </a:ln>
        </p:spPr>
      </p:sp>
      <p:sp>
        <p:nvSpPr>
          <p:cNvPr id="27" name="Shape 23"/>
          <p:cNvSpPr/>
          <p:nvPr/>
        </p:nvSpPr>
        <p:spPr>
          <a:xfrm>
            <a:off x="3316072" y="1920240"/>
            <a:ext cx="91440" cy="4434840"/>
          </a:xfrm>
          <a:prstGeom prst="rect">
            <a:avLst/>
          </a:prstGeom>
          <a:solidFill>
            <a:srgbClr val="FEDF01"/>
          </a:solidFill>
          <a:ln w="12700">
            <a:solidFill>
              <a:srgbClr val="FEDF01"/>
            </a:solidFill>
            <a:prstDash val="solid"/>
          </a:ln>
        </p:spPr>
      </p:sp>
      <p:pic>
        <p:nvPicPr>
          <p:cNvPr id="28" name="Image 2" descr="preencoded.png">    </p:cNvPr>
          <p:cNvPicPr>
            <a:picLocks noChangeAspect="1"/>
          </p:cNvPicPr>
          <p:nvPr/>
        </p:nvPicPr>
        <p:blipFill>
          <a:blip r:embed="rId3"/>
          <a:stretch>
            <a:fillRect/>
          </a:stretch>
        </p:blipFill>
        <p:spPr>
          <a:xfrm>
            <a:off x="3572104" y="2167128"/>
            <a:ext cx="384048" cy="384048"/>
          </a:xfrm>
          <a:prstGeom prst="rect">
            <a:avLst/>
          </a:prstGeom>
        </p:spPr>
      </p:pic>
      <p:sp>
        <p:nvSpPr>
          <p:cNvPr id="29" name="Text 24"/>
          <p:cNvSpPr/>
          <p:nvPr/>
        </p:nvSpPr>
        <p:spPr>
          <a:xfrm>
            <a:off x="4065880" y="2121408"/>
            <a:ext cx="182880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Solution / Delivery Architecture</a:t>
            </a:r>
            <a:endParaRPr lang="en-US" sz="1300" dirty="0"/>
          </a:p>
        </p:txBody>
      </p:sp>
      <p:sp>
        <p:nvSpPr>
          <p:cNvPr id="30" name="Shape 25"/>
          <p:cNvSpPr/>
          <p:nvPr/>
        </p:nvSpPr>
        <p:spPr>
          <a:xfrm>
            <a:off x="3572104" y="2651760"/>
            <a:ext cx="777240" cy="201168"/>
          </a:xfrm>
          <a:prstGeom prst="rect">
            <a:avLst/>
          </a:prstGeom>
          <a:solidFill>
            <a:srgbClr val="FEDF01"/>
          </a:solidFill>
          <a:ln w="12700">
            <a:solidFill>
              <a:srgbClr val="FEDF01"/>
            </a:solidFill>
            <a:prstDash val="solid"/>
          </a:ln>
        </p:spPr>
      </p:sp>
      <p:sp>
        <p:nvSpPr>
          <p:cNvPr id="31" name="Text 26"/>
          <p:cNvSpPr/>
          <p:nvPr/>
        </p:nvSpPr>
        <p:spPr>
          <a:xfrm>
            <a:off x="3572104" y="2651760"/>
            <a:ext cx="777240" cy="201168"/>
          </a:xfrm>
          <a:prstGeom prst="rect">
            <a:avLst/>
          </a:prstGeom>
          <a:noFill/>
          <a:ln/>
        </p:spPr>
        <p:txBody>
          <a:bodyPr wrap="square" lIns="0" tIns="0" rIns="0" bIns="0" rtlCol="0" anchor="ctr"/>
          <a:lstStyle/>
          <a:p>
            <a:pPr algn="ctr" indent="0" marL="0">
              <a:buNone/>
            </a:pPr>
            <a:r>
              <a:rPr lang="en-US" sz="800" b="1" spc="200" kern="0" dirty="0">
                <a:solidFill>
                  <a:srgbClr val="001F5C"/>
                </a:solidFill>
                <a:latin typeface="Calibri" pitchFamily="34" charset="0"/>
                <a:ea typeface="Calibri" pitchFamily="34" charset="-122"/>
                <a:cs typeface="Calibri" pitchFamily="34" charset="-120"/>
              </a:rPr>
              <a:t>VERTICAL</a:t>
            </a:r>
            <a:endParaRPr lang="en-US" sz="800" dirty="0"/>
          </a:p>
        </p:txBody>
      </p:sp>
      <p:sp>
        <p:nvSpPr>
          <p:cNvPr id="32" name="Text 27"/>
          <p:cNvSpPr/>
          <p:nvPr/>
        </p:nvSpPr>
        <p:spPr>
          <a:xfrm>
            <a:off x="3572104" y="2852928"/>
            <a:ext cx="2331720" cy="201168"/>
          </a:xfrm>
          <a:prstGeom prst="rect">
            <a:avLst/>
          </a:prstGeom>
          <a:noFill/>
          <a:ln/>
        </p:spPr>
        <p:txBody>
          <a:bodyPr wrap="square" lIns="0" tIns="0" rIns="0" bIns="0" rtlCol="0" anchor="ctr"/>
          <a:lstStyle/>
          <a:p>
            <a:pPr indent="0" marL="0">
              <a:buNone/>
            </a:pPr>
            <a:r>
              <a:rPr lang="en-US" sz="950" i="1" dirty="0">
                <a:solidFill>
                  <a:srgbClr val="FEDF01"/>
                </a:solidFill>
                <a:latin typeface="Calibri" pitchFamily="34" charset="0"/>
                <a:ea typeface="Calibri" pitchFamily="34" charset="-122"/>
                <a:cs typeface="Calibri" pitchFamily="34" charset="-120"/>
              </a:rPr>
              <a:t>Cross-platform design authority</a:t>
            </a:r>
            <a:endParaRPr lang="en-US" sz="950" dirty="0"/>
          </a:p>
        </p:txBody>
      </p:sp>
      <p:sp>
        <p:nvSpPr>
          <p:cNvPr id="33" name="Text 28"/>
          <p:cNvSpPr/>
          <p:nvPr/>
        </p:nvSpPr>
        <p:spPr>
          <a:xfrm>
            <a:off x="3544672" y="3200400"/>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34" name="Text 29"/>
          <p:cNvSpPr/>
          <p:nvPr/>
        </p:nvSpPr>
        <p:spPr>
          <a:xfrm>
            <a:off x="3544672" y="3429000"/>
            <a:ext cx="2331720" cy="9601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Major programs span multiple tribes. A unified function ensures coherence and prevents accidental complexity at scale.</a:t>
            </a:r>
            <a:endParaRPr lang="en-US" sz="950" dirty="0"/>
          </a:p>
        </p:txBody>
      </p:sp>
      <p:sp>
        <p:nvSpPr>
          <p:cNvPr id="35" name="Shape 30"/>
          <p:cNvSpPr/>
          <p:nvPr/>
        </p:nvSpPr>
        <p:spPr>
          <a:xfrm>
            <a:off x="3544672" y="4462272"/>
            <a:ext cx="2331720" cy="0"/>
          </a:xfrm>
          <a:prstGeom prst="line">
            <a:avLst/>
          </a:prstGeom>
          <a:noFill/>
          <a:ln w="12700">
            <a:solidFill>
              <a:srgbClr val="E2E8F0"/>
            </a:solidFill>
            <a:prstDash val="solid"/>
          </a:ln>
        </p:spPr>
      </p:sp>
      <p:sp>
        <p:nvSpPr>
          <p:cNvPr id="36" name="Text 31"/>
          <p:cNvSpPr/>
          <p:nvPr/>
        </p:nvSpPr>
        <p:spPr>
          <a:xfrm>
            <a:off x="3544672" y="4553712"/>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37" name="Text 32"/>
          <p:cNvSpPr/>
          <p:nvPr/>
        </p:nvSpPr>
        <p:spPr>
          <a:xfrm>
            <a:off x="3608680"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multi-tribe solution designs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embedded Principals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Chairs cross-tribe design forums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Arbitrates platform-spanning calls</a:t>
            </a:r>
            <a:endParaRPr lang="en-US" sz="950" dirty="0"/>
          </a:p>
        </p:txBody>
      </p:sp>
      <p:sp>
        <p:nvSpPr>
          <p:cNvPr id="38" name="Shape 33"/>
          <p:cNvSpPr/>
          <p:nvPr/>
        </p:nvSpPr>
        <p:spPr>
          <a:xfrm>
            <a:off x="3480664" y="5989320"/>
            <a:ext cx="2368296" cy="256032"/>
          </a:xfrm>
          <a:prstGeom prst="rect">
            <a:avLst/>
          </a:prstGeom>
          <a:solidFill>
            <a:srgbClr val="F4F6F9"/>
          </a:solidFill>
          <a:ln w="6350">
            <a:solidFill>
              <a:srgbClr val="E2E8F0"/>
            </a:solidFill>
            <a:prstDash val="solid"/>
          </a:ln>
        </p:spPr>
      </p:sp>
      <p:sp>
        <p:nvSpPr>
          <p:cNvPr id="39" name="Text 34"/>
          <p:cNvSpPr/>
          <p:nvPr/>
        </p:nvSpPr>
        <p:spPr>
          <a:xfrm>
            <a:off x="3480664" y="5989320"/>
            <a:ext cx="2368296" cy="256032"/>
          </a:xfrm>
          <a:prstGeom prst="rect">
            <a:avLst/>
          </a:prstGeom>
          <a:noFill/>
          <a:ln/>
        </p:spPr>
        <p:txBody>
          <a:bodyPr wrap="square" lIns="0" tIns="0" rIns="0" bIns="0" rtlCol="0" anchor="ctr"/>
          <a:lstStyle/>
          <a:p>
            <a:pPr algn="ctr" indent="0" marL="0">
              <a:buNone/>
            </a:pPr>
            <a:r>
              <a:rPr lang="en-US" sz="900" b="1" dirty="0">
                <a:solidFill>
                  <a:srgbClr val="003DA5"/>
                </a:solidFill>
                <a:latin typeface="Calibri" pitchFamily="34" charset="0"/>
                <a:ea typeface="Calibri" pitchFamily="34" charset="-122"/>
                <a:cs typeface="Calibri" pitchFamily="34" charset="-120"/>
              </a:rPr>
              <a:t>Reports to: Chief Architect</a:t>
            </a:r>
            <a:endParaRPr lang="en-US" sz="900" dirty="0"/>
          </a:p>
        </p:txBody>
      </p:sp>
      <p:sp>
        <p:nvSpPr>
          <p:cNvPr id="40" name="Shape 35"/>
          <p:cNvSpPr/>
          <p:nvPr/>
        </p:nvSpPr>
        <p:spPr>
          <a:xfrm>
            <a:off x="6178144" y="1920240"/>
            <a:ext cx="2697480" cy="443484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41" name="Shape 36"/>
          <p:cNvSpPr/>
          <p:nvPr/>
        </p:nvSpPr>
        <p:spPr>
          <a:xfrm>
            <a:off x="6178144" y="1920240"/>
            <a:ext cx="2697480" cy="1143000"/>
          </a:xfrm>
          <a:prstGeom prst="rect">
            <a:avLst/>
          </a:prstGeom>
          <a:solidFill>
            <a:srgbClr val="001F5C"/>
          </a:solidFill>
          <a:ln w="12700">
            <a:solidFill>
              <a:srgbClr val="001F5C"/>
            </a:solidFill>
            <a:prstDash val="solid"/>
          </a:ln>
        </p:spPr>
      </p:sp>
      <p:sp>
        <p:nvSpPr>
          <p:cNvPr id="42" name="Shape 37"/>
          <p:cNvSpPr/>
          <p:nvPr/>
        </p:nvSpPr>
        <p:spPr>
          <a:xfrm>
            <a:off x="6178144" y="1920240"/>
            <a:ext cx="2697480" cy="73152"/>
          </a:xfrm>
          <a:prstGeom prst="rect">
            <a:avLst/>
          </a:prstGeom>
          <a:solidFill>
            <a:srgbClr val="FEDF01"/>
          </a:solidFill>
          <a:ln w="12700">
            <a:solidFill>
              <a:srgbClr val="FEDF01"/>
            </a:solidFill>
            <a:prstDash val="solid"/>
          </a:ln>
        </p:spPr>
      </p:sp>
      <p:sp>
        <p:nvSpPr>
          <p:cNvPr id="43" name="Shape 38"/>
          <p:cNvSpPr/>
          <p:nvPr/>
        </p:nvSpPr>
        <p:spPr>
          <a:xfrm>
            <a:off x="6178144" y="1920240"/>
            <a:ext cx="91440" cy="4434840"/>
          </a:xfrm>
          <a:prstGeom prst="rect">
            <a:avLst/>
          </a:prstGeom>
          <a:solidFill>
            <a:srgbClr val="FEDF01"/>
          </a:solidFill>
          <a:ln w="12700">
            <a:solidFill>
              <a:srgbClr val="FEDF01"/>
            </a:solidFill>
            <a:prstDash val="solid"/>
          </a:ln>
        </p:spPr>
      </p:sp>
      <p:pic>
        <p:nvPicPr>
          <p:cNvPr id="44" name="Image 3" descr="preencoded.png">    </p:cNvPr>
          <p:cNvPicPr>
            <a:picLocks noChangeAspect="1"/>
          </p:cNvPicPr>
          <p:nvPr/>
        </p:nvPicPr>
        <p:blipFill>
          <a:blip r:embed="rId4"/>
          <a:stretch>
            <a:fillRect/>
          </a:stretch>
        </p:blipFill>
        <p:spPr>
          <a:xfrm>
            <a:off x="6434176" y="2167128"/>
            <a:ext cx="384048" cy="384048"/>
          </a:xfrm>
          <a:prstGeom prst="rect">
            <a:avLst/>
          </a:prstGeom>
        </p:spPr>
      </p:pic>
      <p:sp>
        <p:nvSpPr>
          <p:cNvPr id="45" name="Text 39"/>
          <p:cNvSpPr/>
          <p:nvPr/>
        </p:nvSpPr>
        <p:spPr>
          <a:xfrm>
            <a:off x="6927952" y="2121408"/>
            <a:ext cx="182880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Change Advisory</a:t>
            </a:r>
            <a:endParaRPr lang="en-US" sz="1300" dirty="0"/>
          </a:p>
        </p:txBody>
      </p:sp>
      <p:sp>
        <p:nvSpPr>
          <p:cNvPr id="46" name="Shape 40"/>
          <p:cNvSpPr/>
          <p:nvPr/>
        </p:nvSpPr>
        <p:spPr>
          <a:xfrm>
            <a:off x="6434176" y="2651760"/>
            <a:ext cx="777240" cy="201168"/>
          </a:xfrm>
          <a:prstGeom prst="rect">
            <a:avLst/>
          </a:prstGeom>
          <a:solidFill>
            <a:srgbClr val="FEDF01"/>
          </a:solidFill>
          <a:ln w="12700">
            <a:solidFill>
              <a:srgbClr val="FEDF01"/>
            </a:solidFill>
            <a:prstDash val="solid"/>
          </a:ln>
        </p:spPr>
      </p:sp>
      <p:sp>
        <p:nvSpPr>
          <p:cNvPr id="47" name="Text 41"/>
          <p:cNvSpPr/>
          <p:nvPr/>
        </p:nvSpPr>
        <p:spPr>
          <a:xfrm>
            <a:off x="6434176" y="2651760"/>
            <a:ext cx="777240" cy="201168"/>
          </a:xfrm>
          <a:prstGeom prst="rect">
            <a:avLst/>
          </a:prstGeom>
          <a:noFill/>
          <a:ln/>
        </p:spPr>
        <p:txBody>
          <a:bodyPr wrap="square" lIns="0" tIns="0" rIns="0" bIns="0" rtlCol="0" anchor="ctr"/>
          <a:lstStyle/>
          <a:p>
            <a:pPr algn="ctr" indent="0" marL="0">
              <a:buNone/>
            </a:pPr>
            <a:r>
              <a:rPr lang="en-US" sz="800" b="1" spc="200" kern="0" dirty="0">
                <a:solidFill>
                  <a:srgbClr val="001F5C"/>
                </a:solidFill>
                <a:latin typeface="Calibri" pitchFamily="34" charset="0"/>
                <a:ea typeface="Calibri" pitchFamily="34" charset="-122"/>
                <a:cs typeface="Calibri" pitchFamily="34" charset="-120"/>
              </a:rPr>
              <a:t>VERTICAL</a:t>
            </a:r>
            <a:endParaRPr lang="en-US" sz="800" dirty="0"/>
          </a:p>
        </p:txBody>
      </p:sp>
      <p:sp>
        <p:nvSpPr>
          <p:cNvPr id="48" name="Text 42"/>
          <p:cNvSpPr/>
          <p:nvPr/>
        </p:nvSpPr>
        <p:spPr>
          <a:xfrm>
            <a:off x="6434176" y="2852928"/>
            <a:ext cx="2331720" cy="201168"/>
          </a:xfrm>
          <a:prstGeom prst="rect">
            <a:avLst/>
          </a:prstGeom>
          <a:noFill/>
          <a:ln/>
        </p:spPr>
        <p:txBody>
          <a:bodyPr wrap="square" lIns="0" tIns="0" rIns="0" bIns="0" rtlCol="0" anchor="ctr"/>
          <a:lstStyle/>
          <a:p>
            <a:pPr indent="0" marL="0">
              <a:buNone/>
            </a:pPr>
            <a:r>
              <a:rPr lang="en-US" sz="950" i="1" dirty="0">
                <a:solidFill>
                  <a:srgbClr val="FEDF01"/>
                </a:solidFill>
                <a:latin typeface="Calibri" pitchFamily="34" charset="0"/>
                <a:ea typeface="Calibri" pitchFamily="34" charset="-122"/>
                <a:cs typeface="Calibri" pitchFamily="34" charset="-120"/>
              </a:rPr>
              <a:t>Independent change governance</a:t>
            </a:r>
            <a:endParaRPr lang="en-US" sz="950" dirty="0"/>
          </a:p>
        </p:txBody>
      </p:sp>
      <p:sp>
        <p:nvSpPr>
          <p:cNvPr id="49" name="Text 43"/>
          <p:cNvSpPr/>
          <p:nvPr/>
        </p:nvSpPr>
        <p:spPr>
          <a:xfrm>
            <a:off x="6406744" y="3200400"/>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50" name="Text 44"/>
          <p:cNvSpPr/>
          <p:nvPr/>
        </p:nvSpPr>
        <p:spPr>
          <a:xfrm>
            <a:off x="6406744" y="3429000"/>
            <a:ext cx="2331720" cy="9601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Regulated environment requires change governance independent of delivery, especially for high-risk multi-platform changes.</a:t>
            </a:r>
            <a:endParaRPr lang="en-US" sz="950" dirty="0"/>
          </a:p>
        </p:txBody>
      </p:sp>
      <p:sp>
        <p:nvSpPr>
          <p:cNvPr id="51" name="Shape 45"/>
          <p:cNvSpPr/>
          <p:nvPr/>
        </p:nvSpPr>
        <p:spPr>
          <a:xfrm>
            <a:off x="6406744" y="4462272"/>
            <a:ext cx="2331720" cy="0"/>
          </a:xfrm>
          <a:prstGeom prst="line">
            <a:avLst/>
          </a:prstGeom>
          <a:noFill/>
          <a:ln w="12700">
            <a:solidFill>
              <a:srgbClr val="E2E8F0"/>
            </a:solidFill>
            <a:prstDash val="solid"/>
          </a:ln>
        </p:spPr>
      </p:sp>
      <p:sp>
        <p:nvSpPr>
          <p:cNvPr id="52" name="Text 46"/>
          <p:cNvSpPr/>
          <p:nvPr/>
        </p:nvSpPr>
        <p:spPr>
          <a:xfrm>
            <a:off x="6406744" y="4553712"/>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53" name="Text 47"/>
          <p:cNvSpPr/>
          <p:nvPr/>
        </p:nvSpPr>
        <p:spPr>
          <a:xfrm>
            <a:off x="6470752"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Reviews high-risk changes only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Receives automated records from CI/CD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Maintains change taxonomy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Aligned with OSFI E-21 posture</a:t>
            </a:r>
            <a:endParaRPr lang="en-US" sz="950" dirty="0"/>
          </a:p>
        </p:txBody>
      </p:sp>
      <p:sp>
        <p:nvSpPr>
          <p:cNvPr id="54" name="Shape 48"/>
          <p:cNvSpPr/>
          <p:nvPr/>
        </p:nvSpPr>
        <p:spPr>
          <a:xfrm>
            <a:off x="6342736" y="5989320"/>
            <a:ext cx="2368296" cy="256032"/>
          </a:xfrm>
          <a:prstGeom prst="rect">
            <a:avLst/>
          </a:prstGeom>
          <a:solidFill>
            <a:srgbClr val="F4F6F9"/>
          </a:solidFill>
          <a:ln w="6350">
            <a:solidFill>
              <a:srgbClr val="E2E8F0"/>
            </a:solidFill>
            <a:prstDash val="solid"/>
          </a:ln>
        </p:spPr>
      </p:sp>
      <p:sp>
        <p:nvSpPr>
          <p:cNvPr id="55" name="Text 49"/>
          <p:cNvSpPr/>
          <p:nvPr/>
        </p:nvSpPr>
        <p:spPr>
          <a:xfrm>
            <a:off x="6342736" y="5989320"/>
            <a:ext cx="2368296" cy="256032"/>
          </a:xfrm>
          <a:prstGeom prst="rect">
            <a:avLst/>
          </a:prstGeom>
          <a:noFill/>
          <a:ln/>
        </p:spPr>
        <p:txBody>
          <a:bodyPr wrap="square" lIns="0" tIns="0" rIns="0" bIns="0" rtlCol="0" anchor="ctr"/>
          <a:lstStyle/>
          <a:p>
            <a:pPr algn="ctr" indent="0" marL="0">
              <a:buNone/>
            </a:pPr>
            <a:r>
              <a:rPr lang="en-US" sz="900" b="1" dirty="0">
                <a:solidFill>
                  <a:srgbClr val="003DA5"/>
                </a:solidFill>
                <a:latin typeface="Calibri" pitchFamily="34" charset="0"/>
                <a:ea typeface="Calibri" pitchFamily="34" charset="-122"/>
                <a:cs typeface="Calibri" pitchFamily="34" charset="-120"/>
              </a:rPr>
              <a:t>Reports to: Risk / Operations VP</a:t>
            </a:r>
            <a:endParaRPr lang="en-US" sz="900" dirty="0"/>
          </a:p>
        </p:txBody>
      </p:sp>
      <p:sp>
        <p:nvSpPr>
          <p:cNvPr id="56" name="Shape 50"/>
          <p:cNvSpPr/>
          <p:nvPr/>
        </p:nvSpPr>
        <p:spPr>
          <a:xfrm>
            <a:off x="9040216" y="1920240"/>
            <a:ext cx="2697480" cy="443484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57" name="Shape 51"/>
          <p:cNvSpPr/>
          <p:nvPr/>
        </p:nvSpPr>
        <p:spPr>
          <a:xfrm>
            <a:off x="9040216" y="1920240"/>
            <a:ext cx="2697480" cy="1143000"/>
          </a:xfrm>
          <a:prstGeom prst="rect">
            <a:avLst/>
          </a:prstGeom>
          <a:solidFill>
            <a:srgbClr val="001F5C"/>
          </a:solidFill>
          <a:ln w="12700">
            <a:solidFill>
              <a:srgbClr val="001F5C"/>
            </a:solidFill>
            <a:prstDash val="solid"/>
          </a:ln>
        </p:spPr>
      </p:sp>
      <p:sp>
        <p:nvSpPr>
          <p:cNvPr id="58" name="Shape 52"/>
          <p:cNvSpPr/>
          <p:nvPr/>
        </p:nvSpPr>
        <p:spPr>
          <a:xfrm>
            <a:off x="9040216" y="1920240"/>
            <a:ext cx="2697480" cy="73152"/>
          </a:xfrm>
          <a:prstGeom prst="rect">
            <a:avLst/>
          </a:prstGeom>
          <a:solidFill>
            <a:srgbClr val="FEDF01"/>
          </a:solidFill>
          <a:ln w="12700">
            <a:solidFill>
              <a:srgbClr val="FEDF01"/>
            </a:solidFill>
            <a:prstDash val="solid"/>
          </a:ln>
        </p:spPr>
      </p:sp>
      <p:sp>
        <p:nvSpPr>
          <p:cNvPr id="59" name="Shape 53"/>
          <p:cNvSpPr/>
          <p:nvPr/>
        </p:nvSpPr>
        <p:spPr>
          <a:xfrm>
            <a:off x="9040216" y="1920240"/>
            <a:ext cx="91440" cy="4434840"/>
          </a:xfrm>
          <a:prstGeom prst="rect">
            <a:avLst/>
          </a:prstGeom>
          <a:solidFill>
            <a:srgbClr val="FEDF01"/>
          </a:solidFill>
          <a:ln w="12700">
            <a:solidFill>
              <a:srgbClr val="FEDF01"/>
            </a:solidFill>
            <a:prstDash val="solid"/>
          </a:ln>
        </p:spPr>
      </p:sp>
      <p:pic>
        <p:nvPicPr>
          <p:cNvPr id="60" name="Image 4" descr="preencoded.png">    </p:cNvPr>
          <p:cNvPicPr>
            <a:picLocks noChangeAspect="1"/>
          </p:cNvPicPr>
          <p:nvPr/>
        </p:nvPicPr>
        <p:blipFill>
          <a:blip r:embed="rId5"/>
          <a:stretch>
            <a:fillRect/>
          </a:stretch>
        </p:blipFill>
        <p:spPr>
          <a:xfrm>
            <a:off x="9296248" y="2167128"/>
            <a:ext cx="384048" cy="384048"/>
          </a:xfrm>
          <a:prstGeom prst="rect">
            <a:avLst/>
          </a:prstGeom>
        </p:spPr>
      </p:pic>
      <p:sp>
        <p:nvSpPr>
          <p:cNvPr id="61" name="Text 54"/>
          <p:cNvSpPr/>
          <p:nvPr/>
        </p:nvSpPr>
        <p:spPr>
          <a:xfrm>
            <a:off x="9790024" y="2121408"/>
            <a:ext cx="1828800" cy="5029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Program Management Office</a:t>
            </a:r>
            <a:endParaRPr lang="en-US" sz="1300" dirty="0"/>
          </a:p>
        </p:txBody>
      </p:sp>
      <p:sp>
        <p:nvSpPr>
          <p:cNvPr id="62" name="Shape 55"/>
          <p:cNvSpPr/>
          <p:nvPr/>
        </p:nvSpPr>
        <p:spPr>
          <a:xfrm>
            <a:off x="9296248" y="2651760"/>
            <a:ext cx="777240" cy="201168"/>
          </a:xfrm>
          <a:prstGeom prst="rect">
            <a:avLst/>
          </a:prstGeom>
          <a:solidFill>
            <a:srgbClr val="FEDF01"/>
          </a:solidFill>
          <a:ln w="12700">
            <a:solidFill>
              <a:srgbClr val="FEDF01"/>
            </a:solidFill>
            <a:prstDash val="solid"/>
          </a:ln>
        </p:spPr>
      </p:sp>
      <p:sp>
        <p:nvSpPr>
          <p:cNvPr id="63" name="Text 56"/>
          <p:cNvSpPr/>
          <p:nvPr/>
        </p:nvSpPr>
        <p:spPr>
          <a:xfrm>
            <a:off x="9296248" y="2651760"/>
            <a:ext cx="777240" cy="201168"/>
          </a:xfrm>
          <a:prstGeom prst="rect">
            <a:avLst/>
          </a:prstGeom>
          <a:noFill/>
          <a:ln/>
        </p:spPr>
        <p:txBody>
          <a:bodyPr wrap="square" lIns="0" tIns="0" rIns="0" bIns="0" rtlCol="0" anchor="ctr"/>
          <a:lstStyle/>
          <a:p>
            <a:pPr algn="ctr" indent="0" marL="0">
              <a:buNone/>
            </a:pPr>
            <a:r>
              <a:rPr lang="en-US" sz="800" b="1" spc="200" kern="0" dirty="0">
                <a:solidFill>
                  <a:srgbClr val="001F5C"/>
                </a:solidFill>
                <a:latin typeface="Calibri" pitchFamily="34" charset="0"/>
                <a:ea typeface="Calibri" pitchFamily="34" charset="-122"/>
                <a:cs typeface="Calibri" pitchFamily="34" charset="-120"/>
              </a:rPr>
              <a:t>VERTICAL</a:t>
            </a:r>
            <a:endParaRPr lang="en-US" sz="800" dirty="0"/>
          </a:p>
        </p:txBody>
      </p:sp>
      <p:sp>
        <p:nvSpPr>
          <p:cNvPr id="64" name="Text 57"/>
          <p:cNvSpPr/>
          <p:nvPr/>
        </p:nvSpPr>
        <p:spPr>
          <a:xfrm>
            <a:off x="9296248" y="2852928"/>
            <a:ext cx="2331720" cy="201168"/>
          </a:xfrm>
          <a:prstGeom prst="rect">
            <a:avLst/>
          </a:prstGeom>
          <a:noFill/>
          <a:ln/>
        </p:spPr>
        <p:txBody>
          <a:bodyPr wrap="square" lIns="0" tIns="0" rIns="0" bIns="0" rtlCol="0" anchor="ctr"/>
          <a:lstStyle/>
          <a:p>
            <a:pPr indent="0" marL="0">
              <a:buNone/>
            </a:pPr>
            <a:r>
              <a:rPr lang="en-US" sz="950" i="1" dirty="0">
                <a:solidFill>
                  <a:srgbClr val="FEDF01"/>
                </a:solidFill>
                <a:latin typeface="Calibri" pitchFamily="34" charset="0"/>
                <a:ea typeface="Calibri" pitchFamily="34" charset="-122"/>
                <a:cs typeface="Calibri" pitchFamily="34" charset="-120"/>
              </a:rPr>
              <a:t>Enterprise portfolio orchestration</a:t>
            </a:r>
            <a:endParaRPr lang="en-US" sz="950" dirty="0"/>
          </a:p>
        </p:txBody>
      </p:sp>
      <p:sp>
        <p:nvSpPr>
          <p:cNvPr id="65" name="Text 58"/>
          <p:cNvSpPr/>
          <p:nvPr/>
        </p:nvSpPr>
        <p:spPr>
          <a:xfrm>
            <a:off x="9268816" y="3200400"/>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66" name="Text 59"/>
          <p:cNvSpPr/>
          <p:nvPr/>
        </p:nvSpPr>
        <p:spPr>
          <a:xfrm>
            <a:off x="9268816" y="3429000"/>
            <a:ext cx="2331720" cy="9601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Multi-tribe initiatives, executive reporting, and dependency orchestration need a single function with org-wide visibility.</a:t>
            </a:r>
            <a:endParaRPr lang="en-US" sz="950" dirty="0"/>
          </a:p>
        </p:txBody>
      </p:sp>
      <p:sp>
        <p:nvSpPr>
          <p:cNvPr id="67" name="Shape 60"/>
          <p:cNvSpPr/>
          <p:nvPr/>
        </p:nvSpPr>
        <p:spPr>
          <a:xfrm>
            <a:off x="9268816" y="4462272"/>
            <a:ext cx="2331720" cy="0"/>
          </a:xfrm>
          <a:prstGeom prst="line">
            <a:avLst/>
          </a:prstGeom>
          <a:noFill/>
          <a:ln w="12700">
            <a:solidFill>
              <a:srgbClr val="E2E8F0"/>
            </a:solidFill>
            <a:prstDash val="solid"/>
          </a:ln>
        </p:spPr>
      </p:sp>
      <p:sp>
        <p:nvSpPr>
          <p:cNvPr id="68" name="Text 61"/>
          <p:cNvSpPr/>
          <p:nvPr/>
        </p:nvSpPr>
        <p:spPr>
          <a:xfrm>
            <a:off x="9268816" y="4553712"/>
            <a:ext cx="2331720" cy="228600"/>
          </a:xfrm>
          <a:prstGeom prst="rect">
            <a:avLst/>
          </a:prstGeom>
          <a:noFill/>
          <a:ln/>
        </p:spPr>
        <p:txBody>
          <a:bodyPr wrap="square" lIns="0" tIns="0" rIns="0" bIns="0" rtlCol="0" anchor="ctr"/>
          <a:lstStyle/>
          <a:p>
            <a:pPr indent="0" marL="0">
              <a:buNone/>
            </a:pPr>
            <a:r>
              <a:rPr lang="en-US" sz="850" b="1" spc="200" kern="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69" name="Text 62"/>
          <p:cNvSpPr/>
          <p:nvPr/>
        </p:nvSpPr>
        <p:spPr>
          <a:xfrm>
            <a:off x="9332824"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Coordinates with Tribe Leads at QBRs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enterprise dependency board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Investment governance &amp; reporting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Cross-tribe milestone tracking</a:t>
            </a:r>
            <a:endParaRPr lang="en-US" sz="950" dirty="0"/>
          </a:p>
        </p:txBody>
      </p:sp>
      <p:sp>
        <p:nvSpPr>
          <p:cNvPr id="70" name="Shape 63"/>
          <p:cNvSpPr/>
          <p:nvPr/>
        </p:nvSpPr>
        <p:spPr>
          <a:xfrm>
            <a:off x="9204808" y="5989320"/>
            <a:ext cx="2368296" cy="256032"/>
          </a:xfrm>
          <a:prstGeom prst="rect">
            <a:avLst/>
          </a:prstGeom>
          <a:solidFill>
            <a:srgbClr val="F4F6F9"/>
          </a:solidFill>
          <a:ln w="6350">
            <a:solidFill>
              <a:srgbClr val="E2E8F0"/>
            </a:solidFill>
            <a:prstDash val="solid"/>
          </a:ln>
        </p:spPr>
      </p:sp>
      <p:sp>
        <p:nvSpPr>
          <p:cNvPr id="71" name="Text 64"/>
          <p:cNvSpPr/>
          <p:nvPr/>
        </p:nvSpPr>
        <p:spPr>
          <a:xfrm>
            <a:off x="9204808" y="5989320"/>
            <a:ext cx="2368296" cy="256032"/>
          </a:xfrm>
          <a:prstGeom prst="rect">
            <a:avLst/>
          </a:prstGeom>
          <a:noFill/>
          <a:ln/>
        </p:spPr>
        <p:txBody>
          <a:bodyPr wrap="square" lIns="0" tIns="0" rIns="0" bIns="0" rtlCol="0" anchor="ctr"/>
          <a:lstStyle/>
          <a:p>
            <a:pPr algn="ctr" indent="0" marL="0">
              <a:buNone/>
            </a:pPr>
            <a:r>
              <a:rPr lang="en-US" sz="900" b="1" dirty="0">
                <a:solidFill>
                  <a:srgbClr val="003DA5"/>
                </a:solidFill>
                <a:latin typeface="Calibri" pitchFamily="34" charset="0"/>
                <a:ea typeface="Calibri" pitchFamily="34" charset="-122"/>
                <a:cs typeface="Calibri" pitchFamily="34" charset="-120"/>
              </a:rPr>
              <a:t>Reports to: COO / VP Portfolio</a:t>
            </a:r>
            <a:endParaRPr lang="en-US" sz="900" dirty="0"/>
          </a:p>
        </p:txBody>
      </p:sp>
      <p:sp>
        <p:nvSpPr>
          <p:cNvPr id="72" name="Shape 65"/>
          <p:cNvSpPr/>
          <p:nvPr/>
        </p:nvSpPr>
        <p:spPr>
          <a:xfrm>
            <a:off x="457200" y="6492240"/>
            <a:ext cx="11274552" cy="411480"/>
          </a:xfrm>
          <a:prstGeom prst="rect">
            <a:avLst/>
          </a:prstGeom>
          <a:solidFill>
            <a:srgbClr val="FFF1A8"/>
          </a:solidFill>
          <a:ln w="12700">
            <a:solidFill>
              <a:srgbClr val="FEDF01"/>
            </a:solidFill>
            <a:prstDash val="solid"/>
          </a:ln>
        </p:spPr>
      </p:sp>
      <p:pic>
        <p:nvPicPr>
          <p:cNvPr id="73" name="Image 5" descr="preencoded.png">    </p:cNvPr>
          <p:cNvPicPr>
            <a:picLocks noChangeAspect="1"/>
          </p:cNvPicPr>
          <p:nvPr/>
        </p:nvPicPr>
        <p:blipFill>
          <a:blip r:embed="rId6"/>
          <a:stretch>
            <a:fillRect/>
          </a:stretch>
        </p:blipFill>
        <p:spPr>
          <a:xfrm>
            <a:off x="640080" y="6565392"/>
            <a:ext cx="256032" cy="256032"/>
          </a:xfrm>
          <a:prstGeom prst="rect">
            <a:avLst/>
          </a:prstGeom>
        </p:spPr>
      </p:pic>
      <p:sp>
        <p:nvSpPr>
          <p:cNvPr id="74" name="Text 66"/>
          <p:cNvSpPr/>
          <p:nvPr/>
        </p:nvSpPr>
        <p:spPr>
          <a:xfrm>
            <a:off x="960120" y="6492240"/>
            <a:ext cx="10515600" cy="411480"/>
          </a:xfrm>
          <a:prstGeom prst="rect">
            <a:avLst/>
          </a:prstGeom>
          <a:noFill/>
          <a:ln/>
        </p:spPr>
        <p:txBody>
          <a:bodyPr wrap="square" lIns="0" tIns="0" rIns="0" bIns="0" rtlCol="0" anchor="ctr"/>
          <a:lstStyle/>
          <a:p>
            <a:pPr indent="0" marL="0">
              <a:buNone/>
            </a:pPr>
            <a:r>
              <a:rPr lang="en-US" sz="1150" b="1" i="1" dirty="0">
                <a:solidFill>
                  <a:srgbClr val="1E293B"/>
                </a:solidFill>
                <a:latin typeface="Calibri" pitchFamily="34" charset="0"/>
                <a:ea typeface="Calibri" pitchFamily="34" charset="-122"/>
                <a:cs typeface="Calibri" pitchFamily="34" charset="-120"/>
              </a:rPr>
              <a:t>Rule of thumb: a function stays vertical if it must speak truth across the entire org, or orchestrate work that no single tribe owns end-to-end.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PRESERVING CRAFT EXCELLENCE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Communities of Practice — the Horizontal Weave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371600"/>
            <a:ext cx="4206240" cy="411480"/>
          </a:xfrm>
          <a:prstGeom prst="rect">
            <a:avLst/>
          </a:prstGeom>
          <a:noFill/>
          <a:ln/>
        </p:spPr>
        <p:txBody>
          <a:bodyPr wrap="square" lIns="0" tIns="0" rIns="0" bIns="0" rtlCol="0" anchor="ctr"/>
          <a:lstStyle/>
          <a:p>
            <a:pPr indent="0" marL="0">
              <a:buNone/>
            </a:pPr>
            <a:r>
              <a:rPr lang="en-US" sz="1800" b="1" dirty="0">
                <a:solidFill>
                  <a:srgbClr val="003DA5"/>
                </a:solidFill>
                <a:latin typeface="Georgia" pitchFamily="34" charset="0"/>
                <a:ea typeface="Georgia" pitchFamily="34" charset="-122"/>
                <a:cs typeface="Georgia" pitchFamily="34" charset="-120"/>
              </a:rPr>
              <a:t>Why Guilds matter</a:t>
            </a:r>
            <a:endParaRPr lang="en-US" sz="1800" dirty="0"/>
          </a:p>
        </p:txBody>
      </p:sp>
      <p:sp>
        <p:nvSpPr>
          <p:cNvPr id="8" name="Text 5"/>
          <p:cNvSpPr/>
          <p:nvPr/>
        </p:nvSpPr>
        <p:spPr>
          <a:xfrm>
            <a:off x="457200" y="1828800"/>
            <a:ext cx="4206240" cy="10058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Removing functional silos doesn't mean removing functional depth. Communities of Practice carry craft mastery across teams — what a chapter or guild does well that a reporting line can't.</a:t>
            </a:r>
            <a:endParaRPr lang="en-US" sz="1200" dirty="0"/>
          </a:p>
        </p:txBody>
      </p:sp>
      <p:sp>
        <p:nvSpPr>
          <p:cNvPr id="9" name="Text 6"/>
          <p:cNvSpPr/>
          <p:nvPr/>
        </p:nvSpPr>
        <p:spPr>
          <a:xfrm>
            <a:off x="457200" y="288036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Set standards (ADRs, SLO policy, MLOps patterns)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Calibrate skills across teams; own technical career ladder</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Run brown-bags, drills, hackathons, tech-radar refreshes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Survive reorgs — fractal &amp; resilient by design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Replace expensive design-authority approval boards with peer review</a:t>
            </a:r>
            <a:endParaRPr lang="en-US" sz="1150" dirty="0"/>
          </a:p>
        </p:txBody>
      </p:sp>
      <p:sp>
        <p:nvSpPr>
          <p:cNvPr id="10" name="Shape 7"/>
          <p:cNvSpPr/>
          <p:nvPr/>
        </p:nvSpPr>
        <p:spPr>
          <a:xfrm>
            <a:off x="457200" y="5349240"/>
            <a:ext cx="4206240" cy="960120"/>
          </a:xfrm>
          <a:prstGeom prst="rect">
            <a:avLst/>
          </a:prstGeom>
          <a:solidFill>
            <a:srgbClr val="F4F6F9"/>
          </a:solidFill>
          <a:ln w="12700">
            <a:solidFill>
              <a:srgbClr val="E2E8F0"/>
            </a:solidFill>
            <a:prstDash val="solid"/>
          </a:ln>
        </p:spPr>
      </p:sp>
      <p:sp>
        <p:nvSpPr>
          <p:cNvPr id="11" name="Shape 8"/>
          <p:cNvSpPr/>
          <p:nvPr/>
        </p:nvSpPr>
        <p:spPr>
          <a:xfrm>
            <a:off x="457200" y="5349240"/>
            <a:ext cx="73152" cy="960120"/>
          </a:xfrm>
          <a:prstGeom prst="rect">
            <a:avLst/>
          </a:prstGeom>
          <a:solidFill>
            <a:srgbClr val="FEDF01"/>
          </a:solidFill>
          <a:ln w="12700">
            <a:solidFill>
              <a:srgbClr val="FEDF01"/>
            </a:solidFill>
            <a:prstDash val="solid"/>
          </a:ln>
        </p:spPr>
      </p:sp>
      <p:sp>
        <p:nvSpPr>
          <p:cNvPr id="12" name="Text 9"/>
          <p:cNvSpPr/>
          <p:nvPr/>
        </p:nvSpPr>
        <p:spPr>
          <a:xfrm>
            <a:off x="640080" y="5440680"/>
            <a:ext cx="3931920" cy="7772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Every engineer belongs to one team and 1–2 Guilds. Guilds are influence-based, not authority-based.</a:t>
            </a:r>
            <a:endParaRPr lang="en-US" sz="1200" dirty="0"/>
          </a:p>
        </p:txBody>
      </p:sp>
      <p:sp>
        <p:nvSpPr>
          <p:cNvPr id="13" name="Shape 10"/>
          <p:cNvSpPr/>
          <p:nvPr/>
        </p:nvSpPr>
        <p:spPr>
          <a:xfrm>
            <a:off x="5120640" y="137160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4" name="Shape 11"/>
          <p:cNvSpPr/>
          <p:nvPr/>
        </p:nvSpPr>
        <p:spPr>
          <a:xfrm>
            <a:off x="5120640" y="1371600"/>
            <a:ext cx="73152" cy="713232"/>
          </a:xfrm>
          <a:prstGeom prst="rect">
            <a:avLst/>
          </a:prstGeom>
          <a:solidFill>
            <a:srgbClr val="003DA5"/>
          </a:solidFill>
          <a:ln w="12700">
            <a:solidFill>
              <a:srgbClr val="003DA5"/>
            </a:solidFill>
            <a:prstDash val="solid"/>
          </a:ln>
        </p:spPr>
      </p:sp>
      <p:pic>
        <p:nvPicPr>
          <p:cNvPr id="15" name="Image 1" descr="preencoded.png">    </p:cNvPr>
          <p:cNvPicPr>
            <a:picLocks noChangeAspect="1"/>
          </p:cNvPicPr>
          <p:nvPr/>
        </p:nvPicPr>
        <p:blipFill>
          <a:blip r:embed="rId2"/>
          <a:stretch>
            <a:fillRect/>
          </a:stretch>
        </p:blipFill>
        <p:spPr>
          <a:xfrm>
            <a:off x="5303520" y="1536192"/>
            <a:ext cx="384048" cy="384048"/>
          </a:xfrm>
          <a:prstGeom prst="rect">
            <a:avLst/>
          </a:prstGeom>
        </p:spPr>
      </p:pic>
      <p:sp>
        <p:nvSpPr>
          <p:cNvPr id="16" name="Text 12"/>
          <p:cNvSpPr/>
          <p:nvPr/>
        </p:nvSpPr>
        <p:spPr>
          <a:xfrm>
            <a:off x="5806440" y="144475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Architecture Guild</a:t>
            </a:r>
            <a:endParaRPr lang="en-US" sz="1200" dirty="0"/>
          </a:p>
        </p:txBody>
      </p:sp>
      <p:sp>
        <p:nvSpPr>
          <p:cNvPr id="17" name="Text 13"/>
          <p:cNvSpPr/>
          <p:nvPr/>
        </p:nvSpPr>
        <p:spPr>
          <a:xfrm>
            <a:off x="5806440" y="173736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Chaired by Chief Architect · ADRs · reference architectures</a:t>
            </a:r>
            <a:endParaRPr lang="en-US" sz="950" dirty="0"/>
          </a:p>
        </p:txBody>
      </p:sp>
      <p:sp>
        <p:nvSpPr>
          <p:cNvPr id="18" name="Shape 14"/>
          <p:cNvSpPr/>
          <p:nvPr/>
        </p:nvSpPr>
        <p:spPr>
          <a:xfrm>
            <a:off x="8613648" y="137160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9" name="Shape 15"/>
          <p:cNvSpPr/>
          <p:nvPr/>
        </p:nvSpPr>
        <p:spPr>
          <a:xfrm>
            <a:off x="8613648" y="1371600"/>
            <a:ext cx="73152" cy="713232"/>
          </a:xfrm>
          <a:prstGeom prst="rect">
            <a:avLst/>
          </a:prstGeom>
          <a:solidFill>
            <a:srgbClr val="003DA5"/>
          </a:solidFill>
          <a:ln w="12700">
            <a:solidFill>
              <a:srgbClr val="003DA5"/>
            </a:solidFill>
            <a:prstDash val="solid"/>
          </a:ln>
        </p:spPr>
      </p:sp>
      <p:pic>
        <p:nvPicPr>
          <p:cNvPr id="20" name="Image 2" descr="preencoded.png">    </p:cNvPr>
          <p:cNvPicPr>
            <a:picLocks noChangeAspect="1"/>
          </p:cNvPicPr>
          <p:nvPr/>
        </p:nvPicPr>
        <p:blipFill>
          <a:blip r:embed="rId3"/>
          <a:stretch>
            <a:fillRect/>
          </a:stretch>
        </p:blipFill>
        <p:spPr>
          <a:xfrm>
            <a:off x="8796528" y="1536192"/>
            <a:ext cx="384048" cy="384048"/>
          </a:xfrm>
          <a:prstGeom prst="rect">
            <a:avLst/>
          </a:prstGeom>
        </p:spPr>
      </p:pic>
      <p:sp>
        <p:nvSpPr>
          <p:cNvPr id="21" name="Text 16"/>
          <p:cNvSpPr/>
          <p:nvPr/>
        </p:nvSpPr>
        <p:spPr>
          <a:xfrm>
            <a:off x="9299448" y="144475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SRE / Reliability Chapter</a:t>
            </a:r>
            <a:endParaRPr lang="en-US" sz="1200" dirty="0"/>
          </a:p>
        </p:txBody>
      </p:sp>
      <p:sp>
        <p:nvSpPr>
          <p:cNvPr id="22" name="Text 17"/>
          <p:cNvSpPr/>
          <p:nvPr/>
        </p:nvSpPr>
        <p:spPr>
          <a:xfrm>
            <a:off x="9299448" y="173736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SLO standards · postmortems · error-budget policy</a:t>
            </a:r>
            <a:endParaRPr lang="en-US" sz="950" dirty="0"/>
          </a:p>
        </p:txBody>
      </p:sp>
      <p:sp>
        <p:nvSpPr>
          <p:cNvPr id="23" name="Shape 18"/>
          <p:cNvSpPr/>
          <p:nvPr/>
        </p:nvSpPr>
        <p:spPr>
          <a:xfrm>
            <a:off x="5120640" y="219456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4" name="Shape 19"/>
          <p:cNvSpPr/>
          <p:nvPr/>
        </p:nvSpPr>
        <p:spPr>
          <a:xfrm>
            <a:off x="5120640" y="2194560"/>
            <a:ext cx="73152" cy="713232"/>
          </a:xfrm>
          <a:prstGeom prst="rect">
            <a:avLst/>
          </a:prstGeom>
          <a:solidFill>
            <a:srgbClr val="003DA5"/>
          </a:solidFill>
          <a:ln w="12700">
            <a:solidFill>
              <a:srgbClr val="003DA5"/>
            </a:solidFill>
            <a:prstDash val="solid"/>
          </a:ln>
        </p:spPr>
      </p:sp>
      <p:pic>
        <p:nvPicPr>
          <p:cNvPr id="25" name="Image 3" descr="preencoded.png">    </p:cNvPr>
          <p:cNvPicPr>
            <a:picLocks noChangeAspect="1"/>
          </p:cNvPicPr>
          <p:nvPr/>
        </p:nvPicPr>
        <p:blipFill>
          <a:blip r:embed="rId4"/>
          <a:stretch>
            <a:fillRect/>
          </a:stretch>
        </p:blipFill>
        <p:spPr>
          <a:xfrm>
            <a:off x="5303520" y="2359152"/>
            <a:ext cx="384048" cy="384048"/>
          </a:xfrm>
          <a:prstGeom prst="rect">
            <a:avLst/>
          </a:prstGeom>
        </p:spPr>
      </p:pic>
      <p:sp>
        <p:nvSpPr>
          <p:cNvPr id="26" name="Text 20"/>
          <p:cNvSpPr/>
          <p:nvPr/>
        </p:nvSpPr>
        <p:spPr>
          <a:xfrm>
            <a:off x="5806440" y="226771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AI / ML Engineering Guild</a:t>
            </a:r>
            <a:endParaRPr lang="en-US" sz="1200" dirty="0"/>
          </a:p>
        </p:txBody>
      </p:sp>
      <p:sp>
        <p:nvSpPr>
          <p:cNvPr id="27" name="Text 21"/>
          <p:cNvSpPr/>
          <p:nvPr/>
        </p:nvSpPr>
        <p:spPr>
          <a:xfrm>
            <a:off x="5806440" y="256032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Model lifecycle · MLOps · AIOps patterns · responsible AI</a:t>
            </a:r>
            <a:endParaRPr lang="en-US" sz="950" dirty="0"/>
          </a:p>
        </p:txBody>
      </p:sp>
      <p:sp>
        <p:nvSpPr>
          <p:cNvPr id="28" name="Shape 22"/>
          <p:cNvSpPr/>
          <p:nvPr/>
        </p:nvSpPr>
        <p:spPr>
          <a:xfrm>
            <a:off x="8613648" y="219456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9" name="Shape 23"/>
          <p:cNvSpPr/>
          <p:nvPr/>
        </p:nvSpPr>
        <p:spPr>
          <a:xfrm>
            <a:off x="8613648" y="2194560"/>
            <a:ext cx="73152" cy="713232"/>
          </a:xfrm>
          <a:prstGeom prst="rect">
            <a:avLst/>
          </a:prstGeom>
          <a:solidFill>
            <a:srgbClr val="003DA5"/>
          </a:solidFill>
          <a:ln w="12700">
            <a:solidFill>
              <a:srgbClr val="003DA5"/>
            </a:solidFill>
            <a:prstDash val="solid"/>
          </a:ln>
        </p:spPr>
      </p:sp>
      <p:pic>
        <p:nvPicPr>
          <p:cNvPr id="30" name="Image 4" descr="preencoded.png">    </p:cNvPr>
          <p:cNvPicPr>
            <a:picLocks noChangeAspect="1"/>
          </p:cNvPicPr>
          <p:nvPr/>
        </p:nvPicPr>
        <p:blipFill>
          <a:blip r:embed="rId5"/>
          <a:stretch>
            <a:fillRect/>
          </a:stretch>
        </p:blipFill>
        <p:spPr>
          <a:xfrm>
            <a:off x="8796528" y="2359152"/>
            <a:ext cx="384048" cy="384048"/>
          </a:xfrm>
          <a:prstGeom prst="rect">
            <a:avLst/>
          </a:prstGeom>
        </p:spPr>
      </p:pic>
      <p:sp>
        <p:nvSpPr>
          <p:cNvPr id="31" name="Text 24"/>
          <p:cNvSpPr/>
          <p:nvPr/>
        </p:nvSpPr>
        <p:spPr>
          <a:xfrm>
            <a:off x="9299448" y="226771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IaC / Zephyr Guild</a:t>
            </a:r>
            <a:endParaRPr lang="en-US" sz="1200" dirty="0"/>
          </a:p>
        </p:txBody>
      </p:sp>
      <p:sp>
        <p:nvSpPr>
          <p:cNvPr id="32" name="Text 25"/>
          <p:cNvSpPr/>
          <p:nvPr/>
        </p:nvSpPr>
        <p:spPr>
          <a:xfrm>
            <a:off x="9299448" y="256032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Module catalog · contribution model · version policy</a:t>
            </a:r>
            <a:endParaRPr lang="en-US" sz="950" dirty="0"/>
          </a:p>
        </p:txBody>
      </p:sp>
      <p:sp>
        <p:nvSpPr>
          <p:cNvPr id="33" name="Shape 26"/>
          <p:cNvSpPr/>
          <p:nvPr/>
        </p:nvSpPr>
        <p:spPr>
          <a:xfrm>
            <a:off x="5120640" y="301752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4" name="Shape 27"/>
          <p:cNvSpPr/>
          <p:nvPr/>
        </p:nvSpPr>
        <p:spPr>
          <a:xfrm>
            <a:off x="5120640" y="3017520"/>
            <a:ext cx="73152" cy="713232"/>
          </a:xfrm>
          <a:prstGeom prst="rect">
            <a:avLst/>
          </a:prstGeom>
          <a:solidFill>
            <a:srgbClr val="003DA5"/>
          </a:solidFill>
          <a:ln w="12700">
            <a:solidFill>
              <a:srgbClr val="003DA5"/>
            </a:solidFill>
            <a:prstDash val="solid"/>
          </a:ln>
        </p:spPr>
      </p:sp>
      <p:pic>
        <p:nvPicPr>
          <p:cNvPr id="35" name="Image 5" descr="preencoded.png">    </p:cNvPr>
          <p:cNvPicPr>
            <a:picLocks noChangeAspect="1"/>
          </p:cNvPicPr>
          <p:nvPr/>
        </p:nvPicPr>
        <p:blipFill>
          <a:blip r:embed="rId6"/>
          <a:stretch>
            <a:fillRect/>
          </a:stretch>
        </p:blipFill>
        <p:spPr>
          <a:xfrm>
            <a:off x="5303520" y="3182112"/>
            <a:ext cx="384048" cy="384048"/>
          </a:xfrm>
          <a:prstGeom prst="rect">
            <a:avLst/>
          </a:prstGeom>
        </p:spPr>
      </p:pic>
      <p:sp>
        <p:nvSpPr>
          <p:cNvPr id="36" name="Text 28"/>
          <p:cNvSpPr/>
          <p:nvPr/>
        </p:nvSpPr>
        <p:spPr>
          <a:xfrm>
            <a:off x="5806440" y="309067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Security &amp; Compliance</a:t>
            </a:r>
            <a:endParaRPr lang="en-US" sz="1200" dirty="0"/>
          </a:p>
        </p:txBody>
      </p:sp>
      <p:sp>
        <p:nvSpPr>
          <p:cNvPr id="37" name="Text 29"/>
          <p:cNvSpPr/>
          <p:nvPr/>
        </p:nvSpPr>
        <p:spPr>
          <a:xfrm>
            <a:off x="5806440" y="338328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Control catalog · policy-as-code library</a:t>
            </a:r>
            <a:endParaRPr lang="en-US" sz="950" dirty="0"/>
          </a:p>
        </p:txBody>
      </p:sp>
      <p:sp>
        <p:nvSpPr>
          <p:cNvPr id="38" name="Shape 30"/>
          <p:cNvSpPr/>
          <p:nvPr/>
        </p:nvSpPr>
        <p:spPr>
          <a:xfrm>
            <a:off x="8613648" y="301752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9" name="Shape 31"/>
          <p:cNvSpPr/>
          <p:nvPr/>
        </p:nvSpPr>
        <p:spPr>
          <a:xfrm>
            <a:off x="8613648" y="3017520"/>
            <a:ext cx="73152" cy="713232"/>
          </a:xfrm>
          <a:prstGeom prst="rect">
            <a:avLst/>
          </a:prstGeom>
          <a:solidFill>
            <a:srgbClr val="003DA5"/>
          </a:solidFill>
          <a:ln w="12700">
            <a:solidFill>
              <a:srgbClr val="003DA5"/>
            </a:solidFill>
            <a:prstDash val="solid"/>
          </a:ln>
        </p:spPr>
      </p:sp>
      <p:pic>
        <p:nvPicPr>
          <p:cNvPr id="40" name="Image 6" descr="preencoded.png">    </p:cNvPr>
          <p:cNvPicPr>
            <a:picLocks noChangeAspect="1"/>
          </p:cNvPicPr>
          <p:nvPr/>
        </p:nvPicPr>
        <p:blipFill>
          <a:blip r:embed="rId7"/>
          <a:stretch>
            <a:fillRect/>
          </a:stretch>
        </p:blipFill>
        <p:spPr>
          <a:xfrm>
            <a:off x="8796528" y="3182112"/>
            <a:ext cx="384048" cy="384048"/>
          </a:xfrm>
          <a:prstGeom prst="rect">
            <a:avLst/>
          </a:prstGeom>
        </p:spPr>
      </p:pic>
      <p:sp>
        <p:nvSpPr>
          <p:cNvPr id="41" name="Text 32"/>
          <p:cNvSpPr/>
          <p:nvPr/>
        </p:nvSpPr>
        <p:spPr>
          <a:xfrm>
            <a:off x="9299448" y="309067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DevEx &amp; Productivity</a:t>
            </a:r>
            <a:endParaRPr lang="en-US" sz="1200" dirty="0"/>
          </a:p>
        </p:txBody>
      </p:sp>
      <p:sp>
        <p:nvSpPr>
          <p:cNvPr id="42" name="Text 33"/>
          <p:cNvSpPr/>
          <p:nvPr/>
        </p:nvSpPr>
        <p:spPr>
          <a:xfrm>
            <a:off x="9299448" y="338328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Developer NPS · golden-path adoption metrics</a:t>
            </a:r>
            <a:endParaRPr lang="en-US" sz="950" dirty="0"/>
          </a:p>
        </p:txBody>
      </p:sp>
      <p:sp>
        <p:nvSpPr>
          <p:cNvPr id="43" name="Shape 34"/>
          <p:cNvSpPr/>
          <p:nvPr/>
        </p:nvSpPr>
        <p:spPr>
          <a:xfrm>
            <a:off x="5120640" y="3840480"/>
            <a:ext cx="3383280" cy="713232"/>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44" name="Shape 35"/>
          <p:cNvSpPr/>
          <p:nvPr/>
        </p:nvSpPr>
        <p:spPr>
          <a:xfrm>
            <a:off x="5120640" y="3840480"/>
            <a:ext cx="73152" cy="713232"/>
          </a:xfrm>
          <a:prstGeom prst="rect">
            <a:avLst/>
          </a:prstGeom>
          <a:solidFill>
            <a:srgbClr val="003DA5"/>
          </a:solidFill>
          <a:ln w="12700">
            <a:solidFill>
              <a:srgbClr val="003DA5"/>
            </a:solidFill>
            <a:prstDash val="solid"/>
          </a:ln>
        </p:spPr>
      </p:sp>
      <p:pic>
        <p:nvPicPr>
          <p:cNvPr id="45" name="Image 7" descr="preencoded.png">    </p:cNvPr>
          <p:cNvPicPr>
            <a:picLocks noChangeAspect="1"/>
          </p:cNvPicPr>
          <p:nvPr/>
        </p:nvPicPr>
        <p:blipFill>
          <a:blip r:embed="rId8"/>
          <a:stretch>
            <a:fillRect/>
          </a:stretch>
        </p:blipFill>
        <p:spPr>
          <a:xfrm>
            <a:off x="5303520" y="4005072"/>
            <a:ext cx="384048" cy="384048"/>
          </a:xfrm>
          <a:prstGeom prst="rect">
            <a:avLst/>
          </a:prstGeom>
        </p:spPr>
      </p:pic>
      <p:sp>
        <p:nvSpPr>
          <p:cNvPr id="46" name="Text 36"/>
          <p:cNvSpPr/>
          <p:nvPr/>
        </p:nvSpPr>
        <p:spPr>
          <a:xfrm>
            <a:off x="5806440" y="3913632"/>
            <a:ext cx="260604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Incident Commander</a:t>
            </a:r>
            <a:endParaRPr lang="en-US" sz="1200" dirty="0"/>
          </a:p>
        </p:txBody>
      </p:sp>
      <p:sp>
        <p:nvSpPr>
          <p:cNvPr id="47" name="Text 37"/>
          <p:cNvSpPr/>
          <p:nvPr/>
        </p:nvSpPr>
        <p:spPr>
          <a:xfrm>
            <a:off x="5806440" y="4206240"/>
            <a:ext cx="2606040" cy="3200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IM playbooks · GameDay drills · cross-tribe rotation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PROVEN AT SCALE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Who Is Already Running This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flat peer-squad model isn't theoretical. The largest engineering organizations in the world have operated this way for over a decade — at scale, in regulated environments, and through massive growth.</a:t>
            </a:r>
            <a:endParaRPr lang="en-US" sz="1300" dirty="0"/>
          </a:p>
        </p:txBody>
      </p:sp>
      <p:sp>
        <p:nvSpPr>
          <p:cNvPr id="8" name="Shape 5"/>
          <p:cNvSpPr/>
          <p:nvPr/>
        </p:nvSpPr>
        <p:spPr>
          <a:xfrm>
            <a:off x="376276" y="1920240"/>
            <a:ext cx="3703320" cy="21031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9" name="Shape 6"/>
          <p:cNvSpPr/>
          <p:nvPr/>
        </p:nvSpPr>
        <p:spPr>
          <a:xfrm>
            <a:off x="376276" y="1920240"/>
            <a:ext cx="3703320" cy="594360"/>
          </a:xfrm>
          <a:prstGeom prst="rect">
            <a:avLst/>
          </a:prstGeom>
          <a:solidFill>
            <a:srgbClr val="001F5C"/>
          </a:solidFill>
          <a:ln w="12700">
            <a:solidFill>
              <a:srgbClr val="001F5C"/>
            </a:solidFill>
            <a:prstDash val="solid"/>
          </a:ln>
        </p:spPr>
      </p:sp>
      <p:sp>
        <p:nvSpPr>
          <p:cNvPr id="10" name="Shape 7"/>
          <p:cNvSpPr/>
          <p:nvPr/>
        </p:nvSpPr>
        <p:spPr>
          <a:xfrm>
            <a:off x="376276" y="1920240"/>
            <a:ext cx="3703320" cy="73152"/>
          </a:xfrm>
          <a:prstGeom prst="rect">
            <a:avLst/>
          </a:prstGeom>
          <a:solidFill>
            <a:srgbClr val="FEDF01"/>
          </a:solidFill>
          <a:ln w="12700">
            <a:solidFill>
              <a:srgbClr val="FEDF01"/>
            </a:solidFill>
            <a:prstDash val="solid"/>
          </a:ln>
        </p:spPr>
      </p:sp>
      <p:sp>
        <p:nvSpPr>
          <p:cNvPr id="11" name="Text 8"/>
          <p:cNvSpPr/>
          <p:nvPr/>
        </p:nvSpPr>
        <p:spPr>
          <a:xfrm>
            <a:off x="604876" y="2039112"/>
            <a:ext cx="324612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Amazon / AWS</a:t>
            </a:r>
            <a:endParaRPr lang="en-US" sz="1500" dirty="0"/>
          </a:p>
        </p:txBody>
      </p:sp>
      <p:sp>
        <p:nvSpPr>
          <p:cNvPr id="12" name="Text 9"/>
          <p:cNvSpPr/>
          <p:nvPr/>
        </p:nvSpPr>
        <p:spPr>
          <a:xfrm>
            <a:off x="604876" y="2304288"/>
            <a:ext cx="32461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Since 2002</a:t>
            </a:r>
            <a:endParaRPr lang="en-US" sz="1000" dirty="0"/>
          </a:p>
        </p:txBody>
      </p:sp>
      <p:sp>
        <p:nvSpPr>
          <p:cNvPr id="13" name="Text 10"/>
          <p:cNvSpPr/>
          <p:nvPr/>
        </p:nvSpPr>
        <p:spPr>
          <a:xfrm>
            <a:off x="604876" y="2606040"/>
            <a:ext cx="3246120" cy="411480"/>
          </a:xfrm>
          <a:prstGeom prst="rect">
            <a:avLst/>
          </a:prstGeom>
          <a:noFill/>
          <a:ln/>
        </p:spPr>
        <p:txBody>
          <a:bodyPr wrap="square" lIns="0" tIns="0" rIns="0" bIns="0" rtlCol="0" anchor="ctr"/>
          <a:lstStyle/>
          <a:p>
            <a:pPr indent="0" marL="0">
              <a:buNone/>
            </a:pPr>
            <a:r>
              <a:rPr lang="en-US" sz="1600" b="1" i="1" dirty="0">
                <a:solidFill>
                  <a:srgbClr val="003DA5"/>
                </a:solidFill>
                <a:latin typeface="Georgia" pitchFamily="34" charset="0"/>
                <a:ea typeface="Georgia" pitchFamily="34" charset="-122"/>
                <a:cs typeface="Georgia" pitchFamily="34" charset="-120"/>
              </a:rPr>
              <a:t>“Two-pizza teams”</a:t>
            </a:r>
            <a:endParaRPr lang="en-US" sz="1600" dirty="0"/>
          </a:p>
        </p:txBody>
      </p:sp>
      <p:sp>
        <p:nvSpPr>
          <p:cNvPr id="14" name="Text 11"/>
          <p:cNvSpPr/>
          <p:nvPr/>
        </p:nvSpPr>
        <p:spPr>
          <a:xfrm>
            <a:off x="604876" y="3063240"/>
            <a:ext cx="3246120" cy="8686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Each service owned by 6–10 people who build it, run it, on-call it. The original "you build it, you run it."</a:t>
            </a:r>
            <a:endParaRPr lang="en-US" sz="1050" dirty="0"/>
          </a:p>
        </p:txBody>
      </p:sp>
      <p:sp>
        <p:nvSpPr>
          <p:cNvPr id="15" name="Shape 12"/>
          <p:cNvSpPr/>
          <p:nvPr/>
        </p:nvSpPr>
        <p:spPr>
          <a:xfrm>
            <a:off x="4244188" y="1920240"/>
            <a:ext cx="3703320" cy="21031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6" name="Shape 13"/>
          <p:cNvSpPr/>
          <p:nvPr/>
        </p:nvSpPr>
        <p:spPr>
          <a:xfrm>
            <a:off x="4244188" y="1920240"/>
            <a:ext cx="3703320" cy="594360"/>
          </a:xfrm>
          <a:prstGeom prst="rect">
            <a:avLst/>
          </a:prstGeom>
          <a:solidFill>
            <a:srgbClr val="003DA5"/>
          </a:solidFill>
          <a:ln w="12700">
            <a:solidFill>
              <a:srgbClr val="003DA5"/>
            </a:solidFill>
            <a:prstDash val="solid"/>
          </a:ln>
        </p:spPr>
      </p:sp>
      <p:sp>
        <p:nvSpPr>
          <p:cNvPr id="17" name="Shape 14"/>
          <p:cNvSpPr/>
          <p:nvPr/>
        </p:nvSpPr>
        <p:spPr>
          <a:xfrm>
            <a:off x="4244188" y="1920240"/>
            <a:ext cx="3703320" cy="73152"/>
          </a:xfrm>
          <a:prstGeom prst="rect">
            <a:avLst/>
          </a:prstGeom>
          <a:solidFill>
            <a:srgbClr val="FEDF01"/>
          </a:solidFill>
          <a:ln w="12700">
            <a:solidFill>
              <a:srgbClr val="FEDF01"/>
            </a:solidFill>
            <a:prstDash val="solid"/>
          </a:ln>
        </p:spPr>
      </p:sp>
      <p:sp>
        <p:nvSpPr>
          <p:cNvPr id="18" name="Text 15"/>
          <p:cNvSpPr/>
          <p:nvPr/>
        </p:nvSpPr>
        <p:spPr>
          <a:xfrm>
            <a:off x="4472788" y="2039112"/>
            <a:ext cx="324612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Netflix</a:t>
            </a:r>
            <a:endParaRPr lang="en-US" sz="1500" dirty="0"/>
          </a:p>
        </p:txBody>
      </p:sp>
      <p:sp>
        <p:nvSpPr>
          <p:cNvPr id="19" name="Text 16"/>
          <p:cNvSpPr/>
          <p:nvPr/>
        </p:nvSpPr>
        <p:spPr>
          <a:xfrm>
            <a:off x="4472788" y="2304288"/>
            <a:ext cx="32461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Since 2011</a:t>
            </a:r>
            <a:endParaRPr lang="en-US" sz="1000" dirty="0"/>
          </a:p>
        </p:txBody>
      </p:sp>
      <p:sp>
        <p:nvSpPr>
          <p:cNvPr id="20" name="Text 17"/>
          <p:cNvSpPr/>
          <p:nvPr/>
        </p:nvSpPr>
        <p:spPr>
          <a:xfrm>
            <a:off x="4472788" y="2606040"/>
            <a:ext cx="3246120" cy="411480"/>
          </a:xfrm>
          <a:prstGeom prst="rect">
            <a:avLst/>
          </a:prstGeom>
          <a:noFill/>
          <a:ln/>
        </p:spPr>
        <p:txBody>
          <a:bodyPr wrap="square" lIns="0" tIns="0" rIns="0" bIns="0" rtlCol="0" anchor="ctr"/>
          <a:lstStyle/>
          <a:p>
            <a:pPr indent="0" marL="0">
              <a:buNone/>
            </a:pPr>
            <a:r>
              <a:rPr lang="en-US" sz="1600" b="1" i="1" dirty="0">
                <a:solidFill>
                  <a:srgbClr val="003DA5"/>
                </a:solidFill>
                <a:latin typeface="Georgia" pitchFamily="34" charset="0"/>
                <a:ea typeface="Georgia" pitchFamily="34" charset="-122"/>
                <a:cs typeface="Georgia" pitchFamily="34" charset="-120"/>
              </a:rPr>
              <a:t>“Full-cycle developers”</a:t>
            </a:r>
            <a:endParaRPr lang="en-US" sz="1600" dirty="0"/>
          </a:p>
        </p:txBody>
      </p:sp>
      <p:sp>
        <p:nvSpPr>
          <p:cNvPr id="21" name="Text 18"/>
          <p:cNvSpPr/>
          <p:nvPr/>
        </p:nvSpPr>
        <p:spPr>
          <a:xfrm>
            <a:off x="4472788" y="3063240"/>
            <a:ext cx="3246120" cy="8686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Every team owns design, build, deploy, operate, support. Paved-road platform makes it possible at scale.</a:t>
            </a:r>
            <a:endParaRPr lang="en-US" sz="1050" dirty="0"/>
          </a:p>
        </p:txBody>
      </p:sp>
      <p:sp>
        <p:nvSpPr>
          <p:cNvPr id="22" name="Shape 19"/>
          <p:cNvSpPr/>
          <p:nvPr/>
        </p:nvSpPr>
        <p:spPr>
          <a:xfrm>
            <a:off x="8112100" y="1920240"/>
            <a:ext cx="3703320" cy="21031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3" name="Shape 20"/>
          <p:cNvSpPr/>
          <p:nvPr/>
        </p:nvSpPr>
        <p:spPr>
          <a:xfrm>
            <a:off x="8112100" y="1920240"/>
            <a:ext cx="3703320" cy="594360"/>
          </a:xfrm>
          <a:prstGeom prst="rect">
            <a:avLst/>
          </a:prstGeom>
          <a:solidFill>
            <a:srgbClr val="002B7F"/>
          </a:solidFill>
          <a:ln w="12700">
            <a:solidFill>
              <a:srgbClr val="002B7F"/>
            </a:solidFill>
            <a:prstDash val="solid"/>
          </a:ln>
        </p:spPr>
      </p:sp>
      <p:sp>
        <p:nvSpPr>
          <p:cNvPr id="24" name="Shape 21"/>
          <p:cNvSpPr/>
          <p:nvPr/>
        </p:nvSpPr>
        <p:spPr>
          <a:xfrm>
            <a:off x="8112100" y="1920240"/>
            <a:ext cx="3703320" cy="73152"/>
          </a:xfrm>
          <a:prstGeom prst="rect">
            <a:avLst/>
          </a:prstGeom>
          <a:solidFill>
            <a:srgbClr val="FEDF01"/>
          </a:solidFill>
          <a:ln w="12700">
            <a:solidFill>
              <a:srgbClr val="FEDF01"/>
            </a:solidFill>
            <a:prstDash val="solid"/>
          </a:ln>
        </p:spPr>
      </p:sp>
      <p:sp>
        <p:nvSpPr>
          <p:cNvPr id="25" name="Text 22"/>
          <p:cNvSpPr/>
          <p:nvPr/>
        </p:nvSpPr>
        <p:spPr>
          <a:xfrm>
            <a:off x="8340700" y="2039112"/>
            <a:ext cx="324612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Google SRE</a:t>
            </a:r>
            <a:endParaRPr lang="en-US" sz="1500" dirty="0"/>
          </a:p>
        </p:txBody>
      </p:sp>
      <p:sp>
        <p:nvSpPr>
          <p:cNvPr id="26" name="Text 23"/>
          <p:cNvSpPr/>
          <p:nvPr/>
        </p:nvSpPr>
        <p:spPr>
          <a:xfrm>
            <a:off x="8340700" y="2304288"/>
            <a:ext cx="32461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Since 2003</a:t>
            </a:r>
            <a:endParaRPr lang="en-US" sz="1000" dirty="0"/>
          </a:p>
        </p:txBody>
      </p:sp>
      <p:sp>
        <p:nvSpPr>
          <p:cNvPr id="27" name="Text 24"/>
          <p:cNvSpPr/>
          <p:nvPr/>
        </p:nvSpPr>
        <p:spPr>
          <a:xfrm>
            <a:off x="8340700" y="2606040"/>
            <a:ext cx="3246120" cy="411480"/>
          </a:xfrm>
          <a:prstGeom prst="rect">
            <a:avLst/>
          </a:prstGeom>
          <a:noFill/>
          <a:ln/>
        </p:spPr>
        <p:txBody>
          <a:bodyPr wrap="square" lIns="0" tIns="0" rIns="0" bIns="0" rtlCol="0" anchor="ctr"/>
          <a:lstStyle/>
          <a:p>
            <a:pPr indent="0" marL="0">
              <a:buNone/>
            </a:pPr>
            <a:r>
              <a:rPr lang="en-US" sz="1600" b="1" i="1" dirty="0">
                <a:solidFill>
                  <a:srgbClr val="003DA5"/>
                </a:solidFill>
                <a:latin typeface="Georgia" pitchFamily="34" charset="0"/>
                <a:ea typeface="Georgia" pitchFamily="34" charset="-122"/>
                <a:cs typeface="Georgia" pitchFamily="34" charset="-120"/>
              </a:rPr>
              <a:t>“Embedded SRE pods”</a:t>
            </a:r>
            <a:endParaRPr lang="en-US" sz="1600" dirty="0"/>
          </a:p>
        </p:txBody>
      </p:sp>
      <p:sp>
        <p:nvSpPr>
          <p:cNvPr id="28" name="Text 25"/>
          <p:cNvSpPr/>
          <p:nvPr/>
        </p:nvSpPr>
        <p:spPr>
          <a:xfrm>
            <a:off x="8340700" y="3063240"/>
            <a:ext cx="3246120" cy="8686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Site Reliability Engineers embedded with product teams; 50% engineering, 50% reliability. Toil is capped, not centralized.</a:t>
            </a:r>
            <a:endParaRPr lang="en-US" sz="1050" dirty="0"/>
          </a:p>
        </p:txBody>
      </p:sp>
      <p:sp>
        <p:nvSpPr>
          <p:cNvPr id="29" name="Shape 26"/>
          <p:cNvSpPr/>
          <p:nvPr/>
        </p:nvSpPr>
        <p:spPr>
          <a:xfrm>
            <a:off x="376276" y="4187952"/>
            <a:ext cx="3703320" cy="21031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0" name="Shape 27"/>
          <p:cNvSpPr/>
          <p:nvPr/>
        </p:nvSpPr>
        <p:spPr>
          <a:xfrm>
            <a:off x="376276" y="4187952"/>
            <a:ext cx="3703320" cy="594360"/>
          </a:xfrm>
          <a:prstGeom prst="rect">
            <a:avLst/>
          </a:prstGeom>
          <a:solidFill>
            <a:srgbClr val="003DA5"/>
          </a:solidFill>
          <a:ln w="12700">
            <a:solidFill>
              <a:srgbClr val="003DA5"/>
            </a:solidFill>
            <a:prstDash val="solid"/>
          </a:ln>
        </p:spPr>
      </p:sp>
      <p:sp>
        <p:nvSpPr>
          <p:cNvPr id="31" name="Shape 28"/>
          <p:cNvSpPr/>
          <p:nvPr/>
        </p:nvSpPr>
        <p:spPr>
          <a:xfrm>
            <a:off x="376276" y="4187952"/>
            <a:ext cx="3703320" cy="73152"/>
          </a:xfrm>
          <a:prstGeom prst="rect">
            <a:avLst/>
          </a:prstGeom>
          <a:solidFill>
            <a:srgbClr val="FEDF01"/>
          </a:solidFill>
          <a:ln w="12700">
            <a:solidFill>
              <a:srgbClr val="FEDF01"/>
            </a:solidFill>
            <a:prstDash val="solid"/>
          </a:ln>
        </p:spPr>
      </p:sp>
      <p:sp>
        <p:nvSpPr>
          <p:cNvPr id="32" name="Text 29"/>
          <p:cNvSpPr/>
          <p:nvPr/>
        </p:nvSpPr>
        <p:spPr>
          <a:xfrm>
            <a:off x="604876" y="4306824"/>
            <a:ext cx="324612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Capital One</a:t>
            </a:r>
            <a:endParaRPr lang="en-US" sz="1500" dirty="0"/>
          </a:p>
        </p:txBody>
      </p:sp>
      <p:sp>
        <p:nvSpPr>
          <p:cNvPr id="33" name="Text 30"/>
          <p:cNvSpPr/>
          <p:nvPr/>
        </p:nvSpPr>
        <p:spPr>
          <a:xfrm>
            <a:off x="604876" y="4572000"/>
            <a:ext cx="32461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Since 2015</a:t>
            </a:r>
            <a:endParaRPr lang="en-US" sz="1000" dirty="0"/>
          </a:p>
        </p:txBody>
      </p:sp>
      <p:sp>
        <p:nvSpPr>
          <p:cNvPr id="34" name="Text 31"/>
          <p:cNvSpPr/>
          <p:nvPr/>
        </p:nvSpPr>
        <p:spPr>
          <a:xfrm>
            <a:off x="604876" y="4873752"/>
            <a:ext cx="3246120" cy="411480"/>
          </a:xfrm>
          <a:prstGeom prst="rect">
            <a:avLst/>
          </a:prstGeom>
          <a:noFill/>
          <a:ln/>
        </p:spPr>
        <p:txBody>
          <a:bodyPr wrap="square" lIns="0" tIns="0" rIns="0" bIns="0" rtlCol="0" anchor="ctr"/>
          <a:lstStyle/>
          <a:p>
            <a:pPr indent="0" marL="0">
              <a:buNone/>
            </a:pPr>
            <a:r>
              <a:rPr lang="en-US" sz="1600" b="1" i="1" dirty="0">
                <a:solidFill>
                  <a:srgbClr val="003DA5"/>
                </a:solidFill>
                <a:latin typeface="Georgia" pitchFamily="34" charset="0"/>
                <a:ea typeface="Georgia" pitchFamily="34" charset="-122"/>
                <a:cs typeface="Georgia" pitchFamily="34" charset="-120"/>
              </a:rPr>
              <a:t>“Cross-functional pods”</a:t>
            </a:r>
            <a:endParaRPr lang="en-US" sz="1600" dirty="0"/>
          </a:p>
        </p:txBody>
      </p:sp>
      <p:sp>
        <p:nvSpPr>
          <p:cNvPr id="35" name="Text 32"/>
          <p:cNvSpPr/>
          <p:nvPr/>
        </p:nvSpPr>
        <p:spPr>
          <a:xfrm>
            <a:off x="604876" y="5330952"/>
            <a:ext cx="3246120" cy="8686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14,000+ technologists organized as product teams. Distinguished Engineers federated across squads. Heavily regulated — like RBC.</a:t>
            </a:r>
            <a:endParaRPr lang="en-US" sz="1050" dirty="0"/>
          </a:p>
        </p:txBody>
      </p:sp>
      <p:sp>
        <p:nvSpPr>
          <p:cNvPr id="36" name="Shape 33"/>
          <p:cNvSpPr/>
          <p:nvPr/>
        </p:nvSpPr>
        <p:spPr>
          <a:xfrm>
            <a:off x="4244188" y="4187952"/>
            <a:ext cx="3703320" cy="21031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7" name="Shape 34"/>
          <p:cNvSpPr/>
          <p:nvPr/>
        </p:nvSpPr>
        <p:spPr>
          <a:xfrm>
            <a:off x="4244188" y="4187952"/>
            <a:ext cx="3703320" cy="594360"/>
          </a:xfrm>
          <a:prstGeom prst="rect">
            <a:avLst/>
          </a:prstGeom>
          <a:solidFill>
            <a:srgbClr val="001F5C"/>
          </a:solidFill>
          <a:ln w="12700">
            <a:solidFill>
              <a:srgbClr val="001F5C"/>
            </a:solidFill>
            <a:prstDash val="solid"/>
          </a:ln>
        </p:spPr>
      </p:sp>
      <p:sp>
        <p:nvSpPr>
          <p:cNvPr id="38" name="Shape 35"/>
          <p:cNvSpPr/>
          <p:nvPr/>
        </p:nvSpPr>
        <p:spPr>
          <a:xfrm>
            <a:off x="4244188" y="4187952"/>
            <a:ext cx="3703320" cy="73152"/>
          </a:xfrm>
          <a:prstGeom prst="rect">
            <a:avLst/>
          </a:prstGeom>
          <a:solidFill>
            <a:srgbClr val="FEDF01"/>
          </a:solidFill>
          <a:ln w="12700">
            <a:solidFill>
              <a:srgbClr val="FEDF01"/>
            </a:solidFill>
            <a:prstDash val="solid"/>
          </a:ln>
        </p:spPr>
      </p:sp>
      <p:sp>
        <p:nvSpPr>
          <p:cNvPr id="39" name="Text 36"/>
          <p:cNvSpPr/>
          <p:nvPr/>
        </p:nvSpPr>
        <p:spPr>
          <a:xfrm>
            <a:off x="4472788" y="4306824"/>
            <a:ext cx="324612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JPMorgan Chase</a:t>
            </a:r>
            <a:endParaRPr lang="en-US" sz="1500" dirty="0"/>
          </a:p>
        </p:txBody>
      </p:sp>
      <p:sp>
        <p:nvSpPr>
          <p:cNvPr id="40" name="Text 37"/>
          <p:cNvSpPr/>
          <p:nvPr/>
        </p:nvSpPr>
        <p:spPr>
          <a:xfrm>
            <a:off x="4472788" y="4572000"/>
            <a:ext cx="32461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Since 2019</a:t>
            </a:r>
            <a:endParaRPr lang="en-US" sz="1000" dirty="0"/>
          </a:p>
        </p:txBody>
      </p:sp>
      <p:sp>
        <p:nvSpPr>
          <p:cNvPr id="41" name="Text 38"/>
          <p:cNvSpPr/>
          <p:nvPr/>
        </p:nvSpPr>
        <p:spPr>
          <a:xfrm>
            <a:off x="4472788" y="4873752"/>
            <a:ext cx="3246120" cy="411480"/>
          </a:xfrm>
          <a:prstGeom prst="rect">
            <a:avLst/>
          </a:prstGeom>
          <a:noFill/>
          <a:ln/>
        </p:spPr>
        <p:txBody>
          <a:bodyPr wrap="square" lIns="0" tIns="0" rIns="0" bIns="0" rtlCol="0" anchor="ctr"/>
          <a:lstStyle/>
          <a:p>
            <a:pPr indent="0" marL="0">
              <a:buNone/>
            </a:pPr>
            <a:r>
              <a:rPr lang="en-US" sz="1600" b="1" i="1" dirty="0">
                <a:solidFill>
                  <a:srgbClr val="003DA5"/>
                </a:solidFill>
                <a:latin typeface="Georgia" pitchFamily="34" charset="0"/>
                <a:ea typeface="Georgia" pitchFamily="34" charset="-122"/>
                <a:cs typeface="Georgia" pitchFamily="34" charset="-120"/>
              </a:rPr>
              <a:t>“Platform-as-product”</a:t>
            </a:r>
            <a:endParaRPr lang="en-US" sz="1600" dirty="0"/>
          </a:p>
        </p:txBody>
      </p:sp>
      <p:sp>
        <p:nvSpPr>
          <p:cNvPr id="42" name="Text 39"/>
          <p:cNvSpPr/>
          <p:nvPr/>
        </p:nvSpPr>
        <p:spPr>
          <a:xfrm>
            <a:off x="4472788" y="5330952"/>
            <a:ext cx="3246120" cy="8686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55,000 technologists under a CIO of Infrastructure Platforms. Flat infra cost despite +50% compute growth.</a:t>
            </a:r>
            <a:endParaRPr lang="en-US" sz="1050" dirty="0"/>
          </a:p>
        </p:txBody>
      </p:sp>
      <p:sp>
        <p:nvSpPr>
          <p:cNvPr id="43" name="Shape 40"/>
          <p:cNvSpPr/>
          <p:nvPr/>
        </p:nvSpPr>
        <p:spPr>
          <a:xfrm>
            <a:off x="8112100" y="4187952"/>
            <a:ext cx="3703320" cy="21031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44" name="Shape 41"/>
          <p:cNvSpPr/>
          <p:nvPr/>
        </p:nvSpPr>
        <p:spPr>
          <a:xfrm>
            <a:off x="8112100" y="4187952"/>
            <a:ext cx="3703320" cy="594360"/>
          </a:xfrm>
          <a:prstGeom prst="rect">
            <a:avLst/>
          </a:prstGeom>
          <a:solidFill>
            <a:srgbClr val="002B7F"/>
          </a:solidFill>
          <a:ln w="12700">
            <a:solidFill>
              <a:srgbClr val="002B7F"/>
            </a:solidFill>
            <a:prstDash val="solid"/>
          </a:ln>
        </p:spPr>
      </p:sp>
      <p:sp>
        <p:nvSpPr>
          <p:cNvPr id="45" name="Shape 42"/>
          <p:cNvSpPr/>
          <p:nvPr/>
        </p:nvSpPr>
        <p:spPr>
          <a:xfrm>
            <a:off x="8112100" y="4187952"/>
            <a:ext cx="3703320" cy="73152"/>
          </a:xfrm>
          <a:prstGeom prst="rect">
            <a:avLst/>
          </a:prstGeom>
          <a:solidFill>
            <a:srgbClr val="FEDF01"/>
          </a:solidFill>
          <a:ln w="12700">
            <a:solidFill>
              <a:srgbClr val="FEDF01"/>
            </a:solidFill>
            <a:prstDash val="solid"/>
          </a:ln>
        </p:spPr>
      </p:sp>
      <p:sp>
        <p:nvSpPr>
          <p:cNvPr id="46" name="Text 43"/>
          <p:cNvSpPr/>
          <p:nvPr/>
        </p:nvSpPr>
        <p:spPr>
          <a:xfrm>
            <a:off x="8340700" y="4306824"/>
            <a:ext cx="3246120" cy="29260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DBS Bank (ADA)</a:t>
            </a:r>
            <a:endParaRPr lang="en-US" sz="1500" dirty="0"/>
          </a:p>
        </p:txBody>
      </p:sp>
      <p:sp>
        <p:nvSpPr>
          <p:cNvPr id="47" name="Text 44"/>
          <p:cNvSpPr/>
          <p:nvPr/>
        </p:nvSpPr>
        <p:spPr>
          <a:xfrm>
            <a:off x="8340700" y="4572000"/>
            <a:ext cx="32461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Since 2017</a:t>
            </a:r>
            <a:endParaRPr lang="en-US" sz="1000" dirty="0"/>
          </a:p>
        </p:txBody>
      </p:sp>
      <p:sp>
        <p:nvSpPr>
          <p:cNvPr id="48" name="Text 45"/>
          <p:cNvSpPr/>
          <p:nvPr/>
        </p:nvSpPr>
        <p:spPr>
          <a:xfrm>
            <a:off x="8340700" y="4873752"/>
            <a:ext cx="3246120" cy="411480"/>
          </a:xfrm>
          <a:prstGeom prst="rect">
            <a:avLst/>
          </a:prstGeom>
          <a:noFill/>
          <a:ln/>
        </p:spPr>
        <p:txBody>
          <a:bodyPr wrap="square" lIns="0" tIns="0" rIns="0" bIns="0" rtlCol="0" anchor="ctr"/>
          <a:lstStyle/>
          <a:p>
            <a:pPr indent="0" marL="0">
              <a:buNone/>
            </a:pPr>
            <a:r>
              <a:rPr lang="en-US" sz="1600" b="1" i="1" dirty="0">
                <a:solidFill>
                  <a:srgbClr val="003DA5"/>
                </a:solidFill>
                <a:latin typeface="Georgia" pitchFamily="34" charset="0"/>
                <a:ea typeface="Georgia" pitchFamily="34" charset="-122"/>
                <a:cs typeface="Georgia" pitchFamily="34" charset="-120"/>
              </a:rPr>
              <a:t>“Federated platform”</a:t>
            </a:r>
            <a:endParaRPr lang="en-US" sz="1600" dirty="0"/>
          </a:p>
        </p:txBody>
      </p:sp>
      <p:sp>
        <p:nvSpPr>
          <p:cNvPr id="49" name="Text 46"/>
          <p:cNvSpPr/>
          <p:nvPr/>
        </p:nvSpPr>
        <p:spPr>
          <a:xfrm>
            <a:off x="8340700" y="5330952"/>
            <a:ext cx="3246120" cy="8686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Asian banking giant running an enterprise platform team with federated business-aligned squads. Most directly comparable to RBC.</a:t>
            </a:r>
            <a:endParaRPr lang="en-US" sz="1050" dirty="0"/>
          </a:p>
        </p:txBody>
      </p:sp>
      <p:sp>
        <p:nvSpPr>
          <p:cNvPr id="50" name="Shape 47"/>
          <p:cNvSpPr/>
          <p:nvPr/>
        </p:nvSpPr>
        <p:spPr>
          <a:xfrm>
            <a:off x="457200" y="6172200"/>
            <a:ext cx="11274552" cy="365760"/>
          </a:xfrm>
          <a:prstGeom prst="rect">
            <a:avLst/>
          </a:prstGeom>
          <a:solidFill>
            <a:srgbClr val="FFF1A8"/>
          </a:solidFill>
          <a:ln w="12700">
            <a:solidFill>
              <a:srgbClr val="FEDF01"/>
            </a:solidFill>
            <a:prstDash val="solid"/>
          </a:ln>
        </p:spPr>
      </p:sp>
      <p:pic>
        <p:nvPicPr>
          <p:cNvPr id="51" name="Image 1" descr="preencoded.png">    </p:cNvPr>
          <p:cNvPicPr>
            <a:picLocks noChangeAspect="1"/>
          </p:cNvPicPr>
          <p:nvPr/>
        </p:nvPicPr>
        <p:blipFill>
          <a:blip r:embed="rId2"/>
          <a:stretch>
            <a:fillRect/>
          </a:stretch>
        </p:blipFill>
        <p:spPr>
          <a:xfrm>
            <a:off x="640080" y="6245352"/>
            <a:ext cx="219456" cy="219456"/>
          </a:xfrm>
          <a:prstGeom prst="rect">
            <a:avLst/>
          </a:prstGeom>
        </p:spPr>
      </p:pic>
      <p:sp>
        <p:nvSpPr>
          <p:cNvPr id="52" name="Text 48"/>
          <p:cNvSpPr/>
          <p:nvPr/>
        </p:nvSpPr>
        <p:spPr>
          <a:xfrm>
            <a:off x="914400" y="6172200"/>
            <a:ext cx="10515600" cy="365760"/>
          </a:xfrm>
          <a:prstGeom prst="rect">
            <a:avLst/>
          </a:prstGeom>
          <a:noFill/>
          <a:ln/>
        </p:spPr>
        <p:txBody>
          <a:bodyPr wrap="square" lIns="0" tIns="0" rIns="0" bIns="0" rtlCol="0" anchor="ctr"/>
          <a:lstStyle/>
          <a:p>
            <a:pPr indent="0" marL="0">
              <a:buNone/>
            </a:pPr>
            <a:r>
              <a:rPr lang="en-US" sz="1150" b="1" i="1" dirty="0">
                <a:solidFill>
                  <a:srgbClr val="1E293B"/>
                </a:solidFill>
                <a:latin typeface="Calibri" pitchFamily="34" charset="0"/>
                <a:ea typeface="Calibri" pitchFamily="34" charset="-122"/>
                <a:cs typeface="Calibri" pitchFamily="34" charset="-120"/>
              </a:rPr>
              <a:t>Next three slides take a closer look at AWS, Netflix, and JPMorgan Chase — the most directly relevant patterns for RBC's scale and regulatory posture.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CASE STUDY  ·  1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Amazon / AWS  —  Two-Pizza Teams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sp>
      <p:sp>
        <p:nvSpPr>
          <p:cNvPr id="9" name="Text 6"/>
          <p:cNvSpPr/>
          <p:nvPr/>
        </p:nvSpPr>
        <p:spPr>
          <a:xfrm>
            <a:off x="777240" y="1371600"/>
            <a:ext cx="10515600" cy="365760"/>
          </a:xfrm>
          <a:prstGeom prst="rect">
            <a:avLst/>
          </a:prstGeom>
          <a:noFill/>
          <a:ln/>
        </p:spPr>
        <p:txBody>
          <a:bodyPr wrap="square" lIns="0" tIns="0" rIns="0" bIns="0" rtlCol="0" anchor="ctr"/>
          <a:lstStyle/>
          <a:p>
            <a:pPr indent="0" marL="0">
              <a:buNone/>
            </a:pPr>
            <a:r>
              <a:rPr lang="en-US" sz="2200" b="1" i="1" dirty="0">
                <a:solidFill>
                  <a:srgbClr val="FEDF01"/>
                </a:solidFill>
                <a:latin typeface="Georgia" pitchFamily="34" charset="0"/>
                <a:ea typeface="Georgia" pitchFamily="34" charset="-122"/>
                <a:cs typeface="Georgia" pitchFamily="34" charset="-120"/>
              </a:rPr>
              <a:t>“You build it, you run it.”</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indent="0" marL="0">
              <a:buNone/>
            </a:pPr>
            <a:r>
              <a:rPr lang="en-US" sz="1100" i="1" dirty="0">
                <a:solidFill>
                  <a:srgbClr val="C9D6EE"/>
                </a:solidFill>
                <a:latin typeface="Calibri" pitchFamily="34" charset="0"/>
                <a:ea typeface="Calibri" pitchFamily="34" charset="-122"/>
                <a:cs typeface="Calibri" pitchFamily="34" charset="-120"/>
              </a:rPr>
              <a:t>— Werner Vogels, CTO Amazon  ·  ACM Queue, 2006</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sp>
      <p:sp>
        <p:nvSpPr>
          <p:cNvPr id="13" name="Text 10"/>
          <p:cNvSpPr/>
          <p:nvPr/>
        </p:nvSpPr>
        <p:spPr>
          <a:xfrm>
            <a:off x="685800" y="2423160"/>
            <a:ext cx="5074920"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Two-pizza teams</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Teams sized so two pizzas can feed them — typically 6–10 engineers. Each team owns one service end-to-end.</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Full ownership of the lifecycle</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Build, deploy, monitor, on-call, customer support. No separate ops team to throw work over to.</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Service-oriented architecture as the wedge</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Every team exposes its capability as a service consumed by other teams via API. Teams are peers — no hierarchy.</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API-first contracts between teams</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Jeff Bezos’ famous 2002 mandate: “All teams will expose their data and functionality through service interfaces.”</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sp>
      <p:sp>
        <p:nvSpPr>
          <p:cNvPr id="17" name="Text 14"/>
          <p:cNvSpPr/>
          <p:nvPr/>
        </p:nvSpPr>
        <p:spPr>
          <a:xfrm>
            <a:off x="6428232" y="2423160"/>
            <a:ext cx="5077663"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200+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AWS services, each owned by a two-pizza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of deploys per day across AWS</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20+ yrs</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operating this model continuously</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sp>
      <p:sp>
        <p:nvSpPr>
          <p:cNvPr id="25" name="Text 22"/>
          <p:cNvSpPr/>
          <p:nvPr/>
        </p:nvSpPr>
        <p:spPr>
          <a:xfrm>
            <a:off x="6565392" y="4937760"/>
            <a:ext cx="4986223" cy="228600"/>
          </a:xfrm>
          <a:prstGeom prst="rect">
            <a:avLst/>
          </a:prstGeom>
          <a:noFill/>
          <a:ln/>
        </p:spPr>
        <p:txBody>
          <a:bodyPr wrap="square" lIns="0" tIns="0" rIns="0" bIns="0" rtlCol="0" anchor="ctr"/>
          <a:lstStyle/>
          <a:p>
            <a:pPr indent="0" marL="0">
              <a:buNone/>
            </a:pPr>
            <a:r>
              <a:rPr lang="en-US" sz="950" b="1" spc="200" kern="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AWS is the canonical reference. SQL Server Squad, Compute Squad, Storage Squad — every name in our model maps directly to a two-pizza team pattern. Their API-first contracts between teams are exactly what the Zephyr Control Plane formalizes for us.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CASE STUDY  ·  2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Netflix  —  Full-Cycle Developers + Paved Road</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sp>
      <p:sp>
        <p:nvSpPr>
          <p:cNvPr id="9" name="Text 6"/>
          <p:cNvSpPr/>
          <p:nvPr/>
        </p:nvSpPr>
        <p:spPr>
          <a:xfrm>
            <a:off x="777240" y="1371600"/>
            <a:ext cx="10515600" cy="365760"/>
          </a:xfrm>
          <a:prstGeom prst="rect">
            <a:avLst/>
          </a:prstGeom>
          <a:noFill/>
          <a:ln/>
        </p:spPr>
        <p:txBody>
          <a:bodyPr wrap="square" lIns="0" tIns="0" rIns="0" bIns="0" rtlCol="0" anchor="ctr"/>
          <a:lstStyle/>
          <a:p>
            <a:pPr indent="0" marL="0">
              <a:buNone/>
            </a:pPr>
            <a:r>
              <a:rPr lang="en-US" sz="2200" b="1" i="1" dirty="0">
                <a:solidFill>
                  <a:srgbClr val="FEDF01"/>
                </a:solidFill>
                <a:latin typeface="Georgia" pitchFamily="34" charset="0"/>
                <a:ea typeface="Georgia" pitchFamily="34" charset="-122"/>
                <a:cs typeface="Georgia" pitchFamily="34" charset="-120"/>
              </a:rPr>
              <a:t>“Operate what you build.”</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indent="0" marL="0">
              <a:buNone/>
            </a:pPr>
            <a:r>
              <a:rPr lang="en-US" sz="1100" i="1" dirty="0">
                <a:solidFill>
                  <a:srgbClr val="C9D6EE"/>
                </a:solidFill>
                <a:latin typeface="Calibri" pitchFamily="34" charset="0"/>
                <a:ea typeface="Calibri" pitchFamily="34" charset="-122"/>
                <a:cs typeface="Calibri" pitchFamily="34" charset="-120"/>
              </a:rPr>
              <a:t>— Netflix Engineering Blog, 2018  ·  Full-cycle developers + paved-road platform</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sp>
      <p:sp>
        <p:nvSpPr>
          <p:cNvPr id="13" name="Text 10"/>
          <p:cNvSpPr/>
          <p:nvPr/>
        </p:nvSpPr>
        <p:spPr>
          <a:xfrm>
            <a:off x="685800" y="2423160"/>
            <a:ext cx="5074920"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Full-cycle developers</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Every engineer owns design, build, test, deploy, operate, support, retire. “Developers feel the pain when their code breaks at 2 AM.”</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Centralized paved-road tooling</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Spinnaker (CD), Titus (containers), Atlas (telemetry), chaos engineering — built and maintained by a small platform team for everyone else.</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Freedom + responsibility culture</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Teams are autonomous within paved-road guardrails. Step off the paved road, you own the consequences.</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Resilience engineered in, not added on</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Chaos Monkey embedded in production. Each team is expected to make its service resilient — not pass that work to a separate SRE org.</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sp>
      <p:sp>
        <p:nvSpPr>
          <p:cNvPr id="17" name="Text 14"/>
          <p:cNvSpPr/>
          <p:nvPr/>
        </p:nvSpPr>
        <p:spPr>
          <a:xfrm>
            <a:off x="6428232" y="2423160"/>
            <a:ext cx="5077663"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of microservices, each owned by one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270M</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subscribers served — global scale</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&lt;1 hr</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median deploy time from commit to prod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sp>
      <p:sp>
        <p:nvSpPr>
          <p:cNvPr id="25" name="Text 22"/>
          <p:cNvSpPr/>
          <p:nvPr/>
        </p:nvSpPr>
        <p:spPr>
          <a:xfrm>
            <a:off x="6565392" y="4937760"/>
            <a:ext cx="4986223" cy="228600"/>
          </a:xfrm>
          <a:prstGeom prst="rect">
            <a:avLst/>
          </a:prstGeom>
          <a:noFill/>
          <a:ln/>
        </p:spPr>
        <p:txBody>
          <a:bodyPr wrap="square" lIns="0" tIns="0" rIns="0" bIns="0" rtlCol="0" anchor="ctr"/>
          <a:lstStyle/>
          <a:p>
            <a:pPr indent="0" marL="0">
              <a:buNone/>
            </a:pPr>
            <a:r>
              <a:rPr lang="en-US" sz="950" b="1" spc="200" kern="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Netflix is the blueprint for the “paved road + autonomy” pattern. Zephyr Control Plane plays the role of Spinnaker + Atlas combined — the central thing teams build on, while keeping squad-level ownership of the service.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CASE STUDY  ·  3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JPMorgan Chase  —  Platform-as-Product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sp>
      <p:sp>
        <p:nvSpPr>
          <p:cNvPr id="9" name="Text 6"/>
          <p:cNvSpPr/>
          <p:nvPr/>
        </p:nvSpPr>
        <p:spPr>
          <a:xfrm>
            <a:off x="777240" y="1371600"/>
            <a:ext cx="10515600" cy="365760"/>
          </a:xfrm>
          <a:prstGeom prst="rect">
            <a:avLst/>
          </a:prstGeom>
          <a:noFill/>
          <a:ln/>
        </p:spPr>
        <p:txBody>
          <a:bodyPr wrap="square" lIns="0" tIns="0" rIns="0" bIns="0" rtlCol="0" anchor="ctr"/>
          <a:lstStyle/>
          <a:p>
            <a:pPr indent="0" marL="0">
              <a:buNone/>
            </a:pPr>
            <a:r>
              <a:rPr lang="en-US" sz="2000" b="1" i="1" dirty="0">
                <a:solidFill>
                  <a:srgbClr val="FEDF01"/>
                </a:solidFill>
                <a:latin typeface="Georgia" pitchFamily="34" charset="0"/>
                <a:ea typeface="Georgia" pitchFamily="34" charset="-122"/>
                <a:cs typeface="Georgia" pitchFamily="34" charset="-120"/>
              </a:rPr>
              <a:t>“We run infrastructure as a product, not as projects.”</a:t>
            </a:r>
            <a:endParaRPr lang="en-US" sz="20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indent="0" marL="0">
              <a:buNone/>
            </a:pPr>
            <a:r>
              <a:rPr lang="en-US" sz="1100" i="1" dirty="0">
                <a:solidFill>
                  <a:srgbClr val="C9D6EE"/>
                </a:solidFill>
                <a:latin typeface="Calibri" pitchFamily="34" charset="0"/>
                <a:ea typeface="Calibri" pitchFamily="34" charset="-122"/>
                <a:cs typeface="Calibri" pitchFamily="34" charset="-120"/>
              </a:rPr>
              <a:t>— Darrin Alves, CIO of Infrastructure Platforms, JPMorgan Chase</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sp>
      <p:sp>
        <p:nvSpPr>
          <p:cNvPr id="13" name="Text 10"/>
          <p:cNvSpPr/>
          <p:nvPr/>
        </p:nvSpPr>
        <p:spPr>
          <a:xfrm>
            <a:off x="685800" y="2423160"/>
            <a:ext cx="5074920"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Infrastructure organized as platforms, not as ops silos</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Dedicated CIO of Infrastructure Platforms reporting line. Each platform (compute, network, storage, data) is a product with a PM, roadmap, internal customers.</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AI embedded across the infra estate</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“20–30 use cases where AI augments anomaly detection.” AI is a horizontal capability shipped inside every platform — not a separate AI team.</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Regulated environment, same model</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Fed-supervised, OCC-supervised, global G-SIB. Compliance built into the platforms as paved-road controls — same Assurance-as-Code pattern we propose.</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Persistent funding, not project budgets</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Platform teams funded continuously against OKRs. No annual project recompetition that breaks team continuity.</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sp>
      <p:sp>
        <p:nvSpPr>
          <p:cNvPr id="17" name="Text 14"/>
          <p:cNvSpPr/>
          <p:nvPr/>
        </p:nvSpPr>
        <p:spPr>
          <a:xfrm>
            <a:off x="6428232" y="2423160"/>
            <a:ext cx="5077663" cy="274320"/>
          </a:xfrm>
          <a:prstGeom prst="rect">
            <a:avLst/>
          </a:prstGeom>
          <a:noFill/>
          <a:ln/>
        </p:spPr>
        <p:txBody>
          <a:bodyPr wrap="square" lIns="0" tIns="0" rIns="0" bIns="0" rtlCol="0" anchor="ctr"/>
          <a:lstStyle/>
          <a:p>
            <a:pPr indent="0" marL="0">
              <a:buNone/>
            </a:pPr>
            <a:r>
              <a:rPr lang="en-US" sz="1100" b="1" spc="300" kern="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55,000+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technologists working in platform/product orgs</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Flat</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infrastructure cost despite +50% compute growth since 2019</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indent="0" marL="0">
              <a:buNone/>
            </a:pPr>
            <a:r>
              <a:rPr lang="en-US" sz="2400" b="1" dirty="0">
                <a:solidFill>
                  <a:srgbClr val="003DA5"/>
                </a:solidFill>
                <a:latin typeface="Georgia" pitchFamily="34" charset="0"/>
                <a:ea typeface="Georgia" pitchFamily="34" charset="-122"/>
                <a:cs typeface="Georgia" pitchFamily="34" charset="-120"/>
              </a:rPr>
              <a:t>~20%</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year-over-year improvement in feature delivery speed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sp>
      <p:sp>
        <p:nvSpPr>
          <p:cNvPr id="25" name="Text 22"/>
          <p:cNvSpPr/>
          <p:nvPr/>
        </p:nvSpPr>
        <p:spPr>
          <a:xfrm>
            <a:off x="6565392" y="4937760"/>
            <a:ext cx="4986223" cy="228600"/>
          </a:xfrm>
          <a:prstGeom prst="rect">
            <a:avLst/>
          </a:prstGeom>
          <a:noFill/>
          <a:ln/>
        </p:spPr>
        <p:txBody>
          <a:bodyPr wrap="square" lIns="0" tIns="0" rIns="0" bIns="0" rtlCol="0" anchor="ctr"/>
          <a:lstStyle/>
          <a:p>
            <a:pPr indent="0" marL="0">
              <a:buNone/>
            </a:pPr>
            <a:r>
              <a:rPr lang="en-US" sz="950" b="1" spc="200" kern="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Most directly comparable to RBC: regulated G-SIB, similar scale, same constraints (OSFI / Fed). They proved the model works in a heavily-supervised environment — without compromising regulatory posture.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QUANTIFIED BENEFITS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What the Data Says — Realistic Targets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Aggregated from DORA 2024, McKinsey ING transformation, Bain product-operating-model research, Forrester IDP studies, and named case studies (Capital One, JPMC, Netflix, USAA, Booking.com).</a:t>
            </a:r>
            <a:endParaRPr lang="en-US" sz="1100" dirty="0"/>
          </a:p>
        </p:txBody>
      </p:sp>
      <p:graphicFrame>
        <p:nvGraphicFramePr>
          <p:cNvPr id="8" name="Chart 0" descr=""/>
          <p:cNvGraphicFramePr/>
          <p:nvPr/>
        </p:nvGraphicFramePr>
        <p:xfrm>
          <a:off x="457200" y="1920240"/>
          <a:ext cx="6217920" cy="35661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6949440" y="1920240"/>
            <a:ext cx="4846320" cy="365760"/>
          </a:xfrm>
          <a:prstGeom prst="rect">
            <a:avLst/>
          </a:prstGeom>
          <a:noFill/>
          <a:ln/>
        </p:spPr>
        <p:txBody>
          <a:bodyPr wrap="square" lIns="0" tIns="0" rIns="0" bIns="0" rtlCol="0" anchor="ctr"/>
          <a:lstStyle/>
          <a:p>
            <a:pPr indent="0" marL="0">
              <a:buNone/>
            </a:pPr>
            <a:r>
              <a:rPr lang="en-US" sz="1400" b="1" dirty="0">
                <a:solidFill>
                  <a:srgbClr val="003DA5"/>
                </a:solidFill>
                <a:latin typeface="Georgia" pitchFamily="34" charset="0"/>
                <a:ea typeface="Georgia" pitchFamily="34" charset="-122"/>
                <a:cs typeface="Georgia" pitchFamily="34" charset="-120"/>
              </a:rPr>
              <a:t>Evidence from peer organizations</a:t>
            </a:r>
            <a:endParaRPr lang="en-US" sz="1400" dirty="0"/>
          </a:p>
        </p:txBody>
      </p:sp>
      <p:sp>
        <p:nvSpPr>
          <p:cNvPr id="10" name="Shape 6"/>
          <p:cNvSpPr/>
          <p:nvPr/>
        </p:nvSpPr>
        <p:spPr>
          <a:xfrm>
            <a:off x="6949440" y="2423160"/>
            <a:ext cx="4846320" cy="420624"/>
          </a:xfrm>
          <a:prstGeom prst="rect">
            <a:avLst/>
          </a:prstGeom>
          <a:solidFill>
            <a:srgbClr val="F4F6F9"/>
          </a:solidFill>
          <a:ln w="6350">
            <a:solidFill>
              <a:srgbClr val="E2E8F0"/>
            </a:solidFill>
            <a:prstDash val="solid"/>
          </a:ln>
        </p:spPr>
      </p:sp>
      <p:sp>
        <p:nvSpPr>
          <p:cNvPr id="11" name="Shape 7"/>
          <p:cNvSpPr/>
          <p:nvPr/>
        </p:nvSpPr>
        <p:spPr>
          <a:xfrm>
            <a:off x="6949440" y="2423160"/>
            <a:ext cx="54864" cy="420624"/>
          </a:xfrm>
          <a:prstGeom prst="rect">
            <a:avLst/>
          </a:prstGeom>
          <a:solidFill>
            <a:srgbClr val="FEDF01"/>
          </a:solidFill>
          <a:ln w="12700">
            <a:solidFill>
              <a:srgbClr val="FEDF01"/>
            </a:solidFill>
            <a:prstDash val="solid"/>
          </a:ln>
        </p:spPr>
      </p:sp>
      <p:sp>
        <p:nvSpPr>
          <p:cNvPr id="12" name="Text 8"/>
          <p:cNvSpPr/>
          <p:nvPr/>
        </p:nvSpPr>
        <p:spPr>
          <a:xfrm>
            <a:off x="7114032" y="2468880"/>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ING (McKinsey)</a:t>
            </a:r>
            <a:endParaRPr lang="en-US" sz="950" dirty="0"/>
          </a:p>
        </p:txBody>
      </p:sp>
      <p:sp>
        <p:nvSpPr>
          <p:cNvPr id="13" name="Text 9"/>
          <p:cNvSpPr/>
          <p:nvPr/>
        </p:nvSpPr>
        <p:spPr>
          <a:xfrm>
            <a:off x="8641080" y="2468880"/>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Release cadence 5–6×/yr  →  every 2–3 weeks</a:t>
            </a:r>
            <a:endParaRPr lang="en-US" sz="1050" dirty="0"/>
          </a:p>
        </p:txBody>
      </p:sp>
      <p:sp>
        <p:nvSpPr>
          <p:cNvPr id="14" name="Shape 10"/>
          <p:cNvSpPr/>
          <p:nvPr/>
        </p:nvSpPr>
        <p:spPr>
          <a:xfrm>
            <a:off x="6949440" y="2889504"/>
            <a:ext cx="4846320" cy="420624"/>
          </a:xfrm>
          <a:prstGeom prst="rect">
            <a:avLst/>
          </a:prstGeom>
          <a:solidFill>
            <a:srgbClr val="F4F6F9"/>
          </a:solidFill>
          <a:ln w="6350">
            <a:solidFill>
              <a:srgbClr val="E2E8F0"/>
            </a:solidFill>
            <a:prstDash val="solid"/>
          </a:ln>
        </p:spPr>
      </p:sp>
      <p:sp>
        <p:nvSpPr>
          <p:cNvPr id="15" name="Shape 11"/>
          <p:cNvSpPr/>
          <p:nvPr/>
        </p:nvSpPr>
        <p:spPr>
          <a:xfrm>
            <a:off x="6949440" y="2889504"/>
            <a:ext cx="54864" cy="420624"/>
          </a:xfrm>
          <a:prstGeom prst="rect">
            <a:avLst/>
          </a:prstGeom>
          <a:solidFill>
            <a:srgbClr val="FEDF01"/>
          </a:solidFill>
          <a:ln w="12700">
            <a:solidFill>
              <a:srgbClr val="FEDF01"/>
            </a:solidFill>
            <a:prstDash val="solid"/>
          </a:ln>
        </p:spPr>
      </p:sp>
      <p:sp>
        <p:nvSpPr>
          <p:cNvPr id="16" name="Text 12"/>
          <p:cNvSpPr/>
          <p:nvPr/>
        </p:nvSpPr>
        <p:spPr>
          <a:xfrm>
            <a:off x="7114032" y="2935224"/>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Bain (product OM)</a:t>
            </a:r>
            <a:endParaRPr lang="en-US" sz="950" dirty="0"/>
          </a:p>
        </p:txBody>
      </p:sp>
      <p:sp>
        <p:nvSpPr>
          <p:cNvPr id="17" name="Text 13"/>
          <p:cNvSpPr/>
          <p:nvPr/>
        </p:nvSpPr>
        <p:spPr>
          <a:xfrm>
            <a:off x="8641080" y="2935224"/>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Up to 60% dev-time reduction  ·  36% cost reduction</a:t>
            </a:r>
            <a:endParaRPr lang="en-US" sz="1050" dirty="0"/>
          </a:p>
        </p:txBody>
      </p:sp>
      <p:sp>
        <p:nvSpPr>
          <p:cNvPr id="18" name="Shape 14"/>
          <p:cNvSpPr/>
          <p:nvPr/>
        </p:nvSpPr>
        <p:spPr>
          <a:xfrm>
            <a:off x="6949440" y="3355848"/>
            <a:ext cx="4846320" cy="420624"/>
          </a:xfrm>
          <a:prstGeom prst="rect">
            <a:avLst/>
          </a:prstGeom>
          <a:solidFill>
            <a:srgbClr val="F4F6F9"/>
          </a:solidFill>
          <a:ln w="6350">
            <a:solidFill>
              <a:srgbClr val="E2E8F0"/>
            </a:solidFill>
            <a:prstDash val="solid"/>
          </a:ln>
        </p:spPr>
      </p:sp>
      <p:sp>
        <p:nvSpPr>
          <p:cNvPr id="19" name="Shape 15"/>
          <p:cNvSpPr/>
          <p:nvPr/>
        </p:nvSpPr>
        <p:spPr>
          <a:xfrm>
            <a:off x="6949440" y="3355848"/>
            <a:ext cx="54864" cy="420624"/>
          </a:xfrm>
          <a:prstGeom prst="rect">
            <a:avLst/>
          </a:prstGeom>
          <a:solidFill>
            <a:srgbClr val="FEDF01"/>
          </a:solidFill>
          <a:ln w="12700">
            <a:solidFill>
              <a:srgbClr val="FEDF01"/>
            </a:solidFill>
            <a:prstDash val="solid"/>
          </a:ln>
        </p:spPr>
      </p:sp>
      <p:sp>
        <p:nvSpPr>
          <p:cNvPr id="20" name="Text 16"/>
          <p:cNvSpPr/>
          <p:nvPr/>
        </p:nvSpPr>
        <p:spPr>
          <a:xfrm>
            <a:off x="7114032" y="3401568"/>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Booking.com</a:t>
            </a:r>
            <a:endParaRPr lang="en-US" sz="950" dirty="0"/>
          </a:p>
        </p:txBody>
      </p:sp>
      <p:sp>
        <p:nvSpPr>
          <p:cNvPr id="21" name="Text 17"/>
          <p:cNvSpPr/>
          <p:nvPr/>
        </p:nvSpPr>
        <p:spPr>
          <a:xfrm>
            <a:off x="8641080" y="3401568"/>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+16% throughput across 3,500 engineers</a:t>
            </a:r>
            <a:endParaRPr lang="en-US" sz="1050" dirty="0"/>
          </a:p>
        </p:txBody>
      </p:sp>
      <p:sp>
        <p:nvSpPr>
          <p:cNvPr id="22" name="Shape 18"/>
          <p:cNvSpPr/>
          <p:nvPr/>
        </p:nvSpPr>
        <p:spPr>
          <a:xfrm>
            <a:off x="6949440" y="3822192"/>
            <a:ext cx="4846320" cy="420624"/>
          </a:xfrm>
          <a:prstGeom prst="rect">
            <a:avLst/>
          </a:prstGeom>
          <a:solidFill>
            <a:srgbClr val="F4F6F9"/>
          </a:solidFill>
          <a:ln w="6350">
            <a:solidFill>
              <a:srgbClr val="E2E8F0"/>
            </a:solidFill>
            <a:prstDash val="solid"/>
          </a:ln>
        </p:spPr>
      </p:sp>
      <p:sp>
        <p:nvSpPr>
          <p:cNvPr id="23" name="Shape 19"/>
          <p:cNvSpPr/>
          <p:nvPr/>
        </p:nvSpPr>
        <p:spPr>
          <a:xfrm>
            <a:off x="6949440" y="3822192"/>
            <a:ext cx="54864" cy="420624"/>
          </a:xfrm>
          <a:prstGeom prst="rect">
            <a:avLst/>
          </a:prstGeom>
          <a:solidFill>
            <a:srgbClr val="FEDF01"/>
          </a:solidFill>
          <a:ln w="12700">
            <a:solidFill>
              <a:srgbClr val="FEDF01"/>
            </a:solidFill>
            <a:prstDash val="solid"/>
          </a:ln>
        </p:spPr>
      </p:sp>
      <p:sp>
        <p:nvSpPr>
          <p:cNvPr id="24" name="Text 20"/>
          <p:cNvSpPr/>
          <p:nvPr/>
        </p:nvSpPr>
        <p:spPr>
          <a:xfrm>
            <a:off x="7114032" y="3867912"/>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USAA</a:t>
            </a:r>
            <a:endParaRPr lang="en-US" sz="950" dirty="0"/>
          </a:p>
        </p:txBody>
      </p:sp>
      <p:sp>
        <p:nvSpPr>
          <p:cNvPr id="25" name="Text 21"/>
          <p:cNvSpPr/>
          <p:nvPr/>
        </p:nvSpPr>
        <p:spPr>
          <a:xfrm>
            <a:off x="8641080" y="3867912"/>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25% faster delivery, higher predictability &amp; quality</a:t>
            </a:r>
            <a:endParaRPr lang="en-US" sz="1050" dirty="0"/>
          </a:p>
        </p:txBody>
      </p:sp>
      <p:sp>
        <p:nvSpPr>
          <p:cNvPr id="26" name="Shape 22"/>
          <p:cNvSpPr/>
          <p:nvPr/>
        </p:nvSpPr>
        <p:spPr>
          <a:xfrm>
            <a:off x="6949440" y="4288536"/>
            <a:ext cx="4846320" cy="420624"/>
          </a:xfrm>
          <a:prstGeom prst="rect">
            <a:avLst/>
          </a:prstGeom>
          <a:solidFill>
            <a:srgbClr val="F4F6F9"/>
          </a:solidFill>
          <a:ln w="6350">
            <a:solidFill>
              <a:srgbClr val="E2E8F0"/>
            </a:solidFill>
            <a:prstDash val="solid"/>
          </a:ln>
        </p:spPr>
      </p:sp>
      <p:sp>
        <p:nvSpPr>
          <p:cNvPr id="27" name="Shape 23"/>
          <p:cNvSpPr/>
          <p:nvPr/>
        </p:nvSpPr>
        <p:spPr>
          <a:xfrm>
            <a:off x="6949440" y="4288536"/>
            <a:ext cx="54864" cy="420624"/>
          </a:xfrm>
          <a:prstGeom prst="rect">
            <a:avLst/>
          </a:prstGeom>
          <a:solidFill>
            <a:srgbClr val="FEDF01"/>
          </a:solidFill>
          <a:ln w="12700">
            <a:solidFill>
              <a:srgbClr val="FEDF01"/>
            </a:solidFill>
            <a:prstDash val="solid"/>
          </a:ln>
        </p:spPr>
      </p:sp>
      <p:sp>
        <p:nvSpPr>
          <p:cNvPr id="28" name="Text 24"/>
          <p:cNvSpPr/>
          <p:nvPr/>
        </p:nvSpPr>
        <p:spPr>
          <a:xfrm>
            <a:off x="7114032" y="4334256"/>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JPMC Infra Plat.</a:t>
            </a:r>
            <a:endParaRPr lang="en-US" sz="950" dirty="0"/>
          </a:p>
        </p:txBody>
      </p:sp>
      <p:sp>
        <p:nvSpPr>
          <p:cNvPr id="29" name="Text 25"/>
          <p:cNvSpPr/>
          <p:nvPr/>
        </p:nvSpPr>
        <p:spPr>
          <a:xfrm>
            <a:off x="8641080" y="4334256"/>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Flat infra cost despite +50% compute/storage growth</a:t>
            </a:r>
            <a:endParaRPr lang="en-US" sz="1050" dirty="0"/>
          </a:p>
        </p:txBody>
      </p:sp>
      <p:sp>
        <p:nvSpPr>
          <p:cNvPr id="30" name="Shape 26"/>
          <p:cNvSpPr/>
          <p:nvPr/>
        </p:nvSpPr>
        <p:spPr>
          <a:xfrm>
            <a:off x="6949440" y="4754880"/>
            <a:ext cx="4846320" cy="420624"/>
          </a:xfrm>
          <a:prstGeom prst="rect">
            <a:avLst/>
          </a:prstGeom>
          <a:solidFill>
            <a:srgbClr val="F4F6F9"/>
          </a:solidFill>
          <a:ln w="6350">
            <a:solidFill>
              <a:srgbClr val="E2E8F0"/>
            </a:solidFill>
            <a:prstDash val="solid"/>
          </a:ln>
        </p:spPr>
      </p:sp>
      <p:sp>
        <p:nvSpPr>
          <p:cNvPr id="31" name="Shape 27"/>
          <p:cNvSpPr/>
          <p:nvPr/>
        </p:nvSpPr>
        <p:spPr>
          <a:xfrm>
            <a:off x="6949440" y="4754880"/>
            <a:ext cx="54864" cy="420624"/>
          </a:xfrm>
          <a:prstGeom prst="rect">
            <a:avLst/>
          </a:prstGeom>
          <a:solidFill>
            <a:srgbClr val="FEDF01"/>
          </a:solidFill>
          <a:ln w="12700">
            <a:solidFill>
              <a:srgbClr val="FEDF01"/>
            </a:solidFill>
            <a:prstDash val="solid"/>
          </a:ln>
        </p:spPr>
      </p:sp>
      <p:sp>
        <p:nvSpPr>
          <p:cNvPr id="32" name="Text 28"/>
          <p:cNvSpPr/>
          <p:nvPr/>
        </p:nvSpPr>
        <p:spPr>
          <a:xfrm>
            <a:off x="7114032" y="4800600"/>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Forrester IDP</a:t>
            </a:r>
            <a:endParaRPr lang="en-US" sz="950" dirty="0"/>
          </a:p>
        </p:txBody>
      </p:sp>
      <p:sp>
        <p:nvSpPr>
          <p:cNvPr id="33" name="Text 29"/>
          <p:cNvSpPr/>
          <p:nvPr/>
        </p:nvSpPr>
        <p:spPr>
          <a:xfrm>
            <a:off x="8641080" y="4800600"/>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77% report measurable time-to-market gains</a:t>
            </a:r>
            <a:endParaRPr lang="en-US" sz="1050" dirty="0"/>
          </a:p>
        </p:txBody>
      </p:sp>
      <p:sp>
        <p:nvSpPr>
          <p:cNvPr id="34" name="Shape 30"/>
          <p:cNvSpPr/>
          <p:nvPr/>
        </p:nvSpPr>
        <p:spPr>
          <a:xfrm>
            <a:off x="6949440" y="5221224"/>
            <a:ext cx="4846320" cy="420624"/>
          </a:xfrm>
          <a:prstGeom prst="rect">
            <a:avLst/>
          </a:prstGeom>
          <a:solidFill>
            <a:srgbClr val="F4F6F9"/>
          </a:solidFill>
          <a:ln w="6350">
            <a:solidFill>
              <a:srgbClr val="E2E8F0"/>
            </a:solidFill>
            <a:prstDash val="solid"/>
          </a:ln>
        </p:spPr>
      </p:sp>
      <p:sp>
        <p:nvSpPr>
          <p:cNvPr id="35" name="Shape 31"/>
          <p:cNvSpPr/>
          <p:nvPr/>
        </p:nvSpPr>
        <p:spPr>
          <a:xfrm>
            <a:off x="6949440" y="5221224"/>
            <a:ext cx="54864" cy="420624"/>
          </a:xfrm>
          <a:prstGeom prst="rect">
            <a:avLst/>
          </a:prstGeom>
          <a:solidFill>
            <a:srgbClr val="FEDF01"/>
          </a:solidFill>
          <a:ln w="12700">
            <a:solidFill>
              <a:srgbClr val="FEDF01"/>
            </a:solidFill>
            <a:prstDash val="solid"/>
          </a:ln>
        </p:spPr>
      </p:sp>
      <p:sp>
        <p:nvSpPr>
          <p:cNvPr id="36" name="Text 32"/>
          <p:cNvSpPr/>
          <p:nvPr/>
        </p:nvSpPr>
        <p:spPr>
          <a:xfrm>
            <a:off x="7114032" y="5266944"/>
            <a:ext cx="1554480" cy="329184"/>
          </a:xfrm>
          <a:prstGeom prst="rect">
            <a:avLst/>
          </a:prstGeom>
          <a:noFill/>
          <a:ln/>
        </p:spPr>
        <p:txBody>
          <a:bodyPr wrap="square" lIns="0" tIns="0" rIns="0" bIns="0" rtlCol="0" anchor="ctr"/>
          <a:lstStyle/>
          <a:p>
            <a:pPr indent="0" marL="0">
              <a:buNone/>
            </a:pPr>
            <a:r>
              <a:rPr lang="en-US" sz="950" b="1" dirty="0">
                <a:solidFill>
                  <a:srgbClr val="003DA5"/>
                </a:solidFill>
                <a:latin typeface="Calibri" pitchFamily="34" charset="0"/>
                <a:ea typeface="Calibri" pitchFamily="34" charset="-122"/>
                <a:cs typeface="Calibri" pitchFamily="34" charset="-120"/>
              </a:rPr>
              <a:t>DORA 2024</a:t>
            </a:r>
            <a:endParaRPr lang="en-US" sz="950" dirty="0"/>
          </a:p>
        </p:txBody>
      </p:sp>
      <p:sp>
        <p:nvSpPr>
          <p:cNvPr id="37" name="Text 33"/>
          <p:cNvSpPr/>
          <p:nvPr/>
        </p:nvSpPr>
        <p:spPr>
          <a:xfrm>
            <a:off x="8641080" y="5266944"/>
            <a:ext cx="3063240" cy="329184"/>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IDPs lift productivity, team &amp; org performance</a:t>
            </a:r>
            <a:endParaRPr lang="en-US" sz="1050" dirty="0"/>
          </a:p>
        </p:txBody>
      </p:sp>
      <p:sp>
        <p:nvSpPr>
          <p:cNvPr id="38" name="Text 34"/>
          <p:cNvSpPr/>
          <p:nvPr/>
        </p:nvSpPr>
        <p:spPr>
          <a:xfrm>
            <a:off x="457200" y="6217920"/>
            <a:ext cx="11247120" cy="274320"/>
          </a:xfrm>
          <a:prstGeom prst="rect">
            <a:avLst/>
          </a:prstGeom>
          <a:noFill/>
          <a:ln/>
        </p:spPr>
        <p:txBody>
          <a:bodyPr wrap="square" lIns="0" tIns="0" rIns="0" bIns="0" rtlCol="0" anchor="ctr"/>
          <a:lstStyle/>
          <a:p>
            <a:pPr algn="ctr" indent="0" marL="0">
              <a:buNone/>
            </a:pPr>
            <a:r>
              <a:rPr lang="en-US" sz="1050" i="1" dirty="0">
                <a:solidFill>
                  <a:srgbClr val="F59E0B"/>
                </a:solidFill>
                <a:latin typeface="Calibri" pitchFamily="34" charset="0"/>
                <a:ea typeface="Calibri" pitchFamily="34" charset="-122"/>
                <a:cs typeface="Calibri" pitchFamily="34" charset="-120"/>
              </a:rPr>
              <a:t>⚠  Expect a J-curve dip in months 4–9 before recovery. Communicate this to executive sponsors before kickoff.</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PROGRAM ACCELERATION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Powering Programs Already in Flight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371600"/>
            <a:ext cx="5532120" cy="23317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8" name="Shape 5"/>
          <p:cNvSpPr/>
          <p:nvPr/>
        </p:nvSpPr>
        <p:spPr>
          <a:xfrm>
            <a:off x="457200" y="1371600"/>
            <a:ext cx="109728" cy="2331720"/>
          </a:xfrm>
          <a:prstGeom prst="rect">
            <a:avLst/>
          </a:prstGeom>
          <a:solidFill>
            <a:srgbClr val="003DA5"/>
          </a:solidFill>
          <a:ln w="12700">
            <a:solidFill>
              <a:srgbClr val="003DA5"/>
            </a:solidFill>
            <a:prstDash val="solid"/>
          </a:ln>
        </p:spPr>
      </p:sp>
      <p:sp>
        <p:nvSpPr>
          <p:cNvPr id="9" name="Shape 6"/>
          <p:cNvSpPr/>
          <p:nvPr/>
        </p:nvSpPr>
        <p:spPr>
          <a:xfrm>
            <a:off x="731520" y="1645920"/>
            <a:ext cx="640080" cy="640080"/>
          </a:xfrm>
          <a:prstGeom prst="ellipse">
            <a:avLst/>
          </a:prstGeom>
          <a:solidFill>
            <a:srgbClr val="003DA5"/>
          </a:solidFill>
          <a:ln w="12700">
            <a:solidFill>
              <a:srgbClr val="003DA5"/>
            </a:solidFill>
            <a:prstDash val="solid"/>
          </a:ln>
        </p:spPr>
      </p:sp>
      <p:pic>
        <p:nvPicPr>
          <p:cNvPr id="10" name="Image 1" descr="preencoded.png">    </p:cNvPr>
          <p:cNvPicPr>
            <a:picLocks noChangeAspect="1"/>
          </p:cNvPicPr>
          <p:nvPr/>
        </p:nvPicPr>
        <p:blipFill>
          <a:blip r:embed="rId2"/>
          <a:stretch>
            <a:fillRect/>
          </a:stretch>
        </p:blipFill>
        <p:spPr>
          <a:xfrm>
            <a:off x="841248" y="1755648"/>
            <a:ext cx="420624" cy="420624"/>
          </a:xfrm>
          <a:prstGeom prst="rect">
            <a:avLst/>
          </a:prstGeom>
        </p:spPr>
      </p:pic>
      <p:sp>
        <p:nvSpPr>
          <p:cNvPr id="11" name="Text 7"/>
          <p:cNvSpPr/>
          <p:nvPr/>
        </p:nvSpPr>
        <p:spPr>
          <a:xfrm>
            <a:off x="1508760" y="1645920"/>
            <a:ext cx="4343400" cy="365760"/>
          </a:xfrm>
          <a:prstGeom prst="rect">
            <a:avLst/>
          </a:prstGeom>
          <a:noFill/>
          <a:ln/>
        </p:spPr>
        <p:txBody>
          <a:bodyPr wrap="square" lIns="0" tIns="0" rIns="0" bIns="0" rtlCol="0" anchor="ctr"/>
          <a:lstStyle/>
          <a:p>
            <a:pPr indent="0" marL="0">
              <a:buNone/>
            </a:pPr>
            <a:r>
              <a:rPr lang="en-US" sz="1600" b="1" dirty="0">
                <a:solidFill>
                  <a:srgbClr val="003DA5"/>
                </a:solidFill>
                <a:latin typeface="Georgia" pitchFamily="34" charset="0"/>
                <a:ea typeface="Georgia" pitchFamily="34" charset="-122"/>
                <a:cs typeface="Georgia" pitchFamily="34" charset="-120"/>
              </a:rPr>
              <a:t>Zephyr On-Prem IaC</a:t>
            </a:r>
            <a:endParaRPr lang="en-US" sz="1600" dirty="0"/>
          </a:p>
        </p:txBody>
      </p:sp>
      <p:sp>
        <p:nvSpPr>
          <p:cNvPr id="12" name="Text 8"/>
          <p:cNvSpPr/>
          <p:nvPr/>
        </p:nvSpPr>
        <p:spPr>
          <a:xfrm>
            <a:off x="1508760" y="2011680"/>
            <a:ext cx="4343400" cy="27432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34 platforms today span all four verticals</a:t>
            </a:r>
            <a:endParaRPr lang="en-US" sz="1050" dirty="0"/>
          </a:p>
        </p:txBody>
      </p:sp>
      <p:sp>
        <p:nvSpPr>
          <p:cNvPr id="13" name="Text 9"/>
          <p:cNvSpPr/>
          <p:nvPr/>
        </p:nvSpPr>
        <p:spPr>
          <a:xfrm>
            <a:off x="731520" y="2377440"/>
            <a:ext cx="507492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Group into 6–10 stream-aligned squads inside the Zephyr &amp; Lifecycle Tribe. A central Zephyr IaC Platform team owns module registry, contribution model, and golden paths. Embedded MLEs ship AI agents for module generation and drift remediation.</a:t>
            </a:r>
            <a:endParaRPr lang="en-US" sz="1100" dirty="0"/>
          </a:p>
        </p:txBody>
      </p:sp>
      <p:sp>
        <p:nvSpPr>
          <p:cNvPr id="14" name="Shape 10"/>
          <p:cNvSpPr/>
          <p:nvPr/>
        </p:nvSpPr>
        <p:spPr>
          <a:xfrm>
            <a:off x="640080" y="3337560"/>
            <a:ext cx="5166360" cy="274320"/>
          </a:xfrm>
          <a:prstGeom prst="rect">
            <a:avLst/>
          </a:prstGeom>
          <a:solidFill>
            <a:srgbClr val="FFF1A8"/>
          </a:solidFill>
          <a:ln w="12700">
            <a:solidFill>
              <a:srgbClr val="FEDF01"/>
            </a:solidFill>
            <a:prstDash val="solid"/>
          </a:ln>
        </p:spPr>
      </p:sp>
      <p:pic>
        <p:nvPicPr>
          <p:cNvPr id="15" name="Image 2" descr="preencoded.png">    </p:cNvPr>
          <p:cNvPicPr>
            <a:picLocks noChangeAspect="1"/>
          </p:cNvPicPr>
          <p:nvPr/>
        </p:nvPicPr>
        <p:blipFill>
          <a:blip r:embed="rId3"/>
          <a:stretch>
            <a:fillRect/>
          </a:stretch>
        </p:blipFill>
        <p:spPr>
          <a:xfrm>
            <a:off x="731520" y="3374136"/>
            <a:ext cx="201168" cy="201168"/>
          </a:xfrm>
          <a:prstGeom prst="rect">
            <a:avLst/>
          </a:prstGeom>
        </p:spPr>
      </p:pic>
      <p:sp>
        <p:nvSpPr>
          <p:cNvPr id="16" name="Text 11"/>
          <p:cNvSpPr/>
          <p:nvPr/>
        </p:nvSpPr>
        <p:spPr>
          <a:xfrm>
            <a:off x="1005840" y="3337560"/>
            <a:ext cx="4800600" cy="274320"/>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Faster module velocity · single roadmap · fewer integration bottlenecks</a:t>
            </a:r>
            <a:endParaRPr lang="en-US" sz="1050" dirty="0"/>
          </a:p>
        </p:txBody>
      </p:sp>
      <p:sp>
        <p:nvSpPr>
          <p:cNvPr id="17" name="Shape 12"/>
          <p:cNvSpPr/>
          <p:nvPr/>
        </p:nvSpPr>
        <p:spPr>
          <a:xfrm>
            <a:off x="6153912" y="1371600"/>
            <a:ext cx="5532120" cy="23317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8" name="Shape 13"/>
          <p:cNvSpPr/>
          <p:nvPr/>
        </p:nvSpPr>
        <p:spPr>
          <a:xfrm>
            <a:off x="6153912" y="1371600"/>
            <a:ext cx="109728" cy="2331720"/>
          </a:xfrm>
          <a:prstGeom prst="rect">
            <a:avLst/>
          </a:prstGeom>
          <a:solidFill>
            <a:srgbClr val="003DA5"/>
          </a:solidFill>
          <a:ln w="12700">
            <a:solidFill>
              <a:srgbClr val="003DA5"/>
            </a:solidFill>
            <a:prstDash val="solid"/>
          </a:ln>
        </p:spPr>
      </p:sp>
      <p:sp>
        <p:nvSpPr>
          <p:cNvPr id="19" name="Shape 14"/>
          <p:cNvSpPr/>
          <p:nvPr/>
        </p:nvSpPr>
        <p:spPr>
          <a:xfrm>
            <a:off x="6428232" y="1645920"/>
            <a:ext cx="640080" cy="640080"/>
          </a:xfrm>
          <a:prstGeom prst="ellipse">
            <a:avLst/>
          </a:prstGeom>
          <a:solidFill>
            <a:srgbClr val="003DA5"/>
          </a:solidFill>
          <a:ln w="12700">
            <a:solidFill>
              <a:srgbClr val="003DA5"/>
            </a:solidFill>
            <a:prstDash val="solid"/>
          </a:ln>
        </p:spPr>
      </p:sp>
      <p:pic>
        <p:nvPicPr>
          <p:cNvPr id="20" name="Image 3" descr="preencoded.png">    </p:cNvPr>
          <p:cNvPicPr>
            <a:picLocks noChangeAspect="1"/>
          </p:cNvPicPr>
          <p:nvPr/>
        </p:nvPicPr>
        <p:blipFill>
          <a:blip r:embed="rId4"/>
          <a:stretch>
            <a:fillRect/>
          </a:stretch>
        </p:blipFill>
        <p:spPr>
          <a:xfrm>
            <a:off x="6537960" y="1755648"/>
            <a:ext cx="420624" cy="420624"/>
          </a:xfrm>
          <a:prstGeom prst="rect">
            <a:avLst/>
          </a:prstGeom>
        </p:spPr>
      </p:pic>
      <p:sp>
        <p:nvSpPr>
          <p:cNvPr id="21" name="Text 15"/>
          <p:cNvSpPr/>
          <p:nvPr/>
        </p:nvSpPr>
        <p:spPr>
          <a:xfrm>
            <a:off x="7205472" y="1645920"/>
            <a:ext cx="4343400" cy="365760"/>
          </a:xfrm>
          <a:prstGeom prst="rect">
            <a:avLst/>
          </a:prstGeom>
          <a:noFill/>
          <a:ln/>
        </p:spPr>
        <p:txBody>
          <a:bodyPr wrap="square" lIns="0" tIns="0" rIns="0" bIns="0" rtlCol="0" anchor="ctr"/>
          <a:lstStyle/>
          <a:p>
            <a:pPr indent="0" marL="0">
              <a:buNone/>
            </a:pPr>
            <a:r>
              <a:rPr lang="en-US" sz="1600" b="1" dirty="0">
                <a:solidFill>
                  <a:srgbClr val="003DA5"/>
                </a:solidFill>
                <a:latin typeface="Georgia" pitchFamily="34" charset="0"/>
                <a:ea typeface="Georgia" pitchFamily="34" charset="-122"/>
                <a:cs typeface="Georgia" pitchFamily="34" charset="-120"/>
              </a:rPr>
              <a:t>Private Cloud Lifecycle</a:t>
            </a:r>
            <a:endParaRPr lang="en-US" sz="1600" dirty="0"/>
          </a:p>
        </p:txBody>
      </p:sp>
      <p:sp>
        <p:nvSpPr>
          <p:cNvPr id="22" name="Text 16"/>
          <p:cNvSpPr/>
          <p:nvPr/>
        </p:nvSpPr>
        <p:spPr>
          <a:xfrm>
            <a:off x="7205472" y="2011680"/>
            <a:ext cx="4343400" cy="27432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Canonical "you build it, you run it" candidate</a:t>
            </a:r>
            <a:endParaRPr lang="en-US" sz="1050" dirty="0"/>
          </a:p>
        </p:txBody>
      </p:sp>
      <p:sp>
        <p:nvSpPr>
          <p:cNvPr id="23" name="Text 17"/>
          <p:cNvSpPr/>
          <p:nvPr/>
        </p:nvSpPr>
        <p:spPr>
          <a:xfrm>
            <a:off x="6428232" y="2377440"/>
            <a:ext cx="507492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Sits as a Tier-2 capability platform consumed by Foundation platforms. Embedded SRE pod, embedded FinOps engineer, AIOps integrated for predictive lifecycle (capacity, EOL, patch).</a:t>
            </a:r>
            <a:endParaRPr lang="en-US" sz="1100" dirty="0"/>
          </a:p>
        </p:txBody>
      </p:sp>
      <p:sp>
        <p:nvSpPr>
          <p:cNvPr id="24" name="Shape 18"/>
          <p:cNvSpPr/>
          <p:nvPr/>
        </p:nvSpPr>
        <p:spPr>
          <a:xfrm>
            <a:off x="6336792" y="3337560"/>
            <a:ext cx="5166360" cy="274320"/>
          </a:xfrm>
          <a:prstGeom prst="rect">
            <a:avLst/>
          </a:prstGeom>
          <a:solidFill>
            <a:srgbClr val="FFF1A8"/>
          </a:solidFill>
          <a:ln w="12700">
            <a:solidFill>
              <a:srgbClr val="FEDF01"/>
            </a:solidFill>
            <a:prstDash val="solid"/>
          </a:ln>
        </p:spPr>
      </p:sp>
      <p:pic>
        <p:nvPicPr>
          <p:cNvPr id="25" name="Image 4" descr="preencoded.png">    </p:cNvPr>
          <p:cNvPicPr>
            <a:picLocks noChangeAspect="1"/>
          </p:cNvPicPr>
          <p:nvPr/>
        </p:nvPicPr>
        <p:blipFill>
          <a:blip r:embed="rId5"/>
          <a:stretch>
            <a:fillRect/>
          </a:stretch>
        </p:blipFill>
        <p:spPr>
          <a:xfrm>
            <a:off x="6428232" y="3374136"/>
            <a:ext cx="201168" cy="201168"/>
          </a:xfrm>
          <a:prstGeom prst="rect">
            <a:avLst/>
          </a:prstGeom>
        </p:spPr>
      </p:pic>
      <p:sp>
        <p:nvSpPr>
          <p:cNvPr id="26" name="Text 19"/>
          <p:cNvSpPr/>
          <p:nvPr/>
        </p:nvSpPr>
        <p:spPr>
          <a:xfrm>
            <a:off x="6702552" y="3337560"/>
            <a:ext cx="4800600" cy="274320"/>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Predictive lifecycle · reduced ops overhead · clear consumer SLOs</a:t>
            </a:r>
            <a:endParaRPr lang="en-US" sz="1050" dirty="0"/>
          </a:p>
        </p:txBody>
      </p:sp>
      <p:sp>
        <p:nvSpPr>
          <p:cNvPr id="27" name="Shape 20"/>
          <p:cNvSpPr/>
          <p:nvPr/>
        </p:nvSpPr>
        <p:spPr>
          <a:xfrm>
            <a:off x="457200" y="3867912"/>
            <a:ext cx="5532120" cy="23317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8" name="Shape 21"/>
          <p:cNvSpPr/>
          <p:nvPr/>
        </p:nvSpPr>
        <p:spPr>
          <a:xfrm>
            <a:off x="457200" y="3867912"/>
            <a:ext cx="109728" cy="2331720"/>
          </a:xfrm>
          <a:prstGeom prst="rect">
            <a:avLst/>
          </a:prstGeom>
          <a:solidFill>
            <a:srgbClr val="003DA5"/>
          </a:solidFill>
          <a:ln w="12700">
            <a:solidFill>
              <a:srgbClr val="003DA5"/>
            </a:solidFill>
            <a:prstDash val="solid"/>
          </a:ln>
        </p:spPr>
      </p:sp>
      <p:sp>
        <p:nvSpPr>
          <p:cNvPr id="29" name="Shape 22"/>
          <p:cNvSpPr/>
          <p:nvPr/>
        </p:nvSpPr>
        <p:spPr>
          <a:xfrm>
            <a:off x="731520" y="4142232"/>
            <a:ext cx="640080" cy="640080"/>
          </a:xfrm>
          <a:prstGeom prst="ellipse">
            <a:avLst/>
          </a:prstGeom>
          <a:solidFill>
            <a:srgbClr val="003DA5"/>
          </a:solidFill>
          <a:ln w="12700">
            <a:solidFill>
              <a:srgbClr val="003DA5"/>
            </a:solidFill>
            <a:prstDash val="solid"/>
          </a:ln>
        </p:spPr>
      </p:sp>
      <p:pic>
        <p:nvPicPr>
          <p:cNvPr id="30" name="Image 5" descr="preencoded.png">    </p:cNvPr>
          <p:cNvPicPr>
            <a:picLocks noChangeAspect="1"/>
          </p:cNvPicPr>
          <p:nvPr/>
        </p:nvPicPr>
        <p:blipFill>
          <a:blip r:embed="rId6"/>
          <a:stretch>
            <a:fillRect/>
          </a:stretch>
        </p:blipFill>
        <p:spPr>
          <a:xfrm>
            <a:off x="841248" y="4251960"/>
            <a:ext cx="420624" cy="420624"/>
          </a:xfrm>
          <a:prstGeom prst="rect">
            <a:avLst/>
          </a:prstGeom>
        </p:spPr>
      </p:pic>
      <p:sp>
        <p:nvSpPr>
          <p:cNvPr id="31" name="Text 23"/>
          <p:cNvSpPr/>
          <p:nvPr/>
        </p:nvSpPr>
        <p:spPr>
          <a:xfrm>
            <a:off x="1508760" y="4142232"/>
            <a:ext cx="4343400" cy="365760"/>
          </a:xfrm>
          <a:prstGeom prst="rect">
            <a:avLst/>
          </a:prstGeom>
          <a:noFill/>
          <a:ln/>
        </p:spPr>
        <p:txBody>
          <a:bodyPr wrap="square" lIns="0" tIns="0" rIns="0" bIns="0" rtlCol="0" anchor="ctr"/>
          <a:lstStyle/>
          <a:p>
            <a:pPr indent="0" marL="0">
              <a:buNone/>
            </a:pPr>
            <a:r>
              <a:rPr lang="en-US" sz="1600" b="1" dirty="0">
                <a:solidFill>
                  <a:srgbClr val="003DA5"/>
                </a:solidFill>
                <a:latin typeface="Georgia" pitchFamily="34" charset="0"/>
                <a:ea typeface="Georgia" pitchFamily="34" charset="-122"/>
                <a:cs typeface="Georgia" pitchFamily="34" charset="-120"/>
              </a:rPr>
              <a:t>AI Agents for Infra Automation</a:t>
            </a:r>
            <a:endParaRPr lang="en-US" sz="1600" dirty="0"/>
          </a:p>
        </p:txBody>
      </p:sp>
      <p:sp>
        <p:nvSpPr>
          <p:cNvPr id="32" name="Text 24"/>
          <p:cNvSpPr/>
          <p:nvPr/>
        </p:nvSpPr>
        <p:spPr>
          <a:xfrm>
            <a:off x="1508760" y="4507992"/>
            <a:ext cx="4343400" cy="27432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Risk: agents trapped in a single vertical</a:t>
            </a:r>
            <a:endParaRPr lang="en-US" sz="1050" dirty="0"/>
          </a:p>
        </p:txBody>
      </p:sp>
      <p:sp>
        <p:nvSpPr>
          <p:cNvPr id="33" name="Text 25"/>
          <p:cNvSpPr/>
          <p:nvPr/>
        </p:nvSpPr>
        <p:spPr>
          <a:xfrm>
            <a:off x="731520" y="4873752"/>
            <a:ext cx="507492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Distribute the work — ML Platform team provides agent runtime, eval harness &amp; guardrails. Embedded MLEs ship agents into Zephyr &amp; Observability. AI/ML Guild governs cross-org standards (mirrors USAA AI-pod model &amp; JPMC's distributed pattern).</a:t>
            </a:r>
            <a:endParaRPr lang="en-US" sz="1100" dirty="0"/>
          </a:p>
        </p:txBody>
      </p:sp>
      <p:sp>
        <p:nvSpPr>
          <p:cNvPr id="34" name="Shape 26"/>
          <p:cNvSpPr/>
          <p:nvPr/>
        </p:nvSpPr>
        <p:spPr>
          <a:xfrm>
            <a:off x="640080" y="5833872"/>
            <a:ext cx="5166360" cy="274320"/>
          </a:xfrm>
          <a:prstGeom prst="rect">
            <a:avLst/>
          </a:prstGeom>
          <a:solidFill>
            <a:srgbClr val="FFF1A8"/>
          </a:solidFill>
          <a:ln w="12700">
            <a:solidFill>
              <a:srgbClr val="FEDF01"/>
            </a:solidFill>
            <a:prstDash val="solid"/>
          </a:ln>
        </p:spPr>
      </p:sp>
      <p:pic>
        <p:nvPicPr>
          <p:cNvPr id="35" name="Image 6" descr="preencoded.png">    </p:cNvPr>
          <p:cNvPicPr>
            <a:picLocks noChangeAspect="1"/>
          </p:cNvPicPr>
          <p:nvPr/>
        </p:nvPicPr>
        <p:blipFill>
          <a:blip r:embed="rId7"/>
          <a:stretch>
            <a:fillRect/>
          </a:stretch>
        </p:blipFill>
        <p:spPr>
          <a:xfrm>
            <a:off x="731520" y="5870448"/>
            <a:ext cx="201168" cy="201168"/>
          </a:xfrm>
          <a:prstGeom prst="rect">
            <a:avLst/>
          </a:prstGeom>
        </p:spPr>
      </p:pic>
      <p:sp>
        <p:nvSpPr>
          <p:cNvPr id="36" name="Text 27"/>
          <p:cNvSpPr/>
          <p:nvPr/>
        </p:nvSpPr>
        <p:spPr>
          <a:xfrm>
            <a:off x="1005840" y="5833872"/>
            <a:ext cx="4800600" cy="274320"/>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Pervasive AI capability · shared platform · governed responsibly</a:t>
            </a:r>
            <a:endParaRPr lang="en-US" sz="1050" dirty="0"/>
          </a:p>
        </p:txBody>
      </p:sp>
      <p:sp>
        <p:nvSpPr>
          <p:cNvPr id="37" name="Shape 28"/>
          <p:cNvSpPr/>
          <p:nvPr/>
        </p:nvSpPr>
        <p:spPr>
          <a:xfrm>
            <a:off x="6153912" y="3867912"/>
            <a:ext cx="5532120" cy="233172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8" name="Shape 29"/>
          <p:cNvSpPr/>
          <p:nvPr/>
        </p:nvSpPr>
        <p:spPr>
          <a:xfrm>
            <a:off x="6153912" y="3867912"/>
            <a:ext cx="109728" cy="2331720"/>
          </a:xfrm>
          <a:prstGeom prst="rect">
            <a:avLst/>
          </a:prstGeom>
          <a:solidFill>
            <a:srgbClr val="003DA5"/>
          </a:solidFill>
          <a:ln w="12700">
            <a:solidFill>
              <a:srgbClr val="003DA5"/>
            </a:solidFill>
            <a:prstDash val="solid"/>
          </a:ln>
        </p:spPr>
      </p:sp>
      <p:sp>
        <p:nvSpPr>
          <p:cNvPr id="39" name="Shape 30"/>
          <p:cNvSpPr/>
          <p:nvPr/>
        </p:nvSpPr>
        <p:spPr>
          <a:xfrm>
            <a:off x="6428232" y="4142232"/>
            <a:ext cx="640080" cy="640080"/>
          </a:xfrm>
          <a:prstGeom prst="ellipse">
            <a:avLst/>
          </a:prstGeom>
          <a:solidFill>
            <a:srgbClr val="003DA5"/>
          </a:solidFill>
          <a:ln w="12700">
            <a:solidFill>
              <a:srgbClr val="003DA5"/>
            </a:solidFill>
            <a:prstDash val="solid"/>
          </a:ln>
        </p:spPr>
      </p:sp>
      <p:pic>
        <p:nvPicPr>
          <p:cNvPr id="40" name="Image 7" descr="preencoded.png">    </p:cNvPr>
          <p:cNvPicPr>
            <a:picLocks noChangeAspect="1"/>
          </p:cNvPicPr>
          <p:nvPr/>
        </p:nvPicPr>
        <p:blipFill>
          <a:blip r:embed="rId8"/>
          <a:stretch>
            <a:fillRect/>
          </a:stretch>
        </p:blipFill>
        <p:spPr>
          <a:xfrm>
            <a:off x="6537960" y="4251960"/>
            <a:ext cx="420624" cy="420624"/>
          </a:xfrm>
          <a:prstGeom prst="rect">
            <a:avLst/>
          </a:prstGeom>
        </p:spPr>
      </p:pic>
      <p:sp>
        <p:nvSpPr>
          <p:cNvPr id="41" name="Text 31"/>
          <p:cNvSpPr/>
          <p:nvPr/>
        </p:nvSpPr>
        <p:spPr>
          <a:xfrm>
            <a:off x="7205472" y="4142232"/>
            <a:ext cx="4343400" cy="365760"/>
          </a:xfrm>
          <a:prstGeom prst="rect">
            <a:avLst/>
          </a:prstGeom>
          <a:noFill/>
          <a:ln/>
        </p:spPr>
        <p:txBody>
          <a:bodyPr wrap="square" lIns="0" tIns="0" rIns="0" bIns="0" rtlCol="0" anchor="ctr"/>
          <a:lstStyle/>
          <a:p>
            <a:pPr indent="0" marL="0">
              <a:buNone/>
            </a:pPr>
            <a:r>
              <a:rPr lang="en-US" sz="1600" b="1" dirty="0">
                <a:solidFill>
                  <a:srgbClr val="003DA5"/>
                </a:solidFill>
                <a:latin typeface="Georgia" pitchFamily="34" charset="0"/>
                <a:ea typeface="Georgia" pitchFamily="34" charset="-122"/>
                <a:cs typeface="Georgia" pitchFamily="34" charset="-120"/>
              </a:rPr>
              <a:t>Regulatory &amp; Assurance Workflows</a:t>
            </a:r>
            <a:endParaRPr lang="en-US" sz="1600" dirty="0"/>
          </a:p>
        </p:txBody>
      </p:sp>
      <p:sp>
        <p:nvSpPr>
          <p:cNvPr id="42" name="Text 32"/>
          <p:cNvSpPr/>
          <p:nvPr/>
        </p:nvSpPr>
        <p:spPr>
          <a:xfrm>
            <a:off x="7205472" y="4507992"/>
            <a:ext cx="4343400" cy="27432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Process-by-process attestation today</a:t>
            </a:r>
            <a:endParaRPr lang="en-US" sz="1050" dirty="0"/>
          </a:p>
        </p:txBody>
      </p:sp>
      <p:sp>
        <p:nvSpPr>
          <p:cNvPr id="43" name="Text 33"/>
          <p:cNvSpPr/>
          <p:nvPr/>
        </p:nvSpPr>
        <p:spPr>
          <a:xfrm>
            <a:off x="6428232" y="4873752"/>
            <a:ext cx="5074920" cy="8686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Implement as Assurance-as-Code — a Tier-2 platform shipping compliance controls as paved-road features of IaC and CI/CD. Security &amp; Compliance Chapter governs control taxonomy. Single control plane vs. siloed processes.</a:t>
            </a:r>
            <a:endParaRPr lang="en-US" sz="1100" dirty="0"/>
          </a:p>
        </p:txBody>
      </p:sp>
      <p:sp>
        <p:nvSpPr>
          <p:cNvPr id="44" name="Shape 34"/>
          <p:cNvSpPr/>
          <p:nvPr/>
        </p:nvSpPr>
        <p:spPr>
          <a:xfrm>
            <a:off x="6336792" y="5833872"/>
            <a:ext cx="5166360" cy="274320"/>
          </a:xfrm>
          <a:prstGeom prst="rect">
            <a:avLst/>
          </a:prstGeom>
          <a:solidFill>
            <a:srgbClr val="FFF1A8"/>
          </a:solidFill>
          <a:ln w="12700">
            <a:solidFill>
              <a:srgbClr val="FEDF01"/>
            </a:solidFill>
            <a:prstDash val="solid"/>
          </a:ln>
        </p:spPr>
      </p:sp>
      <p:pic>
        <p:nvPicPr>
          <p:cNvPr id="45" name="Image 8" descr="preencoded.png">    </p:cNvPr>
          <p:cNvPicPr>
            <a:picLocks noChangeAspect="1"/>
          </p:cNvPicPr>
          <p:nvPr/>
        </p:nvPicPr>
        <p:blipFill>
          <a:blip r:embed="rId9"/>
          <a:stretch>
            <a:fillRect/>
          </a:stretch>
        </p:blipFill>
        <p:spPr>
          <a:xfrm>
            <a:off x="6428232" y="5870448"/>
            <a:ext cx="201168" cy="201168"/>
          </a:xfrm>
          <a:prstGeom prst="rect">
            <a:avLst/>
          </a:prstGeom>
        </p:spPr>
      </p:pic>
      <p:sp>
        <p:nvSpPr>
          <p:cNvPr id="46" name="Text 35"/>
          <p:cNvSpPr/>
          <p:nvPr/>
        </p:nvSpPr>
        <p:spPr>
          <a:xfrm>
            <a:off x="6702552" y="5833872"/>
            <a:ext cx="4800600" cy="274320"/>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Single regulator-facing control plane · audit-ready by default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TRANSITION ROADMAP</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Three Waves Over 18–24 Months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554480"/>
            <a:ext cx="11274552" cy="411480"/>
          </a:xfrm>
          <a:prstGeom prst="rect">
            <a:avLst/>
          </a:prstGeom>
          <a:solidFill>
            <a:srgbClr val="F4F6F9"/>
          </a:solidFill>
          <a:ln w="12700">
            <a:solidFill>
              <a:srgbClr val="E2E8F0"/>
            </a:solidFill>
            <a:prstDash val="solid"/>
          </a:ln>
        </p:spPr>
      </p:sp>
      <p:sp>
        <p:nvSpPr>
          <p:cNvPr id="8" name="Shape 5"/>
          <p:cNvSpPr/>
          <p:nvPr/>
        </p:nvSpPr>
        <p:spPr>
          <a:xfrm>
            <a:off x="457200" y="1554480"/>
            <a:ext cx="3017520" cy="411480"/>
          </a:xfrm>
          <a:prstGeom prst="rect">
            <a:avLst/>
          </a:prstGeom>
          <a:solidFill>
            <a:srgbClr val="002B7F"/>
          </a:solidFill>
          <a:ln w="12700">
            <a:solidFill>
              <a:srgbClr val="002B7F"/>
            </a:solidFill>
            <a:prstDash val="solid"/>
          </a:ln>
        </p:spPr>
      </p:sp>
      <p:sp>
        <p:nvSpPr>
          <p:cNvPr id="9" name="Shape 6"/>
          <p:cNvSpPr/>
          <p:nvPr/>
        </p:nvSpPr>
        <p:spPr>
          <a:xfrm>
            <a:off x="3474720" y="1554480"/>
            <a:ext cx="3840480" cy="411480"/>
          </a:xfrm>
          <a:prstGeom prst="rect">
            <a:avLst/>
          </a:prstGeom>
          <a:solidFill>
            <a:srgbClr val="003DA5"/>
          </a:solidFill>
          <a:ln w="12700">
            <a:solidFill>
              <a:srgbClr val="003DA5"/>
            </a:solidFill>
            <a:prstDash val="solid"/>
          </a:ln>
        </p:spPr>
      </p:sp>
      <p:sp>
        <p:nvSpPr>
          <p:cNvPr id="10" name="Shape 7"/>
          <p:cNvSpPr/>
          <p:nvPr/>
        </p:nvSpPr>
        <p:spPr>
          <a:xfrm>
            <a:off x="7315200" y="1554480"/>
            <a:ext cx="4416552" cy="411480"/>
          </a:xfrm>
          <a:prstGeom prst="rect">
            <a:avLst/>
          </a:prstGeom>
          <a:solidFill>
            <a:srgbClr val="1A55BC"/>
          </a:solidFill>
          <a:ln w="12700">
            <a:solidFill>
              <a:srgbClr val="1A55BC"/>
            </a:solidFill>
            <a:prstDash val="solid"/>
          </a:ln>
        </p:spPr>
      </p:sp>
      <p:sp>
        <p:nvSpPr>
          <p:cNvPr id="11" name="Text 8"/>
          <p:cNvSpPr/>
          <p:nvPr/>
        </p:nvSpPr>
        <p:spPr>
          <a:xfrm>
            <a:off x="457200" y="1554480"/>
            <a:ext cx="3017520" cy="4114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WAVE 1  ·  Months 0–6  ·  Foundation</a:t>
            </a:r>
            <a:endParaRPr lang="en-US" sz="1000" dirty="0"/>
          </a:p>
        </p:txBody>
      </p:sp>
      <p:sp>
        <p:nvSpPr>
          <p:cNvPr id="12" name="Text 9"/>
          <p:cNvSpPr/>
          <p:nvPr/>
        </p:nvSpPr>
        <p:spPr>
          <a:xfrm>
            <a:off x="3474720" y="1554480"/>
            <a:ext cx="3840480" cy="4114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WAVE 2  ·  Months 6–12  ·  Expand</a:t>
            </a:r>
            <a:endParaRPr lang="en-US" sz="1000" dirty="0"/>
          </a:p>
        </p:txBody>
      </p:sp>
      <p:sp>
        <p:nvSpPr>
          <p:cNvPr id="13" name="Text 10"/>
          <p:cNvSpPr/>
          <p:nvPr/>
        </p:nvSpPr>
        <p:spPr>
          <a:xfrm>
            <a:off x="7315200" y="1554480"/>
            <a:ext cx="4416552" cy="4114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WAVE 3  ·  Months 12–18+  ·  Scale &amp; Optimize</a:t>
            </a:r>
            <a:endParaRPr lang="en-US" sz="1000" dirty="0"/>
          </a:p>
        </p:txBody>
      </p:sp>
      <p:sp>
        <p:nvSpPr>
          <p:cNvPr id="14" name="Text 11"/>
          <p:cNvSpPr/>
          <p:nvPr/>
        </p:nvSpPr>
        <p:spPr>
          <a:xfrm>
            <a:off x="457200" y="2194560"/>
            <a:ext cx="2971800" cy="365760"/>
          </a:xfrm>
          <a:prstGeom prst="rect">
            <a:avLst/>
          </a:prstGeom>
          <a:noFill/>
          <a:ln/>
        </p:spPr>
        <p:txBody>
          <a:bodyPr wrap="square" lIns="0" tIns="0" rIns="0" bIns="0" rtlCol="0" anchor="ctr"/>
          <a:lstStyle/>
          <a:p>
            <a:pPr indent="0" marL="0">
              <a:buNone/>
            </a:pPr>
            <a:r>
              <a:rPr lang="en-US" sz="1600" b="1" dirty="0">
                <a:solidFill>
                  <a:srgbClr val="002B7F"/>
                </a:solidFill>
                <a:latin typeface="Georgia" pitchFamily="34" charset="0"/>
                <a:ea typeface="Georgia" pitchFamily="34" charset="-122"/>
                <a:cs typeface="Georgia" pitchFamily="34" charset="-120"/>
              </a:rPr>
              <a:t>Foundation &amp; Pilot</a:t>
            </a:r>
            <a:endParaRPr lang="en-US" sz="1600" dirty="0"/>
          </a:p>
        </p:txBody>
      </p:sp>
      <p:sp>
        <p:nvSpPr>
          <p:cNvPr id="15" name="Text 12"/>
          <p:cNvSpPr/>
          <p:nvPr/>
        </p:nvSpPr>
        <p:spPr>
          <a:xfrm>
            <a:off x="457200" y="2651760"/>
            <a:ext cx="297180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Transformation Office (~20 FTE, time-boxed)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Operating Model Charter &amp; decision rights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Baseline DORA / DevEx / CNCF maturity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Choose 2–3 lighthouse pilots — Zephyr IaC + 1 Foundation platform + 1 stream squad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Architecture, SRE, AI/ML Guilds (week-one signal)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Quarterly Business Review</a:t>
            </a:r>
            <a:endParaRPr lang="en-US" sz="1100" dirty="0"/>
          </a:p>
        </p:txBody>
      </p:sp>
      <p:sp>
        <p:nvSpPr>
          <p:cNvPr id="16" name="Shape 13"/>
          <p:cNvSpPr/>
          <p:nvPr/>
        </p:nvSpPr>
        <p:spPr>
          <a:xfrm>
            <a:off x="457200" y="5897880"/>
            <a:ext cx="2971800" cy="365760"/>
          </a:xfrm>
          <a:prstGeom prst="rect">
            <a:avLst/>
          </a:prstGeom>
          <a:solidFill>
            <a:srgbClr val="002B7F"/>
          </a:solidFill>
          <a:ln w="12700">
            <a:solidFill>
              <a:srgbClr val="002B7F"/>
            </a:solidFill>
            <a:prstDash val="solid"/>
          </a:ln>
        </p:spPr>
      </p:sp>
      <p:sp>
        <p:nvSpPr>
          <p:cNvPr id="17" name="Text 14"/>
          <p:cNvSpPr/>
          <p:nvPr/>
        </p:nvSpPr>
        <p:spPr>
          <a:xfrm>
            <a:off x="457200" y="5897880"/>
            <a:ext cx="29718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Pilots in steady state · J-curve managed</a:t>
            </a:r>
            <a:endParaRPr lang="en-US" sz="1100" dirty="0"/>
          </a:p>
        </p:txBody>
      </p:sp>
      <p:sp>
        <p:nvSpPr>
          <p:cNvPr id="18" name="Text 15"/>
          <p:cNvSpPr/>
          <p:nvPr/>
        </p:nvSpPr>
        <p:spPr>
          <a:xfrm>
            <a:off x="3520440" y="2194560"/>
            <a:ext cx="3749040" cy="365760"/>
          </a:xfrm>
          <a:prstGeom prst="rect">
            <a:avLst/>
          </a:prstGeom>
          <a:noFill/>
          <a:ln/>
        </p:spPr>
        <p:txBody>
          <a:bodyPr wrap="square" lIns="0" tIns="0" rIns="0" bIns="0" rtlCol="0" anchor="ctr"/>
          <a:lstStyle/>
          <a:p>
            <a:pPr indent="0" marL="0">
              <a:buNone/>
            </a:pPr>
            <a:r>
              <a:rPr lang="en-US" sz="1600" b="1" dirty="0">
                <a:solidFill>
                  <a:srgbClr val="003DA5"/>
                </a:solidFill>
                <a:latin typeface="Georgia" pitchFamily="34" charset="0"/>
                <a:ea typeface="Georgia" pitchFamily="34" charset="-122"/>
                <a:cs typeface="Georgia" pitchFamily="34" charset="-120"/>
              </a:rPr>
              <a:t>Expand</a:t>
            </a:r>
            <a:endParaRPr lang="en-US" sz="1600" dirty="0"/>
          </a:p>
        </p:txBody>
      </p:sp>
      <p:sp>
        <p:nvSpPr>
          <p:cNvPr id="19" name="Text 16"/>
          <p:cNvSpPr/>
          <p:nvPr/>
        </p:nvSpPr>
        <p:spPr>
          <a:xfrm>
            <a:off x="3520440" y="2651760"/>
            <a:ext cx="374904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Roll model to 3–4 of the 5–7 Tribes (Compute, Zephyr, DevEx, Reliability)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Dissolve legacy Architecture &amp; AI/IM verticals; redirect headcount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AIOps / Incident Intel platform as Tier-2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Internal tech-radar refresh for golden-path tools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Pivot funding: persistent platforms; project funding only for enabling work</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Update career ladders — portable Principal track</a:t>
            </a:r>
            <a:endParaRPr lang="en-US" sz="1100" dirty="0"/>
          </a:p>
        </p:txBody>
      </p:sp>
      <p:sp>
        <p:nvSpPr>
          <p:cNvPr id="20" name="Shape 17"/>
          <p:cNvSpPr/>
          <p:nvPr/>
        </p:nvSpPr>
        <p:spPr>
          <a:xfrm>
            <a:off x="3520440" y="5897880"/>
            <a:ext cx="3749040" cy="365760"/>
          </a:xfrm>
          <a:prstGeom prst="rect">
            <a:avLst/>
          </a:prstGeom>
          <a:solidFill>
            <a:srgbClr val="003DA5"/>
          </a:solidFill>
          <a:ln w="12700">
            <a:solidFill>
              <a:srgbClr val="003DA5"/>
            </a:solidFill>
            <a:prstDash val="solid"/>
          </a:ln>
        </p:spPr>
      </p:sp>
      <p:sp>
        <p:nvSpPr>
          <p:cNvPr id="21" name="Text 18"/>
          <p:cNvSpPr/>
          <p:nvPr/>
        </p:nvSpPr>
        <p:spPr>
          <a:xfrm>
            <a:off x="3520440" y="5897880"/>
            <a:ext cx="3749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DORA top-quartile in pilot tribes</a:t>
            </a:r>
            <a:endParaRPr lang="en-US" sz="1100" dirty="0"/>
          </a:p>
        </p:txBody>
      </p:sp>
      <p:sp>
        <p:nvSpPr>
          <p:cNvPr id="22" name="Text 19"/>
          <p:cNvSpPr/>
          <p:nvPr/>
        </p:nvSpPr>
        <p:spPr>
          <a:xfrm>
            <a:off x="7406640" y="2194560"/>
            <a:ext cx="4325112" cy="365760"/>
          </a:xfrm>
          <a:prstGeom prst="rect">
            <a:avLst/>
          </a:prstGeom>
          <a:noFill/>
          <a:ln/>
        </p:spPr>
        <p:txBody>
          <a:bodyPr wrap="square" lIns="0" tIns="0" rIns="0" bIns="0" rtlCol="0" anchor="ctr"/>
          <a:lstStyle/>
          <a:p>
            <a:pPr indent="0" marL="0">
              <a:buNone/>
            </a:pPr>
            <a:r>
              <a:rPr lang="en-US" sz="1600" b="1" dirty="0">
                <a:solidFill>
                  <a:srgbClr val="1A55BC"/>
                </a:solidFill>
                <a:latin typeface="Georgia" pitchFamily="34" charset="0"/>
                <a:ea typeface="Georgia" pitchFamily="34" charset="-122"/>
                <a:cs typeface="Georgia" pitchFamily="34" charset="-120"/>
              </a:rPr>
              <a:t>Scale &amp; Optimize</a:t>
            </a:r>
            <a:endParaRPr lang="en-US" sz="1600" dirty="0"/>
          </a:p>
        </p:txBody>
      </p:sp>
      <p:sp>
        <p:nvSpPr>
          <p:cNvPr id="23" name="Text 20"/>
          <p:cNvSpPr/>
          <p:nvPr/>
        </p:nvSpPr>
        <p:spPr>
          <a:xfrm>
            <a:off x="7406640" y="2651760"/>
            <a:ext cx="4325112"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Remaining Tribes converted; Transformation Office shrinks to 3–5 FTE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80%+ of teams cleanly classified by Team Topologies type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Target outcomes realised: 15–25% FTE reclaimed · 30–50% MTTR reduction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DevEx NPS visibly trending up across all tribes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≥60% of teams using ≥1 AI agent / AIOps feature daily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Annual operating-model health check becomes a permanent ritual</a:t>
            </a:r>
            <a:endParaRPr lang="en-US" sz="1100" dirty="0"/>
          </a:p>
        </p:txBody>
      </p:sp>
      <p:sp>
        <p:nvSpPr>
          <p:cNvPr id="24" name="Shape 21"/>
          <p:cNvSpPr/>
          <p:nvPr/>
        </p:nvSpPr>
        <p:spPr>
          <a:xfrm>
            <a:off x="7406640" y="5897880"/>
            <a:ext cx="4325112" cy="365760"/>
          </a:xfrm>
          <a:prstGeom prst="rect">
            <a:avLst/>
          </a:prstGeom>
          <a:solidFill>
            <a:srgbClr val="1A55BC"/>
          </a:solidFill>
          <a:ln w="12700">
            <a:solidFill>
              <a:srgbClr val="1A55BC"/>
            </a:solidFill>
            <a:prstDash val="solid"/>
          </a:ln>
        </p:spPr>
      </p:sp>
      <p:sp>
        <p:nvSpPr>
          <p:cNvPr id="25" name="Text 22"/>
          <p:cNvSpPr/>
          <p:nvPr/>
        </p:nvSpPr>
        <p:spPr>
          <a:xfrm>
            <a:off x="7406640" y="5897880"/>
            <a:ext cx="432511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Steady state · compounding gains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RISK MANAGEMENT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Top Risks &amp; How We Mitigate Each</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657600" cy="457200"/>
          </a:xfrm>
          <a:prstGeom prst="rect">
            <a:avLst/>
          </a:prstGeom>
          <a:solidFill>
            <a:srgbClr val="1E293B"/>
          </a:solidFill>
          <a:ln w="12700">
            <a:solidFill>
              <a:srgbClr val="1E293B"/>
            </a:solidFill>
            <a:prstDash val="solid"/>
          </a:ln>
        </p:spPr>
      </p:sp>
      <p:sp>
        <p:nvSpPr>
          <p:cNvPr id="8" name="Text 5"/>
          <p:cNvSpPr/>
          <p:nvPr/>
        </p:nvSpPr>
        <p:spPr>
          <a:xfrm>
            <a:off x="621792" y="1417320"/>
            <a:ext cx="3383280" cy="45720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RISK</a:t>
            </a:r>
            <a:endParaRPr lang="en-US" sz="1100" dirty="0"/>
          </a:p>
        </p:txBody>
      </p:sp>
      <p:sp>
        <p:nvSpPr>
          <p:cNvPr id="9" name="Shape 6"/>
          <p:cNvSpPr/>
          <p:nvPr/>
        </p:nvSpPr>
        <p:spPr>
          <a:xfrm>
            <a:off x="4114800" y="1417320"/>
            <a:ext cx="1371600" cy="457200"/>
          </a:xfrm>
          <a:prstGeom prst="rect">
            <a:avLst/>
          </a:prstGeom>
          <a:solidFill>
            <a:srgbClr val="1E293B"/>
          </a:solidFill>
          <a:ln w="12700">
            <a:solidFill>
              <a:srgbClr val="1E293B"/>
            </a:solidFill>
            <a:prstDash val="solid"/>
          </a:ln>
        </p:spPr>
      </p:sp>
      <p:sp>
        <p:nvSpPr>
          <p:cNvPr id="10" name="Text 7"/>
          <p:cNvSpPr/>
          <p:nvPr/>
        </p:nvSpPr>
        <p:spPr>
          <a:xfrm>
            <a:off x="4279392" y="1417320"/>
            <a:ext cx="1097280" cy="45720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1" name="Shape 8"/>
          <p:cNvSpPr/>
          <p:nvPr/>
        </p:nvSpPr>
        <p:spPr>
          <a:xfrm>
            <a:off x="5486400" y="1417320"/>
            <a:ext cx="6248095" cy="457200"/>
          </a:xfrm>
          <a:prstGeom prst="rect">
            <a:avLst/>
          </a:prstGeom>
          <a:solidFill>
            <a:srgbClr val="1E293B"/>
          </a:solidFill>
          <a:ln w="12700">
            <a:solidFill>
              <a:srgbClr val="1E293B"/>
            </a:solidFill>
            <a:prstDash val="solid"/>
          </a:ln>
        </p:spPr>
      </p:sp>
      <p:sp>
        <p:nvSpPr>
          <p:cNvPr id="12" name="Text 9"/>
          <p:cNvSpPr/>
          <p:nvPr/>
        </p:nvSpPr>
        <p:spPr>
          <a:xfrm>
            <a:off x="5650992" y="1417320"/>
            <a:ext cx="5973775" cy="45720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3" name="Shape 10"/>
          <p:cNvSpPr/>
          <p:nvPr/>
        </p:nvSpPr>
        <p:spPr>
          <a:xfrm>
            <a:off x="457200" y="1417320"/>
            <a:ext cx="11277295" cy="54864"/>
          </a:xfrm>
          <a:prstGeom prst="rect">
            <a:avLst/>
          </a:prstGeom>
          <a:solidFill>
            <a:srgbClr val="FEDF01"/>
          </a:solidFill>
          <a:ln w="12700">
            <a:solidFill>
              <a:srgbClr val="FEDF01"/>
            </a:solidFill>
            <a:prstDash val="solid"/>
          </a:ln>
        </p:spPr>
      </p:sp>
      <p:sp>
        <p:nvSpPr>
          <p:cNvPr id="14" name="Shape 11"/>
          <p:cNvSpPr/>
          <p:nvPr/>
        </p:nvSpPr>
        <p:spPr>
          <a:xfrm>
            <a:off x="457200" y="1874520"/>
            <a:ext cx="11277295" cy="502920"/>
          </a:xfrm>
          <a:prstGeom prst="rect">
            <a:avLst/>
          </a:prstGeom>
          <a:solidFill>
            <a:srgbClr val="F4F6F9"/>
          </a:solidFill>
          <a:ln w="6350">
            <a:solidFill>
              <a:srgbClr val="E2E8F0"/>
            </a:solidFill>
            <a:prstDash val="solid"/>
          </a:ln>
        </p:spPr>
      </p:sp>
      <p:sp>
        <p:nvSpPr>
          <p:cNvPr id="15" name="Text 12"/>
          <p:cNvSpPr/>
          <p:nvPr/>
        </p:nvSpPr>
        <p:spPr>
          <a:xfrm>
            <a:off x="621792" y="187452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J-curve dip in delivery during platform rollout</a:t>
            </a:r>
            <a:endParaRPr lang="en-US" sz="1100" dirty="0"/>
          </a:p>
        </p:txBody>
      </p:sp>
      <p:sp>
        <p:nvSpPr>
          <p:cNvPr id="16" name="Shape 13"/>
          <p:cNvSpPr/>
          <p:nvPr/>
        </p:nvSpPr>
        <p:spPr>
          <a:xfrm>
            <a:off x="4297680" y="1965960"/>
            <a:ext cx="1005840" cy="320040"/>
          </a:xfrm>
          <a:prstGeom prst="rect">
            <a:avLst/>
          </a:prstGeom>
          <a:solidFill>
            <a:srgbClr val="DC2626"/>
          </a:solidFill>
          <a:ln w="12700">
            <a:solidFill>
              <a:srgbClr val="DC2626"/>
            </a:solidFill>
            <a:prstDash val="solid"/>
          </a:ln>
        </p:spPr>
      </p:sp>
      <p:sp>
        <p:nvSpPr>
          <p:cNvPr id="17" name="Text 14"/>
          <p:cNvSpPr/>
          <p:nvPr/>
        </p:nvSpPr>
        <p:spPr>
          <a:xfrm>
            <a:off x="4297680" y="196596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5"/>
          <p:cNvSpPr/>
          <p:nvPr/>
        </p:nvSpPr>
        <p:spPr>
          <a:xfrm>
            <a:off x="5650992" y="187452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Communicate explicitly to leadership · ring-fence pilots · publish recovery curves</a:t>
            </a:r>
            <a:endParaRPr lang="en-US" sz="1050" dirty="0"/>
          </a:p>
        </p:txBody>
      </p:sp>
      <p:sp>
        <p:nvSpPr>
          <p:cNvPr id="19" name="Shape 16"/>
          <p:cNvSpPr/>
          <p:nvPr/>
        </p:nvSpPr>
        <p:spPr>
          <a:xfrm>
            <a:off x="457200" y="2377440"/>
            <a:ext cx="11277295" cy="502920"/>
          </a:xfrm>
          <a:prstGeom prst="rect">
            <a:avLst/>
          </a:prstGeom>
          <a:solidFill>
            <a:srgbClr val="FFFFFF"/>
          </a:solidFill>
          <a:ln w="6350">
            <a:solidFill>
              <a:srgbClr val="E2E8F0"/>
            </a:solidFill>
            <a:prstDash val="solid"/>
          </a:ln>
        </p:spPr>
      </p:sp>
      <p:sp>
        <p:nvSpPr>
          <p:cNvPr id="20" name="Text 17"/>
          <p:cNvSpPr/>
          <p:nvPr/>
        </p:nvSpPr>
        <p:spPr>
          <a:xfrm>
            <a:off x="621792" y="237744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Cargo-culting Spotify (rename without changing decisions)</a:t>
            </a:r>
            <a:endParaRPr lang="en-US" sz="1100" dirty="0"/>
          </a:p>
        </p:txBody>
      </p:sp>
      <p:sp>
        <p:nvSpPr>
          <p:cNvPr id="21" name="Shape 18"/>
          <p:cNvSpPr/>
          <p:nvPr/>
        </p:nvSpPr>
        <p:spPr>
          <a:xfrm>
            <a:off x="4297680" y="2468880"/>
            <a:ext cx="1005840" cy="320040"/>
          </a:xfrm>
          <a:prstGeom prst="rect">
            <a:avLst/>
          </a:prstGeom>
          <a:solidFill>
            <a:srgbClr val="DC2626"/>
          </a:solidFill>
          <a:ln w="12700">
            <a:solidFill>
              <a:srgbClr val="DC2626"/>
            </a:solidFill>
            <a:prstDash val="solid"/>
          </a:ln>
        </p:spPr>
      </p:sp>
      <p:sp>
        <p:nvSpPr>
          <p:cNvPr id="22" name="Text 19"/>
          <p:cNvSpPr/>
          <p:nvPr/>
        </p:nvSpPr>
        <p:spPr>
          <a:xfrm>
            <a:off x="4297680" y="246888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3" name="Text 20"/>
          <p:cNvSpPr/>
          <p:nvPr/>
        </p:nvSpPr>
        <p:spPr>
          <a:xfrm>
            <a:off x="5650992" y="237744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Pair every name change with decision-rights change · single Engineering Lead per team</a:t>
            </a:r>
            <a:endParaRPr lang="en-US" sz="1050" dirty="0"/>
          </a:p>
        </p:txBody>
      </p:sp>
      <p:sp>
        <p:nvSpPr>
          <p:cNvPr id="24" name="Shape 21"/>
          <p:cNvSpPr/>
          <p:nvPr/>
        </p:nvSpPr>
        <p:spPr>
          <a:xfrm>
            <a:off x="457200" y="2880360"/>
            <a:ext cx="11277295" cy="502920"/>
          </a:xfrm>
          <a:prstGeom prst="rect">
            <a:avLst/>
          </a:prstGeom>
          <a:solidFill>
            <a:srgbClr val="F4F6F9"/>
          </a:solidFill>
          <a:ln w="6350">
            <a:solidFill>
              <a:srgbClr val="E2E8F0"/>
            </a:solidFill>
            <a:prstDash val="solid"/>
          </a:ln>
        </p:spPr>
      </p:sp>
      <p:sp>
        <p:nvSpPr>
          <p:cNvPr id="25" name="Text 22"/>
          <p:cNvSpPr/>
          <p:nvPr/>
        </p:nvSpPr>
        <p:spPr>
          <a:xfrm>
            <a:off x="621792" y="288036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Reverse Conway producing wrong architecture</a:t>
            </a:r>
            <a:endParaRPr lang="en-US" sz="1100" dirty="0"/>
          </a:p>
        </p:txBody>
      </p:sp>
      <p:sp>
        <p:nvSpPr>
          <p:cNvPr id="26" name="Shape 23"/>
          <p:cNvSpPr/>
          <p:nvPr/>
        </p:nvSpPr>
        <p:spPr>
          <a:xfrm>
            <a:off x="4297680" y="2971800"/>
            <a:ext cx="1005840" cy="320040"/>
          </a:xfrm>
          <a:prstGeom prst="rect">
            <a:avLst/>
          </a:prstGeom>
          <a:solidFill>
            <a:srgbClr val="F59E0B"/>
          </a:solidFill>
          <a:ln w="12700">
            <a:solidFill>
              <a:srgbClr val="F59E0B"/>
            </a:solidFill>
            <a:prstDash val="solid"/>
          </a:ln>
        </p:spPr>
      </p:sp>
      <p:sp>
        <p:nvSpPr>
          <p:cNvPr id="27" name="Text 24"/>
          <p:cNvSpPr/>
          <p:nvPr/>
        </p:nvSpPr>
        <p:spPr>
          <a:xfrm>
            <a:off x="4297680" y="297180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5"/>
          <p:cNvSpPr/>
          <p:nvPr/>
        </p:nvSpPr>
        <p:spPr>
          <a:xfrm>
            <a:off x="5650992" y="288036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Draw target architecture FIRST, reorg to match (Inverse Conway Maneuver)</a:t>
            </a:r>
            <a:endParaRPr lang="en-US" sz="1050" dirty="0"/>
          </a:p>
        </p:txBody>
      </p:sp>
      <p:sp>
        <p:nvSpPr>
          <p:cNvPr id="29" name="Shape 26"/>
          <p:cNvSpPr/>
          <p:nvPr/>
        </p:nvSpPr>
        <p:spPr>
          <a:xfrm>
            <a:off x="457200" y="3383280"/>
            <a:ext cx="11277295" cy="502920"/>
          </a:xfrm>
          <a:prstGeom prst="rect">
            <a:avLst/>
          </a:prstGeom>
          <a:solidFill>
            <a:srgbClr val="FFFFFF"/>
          </a:solidFill>
          <a:ln w="6350">
            <a:solidFill>
              <a:srgbClr val="E2E8F0"/>
            </a:solidFill>
            <a:prstDash val="solid"/>
          </a:ln>
        </p:spPr>
      </p:sp>
      <p:sp>
        <p:nvSpPr>
          <p:cNvPr id="30" name="Text 27"/>
          <p:cNvSpPr/>
          <p:nvPr/>
        </p:nvSpPr>
        <p:spPr>
          <a:xfrm>
            <a:off x="621792" y="338328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Matrix burnout (engineers serving two masters)</a:t>
            </a:r>
            <a:endParaRPr lang="en-US" sz="1100" dirty="0"/>
          </a:p>
        </p:txBody>
      </p:sp>
      <p:sp>
        <p:nvSpPr>
          <p:cNvPr id="31" name="Shape 28"/>
          <p:cNvSpPr/>
          <p:nvPr/>
        </p:nvSpPr>
        <p:spPr>
          <a:xfrm>
            <a:off x="4297680" y="3474720"/>
            <a:ext cx="1005840" cy="320040"/>
          </a:xfrm>
          <a:prstGeom prst="rect">
            <a:avLst/>
          </a:prstGeom>
          <a:solidFill>
            <a:srgbClr val="F59E0B"/>
          </a:solidFill>
          <a:ln w="12700">
            <a:solidFill>
              <a:srgbClr val="F59E0B"/>
            </a:solidFill>
            <a:prstDash val="solid"/>
          </a:ln>
        </p:spPr>
      </p:sp>
      <p:sp>
        <p:nvSpPr>
          <p:cNvPr id="32" name="Text 29"/>
          <p:cNvSpPr/>
          <p:nvPr/>
        </p:nvSpPr>
        <p:spPr>
          <a:xfrm>
            <a:off x="4297680" y="347472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3" name="Text 30"/>
          <p:cNvSpPr/>
          <p:nvPr/>
        </p:nvSpPr>
        <p:spPr>
          <a:xfrm>
            <a:off x="5650992" y="338328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Single solid-line Engineering Lead · Guilds influence-based, not authority-based</a:t>
            </a:r>
            <a:endParaRPr lang="en-US" sz="1050" dirty="0"/>
          </a:p>
        </p:txBody>
      </p:sp>
      <p:sp>
        <p:nvSpPr>
          <p:cNvPr id="34" name="Shape 31"/>
          <p:cNvSpPr/>
          <p:nvPr/>
        </p:nvSpPr>
        <p:spPr>
          <a:xfrm>
            <a:off x="457200" y="3886200"/>
            <a:ext cx="11277295" cy="502920"/>
          </a:xfrm>
          <a:prstGeom prst="rect">
            <a:avLst/>
          </a:prstGeom>
          <a:solidFill>
            <a:srgbClr val="F4F6F9"/>
          </a:solidFill>
          <a:ln w="6350">
            <a:solidFill>
              <a:srgbClr val="E2E8F0"/>
            </a:solidFill>
            <a:prstDash val="solid"/>
          </a:ln>
        </p:spPr>
      </p:sp>
      <p:sp>
        <p:nvSpPr>
          <p:cNvPr id="35" name="Text 32"/>
          <p:cNvSpPr/>
          <p:nvPr/>
        </p:nvSpPr>
        <p:spPr>
          <a:xfrm>
            <a:off x="621792" y="388620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Loss of functional depth in Architecture / AI</a:t>
            </a:r>
            <a:endParaRPr lang="en-US" sz="1100" dirty="0"/>
          </a:p>
        </p:txBody>
      </p:sp>
      <p:sp>
        <p:nvSpPr>
          <p:cNvPr id="36" name="Shape 33"/>
          <p:cNvSpPr/>
          <p:nvPr/>
        </p:nvSpPr>
        <p:spPr>
          <a:xfrm>
            <a:off x="4297680" y="3977640"/>
            <a:ext cx="1005840" cy="320040"/>
          </a:xfrm>
          <a:prstGeom prst="rect">
            <a:avLst/>
          </a:prstGeom>
          <a:solidFill>
            <a:srgbClr val="F59E0B"/>
          </a:solidFill>
          <a:ln w="12700">
            <a:solidFill>
              <a:srgbClr val="F59E0B"/>
            </a:solidFill>
            <a:prstDash val="solid"/>
          </a:ln>
        </p:spPr>
      </p:sp>
      <p:sp>
        <p:nvSpPr>
          <p:cNvPr id="37" name="Text 34"/>
          <p:cNvSpPr/>
          <p:nvPr/>
        </p:nvSpPr>
        <p:spPr>
          <a:xfrm>
            <a:off x="4297680" y="397764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5"/>
          <p:cNvSpPr/>
          <p:nvPr/>
        </p:nvSpPr>
        <p:spPr>
          <a:xfrm>
            <a:off x="5650992" y="388620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Strong Guilds + senior IC ladder + protected guild time (~10%)</a:t>
            </a:r>
            <a:endParaRPr lang="en-US" sz="1050" dirty="0"/>
          </a:p>
        </p:txBody>
      </p:sp>
      <p:sp>
        <p:nvSpPr>
          <p:cNvPr id="39" name="Shape 36"/>
          <p:cNvSpPr/>
          <p:nvPr/>
        </p:nvSpPr>
        <p:spPr>
          <a:xfrm>
            <a:off x="457200" y="4389120"/>
            <a:ext cx="11277295" cy="502920"/>
          </a:xfrm>
          <a:prstGeom prst="rect">
            <a:avLst/>
          </a:prstGeom>
          <a:solidFill>
            <a:srgbClr val="FFFFFF"/>
          </a:solidFill>
          <a:ln w="6350">
            <a:solidFill>
              <a:srgbClr val="E2E8F0"/>
            </a:solidFill>
            <a:prstDash val="solid"/>
          </a:ln>
        </p:spPr>
      </p:sp>
      <p:sp>
        <p:nvSpPr>
          <p:cNvPr id="40" name="Text 37"/>
          <p:cNvSpPr/>
          <p:nvPr/>
        </p:nvSpPr>
        <p:spPr>
          <a:xfrm>
            <a:off x="621792" y="438912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Regulatory / assurance gaps during reorg</a:t>
            </a:r>
            <a:endParaRPr lang="en-US" sz="1100" dirty="0"/>
          </a:p>
        </p:txBody>
      </p:sp>
      <p:sp>
        <p:nvSpPr>
          <p:cNvPr id="41" name="Shape 38"/>
          <p:cNvSpPr/>
          <p:nvPr/>
        </p:nvSpPr>
        <p:spPr>
          <a:xfrm>
            <a:off x="4297680" y="4480560"/>
            <a:ext cx="1005840" cy="320040"/>
          </a:xfrm>
          <a:prstGeom prst="rect">
            <a:avLst/>
          </a:prstGeom>
          <a:solidFill>
            <a:srgbClr val="DC2626"/>
          </a:solidFill>
          <a:ln w="12700">
            <a:solidFill>
              <a:srgbClr val="DC2626"/>
            </a:solidFill>
            <a:prstDash val="solid"/>
          </a:ln>
        </p:spPr>
      </p:sp>
      <p:sp>
        <p:nvSpPr>
          <p:cNvPr id="42" name="Text 39"/>
          <p:cNvSpPr/>
          <p:nvPr/>
        </p:nvSpPr>
        <p:spPr>
          <a:xfrm>
            <a:off x="4297680" y="448056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43" name="Text 40"/>
          <p:cNvSpPr/>
          <p:nvPr/>
        </p:nvSpPr>
        <p:spPr>
          <a:xfrm>
            <a:off x="5650992" y="438912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Make Assurance-as-Code platform a Wave-1 priority · keep current attestations live</a:t>
            </a:r>
            <a:endParaRPr lang="en-US" sz="1050" dirty="0"/>
          </a:p>
        </p:txBody>
      </p:sp>
      <p:sp>
        <p:nvSpPr>
          <p:cNvPr id="44" name="Shape 41"/>
          <p:cNvSpPr/>
          <p:nvPr/>
        </p:nvSpPr>
        <p:spPr>
          <a:xfrm>
            <a:off x="457200" y="4892040"/>
            <a:ext cx="11277295" cy="502920"/>
          </a:xfrm>
          <a:prstGeom prst="rect">
            <a:avLst/>
          </a:prstGeom>
          <a:solidFill>
            <a:srgbClr val="F4F6F9"/>
          </a:solidFill>
          <a:ln w="6350">
            <a:solidFill>
              <a:srgbClr val="E2E8F0"/>
            </a:solidFill>
            <a:prstDash val="solid"/>
          </a:ln>
        </p:spPr>
      </p:sp>
      <p:sp>
        <p:nvSpPr>
          <p:cNvPr id="45" name="Text 42"/>
          <p:cNvSpPr/>
          <p:nvPr/>
        </p:nvSpPr>
        <p:spPr>
          <a:xfrm>
            <a:off x="621792" y="489204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Operating-model leakage (gains don't materialize)</a:t>
            </a:r>
            <a:endParaRPr lang="en-US" sz="1100" dirty="0"/>
          </a:p>
        </p:txBody>
      </p:sp>
      <p:sp>
        <p:nvSpPr>
          <p:cNvPr id="46" name="Shape 43"/>
          <p:cNvSpPr/>
          <p:nvPr/>
        </p:nvSpPr>
        <p:spPr>
          <a:xfrm>
            <a:off x="4297680" y="4983480"/>
            <a:ext cx="1005840" cy="320040"/>
          </a:xfrm>
          <a:prstGeom prst="rect">
            <a:avLst/>
          </a:prstGeom>
          <a:solidFill>
            <a:srgbClr val="F59E0B"/>
          </a:solidFill>
          <a:ln w="12700">
            <a:solidFill>
              <a:srgbClr val="F59E0B"/>
            </a:solidFill>
            <a:prstDash val="solid"/>
          </a:ln>
        </p:spPr>
      </p:sp>
      <p:sp>
        <p:nvSpPr>
          <p:cNvPr id="47" name="Text 44"/>
          <p:cNvSpPr/>
          <p:nvPr/>
        </p:nvSpPr>
        <p:spPr>
          <a:xfrm>
            <a:off x="4297680" y="498348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48" name="Text 45"/>
          <p:cNvSpPr/>
          <p:nvPr/>
        </p:nvSpPr>
        <p:spPr>
          <a:xfrm>
            <a:off x="5650992" y="489204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Track FTE redirection · tie OKRs to business outcomes · cost-to-serve metric</a:t>
            </a:r>
            <a:endParaRPr lang="en-US" sz="1050" dirty="0"/>
          </a:p>
        </p:txBody>
      </p:sp>
      <p:sp>
        <p:nvSpPr>
          <p:cNvPr id="49" name="Shape 46"/>
          <p:cNvSpPr/>
          <p:nvPr/>
        </p:nvSpPr>
        <p:spPr>
          <a:xfrm>
            <a:off x="457200" y="5394960"/>
            <a:ext cx="11277295" cy="502920"/>
          </a:xfrm>
          <a:prstGeom prst="rect">
            <a:avLst/>
          </a:prstGeom>
          <a:solidFill>
            <a:srgbClr val="FFFFFF"/>
          </a:solidFill>
          <a:ln w="6350">
            <a:solidFill>
              <a:srgbClr val="E2E8F0"/>
            </a:solidFill>
            <a:prstDash val="solid"/>
          </a:ln>
        </p:spPr>
      </p:sp>
      <p:sp>
        <p:nvSpPr>
          <p:cNvPr id="50" name="Text 47"/>
          <p:cNvSpPr/>
          <p:nvPr/>
        </p:nvSpPr>
        <p:spPr>
          <a:xfrm>
            <a:off x="621792" y="5394960"/>
            <a:ext cx="3383280" cy="5029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Autonomy without alignment (decisions drift)</a:t>
            </a:r>
            <a:endParaRPr lang="en-US" sz="1100" dirty="0"/>
          </a:p>
        </p:txBody>
      </p:sp>
      <p:sp>
        <p:nvSpPr>
          <p:cNvPr id="51" name="Shape 48"/>
          <p:cNvSpPr/>
          <p:nvPr/>
        </p:nvSpPr>
        <p:spPr>
          <a:xfrm>
            <a:off x="4297680" y="5486400"/>
            <a:ext cx="1005840" cy="320040"/>
          </a:xfrm>
          <a:prstGeom prst="rect">
            <a:avLst/>
          </a:prstGeom>
          <a:solidFill>
            <a:srgbClr val="DC2626"/>
          </a:solidFill>
          <a:ln w="12700">
            <a:solidFill>
              <a:srgbClr val="DC2626"/>
            </a:solidFill>
            <a:prstDash val="solid"/>
          </a:ln>
        </p:spPr>
      </p:sp>
      <p:sp>
        <p:nvSpPr>
          <p:cNvPr id="52" name="Text 49"/>
          <p:cNvSpPr/>
          <p:nvPr/>
        </p:nvSpPr>
        <p:spPr>
          <a:xfrm>
            <a:off x="4297680" y="548640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3" name="Text 50"/>
          <p:cNvSpPr/>
          <p:nvPr/>
        </p:nvSpPr>
        <p:spPr>
          <a:xfrm>
            <a:off x="5650992" y="5394960"/>
            <a:ext cx="5973775" cy="5029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Quarterly Business Reviews · explicit OKR cascade · transparent dependency board</a:t>
            </a:r>
            <a:endParaRPr lang="en-US" sz="1050" dirty="0"/>
          </a:p>
        </p:txBody>
      </p:sp>
      <p:sp>
        <p:nvSpPr>
          <p:cNvPr id="54" name="Shape 51"/>
          <p:cNvSpPr/>
          <p:nvPr/>
        </p:nvSpPr>
        <p:spPr>
          <a:xfrm>
            <a:off x="457200" y="6080760"/>
            <a:ext cx="11277295" cy="457200"/>
          </a:xfrm>
          <a:prstGeom prst="rect">
            <a:avLst/>
          </a:prstGeom>
          <a:solidFill>
            <a:srgbClr val="001F5C"/>
          </a:solidFill>
          <a:ln w="12700">
            <a:solidFill>
              <a:srgbClr val="001F5C"/>
            </a:solidFill>
            <a:prstDash val="solid"/>
          </a:ln>
        </p:spPr>
      </p:sp>
      <p:pic>
        <p:nvPicPr>
          <p:cNvPr id="55" name="Image 1" descr="preencoded.png">    </p:cNvPr>
          <p:cNvPicPr>
            <a:picLocks noChangeAspect="1"/>
          </p:cNvPicPr>
          <p:nvPr/>
        </p:nvPicPr>
        <p:blipFill>
          <a:blip r:embed="rId2"/>
          <a:stretch>
            <a:fillRect/>
          </a:stretch>
        </p:blipFill>
        <p:spPr>
          <a:xfrm>
            <a:off x="640080" y="6199632"/>
            <a:ext cx="219456" cy="219456"/>
          </a:xfrm>
          <a:prstGeom prst="rect">
            <a:avLst/>
          </a:prstGeom>
        </p:spPr>
      </p:pic>
      <p:sp>
        <p:nvSpPr>
          <p:cNvPr id="56" name="Text 52"/>
          <p:cNvSpPr/>
          <p:nvPr/>
        </p:nvSpPr>
        <p:spPr>
          <a:xfrm>
            <a:off x="914400" y="6080760"/>
            <a:ext cx="10820095" cy="457200"/>
          </a:xfrm>
          <a:prstGeom prst="rect">
            <a:avLst/>
          </a:prstGeom>
          <a:noFill/>
          <a:ln/>
        </p:spPr>
        <p:txBody>
          <a:bodyPr wrap="square" lIns="0" tIns="0" rIns="0" bIns="0" rtlCol="0" anchor="ctr"/>
          <a:lstStyle/>
          <a:p>
            <a:pPr indent="0" marL="0">
              <a:buNone/>
            </a:pPr>
            <a:r>
              <a:rPr lang="en-US" sz="1100" b="1" i="1" dirty="0">
                <a:solidFill>
                  <a:srgbClr val="FFFFFF"/>
                </a:solidFill>
                <a:latin typeface="Calibri" pitchFamily="34" charset="0"/>
                <a:ea typeface="Calibri" pitchFamily="34" charset="-122"/>
                <a:cs typeface="Calibri" pitchFamily="34" charset="-120"/>
              </a:rPr>
              <a:t>McKinsey: only 24% of operating-model transformations are highly successful — winners change structure, funding, technical practices, and metrics SIMULTANEOUSLY.</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HOW WE MEASURE SUCCESS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Leading &amp; Lagging Indicators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5532120" cy="47548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8" name="Shape 5"/>
          <p:cNvSpPr/>
          <p:nvPr/>
        </p:nvSpPr>
        <p:spPr>
          <a:xfrm>
            <a:off x="457200" y="1417320"/>
            <a:ext cx="5532120" cy="502920"/>
          </a:xfrm>
          <a:prstGeom prst="rect">
            <a:avLst/>
          </a:prstGeom>
          <a:solidFill>
            <a:srgbClr val="003DA5"/>
          </a:solidFill>
          <a:ln w="12700">
            <a:solidFill>
              <a:srgbClr val="003DA5"/>
            </a:solidFill>
            <a:prstDash val="solid"/>
          </a:ln>
        </p:spPr>
      </p:sp>
      <p:sp>
        <p:nvSpPr>
          <p:cNvPr id="9" name="Shape 6"/>
          <p:cNvSpPr/>
          <p:nvPr/>
        </p:nvSpPr>
        <p:spPr>
          <a:xfrm>
            <a:off x="457200" y="1417320"/>
            <a:ext cx="5532120" cy="73152"/>
          </a:xfrm>
          <a:prstGeom prst="rect">
            <a:avLst/>
          </a:prstGeom>
          <a:solidFill>
            <a:srgbClr val="FEDF01"/>
          </a:solidFill>
          <a:ln w="12700">
            <a:solidFill>
              <a:srgbClr val="FEDF01"/>
            </a:solidFill>
            <a:prstDash val="solid"/>
          </a:ln>
        </p:spPr>
      </p:sp>
      <p:sp>
        <p:nvSpPr>
          <p:cNvPr id="10" name="Text 7"/>
          <p:cNvSpPr/>
          <p:nvPr/>
        </p:nvSpPr>
        <p:spPr>
          <a:xfrm>
            <a:off x="640080" y="1536192"/>
            <a:ext cx="5166360" cy="36576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LEADING INDICATORS</a:t>
            </a:r>
            <a:endParaRPr lang="en-US" sz="1400" dirty="0"/>
          </a:p>
        </p:txBody>
      </p:sp>
      <p:sp>
        <p:nvSpPr>
          <p:cNvPr id="11" name="Shape 8"/>
          <p:cNvSpPr/>
          <p:nvPr/>
        </p:nvSpPr>
        <p:spPr>
          <a:xfrm>
            <a:off x="640080" y="2103120"/>
            <a:ext cx="5166360" cy="502920"/>
          </a:xfrm>
          <a:prstGeom prst="rect">
            <a:avLst/>
          </a:prstGeom>
          <a:solidFill>
            <a:srgbClr val="F4F6F9"/>
          </a:solidFill>
          <a:ln w="6350">
            <a:solidFill>
              <a:srgbClr val="E2E8F0"/>
            </a:solidFill>
            <a:prstDash val="solid"/>
          </a:ln>
        </p:spPr>
      </p:sp>
      <p:sp>
        <p:nvSpPr>
          <p:cNvPr id="12" name="Text 9"/>
          <p:cNvSpPr/>
          <p:nvPr/>
        </p:nvSpPr>
        <p:spPr>
          <a:xfrm>
            <a:off x="777240" y="210312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Platform adoption %</a:t>
            </a:r>
            <a:endParaRPr lang="en-US" sz="1100" dirty="0"/>
          </a:p>
        </p:txBody>
      </p:sp>
      <p:sp>
        <p:nvSpPr>
          <p:cNvPr id="13" name="Text 10"/>
          <p:cNvSpPr/>
          <p:nvPr/>
        </p:nvSpPr>
        <p:spPr>
          <a:xfrm>
            <a:off x="3017520" y="210312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Active teams using each Tier-2 platform</a:t>
            </a:r>
            <a:endParaRPr lang="en-US" sz="1050" dirty="0"/>
          </a:p>
        </p:txBody>
      </p:sp>
      <p:sp>
        <p:nvSpPr>
          <p:cNvPr id="14" name="Shape 11"/>
          <p:cNvSpPr/>
          <p:nvPr/>
        </p:nvSpPr>
        <p:spPr>
          <a:xfrm>
            <a:off x="640080" y="2651760"/>
            <a:ext cx="5166360" cy="502920"/>
          </a:xfrm>
          <a:prstGeom prst="rect">
            <a:avLst/>
          </a:prstGeom>
          <a:solidFill>
            <a:srgbClr val="FFFFFF"/>
          </a:solidFill>
          <a:ln w="6350">
            <a:solidFill>
              <a:srgbClr val="E2E8F0"/>
            </a:solidFill>
            <a:prstDash val="solid"/>
          </a:ln>
        </p:spPr>
      </p:sp>
      <p:sp>
        <p:nvSpPr>
          <p:cNvPr id="15" name="Text 12"/>
          <p:cNvSpPr/>
          <p:nvPr/>
        </p:nvSpPr>
        <p:spPr>
          <a:xfrm>
            <a:off x="777240" y="265176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DevEx NPS</a:t>
            </a:r>
            <a:endParaRPr lang="en-US" sz="1100" dirty="0"/>
          </a:p>
        </p:txBody>
      </p:sp>
      <p:sp>
        <p:nvSpPr>
          <p:cNvPr id="16" name="Text 13"/>
          <p:cNvSpPr/>
          <p:nvPr/>
        </p:nvSpPr>
        <p:spPr>
          <a:xfrm>
            <a:off x="3017520" y="265176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Developer satisfaction (SPACE / DX Core 4)</a:t>
            </a:r>
            <a:endParaRPr lang="en-US" sz="1050" dirty="0"/>
          </a:p>
        </p:txBody>
      </p:sp>
      <p:sp>
        <p:nvSpPr>
          <p:cNvPr id="17" name="Shape 14"/>
          <p:cNvSpPr/>
          <p:nvPr/>
        </p:nvSpPr>
        <p:spPr>
          <a:xfrm>
            <a:off x="640080" y="3200400"/>
            <a:ext cx="5166360" cy="502920"/>
          </a:xfrm>
          <a:prstGeom prst="rect">
            <a:avLst/>
          </a:prstGeom>
          <a:solidFill>
            <a:srgbClr val="F4F6F9"/>
          </a:solidFill>
          <a:ln w="6350">
            <a:solidFill>
              <a:srgbClr val="E2E8F0"/>
            </a:solidFill>
            <a:prstDash val="solid"/>
          </a:ln>
        </p:spPr>
      </p:sp>
      <p:sp>
        <p:nvSpPr>
          <p:cNvPr id="18" name="Text 15"/>
          <p:cNvSpPr/>
          <p:nvPr/>
        </p:nvSpPr>
        <p:spPr>
          <a:xfrm>
            <a:off x="777240" y="320040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Team Topologies fit %</a:t>
            </a:r>
            <a:endParaRPr lang="en-US" sz="1100" dirty="0"/>
          </a:p>
        </p:txBody>
      </p:sp>
      <p:sp>
        <p:nvSpPr>
          <p:cNvPr id="19" name="Text 16"/>
          <p:cNvSpPr/>
          <p:nvPr/>
        </p:nvSpPr>
        <p:spPr>
          <a:xfrm>
            <a:off x="3017520" y="320040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Teams cleanly classifiable by type</a:t>
            </a:r>
            <a:endParaRPr lang="en-US" sz="1050" dirty="0"/>
          </a:p>
        </p:txBody>
      </p:sp>
      <p:sp>
        <p:nvSpPr>
          <p:cNvPr id="20" name="Shape 17"/>
          <p:cNvSpPr/>
          <p:nvPr/>
        </p:nvSpPr>
        <p:spPr>
          <a:xfrm>
            <a:off x="640080" y="3749040"/>
            <a:ext cx="5166360" cy="502920"/>
          </a:xfrm>
          <a:prstGeom prst="rect">
            <a:avLst/>
          </a:prstGeom>
          <a:solidFill>
            <a:srgbClr val="FFFFFF"/>
          </a:solidFill>
          <a:ln w="6350">
            <a:solidFill>
              <a:srgbClr val="E2E8F0"/>
            </a:solidFill>
            <a:prstDash val="solid"/>
          </a:ln>
        </p:spPr>
      </p:sp>
      <p:sp>
        <p:nvSpPr>
          <p:cNvPr id="21" name="Text 18"/>
          <p:cNvSpPr/>
          <p:nvPr/>
        </p:nvSpPr>
        <p:spPr>
          <a:xfrm>
            <a:off x="777240" y="374904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Inner-loop / outer-loop %</a:t>
            </a:r>
            <a:endParaRPr lang="en-US" sz="1100" dirty="0"/>
          </a:p>
        </p:txBody>
      </p:sp>
      <p:sp>
        <p:nvSpPr>
          <p:cNvPr id="22" name="Text 19"/>
          <p:cNvSpPr/>
          <p:nvPr/>
        </p:nvSpPr>
        <p:spPr>
          <a:xfrm>
            <a:off x="3017520" y="374904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Time on coding vs. coordination</a:t>
            </a:r>
            <a:endParaRPr lang="en-US" sz="1050" dirty="0"/>
          </a:p>
        </p:txBody>
      </p:sp>
      <p:sp>
        <p:nvSpPr>
          <p:cNvPr id="23" name="Shape 20"/>
          <p:cNvSpPr/>
          <p:nvPr/>
        </p:nvSpPr>
        <p:spPr>
          <a:xfrm>
            <a:off x="640080" y="4297680"/>
            <a:ext cx="5166360" cy="502920"/>
          </a:xfrm>
          <a:prstGeom prst="rect">
            <a:avLst/>
          </a:prstGeom>
          <a:solidFill>
            <a:srgbClr val="F4F6F9"/>
          </a:solidFill>
          <a:ln w="6350">
            <a:solidFill>
              <a:srgbClr val="E2E8F0"/>
            </a:solidFill>
            <a:prstDash val="solid"/>
          </a:ln>
        </p:spPr>
      </p:sp>
      <p:sp>
        <p:nvSpPr>
          <p:cNvPr id="24" name="Text 21"/>
          <p:cNvSpPr/>
          <p:nvPr/>
        </p:nvSpPr>
        <p:spPr>
          <a:xfrm>
            <a:off x="777240" y="429768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ADR throughput</a:t>
            </a:r>
            <a:endParaRPr lang="en-US" sz="1100" dirty="0"/>
          </a:p>
        </p:txBody>
      </p:sp>
      <p:sp>
        <p:nvSpPr>
          <p:cNvPr id="25" name="Text 22"/>
          <p:cNvSpPr/>
          <p:nvPr/>
        </p:nvSpPr>
        <p:spPr>
          <a:xfrm>
            <a:off x="3017520" y="429768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Architecture Guild output cadence</a:t>
            </a:r>
            <a:endParaRPr lang="en-US" sz="1050" dirty="0"/>
          </a:p>
        </p:txBody>
      </p:sp>
      <p:sp>
        <p:nvSpPr>
          <p:cNvPr id="26" name="Shape 23"/>
          <p:cNvSpPr/>
          <p:nvPr/>
        </p:nvSpPr>
        <p:spPr>
          <a:xfrm>
            <a:off x="640080" y="4846320"/>
            <a:ext cx="5166360" cy="502920"/>
          </a:xfrm>
          <a:prstGeom prst="rect">
            <a:avLst/>
          </a:prstGeom>
          <a:solidFill>
            <a:srgbClr val="FFFFFF"/>
          </a:solidFill>
          <a:ln w="6350">
            <a:solidFill>
              <a:srgbClr val="E2E8F0"/>
            </a:solidFill>
            <a:prstDash val="solid"/>
          </a:ln>
        </p:spPr>
      </p:sp>
      <p:sp>
        <p:nvSpPr>
          <p:cNvPr id="27" name="Text 24"/>
          <p:cNvSpPr/>
          <p:nvPr/>
        </p:nvSpPr>
        <p:spPr>
          <a:xfrm>
            <a:off x="777240" y="484632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Reference-arch reuse</a:t>
            </a:r>
            <a:endParaRPr lang="en-US" sz="1100" dirty="0"/>
          </a:p>
        </p:txBody>
      </p:sp>
      <p:sp>
        <p:nvSpPr>
          <p:cNvPr id="28" name="Text 25"/>
          <p:cNvSpPr/>
          <p:nvPr/>
        </p:nvSpPr>
        <p:spPr>
          <a:xfrm>
            <a:off x="3017520" y="484632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Adoption of golden-path patterns</a:t>
            </a:r>
            <a:endParaRPr lang="en-US" sz="1050" dirty="0"/>
          </a:p>
        </p:txBody>
      </p:sp>
      <p:sp>
        <p:nvSpPr>
          <p:cNvPr id="29" name="Shape 26"/>
          <p:cNvSpPr/>
          <p:nvPr/>
        </p:nvSpPr>
        <p:spPr>
          <a:xfrm>
            <a:off x="640080" y="5394960"/>
            <a:ext cx="5166360" cy="502920"/>
          </a:xfrm>
          <a:prstGeom prst="rect">
            <a:avLst/>
          </a:prstGeom>
          <a:solidFill>
            <a:srgbClr val="F4F6F9"/>
          </a:solidFill>
          <a:ln w="6350">
            <a:solidFill>
              <a:srgbClr val="E2E8F0"/>
            </a:solidFill>
            <a:prstDash val="solid"/>
          </a:ln>
        </p:spPr>
      </p:sp>
      <p:sp>
        <p:nvSpPr>
          <p:cNvPr id="30" name="Text 27"/>
          <p:cNvSpPr/>
          <p:nvPr/>
        </p:nvSpPr>
        <p:spPr>
          <a:xfrm>
            <a:off x="777240" y="5394960"/>
            <a:ext cx="2194560" cy="502920"/>
          </a:xfrm>
          <a:prstGeom prst="rect">
            <a:avLst/>
          </a:prstGeom>
          <a:noFill/>
          <a:ln/>
        </p:spPr>
        <p:txBody>
          <a:bodyPr wrap="square" lIns="0" tIns="0" rIns="0" bIns="0" rtlCol="0" anchor="ctr"/>
          <a:lstStyle/>
          <a:p>
            <a:pPr indent="0" marL="0">
              <a:buNone/>
            </a:pPr>
            <a:r>
              <a:rPr lang="en-US" sz="1100" b="1" dirty="0">
                <a:solidFill>
                  <a:srgbClr val="003DA5"/>
                </a:solidFill>
                <a:latin typeface="Calibri" pitchFamily="34" charset="0"/>
                <a:ea typeface="Calibri" pitchFamily="34" charset="-122"/>
                <a:cs typeface="Calibri" pitchFamily="34" charset="-120"/>
              </a:rPr>
              <a:t>Guild participation</a:t>
            </a:r>
            <a:endParaRPr lang="en-US" sz="1100" dirty="0"/>
          </a:p>
        </p:txBody>
      </p:sp>
      <p:sp>
        <p:nvSpPr>
          <p:cNvPr id="31" name="Text 28"/>
          <p:cNvSpPr/>
          <p:nvPr/>
        </p:nvSpPr>
        <p:spPr>
          <a:xfrm>
            <a:off x="3017520" y="5394960"/>
            <a:ext cx="30632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 engineers active in 1+ Guild</a:t>
            </a:r>
            <a:endParaRPr lang="en-US" sz="1050" dirty="0"/>
          </a:p>
        </p:txBody>
      </p:sp>
      <p:sp>
        <p:nvSpPr>
          <p:cNvPr id="32" name="Shape 29"/>
          <p:cNvSpPr/>
          <p:nvPr/>
        </p:nvSpPr>
        <p:spPr>
          <a:xfrm>
            <a:off x="6199632" y="1417320"/>
            <a:ext cx="5532120" cy="47548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33" name="Shape 30"/>
          <p:cNvSpPr/>
          <p:nvPr/>
        </p:nvSpPr>
        <p:spPr>
          <a:xfrm>
            <a:off x="6199632" y="1417320"/>
            <a:ext cx="5532120" cy="502920"/>
          </a:xfrm>
          <a:prstGeom prst="rect">
            <a:avLst/>
          </a:prstGeom>
          <a:solidFill>
            <a:srgbClr val="002B7F"/>
          </a:solidFill>
          <a:ln w="12700">
            <a:solidFill>
              <a:srgbClr val="002B7F"/>
            </a:solidFill>
            <a:prstDash val="solid"/>
          </a:ln>
        </p:spPr>
      </p:sp>
      <p:sp>
        <p:nvSpPr>
          <p:cNvPr id="34" name="Shape 31"/>
          <p:cNvSpPr/>
          <p:nvPr/>
        </p:nvSpPr>
        <p:spPr>
          <a:xfrm>
            <a:off x="6199632" y="1417320"/>
            <a:ext cx="5532120" cy="73152"/>
          </a:xfrm>
          <a:prstGeom prst="rect">
            <a:avLst/>
          </a:prstGeom>
          <a:solidFill>
            <a:srgbClr val="FEDF01"/>
          </a:solidFill>
          <a:ln w="12700">
            <a:solidFill>
              <a:srgbClr val="FEDF01"/>
            </a:solidFill>
            <a:prstDash val="solid"/>
          </a:ln>
        </p:spPr>
      </p:sp>
      <p:sp>
        <p:nvSpPr>
          <p:cNvPr id="35" name="Text 32"/>
          <p:cNvSpPr/>
          <p:nvPr/>
        </p:nvSpPr>
        <p:spPr>
          <a:xfrm>
            <a:off x="6382512" y="1536192"/>
            <a:ext cx="5166360" cy="36576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LAGGING INDICATORS</a:t>
            </a:r>
            <a:endParaRPr lang="en-US" sz="1400" dirty="0"/>
          </a:p>
        </p:txBody>
      </p:sp>
      <p:sp>
        <p:nvSpPr>
          <p:cNvPr id="36" name="Shape 33"/>
          <p:cNvSpPr/>
          <p:nvPr/>
        </p:nvSpPr>
        <p:spPr>
          <a:xfrm>
            <a:off x="6382512" y="2103120"/>
            <a:ext cx="5166360" cy="502920"/>
          </a:xfrm>
          <a:prstGeom prst="rect">
            <a:avLst/>
          </a:prstGeom>
          <a:solidFill>
            <a:srgbClr val="F4F6F9"/>
          </a:solidFill>
          <a:ln w="6350">
            <a:solidFill>
              <a:srgbClr val="E2E8F0"/>
            </a:solidFill>
            <a:prstDash val="solid"/>
          </a:ln>
        </p:spPr>
      </p:sp>
      <p:sp>
        <p:nvSpPr>
          <p:cNvPr id="37" name="Text 34"/>
          <p:cNvSpPr/>
          <p:nvPr/>
        </p:nvSpPr>
        <p:spPr>
          <a:xfrm>
            <a:off x="6519672" y="210312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DORA 4 metrics</a:t>
            </a:r>
            <a:endParaRPr lang="en-US" sz="1100" dirty="0"/>
          </a:p>
        </p:txBody>
      </p:sp>
      <p:sp>
        <p:nvSpPr>
          <p:cNvPr id="38" name="Text 35"/>
          <p:cNvSpPr/>
          <p:nvPr/>
        </p:nvSpPr>
        <p:spPr>
          <a:xfrm>
            <a:off x="8732520" y="210312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Lead time · deploy freq · CFR · MTTR</a:t>
            </a:r>
            <a:endParaRPr lang="en-US" sz="1050" dirty="0"/>
          </a:p>
        </p:txBody>
      </p:sp>
      <p:sp>
        <p:nvSpPr>
          <p:cNvPr id="39" name="Shape 36"/>
          <p:cNvSpPr/>
          <p:nvPr/>
        </p:nvSpPr>
        <p:spPr>
          <a:xfrm>
            <a:off x="6382512" y="2651760"/>
            <a:ext cx="5166360" cy="502920"/>
          </a:xfrm>
          <a:prstGeom prst="rect">
            <a:avLst/>
          </a:prstGeom>
          <a:solidFill>
            <a:srgbClr val="FFFFFF"/>
          </a:solidFill>
          <a:ln w="6350">
            <a:solidFill>
              <a:srgbClr val="E2E8F0"/>
            </a:solidFill>
            <a:prstDash val="solid"/>
          </a:ln>
        </p:spPr>
      </p:sp>
      <p:sp>
        <p:nvSpPr>
          <p:cNvPr id="40" name="Text 37"/>
          <p:cNvSpPr/>
          <p:nvPr/>
        </p:nvSpPr>
        <p:spPr>
          <a:xfrm>
            <a:off x="6519672" y="265176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FTE % on toil</a:t>
            </a:r>
            <a:endParaRPr lang="en-US" sz="1100" dirty="0"/>
          </a:p>
        </p:txBody>
      </p:sp>
      <p:sp>
        <p:nvSpPr>
          <p:cNvPr id="41" name="Text 38"/>
          <p:cNvSpPr/>
          <p:nvPr/>
        </p:nvSpPr>
        <p:spPr>
          <a:xfrm>
            <a:off x="8732520" y="265176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Target ≤ 50% (Google SRE cap)</a:t>
            </a:r>
            <a:endParaRPr lang="en-US" sz="1050" dirty="0"/>
          </a:p>
        </p:txBody>
      </p:sp>
      <p:sp>
        <p:nvSpPr>
          <p:cNvPr id="42" name="Shape 39"/>
          <p:cNvSpPr/>
          <p:nvPr/>
        </p:nvSpPr>
        <p:spPr>
          <a:xfrm>
            <a:off x="6382512" y="3200400"/>
            <a:ext cx="5166360" cy="502920"/>
          </a:xfrm>
          <a:prstGeom prst="rect">
            <a:avLst/>
          </a:prstGeom>
          <a:solidFill>
            <a:srgbClr val="F4F6F9"/>
          </a:solidFill>
          <a:ln w="6350">
            <a:solidFill>
              <a:srgbClr val="E2E8F0"/>
            </a:solidFill>
            <a:prstDash val="solid"/>
          </a:ln>
        </p:spPr>
      </p:sp>
      <p:sp>
        <p:nvSpPr>
          <p:cNvPr id="43" name="Text 40"/>
          <p:cNvSpPr/>
          <p:nvPr/>
        </p:nvSpPr>
        <p:spPr>
          <a:xfrm>
            <a:off x="6519672" y="320040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Cost per deployment</a:t>
            </a:r>
            <a:endParaRPr lang="en-US" sz="1100" dirty="0"/>
          </a:p>
        </p:txBody>
      </p:sp>
      <p:sp>
        <p:nvSpPr>
          <p:cNvPr id="44" name="Text 41"/>
          <p:cNvSpPr/>
          <p:nvPr/>
        </p:nvSpPr>
        <p:spPr>
          <a:xfrm>
            <a:off x="8732520" y="320040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FinOps unit-economics view</a:t>
            </a:r>
            <a:endParaRPr lang="en-US" sz="1050" dirty="0"/>
          </a:p>
        </p:txBody>
      </p:sp>
      <p:sp>
        <p:nvSpPr>
          <p:cNvPr id="45" name="Shape 42"/>
          <p:cNvSpPr/>
          <p:nvPr/>
        </p:nvSpPr>
        <p:spPr>
          <a:xfrm>
            <a:off x="6382512" y="3749040"/>
            <a:ext cx="5166360" cy="502920"/>
          </a:xfrm>
          <a:prstGeom prst="rect">
            <a:avLst/>
          </a:prstGeom>
          <a:solidFill>
            <a:srgbClr val="FFFFFF"/>
          </a:solidFill>
          <a:ln w="6350">
            <a:solidFill>
              <a:srgbClr val="E2E8F0"/>
            </a:solidFill>
            <a:prstDash val="solid"/>
          </a:ln>
        </p:spPr>
      </p:sp>
      <p:sp>
        <p:nvSpPr>
          <p:cNvPr id="46" name="Text 43"/>
          <p:cNvSpPr/>
          <p:nvPr/>
        </p:nvSpPr>
        <p:spPr>
          <a:xfrm>
            <a:off x="6519672" y="374904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Provisioning lead time</a:t>
            </a:r>
            <a:endParaRPr lang="en-US" sz="1100" dirty="0"/>
          </a:p>
        </p:txBody>
      </p:sp>
      <p:sp>
        <p:nvSpPr>
          <p:cNvPr id="47" name="Text 44"/>
          <p:cNvSpPr/>
          <p:nvPr/>
        </p:nvSpPr>
        <p:spPr>
          <a:xfrm>
            <a:off x="8732520" y="374904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Request → live infra</a:t>
            </a:r>
            <a:endParaRPr lang="en-US" sz="1050" dirty="0"/>
          </a:p>
        </p:txBody>
      </p:sp>
      <p:sp>
        <p:nvSpPr>
          <p:cNvPr id="48" name="Shape 45"/>
          <p:cNvSpPr/>
          <p:nvPr/>
        </p:nvSpPr>
        <p:spPr>
          <a:xfrm>
            <a:off x="6382512" y="4297680"/>
            <a:ext cx="5166360" cy="502920"/>
          </a:xfrm>
          <a:prstGeom prst="rect">
            <a:avLst/>
          </a:prstGeom>
          <a:solidFill>
            <a:srgbClr val="F4F6F9"/>
          </a:solidFill>
          <a:ln w="6350">
            <a:solidFill>
              <a:srgbClr val="E2E8F0"/>
            </a:solidFill>
            <a:prstDash val="solid"/>
          </a:ln>
        </p:spPr>
      </p:sp>
      <p:sp>
        <p:nvSpPr>
          <p:cNvPr id="49" name="Text 46"/>
          <p:cNvSpPr/>
          <p:nvPr/>
        </p:nvSpPr>
        <p:spPr>
          <a:xfrm>
            <a:off x="6519672" y="429768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High-sev incident rate</a:t>
            </a:r>
            <a:endParaRPr lang="en-US" sz="1100" dirty="0"/>
          </a:p>
        </p:txBody>
      </p:sp>
      <p:sp>
        <p:nvSpPr>
          <p:cNvPr id="50" name="Text 47"/>
          <p:cNvSpPr/>
          <p:nvPr/>
        </p:nvSpPr>
        <p:spPr>
          <a:xfrm>
            <a:off x="8732520" y="429768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Volume + severity distribution</a:t>
            </a:r>
            <a:endParaRPr lang="en-US" sz="1050" dirty="0"/>
          </a:p>
        </p:txBody>
      </p:sp>
      <p:sp>
        <p:nvSpPr>
          <p:cNvPr id="51" name="Shape 48"/>
          <p:cNvSpPr/>
          <p:nvPr/>
        </p:nvSpPr>
        <p:spPr>
          <a:xfrm>
            <a:off x="6382512" y="4846320"/>
            <a:ext cx="5166360" cy="502920"/>
          </a:xfrm>
          <a:prstGeom prst="rect">
            <a:avLst/>
          </a:prstGeom>
          <a:solidFill>
            <a:srgbClr val="FFFFFF"/>
          </a:solidFill>
          <a:ln w="6350">
            <a:solidFill>
              <a:srgbClr val="E2E8F0"/>
            </a:solidFill>
            <a:prstDash val="solid"/>
          </a:ln>
        </p:spPr>
      </p:sp>
      <p:sp>
        <p:nvSpPr>
          <p:cNvPr id="52" name="Text 49"/>
          <p:cNvSpPr/>
          <p:nvPr/>
        </p:nvSpPr>
        <p:spPr>
          <a:xfrm>
            <a:off x="6519672" y="484632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Audit exception rate</a:t>
            </a:r>
            <a:endParaRPr lang="en-US" sz="1100" dirty="0"/>
          </a:p>
        </p:txBody>
      </p:sp>
      <p:sp>
        <p:nvSpPr>
          <p:cNvPr id="53" name="Text 50"/>
          <p:cNvSpPr/>
          <p:nvPr/>
        </p:nvSpPr>
        <p:spPr>
          <a:xfrm>
            <a:off x="8732520" y="484632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Regulatory compliance posture</a:t>
            </a:r>
            <a:endParaRPr lang="en-US" sz="1050" dirty="0"/>
          </a:p>
        </p:txBody>
      </p:sp>
      <p:sp>
        <p:nvSpPr>
          <p:cNvPr id="54" name="Shape 51"/>
          <p:cNvSpPr/>
          <p:nvPr/>
        </p:nvSpPr>
        <p:spPr>
          <a:xfrm>
            <a:off x="6382512" y="5394960"/>
            <a:ext cx="5166360" cy="502920"/>
          </a:xfrm>
          <a:prstGeom prst="rect">
            <a:avLst/>
          </a:prstGeom>
          <a:solidFill>
            <a:srgbClr val="F4F6F9"/>
          </a:solidFill>
          <a:ln w="6350">
            <a:solidFill>
              <a:srgbClr val="E2E8F0"/>
            </a:solidFill>
            <a:prstDash val="solid"/>
          </a:ln>
        </p:spPr>
      </p:sp>
      <p:sp>
        <p:nvSpPr>
          <p:cNvPr id="55" name="Text 52"/>
          <p:cNvSpPr/>
          <p:nvPr/>
        </p:nvSpPr>
        <p:spPr>
          <a:xfrm>
            <a:off x="6519672" y="5394960"/>
            <a:ext cx="2194560" cy="502920"/>
          </a:xfrm>
          <a:prstGeom prst="rect">
            <a:avLst/>
          </a:prstGeom>
          <a:noFill/>
          <a:ln/>
        </p:spPr>
        <p:txBody>
          <a:bodyPr wrap="square" lIns="0" tIns="0" rIns="0" bIns="0" rtlCol="0" anchor="ctr"/>
          <a:lstStyle/>
          <a:p>
            <a:pPr indent="0" marL="0">
              <a:buNone/>
            </a:pPr>
            <a:r>
              <a:rPr lang="en-US" sz="1100" b="1" dirty="0">
                <a:solidFill>
                  <a:srgbClr val="002B7F"/>
                </a:solidFill>
                <a:latin typeface="Calibri" pitchFamily="34" charset="0"/>
                <a:ea typeface="Calibri" pitchFamily="34" charset="-122"/>
                <a:cs typeface="Calibri" pitchFamily="34" charset="-120"/>
              </a:rPr>
              <a:t>Voluntary attrition</a:t>
            </a:r>
            <a:endParaRPr lang="en-US" sz="1100" dirty="0"/>
          </a:p>
        </p:txBody>
      </p:sp>
      <p:sp>
        <p:nvSpPr>
          <p:cNvPr id="56" name="Text 53"/>
          <p:cNvSpPr/>
          <p:nvPr/>
        </p:nvSpPr>
        <p:spPr>
          <a:xfrm>
            <a:off x="8732520" y="5394960"/>
            <a:ext cx="2834640" cy="5029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Target: ING-style 80+ engagement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indent="0" marL="0">
              <a:buNone/>
            </a:pPr>
            <a:r>
              <a:rPr lang="en-US" sz="1000" b="1" spc="400" kern="0" dirty="0">
                <a:solidFill>
                  <a:srgbClr val="003DA5"/>
                </a:solidFill>
                <a:latin typeface="Calibri" pitchFamily="34" charset="0"/>
                <a:ea typeface="Calibri" pitchFamily="34" charset="-122"/>
                <a:cs typeface="Calibri" pitchFamily="34" charset="-120"/>
              </a:rPr>
              <a:t>DECISIONS REQUESTED</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Recommended Next Steps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To move from proposal to mobilization, we recommend the following four decisions over the next 30 days.</a:t>
            </a:r>
            <a:endParaRPr lang="en-US" sz="1300" dirty="0"/>
          </a:p>
        </p:txBody>
      </p:sp>
      <p:sp>
        <p:nvSpPr>
          <p:cNvPr id="8" name="Shape 5"/>
          <p:cNvSpPr/>
          <p:nvPr/>
        </p:nvSpPr>
        <p:spPr>
          <a:xfrm>
            <a:off x="454000" y="1920240"/>
            <a:ext cx="2697480" cy="384048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9" name="Shape 6"/>
          <p:cNvSpPr/>
          <p:nvPr/>
        </p:nvSpPr>
        <p:spPr>
          <a:xfrm>
            <a:off x="454000" y="1920240"/>
            <a:ext cx="2697480" cy="1097280"/>
          </a:xfrm>
          <a:prstGeom prst="rect">
            <a:avLst/>
          </a:prstGeom>
          <a:solidFill>
            <a:srgbClr val="001F5C"/>
          </a:solidFill>
          <a:ln w="12700">
            <a:solidFill>
              <a:srgbClr val="001F5C"/>
            </a:solidFill>
            <a:prstDash val="solid"/>
          </a:ln>
        </p:spPr>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sp>
      <p:sp>
        <p:nvSpPr>
          <p:cNvPr id="11" name="Text 8"/>
          <p:cNvSpPr/>
          <p:nvPr/>
        </p:nvSpPr>
        <p:spPr>
          <a:xfrm>
            <a:off x="682600" y="2084832"/>
            <a:ext cx="2331720" cy="914400"/>
          </a:xfrm>
          <a:prstGeom prst="rect">
            <a:avLst/>
          </a:prstGeom>
          <a:noFill/>
          <a:ln/>
        </p:spPr>
        <p:txBody>
          <a:bodyPr wrap="square" lIns="0" tIns="0" rIns="0" bIns="0" rtlCol="0" anchor="ctr"/>
          <a:lstStyle/>
          <a:p>
            <a:pPr indent="0" marL="0">
              <a:buNone/>
            </a:pPr>
            <a:r>
              <a:rPr lang="en-US" sz="5600" b="1" dirty="0">
                <a:solidFill>
                  <a:srgbClr val="FEDF01"/>
                </a:solidFill>
                <a:latin typeface="Georgia" pitchFamily="34" charset="0"/>
                <a:ea typeface="Georgia" pitchFamily="34" charset="-122"/>
                <a:cs typeface="Georgia" pitchFamily="34" charset="-120"/>
              </a:rPr>
              <a:t>01</a:t>
            </a:r>
            <a:endParaRPr lang="en-US" sz="5600" dirty="0"/>
          </a:p>
        </p:txBody>
      </p:sp>
      <p:sp>
        <p:nvSpPr>
          <p:cNvPr id="12" name="Text 9"/>
          <p:cNvSpPr/>
          <p:nvPr/>
        </p:nvSpPr>
        <p:spPr>
          <a:xfrm>
            <a:off x="682600" y="3200400"/>
            <a:ext cx="2331720" cy="7772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Endorse the target operating model</a:t>
            </a:r>
            <a:endParaRPr lang="en-US" sz="1500" dirty="0"/>
          </a:p>
        </p:txBody>
      </p:sp>
      <p:sp>
        <p:nvSpPr>
          <p:cNvPr id="13" name="Text 10"/>
          <p:cNvSpPr/>
          <p:nvPr/>
        </p:nvSpPr>
        <p:spPr>
          <a:xfrm>
            <a:off x="682600" y="4023360"/>
            <a:ext cx="2331720"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Approve the team-of-teams lattice (4 Team-Topologies types · 5–7 Tribes · embedded SRE/Architecture/AI · Guilds for craft).</a:t>
            </a:r>
            <a:endParaRPr lang="en-US" sz="1100" dirty="0"/>
          </a:p>
        </p:txBody>
      </p:sp>
      <p:sp>
        <p:nvSpPr>
          <p:cNvPr id="14" name="Shape 11"/>
          <p:cNvSpPr/>
          <p:nvPr/>
        </p:nvSpPr>
        <p:spPr>
          <a:xfrm>
            <a:off x="636880" y="5257800"/>
            <a:ext cx="2331720" cy="365760"/>
          </a:xfrm>
          <a:prstGeom prst="rect">
            <a:avLst/>
          </a:prstGeom>
          <a:solidFill>
            <a:srgbClr val="FFF1A8"/>
          </a:solidFill>
          <a:ln w="12700">
            <a:solidFill>
              <a:srgbClr val="FEDF01"/>
            </a:solidFill>
            <a:prstDash val="solid"/>
          </a:ln>
        </p:spPr>
      </p:sp>
      <p:sp>
        <p:nvSpPr>
          <p:cNvPr id="15" name="Text 12"/>
          <p:cNvSpPr/>
          <p:nvPr/>
        </p:nvSpPr>
        <p:spPr>
          <a:xfrm>
            <a:off x="636880" y="5257800"/>
            <a:ext cx="2331720" cy="365760"/>
          </a:xfrm>
          <a:prstGeom prst="rect">
            <a:avLst/>
          </a:prstGeom>
          <a:noFill/>
          <a:ln/>
        </p:spPr>
        <p:txBody>
          <a:bodyPr wrap="square" lIns="0" tIns="0" rIns="0" bIns="0"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Decision: Yes / No / Refine</a:t>
            </a:r>
            <a:endParaRPr lang="en-US" sz="1050" dirty="0"/>
          </a:p>
        </p:txBody>
      </p:sp>
      <p:sp>
        <p:nvSpPr>
          <p:cNvPr id="16" name="Shape 13"/>
          <p:cNvSpPr/>
          <p:nvPr/>
        </p:nvSpPr>
        <p:spPr>
          <a:xfrm>
            <a:off x="3316072" y="1920240"/>
            <a:ext cx="2697480" cy="384048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17" name="Shape 14"/>
          <p:cNvSpPr/>
          <p:nvPr/>
        </p:nvSpPr>
        <p:spPr>
          <a:xfrm>
            <a:off x="3316072" y="1920240"/>
            <a:ext cx="2697480" cy="1097280"/>
          </a:xfrm>
          <a:prstGeom prst="rect">
            <a:avLst/>
          </a:prstGeom>
          <a:solidFill>
            <a:srgbClr val="001F5C"/>
          </a:solidFill>
          <a:ln w="12700">
            <a:solidFill>
              <a:srgbClr val="001F5C"/>
            </a:solidFill>
            <a:prstDash val="solid"/>
          </a:ln>
        </p:spPr>
      </p:sp>
      <p:sp>
        <p:nvSpPr>
          <p:cNvPr id="18" name="Shape 15"/>
          <p:cNvSpPr/>
          <p:nvPr/>
        </p:nvSpPr>
        <p:spPr>
          <a:xfrm>
            <a:off x="3316072" y="1920240"/>
            <a:ext cx="2697480" cy="73152"/>
          </a:xfrm>
          <a:prstGeom prst="rect">
            <a:avLst/>
          </a:prstGeom>
          <a:solidFill>
            <a:srgbClr val="FEDF01"/>
          </a:solidFill>
          <a:ln w="12700">
            <a:solidFill>
              <a:srgbClr val="FEDF01"/>
            </a:solidFill>
            <a:prstDash val="solid"/>
          </a:ln>
        </p:spPr>
      </p:sp>
      <p:sp>
        <p:nvSpPr>
          <p:cNvPr id="19" name="Text 16"/>
          <p:cNvSpPr/>
          <p:nvPr/>
        </p:nvSpPr>
        <p:spPr>
          <a:xfrm>
            <a:off x="3544672" y="2084832"/>
            <a:ext cx="2331720" cy="914400"/>
          </a:xfrm>
          <a:prstGeom prst="rect">
            <a:avLst/>
          </a:prstGeom>
          <a:noFill/>
          <a:ln/>
        </p:spPr>
        <p:txBody>
          <a:bodyPr wrap="square" lIns="0" tIns="0" rIns="0" bIns="0" rtlCol="0" anchor="ctr"/>
          <a:lstStyle/>
          <a:p>
            <a:pPr indent="0" marL="0">
              <a:buNone/>
            </a:pPr>
            <a:r>
              <a:rPr lang="en-US" sz="5600" b="1" dirty="0">
                <a:solidFill>
                  <a:srgbClr val="FEDF01"/>
                </a:solidFill>
                <a:latin typeface="Georgia" pitchFamily="34" charset="0"/>
                <a:ea typeface="Georgia" pitchFamily="34" charset="-122"/>
                <a:cs typeface="Georgia" pitchFamily="34" charset="-120"/>
              </a:rPr>
              <a:t>02</a:t>
            </a:r>
            <a:endParaRPr lang="en-US" sz="5600" dirty="0"/>
          </a:p>
        </p:txBody>
      </p:sp>
      <p:sp>
        <p:nvSpPr>
          <p:cNvPr id="20" name="Text 17"/>
          <p:cNvSpPr/>
          <p:nvPr/>
        </p:nvSpPr>
        <p:spPr>
          <a:xfrm>
            <a:off x="3544672" y="3200400"/>
            <a:ext cx="2331720" cy="7772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Stand up the Transformation Office</a:t>
            </a:r>
            <a:endParaRPr lang="en-US" sz="1500" dirty="0"/>
          </a:p>
        </p:txBody>
      </p:sp>
      <p:sp>
        <p:nvSpPr>
          <p:cNvPr id="21" name="Text 18"/>
          <p:cNvSpPr/>
          <p:nvPr/>
        </p:nvSpPr>
        <p:spPr>
          <a:xfrm>
            <a:off x="3544672" y="4023360"/>
            <a:ext cx="2331720"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Time-boxed for 18 months. ~20 FTE. Sponsor + steering committee + change leads + OKR steward + comms.</a:t>
            </a:r>
            <a:endParaRPr lang="en-US" sz="1100" dirty="0"/>
          </a:p>
        </p:txBody>
      </p:sp>
      <p:sp>
        <p:nvSpPr>
          <p:cNvPr id="22" name="Shape 19"/>
          <p:cNvSpPr/>
          <p:nvPr/>
        </p:nvSpPr>
        <p:spPr>
          <a:xfrm>
            <a:off x="3498952" y="5257800"/>
            <a:ext cx="2331720" cy="365760"/>
          </a:xfrm>
          <a:prstGeom prst="rect">
            <a:avLst/>
          </a:prstGeom>
          <a:solidFill>
            <a:srgbClr val="FFF1A8"/>
          </a:solidFill>
          <a:ln w="12700">
            <a:solidFill>
              <a:srgbClr val="FEDF01"/>
            </a:solidFill>
            <a:prstDash val="solid"/>
          </a:ln>
        </p:spPr>
      </p:sp>
      <p:sp>
        <p:nvSpPr>
          <p:cNvPr id="23" name="Text 20"/>
          <p:cNvSpPr/>
          <p:nvPr/>
        </p:nvSpPr>
        <p:spPr>
          <a:xfrm>
            <a:off x="3498952" y="5257800"/>
            <a:ext cx="2331720" cy="365760"/>
          </a:xfrm>
          <a:prstGeom prst="rect">
            <a:avLst/>
          </a:prstGeom>
          <a:noFill/>
          <a:ln/>
        </p:spPr>
        <p:txBody>
          <a:bodyPr wrap="square" lIns="0" tIns="0" rIns="0" bIns="0"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Decision: Approve charter &amp; seats</a:t>
            </a:r>
            <a:endParaRPr lang="en-US" sz="1050" dirty="0"/>
          </a:p>
        </p:txBody>
      </p:sp>
      <p:sp>
        <p:nvSpPr>
          <p:cNvPr id="24" name="Shape 21"/>
          <p:cNvSpPr/>
          <p:nvPr/>
        </p:nvSpPr>
        <p:spPr>
          <a:xfrm>
            <a:off x="6178144" y="1920240"/>
            <a:ext cx="2697480" cy="384048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25" name="Shape 22"/>
          <p:cNvSpPr/>
          <p:nvPr/>
        </p:nvSpPr>
        <p:spPr>
          <a:xfrm>
            <a:off x="6178144" y="1920240"/>
            <a:ext cx="2697480" cy="1097280"/>
          </a:xfrm>
          <a:prstGeom prst="rect">
            <a:avLst/>
          </a:prstGeom>
          <a:solidFill>
            <a:srgbClr val="001F5C"/>
          </a:solidFill>
          <a:ln w="12700">
            <a:solidFill>
              <a:srgbClr val="001F5C"/>
            </a:solidFill>
            <a:prstDash val="solid"/>
          </a:ln>
        </p:spPr>
      </p:sp>
      <p:sp>
        <p:nvSpPr>
          <p:cNvPr id="26" name="Shape 23"/>
          <p:cNvSpPr/>
          <p:nvPr/>
        </p:nvSpPr>
        <p:spPr>
          <a:xfrm>
            <a:off x="6178144" y="1920240"/>
            <a:ext cx="2697480" cy="73152"/>
          </a:xfrm>
          <a:prstGeom prst="rect">
            <a:avLst/>
          </a:prstGeom>
          <a:solidFill>
            <a:srgbClr val="FEDF01"/>
          </a:solidFill>
          <a:ln w="12700">
            <a:solidFill>
              <a:srgbClr val="FEDF01"/>
            </a:solidFill>
            <a:prstDash val="solid"/>
          </a:ln>
        </p:spPr>
      </p:sp>
      <p:sp>
        <p:nvSpPr>
          <p:cNvPr id="27" name="Text 24"/>
          <p:cNvSpPr/>
          <p:nvPr/>
        </p:nvSpPr>
        <p:spPr>
          <a:xfrm>
            <a:off x="6406744" y="2084832"/>
            <a:ext cx="2331720" cy="914400"/>
          </a:xfrm>
          <a:prstGeom prst="rect">
            <a:avLst/>
          </a:prstGeom>
          <a:noFill/>
          <a:ln/>
        </p:spPr>
        <p:txBody>
          <a:bodyPr wrap="square" lIns="0" tIns="0" rIns="0" bIns="0" rtlCol="0" anchor="ctr"/>
          <a:lstStyle/>
          <a:p>
            <a:pPr indent="0" marL="0">
              <a:buNone/>
            </a:pPr>
            <a:r>
              <a:rPr lang="en-US" sz="5600" b="1" dirty="0">
                <a:solidFill>
                  <a:srgbClr val="FEDF01"/>
                </a:solidFill>
                <a:latin typeface="Georgia" pitchFamily="34" charset="0"/>
                <a:ea typeface="Georgia" pitchFamily="34" charset="-122"/>
                <a:cs typeface="Georgia" pitchFamily="34" charset="-120"/>
              </a:rPr>
              <a:t>03</a:t>
            </a:r>
            <a:endParaRPr lang="en-US" sz="5600" dirty="0"/>
          </a:p>
        </p:txBody>
      </p:sp>
      <p:sp>
        <p:nvSpPr>
          <p:cNvPr id="28" name="Text 25"/>
          <p:cNvSpPr/>
          <p:nvPr/>
        </p:nvSpPr>
        <p:spPr>
          <a:xfrm>
            <a:off x="6406744" y="3200400"/>
            <a:ext cx="2331720" cy="7772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Select Wave-1 lighthouse pilots</a:t>
            </a:r>
            <a:endParaRPr lang="en-US" sz="1500" dirty="0"/>
          </a:p>
        </p:txBody>
      </p:sp>
      <p:sp>
        <p:nvSpPr>
          <p:cNvPr id="29" name="Text 26"/>
          <p:cNvSpPr/>
          <p:nvPr/>
        </p:nvSpPr>
        <p:spPr>
          <a:xfrm>
            <a:off x="6406744" y="4023360"/>
            <a:ext cx="2331720"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Recommend Zephyr IaC as Tier-2 lead product + one Foundation platform (Compute/Container) + one stream-aligned squad.</a:t>
            </a:r>
            <a:endParaRPr lang="en-US" sz="1100" dirty="0"/>
          </a:p>
        </p:txBody>
      </p:sp>
      <p:sp>
        <p:nvSpPr>
          <p:cNvPr id="30" name="Shape 27"/>
          <p:cNvSpPr/>
          <p:nvPr/>
        </p:nvSpPr>
        <p:spPr>
          <a:xfrm>
            <a:off x="6361024" y="5257800"/>
            <a:ext cx="2331720" cy="365760"/>
          </a:xfrm>
          <a:prstGeom prst="rect">
            <a:avLst/>
          </a:prstGeom>
          <a:solidFill>
            <a:srgbClr val="FFF1A8"/>
          </a:solidFill>
          <a:ln w="12700">
            <a:solidFill>
              <a:srgbClr val="FEDF01"/>
            </a:solidFill>
            <a:prstDash val="solid"/>
          </a:ln>
        </p:spPr>
      </p:sp>
      <p:sp>
        <p:nvSpPr>
          <p:cNvPr id="31" name="Text 28"/>
          <p:cNvSpPr/>
          <p:nvPr/>
        </p:nvSpPr>
        <p:spPr>
          <a:xfrm>
            <a:off x="6361024" y="5257800"/>
            <a:ext cx="2331720" cy="365760"/>
          </a:xfrm>
          <a:prstGeom prst="rect">
            <a:avLst/>
          </a:prstGeom>
          <a:noFill/>
          <a:ln/>
        </p:spPr>
        <p:txBody>
          <a:bodyPr wrap="square" lIns="0" tIns="0" rIns="0" bIns="0"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Decision: Confirm pilot scope</a:t>
            </a:r>
            <a:endParaRPr lang="en-US" sz="1050" dirty="0"/>
          </a:p>
        </p:txBody>
      </p:sp>
      <p:sp>
        <p:nvSpPr>
          <p:cNvPr id="32" name="Shape 29"/>
          <p:cNvSpPr/>
          <p:nvPr/>
        </p:nvSpPr>
        <p:spPr>
          <a:xfrm>
            <a:off x="9040216" y="1920240"/>
            <a:ext cx="2697480" cy="3840480"/>
          </a:xfrm>
          <a:prstGeom prst="rect">
            <a:avLst/>
          </a:prstGeom>
          <a:solidFill>
            <a:srgbClr val="FFFFFF"/>
          </a:solidFill>
          <a:ln w="12700">
            <a:solidFill>
              <a:srgbClr val="E2E8F0"/>
            </a:solidFill>
            <a:prstDash val="solid"/>
          </a:ln>
          <a:effectLst>
            <a:outerShdw sx="100000" sy="100000" kx="0" ky="0" algn="bl" rotWithShape="0" blurRad="177800" dist="38100" dir="5400000">
              <a:srgbClr val="000000">
                <a:alpha val="12000"/>
              </a:srgbClr>
            </a:outerShdw>
          </a:effectLst>
        </p:spPr>
      </p:sp>
      <p:sp>
        <p:nvSpPr>
          <p:cNvPr id="33" name="Shape 30"/>
          <p:cNvSpPr/>
          <p:nvPr/>
        </p:nvSpPr>
        <p:spPr>
          <a:xfrm>
            <a:off x="9040216" y="1920240"/>
            <a:ext cx="2697480" cy="1097280"/>
          </a:xfrm>
          <a:prstGeom prst="rect">
            <a:avLst/>
          </a:prstGeom>
          <a:solidFill>
            <a:srgbClr val="001F5C"/>
          </a:solidFill>
          <a:ln w="12700">
            <a:solidFill>
              <a:srgbClr val="001F5C"/>
            </a:solidFill>
            <a:prstDash val="solid"/>
          </a:ln>
        </p:spPr>
      </p:sp>
      <p:sp>
        <p:nvSpPr>
          <p:cNvPr id="34" name="Shape 31"/>
          <p:cNvSpPr/>
          <p:nvPr/>
        </p:nvSpPr>
        <p:spPr>
          <a:xfrm>
            <a:off x="9040216" y="1920240"/>
            <a:ext cx="2697480" cy="73152"/>
          </a:xfrm>
          <a:prstGeom prst="rect">
            <a:avLst/>
          </a:prstGeom>
          <a:solidFill>
            <a:srgbClr val="FEDF01"/>
          </a:solidFill>
          <a:ln w="12700">
            <a:solidFill>
              <a:srgbClr val="FEDF01"/>
            </a:solidFill>
            <a:prstDash val="solid"/>
          </a:ln>
        </p:spPr>
      </p:sp>
      <p:sp>
        <p:nvSpPr>
          <p:cNvPr id="35" name="Text 32"/>
          <p:cNvSpPr/>
          <p:nvPr/>
        </p:nvSpPr>
        <p:spPr>
          <a:xfrm>
            <a:off x="9268816" y="2084832"/>
            <a:ext cx="2331720" cy="914400"/>
          </a:xfrm>
          <a:prstGeom prst="rect">
            <a:avLst/>
          </a:prstGeom>
          <a:noFill/>
          <a:ln/>
        </p:spPr>
        <p:txBody>
          <a:bodyPr wrap="square" lIns="0" tIns="0" rIns="0" bIns="0" rtlCol="0" anchor="ctr"/>
          <a:lstStyle/>
          <a:p>
            <a:pPr indent="0" marL="0">
              <a:buNone/>
            </a:pPr>
            <a:r>
              <a:rPr lang="en-US" sz="5600" b="1" dirty="0">
                <a:solidFill>
                  <a:srgbClr val="FEDF01"/>
                </a:solidFill>
                <a:latin typeface="Georgia" pitchFamily="34" charset="0"/>
                <a:ea typeface="Georgia" pitchFamily="34" charset="-122"/>
                <a:cs typeface="Georgia" pitchFamily="34" charset="-120"/>
              </a:rPr>
              <a:t>04</a:t>
            </a:r>
            <a:endParaRPr lang="en-US" sz="5600" dirty="0"/>
          </a:p>
        </p:txBody>
      </p:sp>
      <p:sp>
        <p:nvSpPr>
          <p:cNvPr id="36" name="Text 33"/>
          <p:cNvSpPr/>
          <p:nvPr/>
        </p:nvSpPr>
        <p:spPr>
          <a:xfrm>
            <a:off x="9268816" y="3200400"/>
            <a:ext cx="2331720" cy="7772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Approve baseline measurement</a:t>
            </a:r>
            <a:endParaRPr lang="en-US" sz="1500" dirty="0"/>
          </a:p>
        </p:txBody>
      </p:sp>
      <p:sp>
        <p:nvSpPr>
          <p:cNvPr id="37" name="Text 34"/>
          <p:cNvSpPr/>
          <p:nvPr/>
        </p:nvSpPr>
        <p:spPr>
          <a:xfrm>
            <a:off x="9268816" y="4023360"/>
            <a:ext cx="2331720"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Run DORA, DevEx, and CNCF Platform Engineering Maturity baselines in next 60 days. Publish openly to set the bar.</a:t>
            </a:r>
            <a:endParaRPr lang="en-US" sz="1100" dirty="0"/>
          </a:p>
        </p:txBody>
      </p:sp>
      <p:sp>
        <p:nvSpPr>
          <p:cNvPr id="38" name="Shape 35"/>
          <p:cNvSpPr/>
          <p:nvPr/>
        </p:nvSpPr>
        <p:spPr>
          <a:xfrm>
            <a:off x="9223096" y="5257800"/>
            <a:ext cx="2331720" cy="365760"/>
          </a:xfrm>
          <a:prstGeom prst="rect">
            <a:avLst/>
          </a:prstGeom>
          <a:solidFill>
            <a:srgbClr val="FFF1A8"/>
          </a:solidFill>
          <a:ln w="12700">
            <a:solidFill>
              <a:srgbClr val="FEDF01"/>
            </a:solidFill>
            <a:prstDash val="solid"/>
          </a:ln>
        </p:spPr>
      </p:sp>
      <p:sp>
        <p:nvSpPr>
          <p:cNvPr id="39" name="Text 36"/>
          <p:cNvSpPr/>
          <p:nvPr/>
        </p:nvSpPr>
        <p:spPr>
          <a:xfrm>
            <a:off x="9223096" y="5257800"/>
            <a:ext cx="2331720" cy="365760"/>
          </a:xfrm>
          <a:prstGeom prst="rect">
            <a:avLst/>
          </a:prstGeom>
          <a:noFill/>
          <a:ln/>
        </p:spPr>
        <p:txBody>
          <a:bodyPr wrap="square" lIns="0" tIns="0" rIns="0" bIns="0"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Decision: Approve survey &amp; tooling spend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1F5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sp>
      <p:pic>
        <p:nvPicPr>
          <p:cNvPr id="3" name="Image 0" descr="rbc_logo.png">    </p:cNvPr>
          <p:cNvPicPr>
            <a:picLocks noChangeAspect="1"/>
          </p:cNvPicPr>
          <p:nvPr/>
        </p:nvPicPr>
        <p:blipFill>
          <a:blip r:embed="rId1"/>
          <a:stretch>
            <a:fillRect/>
          </a:stretch>
        </p:blipFill>
        <p:spPr>
          <a:xfrm>
            <a:off x="777240" y="640080"/>
            <a:ext cx="595192" cy="777240"/>
          </a:xfrm>
          <a:prstGeom prst="rect">
            <a:avLst/>
          </a:prstGeom>
        </p:spPr>
      </p:pic>
      <p:sp>
        <p:nvSpPr>
          <p:cNvPr id="4" name="Text 1"/>
          <p:cNvSpPr/>
          <p:nvPr/>
        </p:nvSpPr>
        <p:spPr>
          <a:xfrm>
            <a:off x="777240" y="2194560"/>
            <a:ext cx="10972800" cy="822960"/>
          </a:xfrm>
          <a:prstGeom prst="rect">
            <a:avLst/>
          </a:prstGeom>
          <a:noFill/>
          <a:ln/>
        </p:spPr>
        <p:txBody>
          <a:bodyPr wrap="square" lIns="0" tIns="0" rIns="0" bIns="0" rtlCol="0" anchor="ctr"/>
          <a:lstStyle/>
          <a:p>
            <a:pPr indent="0" marL="0">
              <a:buNone/>
            </a:pPr>
            <a:r>
              <a:rPr lang="en-US" sz="4400" i="1" dirty="0">
                <a:solidFill>
                  <a:srgbClr val="C9D6EE"/>
                </a:solidFill>
                <a:latin typeface="Georgia" pitchFamily="34" charset="0"/>
                <a:ea typeface="Georgia" pitchFamily="34" charset="-122"/>
                <a:cs typeface="Georgia" pitchFamily="34" charset="-120"/>
              </a:rPr>
              <a:t>From four towers</a:t>
            </a:r>
            <a:endParaRPr lang="en-US" sz="4400" dirty="0"/>
          </a:p>
        </p:txBody>
      </p:sp>
      <p:sp>
        <p:nvSpPr>
          <p:cNvPr id="5" name="Text 2"/>
          <p:cNvSpPr/>
          <p:nvPr/>
        </p:nvSpPr>
        <p:spPr>
          <a:xfrm>
            <a:off x="777240" y="2971800"/>
            <a:ext cx="10972800" cy="1097280"/>
          </a:xfrm>
          <a:prstGeom prst="rect">
            <a:avLst/>
          </a:prstGeom>
          <a:noFill/>
          <a:ln/>
        </p:spPr>
        <p:txBody>
          <a:bodyPr wrap="square" lIns="0" tIns="0" rIns="0" bIns="0" rtlCol="0" anchor="ctr"/>
          <a:lstStyle/>
          <a:p>
            <a:pPr indent="0" marL="0">
              <a:buNone/>
            </a:pPr>
            <a:r>
              <a:rPr lang="en-US" sz="8000" b="1" dirty="0">
                <a:solidFill>
                  <a:srgbClr val="FEDF01"/>
                </a:solidFill>
                <a:latin typeface="Georgia" pitchFamily="34" charset="0"/>
                <a:ea typeface="Georgia" pitchFamily="34" charset="-122"/>
                <a:cs typeface="Georgia" pitchFamily="34" charset="-120"/>
              </a:rPr>
              <a:t>to flow.</a:t>
            </a:r>
            <a:endParaRPr lang="en-US" sz="8000" dirty="0"/>
          </a:p>
        </p:txBody>
      </p:sp>
      <p:sp>
        <p:nvSpPr>
          <p:cNvPr id="6" name="Text 3"/>
          <p:cNvSpPr/>
          <p:nvPr/>
        </p:nvSpPr>
        <p:spPr>
          <a:xfrm>
            <a:off x="777240" y="4297680"/>
            <a:ext cx="10607040" cy="11887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 horizontal operating model that reduces friction, reclaims FTE capacity, and accelerates Zephyr, Private Cloud Lifecycle, AI agents, and regulatory programs — without losing the depth that today's verticals provide.</a:t>
            </a:r>
            <a:endParaRPr lang="en-US" sz="1700" dirty="0"/>
          </a:p>
        </p:txBody>
      </p:sp>
      <p:sp>
        <p:nvSpPr>
          <p:cNvPr id="7" name="Shape 4"/>
          <p:cNvSpPr/>
          <p:nvPr/>
        </p:nvSpPr>
        <p:spPr>
          <a:xfrm>
            <a:off x="777240" y="5669280"/>
            <a:ext cx="2743200" cy="0"/>
          </a:xfrm>
          <a:prstGeom prst="line">
            <a:avLst/>
          </a:prstGeom>
          <a:noFill/>
          <a:ln w="25400">
            <a:solidFill>
              <a:srgbClr val="FEDF01"/>
            </a:solidFill>
            <a:prstDash val="solid"/>
          </a:ln>
        </p:spPr>
      </p:sp>
      <p:sp>
        <p:nvSpPr>
          <p:cNvPr id="8" name="Text 5"/>
          <p:cNvSpPr/>
          <p:nvPr/>
        </p:nvSpPr>
        <p:spPr>
          <a:xfrm>
            <a:off x="777240" y="5806440"/>
            <a:ext cx="10058400" cy="457200"/>
          </a:xfrm>
          <a:prstGeom prst="rect">
            <a:avLst/>
          </a:prstGeom>
          <a:noFill/>
          <a:ln/>
        </p:spPr>
        <p:txBody>
          <a:bodyPr wrap="square" lIns="0" tIns="0" rIns="0" bIns="0" rtlCol="0" anchor="ctr"/>
          <a:lstStyle/>
          <a:p>
            <a:pPr indent="0" marL="0">
              <a:buNone/>
            </a:pPr>
            <a:r>
              <a:rPr lang="en-US" sz="1600" i="1" dirty="0">
                <a:solidFill>
                  <a:srgbClr val="FEDF01"/>
                </a:solidFill>
                <a:latin typeface="Calibri" pitchFamily="34" charset="0"/>
                <a:ea typeface="Calibri" pitchFamily="34" charset="-122"/>
                <a:cs typeface="Calibri" pitchFamily="34" charset="-120"/>
              </a:rPr>
              <a:t>Discussion welcomed.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Model Transformation</dc:title>
  <dc:subject>PptxGenJS Presentation</dc:subject>
  <dc:creator>Technology Infrastructure</dc:creator>
  <cp:lastModifiedBy>Technology Infrastructure</cp:lastModifiedBy>
  <cp:revision>1</cp:revision>
  <dcterms:created xsi:type="dcterms:W3CDTF">2026-05-14T12:21:57Z</dcterms:created>
  <dcterms:modified xsi:type="dcterms:W3CDTF">2026-05-14T12:21:57Z</dcterms:modified>
</cp:coreProperties>
</file>