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20"/>
  </p:normalViewPr>
  <p:slideViewPr>
    <p:cSldViewPr snapToGrid="0" snapToObjects="1">
      <p:cViewPr varScale="1">
        <p:scale>
          <a:sx n="214" d="100"/>
          <a:sy n="214" d="100"/>
        </p:scale>
        <p:origin x="10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80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A4CC7"/>
                </a:solidFill>
                <a:latin typeface="Trebuchet MS"/>
              </a:rPr>
              <a:t>WORKSTREAM 02  ·  REGULATORY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1026"/>
                </a:solidFill>
                <a:latin typeface="Trebuchet MS"/>
              </a:rPr>
              <a:t>Six initiatives, one audit-ready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B6070"/>
                </a:solidFill>
                <a:latin typeface="Calibri"/>
              </a:rPr>
              <a:t>Horizontal visibility into regulatory and compliance readiness across every on-prem cloud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" y="159105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59105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Patch Management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48256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6A4CC7"/>
                </a:solidFill>
                <a:latin typeface="Trebuchet MS"/>
              </a:rPr>
              <a:t>Estate patch posture &amp; audit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59152"/>
            <a:ext cx="3081528" cy="415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 dirty="0">
                <a:latin typeface="Calibri"/>
              </a:rPr>
              <a:t>A single, continuously-updated view of patch currency and SLA adherence across all five platforms — replacing scattered, tool-specific reports with one defensible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273552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6A4CC7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100% coverage · &lt;24h data freshness · automated audit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1389888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80" y="159105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59105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1536192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Config Intelligence — TLS 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048256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E44E0"/>
                </a:solidFill>
                <a:latin typeface="Trebuchet MS"/>
              </a:rPr>
              <a:t>Modern-cryptography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359152"/>
            <a:ext cx="30815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6B7084"/>
                </a:solidFill>
                <a:latin typeface="Calibri"/>
              </a:rPr>
              <a:t>Scans configuration across the estate to score TLS 1.3 readiness, surface weak-cipher exposure, and drive a prioritized path off deprecated protocols.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273552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2584" y="3310128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44E0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Readiness heatmap · weak-cipher backlog · remediation-as-code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389888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84464" y="1591056"/>
            <a:ext cx="475488" cy="475488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159105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1536192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Vulnerability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2048256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43C8E"/>
                </a:solidFill>
                <a:latin typeface="Trebuchet MS"/>
              </a:rPr>
              <a:t>Unified visibility &amp; SLA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359152"/>
            <a:ext cx="30815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6B7084"/>
                </a:solidFill>
                <a:latin typeface="Calibri"/>
              </a:rPr>
              <a:t>Consolidates findings from siloed scanners into one risk-prioritized view, auto-routing issues to platform owners with SLA-tracked remediation and escalation.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3273552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8" y="3310128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C43C8E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Single dashboard · auto-routing · SLA escalation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68496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41696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6A4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1696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11480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TSS Validation &amp;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62686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A4CC7"/>
                </a:solidFill>
                <a:latin typeface="Trebuchet MS"/>
              </a:rPr>
              <a:t>Security-standards assurance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4937760"/>
            <a:ext cx="30815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6B7084"/>
                </a:solidFill>
                <a:latin typeface="Calibri"/>
              </a:rPr>
              <a:t>Automates validation of Technology Security Standards per platform with continuous, evidence-backed reporting and an exception workflow — replacing manual attestation.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" y="5852160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888736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6A4CC7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Control-to-check mapping · exception workflow · continuous evidence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06824" y="3968496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26280" y="41696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41696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784" y="411480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Enterprise Backup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9784" y="462686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E44E0"/>
                </a:solidFill>
                <a:latin typeface="Trebuchet MS"/>
              </a:rPr>
              <a:t>Proven, recoverable backups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4937760"/>
            <a:ext cx="30815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6B7084"/>
                </a:solidFill>
                <a:latin typeface="Calibri"/>
              </a:rPr>
              <a:t>Moves beyond “backup succeeded” to prove data actually restores, through automated restore-test sampling and audit-ready evidence across the estate.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26280" y="5852160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72584" y="5888736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44E0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Restore-test automation · coverage dashboard · exception alerting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5008" y="3968496"/>
            <a:ext cx="3538728" cy="2395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DD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284464" y="4169663"/>
            <a:ext cx="475488" cy="475488"/>
          </a:xfrm>
          <a:prstGeom prst="roundRect">
            <a:avLst>
              <a:gd name="adj" fmla="val 22000"/>
            </a:avLst>
          </a:prstGeom>
          <a:gradFill>
            <a:gsLst>
              <a:gs pos="0">
                <a:srgbClr val="7A3FD0"/>
              </a:gs>
              <a:gs pos="48000">
                <a:srgbClr val="C43C8E"/>
              </a:gs>
              <a:gs pos="100000">
                <a:srgbClr val="EE8A2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84464" y="41696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411480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150" b="1" i="0">
                <a:solidFill>
                  <a:srgbClr val="0B1026"/>
                </a:solidFill>
                <a:latin typeface="Trebuchet MS"/>
              </a:rPr>
              <a:t>ITAM — IT Asset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4626864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43C8E"/>
                </a:solidFill>
                <a:latin typeface="Trebuchet MS"/>
              </a:rPr>
              <a:t>Reconciled, accurate inventory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4937760"/>
            <a:ext cx="30815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 i="0">
                <a:solidFill>
                  <a:srgbClr val="6B7084"/>
                </a:solidFill>
                <a:latin typeface="Calibri"/>
              </a:rPr>
              <a:t>Establishes an authoritative, reconciled inventory with clear ownership and lifecycle status — the foundation that patch, vulnerability, and retirement work depend 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4464" y="5852160"/>
            <a:ext cx="3099816" cy="402336"/>
          </a:xfrm>
          <a:prstGeom prst="roundRect">
            <a:avLst>
              <a:gd name="adj" fmla="val 12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0768" y="5888736"/>
            <a:ext cx="2852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C43C8E"/>
                </a:solidFill>
                <a:latin typeface="Trebuchet MS"/>
              </a:rPr>
              <a:t>DELIVERS   </a:t>
            </a:r>
            <a:r>
              <a:rPr sz="800" b="1" i="0">
                <a:solidFill>
                  <a:srgbClr val="4A3B8C"/>
                </a:solidFill>
                <a:latin typeface="Calibri"/>
              </a:rPr>
              <a:t>CMDB reconciliation · ownership · lifecycle 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60196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B6070"/>
                </a:solidFill>
                <a:latin typeface="Calibri"/>
              </a:rPr>
              <a:t>Zephyr On-Prem  ·  Regulatory &amp; Compliance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Macintosh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Dhwanil Raval</cp:lastModifiedBy>
  <cp:revision>2</cp:revision>
  <dcterms:created xsi:type="dcterms:W3CDTF">2013-01-27T09:14:16Z</dcterms:created>
  <dcterms:modified xsi:type="dcterms:W3CDTF">2026-07-10T15:00:46Z</dcterms:modified>
  <cp:category/>
</cp:coreProperties>
</file>