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pilot is approved. This is how we run it — and the two things we need agreed today are the liaison names and the verdict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'anyone can automate' — the risk is diffusion (everyone's job = nobody's job). Mitigations: pod lead protects the time, board makes it visible as a work type, toil % measures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escape hatch matters: pretending there is no exception path just drives it underground into the side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version: if bulk light-touch migration is not feasible on our estate, the 90-day toil targets have to come down and we should say so on day 0, not day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Charter is the artifact that answers 'where are the pod goals defined' permanently. Signed day 15 by the pod lead, the sponsor, and each named liaison — a liaison who won't sign hasn't committed, and day 15 is a cheap place to learn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confidence on evidence hours is fine — the target is -50%, so plus or minus 30% still shows it. Say that rather than pretending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Do not leave the room without the verdict criteria agreed — that is the one thing that cannot be added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33"/>
        </a:solidFill>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sp>
      <p:sp>
        <p:nvSpPr>
          <p:cNvPr id="3" name="Text 1"/>
          <p:cNvSpPr/>
          <p:nvPr/>
        </p:nvSpPr>
        <p:spPr>
          <a:xfrm>
            <a:off x="566928" y="1783080"/>
            <a:ext cx="10058400" cy="274320"/>
          </a:xfrm>
          <a:prstGeom prst="rect">
            <a:avLst/>
          </a:prstGeom>
          <a:noFill/>
          <a:ln/>
        </p:spPr>
        <p:txBody>
          <a:bodyPr wrap="square" lIns="0" tIns="0" rIns="0" bIns="0" rtlCol="0" anchor="ctr"/>
          <a:lstStyle/>
          <a:p>
            <a:pPr indent="0" marL="0">
              <a:buNone/>
            </a:pPr>
            <a:r>
              <a:rPr lang="en-US" sz="1100" b="1" spc="300" kern="0" dirty="0">
                <a:solidFill>
                  <a:srgbClr val="FFD200"/>
                </a:solidFill>
                <a:latin typeface="Calibri" pitchFamily="34" charset="0"/>
                <a:ea typeface="Calibri" pitchFamily="34" charset="-122"/>
                <a:cs typeface="Calibri" pitchFamily="34" charset="-120"/>
              </a:rPr>
              <a:t>THE FIRST SERVICE INTO THE HORIZONTAL OPERATING MODEL</a:t>
            </a:r>
            <a:endParaRPr lang="en-US" sz="1100" dirty="0"/>
          </a:p>
        </p:txBody>
      </p:sp>
      <p:sp>
        <p:nvSpPr>
          <p:cNvPr id="4" name="Text 2"/>
          <p:cNvSpPr/>
          <p:nvPr/>
        </p:nvSpPr>
        <p:spPr>
          <a:xfrm>
            <a:off x="566928" y="2176272"/>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SQL Server Pod</a:t>
            </a:r>
            <a:endParaRPr lang="en-US" sz="5400" dirty="0"/>
          </a:p>
        </p:txBody>
      </p:sp>
      <p:sp>
        <p:nvSpPr>
          <p:cNvPr id="5" name="Text 3"/>
          <p:cNvSpPr/>
          <p:nvPr/>
        </p:nvSpPr>
        <p:spPr>
          <a:xfrm>
            <a:off x="566928" y="3108960"/>
            <a:ext cx="10515600" cy="365760"/>
          </a:xfrm>
          <a:prstGeom prst="rect">
            <a:avLst/>
          </a:prstGeom>
          <a:noFill/>
          <a:ln/>
        </p:spPr>
        <p:txBody>
          <a:bodyPr wrap="square" lIns="0" tIns="0" rIns="0" bIns="0" rtlCol="0" anchor="ctr"/>
          <a:lstStyle/>
          <a:p>
            <a:pPr indent="0" marL="0">
              <a:buNone/>
            </a:pPr>
            <a:r>
              <a:rPr lang="en-US" sz="1900" dirty="0">
                <a:solidFill>
                  <a:srgbClr val="9FB6D6"/>
                </a:solidFill>
                <a:latin typeface="Cambria" pitchFamily="34" charset="0"/>
                <a:ea typeface="Cambria" pitchFamily="34" charset="-122"/>
                <a:cs typeface="Cambria" pitchFamily="34" charset="-120"/>
              </a:rPr>
              <a:t>Operating model · 90-day pilot</a:t>
            </a:r>
            <a:endParaRPr lang="en-US" sz="1900" dirty="0"/>
          </a:p>
        </p:txBody>
      </p:sp>
      <p:sp>
        <p:nvSpPr>
          <p:cNvPr id="6" name="Shape 4"/>
          <p:cNvSpPr/>
          <p:nvPr/>
        </p:nvSpPr>
        <p:spPr>
          <a:xfrm>
            <a:off x="566928" y="3694176"/>
            <a:ext cx="2194560" cy="27432"/>
          </a:xfrm>
          <a:prstGeom prst="rect">
            <a:avLst/>
          </a:prstGeom>
          <a:solidFill>
            <a:srgbClr val="1B6FC4"/>
          </a:solidFill>
          <a:ln/>
        </p:spPr>
      </p:sp>
      <p:sp>
        <p:nvSpPr>
          <p:cNvPr id="7" name="Text 5"/>
          <p:cNvSpPr/>
          <p:nvPr/>
        </p:nvSpPr>
        <p:spPr>
          <a:xfrm>
            <a:off x="566928" y="3950208"/>
            <a:ext cx="7863840" cy="640080"/>
          </a:xfrm>
          <a:prstGeom prst="rect">
            <a:avLst/>
          </a:prstGeom>
          <a:noFill/>
          <a:ln/>
        </p:spPr>
        <p:txBody>
          <a:bodyPr wrap="square" lIns="0" tIns="0" rIns="0" bIns="0" rtlCol="0" anchor="ctr"/>
          <a:lstStyle/>
          <a:p>
            <a:pPr indent="0" marL="0">
              <a:lnSpc>
                <a:spcPts val="1900"/>
              </a:lnSpc>
              <a:buNone/>
            </a:pPr>
            <a:r>
              <a:rPr lang="en-US" sz="1300" i="1" dirty="0">
                <a:solidFill>
                  <a:srgbClr val="C9D8EE"/>
                </a:solidFill>
                <a:latin typeface="Calibri" pitchFamily="34" charset="0"/>
                <a:ea typeface="Calibri" pitchFamily="34" charset="-122"/>
                <a:cs typeface="Calibri" pitchFamily="34" charset="-120"/>
              </a:rPr>
              <a:t>One engine, owned end-to-end, automating its own toil. Ninety days to build the pattern — not to transform an estate.</a:t>
            </a:r>
            <a:endParaRPr lang="en-US" sz="1300" dirty="0"/>
          </a:p>
        </p:txBody>
      </p:sp>
      <p:sp>
        <p:nvSpPr>
          <p:cNvPr id="8" name="Text 6"/>
          <p:cNvSpPr/>
          <p:nvPr/>
        </p:nvSpPr>
        <p:spPr>
          <a:xfrm>
            <a:off x="566928" y="6400800"/>
            <a:ext cx="5486400" cy="219456"/>
          </a:xfrm>
          <a:prstGeom prst="rect">
            <a:avLst/>
          </a:prstGeom>
          <a:noFill/>
          <a:ln/>
        </p:spPr>
        <p:txBody>
          <a:bodyPr wrap="square" lIns="0" tIns="0" rIns="0" bIns="0" rtlCol="0" anchor="ctr"/>
          <a:lstStyle/>
          <a:p>
            <a:pPr indent="0" marL="0">
              <a:buNone/>
            </a:pPr>
            <a:r>
              <a:rPr lang="en-US" sz="950" spc="120" kern="0" dirty="0">
                <a:solidFill>
                  <a:srgbClr val="5C7196"/>
                </a:solidFill>
                <a:latin typeface="Calibri" pitchFamily="34" charset="0"/>
                <a:ea typeface="Calibri" pitchFamily="34" charset="-122"/>
                <a:cs typeface="Calibri" pitchFamily="34" charset="-120"/>
              </a:rPr>
              <a:t>Zephyr On-Prem Program  |  Technology Infrastructure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PURPOSE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How we're going to run it</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The pilot is approved and the pod is delivering from day one. This is how it operates — and how we'll know it's working, agreed before we start rather than after.</a:t>
            </a:r>
            <a:endParaRPr lang="en-US" sz="1200" dirty="0"/>
          </a:p>
        </p:txBody>
      </p:sp>
      <p:sp>
        <p:nvSpPr>
          <p:cNvPr id="5" name="Shape 3"/>
          <p:cNvSpPr/>
          <p:nvPr/>
        </p:nvSpPr>
        <p:spPr>
          <a:xfrm>
            <a:off x="566928" y="1828800"/>
            <a:ext cx="3520440" cy="1828800"/>
          </a:xfrm>
          <a:prstGeom prst="rect">
            <a:avLst/>
          </a:prstGeom>
          <a:solidFill>
            <a:srgbClr val="EEF2F8"/>
          </a:solidFill>
          <a:ln w="7620">
            <a:solidFill>
              <a:srgbClr val="D7DDE5"/>
            </a:solidFill>
            <a:prstDash val="solid"/>
          </a:ln>
        </p:spPr>
      </p:sp>
      <p:sp>
        <p:nvSpPr>
          <p:cNvPr id="6" name="Text 4"/>
          <p:cNvSpPr/>
          <p:nvPr/>
        </p:nvSpPr>
        <p:spPr>
          <a:xfrm>
            <a:off x="731520"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THIS IS</a:t>
            </a:r>
            <a:endParaRPr lang="en-US" sz="820" dirty="0"/>
          </a:p>
        </p:txBody>
      </p:sp>
      <p:sp>
        <p:nvSpPr>
          <p:cNvPr id="7" name="Text 5"/>
          <p:cNvSpPr/>
          <p:nvPr/>
        </p:nvSpPr>
        <p:spPr>
          <a:xfrm>
            <a:off x="731520"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A pilot, not a rollout</a:t>
            </a:r>
            <a:endParaRPr lang="en-US" sz="1350" dirty="0"/>
          </a:p>
        </p:txBody>
      </p:sp>
      <p:sp>
        <p:nvSpPr>
          <p:cNvPr id="8" name="Text 6"/>
          <p:cNvSpPr/>
          <p:nvPr/>
        </p:nvSpPr>
        <p:spPr>
          <a:xfrm>
            <a:off x="768096" y="2459736"/>
            <a:ext cx="3136392"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 time-boxed test of the horizontal model on one engine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Contained blast radius — survivable if we're wrong</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Real adjust and stop triggers, agreed up front</a:t>
            </a:r>
            <a:endParaRPr lang="en-US" sz="940" dirty="0"/>
          </a:p>
        </p:txBody>
      </p:sp>
      <p:sp>
        <p:nvSpPr>
          <p:cNvPr id="9" name="Shape 7"/>
          <p:cNvSpPr/>
          <p:nvPr/>
        </p:nvSpPr>
        <p:spPr>
          <a:xfrm>
            <a:off x="4297680" y="1828800"/>
            <a:ext cx="3520440" cy="1828800"/>
          </a:xfrm>
          <a:prstGeom prst="rect">
            <a:avLst/>
          </a:prstGeom>
          <a:solidFill>
            <a:srgbClr val="FFFFFF"/>
          </a:solidFill>
          <a:ln w="7620">
            <a:solidFill>
              <a:srgbClr val="D7DDE5"/>
            </a:solidFill>
            <a:prstDash val="solid"/>
          </a:ln>
        </p:spPr>
      </p:sp>
      <p:sp>
        <p:nvSpPr>
          <p:cNvPr id="10" name="Text 8"/>
          <p:cNvSpPr/>
          <p:nvPr/>
        </p:nvSpPr>
        <p:spPr>
          <a:xfrm>
            <a:off x="4462272"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WE'LL DELIVER</a:t>
            </a:r>
            <a:endParaRPr lang="en-US" sz="820" dirty="0"/>
          </a:p>
        </p:txBody>
      </p:sp>
      <p:sp>
        <p:nvSpPr>
          <p:cNvPr id="11" name="Text 9"/>
          <p:cNvSpPr/>
          <p:nvPr/>
        </p:nvSpPr>
        <p:spPr>
          <a:xfrm>
            <a:off x="4462272"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Pattern, not transformation</a:t>
            </a:r>
            <a:endParaRPr lang="en-US" sz="1350" dirty="0"/>
          </a:p>
        </p:txBody>
      </p:sp>
      <p:sp>
        <p:nvSpPr>
          <p:cNvPr id="12" name="Text 10"/>
          <p:cNvSpPr/>
          <p:nvPr/>
        </p:nvSpPr>
        <p:spPr>
          <a:xfrm>
            <a:off x="4498848" y="2459736"/>
            <a:ext cx="3136392"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falls in ops, compliance and incidents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horizontal contracts deliver without becoming gates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 pattern the next engine inherits</a:t>
            </a:r>
            <a:endParaRPr lang="en-US" sz="940" dirty="0"/>
          </a:p>
        </p:txBody>
      </p:sp>
      <p:sp>
        <p:nvSpPr>
          <p:cNvPr id="13" name="Shape 11"/>
          <p:cNvSpPr/>
          <p:nvPr/>
        </p:nvSpPr>
        <p:spPr>
          <a:xfrm>
            <a:off x="8028432" y="1828800"/>
            <a:ext cx="3529584" cy="1828800"/>
          </a:xfrm>
          <a:prstGeom prst="rect">
            <a:avLst/>
          </a:prstGeom>
          <a:solidFill>
            <a:srgbClr val="FFFFFF"/>
          </a:solidFill>
          <a:ln w="7620">
            <a:solidFill>
              <a:srgbClr val="D7DDE5"/>
            </a:solidFill>
            <a:prstDash val="solid"/>
          </a:ln>
        </p:spPr>
      </p:sp>
      <p:sp>
        <p:nvSpPr>
          <p:cNvPr id="14" name="Text 12"/>
          <p:cNvSpPr/>
          <p:nvPr/>
        </p:nvSpPr>
        <p:spPr>
          <a:xfrm>
            <a:off x="8193024" y="1965960"/>
            <a:ext cx="3200400"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WE WON'T</a:t>
            </a:r>
            <a:endParaRPr lang="en-US" sz="820" dirty="0"/>
          </a:p>
        </p:txBody>
      </p:sp>
      <p:sp>
        <p:nvSpPr>
          <p:cNvPr id="15" name="Text 13"/>
          <p:cNvSpPr/>
          <p:nvPr/>
        </p:nvSpPr>
        <p:spPr>
          <a:xfrm>
            <a:off x="8193024" y="2157984"/>
            <a:ext cx="3200400"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Said plainly, up front</a:t>
            </a:r>
            <a:endParaRPr lang="en-US" sz="1350" dirty="0"/>
          </a:p>
        </p:txBody>
      </p:sp>
      <p:sp>
        <p:nvSpPr>
          <p:cNvPr id="16" name="Text 14"/>
          <p:cNvSpPr/>
          <p:nvPr/>
        </p:nvSpPr>
        <p:spPr>
          <a:xfrm>
            <a:off x="8229600" y="2459736"/>
            <a:ext cx="3145536"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No estate-wide cost savings in 90 days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No headcount impact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No migrations, no other engines</a:t>
            </a:r>
            <a:endParaRPr lang="en-US" sz="940" dirty="0"/>
          </a:p>
        </p:txBody>
      </p:sp>
      <p:sp>
        <p:nvSpPr>
          <p:cNvPr id="17" name="Shape 15"/>
          <p:cNvSpPr/>
          <p:nvPr/>
        </p:nvSpPr>
        <p:spPr>
          <a:xfrm>
            <a:off x="566928" y="3840480"/>
            <a:ext cx="11027664" cy="841248"/>
          </a:xfrm>
          <a:prstGeom prst="rect">
            <a:avLst/>
          </a:prstGeom>
          <a:solidFill>
            <a:srgbClr val="0B2350"/>
          </a:solidFill>
          <a:ln/>
        </p:spPr>
      </p:sp>
      <p:sp>
        <p:nvSpPr>
          <p:cNvPr id="18" name="Text 16"/>
          <p:cNvSpPr/>
          <p:nvPr/>
        </p:nvSpPr>
        <p:spPr>
          <a:xfrm>
            <a:off x="768096" y="3959352"/>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THE DISTINCTION THAT GOVERNS EVERYTHING</a:t>
            </a:r>
            <a:endParaRPr lang="en-US" sz="850" dirty="0"/>
          </a:p>
        </p:txBody>
      </p:sp>
      <p:sp>
        <p:nvSpPr>
          <p:cNvPr id="19" name="Text 17"/>
          <p:cNvSpPr/>
          <p:nvPr/>
        </p:nvSpPr>
        <p:spPr>
          <a:xfrm>
            <a:off x="768096" y="4169664"/>
            <a:ext cx="10625328" cy="420624"/>
          </a:xfrm>
          <a:prstGeom prst="rect">
            <a:avLst/>
          </a:prstGeom>
          <a:noFill/>
          <a:ln/>
        </p:spPr>
        <p:txBody>
          <a:bodyPr wrap="square" lIns="0" tIns="0" rIns="0" bIns="0" rtlCol="0" anchor="ctr"/>
          <a:lstStyle/>
          <a:p>
            <a:pPr indent="0" marL="0">
              <a:lnSpc>
                <a:spcPts val="1450"/>
              </a:lnSpc>
              <a:buNone/>
            </a:pPr>
            <a:r>
              <a:rPr lang="en-US" sz="1100" b="1" dirty="0">
                <a:solidFill>
                  <a:srgbClr val="FFD200"/>
                </a:solidFill>
                <a:latin typeface="Calibri" pitchFamily="34" charset="0"/>
                <a:ea typeface="Calibri" pitchFamily="34" charset="-122"/>
                <a:cs typeface="Calibri" pitchFamily="34" charset="-120"/>
              </a:rPr>
              <a:t>Pod goals outlive the pilot. Pilot goals expire at day 90. </a:t>
            </a:r>
            <a:pPr indent="0" marL="0">
              <a:lnSpc>
                <a:spcPts val="1450"/>
              </a:lnSpc>
              <a:buNone/>
            </a:pPr>
            <a:r>
              <a:rPr lang="en-US" sz="1100" dirty="0">
                <a:solidFill>
                  <a:srgbClr val="E8EFF9"/>
                </a:solidFill>
                <a:latin typeface="Calibri" pitchFamily="34" charset="0"/>
                <a:ea typeface="Calibri" pitchFamily="34" charset="-122"/>
                <a:cs typeface="Calibri" pitchFamily="34" charset="-120"/>
              </a:rPr>
              <a:t>The pod exists to reduce SQL Server toil — true on day 91 whatever the verdict. The pilot is a 90-day test of whether the horizontal model is the right way to do it. Conflating them is why 'unsuccessful' sounds existential.</a:t>
            </a:r>
            <a:endParaRPr lang="en-US" sz="1100" dirty="0"/>
          </a:p>
        </p:txBody>
      </p:sp>
      <p:sp>
        <p:nvSpPr>
          <p:cNvPr id="20" name="Shape 18"/>
          <p:cNvSpPr/>
          <p:nvPr/>
        </p:nvSpPr>
        <p:spPr>
          <a:xfrm>
            <a:off x="566928" y="4846320"/>
            <a:ext cx="11027664" cy="896112"/>
          </a:xfrm>
          <a:prstGeom prst="rect">
            <a:avLst/>
          </a:prstGeom>
          <a:solidFill>
            <a:srgbClr val="EEF2F8"/>
          </a:solidFill>
          <a:ln/>
        </p:spPr>
      </p:sp>
      <p:sp>
        <p:nvSpPr>
          <p:cNvPr id="21" name="Text 19"/>
          <p:cNvSpPr/>
          <p:nvPr/>
        </p:nvSpPr>
        <p:spPr>
          <a:xfrm>
            <a:off x="768096" y="4965192"/>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WHAT WE NEED FROM THIS ROOM TODAY</a:t>
            </a:r>
            <a:endParaRPr lang="en-US" sz="850" dirty="0"/>
          </a:p>
        </p:txBody>
      </p:sp>
      <p:sp>
        <p:nvSpPr>
          <p:cNvPr id="22" name="Text 20"/>
          <p:cNvSpPr/>
          <p:nvPr/>
        </p:nvSpPr>
        <p:spPr>
          <a:xfrm>
            <a:off x="768096" y="5175504"/>
            <a:ext cx="10625328" cy="475488"/>
          </a:xfrm>
          <a:prstGeom prst="rect">
            <a:avLst/>
          </a:prstGeom>
          <a:noFill/>
          <a:ln/>
        </p:spPr>
        <p:txBody>
          <a:bodyPr wrap="square" lIns="0" tIns="0" rIns="0" bIns="0" rtlCol="0" anchor="ctr"/>
          <a:lstStyle/>
          <a:p>
            <a:pPr indent="0" marL="0">
              <a:lnSpc>
                <a:spcPts val="1450"/>
              </a:lnSpc>
              <a:buNone/>
            </a:pPr>
            <a:r>
              <a:rPr lang="en-US" sz="1150" b="1" dirty="0">
                <a:solidFill>
                  <a:srgbClr val="1E252E"/>
                </a:solidFill>
                <a:latin typeface="Calibri" pitchFamily="34" charset="0"/>
                <a:ea typeface="Calibri" pitchFamily="34" charset="-122"/>
                <a:cs typeface="Calibri" pitchFamily="34" charset="-120"/>
              </a:rPr>
              <a:t>1.  Name the liaisons by day 15 — individuals, with backups     2.  Back the pod lead's call on who burns toil     3.  Agree the GO / ADJUST / STOP criteria — today, not at day 90</a:t>
            </a:r>
            <a:endParaRPr lang="en-US" sz="1150" dirty="0"/>
          </a:p>
        </p:txBody>
      </p:sp>
      <p:sp>
        <p:nvSpPr>
          <p:cNvPr id="23" name="Text 2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POD MISSION</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Why this pod exists</a:t>
            </a:r>
            <a:endParaRPr lang="en-US" sz="3100" dirty="0"/>
          </a:p>
        </p:txBody>
      </p:sp>
      <p:sp>
        <p:nvSpPr>
          <p:cNvPr id="4" name="Shape 2"/>
          <p:cNvSpPr/>
          <p:nvPr/>
        </p:nvSpPr>
        <p:spPr>
          <a:xfrm>
            <a:off x="566928" y="1243584"/>
            <a:ext cx="11027664" cy="786384"/>
          </a:xfrm>
          <a:prstGeom prst="rect">
            <a:avLst/>
          </a:prstGeom>
          <a:solidFill>
            <a:srgbClr val="0B2350"/>
          </a:solidFill>
          <a:ln/>
        </p:spPr>
      </p:sp>
      <p:sp>
        <p:nvSpPr>
          <p:cNvPr id="5" name="Text 3"/>
          <p:cNvSpPr/>
          <p:nvPr/>
        </p:nvSpPr>
        <p:spPr>
          <a:xfrm>
            <a:off x="804672" y="1353312"/>
            <a:ext cx="10552176" cy="585216"/>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Cambria" pitchFamily="34" charset="0"/>
                <a:ea typeface="Cambria" pitchFamily="34" charset="-122"/>
                <a:cs typeface="Cambria" pitchFamily="34" charset="-120"/>
              </a:rPr>
              <a:t>Reduce the toil of running SQL Server — in operations, compliance and incidents —</a:t>
            </a:r>
            <a:endParaRPr lang="en-US" sz="1600" dirty="0"/>
          </a:p>
          <a:p>
            <a:pPr indent="0" marL="0">
              <a:lnSpc>
                <a:spcPts val="2100"/>
              </a:lnSpc>
              <a:buNone/>
            </a:pPr>
            <a:r>
              <a:rPr lang="en-US" sz="1600" b="1" dirty="0">
                <a:solidFill>
                  <a:srgbClr val="FFFFFF"/>
                </a:solidFill>
                <a:latin typeface="Cambria" pitchFamily="34" charset="0"/>
                <a:ea typeface="Cambria" pitchFamily="34" charset="-122"/>
                <a:cs typeface="Cambria" pitchFamily="34" charset="-120"/>
              </a:rPr>
              <a:t>by owning the engine end-to-end and automating our own toil.</a:t>
            </a:r>
            <a:endParaRPr lang="en-US" sz="1600" dirty="0"/>
          </a:p>
        </p:txBody>
      </p:sp>
      <p:sp>
        <p:nvSpPr>
          <p:cNvPr id="6" name="Shape 4"/>
          <p:cNvSpPr/>
          <p:nvPr/>
        </p:nvSpPr>
        <p:spPr>
          <a:xfrm>
            <a:off x="566928" y="2212848"/>
            <a:ext cx="3520440" cy="384048"/>
          </a:xfrm>
          <a:prstGeom prst="rect">
            <a:avLst/>
          </a:prstGeom>
          <a:solidFill>
            <a:srgbClr val="C9A227"/>
          </a:solidFill>
          <a:ln/>
        </p:spPr>
      </p:sp>
      <p:sp>
        <p:nvSpPr>
          <p:cNvPr id="7" name="Text 5"/>
          <p:cNvSpPr/>
          <p:nvPr/>
        </p:nvSpPr>
        <p:spPr>
          <a:xfrm>
            <a:off x="713232" y="2295144"/>
            <a:ext cx="3200400" cy="219456"/>
          </a:xfrm>
          <a:prstGeom prst="rect">
            <a:avLst/>
          </a:prstGeom>
          <a:noFill/>
          <a:ln/>
        </p:spPr>
        <p:txBody>
          <a:bodyPr wrap="square" lIns="0" tIns="0" rIns="0" bIns="0" rtlCol="0" anchor="ctr"/>
          <a:lstStyle/>
          <a:p>
            <a:pPr indent="0" marL="0">
              <a:buNone/>
            </a:pPr>
            <a:r>
              <a:rPr lang="en-US" sz="950" b="1" spc="140" kern="0" dirty="0">
                <a:solidFill>
                  <a:srgbClr val="0B2350"/>
                </a:solidFill>
                <a:latin typeface="Calibri" pitchFamily="34" charset="0"/>
                <a:ea typeface="Calibri" pitchFamily="34" charset="-122"/>
                <a:cs typeface="Calibri" pitchFamily="34" charset="-120"/>
              </a:rPr>
              <a:t>OPERATIONS TOIL</a:t>
            </a:r>
            <a:endParaRPr lang="en-US" sz="950" dirty="0"/>
          </a:p>
        </p:txBody>
      </p:sp>
      <p:sp>
        <p:nvSpPr>
          <p:cNvPr id="8" name="Shape 6"/>
          <p:cNvSpPr/>
          <p:nvPr/>
        </p:nvSpPr>
        <p:spPr>
          <a:xfrm>
            <a:off x="566928" y="2596896"/>
            <a:ext cx="3520440" cy="1133856"/>
          </a:xfrm>
          <a:prstGeom prst="rect">
            <a:avLst/>
          </a:prstGeom>
          <a:solidFill>
            <a:srgbClr val="F4F7FB"/>
          </a:solidFill>
          <a:ln w="6350">
            <a:solidFill>
              <a:srgbClr val="D7DDE5"/>
            </a:solidFill>
            <a:prstDash val="solid"/>
          </a:ln>
        </p:spPr>
      </p:sp>
      <p:sp>
        <p:nvSpPr>
          <p:cNvPr id="9" name="Text 7"/>
          <p:cNvSpPr/>
          <p:nvPr/>
        </p:nvSpPr>
        <p:spPr>
          <a:xfrm>
            <a:off x="713232" y="2688336"/>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toil</a:t>
            </a:r>
            <a:endParaRPr lang="en-US" sz="760" dirty="0"/>
          </a:p>
        </p:txBody>
      </p:sp>
      <p:sp>
        <p:nvSpPr>
          <p:cNvPr id="10" name="Text 8"/>
          <p:cNvSpPr/>
          <p:nvPr/>
        </p:nvSpPr>
        <p:spPr>
          <a:xfrm>
            <a:off x="713232" y="2862072"/>
            <a:ext cx="3218688" cy="384048"/>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Provisioning · patching · config changes · access · restores</a:t>
            </a:r>
            <a:endParaRPr lang="en-US" sz="920" dirty="0"/>
          </a:p>
        </p:txBody>
      </p:sp>
      <p:sp>
        <p:nvSpPr>
          <p:cNvPr id="11" name="Text 9"/>
          <p:cNvSpPr/>
          <p:nvPr/>
        </p:nvSpPr>
        <p:spPr>
          <a:xfrm>
            <a:off x="713232" y="3255264"/>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mechanism</a:t>
            </a:r>
            <a:endParaRPr lang="en-US" sz="760" dirty="0"/>
          </a:p>
        </p:txBody>
      </p:sp>
      <p:sp>
        <p:nvSpPr>
          <p:cNvPr id="12" name="Text 10"/>
          <p:cNvSpPr/>
          <p:nvPr/>
        </p:nvSpPr>
        <p:spPr>
          <a:xfrm>
            <a:off x="713232" y="3429000"/>
            <a:ext cx="3218688" cy="274320"/>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Golden modules · self-service · policy-as-code</a:t>
            </a:r>
            <a:endParaRPr lang="en-US" sz="920" dirty="0"/>
          </a:p>
        </p:txBody>
      </p:sp>
      <p:sp>
        <p:nvSpPr>
          <p:cNvPr id="13" name="Shape 11"/>
          <p:cNvSpPr/>
          <p:nvPr/>
        </p:nvSpPr>
        <p:spPr>
          <a:xfrm>
            <a:off x="4297680" y="2212848"/>
            <a:ext cx="3520440" cy="384048"/>
          </a:xfrm>
          <a:prstGeom prst="rect">
            <a:avLst/>
          </a:prstGeom>
          <a:solidFill>
            <a:srgbClr val="005DAA"/>
          </a:solidFill>
          <a:ln/>
        </p:spPr>
      </p:sp>
      <p:sp>
        <p:nvSpPr>
          <p:cNvPr id="14" name="Text 12"/>
          <p:cNvSpPr/>
          <p:nvPr/>
        </p:nvSpPr>
        <p:spPr>
          <a:xfrm>
            <a:off x="4443984" y="2295144"/>
            <a:ext cx="3200400" cy="219456"/>
          </a:xfrm>
          <a:prstGeom prst="rect">
            <a:avLst/>
          </a:prstGeom>
          <a:noFill/>
          <a:ln/>
        </p:spPr>
        <p:txBody>
          <a:bodyPr wrap="square" lIns="0" tIns="0" rIns="0" bIns="0" rtlCol="0" anchor="ctr"/>
          <a:lstStyle/>
          <a:p>
            <a:pPr indent="0" marL="0">
              <a:buNone/>
            </a:pPr>
            <a:r>
              <a:rPr lang="en-US" sz="950" b="1" spc="140" kern="0" dirty="0">
                <a:solidFill>
                  <a:srgbClr val="FFFFFF"/>
                </a:solidFill>
                <a:latin typeface="Calibri" pitchFamily="34" charset="0"/>
                <a:ea typeface="Calibri" pitchFamily="34" charset="-122"/>
                <a:cs typeface="Calibri" pitchFamily="34" charset="-120"/>
              </a:rPr>
              <a:t>COMPLIANCE TOIL</a:t>
            </a:r>
            <a:endParaRPr lang="en-US" sz="950" dirty="0"/>
          </a:p>
        </p:txBody>
      </p:sp>
      <p:sp>
        <p:nvSpPr>
          <p:cNvPr id="15" name="Shape 13"/>
          <p:cNvSpPr/>
          <p:nvPr/>
        </p:nvSpPr>
        <p:spPr>
          <a:xfrm>
            <a:off x="4297680" y="2596896"/>
            <a:ext cx="3520440" cy="1133856"/>
          </a:xfrm>
          <a:prstGeom prst="rect">
            <a:avLst/>
          </a:prstGeom>
          <a:solidFill>
            <a:srgbClr val="F4F7FB"/>
          </a:solidFill>
          <a:ln w="6350">
            <a:solidFill>
              <a:srgbClr val="D7DDE5"/>
            </a:solidFill>
            <a:prstDash val="solid"/>
          </a:ln>
        </p:spPr>
      </p:sp>
      <p:sp>
        <p:nvSpPr>
          <p:cNvPr id="16" name="Text 14"/>
          <p:cNvSpPr/>
          <p:nvPr/>
        </p:nvSpPr>
        <p:spPr>
          <a:xfrm>
            <a:off x="4443984" y="2688336"/>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toil</a:t>
            </a:r>
            <a:endParaRPr lang="en-US" sz="760" dirty="0"/>
          </a:p>
        </p:txBody>
      </p:sp>
      <p:sp>
        <p:nvSpPr>
          <p:cNvPr id="17" name="Text 15"/>
          <p:cNvSpPr/>
          <p:nvPr/>
        </p:nvSpPr>
        <p:spPr>
          <a:xfrm>
            <a:off x="4443984" y="2862072"/>
            <a:ext cx="3218688" cy="384048"/>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Evidence assembly · audit prep · drift · exceptions · attestation</a:t>
            </a:r>
            <a:endParaRPr lang="en-US" sz="920" dirty="0"/>
          </a:p>
        </p:txBody>
      </p:sp>
      <p:sp>
        <p:nvSpPr>
          <p:cNvPr id="18" name="Text 16"/>
          <p:cNvSpPr/>
          <p:nvPr/>
        </p:nvSpPr>
        <p:spPr>
          <a:xfrm>
            <a:off x="4443984" y="3255264"/>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mechanism</a:t>
            </a:r>
            <a:endParaRPr lang="en-US" sz="760" dirty="0"/>
          </a:p>
        </p:txBody>
      </p:sp>
      <p:sp>
        <p:nvSpPr>
          <p:cNvPr id="19" name="Text 17"/>
          <p:cNvSpPr/>
          <p:nvPr/>
        </p:nvSpPr>
        <p:spPr>
          <a:xfrm>
            <a:off x="4443984" y="3429000"/>
            <a:ext cx="3218688" cy="274320"/>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Evidence automation · compliant by construction</a:t>
            </a:r>
            <a:endParaRPr lang="en-US" sz="920" dirty="0"/>
          </a:p>
        </p:txBody>
      </p:sp>
      <p:sp>
        <p:nvSpPr>
          <p:cNvPr id="20" name="Shape 18"/>
          <p:cNvSpPr/>
          <p:nvPr/>
        </p:nvSpPr>
        <p:spPr>
          <a:xfrm>
            <a:off x="8028432" y="2212848"/>
            <a:ext cx="3520440" cy="384048"/>
          </a:xfrm>
          <a:prstGeom prst="rect">
            <a:avLst/>
          </a:prstGeom>
          <a:solidFill>
            <a:srgbClr val="4C9A2A"/>
          </a:solidFill>
          <a:ln/>
        </p:spPr>
      </p:sp>
      <p:sp>
        <p:nvSpPr>
          <p:cNvPr id="21" name="Text 19"/>
          <p:cNvSpPr/>
          <p:nvPr/>
        </p:nvSpPr>
        <p:spPr>
          <a:xfrm>
            <a:off x="8174736" y="2295144"/>
            <a:ext cx="3200400" cy="219456"/>
          </a:xfrm>
          <a:prstGeom prst="rect">
            <a:avLst/>
          </a:prstGeom>
          <a:noFill/>
          <a:ln/>
        </p:spPr>
        <p:txBody>
          <a:bodyPr wrap="square" lIns="0" tIns="0" rIns="0" bIns="0" rtlCol="0" anchor="ctr"/>
          <a:lstStyle/>
          <a:p>
            <a:pPr indent="0" marL="0">
              <a:buNone/>
            </a:pPr>
            <a:r>
              <a:rPr lang="en-US" sz="950" b="1" spc="140" kern="0" dirty="0">
                <a:solidFill>
                  <a:srgbClr val="FFFFFF"/>
                </a:solidFill>
                <a:latin typeface="Calibri" pitchFamily="34" charset="0"/>
                <a:ea typeface="Calibri" pitchFamily="34" charset="-122"/>
                <a:cs typeface="Calibri" pitchFamily="34" charset="-120"/>
              </a:rPr>
              <a:t>INCIDENT TOIL</a:t>
            </a:r>
            <a:endParaRPr lang="en-US" sz="950" dirty="0"/>
          </a:p>
        </p:txBody>
      </p:sp>
      <p:sp>
        <p:nvSpPr>
          <p:cNvPr id="22" name="Shape 20"/>
          <p:cNvSpPr/>
          <p:nvPr/>
        </p:nvSpPr>
        <p:spPr>
          <a:xfrm>
            <a:off x="8028432" y="2596896"/>
            <a:ext cx="3520440" cy="1133856"/>
          </a:xfrm>
          <a:prstGeom prst="rect">
            <a:avLst/>
          </a:prstGeom>
          <a:solidFill>
            <a:srgbClr val="F4F7FB"/>
          </a:solidFill>
          <a:ln w="6350">
            <a:solidFill>
              <a:srgbClr val="D7DDE5"/>
            </a:solidFill>
            <a:prstDash val="solid"/>
          </a:ln>
        </p:spPr>
      </p:sp>
      <p:sp>
        <p:nvSpPr>
          <p:cNvPr id="23" name="Text 21"/>
          <p:cNvSpPr/>
          <p:nvPr/>
        </p:nvSpPr>
        <p:spPr>
          <a:xfrm>
            <a:off x="8174736" y="2688336"/>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toil</a:t>
            </a:r>
            <a:endParaRPr lang="en-US" sz="760" dirty="0"/>
          </a:p>
        </p:txBody>
      </p:sp>
      <p:sp>
        <p:nvSpPr>
          <p:cNvPr id="24" name="Text 22"/>
          <p:cNvSpPr/>
          <p:nvPr/>
        </p:nvSpPr>
        <p:spPr>
          <a:xfrm>
            <a:off x="8174736" y="2862072"/>
            <a:ext cx="3218688" cy="384048"/>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Alert triage · repeat incidents · known-error firefighting</a:t>
            </a:r>
            <a:endParaRPr lang="en-US" sz="920" dirty="0"/>
          </a:p>
        </p:txBody>
      </p:sp>
      <p:sp>
        <p:nvSpPr>
          <p:cNvPr id="25" name="Text 23"/>
          <p:cNvSpPr/>
          <p:nvPr/>
        </p:nvSpPr>
        <p:spPr>
          <a:xfrm>
            <a:off x="8174736" y="3255264"/>
            <a:ext cx="3200400" cy="164592"/>
          </a:xfrm>
          <a:prstGeom prst="rect">
            <a:avLst/>
          </a:prstGeom>
          <a:noFill/>
          <a:ln/>
        </p:spPr>
        <p:txBody>
          <a:bodyPr wrap="square" lIns="0" tIns="0" rIns="0" bIns="0" rtlCol="0" anchor="ctr"/>
          <a:lstStyle/>
          <a:p>
            <a:pPr indent="0" marL="0">
              <a:buNone/>
            </a:pPr>
            <a:r>
              <a:rPr lang="en-US" sz="760" b="1" spc="120" kern="0" dirty="0">
                <a:solidFill>
                  <a:srgbClr val="5C6773"/>
                </a:solidFill>
                <a:latin typeface="Calibri" pitchFamily="34" charset="0"/>
                <a:ea typeface="Calibri" pitchFamily="34" charset="-122"/>
                <a:cs typeface="Calibri" pitchFamily="34" charset="-120"/>
              </a:rPr>
              <a:t>The mechanism</a:t>
            </a:r>
            <a:endParaRPr lang="en-US" sz="760" dirty="0"/>
          </a:p>
        </p:txBody>
      </p:sp>
      <p:sp>
        <p:nvSpPr>
          <p:cNvPr id="26" name="Text 24"/>
          <p:cNvSpPr/>
          <p:nvPr/>
        </p:nvSpPr>
        <p:spPr>
          <a:xfrm>
            <a:off x="8174736" y="3429000"/>
            <a:ext cx="3218688" cy="274320"/>
          </a:xfrm>
          <a:prstGeom prst="rect">
            <a:avLst/>
          </a:prstGeom>
          <a:noFill/>
          <a:ln/>
        </p:spPr>
        <p:txBody>
          <a:bodyPr wrap="square" lIns="0" tIns="0" rIns="0" bIns="0" rtlCol="0" anchor="ctr"/>
          <a:lstStyle/>
          <a:p>
            <a:pPr indent="0" marL="0">
              <a:lnSpc>
                <a:spcPts val="1180"/>
              </a:lnSpc>
              <a:buNone/>
            </a:pPr>
            <a:r>
              <a:rPr lang="en-US" sz="920" dirty="0">
                <a:solidFill>
                  <a:srgbClr val="1E252E"/>
                </a:solidFill>
                <a:latin typeface="Calibri" pitchFamily="34" charset="0"/>
                <a:ea typeface="Calibri" pitchFamily="34" charset="-122"/>
                <a:cs typeface="Calibri" pitchFamily="34" charset="-120"/>
              </a:rPr>
              <a:t>Prevention agents · alert triage · SRE practice</a:t>
            </a:r>
            <a:endParaRPr lang="en-US" sz="920" dirty="0"/>
          </a:p>
        </p:txBody>
      </p:sp>
      <p:sp>
        <p:nvSpPr>
          <p:cNvPr id="27" name="Shape 25"/>
          <p:cNvSpPr/>
          <p:nvPr/>
        </p:nvSpPr>
        <p:spPr>
          <a:xfrm>
            <a:off x="566928" y="3895344"/>
            <a:ext cx="11027664" cy="1152144"/>
          </a:xfrm>
          <a:prstGeom prst="rect">
            <a:avLst/>
          </a:prstGeom>
          <a:solidFill>
            <a:srgbClr val="EEF2F8"/>
          </a:solidFill>
          <a:ln/>
        </p:spPr>
      </p:sp>
      <p:sp>
        <p:nvSpPr>
          <p:cNvPr id="28" name="Text 26"/>
          <p:cNvSpPr/>
          <p:nvPr/>
        </p:nvSpPr>
        <p:spPr>
          <a:xfrm>
            <a:off x="768096" y="4014216"/>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AUTOMATION IS AN ACTIVITY, NOT A ROLE</a:t>
            </a:r>
            <a:endParaRPr lang="en-US" sz="850" dirty="0"/>
          </a:p>
        </p:txBody>
      </p:sp>
      <p:sp>
        <p:nvSpPr>
          <p:cNvPr id="29" name="Text 27"/>
          <p:cNvSpPr/>
          <p:nvPr/>
        </p:nvSpPr>
        <p:spPr>
          <a:xfrm>
            <a:off x="768096" y="4224528"/>
            <a:ext cx="10625328" cy="749808"/>
          </a:xfrm>
          <a:prstGeom prst="rect">
            <a:avLst/>
          </a:prstGeom>
          <a:noFill/>
          <a:ln/>
        </p:spPr>
        <p:txBody>
          <a:bodyPr wrap="square" lIns="0" tIns="0" rIns="0" bIns="0" rtlCol="0" anchor="ctr"/>
          <a:lstStyle/>
          <a:p>
            <a:pPr indent="0" marL="0">
              <a:lnSpc>
                <a:spcPts val="1380"/>
              </a:lnSpc>
              <a:buNone/>
            </a:pPr>
            <a:r>
              <a:rPr lang="en-US" sz="1050" b="1" dirty="0">
                <a:solidFill>
                  <a:srgbClr val="0B2350"/>
                </a:solidFill>
                <a:latin typeface="Calibri" pitchFamily="34" charset="0"/>
                <a:ea typeface="Calibri" pitchFamily="34" charset="-122"/>
                <a:cs typeface="Calibri" pitchFamily="34" charset="-120"/>
              </a:rPr>
              <a:t>There is no automation team and there are no automation engineers. Anyone with cycles automates — the pod lead decides who burns the toil.</a:t>
            </a:r>
            <a:endParaRPr lang="en-US" sz="1050" dirty="0"/>
          </a:p>
          <a:p>
            <a:pPr indent="0" marL="0">
              <a:lnSpc>
                <a:spcPts val="1380"/>
              </a:lnSpc>
              <a:buNone/>
            </a:pPr>
            <a:r>
              <a:rPr lang="en-US" sz="1050" dirty="0">
                <a:solidFill>
                  <a:srgbClr val="1E252E"/>
                </a:solidFill>
                <a:latin typeface="Calibri" pitchFamily="34" charset="0"/>
                <a:ea typeface="Calibri" pitchFamily="34" charset="-122"/>
                <a:cs typeface="Calibri" pitchFamily="34" charset="-120"/>
              </a:rPr>
              <a:t>The person who feels the toil is the person who eliminates it. That is why there is no seam: not between teams, and not inside the pod either. An automation team would rebuild the build/run seam one level down — same caste system, same failure: people who don't feel the pain automate the wrong things.</a:t>
            </a:r>
            <a:endParaRPr lang="en-US" sz="1050" dirty="0"/>
          </a:p>
        </p:txBody>
      </p:sp>
      <p:sp>
        <p:nvSpPr>
          <p:cNvPr id="30" name="Shape 28"/>
          <p:cNvSpPr/>
          <p:nvPr/>
        </p:nvSpPr>
        <p:spPr>
          <a:xfrm>
            <a:off x="566928" y="5175504"/>
            <a:ext cx="11027664" cy="566928"/>
          </a:xfrm>
          <a:prstGeom prst="rect">
            <a:avLst/>
          </a:prstGeom>
          <a:solidFill>
            <a:srgbClr val="0B2350"/>
          </a:solidFill>
          <a:ln/>
        </p:spPr>
      </p:sp>
      <p:sp>
        <p:nvSpPr>
          <p:cNvPr id="31" name="Text 29"/>
          <p:cNvSpPr/>
          <p:nvPr/>
        </p:nvSpPr>
        <p:spPr>
          <a:xfrm>
            <a:off x="786384" y="5303520"/>
            <a:ext cx="10588752" cy="329184"/>
          </a:xfrm>
          <a:prstGeom prst="rect">
            <a:avLst/>
          </a:prstGeom>
          <a:noFill/>
          <a:ln/>
        </p:spPr>
        <p:txBody>
          <a:bodyPr wrap="square" lIns="0" tIns="0" rIns="0" bIns="0" rtlCol="0" anchor="ctr"/>
          <a:lstStyle/>
          <a:p>
            <a:pPr indent="0" marL="0">
              <a:buNone/>
            </a:pPr>
            <a:r>
              <a:rPr lang="en-US" sz="1150" b="1" dirty="0">
                <a:solidFill>
                  <a:srgbClr val="FFD200"/>
                </a:solidFill>
                <a:latin typeface="Calibri" pitchFamily="34" charset="0"/>
                <a:ea typeface="Calibri" pitchFamily="34" charset="-122"/>
                <a:cs typeface="Calibri" pitchFamily="34" charset="-120"/>
              </a:rPr>
              <a:t>North star:  </a:t>
            </a:r>
            <a:pPr indent="0" marL="0">
              <a:buNone/>
            </a:pPr>
            <a:r>
              <a:rPr lang="en-US" sz="1150" dirty="0">
                <a:solidFill>
                  <a:srgbClr val="E8EFF9"/>
                </a:solidFill>
                <a:latin typeface="Calibri" pitchFamily="34" charset="0"/>
                <a:ea typeface="Calibri" pitchFamily="34" charset="-122"/>
                <a:cs typeface="Calibri" pitchFamily="34" charset="-120"/>
              </a:rPr>
              <a:t>toil % — the share of pod capacity spent on manual, repetitive, automatable, reactive work. One number. Everyone's number.</a:t>
            </a:r>
            <a:endParaRPr lang="en-US" sz="1150" dirty="0"/>
          </a:p>
        </p:txBody>
      </p:sp>
      <p:sp>
        <p:nvSpPr>
          <p:cNvPr id="32" name="Text 30"/>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POD GOALS  ·  ENDURING</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What the pod is for — true on day 91</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These do not expire with the pilot. Whatever the day-90 verdict, the pod still has this job.</a:t>
            </a:r>
            <a:endParaRPr lang="en-US" sz="1200" dirty="0"/>
          </a:p>
        </p:txBody>
      </p:sp>
      <p:sp>
        <p:nvSpPr>
          <p:cNvPr id="5" name="Shape 3"/>
          <p:cNvSpPr/>
          <p:nvPr/>
        </p:nvSpPr>
        <p:spPr>
          <a:xfrm>
            <a:off x="566928" y="1828800"/>
            <a:ext cx="11027664" cy="365760"/>
          </a:xfrm>
          <a:prstGeom prst="rect">
            <a:avLst/>
          </a:prstGeom>
          <a:solidFill>
            <a:srgbClr val="0B2350"/>
          </a:solidFill>
          <a:ln/>
        </p:spPr>
      </p:sp>
      <p:sp>
        <p:nvSpPr>
          <p:cNvPr id="6" name="Text 4"/>
          <p:cNvSpPr/>
          <p:nvPr/>
        </p:nvSpPr>
        <p:spPr>
          <a:xfrm>
            <a:off x="676656" y="1920240"/>
            <a:ext cx="365760" cy="201168"/>
          </a:xfrm>
          <a:prstGeom prst="rect">
            <a:avLst/>
          </a:prstGeom>
          <a:noFill/>
          <a:ln/>
        </p:spPr>
        <p:txBody>
          <a:bodyPr wrap="square" lIns="0" tIns="0" rIns="0" bIns="0" rtlCol="0" anchor="ctr"/>
          <a:lstStyle/>
          <a:p>
            <a:pPr indent="0" marL="0">
              <a:buNone/>
            </a:pPr>
            <a:endParaRPr lang="en-US" sz="800" dirty="0"/>
          </a:p>
        </p:txBody>
      </p:sp>
      <p:sp>
        <p:nvSpPr>
          <p:cNvPr id="7" name="Text 5"/>
          <p:cNvSpPr/>
          <p:nvPr/>
        </p:nvSpPr>
        <p:spPr>
          <a:xfrm>
            <a:off x="1225296" y="1920240"/>
            <a:ext cx="25603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GOAL</a:t>
            </a:r>
            <a:endParaRPr lang="en-US" sz="800" dirty="0"/>
          </a:p>
        </p:txBody>
      </p:sp>
      <p:sp>
        <p:nvSpPr>
          <p:cNvPr id="8" name="Text 6"/>
          <p:cNvSpPr/>
          <p:nvPr/>
        </p:nvSpPr>
        <p:spPr>
          <a:xfrm>
            <a:off x="3968496" y="1920240"/>
            <a:ext cx="374904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MEASURE</a:t>
            </a:r>
            <a:endParaRPr lang="en-US" sz="800" dirty="0"/>
          </a:p>
        </p:txBody>
      </p:sp>
      <p:sp>
        <p:nvSpPr>
          <p:cNvPr id="9" name="Text 7"/>
          <p:cNvSpPr/>
          <p:nvPr/>
        </p:nvSpPr>
        <p:spPr>
          <a:xfrm>
            <a:off x="7900416" y="1920240"/>
            <a:ext cx="362102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OFF TRACK IF</a:t>
            </a:r>
            <a:endParaRPr lang="en-US" sz="800" dirty="0"/>
          </a:p>
        </p:txBody>
      </p:sp>
      <p:sp>
        <p:nvSpPr>
          <p:cNvPr id="10" name="Shape 8"/>
          <p:cNvSpPr/>
          <p:nvPr/>
        </p:nvSpPr>
        <p:spPr>
          <a:xfrm>
            <a:off x="566928" y="2212848"/>
            <a:ext cx="11027664" cy="603504"/>
          </a:xfrm>
          <a:prstGeom prst="rect">
            <a:avLst/>
          </a:prstGeom>
          <a:solidFill>
            <a:srgbClr val="F4F7FB"/>
          </a:solidFill>
          <a:ln w="5080">
            <a:solidFill>
              <a:srgbClr val="D7DDE5"/>
            </a:solidFill>
            <a:prstDash val="solid"/>
          </a:ln>
        </p:spPr>
      </p:sp>
      <p:sp>
        <p:nvSpPr>
          <p:cNvPr id="11" name="Text 9"/>
          <p:cNvSpPr/>
          <p:nvPr/>
        </p:nvSpPr>
        <p:spPr>
          <a:xfrm>
            <a:off x="676656" y="2276856"/>
            <a:ext cx="365760" cy="493776"/>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G1</a:t>
            </a:r>
            <a:endParaRPr lang="en-US" sz="920" dirty="0"/>
          </a:p>
        </p:txBody>
      </p:sp>
      <p:sp>
        <p:nvSpPr>
          <p:cNvPr id="12" name="Text 10"/>
          <p:cNvSpPr/>
          <p:nvPr/>
        </p:nvSpPr>
        <p:spPr>
          <a:xfrm>
            <a:off x="1225296" y="2276856"/>
            <a:ext cx="256032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Cut operations toil</a:t>
            </a:r>
            <a:endParaRPr lang="en-US" sz="920" dirty="0"/>
          </a:p>
        </p:txBody>
      </p:sp>
      <p:sp>
        <p:nvSpPr>
          <p:cNvPr id="13" name="Text 11"/>
          <p:cNvSpPr/>
          <p:nvPr/>
        </p:nvSpPr>
        <p:spPr>
          <a:xfrm>
            <a:off x="3968496" y="2276856"/>
            <a:ext cx="374904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Ops toil % vs. baseline · provisioning lead time · self-service rate</a:t>
            </a:r>
            <a:endParaRPr lang="en-US" sz="920" dirty="0"/>
          </a:p>
        </p:txBody>
      </p:sp>
      <p:sp>
        <p:nvSpPr>
          <p:cNvPr id="14" name="Text 12"/>
          <p:cNvSpPr/>
          <p:nvPr/>
        </p:nvSpPr>
        <p:spPr>
          <a:xfrm>
            <a:off x="7900416" y="2276856"/>
            <a:ext cx="3621024"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Engineers still hand-building; module exists but nobody uses it</a:t>
            </a:r>
            <a:endParaRPr lang="en-US" sz="920" dirty="0"/>
          </a:p>
        </p:txBody>
      </p:sp>
      <p:sp>
        <p:nvSpPr>
          <p:cNvPr id="15" name="Shape 13"/>
          <p:cNvSpPr/>
          <p:nvPr/>
        </p:nvSpPr>
        <p:spPr>
          <a:xfrm>
            <a:off x="566928" y="2852928"/>
            <a:ext cx="11027664" cy="603504"/>
          </a:xfrm>
          <a:prstGeom prst="rect">
            <a:avLst/>
          </a:prstGeom>
          <a:solidFill>
            <a:srgbClr val="FFFFFF"/>
          </a:solidFill>
          <a:ln w="5080">
            <a:solidFill>
              <a:srgbClr val="D7DDE5"/>
            </a:solidFill>
            <a:prstDash val="solid"/>
          </a:ln>
        </p:spPr>
      </p:sp>
      <p:sp>
        <p:nvSpPr>
          <p:cNvPr id="16" name="Text 14"/>
          <p:cNvSpPr/>
          <p:nvPr/>
        </p:nvSpPr>
        <p:spPr>
          <a:xfrm>
            <a:off x="676656" y="2916936"/>
            <a:ext cx="365760" cy="493776"/>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G2</a:t>
            </a:r>
            <a:endParaRPr lang="en-US" sz="920" dirty="0"/>
          </a:p>
        </p:txBody>
      </p:sp>
      <p:sp>
        <p:nvSpPr>
          <p:cNvPr id="17" name="Text 15"/>
          <p:cNvSpPr/>
          <p:nvPr/>
        </p:nvSpPr>
        <p:spPr>
          <a:xfrm>
            <a:off x="1225296" y="2916936"/>
            <a:ext cx="256032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Cut compliance toil</a:t>
            </a:r>
            <a:endParaRPr lang="en-US" sz="920" dirty="0"/>
          </a:p>
        </p:txBody>
      </p:sp>
      <p:sp>
        <p:nvSpPr>
          <p:cNvPr id="18" name="Text 16"/>
          <p:cNvSpPr/>
          <p:nvPr/>
        </p:nvSpPr>
        <p:spPr>
          <a:xfrm>
            <a:off x="3968496" y="2916936"/>
            <a:ext cx="374904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Evidence person-hours per audit cycle · auto-assembly %</a:t>
            </a:r>
            <a:endParaRPr lang="en-US" sz="920" dirty="0"/>
          </a:p>
        </p:txBody>
      </p:sp>
      <p:sp>
        <p:nvSpPr>
          <p:cNvPr id="19" name="Text 17"/>
          <p:cNvSpPr/>
          <p:nvPr/>
        </p:nvSpPr>
        <p:spPr>
          <a:xfrm>
            <a:off x="7900416" y="2916936"/>
            <a:ext cx="3621024"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Audit pack still assembled by hand the week before</a:t>
            </a:r>
            <a:endParaRPr lang="en-US" sz="920" dirty="0"/>
          </a:p>
        </p:txBody>
      </p:sp>
      <p:sp>
        <p:nvSpPr>
          <p:cNvPr id="20" name="Shape 18"/>
          <p:cNvSpPr/>
          <p:nvPr/>
        </p:nvSpPr>
        <p:spPr>
          <a:xfrm>
            <a:off x="566928" y="3493008"/>
            <a:ext cx="11027664" cy="603504"/>
          </a:xfrm>
          <a:prstGeom prst="rect">
            <a:avLst/>
          </a:prstGeom>
          <a:solidFill>
            <a:srgbClr val="F4F7FB"/>
          </a:solidFill>
          <a:ln w="5080">
            <a:solidFill>
              <a:srgbClr val="D7DDE5"/>
            </a:solidFill>
            <a:prstDash val="solid"/>
          </a:ln>
        </p:spPr>
      </p:sp>
      <p:sp>
        <p:nvSpPr>
          <p:cNvPr id="21" name="Text 19"/>
          <p:cNvSpPr/>
          <p:nvPr/>
        </p:nvSpPr>
        <p:spPr>
          <a:xfrm>
            <a:off x="676656" y="3557016"/>
            <a:ext cx="365760" cy="493776"/>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G3</a:t>
            </a:r>
            <a:endParaRPr lang="en-US" sz="920" dirty="0"/>
          </a:p>
        </p:txBody>
      </p:sp>
      <p:sp>
        <p:nvSpPr>
          <p:cNvPr id="22" name="Text 20"/>
          <p:cNvSpPr/>
          <p:nvPr/>
        </p:nvSpPr>
        <p:spPr>
          <a:xfrm>
            <a:off x="1225296" y="3557016"/>
            <a:ext cx="256032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Cut incident toil</a:t>
            </a:r>
            <a:endParaRPr lang="en-US" sz="920" dirty="0"/>
          </a:p>
        </p:txBody>
      </p:sp>
      <p:sp>
        <p:nvSpPr>
          <p:cNvPr id="23" name="Text 21"/>
          <p:cNvSpPr/>
          <p:nvPr/>
        </p:nvSpPr>
        <p:spPr>
          <a:xfrm>
            <a:off x="3968496" y="3557016"/>
            <a:ext cx="374904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Alert-to-incident ratio · repeat-incident % · MTTR</a:t>
            </a:r>
            <a:endParaRPr lang="en-US" sz="920" dirty="0"/>
          </a:p>
        </p:txBody>
      </p:sp>
      <p:sp>
        <p:nvSpPr>
          <p:cNvPr id="24" name="Text 22"/>
          <p:cNvSpPr/>
          <p:nvPr/>
        </p:nvSpPr>
        <p:spPr>
          <a:xfrm>
            <a:off x="7900416" y="3557016"/>
            <a:ext cx="3621024"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Same incidents recurring; page volume unchanged</a:t>
            </a:r>
            <a:endParaRPr lang="en-US" sz="920" dirty="0"/>
          </a:p>
        </p:txBody>
      </p:sp>
      <p:sp>
        <p:nvSpPr>
          <p:cNvPr id="25" name="Shape 23"/>
          <p:cNvSpPr/>
          <p:nvPr/>
        </p:nvSpPr>
        <p:spPr>
          <a:xfrm>
            <a:off x="566928" y="4133088"/>
            <a:ext cx="11027664" cy="603504"/>
          </a:xfrm>
          <a:prstGeom prst="rect">
            <a:avLst/>
          </a:prstGeom>
          <a:solidFill>
            <a:srgbClr val="FFFFFF"/>
          </a:solidFill>
          <a:ln w="5080">
            <a:solidFill>
              <a:srgbClr val="D7DDE5"/>
            </a:solidFill>
            <a:prstDash val="solid"/>
          </a:ln>
        </p:spPr>
      </p:sp>
      <p:sp>
        <p:nvSpPr>
          <p:cNvPr id="26" name="Text 24"/>
          <p:cNvSpPr/>
          <p:nvPr/>
        </p:nvSpPr>
        <p:spPr>
          <a:xfrm>
            <a:off x="676656" y="4197096"/>
            <a:ext cx="365760" cy="493776"/>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G4</a:t>
            </a:r>
            <a:endParaRPr lang="en-US" sz="920" dirty="0"/>
          </a:p>
        </p:txBody>
      </p:sp>
      <p:sp>
        <p:nvSpPr>
          <p:cNvPr id="27" name="Text 25"/>
          <p:cNvSpPr/>
          <p:nvPr/>
        </p:nvSpPr>
        <p:spPr>
          <a:xfrm>
            <a:off x="1225296" y="4197096"/>
            <a:ext cx="256032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Own the engine end-to-end</a:t>
            </a:r>
            <a:endParaRPr lang="en-US" sz="920" dirty="0"/>
          </a:p>
        </p:txBody>
      </p:sp>
      <p:sp>
        <p:nvSpPr>
          <p:cNvPr id="28" name="Text 26"/>
          <p:cNvSpPr/>
          <p:nvPr/>
        </p:nvSpPr>
        <p:spPr>
          <a:xfrm>
            <a:off x="3968496" y="4197096"/>
            <a:ext cx="3749040"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 work through the front door · build and run in one team</a:t>
            </a:r>
            <a:endParaRPr lang="en-US" sz="920" dirty="0"/>
          </a:p>
        </p:txBody>
      </p:sp>
      <p:sp>
        <p:nvSpPr>
          <p:cNvPr id="29" name="Text 27"/>
          <p:cNvSpPr/>
          <p:nvPr/>
        </p:nvSpPr>
        <p:spPr>
          <a:xfrm>
            <a:off x="7900416" y="4197096"/>
            <a:ext cx="3621024" cy="493776"/>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Work arrives via side channels; run drifts back out</a:t>
            </a:r>
            <a:endParaRPr lang="en-US" sz="920" dirty="0"/>
          </a:p>
        </p:txBody>
      </p:sp>
      <p:sp>
        <p:nvSpPr>
          <p:cNvPr id="30" name="Shape 28"/>
          <p:cNvSpPr/>
          <p:nvPr/>
        </p:nvSpPr>
        <p:spPr>
          <a:xfrm>
            <a:off x="566928" y="4956048"/>
            <a:ext cx="11027664" cy="713232"/>
          </a:xfrm>
          <a:prstGeom prst="rect">
            <a:avLst/>
          </a:prstGeom>
          <a:solidFill>
            <a:srgbClr val="0B2350"/>
          </a:solidFill>
          <a:ln/>
        </p:spPr>
      </p:sp>
      <p:sp>
        <p:nvSpPr>
          <p:cNvPr id="31" name="Text 29"/>
          <p:cNvSpPr/>
          <p:nvPr/>
        </p:nvSpPr>
        <p:spPr>
          <a:xfrm>
            <a:off x="768096" y="5074920"/>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THERE IS NO OWNER COLUMN HERE, AND THAT IS DELIBERATE</a:t>
            </a:r>
            <a:endParaRPr lang="en-US" sz="850" dirty="0"/>
          </a:p>
        </p:txBody>
      </p:sp>
      <p:sp>
        <p:nvSpPr>
          <p:cNvPr id="32" name="Text 30"/>
          <p:cNvSpPr/>
          <p:nvPr/>
        </p:nvSpPr>
        <p:spPr>
          <a:xfrm>
            <a:off x="768096" y="5285232"/>
            <a:ext cx="10625328" cy="292608"/>
          </a:xfrm>
          <a:prstGeom prst="rect">
            <a:avLst/>
          </a:prstGeom>
          <a:noFill/>
          <a:ln/>
        </p:spPr>
        <p:txBody>
          <a:bodyPr wrap="square" lIns="0" tIns="0" rIns="0" bIns="0" rtlCol="0" anchor="ctr"/>
          <a:lstStyle/>
          <a:p>
            <a:pPr indent="0" marL="0">
              <a:lnSpc>
                <a:spcPts val="1450"/>
              </a:lnSpc>
              <a:buNone/>
            </a:pPr>
            <a:r>
              <a:rPr lang="en-US" sz="1050" b="1" dirty="0">
                <a:solidFill>
                  <a:srgbClr val="FFD200"/>
                </a:solidFill>
                <a:latin typeface="Calibri" pitchFamily="34" charset="0"/>
                <a:ea typeface="Calibri" pitchFamily="34" charset="-122"/>
                <a:cs typeface="Calibri" pitchFamily="34" charset="-120"/>
              </a:rPr>
              <a:t>All four goals belong to the whole pod. </a:t>
            </a:r>
            <a:pPr indent="0" marL="0">
              <a:lnSpc>
                <a:spcPts val="1450"/>
              </a:lnSpc>
              <a:buNone/>
            </a:pPr>
            <a:r>
              <a:rPr lang="en-US" sz="1050" dirty="0">
                <a:solidFill>
                  <a:srgbClr val="E8EFF9"/>
                </a:solidFill>
                <a:latin typeface="Calibri" pitchFamily="34" charset="0"/>
                <a:ea typeface="Calibri" pitchFamily="34" charset="-122"/>
                <a:cs typeface="Calibri" pitchFamily="34" charset="-120"/>
              </a:rPr>
              <a:t>Compliance toil is not "Tigers' goal" and ops toil is not "Eng's goal" — parcelling them out rebuilds the silos one level down and gives everyone a goal that isn't theirs to duck. Whoever has cycles works whichever pool needs it; the pod lead makes that call week to week.</a:t>
            </a:r>
            <a:endParaRPr lang="en-US" sz="1050" dirty="0"/>
          </a:p>
        </p:txBody>
      </p:sp>
      <p:sp>
        <p:nvSpPr>
          <p:cNvPr id="33" name="Shape 31"/>
          <p:cNvSpPr/>
          <p:nvPr/>
        </p:nvSpPr>
        <p:spPr>
          <a:xfrm>
            <a:off x="566928" y="5779008"/>
            <a:ext cx="11027664" cy="457200"/>
          </a:xfrm>
          <a:prstGeom prst="rect">
            <a:avLst/>
          </a:prstGeom>
          <a:solidFill>
            <a:srgbClr val="EEF2F8"/>
          </a:solidFill>
          <a:ln/>
        </p:spPr>
      </p:sp>
      <p:sp>
        <p:nvSpPr>
          <p:cNvPr id="34" name="Text 32"/>
          <p:cNvSpPr/>
          <p:nvPr/>
        </p:nvSpPr>
        <p:spPr>
          <a:xfrm>
            <a:off x="768096" y="5907024"/>
            <a:ext cx="10625328" cy="237744"/>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Targets are relative deltas.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Absolute numbers get filled at day 30 once the baseline lands — in public, once. A target invented on day 0 is a number nobody believed anyway.</a:t>
            </a:r>
            <a:endParaRPr lang="en-US" sz="1100" dirty="0"/>
          </a:p>
        </p:txBody>
      </p:sp>
      <p:sp>
        <p:nvSpPr>
          <p:cNvPr id="35" name="Text 33"/>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PILOT GOALS  ·  EXPIRE AT DAY 90</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What the 90 days delivers</a:t>
            </a:r>
            <a:endParaRPr lang="en-US" sz="3100" dirty="0"/>
          </a:p>
        </p:txBody>
      </p:sp>
      <p:sp>
        <p:nvSpPr>
          <p:cNvPr id="4" name="Shape 2"/>
          <p:cNvSpPr/>
          <p:nvPr/>
        </p:nvSpPr>
        <p:spPr>
          <a:xfrm>
            <a:off x="566928" y="1371600"/>
            <a:ext cx="7315200" cy="1042416"/>
          </a:xfrm>
          <a:prstGeom prst="rect">
            <a:avLst/>
          </a:prstGeom>
          <a:solidFill>
            <a:srgbClr val="FFFFFF"/>
          </a:solidFill>
          <a:ln w="7620">
            <a:solidFill>
              <a:srgbClr val="D7DDE5"/>
            </a:solidFill>
            <a:prstDash val="solid"/>
          </a:ln>
        </p:spPr>
      </p:sp>
      <p:sp>
        <p:nvSpPr>
          <p:cNvPr id="5" name="Shape 3"/>
          <p:cNvSpPr/>
          <p:nvPr/>
        </p:nvSpPr>
        <p:spPr>
          <a:xfrm>
            <a:off x="566928" y="1371600"/>
            <a:ext cx="658368" cy="1042416"/>
          </a:xfrm>
          <a:prstGeom prst="rect">
            <a:avLst/>
          </a:prstGeom>
          <a:solidFill>
            <a:srgbClr val="0B2350"/>
          </a:solidFill>
          <a:ln/>
        </p:spPr>
      </p:sp>
      <p:sp>
        <p:nvSpPr>
          <p:cNvPr id="6" name="Text 4"/>
          <p:cNvSpPr/>
          <p:nvPr/>
        </p:nvSpPr>
        <p:spPr>
          <a:xfrm>
            <a:off x="566928" y="1737360"/>
            <a:ext cx="658368" cy="274320"/>
          </a:xfrm>
          <a:prstGeom prst="rect">
            <a:avLst/>
          </a:prstGeom>
          <a:noFill/>
          <a:ln/>
        </p:spPr>
        <p:txBody>
          <a:bodyPr wrap="square" lIns="0" tIns="0" rIns="0" bIns="0" rtlCol="0" anchor="ctr"/>
          <a:lstStyle/>
          <a:p>
            <a:pPr algn="ctr" indent="0" marL="0">
              <a:buNone/>
            </a:pPr>
            <a:r>
              <a:rPr lang="en-US" sz="1600" b="1" dirty="0">
                <a:solidFill>
                  <a:srgbClr val="FFD200"/>
                </a:solidFill>
                <a:latin typeface="Cambria" pitchFamily="34" charset="0"/>
                <a:ea typeface="Cambria" pitchFamily="34" charset="-122"/>
                <a:cs typeface="Cambria" pitchFamily="34" charset="-120"/>
              </a:rPr>
              <a:t>P1</a:t>
            </a:r>
            <a:endParaRPr lang="en-US" sz="1600" dirty="0"/>
          </a:p>
        </p:txBody>
      </p:sp>
      <p:sp>
        <p:nvSpPr>
          <p:cNvPr id="7" name="Text 5"/>
          <p:cNvSpPr/>
          <p:nvPr/>
        </p:nvSpPr>
        <p:spPr>
          <a:xfrm>
            <a:off x="1389888" y="1463040"/>
            <a:ext cx="2743200" cy="237744"/>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Make the contracts work</a:t>
            </a:r>
            <a:endParaRPr lang="en-US" sz="1300" dirty="0"/>
          </a:p>
        </p:txBody>
      </p:sp>
      <p:sp>
        <p:nvSpPr>
          <p:cNvPr id="8" name="Text 6"/>
          <p:cNvSpPr/>
          <p:nvPr/>
        </p:nvSpPr>
        <p:spPr>
          <a:xfrm>
            <a:off x="1389888" y="1700784"/>
            <a:ext cx="6309360" cy="219456"/>
          </a:xfrm>
          <a:prstGeom prst="rect">
            <a:avLst/>
          </a:prstGeom>
          <a:noFill/>
          <a:ln/>
        </p:spPr>
        <p:txBody>
          <a:bodyPr wrap="square" lIns="0" tIns="0" rIns="0" bIns="0" rtlCol="0" anchor="ctr"/>
          <a:lstStyle/>
          <a:p>
            <a:pPr indent="0" marL="0">
              <a:buNone/>
            </a:pPr>
            <a:r>
              <a:rPr lang="en-US" sz="940" dirty="0">
                <a:solidFill>
                  <a:srgbClr val="1E252E"/>
                </a:solidFill>
                <a:latin typeface="Calibri" pitchFamily="34" charset="0"/>
                <a:ea typeface="Calibri" pitchFamily="34" charset="-122"/>
                <a:cs typeface="Calibri" pitchFamily="34" charset="-120"/>
              </a:rPr>
              <a:t>Consume Zephyr, IntOps and Capacity as products — rebuild nothing</a:t>
            </a:r>
            <a:endParaRPr lang="en-US" sz="940" dirty="0"/>
          </a:p>
        </p:txBody>
      </p:sp>
      <p:sp>
        <p:nvSpPr>
          <p:cNvPr id="9" name="Text 7"/>
          <p:cNvSpPr/>
          <p:nvPr/>
        </p:nvSpPr>
        <p:spPr>
          <a:xfrm>
            <a:off x="1389888" y="1920240"/>
            <a:ext cx="6309360" cy="201168"/>
          </a:xfrm>
          <a:prstGeom prst="rect">
            <a:avLst/>
          </a:prstGeom>
          <a:noFill/>
          <a:ln/>
        </p:spPr>
        <p:txBody>
          <a:bodyPr wrap="square" lIns="0" tIns="0" rIns="0" bIns="0" rtlCol="0" anchor="ctr"/>
          <a:lstStyle/>
          <a:p>
            <a:pPr indent="0" marL="0">
              <a:buNone/>
            </a:pPr>
            <a:r>
              <a:rPr lang="en-US" sz="860" i="1" dirty="0">
                <a:solidFill>
                  <a:srgbClr val="005DAA"/>
                </a:solidFill>
                <a:latin typeface="Calibri" pitchFamily="34" charset="0"/>
                <a:ea typeface="Calibri" pitchFamily="34" charset="-122"/>
                <a:cs typeface="Calibri" pitchFamily="34" charset="-120"/>
              </a:rPr>
              <a:t>Measure: Blocked-on-horizontal days · module reuse · Zephyr pull-ins/week</a:t>
            </a:r>
            <a:endParaRPr lang="en-US" sz="860" dirty="0"/>
          </a:p>
        </p:txBody>
      </p:sp>
      <p:sp>
        <p:nvSpPr>
          <p:cNvPr id="10" name="Text 8"/>
          <p:cNvSpPr/>
          <p:nvPr/>
        </p:nvSpPr>
        <p:spPr>
          <a:xfrm>
            <a:off x="1389888" y="2121408"/>
            <a:ext cx="6309360" cy="237744"/>
          </a:xfrm>
          <a:prstGeom prst="rect">
            <a:avLst/>
          </a:prstGeom>
          <a:noFill/>
          <a:ln/>
        </p:spPr>
        <p:txBody>
          <a:bodyPr wrap="square" lIns="0" tIns="0" rIns="0" bIns="0" rtlCol="0" anchor="ctr"/>
          <a:lstStyle/>
          <a:p>
            <a:pPr indent="0" marL="0">
              <a:buNone/>
            </a:pPr>
            <a:r>
              <a:rPr lang="en-US" sz="860" i="1" dirty="0">
                <a:solidFill>
                  <a:srgbClr val="C0392B"/>
                </a:solidFill>
                <a:latin typeface="Calibri" pitchFamily="34" charset="0"/>
                <a:ea typeface="Calibri" pitchFamily="34" charset="-122"/>
                <a:cs typeface="Calibri" pitchFamily="34" charset="-120"/>
              </a:rPr>
              <a:t>Off track if: Pod is gated waiting on horizontals — or quietly rebuilds what it should consume</a:t>
            </a:r>
            <a:endParaRPr lang="en-US" sz="860" dirty="0"/>
          </a:p>
        </p:txBody>
      </p:sp>
      <p:sp>
        <p:nvSpPr>
          <p:cNvPr id="11" name="Shape 9"/>
          <p:cNvSpPr/>
          <p:nvPr/>
        </p:nvSpPr>
        <p:spPr>
          <a:xfrm>
            <a:off x="566928" y="2523744"/>
            <a:ext cx="7315200" cy="1042416"/>
          </a:xfrm>
          <a:prstGeom prst="rect">
            <a:avLst/>
          </a:prstGeom>
          <a:solidFill>
            <a:srgbClr val="FFFFFF"/>
          </a:solidFill>
          <a:ln w="7620">
            <a:solidFill>
              <a:srgbClr val="D7DDE5"/>
            </a:solidFill>
            <a:prstDash val="solid"/>
          </a:ln>
        </p:spPr>
      </p:sp>
      <p:sp>
        <p:nvSpPr>
          <p:cNvPr id="12" name="Shape 10"/>
          <p:cNvSpPr/>
          <p:nvPr/>
        </p:nvSpPr>
        <p:spPr>
          <a:xfrm>
            <a:off x="566928" y="2523744"/>
            <a:ext cx="658368" cy="1042416"/>
          </a:xfrm>
          <a:prstGeom prst="rect">
            <a:avLst/>
          </a:prstGeom>
          <a:solidFill>
            <a:srgbClr val="0B2350"/>
          </a:solidFill>
          <a:ln/>
        </p:spPr>
      </p:sp>
      <p:sp>
        <p:nvSpPr>
          <p:cNvPr id="13" name="Text 11"/>
          <p:cNvSpPr/>
          <p:nvPr/>
        </p:nvSpPr>
        <p:spPr>
          <a:xfrm>
            <a:off x="566928" y="2889504"/>
            <a:ext cx="658368" cy="274320"/>
          </a:xfrm>
          <a:prstGeom prst="rect">
            <a:avLst/>
          </a:prstGeom>
          <a:noFill/>
          <a:ln/>
        </p:spPr>
        <p:txBody>
          <a:bodyPr wrap="square" lIns="0" tIns="0" rIns="0" bIns="0" rtlCol="0" anchor="ctr"/>
          <a:lstStyle/>
          <a:p>
            <a:pPr algn="ctr" indent="0" marL="0">
              <a:buNone/>
            </a:pPr>
            <a:r>
              <a:rPr lang="en-US" sz="1600" b="1" dirty="0">
                <a:solidFill>
                  <a:srgbClr val="FFD200"/>
                </a:solidFill>
                <a:latin typeface="Cambria" pitchFamily="34" charset="0"/>
                <a:ea typeface="Cambria" pitchFamily="34" charset="-122"/>
                <a:cs typeface="Cambria" pitchFamily="34" charset="-120"/>
              </a:rPr>
              <a:t>P2</a:t>
            </a:r>
            <a:endParaRPr lang="en-US" sz="1600" dirty="0"/>
          </a:p>
        </p:txBody>
      </p:sp>
      <p:sp>
        <p:nvSpPr>
          <p:cNvPr id="14" name="Text 12"/>
          <p:cNvSpPr/>
          <p:nvPr/>
        </p:nvSpPr>
        <p:spPr>
          <a:xfrm>
            <a:off x="1389888" y="2615184"/>
            <a:ext cx="2743200" cy="237744"/>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Put the agents to work</a:t>
            </a:r>
            <a:endParaRPr lang="en-US" sz="1300" dirty="0"/>
          </a:p>
        </p:txBody>
      </p:sp>
      <p:sp>
        <p:nvSpPr>
          <p:cNvPr id="15" name="Text 13"/>
          <p:cNvSpPr/>
          <p:nvPr/>
        </p:nvSpPr>
        <p:spPr>
          <a:xfrm>
            <a:off x="1389888" y="2852928"/>
            <a:ext cx="6309360" cy="219456"/>
          </a:xfrm>
          <a:prstGeom prst="rect">
            <a:avLst/>
          </a:prstGeom>
          <a:noFill/>
          <a:ln/>
        </p:spPr>
        <p:txBody>
          <a:bodyPr wrap="square" lIns="0" tIns="0" rIns="0" bIns="0" rtlCol="0" anchor="ctr"/>
          <a:lstStyle/>
          <a:p>
            <a:pPr indent="0" marL="0">
              <a:buNone/>
            </a:pPr>
            <a:r>
              <a:rPr lang="en-US" sz="940" dirty="0">
                <a:solidFill>
                  <a:srgbClr val="1E252E"/>
                </a:solidFill>
                <a:latin typeface="Calibri" pitchFamily="34" charset="0"/>
                <a:ea typeface="Calibri" pitchFamily="34" charset="-122"/>
                <a:cs typeface="Calibri" pitchFamily="34" charset="-120"/>
              </a:rPr>
              <a:t>Agent-proposed change on patch and evidence, with a human deciding</a:t>
            </a:r>
            <a:endParaRPr lang="en-US" sz="940" dirty="0"/>
          </a:p>
        </p:txBody>
      </p:sp>
      <p:sp>
        <p:nvSpPr>
          <p:cNvPr id="16" name="Text 14"/>
          <p:cNvSpPr/>
          <p:nvPr/>
        </p:nvSpPr>
        <p:spPr>
          <a:xfrm>
            <a:off x="1389888" y="3072384"/>
            <a:ext cx="6309360" cy="201168"/>
          </a:xfrm>
          <a:prstGeom prst="rect">
            <a:avLst/>
          </a:prstGeom>
          <a:noFill/>
          <a:ln/>
        </p:spPr>
        <p:txBody>
          <a:bodyPr wrap="square" lIns="0" tIns="0" rIns="0" bIns="0" rtlCol="0" anchor="ctr"/>
          <a:lstStyle/>
          <a:p>
            <a:pPr indent="0" marL="0">
              <a:buNone/>
            </a:pPr>
            <a:r>
              <a:rPr lang="en-US" sz="860" i="1" dirty="0">
                <a:solidFill>
                  <a:srgbClr val="005DAA"/>
                </a:solidFill>
                <a:latin typeface="Calibri" pitchFamily="34" charset="0"/>
                <a:ea typeface="Calibri" pitchFamily="34" charset="-122"/>
                <a:cs typeface="Calibri" pitchFamily="34" charset="-120"/>
              </a:rPr>
              <a:t>Measure: PRs proposed / approved / rejected</a:t>
            </a:r>
            <a:endParaRPr lang="en-US" sz="860" dirty="0"/>
          </a:p>
        </p:txBody>
      </p:sp>
      <p:sp>
        <p:nvSpPr>
          <p:cNvPr id="17" name="Text 15"/>
          <p:cNvSpPr/>
          <p:nvPr/>
        </p:nvSpPr>
        <p:spPr>
          <a:xfrm>
            <a:off x="1389888" y="3273552"/>
            <a:ext cx="6309360" cy="237744"/>
          </a:xfrm>
          <a:prstGeom prst="rect">
            <a:avLst/>
          </a:prstGeom>
          <a:noFill/>
          <a:ln/>
        </p:spPr>
        <p:txBody>
          <a:bodyPr wrap="square" lIns="0" tIns="0" rIns="0" bIns="0" rtlCol="0" anchor="ctr"/>
          <a:lstStyle/>
          <a:p>
            <a:pPr indent="0" marL="0">
              <a:buNone/>
            </a:pPr>
            <a:r>
              <a:rPr lang="en-US" sz="860" i="1" dirty="0">
                <a:solidFill>
                  <a:srgbClr val="C0392B"/>
                </a:solidFill>
                <a:latin typeface="Calibri" pitchFamily="34" charset="0"/>
                <a:ea typeface="Calibri" pitchFamily="34" charset="-122"/>
                <a:cs typeface="Calibri" pitchFamily="34" charset="-120"/>
              </a:rPr>
              <a:t>Off track if: Agents propose noise (&gt;40% reject) — or humans rubber-stamp (&lt;5% reject)</a:t>
            </a:r>
            <a:endParaRPr lang="en-US" sz="860" dirty="0"/>
          </a:p>
        </p:txBody>
      </p:sp>
      <p:sp>
        <p:nvSpPr>
          <p:cNvPr id="18" name="Shape 16"/>
          <p:cNvSpPr/>
          <p:nvPr/>
        </p:nvSpPr>
        <p:spPr>
          <a:xfrm>
            <a:off x="566928" y="3675888"/>
            <a:ext cx="7315200" cy="1042416"/>
          </a:xfrm>
          <a:prstGeom prst="rect">
            <a:avLst/>
          </a:prstGeom>
          <a:solidFill>
            <a:srgbClr val="FFFFFF"/>
          </a:solidFill>
          <a:ln w="7620">
            <a:solidFill>
              <a:srgbClr val="D7DDE5"/>
            </a:solidFill>
            <a:prstDash val="solid"/>
          </a:ln>
        </p:spPr>
      </p:sp>
      <p:sp>
        <p:nvSpPr>
          <p:cNvPr id="19" name="Shape 17"/>
          <p:cNvSpPr/>
          <p:nvPr/>
        </p:nvSpPr>
        <p:spPr>
          <a:xfrm>
            <a:off x="566928" y="3675888"/>
            <a:ext cx="658368" cy="1042416"/>
          </a:xfrm>
          <a:prstGeom prst="rect">
            <a:avLst/>
          </a:prstGeom>
          <a:solidFill>
            <a:srgbClr val="0B2350"/>
          </a:solidFill>
          <a:ln/>
        </p:spPr>
      </p:sp>
      <p:sp>
        <p:nvSpPr>
          <p:cNvPr id="20" name="Text 18"/>
          <p:cNvSpPr/>
          <p:nvPr/>
        </p:nvSpPr>
        <p:spPr>
          <a:xfrm>
            <a:off x="566928" y="4041648"/>
            <a:ext cx="658368" cy="274320"/>
          </a:xfrm>
          <a:prstGeom prst="rect">
            <a:avLst/>
          </a:prstGeom>
          <a:noFill/>
          <a:ln/>
        </p:spPr>
        <p:txBody>
          <a:bodyPr wrap="square" lIns="0" tIns="0" rIns="0" bIns="0" rtlCol="0" anchor="ctr"/>
          <a:lstStyle/>
          <a:p>
            <a:pPr algn="ctr" indent="0" marL="0">
              <a:buNone/>
            </a:pPr>
            <a:r>
              <a:rPr lang="en-US" sz="1600" b="1" dirty="0">
                <a:solidFill>
                  <a:srgbClr val="FFD200"/>
                </a:solidFill>
                <a:latin typeface="Cambria" pitchFamily="34" charset="0"/>
                <a:ea typeface="Cambria" pitchFamily="34" charset="-122"/>
                <a:cs typeface="Cambria" pitchFamily="34" charset="-120"/>
              </a:rPr>
              <a:t>P3</a:t>
            </a:r>
            <a:endParaRPr lang="en-US" sz="1600" dirty="0"/>
          </a:p>
        </p:txBody>
      </p:sp>
      <p:sp>
        <p:nvSpPr>
          <p:cNvPr id="21" name="Text 19"/>
          <p:cNvSpPr/>
          <p:nvPr/>
        </p:nvSpPr>
        <p:spPr>
          <a:xfrm>
            <a:off x="1389888" y="3767328"/>
            <a:ext cx="2743200" cy="237744"/>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Produce the repeatable pattern</a:t>
            </a:r>
            <a:endParaRPr lang="en-US" sz="1300" dirty="0"/>
          </a:p>
        </p:txBody>
      </p:sp>
      <p:sp>
        <p:nvSpPr>
          <p:cNvPr id="22" name="Text 20"/>
          <p:cNvSpPr/>
          <p:nvPr/>
        </p:nvSpPr>
        <p:spPr>
          <a:xfrm>
            <a:off x="1389888" y="4005072"/>
            <a:ext cx="6309360" cy="219456"/>
          </a:xfrm>
          <a:prstGeom prst="rect">
            <a:avLst/>
          </a:prstGeom>
          <a:noFill/>
          <a:ln/>
        </p:spPr>
        <p:txBody>
          <a:bodyPr wrap="square" lIns="0" tIns="0" rIns="0" bIns="0" rtlCol="0" anchor="ctr"/>
          <a:lstStyle/>
          <a:p>
            <a:pPr indent="0" marL="0">
              <a:buNone/>
            </a:pPr>
            <a:r>
              <a:rPr lang="en-US" sz="940" dirty="0">
                <a:solidFill>
                  <a:srgbClr val="1E252E"/>
                </a:solidFill>
                <a:latin typeface="Calibri" pitchFamily="34" charset="0"/>
                <a:ea typeface="Calibri" pitchFamily="34" charset="-122"/>
                <a:cs typeface="Calibri" pitchFamily="34" charset="-120"/>
              </a:rPr>
              <a:t>The artifact engine #2 inherits</a:t>
            </a:r>
            <a:endParaRPr lang="en-US" sz="940" dirty="0"/>
          </a:p>
        </p:txBody>
      </p:sp>
      <p:sp>
        <p:nvSpPr>
          <p:cNvPr id="23" name="Text 21"/>
          <p:cNvSpPr/>
          <p:nvPr/>
        </p:nvSpPr>
        <p:spPr>
          <a:xfrm>
            <a:off x="1389888" y="4224528"/>
            <a:ext cx="6309360" cy="201168"/>
          </a:xfrm>
          <a:prstGeom prst="rect">
            <a:avLst/>
          </a:prstGeom>
          <a:noFill/>
          <a:ln/>
        </p:spPr>
        <p:txBody>
          <a:bodyPr wrap="square" lIns="0" tIns="0" rIns="0" bIns="0" rtlCol="0" anchor="ctr"/>
          <a:lstStyle/>
          <a:p>
            <a:pPr indent="0" marL="0">
              <a:buNone/>
            </a:pPr>
            <a:r>
              <a:rPr lang="en-US" sz="860" i="1" dirty="0">
                <a:solidFill>
                  <a:srgbClr val="005DAA"/>
                </a:solidFill>
                <a:latin typeface="Calibri" pitchFamily="34" charset="0"/>
                <a:ea typeface="Calibri" pitchFamily="34" charset="-122"/>
                <a:cs typeface="Calibri" pitchFamily="34" charset="-120"/>
              </a:rPr>
              <a:t>Measure: The pattern doc: charter, contracts, board config, toil taxonomy, metrics</a:t>
            </a:r>
            <a:endParaRPr lang="en-US" sz="860" dirty="0"/>
          </a:p>
        </p:txBody>
      </p:sp>
      <p:sp>
        <p:nvSpPr>
          <p:cNvPr id="24" name="Text 22"/>
          <p:cNvSpPr/>
          <p:nvPr/>
        </p:nvSpPr>
        <p:spPr>
          <a:xfrm>
            <a:off x="1389888" y="4425696"/>
            <a:ext cx="6309360" cy="237744"/>
          </a:xfrm>
          <a:prstGeom prst="rect">
            <a:avLst/>
          </a:prstGeom>
          <a:noFill/>
          <a:ln/>
        </p:spPr>
        <p:txBody>
          <a:bodyPr wrap="square" lIns="0" tIns="0" rIns="0" bIns="0" rtlCol="0" anchor="ctr"/>
          <a:lstStyle/>
          <a:p>
            <a:pPr indent="0" marL="0">
              <a:buNone/>
            </a:pPr>
            <a:r>
              <a:rPr lang="en-US" sz="860" i="1" dirty="0">
                <a:solidFill>
                  <a:srgbClr val="C0392B"/>
                </a:solidFill>
                <a:latin typeface="Calibri" pitchFamily="34" charset="0"/>
                <a:ea typeface="Calibri" pitchFamily="34" charset="-122"/>
                <a:cs typeface="Calibri" pitchFamily="34" charset="-120"/>
              </a:rPr>
              <a:t>Off track if: SQL Server gets quieter but nothing transfers</a:t>
            </a:r>
            <a:endParaRPr lang="en-US" sz="860" dirty="0"/>
          </a:p>
        </p:txBody>
      </p:sp>
      <p:sp>
        <p:nvSpPr>
          <p:cNvPr id="25" name="Shape 23"/>
          <p:cNvSpPr/>
          <p:nvPr/>
        </p:nvSpPr>
        <p:spPr>
          <a:xfrm>
            <a:off x="8119872" y="1371600"/>
            <a:ext cx="3438144" cy="3566160"/>
          </a:xfrm>
          <a:prstGeom prst="rect">
            <a:avLst/>
          </a:prstGeom>
          <a:solidFill>
            <a:srgbClr val="FFFFFF"/>
          </a:solidFill>
          <a:ln w="7620">
            <a:solidFill>
              <a:srgbClr val="D7DDE5"/>
            </a:solidFill>
            <a:prstDash val="solid"/>
          </a:ln>
        </p:spPr>
      </p:sp>
      <p:sp>
        <p:nvSpPr>
          <p:cNvPr id="26" name="Text 24"/>
          <p:cNvSpPr/>
          <p:nvPr/>
        </p:nvSpPr>
        <p:spPr>
          <a:xfrm>
            <a:off x="8284464" y="1499616"/>
            <a:ext cx="3108960" cy="182880"/>
          </a:xfrm>
          <a:prstGeom prst="rect">
            <a:avLst/>
          </a:prstGeom>
          <a:noFill/>
          <a:ln/>
        </p:spPr>
        <p:txBody>
          <a:bodyPr wrap="square" lIns="0" tIns="0" rIns="0" bIns="0" rtlCol="0" anchor="ctr"/>
          <a:lstStyle/>
          <a:p>
            <a:pPr indent="0" marL="0">
              <a:buNone/>
            </a:pPr>
            <a:r>
              <a:rPr lang="en-US" sz="850" b="1" spc="160" kern="0" dirty="0">
                <a:solidFill>
                  <a:srgbClr val="C0392B"/>
                </a:solidFill>
                <a:latin typeface="Calibri" pitchFamily="34" charset="0"/>
                <a:ea typeface="Calibri" pitchFamily="34" charset="-122"/>
                <a:cs typeface="Calibri" pitchFamily="34" charset="-120"/>
              </a:rPr>
              <a:t>NON-GOALS</a:t>
            </a:r>
            <a:endParaRPr lang="en-US" sz="850" dirty="0"/>
          </a:p>
        </p:txBody>
      </p:sp>
      <p:sp>
        <p:nvSpPr>
          <p:cNvPr id="27" name="Text 25"/>
          <p:cNvSpPr/>
          <p:nvPr/>
        </p:nvSpPr>
        <p:spPr>
          <a:xfrm>
            <a:off x="8284464" y="1700784"/>
            <a:ext cx="3108960" cy="274320"/>
          </a:xfrm>
          <a:prstGeom prst="rect">
            <a:avLst/>
          </a:prstGeom>
          <a:noFill/>
          <a:ln/>
        </p:spPr>
        <p:txBody>
          <a:bodyPr wrap="square" lIns="0" tIns="0" rIns="0" bIns="0" rtlCol="0" anchor="ctr"/>
          <a:lstStyle/>
          <a:p>
            <a:pPr indent="0" marL="0">
              <a:buNone/>
            </a:pPr>
            <a:r>
              <a:rPr lang="en-US" sz="1250" b="1" dirty="0">
                <a:solidFill>
                  <a:srgbClr val="0B2350"/>
                </a:solidFill>
                <a:latin typeface="Cambria" pitchFamily="34" charset="0"/>
                <a:ea typeface="Cambria" pitchFamily="34" charset="-122"/>
                <a:cs typeface="Cambria" pitchFamily="34" charset="-120"/>
              </a:rPr>
              <a:t>What this pod is not chartered to do</a:t>
            </a:r>
            <a:endParaRPr lang="en-US" sz="1250" dirty="0"/>
          </a:p>
        </p:txBody>
      </p:sp>
      <p:sp>
        <p:nvSpPr>
          <p:cNvPr id="28" name="Text 26"/>
          <p:cNvSpPr/>
          <p:nvPr/>
        </p:nvSpPr>
        <p:spPr>
          <a:xfrm>
            <a:off x="8284464" y="21396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29" name="Text 27"/>
          <p:cNvSpPr/>
          <p:nvPr/>
        </p:nvSpPr>
        <p:spPr>
          <a:xfrm>
            <a:off x="8503920" y="21031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ENGINE migration — SQL Server to PostgreSQL. That's Home-of-Best-Fit, wave 2</a:t>
            </a:r>
            <a:endParaRPr lang="en-US" sz="920" dirty="0"/>
          </a:p>
        </p:txBody>
      </p:sp>
      <p:sp>
        <p:nvSpPr>
          <p:cNvPr id="30" name="Text 28"/>
          <p:cNvSpPr/>
          <p:nvPr/>
        </p:nvSpPr>
        <p:spPr>
          <a:xfrm>
            <a:off x="8284464" y="25968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31" name="Text 29"/>
          <p:cNvSpPr/>
          <p:nvPr/>
        </p:nvSpPr>
        <p:spPr>
          <a:xfrm>
            <a:off x="8503920" y="25603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Version rationalization or re-platforming at scale</a:t>
            </a:r>
            <a:endParaRPr lang="en-US" sz="920" dirty="0"/>
          </a:p>
        </p:txBody>
      </p:sp>
      <p:sp>
        <p:nvSpPr>
          <p:cNvPr id="32" name="Text 30"/>
          <p:cNvSpPr/>
          <p:nvPr/>
        </p:nvSpPr>
        <p:spPr>
          <a:xfrm>
            <a:off x="8284464" y="30540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33" name="Text 31"/>
          <p:cNvSpPr/>
          <p:nvPr/>
        </p:nvSpPr>
        <p:spPr>
          <a:xfrm>
            <a:off x="8503920" y="30175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Solving any other engine</a:t>
            </a:r>
            <a:endParaRPr lang="en-US" sz="920" dirty="0"/>
          </a:p>
        </p:txBody>
      </p:sp>
      <p:sp>
        <p:nvSpPr>
          <p:cNvPr id="34" name="Text 32"/>
          <p:cNvSpPr/>
          <p:nvPr/>
        </p:nvSpPr>
        <p:spPr>
          <a:xfrm>
            <a:off x="8284464" y="35112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35" name="Text 33"/>
          <p:cNvSpPr/>
          <p:nvPr/>
        </p:nvSpPr>
        <p:spPr>
          <a:xfrm>
            <a:off x="8503920" y="34747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Estate-wide cost savings or headcount impact</a:t>
            </a:r>
            <a:endParaRPr lang="en-US" sz="920" dirty="0"/>
          </a:p>
        </p:txBody>
      </p:sp>
      <p:sp>
        <p:nvSpPr>
          <p:cNvPr id="36" name="Text 34"/>
          <p:cNvSpPr/>
          <p:nvPr/>
        </p:nvSpPr>
        <p:spPr>
          <a:xfrm>
            <a:off x="8284464" y="39684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37" name="Text 35"/>
          <p:cNvSpPr/>
          <p:nvPr/>
        </p:nvSpPr>
        <p:spPr>
          <a:xfrm>
            <a:off x="8503920" y="39319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Owning the control plane, compliance framework or AIOps platform</a:t>
            </a:r>
            <a:endParaRPr lang="en-US" sz="920" dirty="0"/>
          </a:p>
        </p:txBody>
      </p:sp>
      <p:sp>
        <p:nvSpPr>
          <p:cNvPr id="38" name="Text 36"/>
          <p:cNvSpPr/>
          <p:nvPr/>
        </p:nvSpPr>
        <p:spPr>
          <a:xfrm>
            <a:off x="8284464" y="4425696"/>
            <a:ext cx="182880" cy="1828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a:t>
            </a:r>
            <a:endParaRPr lang="en-US" sz="950" dirty="0"/>
          </a:p>
        </p:txBody>
      </p:sp>
      <p:sp>
        <p:nvSpPr>
          <p:cNvPr id="39" name="Text 37"/>
          <p:cNvSpPr/>
          <p:nvPr/>
        </p:nvSpPr>
        <p:spPr>
          <a:xfrm>
            <a:off x="8503920" y="4389120"/>
            <a:ext cx="2889504" cy="42062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Org redesign or role changes</a:t>
            </a:r>
            <a:endParaRPr lang="en-US" sz="920" dirty="0"/>
          </a:p>
        </p:txBody>
      </p:sp>
      <p:sp>
        <p:nvSpPr>
          <p:cNvPr id="40" name="Shape 38"/>
          <p:cNvSpPr/>
          <p:nvPr/>
        </p:nvSpPr>
        <p:spPr>
          <a:xfrm>
            <a:off x="8284464" y="4901184"/>
            <a:ext cx="3108960" cy="18288"/>
          </a:xfrm>
          <a:prstGeom prst="rect">
            <a:avLst/>
          </a:prstGeom>
          <a:solidFill>
            <a:srgbClr val="D7DDE5"/>
          </a:solidFill>
          <a:ln/>
        </p:spPr>
      </p:sp>
      <p:sp>
        <p:nvSpPr>
          <p:cNvPr id="41" name="Text 39"/>
          <p:cNvSpPr/>
          <p:nvPr/>
        </p:nvSpPr>
        <p:spPr>
          <a:xfrm>
            <a:off x="8284464" y="4992624"/>
            <a:ext cx="3108960" cy="548640"/>
          </a:xfrm>
          <a:prstGeom prst="rect">
            <a:avLst/>
          </a:prstGeom>
          <a:noFill/>
          <a:ln/>
        </p:spPr>
        <p:txBody>
          <a:bodyPr wrap="square" lIns="0" tIns="0" rIns="0" bIns="0" rtlCol="0" anchor="ctr"/>
          <a:lstStyle/>
          <a:p>
            <a:pPr indent="0" marL="0">
              <a:lnSpc>
                <a:spcPts val="1100"/>
              </a:lnSpc>
              <a:buNone/>
            </a:pPr>
            <a:r>
              <a:rPr lang="en-US" sz="880" b="1" dirty="0">
                <a:solidFill>
                  <a:srgbClr val="4C9A2A"/>
                </a:solidFill>
                <a:latin typeface="Calibri" pitchFamily="34" charset="0"/>
                <a:ea typeface="Calibri" pitchFamily="34" charset="-122"/>
                <a:cs typeface="Calibri" pitchFamily="34" charset="-120"/>
              </a:rPr>
              <a:t>✓  ESTATE migration IS in scope. </a:t>
            </a:r>
            <a:pPr indent="0" marL="0">
              <a:lnSpc>
                <a:spcPts val="1100"/>
              </a:lnSpc>
              <a:buNone/>
            </a:pPr>
            <a:r>
              <a:rPr lang="en-US" sz="880" dirty="0">
                <a:solidFill>
                  <a:srgbClr val="1E252E"/>
                </a:solidFill>
                <a:latin typeface="Calibri" pitchFamily="34" charset="0"/>
                <a:ea typeface="Calibri" pitchFamily="34" charset="-122"/>
                <a:cs typeface="Calibri" pitchFamily="34" charset="-120"/>
              </a:rPr>
              <a:t>Moving existing instances onto the automated pattern is how the toil goals get realised — see next slide. Different thing entirely from engine migration.</a:t>
            </a:r>
            <a:endParaRPr lang="en-US" sz="880" dirty="0"/>
          </a:p>
        </p:txBody>
      </p:sp>
      <p:sp>
        <p:nvSpPr>
          <p:cNvPr id="42" name="Shape 40"/>
          <p:cNvSpPr/>
          <p:nvPr/>
        </p:nvSpPr>
        <p:spPr>
          <a:xfrm>
            <a:off x="566928" y="5102352"/>
            <a:ext cx="11027664" cy="658368"/>
          </a:xfrm>
          <a:prstGeom prst="rect">
            <a:avLst/>
          </a:prstGeom>
          <a:solidFill>
            <a:srgbClr val="0B2350"/>
          </a:solidFill>
          <a:ln/>
        </p:spPr>
      </p:sp>
      <p:sp>
        <p:nvSpPr>
          <p:cNvPr id="43" name="Text 41"/>
          <p:cNvSpPr/>
          <p:nvPr/>
        </p:nvSpPr>
        <p:spPr>
          <a:xfrm>
            <a:off x="768096" y="5230368"/>
            <a:ext cx="10625328" cy="438912"/>
          </a:xfrm>
          <a:prstGeom prst="rect">
            <a:avLst/>
          </a:prstGeom>
          <a:noFill/>
          <a:ln/>
        </p:spPr>
        <p:txBody>
          <a:bodyPr wrap="square" lIns="0" tIns="0" rIns="0" bIns="0" rtlCol="0" anchor="ctr"/>
          <a:lstStyle/>
          <a:p>
            <a:pPr indent="0" marL="0">
              <a:lnSpc>
                <a:spcPts val="1450"/>
              </a:lnSpc>
              <a:buNone/>
            </a:pPr>
            <a:r>
              <a:rPr lang="en-US" sz="1100" b="1" dirty="0">
                <a:solidFill>
                  <a:srgbClr val="FFD200"/>
                </a:solidFill>
                <a:latin typeface="Calibri" pitchFamily="34" charset="0"/>
                <a:ea typeface="Calibri" pitchFamily="34" charset="-122"/>
                <a:cs typeface="Calibri" pitchFamily="34" charset="-120"/>
              </a:rPr>
              <a:t>P3 is the pilot's actual deliverable.  </a:t>
            </a:r>
            <a:pPr indent="0" marL="0">
              <a:lnSpc>
                <a:spcPts val="1450"/>
              </a:lnSpc>
              <a:buNone/>
            </a:pPr>
            <a:r>
              <a:rPr lang="en-US" sz="1100" dirty="0">
                <a:solidFill>
                  <a:srgbClr val="E8EFF9"/>
                </a:solidFill>
                <a:latin typeface="Calibri" pitchFamily="34" charset="0"/>
                <a:ea typeface="Calibri" pitchFamily="34" charset="-122"/>
                <a:cs typeface="Calibri" pitchFamily="34" charset="-120"/>
              </a:rPr>
              <a:t>A quieter SQL Server estate with no transferable pattern is a successful project and a failed pilot. Every non-goal above will be proposed by someone in this room — each one quietly kills the 90 days.</a:t>
            </a:r>
            <a:endParaRPr lang="en-US" sz="1100" dirty="0"/>
          </a:p>
        </p:txBody>
      </p:sp>
      <p:sp>
        <p:nvSpPr>
          <p:cNvPr id="44" name="Text 42"/>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THE POD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Who's in it — and who isn't</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One test settles every case: does this function carry the SQL Server pager? Yes → in the pod. No → it's a contract.</a:t>
            </a:r>
            <a:endParaRPr lang="en-US" sz="1200" dirty="0"/>
          </a:p>
        </p:txBody>
      </p:sp>
      <p:sp>
        <p:nvSpPr>
          <p:cNvPr id="5" name="Shape 3"/>
          <p:cNvSpPr/>
          <p:nvPr/>
        </p:nvSpPr>
        <p:spPr>
          <a:xfrm>
            <a:off x="566928" y="1883664"/>
            <a:ext cx="3520440" cy="475488"/>
          </a:xfrm>
          <a:prstGeom prst="rect">
            <a:avLst/>
          </a:prstGeom>
          <a:solidFill>
            <a:srgbClr val="0B2350"/>
          </a:solidFill>
          <a:ln/>
        </p:spPr>
      </p:sp>
      <p:sp>
        <p:nvSpPr>
          <p:cNvPr id="6" name="Text 4"/>
          <p:cNvSpPr/>
          <p:nvPr/>
        </p:nvSpPr>
        <p:spPr>
          <a:xfrm>
            <a:off x="713232" y="1956816"/>
            <a:ext cx="3200400" cy="201168"/>
          </a:xfrm>
          <a:prstGeom prst="rect">
            <a:avLst/>
          </a:prstGeom>
          <a:noFill/>
          <a:ln/>
        </p:spPr>
        <p:txBody>
          <a:bodyPr wrap="square" lIns="0" tIns="0" rIns="0" bIns="0"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CORE</a:t>
            </a:r>
            <a:endParaRPr lang="en-US" sz="950" dirty="0"/>
          </a:p>
        </p:txBody>
      </p:sp>
      <p:sp>
        <p:nvSpPr>
          <p:cNvPr id="7" name="Text 5"/>
          <p:cNvSpPr/>
          <p:nvPr/>
        </p:nvSpPr>
        <p:spPr>
          <a:xfrm>
            <a:off x="713232" y="2148840"/>
            <a:ext cx="3200400" cy="164592"/>
          </a:xfrm>
          <a:prstGeom prst="rect">
            <a:avLst/>
          </a:prstGeom>
          <a:noFill/>
          <a:ln/>
        </p:spPr>
        <p:txBody>
          <a:bodyPr wrap="square" lIns="0" tIns="0" rIns="0" bIns="0" rtlCol="0" anchor="ctr"/>
          <a:lstStyle/>
          <a:p>
            <a:pPr indent="0" marL="0">
              <a:buNone/>
            </a:pPr>
            <a:r>
              <a:rPr lang="en-US" sz="800" i="1" dirty="0">
                <a:solidFill>
                  <a:srgbClr val="CFE0F5"/>
                </a:solidFill>
                <a:latin typeface="Calibri" pitchFamily="34" charset="0"/>
                <a:ea typeface="Calibri" pitchFamily="34" charset="-122"/>
                <a:cs typeface="Calibri" pitchFamily="34" charset="-120"/>
              </a:rPr>
              <a:t>Dedicated · carry the pager</a:t>
            </a:r>
            <a:endParaRPr lang="en-US" sz="800" dirty="0"/>
          </a:p>
        </p:txBody>
      </p:sp>
      <p:sp>
        <p:nvSpPr>
          <p:cNvPr id="8" name="Shape 6"/>
          <p:cNvSpPr/>
          <p:nvPr/>
        </p:nvSpPr>
        <p:spPr>
          <a:xfrm>
            <a:off x="566928" y="2359152"/>
            <a:ext cx="3520440" cy="2212848"/>
          </a:xfrm>
          <a:prstGeom prst="rect">
            <a:avLst/>
          </a:prstGeom>
          <a:solidFill>
            <a:srgbClr val="F4F7FB"/>
          </a:solidFill>
          <a:ln w="6350">
            <a:solidFill>
              <a:srgbClr val="D7DDE5"/>
            </a:solidFill>
            <a:prstDash val="solid"/>
          </a:ln>
        </p:spPr>
      </p:sp>
      <p:sp>
        <p:nvSpPr>
          <p:cNvPr id="9" name="Text 7"/>
          <p:cNvSpPr/>
          <p:nvPr/>
        </p:nvSpPr>
        <p:spPr>
          <a:xfrm>
            <a:off x="749808" y="2487168"/>
            <a:ext cx="3182112" cy="1975104"/>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Pod Lead — owns roadmap and outcome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Engineers — modules, automation, IaC</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Ops — run, day-2, on-call</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SQL SMEs — deep engine expertise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Dedicated SRE — raises prod issues as prioritized bugs</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Intelligent Ops — builds the agents that predict, prevent and auto-remediate incidents</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Tigers (Risk &amp; Compliance) — evidence built in, not bolted on</a:t>
            </a:r>
            <a:endParaRPr lang="en-US" sz="920" dirty="0"/>
          </a:p>
        </p:txBody>
      </p:sp>
      <p:sp>
        <p:nvSpPr>
          <p:cNvPr id="10" name="Shape 8"/>
          <p:cNvSpPr/>
          <p:nvPr/>
        </p:nvSpPr>
        <p:spPr>
          <a:xfrm>
            <a:off x="4297680" y="1883664"/>
            <a:ext cx="3520440" cy="475488"/>
          </a:xfrm>
          <a:prstGeom prst="rect">
            <a:avLst/>
          </a:prstGeom>
          <a:solidFill>
            <a:srgbClr val="005DAA"/>
          </a:solidFill>
          <a:ln/>
        </p:spPr>
      </p:sp>
      <p:sp>
        <p:nvSpPr>
          <p:cNvPr id="11" name="Text 9"/>
          <p:cNvSpPr/>
          <p:nvPr/>
        </p:nvSpPr>
        <p:spPr>
          <a:xfrm>
            <a:off x="4443984" y="1956816"/>
            <a:ext cx="3200400" cy="201168"/>
          </a:xfrm>
          <a:prstGeom prst="rect">
            <a:avLst/>
          </a:prstGeom>
          <a:noFill/>
          <a:ln/>
        </p:spPr>
        <p:txBody>
          <a:bodyPr wrap="square" lIns="0" tIns="0" rIns="0" bIns="0"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PLACEHOLDER</a:t>
            </a:r>
            <a:endParaRPr lang="en-US" sz="950" dirty="0"/>
          </a:p>
        </p:txBody>
      </p:sp>
      <p:sp>
        <p:nvSpPr>
          <p:cNvPr id="12" name="Text 10"/>
          <p:cNvSpPr/>
          <p:nvPr/>
        </p:nvSpPr>
        <p:spPr>
          <a:xfrm>
            <a:off x="4443984" y="2148840"/>
            <a:ext cx="3200400" cy="164592"/>
          </a:xfrm>
          <a:prstGeom prst="rect">
            <a:avLst/>
          </a:prstGeom>
          <a:noFill/>
          <a:ln/>
        </p:spPr>
        <p:txBody>
          <a:bodyPr wrap="square" lIns="0" tIns="0" rIns="0" bIns="0" rtlCol="0" anchor="ctr"/>
          <a:lstStyle/>
          <a:p>
            <a:pPr indent="0" marL="0">
              <a:buNone/>
            </a:pPr>
            <a:r>
              <a:rPr lang="en-US" sz="800" i="1" dirty="0">
                <a:solidFill>
                  <a:srgbClr val="CFE0F5"/>
                </a:solidFill>
                <a:latin typeface="Calibri" pitchFamily="34" charset="0"/>
                <a:ea typeface="Calibri" pitchFamily="34" charset="-122"/>
                <a:cs typeface="Calibri" pitchFamily="34" charset="-120"/>
              </a:rPr>
              <a:t>Brought in at the right time</a:t>
            </a:r>
            <a:endParaRPr lang="en-US" sz="800" dirty="0"/>
          </a:p>
        </p:txBody>
      </p:sp>
      <p:sp>
        <p:nvSpPr>
          <p:cNvPr id="13" name="Shape 11"/>
          <p:cNvSpPr/>
          <p:nvPr/>
        </p:nvSpPr>
        <p:spPr>
          <a:xfrm>
            <a:off x="4297680" y="2359152"/>
            <a:ext cx="3520440" cy="2212848"/>
          </a:xfrm>
          <a:prstGeom prst="rect">
            <a:avLst/>
          </a:prstGeom>
          <a:solidFill>
            <a:srgbClr val="F4F7FB"/>
          </a:solidFill>
          <a:ln w="6350">
            <a:solidFill>
              <a:srgbClr val="D7DDE5"/>
            </a:solidFill>
            <a:prstDash val="solid"/>
          </a:ln>
        </p:spPr>
      </p:sp>
      <p:sp>
        <p:nvSpPr>
          <p:cNvPr id="14" name="Text 12"/>
          <p:cNvSpPr/>
          <p:nvPr/>
        </p:nvSpPr>
        <p:spPr>
          <a:xfrm>
            <a:off x="4480560" y="2487168"/>
            <a:ext cx="3182112" cy="1975104"/>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Architecture — early, on offering shape and HA/DR tier design</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Zephyr Control Plane — when we publish modules and register the offering</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Capacity Management — once the estate is instrumented and rightsizing starts</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Named individual + named backup, so there is always someone to call</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A seat at the table when their work is live — not a queue to join</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Engaged by plan; available by SLA when something unplanned surfaces</a:t>
            </a:r>
            <a:endParaRPr lang="en-US" sz="920" dirty="0"/>
          </a:p>
        </p:txBody>
      </p:sp>
      <p:sp>
        <p:nvSpPr>
          <p:cNvPr id="15" name="Shape 13"/>
          <p:cNvSpPr/>
          <p:nvPr/>
        </p:nvSpPr>
        <p:spPr>
          <a:xfrm>
            <a:off x="8028432" y="1883664"/>
            <a:ext cx="3520440" cy="475488"/>
          </a:xfrm>
          <a:prstGeom prst="rect">
            <a:avLst/>
          </a:prstGeom>
          <a:solidFill>
            <a:srgbClr val="4C9A2A"/>
          </a:solidFill>
          <a:ln/>
        </p:spPr>
      </p:sp>
      <p:sp>
        <p:nvSpPr>
          <p:cNvPr id="16" name="Text 14"/>
          <p:cNvSpPr/>
          <p:nvPr/>
        </p:nvSpPr>
        <p:spPr>
          <a:xfrm>
            <a:off x="8174736" y="1956816"/>
            <a:ext cx="3200400" cy="201168"/>
          </a:xfrm>
          <a:prstGeom prst="rect">
            <a:avLst/>
          </a:prstGeom>
          <a:noFill/>
          <a:ln/>
        </p:spPr>
        <p:txBody>
          <a:bodyPr wrap="square" lIns="0" tIns="0" rIns="0" bIns="0"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CONSUMED AS PRODUCT</a:t>
            </a:r>
            <a:endParaRPr lang="en-US" sz="950" dirty="0"/>
          </a:p>
        </p:txBody>
      </p:sp>
      <p:sp>
        <p:nvSpPr>
          <p:cNvPr id="17" name="Text 15"/>
          <p:cNvSpPr/>
          <p:nvPr/>
        </p:nvSpPr>
        <p:spPr>
          <a:xfrm>
            <a:off x="8174736" y="2148840"/>
            <a:ext cx="3200400" cy="164592"/>
          </a:xfrm>
          <a:prstGeom prst="rect">
            <a:avLst/>
          </a:prstGeom>
          <a:noFill/>
          <a:ln/>
        </p:spPr>
        <p:txBody>
          <a:bodyPr wrap="square" lIns="0" tIns="0" rIns="0" bIns="0" rtlCol="0" anchor="ctr"/>
          <a:lstStyle/>
          <a:p>
            <a:pPr indent="0" marL="0">
              <a:buNone/>
            </a:pPr>
            <a:r>
              <a:rPr lang="en-US" sz="800" i="1" dirty="0">
                <a:solidFill>
                  <a:srgbClr val="CFE0F5"/>
                </a:solidFill>
                <a:latin typeface="Calibri" pitchFamily="34" charset="0"/>
                <a:ea typeface="Calibri" pitchFamily="34" charset="-122"/>
                <a:cs typeface="Calibri" pitchFamily="34" charset="-120"/>
              </a:rPr>
              <a:t>Contract + SLA · no seat</a:t>
            </a:r>
            <a:endParaRPr lang="en-US" sz="800" dirty="0"/>
          </a:p>
        </p:txBody>
      </p:sp>
      <p:sp>
        <p:nvSpPr>
          <p:cNvPr id="18" name="Shape 16"/>
          <p:cNvSpPr/>
          <p:nvPr/>
        </p:nvSpPr>
        <p:spPr>
          <a:xfrm>
            <a:off x="8028432" y="2359152"/>
            <a:ext cx="3520440" cy="2212848"/>
          </a:xfrm>
          <a:prstGeom prst="rect">
            <a:avLst/>
          </a:prstGeom>
          <a:solidFill>
            <a:srgbClr val="F4F7FB"/>
          </a:solidFill>
          <a:ln w="6350">
            <a:solidFill>
              <a:srgbClr val="D7DDE5"/>
            </a:solidFill>
            <a:prstDash val="solid"/>
          </a:ln>
        </p:spPr>
      </p:sp>
      <p:sp>
        <p:nvSpPr>
          <p:cNvPr id="19" name="Text 17"/>
          <p:cNvSpPr/>
          <p:nvPr/>
        </p:nvSpPr>
        <p:spPr>
          <a:xfrm>
            <a:off x="8211312" y="2487168"/>
            <a:ext cx="3182112" cy="1975104"/>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The control plane, portal and policy engine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The compliance framework and regulator interface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The AIOps platform and telemetry backplane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Rightsizing and forecasting agents</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The pod consumes these — it does not rebuild them</a:t>
            </a:r>
            <a:endParaRPr lang="en-US" sz="920" dirty="0"/>
          </a:p>
        </p:txBody>
      </p:sp>
      <p:sp>
        <p:nvSpPr>
          <p:cNvPr id="20" name="Shape 18"/>
          <p:cNvSpPr/>
          <p:nvPr/>
        </p:nvSpPr>
        <p:spPr>
          <a:xfrm>
            <a:off x="566928" y="4736592"/>
            <a:ext cx="11027664" cy="1005840"/>
          </a:xfrm>
          <a:prstGeom prst="rect">
            <a:avLst/>
          </a:prstGeom>
          <a:solidFill>
            <a:srgbClr val="EEF2F8"/>
          </a:solidFill>
          <a:ln/>
        </p:spPr>
      </p:sp>
      <p:sp>
        <p:nvSpPr>
          <p:cNvPr id="21" name="Text 19"/>
          <p:cNvSpPr/>
          <p:nvPr/>
        </p:nvSpPr>
        <p:spPr>
          <a:xfrm>
            <a:off x="768096" y="4855464"/>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PLACEHOLDER IS A PLAN, NOT A PARKING SPACE</a:t>
            </a:r>
            <a:endParaRPr lang="en-US" sz="850" dirty="0"/>
          </a:p>
        </p:txBody>
      </p:sp>
      <p:sp>
        <p:nvSpPr>
          <p:cNvPr id="22" name="Text 20"/>
          <p:cNvSpPr/>
          <p:nvPr/>
        </p:nvSpPr>
        <p:spPr>
          <a:xfrm>
            <a:off x="768096" y="5047488"/>
            <a:ext cx="10625328" cy="603504"/>
          </a:xfrm>
          <a:prstGeom prst="rect">
            <a:avLst/>
          </a:prstGeom>
          <a:noFill/>
          <a:ln/>
        </p:spPr>
        <p:txBody>
          <a:bodyPr wrap="square" lIns="0" tIns="0" rIns="0" bIns="0" rtlCol="0" anchor="ctr"/>
          <a:lstStyle/>
          <a:p>
            <a:pPr indent="0" marL="0">
              <a:lnSpc>
                <a:spcPts val="1360"/>
              </a:lnSpc>
              <a:buNone/>
            </a:pPr>
            <a:r>
              <a:rPr lang="en-US" sz="1050" dirty="0">
                <a:solidFill>
                  <a:srgbClr val="1E252E"/>
                </a:solidFill>
                <a:latin typeface="Calibri" pitchFamily="34" charset="0"/>
                <a:ea typeface="Calibri" pitchFamily="34" charset="-122"/>
                <a:cs typeface="Calibri" pitchFamily="34" charset="-120"/>
              </a:rPr>
              <a:t>These are people we bring in deliberately, at the point in the 90 days where their work actually lands — architecture early on design, Zephyr when we publish, Capacity once the estate is instrumented. </a:t>
            </a:r>
            <a:pPr indent="0" marL="0">
              <a:lnSpc>
                <a:spcPts val="1360"/>
              </a:lnSpc>
              <a:buNone/>
            </a:pPr>
            <a:r>
              <a:rPr lang="en-US" sz="1050" b="1" dirty="0">
                <a:solidFill>
                  <a:srgbClr val="0B2350"/>
                </a:solidFill>
                <a:latin typeface="Calibri" pitchFamily="34" charset="0"/>
                <a:ea typeface="Calibri" pitchFamily="34" charset="-122"/>
                <a:cs typeface="Calibri" pitchFamily="34" charset="-120"/>
              </a:rPr>
              <a:t>Named individual and named backup, so there is always someone to call. The alternative — a name on a list we hope answers — is a ticket queue with better manners, which is exactly what this model claims to have eliminated. If we cannot name them by day 15, the horizontal model has already told us something.</a:t>
            </a:r>
            <a:endParaRPr lang="en-US" sz="1050" dirty="0"/>
          </a:p>
        </p:txBody>
      </p:sp>
      <p:sp>
        <p:nvSpPr>
          <p:cNvPr id="23" name="Text 2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INTERACTION MECHANICS</a:t>
            </a:r>
            <a:endParaRPr lang="en-US" sz="1050" dirty="0"/>
          </a:p>
        </p:txBody>
      </p:sp>
      <p:sp>
        <p:nvSpPr>
          <p:cNvPr id="3" name="Text 1"/>
          <p:cNvSpPr/>
          <p:nvPr/>
        </p:nvSpPr>
        <p:spPr>
          <a:xfrm>
            <a:off x="566928" y="603504"/>
            <a:ext cx="11027664" cy="548640"/>
          </a:xfrm>
          <a:prstGeom prst="rect">
            <a:avLst/>
          </a:prstGeom>
          <a:noFill/>
          <a:ln/>
        </p:spPr>
        <p:txBody>
          <a:bodyPr wrap="square" lIns="0" tIns="0" rIns="0" bIns="0" rtlCol="0" anchor="ctr"/>
          <a:lstStyle/>
          <a:p>
            <a:pPr indent="0" marL="0">
              <a:buNone/>
            </a:pPr>
            <a:r>
              <a:rPr lang="en-US" sz="2900" b="1" dirty="0">
                <a:solidFill>
                  <a:srgbClr val="0B2350"/>
                </a:solidFill>
                <a:latin typeface="Cambria" pitchFamily="34" charset="0"/>
                <a:ea typeface="Cambria" pitchFamily="34" charset="-122"/>
                <a:cs typeface="Cambria" pitchFamily="34" charset="-120"/>
              </a:rPr>
              <a:t>SQL Server Pod </a:t>
            </a:r>
            <a:pPr indent="0" marL="0">
              <a:buNone/>
            </a:pPr>
            <a:r>
              <a:rPr lang="en-US" sz="2900" b="1" dirty="0">
                <a:solidFill>
                  <a:srgbClr val="005DAA"/>
                </a:solidFill>
                <a:latin typeface="Cambria" pitchFamily="34" charset="0"/>
                <a:ea typeface="Cambria" pitchFamily="34" charset="-122"/>
                <a:cs typeface="Cambria" pitchFamily="34" charset="-120"/>
              </a:rPr>
              <a:t>↔ </a:t>
            </a:r>
            <a:pPr indent="0" marL="0">
              <a:buNone/>
            </a:pPr>
            <a:r>
              <a:rPr lang="en-US" sz="2900" b="1" dirty="0">
                <a:solidFill>
                  <a:srgbClr val="0B2350"/>
                </a:solidFill>
                <a:latin typeface="Cambria" pitchFamily="34" charset="0"/>
                <a:ea typeface="Cambria" pitchFamily="34" charset="-122"/>
                <a:cs typeface="Cambria" pitchFamily="34" charset="-120"/>
              </a:rPr>
              <a:t>Zephyr · CMP · Intelligent Ops</a:t>
            </a:r>
            <a:endParaRPr lang="en-US" sz="2900" dirty="0"/>
          </a:p>
        </p:txBody>
      </p:sp>
      <p:sp>
        <p:nvSpPr>
          <p:cNvPr id="4" name="Text 2"/>
          <p:cNvSpPr/>
          <p:nvPr/>
        </p:nvSpPr>
        <p:spPr>
          <a:xfrm>
            <a:off x="566928" y="1170432"/>
            <a:ext cx="11027664" cy="402336"/>
          </a:xfrm>
          <a:prstGeom prst="rect">
            <a:avLst/>
          </a:prstGeom>
          <a:noFill/>
          <a:ln/>
        </p:spPr>
        <p:txBody>
          <a:bodyPr wrap="square" lIns="0" tIns="0" rIns="0" bIns="0" rtlCol="0" anchor="ctr"/>
          <a:lstStyle/>
          <a:p>
            <a:pPr indent="0" marL="0">
              <a:lnSpc>
                <a:spcPts val="1450"/>
              </a:lnSpc>
              <a:buNone/>
            </a:pPr>
            <a:r>
              <a:rPr lang="en-US" sz="1100" i="1" dirty="0">
                <a:solidFill>
                  <a:srgbClr val="5C6773"/>
                </a:solidFill>
                <a:latin typeface="Calibri" pitchFamily="34" charset="0"/>
                <a:ea typeface="Calibri" pitchFamily="34" charset="-122"/>
                <a:cs typeface="Calibri" pitchFamily="34" charset="-120"/>
              </a:rPr>
              <a:t>Three cross-cutting squads. Three two-way contracts. Each ships a product the pod consumes; the pod emits signals — and gaps — the cross-cutting squad turns into next-gen automation. No tickets, no gates.</a:t>
            </a:r>
            <a:endParaRPr lang="en-US" sz="1100" dirty="0"/>
          </a:p>
        </p:txBody>
      </p:sp>
      <p:sp>
        <p:nvSpPr>
          <p:cNvPr id="5" name="Shape 3"/>
          <p:cNvSpPr/>
          <p:nvPr/>
        </p:nvSpPr>
        <p:spPr>
          <a:xfrm>
            <a:off x="566928" y="1645920"/>
            <a:ext cx="3200400" cy="45720"/>
          </a:xfrm>
          <a:prstGeom prst="rect">
            <a:avLst/>
          </a:prstGeom>
          <a:solidFill>
            <a:srgbClr val="FFD200"/>
          </a:solidFill>
          <a:ln/>
        </p:spPr>
      </p:sp>
      <p:sp>
        <p:nvSpPr>
          <p:cNvPr id="6" name="Shape 4"/>
          <p:cNvSpPr/>
          <p:nvPr/>
        </p:nvSpPr>
        <p:spPr>
          <a:xfrm>
            <a:off x="566928" y="1691640"/>
            <a:ext cx="3200400" cy="1307592"/>
          </a:xfrm>
          <a:prstGeom prst="rect">
            <a:avLst/>
          </a:prstGeom>
          <a:solidFill>
            <a:srgbClr val="0B2350"/>
          </a:solidFill>
          <a:ln/>
        </p:spPr>
      </p:sp>
      <p:sp>
        <p:nvSpPr>
          <p:cNvPr id="7" name="Text 5"/>
          <p:cNvSpPr/>
          <p:nvPr/>
        </p:nvSpPr>
        <p:spPr>
          <a:xfrm>
            <a:off x="694944" y="1728216"/>
            <a:ext cx="2944368" cy="128016"/>
          </a:xfrm>
          <a:prstGeom prst="rect">
            <a:avLst/>
          </a:prstGeom>
          <a:noFill/>
          <a:ln/>
        </p:spPr>
        <p:txBody>
          <a:bodyPr wrap="square" lIns="0" tIns="0" rIns="0" bIns="0" rtlCol="0" anchor="ctr"/>
          <a:lstStyle/>
          <a:p>
            <a:pPr indent="0" marL="0">
              <a:buNone/>
            </a:pPr>
            <a:r>
              <a:rPr lang="en-US" sz="700" b="1" spc="140" kern="0" dirty="0">
                <a:solidFill>
                  <a:srgbClr val="FFD200"/>
                </a:solidFill>
                <a:latin typeface="Calibri" pitchFamily="34" charset="0"/>
                <a:ea typeface="Calibri" pitchFamily="34" charset="-122"/>
                <a:cs typeface="Calibri" pitchFamily="34" charset="-120"/>
              </a:rPr>
              <a:t>ZEPHYR HYBRID CLOUD</a:t>
            </a:r>
            <a:endParaRPr lang="en-US" sz="700" dirty="0"/>
          </a:p>
        </p:txBody>
      </p:sp>
      <p:sp>
        <p:nvSpPr>
          <p:cNvPr id="8" name="Text 6"/>
          <p:cNvSpPr/>
          <p:nvPr/>
        </p:nvSpPr>
        <p:spPr>
          <a:xfrm>
            <a:off x="694944" y="1865376"/>
            <a:ext cx="2944368" cy="21945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Zephyr Control Plane</a:t>
            </a:r>
            <a:endParaRPr lang="en-US" sz="1200" dirty="0"/>
          </a:p>
        </p:txBody>
      </p:sp>
      <p:sp>
        <p:nvSpPr>
          <p:cNvPr id="9" name="Text 7"/>
          <p:cNvSpPr/>
          <p:nvPr/>
        </p:nvSpPr>
        <p:spPr>
          <a:xfrm>
            <a:off x="694944" y="2075688"/>
            <a:ext cx="2944368" cy="128016"/>
          </a:xfrm>
          <a:prstGeom prst="rect">
            <a:avLst/>
          </a:prstGeom>
          <a:noFill/>
          <a:ln/>
        </p:spPr>
        <p:txBody>
          <a:bodyPr wrap="square" lIns="0" tIns="0" rIns="0" bIns="0" rtlCol="0" anchor="ctr"/>
          <a:lstStyle/>
          <a:p>
            <a:pPr indent="0" marL="0">
              <a:buNone/>
            </a:pPr>
            <a:r>
              <a:rPr lang="en-US" sz="680" i="1" dirty="0">
                <a:solidFill>
                  <a:srgbClr val="AEC3E0"/>
                </a:solidFill>
                <a:latin typeface="Calibri" pitchFamily="34" charset="0"/>
                <a:ea typeface="Calibri" pitchFamily="34" charset="-122"/>
                <a:cs typeface="Calibri" pitchFamily="34" charset="-120"/>
              </a:rPr>
              <a:t>Substrate · APIs · UX · Policy</a:t>
            </a:r>
            <a:endParaRPr lang="en-US" sz="680" dirty="0"/>
          </a:p>
        </p:txBody>
      </p:sp>
      <p:sp>
        <p:nvSpPr>
          <p:cNvPr id="10" name="Text 8"/>
          <p:cNvSpPr/>
          <p:nvPr/>
        </p:nvSpPr>
        <p:spPr>
          <a:xfrm>
            <a:off x="694944" y="2221992"/>
            <a:ext cx="2944368" cy="109728"/>
          </a:xfrm>
          <a:prstGeom prst="rect">
            <a:avLst/>
          </a:prstGeom>
          <a:noFill/>
          <a:ln/>
        </p:spPr>
        <p:txBody>
          <a:bodyPr wrap="square" lIns="0" tIns="0" rIns="0" bIns="0" rtlCol="0" anchor="ctr"/>
          <a:lstStyle/>
          <a:p>
            <a:pPr indent="0" marL="0">
              <a:buNone/>
            </a:pPr>
            <a:r>
              <a:rPr lang="en-US" sz="650" b="1" spc="140" kern="0" dirty="0">
                <a:solidFill>
                  <a:srgbClr val="FFD200"/>
                </a:solidFill>
                <a:latin typeface="Calibri" pitchFamily="34" charset="0"/>
                <a:ea typeface="Calibri" pitchFamily="34" charset="-122"/>
                <a:cs typeface="Calibri" pitchFamily="34" charset="-120"/>
              </a:rPr>
              <a:t>OWNS</a:t>
            </a:r>
            <a:endParaRPr lang="en-US" sz="650" dirty="0"/>
          </a:p>
        </p:txBody>
      </p:sp>
      <p:sp>
        <p:nvSpPr>
          <p:cNvPr id="11" name="Text 9"/>
          <p:cNvSpPr/>
          <p:nvPr/>
        </p:nvSpPr>
        <p:spPr>
          <a:xfrm>
            <a:off x="731520" y="2350008"/>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Module registry &amp; control plane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Self-service developer portal</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Policy engine · lifecycle · evidence</a:t>
            </a:r>
            <a:endParaRPr lang="en-US" sz="740" dirty="0"/>
          </a:p>
        </p:txBody>
      </p:sp>
      <p:sp>
        <p:nvSpPr>
          <p:cNvPr id="12" name="Shape 10"/>
          <p:cNvSpPr/>
          <p:nvPr/>
        </p:nvSpPr>
        <p:spPr>
          <a:xfrm>
            <a:off x="566928" y="3127248"/>
            <a:ext cx="3200400" cy="45720"/>
          </a:xfrm>
          <a:prstGeom prst="rect">
            <a:avLst/>
          </a:prstGeom>
          <a:solidFill>
            <a:srgbClr val="FFD200"/>
          </a:solidFill>
          <a:ln/>
        </p:spPr>
      </p:sp>
      <p:sp>
        <p:nvSpPr>
          <p:cNvPr id="13" name="Shape 11"/>
          <p:cNvSpPr/>
          <p:nvPr/>
        </p:nvSpPr>
        <p:spPr>
          <a:xfrm>
            <a:off x="566928" y="3172968"/>
            <a:ext cx="3200400" cy="1307592"/>
          </a:xfrm>
          <a:prstGeom prst="rect">
            <a:avLst/>
          </a:prstGeom>
          <a:solidFill>
            <a:srgbClr val="0B2350"/>
          </a:solidFill>
          <a:ln/>
        </p:spPr>
      </p:sp>
      <p:sp>
        <p:nvSpPr>
          <p:cNvPr id="14" name="Text 12"/>
          <p:cNvSpPr/>
          <p:nvPr/>
        </p:nvSpPr>
        <p:spPr>
          <a:xfrm>
            <a:off x="694944" y="3209544"/>
            <a:ext cx="2944368" cy="128016"/>
          </a:xfrm>
          <a:prstGeom prst="rect">
            <a:avLst/>
          </a:prstGeom>
          <a:noFill/>
          <a:ln/>
        </p:spPr>
        <p:txBody>
          <a:bodyPr wrap="square" lIns="0" tIns="0" rIns="0" bIns="0" rtlCol="0" anchor="ctr"/>
          <a:lstStyle/>
          <a:p>
            <a:pPr indent="0" marL="0">
              <a:buNone/>
            </a:pPr>
            <a:r>
              <a:rPr lang="en-US" sz="700" b="1" spc="140" kern="0" dirty="0">
                <a:solidFill>
                  <a:srgbClr val="FFD200"/>
                </a:solidFill>
                <a:latin typeface="Calibri" pitchFamily="34" charset="0"/>
                <a:ea typeface="Calibri" pitchFamily="34" charset="-122"/>
                <a:cs typeface="Calibri" pitchFamily="34" charset="-120"/>
              </a:rPr>
              <a:t>OPTIMIZATION</a:t>
            </a:r>
            <a:endParaRPr lang="en-US" sz="700" dirty="0"/>
          </a:p>
        </p:txBody>
      </p:sp>
      <p:sp>
        <p:nvSpPr>
          <p:cNvPr id="15" name="Text 13"/>
          <p:cNvSpPr/>
          <p:nvPr/>
        </p:nvSpPr>
        <p:spPr>
          <a:xfrm>
            <a:off x="694944" y="3346704"/>
            <a:ext cx="2944368" cy="21945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Capacity Management</a:t>
            </a:r>
            <a:endParaRPr lang="en-US" sz="1200" dirty="0"/>
          </a:p>
        </p:txBody>
      </p:sp>
      <p:sp>
        <p:nvSpPr>
          <p:cNvPr id="16" name="Text 14"/>
          <p:cNvSpPr/>
          <p:nvPr/>
        </p:nvSpPr>
        <p:spPr>
          <a:xfrm>
            <a:off x="694944" y="3557016"/>
            <a:ext cx="2944368" cy="128016"/>
          </a:xfrm>
          <a:prstGeom prst="rect">
            <a:avLst/>
          </a:prstGeom>
          <a:noFill/>
          <a:ln/>
        </p:spPr>
        <p:txBody>
          <a:bodyPr wrap="square" lIns="0" tIns="0" rIns="0" bIns="0" rtlCol="0" anchor="ctr"/>
          <a:lstStyle/>
          <a:p>
            <a:pPr indent="0" marL="0">
              <a:buNone/>
            </a:pPr>
            <a:r>
              <a:rPr lang="en-US" sz="680" i="1" dirty="0">
                <a:solidFill>
                  <a:srgbClr val="AEC3E0"/>
                </a:solidFill>
                <a:latin typeface="Calibri" pitchFamily="34" charset="0"/>
                <a:ea typeface="Calibri" pitchFamily="34" charset="-122"/>
                <a:cs typeface="Calibri" pitchFamily="34" charset="-120"/>
              </a:rPr>
              <a:t>Capacity · forecasting · rightsizing</a:t>
            </a:r>
            <a:endParaRPr lang="en-US" sz="680" dirty="0"/>
          </a:p>
        </p:txBody>
      </p:sp>
      <p:sp>
        <p:nvSpPr>
          <p:cNvPr id="17" name="Text 15"/>
          <p:cNvSpPr/>
          <p:nvPr/>
        </p:nvSpPr>
        <p:spPr>
          <a:xfrm>
            <a:off x="694944" y="3703320"/>
            <a:ext cx="2944368" cy="109728"/>
          </a:xfrm>
          <a:prstGeom prst="rect">
            <a:avLst/>
          </a:prstGeom>
          <a:noFill/>
          <a:ln/>
        </p:spPr>
        <p:txBody>
          <a:bodyPr wrap="square" lIns="0" tIns="0" rIns="0" bIns="0" rtlCol="0" anchor="ctr"/>
          <a:lstStyle/>
          <a:p>
            <a:pPr indent="0" marL="0">
              <a:buNone/>
            </a:pPr>
            <a:r>
              <a:rPr lang="en-US" sz="650" b="1" spc="140" kern="0" dirty="0">
                <a:solidFill>
                  <a:srgbClr val="FFD200"/>
                </a:solidFill>
                <a:latin typeface="Calibri" pitchFamily="34" charset="0"/>
                <a:ea typeface="Calibri" pitchFamily="34" charset="-122"/>
                <a:cs typeface="Calibri" pitchFamily="34" charset="-120"/>
              </a:rPr>
              <a:t>OWNS</a:t>
            </a:r>
            <a:endParaRPr lang="en-US" sz="650" dirty="0"/>
          </a:p>
        </p:txBody>
      </p:sp>
      <p:sp>
        <p:nvSpPr>
          <p:cNvPr id="18" name="Text 16"/>
          <p:cNvSpPr/>
          <p:nvPr/>
        </p:nvSpPr>
        <p:spPr>
          <a:xfrm>
            <a:off x="731520" y="3831336"/>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Rightsizing agents</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Capacity forecast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Home-of-Best-Fit advisor</a:t>
            </a:r>
            <a:endParaRPr lang="en-US" sz="740" dirty="0"/>
          </a:p>
        </p:txBody>
      </p:sp>
      <p:sp>
        <p:nvSpPr>
          <p:cNvPr id="19" name="Shape 17"/>
          <p:cNvSpPr/>
          <p:nvPr/>
        </p:nvSpPr>
        <p:spPr>
          <a:xfrm>
            <a:off x="566928" y="4608576"/>
            <a:ext cx="3200400" cy="45720"/>
          </a:xfrm>
          <a:prstGeom prst="rect">
            <a:avLst/>
          </a:prstGeom>
          <a:solidFill>
            <a:srgbClr val="FFD200"/>
          </a:solidFill>
          <a:ln/>
        </p:spPr>
      </p:sp>
      <p:sp>
        <p:nvSpPr>
          <p:cNvPr id="20" name="Shape 18"/>
          <p:cNvSpPr/>
          <p:nvPr/>
        </p:nvSpPr>
        <p:spPr>
          <a:xfrm>
            <a:off x="566928" y="4654296"/>
            <a:ext cx="3200400" cy="1307592"/>
          </a:xfrm>
          <a:prstGeom prst="rect">
            <a:avLst/>
          </a:prstGeom>
          <a:solidFill>
            <a:srgbClr val="0B2350"/>
          </a:solidFill>
          <a:ln/>
        </p:spPr>
      </p:sp>
      <p:sp>
        <p:nvSpPr>
          <p:cNvPr id="21" name="Text 19"/>
          <p:cNvSpPr/>
          <p:nvPr/>
        </p:nvSpPr>
        <p:spPr>
          <a:xfrm>
            <a:off x="694944" y="4690872"/>
            <a:ext cx="2944368" cy="128016"/>
          </a:xfrm>
          <a:prstGeom prst="rect">
            <a:avLst/>
          </a:prstGeom>
          <a:noFill/>
          <a:ln/>
        </p:spPr>
        <p:txBody>
          <a:bodyPr wrap="square" lIns="0" tIns="0" rIns="0" bIns="0" rtlCol="0" anchor="ctr"/>
          <a:lstStyle/>
          <a:p>
            <a:pPr indent="0" marL="0">
              <a:buNone/>
            </a:pPr>
            <a:r>
              <a:rPr lang="en-US" sz="700" b="1" spc="140" kern="0" dirty="0">
                <a:solidFill>
                  <a:srgbClr val="FFD200"/>
                </a:solidFill>
                <a:latin typeface="Calibri" pitchFamily="34" charset="0"/>
                <a:ea typeface="Calibri" pitchFamily="34" charset="-122"/>
                <a:cs typeface="Calibri" pitchFamily="34" charset="-120"/>
              </a:rPr>
              <a:t>INTELLIGENT OPS</a:t>
            </a:r>
            <a:endParaRPr lang="en-US" sz="700" dirty="0"/>
          </a:p>
        </p:txBody>
      </p:sp>
      <p:sp>
        <p:nvSpPr>
          <p:cNvPr id="22" name="Text 20"/>
          <p:cNvSpPr/>
          <p:nvPr/>
        </p:nvSpPr>
        <p:spPr>
          <a:xfrm>
            <a:off x="694944" y="4828032"/>
            <a:ext cx="2944368" cy="21945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AIOps Platform</a:t>
            </a:r>
            <a:endParaRPr lang="en-US" sz="1200" dirty="0"/>
          </a:p>
        </p:txBody>
      </p:sp>
      <p:sp>
        <p:nvSpPr>
          <p:cNvPr id="23" name="Text 21"/>
          <p:cNvSpPr/>
          <p:nvPr/>
        </p:nvSpPr>
        <p:spPr>
          <a:xfrm>
            <a:off x="694944" y="5038344"/>
            <a:ext cx="2944368" cy="128016"/>
          </a:xfrm>
          <a:prstGeom prst="rect">
            <a:avLst/>
          </a:prstGeom>
          <a:noFill/>
          <a:ln/>
        </p:spPr>
        <p:txBody>
          <a:bodyPr wrap="square" lIns="0" tIns="0" rIns="0" bIns="0" rtlCol="0" anchor="ctr"/>
          <a:lstStyle/>
          <a:p>
            <a:pPr indent="0" marL="0">
              <a:buNone/>
            </a:pPr>
            <a:r>
              <a:rPr lang="en-US" sz="680" i="1" dirty="0">
                <a:solidFill>
                  <a:srgbClr val="AEC3E0"/>
                </a:solidFill>
                <a:latin typeface="Calibri" pitchFamily="34" charset="0"/>
                <a:ea typeface="Calibri" pitchFamily="34" charset="-122"/>
                <a:cs typeface="Calibri" pitchFamily="34" charset="-120"/>
              </a:rPr>
              <a:t>The substrate — not the people</a:t>
            </a:r>
            <a:endParaRPr lang="en-US" sz="680" dirty="0"/>
          </a:p>
        </p:txBody>
      </p:sp>
      <p:sp>
        <p:nvSpPr>
          <p:cNvPr id="24" name="Text 22"/>
          <p:cNvSpPr/>
          <p:nvPr/>
        </p:nvSpPr>
        <p:spPr>
          <a:xfrm>
            <a:off x="694944" y="5184648"/>
            <a:ext cx="2944368" cy="109728"/>
          </a:xfrm>
          <a:prstGeom prst="rect">
            <a:avLst/>
          </a:prstGeom>
          <a:noFill/>
          <a:ln/>
        </p:spPr>
        <p:txBody>
          <a:bodyPr wrap="square" lIns="0" tIns="0" rIns="0" bIns="0" rtlCol="0" anchor="ctr"/>
          <a:lstStyle/>
          <a:p>
            <a:pPr indent="0" marL="0">
              <a:buNone/>
            </a:pPr>
            <a:r>
              <a:rPr lang="en-US" sz="650" b="1" spc="140" kern="0" dirty="0">
                <a:solidFill>
                  <a:srgbClr val="FFD200"/>
                </a:solidFill>
                <a:latin typeface="Calibri" pitchFamily="34" charset="0"/>
                <a:ea typeface="Calibri" pitchFamily="34" charset="-122"/>
                <a:cs typeface="Calibri" pitchFamily="34" charset="-120"/>
              </a:rPr>
              <a:t>OWNS</a:t>
            </a:r>
            <a:endParaRPr lang="en-US" sz="650" dirty="0"/>
          </a:p>
        </p:txBody>
      </p:sp>
      <p:sp>
        <p:nvSpPr>
          <p:cNvPr id="25" name="Text 23"/>
          <p:cNvSpPr/>
          <p:nvPr/>
        </p:nvSpPr>
        <p:spPr>
          <a:xfrm>
            <a:off x="731520" y="5312664"/>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Telemetry backplane · data · chatbot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Agent framework &amp; runtime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IntOps engineers sit in the pod core</a:t>
            </a:r>
            <a:endParaRPr lang="en-US" sz="740" dirty="0"/>
          </a:p>
        </p:txBody>
      </p:sp>
      <p:sp>
        <p:nvSpPr>
          <p:cNvPr id="26" name="Text 24"/>
          <p:cNvSpPr/>
          <p:nvPr/>
        </p:nvSpPr>
        <p:spPr>
          <a:xfrm>
            <a:off x="3858768" y="1792224"/>
            <a:ext cx="2011680" cy="182880"/>
          </a:xfrm>
          <a:prstGeom prst="rect">
            <a:avLst/>
          </a:prstGeom>
          <a:noFill/>
          <a:ln/>
        </p:spPr>
        <p:txBody>
          <a:bodyPr wrap="square" lIns="0" tIns="0" rIns="0" bIns="0" rtlCol="0" anchor="ctr"/>
          <a:lstStyle/>
          <a:p>
            <a:pPr algn="ctr" indent="0" marL="0">
              <a:buNone/>
            </a:pPr>
            <a:r>
              <a:rPr lang="en-US" sz="800" b="1" spc="140" kern="0" dirty="0">
                <a:solidFill>
                  <a:srgbClr val="5C6773"/>
                </a:solidFill>
                <a:latin typeface="Calibri" pitchFamily="34" charset="0"/>
                <a:ea typeface="Calibri" pitchFamily="34" charset="-122"/>
                <a:cs typeface="Calibri" pitchFamily="34" charset="-120"/>
              </a:rPr>
              <a:t>PROVIDES →</a:t>
            </a:r>
            <a:endParaRPr lang="en-US" sz="800" dirty="0"/>
          </a:p>
        </p:txBody>
      </p:sp>
      <p:sp>
        <p:nvSpPr>
          <p:cNvPr id="27" name="Shape 25"/>
          <p:cNvSpPr/>
          <p:nvPr/>
        </p:nvSpPr>
        <p:spPr>
          <a:xfrm>
            <a:off x="3877056" y="1993392"/>
            <a:ext cx="1975104" cy="32004"/>
          </a:xfrm>
          <a:prstGeom prst="rect">
            <a:avLst/>
          </a:prstGeom>
          <a:solidFill>
            <a:srgbClr val="FFD200"/>
          </a:solidFill>
          <a:ln/>
        </p:spPr>
      </p:sp>
      <p:sp>
        <p:nvSpPr>
          <p:cNvPr id="28" name="Text 26"/>
          <p:cNvSpPr/>
          <p:nvPr/>
        </p:nvSpPr>
        <p:spPr>
          <a:xfrm>
            <a:off x="3858768" y="2066544"/>
            <a:ext cx="2011680" cy="18288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APIs · Portal · Primitives</a:t>
            </a:r>
            <a:endParaRPr lang="en-US" sz="740" dirty="0"/>
          </a:p>
        </p:txBody>
      </p:sp>
      <p:sp>
        <p:nvSpPr>
          <p:cNvPr id="29" name="Text 27"/>
          <p:cNvSpPr/>
          <p:nvPr/>
        </p:nvSpPr>
        <p:spPr>
          <a:xfrm>
            <a:off x="3858768" y="2304288"/>
            <a:ext cx="2011680" cy="182880"/>
          </a:xfrm>
          <a:prstGeom prst="rect">
            <a:avLst/>
          </a:prstGeom>
          <a:noFill/>
          <a:ln/>
        </p:spPr>
        <p:txBody>
          <a:bodyPr wrap="square" lIns="0" tIns="0" rIns="0" bIns="0" rtlCol="0" anchor="ctr"/>
          <a:lstStyle/>
          <a:p>
            <a:pPr algn="ctr" indent="0" marL="0">
              <a:buNone/>
            </a:pPr>
            <a:r>
              <a:rPr lang="en-US" sz="800" b="1" spc="120" kern="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0" name="Shape 28"/>
          <p:cNvSpPr/>
          <p:nvPr/>
        </p:nvSpPr>
        <p:spPr>
          <a:xfrm>
            <a:off x="3877056" y="2505456"/>
            <a:ext cx="1975104" cy="32004"/>
          </a:xfrm>
          <a:prstGeom prst="rect">
            <a:avLst/>
          </a:prstGeom>
          <a:solidFill>
            <a:srgbClr val="4C9A2A"/>
          </a:solidFill>
          <a:ln/>
        </p:spPr>
      </p:sp>
      <p:sp>
        <p:nvSpPr>
          <p:cNvPr id="31" name="Text 29"/>
          <p:cNvSpPr/>
          <p:nvPr/>
        </p:nvSpPr>
        <p:spPr>
          <a:xfrm>
            <a:off x="3858768" y="2578608"/>
            <a:ext cx="2011680" cy="27432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IaC modules · Offering spec · Gaps</a:t>
            </a:r>
            <a:endParaRPr lang="en-US" sz="740" dirty="0"/>
          </a:p>
        </p:txBody>
      </p:sp>
      <p:sp>
        <p:nvSpPr>
          <p:cNvPr id="32" name="Text 30"/>
          <p:cNvSpPr/>
          <p:nvPr/>
        </p:nvSpPr>
        <p:spPr>
          <a:xfrm>
            <a:off x="3858768" y="3273552"/>
            <a:ext cx="2011680" cy="182880"/>
          </a:xfrm>
          <a:prstGeom prst="rect">
            <a:avLst/>
          </a:prstGeom>
          <a:noFill/>
          <a:ln/>
        </p:spPr>
        <p:txBody>
          <a:bodyPr wrap="square" lIns="0" tIns="0" rIns="0" bIns="0" rtlCol="0" anchor="ctr"/>
          <a:lstStyle/>
          <a:p>
            <a:pPr algn="ctr" indent="0" marL="0">
              <a:buNone/>
            </a:pPr>
            <a:r>
              <a:rPr lang="en-US" sz="800" b="1" spc="140" kern="0" dirty="0">
                <a:solidFill>
                  <a:srgbClr val="5C6773"/>
                </a:solidFill>
                <a:latin typeface="Calibri" pitchFamily="34" charset="0"/>
                <a:ea typeface="Calibri" pitchFamily="34" charset="-122"/>
                <a:cs typeface="Calibri" pitchFamily="34" charset="-120"/>
              </a:rPr>
              <a:t>PROVIDES →</a:t>
            </a:r>
            <a:endParaRPr lang="en-US" sz="800" dirty="0"/>
          </a:p>
        </p:txBody>
      </p:sp>
      <p:sp>
        <p:nvSpPr>
          <p:cNvPr id="33" name="Shape 31"/>
          <p:cNvSpPr/>
          <p:nvPr/>
        </p:nvSpPr>
        <p:spPr>
          <a:xfrm>
            <a:off x="3877056" y="3474720"/>
            <a:ext cx="1975104" cy="32004"/>
          </a:xfrm>
          <a:prstGeom prst="rect">
            <a:avLst/>
          </a:prstGeom>
          <a:solidFill>
            <a:srgbClr val="FFD200"/>
          </a:solidFill>
          <a:ln/>
        </p:spPr>
      </p:sp>
      <p:sp>
        <p:nvSpPr>
          <p:cNvPr id="34" name="Text 32"/>
          <p:cNvSpPr/>
          <p:nvPr/>
        </p:nvSpPr>
        <p:spPr>
          <a:xfrm>
            <a:off x="3858768" y="3547872"/>
            <a:ext cx="2011680" cy="18288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Forecasts · Rightsizing PRs</a:t>
            </a:r>
            <a:endParaRPr lang="en-US" sz="740" dirty="0"/>
          </a:p>
        </p:txBody>
      </p:sp>
      <p:sp>
        <p:nvSpPr>
          <p:cNvPr id="35" name="Text 33"/>
          <p:cNvSpPr/>
          <p:nvPr/>
        </p:nvSpPr>
        <p:spPr>
          <a:xfrm>
            <a:off x="3858768" y="3785616"/>
            <a:ext cx="2011680" cy="182880"/>
          </a:xfrm>
          <a:prstGeom prst="rect">
            <a:avLst/>
          </a:prstGeom>
          <a:noFill/>
          <a:ln/>
        </p:spPr>
        <p:txBody>
          <a:bodyPr wrap="square" lIns="0" tIns="0" rIns="0" bIns="0" rtlCol="0" anchor="ctr"/>
          <a:lstStyle/>
          <a:p>
            <a:pPr algn="ctr" indent="0" marL="0">
              <a:buNone/>
            </a:pPr>
            <a:r>
              <a:rPr lang="en-US" sz="800" b="1" spc="120" kern="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6" name="Shape 34"/>
          <p:cNvSpPr/>
          <p:nvPr/>
        </p:nvSpPr>
        <p:spPr>
          <a:xfrm>
            <a:off x="3877056" y="3986784"/>
            <a:ext cx="1975104" cy="32004"/>
          </a:xfrm>
          <a:prstGeom prst="rect">
            <a:avLst/>
          </a:prstGeom>
          <a:solidFill>
            <a:srgbClr val="4C9A2A"/>
          </a:solidFill>
          <a:ln/>
        </p:spPr>
      </p:sp>
      <p:sp>
        <p:nvSpPr>
          <p:cNvPr id="37" name="Text 35"/>
          <p:cNvSpPr/>
          <p:nvPr/>
        </p:nvSpPr>
        <p:spPr>
          <a:xfrm>
            <a:off x="3858768" y="4059936"/>
            <a:ext cx="2011680" cy="27432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Telemetry · Cost · Workload patterns</a:t>
            </a:r>
            <a:endParaRPr lang="en-US" sz="740" dirty="0"/>
          </a:p>
        </p:txBody>
      </p:sp>
      <p:sp>
        <p:nvSpPr>
          <p:cNvPr id="38" name="Text 36"/>
          <p:cNvSpPr/>
          <p:nvPr/>
        </p:nvSpPr>
        <p:spPr>
          <a:xfrm>
            <a:off x="3858768" y="4754880"/>
            <a:ext cx="2011680" cy="182880"/>
          </a:xfrm>
          <a:prstGeom prst="rect">
            <a:avLst/>
          </a:prstGeom>
          <a:noFill/>
          <a:ln/>
        </p:spPr>
        <p:txBody>
          <a:bodyPr wrap="square" lIns="0" tIns="0" rIns="0" bIns="0" rtlCol="0" anchor="ctr"/>
          <a:lstStyle/>
          <a:p>
            <a:pPr algn="ctr" indent="0" marL="0">
              <a:buNone/>
            </a:pPr>
            <a:r>
              <a:rPr lang="en-US" sz="800" b="1" spc="140" kern="0" dirty="0">
                <a:solidFill>
                  <a:srgbClr val="5C6773"/>
                </a:solidFill>
                <a:latin typeface="Calibri" pitchFamily="34" charset="0"/>
                <a:ea typeface="Calibri" pitchFamily="34" charset="-122"/>
                <a:cs typeface="Calibri" pitchFamily="34" charset="-120"/>
              </a:rPr>
              <a:t>PROVIDES →</a:t>
            </a:r>
            <a:endParaRPr lang="en-US" sz="800" dirty="0"/>
          </a:p>
        </p:txBody>
      </p:sp>
      <p:sp>
        <p:nvSpPr>
          <p:cNvPr id="39" name="Shape 37"/>
          <p:cNvSpPr/>
          <p:nvPr/>
        </p:nvSpPr>
        <p:spPr>
          <a:xfrm>
            <a:off x="3877056" y="4956048"/>
            <a:ext cx="1975104" cy="32004"/>
          </a:xfrm>
          <a:prstGeom prst="rect">
            <a:avLst/>
          </a:prstGeom>
          <a:solidFill>
            <a:srgbClr val="FFD200"/>
          </a:solidFill>
          <a:ln/>
        </p:spPr>
      </p:sp>
      <p:sp>
        <p:nvSpPr>
          <p:cNvPr id="40" name="Text 38"/>
          <p:cNvSpPr/>
          <p:nvPr/>
        </p:nvSpPr>
        <p:spPr>
          <a:xfrm>
            <a:off x="3858768" y="5029200"/>
            <a:ext cx="2011680" cy="18288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Tooling · Prevention signals</a:t>
            </a:r>
            <a:endParaRPr lang="en-US" sz="740" dirty="0"/>
          </a:p>
        </p:txBody>
      </p:sp>
      <p:sp>
        <p:nvSpPr>
          <p:cNvPr id="41" name="Text 39"/>
          <p:cNvSpPr/>
          <p:nvPr/>
        </p:nvSpPr>
        <p:spPr>
          <a:xfrm>
            <a:off x="3858768" y="5266944"/>
            <a:ext cx="2011680" cy="182880"/>
          </a:xfrm>
          <a:prstGeom prst="rect">
            <a:avLst/>
          </a:prstGeom>
          <a:noFill/>
          <a:ln/>
        </p:spPr>
        <p:txBody>
          <a:bodyPr wrap="square" lIns="0" tIns="0" rIns="0" bIns="0" rtlCol="0" anchor="ctr"/>
          <a:lstStyle/>
          <a:p>
            <a:pPr algn="ctr" indent="0" marL="0">
              <a:buNone/>
            </a:pPr>
            <a:r>
              <a:rPr lang="en-US" sz="800" b="1" spc="120" kern="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42" name="Shape 40"/>
          <p:cNvSpPr/>
          <p:nvPr/>
        </p:nvSpPr>
        <p:spPr>
          <a:xfrm>
            <a:off x="3877056" y="5468112"/>
            <a:ext cx="1975104" cy="32004"/>
          </a:xfrm>
          <a:prstGeom prst="rect">
            <a:avLst/>
          </a:prstGeom>
          <a:solidFill>
            <a:srgbClr val="4C9A2A"/>
          </a:solidFill>
          <a:ln/>
        </p:spPr>
      </p:sp>
      <p:sp>
        <p:nvSpPr>
          <p:cNvPr id="43" name="Text 41"/>
          <p:cNvSpPr/>
          <p:nvPr/>
        </p:nvSpPr>
        <p:spPr>
          <a:xfrm>
            <a:off x="3858768" y="5541264"/>
            <a:ext cx="2011680" cy="274320"/>
          </a:xfrm>
          <a:prstGeom prst="rect">
            <a:avLst/>
          </a:prstGeom>
          <a:noFill/>
          <a:ln/>
        </p:spPr>
        <p:txBody>
          <a:bodyPr wrap="square" lIns="0" tIns="0" rIns="0" bIns="0" rtlCol="0" anchor="ctr"/>
          <a:lstStyle/>
          <a:p>
            <a:pPr algn="ctr" indent="0" marL="0">
              <a:buNone/>
            </a:pPr>
            <a:r>
              <a:rPr lang="en-US" sz="740" i="1" dirty="0">
                <a:solidFill>
                  <a:srgbClr val="5C6773"/>
                </a:solidFill>
                <a:latin typeface="Calibri" pitchFamily="34" charset="0"/>
                <a:ea typeface="Calibri" pitchFamily="34" charset="-122"/>
                <a:cs typeface="Calibri" pitchFamily="34" charset="-120"/>
              </a:rPr>
              <a:t>Telemetry · Platform agent · Gaps</a:t>
            </a:r>
            <a:endParaRPr lang="en-US" sz="740" dirty="0"/>
          </a:p>
        </p:txBody>
      </p:sp>
      <p:sp>
        <p:nvSpPr>
          <p:cNvPr id="44" name="Shape 42"/>
          <p:cNvSpPr/>
          <p:nvPr/>
        </p:nvSpPr>
        <p:spPr>
          <a:xfrm>
            <a:off x="5998464" y="1645920"/>
            <a:ext cx="2286000" cy="4315968"/>
          </a:xfrm>
          <a:prstGeom prst="rect">
            <a:avLst/>
          </a:prstGeom>
          <a:solidFill>
            <a:srgbClr val="FFD200"/>
          </a:solidFill>
          <a:ln/>
        </p:spPr>
      </p:sp>
      <p:sp>
        <p:nvSpPr>
          <p:cNvPr id="45" name="Shape 43"/>
          <p:cNvSpPr/>
          <p:nvPr/>
        </p:nvSpPr>
        <p:spPr>
          <a:xfrm>
            <a:off x="6044184" y="1691640"/>
            <a:ext cx="2194560" cy="4224528"/>
          </a:xfrm>
          <a:prstGeom prst="rect">
            <a:avLst/>
          </a:prstGeom>
          <a:solidFill>
            <a:srgbClr val="005DAA"/>
          </a:solidFill>
          <a:ln/>
        </p:spPr>
      </p:sp>
      <p:sp>
        <p:nvSpPr>
          <p:cNvPr id="46" name="Text 44"/>
          <p:cNvSpPr/>
          <p:nvPr/>
        </p:nvSpPr>
        <p:spPr>
          <a:xfrm>
            <a:off x="6089904" y="1810512"/>
            <a:ext cx="2103120" cy="219456"/>
          </a:xfrm>
          <a:prstGeom prst="rect">
            <a:avLst/>
          </a:prstGeom>
          <a:noFill/>
          <a:ln/>
        </p:spPr>
        <p:txBody>
          <a:bodyPr wrap="square" lIns="0" tIns="0" rIns="0" bIns="0" rtlCol="0" anchor="ctr"/>
          <a:lstStyle/>
          <a:p>
            <a:pPr algn="ctr" indent="0" marL="0">
              <a:buNone/>
            </a:pPr>
            <a:r>
              <a:rPr lang="en-US" sz="950" b="1" spc="140" kern="0" dirty="0">
                <a:solidFill>
                  <a:srgbClr val="FFD200"/>
                </a:solidFill>
                <a:latin typeface="Calibri" pitchFamily="34" charset="0"/>
                <a:ea typeface="Calibri" pitchFamily="34" charset="-122"/>
                <a:cs typeface="Calibri" pitchFamily="34" charset="-120"/>
              </a:rPr>
              <a:t>SQL SERVER POD</a:t>
            </a:r>
            <a:endParaRPr lang="en-US" sz="950" dirty="0"/>
          </a:p>
        </p:txBody>
      </p:sp>
      <p:sp>
        <p:nvSpPr>
          <p:cNvPr id="47" name="Text 45"/>
          <p:cNvSpPr/>
          <p:nvPr/>
        </p:nvSpPr>
        <p:spPr>
          <a:xfrm>
            <a:off x="6089904" y="2011680"/>
            <a:ext cx="2103120" cy="182880"/>
          </a:xfrm>
          <a:prstGeom prst="rect">
            <a:avLst/>
          </a:prstGeom>
          <a:noFill/>
          <a:ln/>
        </p:spPr>
        <p:txBody>
          <a:bodyPr wrap="square" lIns="0" tIns="0" rIns="0" bIns="0" rtlCol="0" anchor="ctr"/>
          <a:lstStyle/>
          <a:p>
            <a:pPr algn="ctr" indent="0" marL="0">
              <a:buNone/>
            </a:pPr>
            <a:r>
              <a:rPr lang="en-US" sz="720" i="1" dirty="0">
                <a:solidFill>
                  <a:srgbClr val="CFE0F5"/>
                </a:solidFill>
                <a:latin typeface="Calibri" pitchFamily="34" charset="0"/>
                <a:ea typeface="Calibri" pitchFamily="34" charset="-122"/>
                <a:cs typeface="Calibri" pitchFamily="34" charset="-120"/>
              </a:rPr>
              <a:t>Fully dedicated · carries the pager</a:t>
            </a:r>
            <a:endParaRPr lang="en-US" sz="720" dirty="0"/>
          </a:p>
        </p:txBody>
      </p:sp>
      <p:sp>
        <p:nvSpPr>
          <p:cNvPr id="48" name="Shape 46"/>
          <p:cNvSpPr/>
          <p:nvPr/>
        </p:nvSpPr>
        <p:spPr>
          <a:xfrm>
            <a:off x="6163056" y="2286000"/>
            <a:ext cx="1956816" cy="402336"/>
          </a:xfrm>
          <a:prstGeom prst="rect">
            <a:avLst/>
          </a:prstGeom>
          <a:solidFill>
            <a:srgbClr val="0B2350"/>
          </a:solidFill>
          <a:ln/>
        </p:spPr>
      </p:sp>
      <p:sp>
        <p:nvSpPr>
          <p:cNvPr id="49" name="Text 47"/>
          <p:cNvSpPr/>
          <p:nvPr/>
        </p:nvSpPr>
        <p:spPr>
          <a:xfrm>
            <a:off x="6163056" y="2386584"/>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Pod Lead</a:t>
            </a:r>
            <a:endParaRPr lang="en-US" sz="1050" dirty="0"/>
          </a:p>
        </p:txBody>
      </p:sp>
      <p:sp>
        <p:nvSpPr>
          <p:cNvPr id="50" name="Shape 48"/>
          <p:cNvSpPr/>
          <p:nvPr/>
        </p:nvSpPr>
        <p:spPr>
          <a:xfrm>
            <a:off x="6163056" y="2770632"/>
            <a:ext cx="1956816" cy="402336"/>
          </a:xfrm>
          <a:prstGeom prst="rect">
            <a:avLst/>
          </a:prstGeom>
          <a:solidFill>
            <a:srgbClr val="0B2350"/>
          </a:solidFill>
          <a:ln/>
        </p:spPr>
      </p:sp>
      <p:sp>
        <p:nvSpPr>
          <p:cNvPr id="51" name="Text 49"/>
          <p:cNvSpPr/>
          <p:nvPr/>
        </p:nvSpPr>
        <p:spPr>
          <a:xfrm>
            <a:off x="6163056" y="2871216"/>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Engineering</a:t>
            </a:r>
            <a:endParaRPr lang="en-US" sz="1050" dirty="0"/>
          </a:p>
        </p:txBody>
      </p:sp>
      <p:sp>
        <p:nvSpPr>
          <p:cNvPr id="52" name="Shape 50"/>
          <p:cNvSpPr/>
          <p:nvPr/>
        </p:nvSpPr>
        <p:spPr>
          <a:xfrm>
            <a:off x="6163056" y="3255264"/>
            <a:ext cx="1956816" cy="402336"/>
          </a:xfrm>
          <a:prstGeom prst="rect">
            <a:avLst/>
          </a:prstGeom>
          <a:solidFill>
            <a:srgbClr val="0B2350"/>
          </a:solidFill>
          <a:ln/>
        </p:spPr>
      </p:sp>
      <p:sp>
        <p:nvSpPr>
          <p:cNvPr id="53" name="Text 51"/>
          <p:cNvSpPr/>
          <p:nvPr/>
        </p:nvSpPr>
        <p:spPr>
          <a:xfrm>
            <a:off x="6163056" y="3355848"/>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Ops</a:t>
            </a:r>
            <a:endParaRPr lang="en-US" sz="1050" dirty="0"/>
          </a:p>
        </p:txBody>
      </p:sp>
      <p:sp>
        <p:nvSpPr>
          <p:cNvPr id="54" name="Shape 52"/>
          <p:cNvSpPr/>
          <p:nvPr/>
        </p:nvSpPr>
        <p:spPr>
          <a:xfrm>
            <a:off x="6163056" y="3739896"/>
            <a:ext cx="1956816" cy="402336"/>
          </a:xfrm>
          <a:prstGeom prst="rect">
            <a:avLst/>
          </a:prstGeom>
          <a:solidFill>
            <a:srgbClr val="0B2350"/>
          </a:solidFill>
          <a:ln/>
        </p:spPr>
      </p:sp>
      <p:sp>
        <p:nvSpPr>
          <p:cNvPr id="55" name="Text 53"/>
          <p:cNvSpPr/>
          <p:nvPr/>
        </p:nvSpPr>
        <p:spPr>
          <a:xfrm>
            <a:off x="6163056" y="3840480"/>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SQL SMEs</a:t>
            </a:r>
            <a:endParaRPr lang="en-US" sz="1050" dirty="0"/>
          </a:p>
        </p:txBody>
      </p:sp>
      <p:sp>
        <p:nvSpPr>
          <p:cNvPr id="56" name="Shape 54"/>
          <p:cNvSpPr/>
          <p:nvPr/>
        </p:nvSpPr>
        <p:spPr>
          <a:xfrm>
            <a:off x="6163056" y="4224528"/>
            <a:ext cx="1956816" cy="402336"/>
          </a:xfrm>
          <a:prstGeom prst="rect">
            <a:avLst/>
          </a:prstGeom>
          <a:solidFill>
            <a:srgbClr val="0B2350"/>
          </a:solidFill>
          <a:ln/>
        </p:spPr>
      </p:sp>
      <p:sp>
        <p:nvSpPr>
          <p:cNvPr id="57" name="Text 55"/>
          <p:cNvSpPr/>
          <p:nvPr/>
        </p:nvSpPr>
        <p:spPr>
          <a:xfrm>
            <a:off x="6163056" y="4325112"/>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SRE</a:t>
            </a:r>
            <a:endParaRPr lang="en-US" sz="1050" dirty="0"/>
          </a:p>
        </p:txBody>
      </p:sp>
      <p:sp>
        <p:nvSpPr>
          <p:cNvPr id="58" name="Shape 56"/>
          <p:cNvSpPr/>
          <p:nvPr/>
        </p:nvSpPr>
        <p:spPr>
          <a:xfrm>
            <a:off x="6163056" y="4709160"/>
            <a:ext cx="1956816" cy="402336"/>
          </a:xfrm>
          <a:prstGeom prst="rect">
            <a:avLst/>
          </a:prstGeom>
          <a:solidFill>
            <a:srgbClr val="0B2350"/>
          </a:solidFill>
          <a:ln/>
        </p:spPr>
      </p:sp>
      <p:sp>
        <p:nvSpPr>
          <p:cNvPr id="59" name="Text 57"/>
          <p:cNvSpPr/>
          <p:nvPr/>
        </p:nvSpPr>
        <p:spPr>
          <a:xfrm>
            <a:off x="6163056" y="4809744"/>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Intelligent Ops</a:t>
            </a:r>
            <a:endParaRPr lang="en-US" sz="1050" dirty="0"/>
          </a:p>
        </p:txBody>
      </p:sp>
      <p:sp>
        <p:nvSpPr>
          <p:cNvPr id="60" name="Shape 58"/>
          <p:cNvSpPr/>
          <p:nvPr/>
        </p:nvSpPr>
        <p:spPr>
          <a:xfrm>
            <a:off x="6163056" y="5193792"/>
            <a:ext cx="1956816" cy="402336"/>
          </a:xfrm>
          <a:prstGeom prst="rect">
            <a:avLst/>
          </a:prstGeom>
          <a:solidFill>
            <a:srgbClr val="0B2350"/>
          </a:solidFill>
          <a:ln/>
        </p:spPr>
      </p:sp>
      <p:sp>
        <p:nvSpPr>
          <p:cNvPr id="61" name="Text 59"/>
          <p:cNvSpPr/>
          <p:nvPr/>
        </p:nvSpPr>
        <p:spPr>
          <a:xfrm>
            <a:off x="6163056" y="5294376"/>
            <a:ext cx="19568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Tigers — R&amp;C</a:t>
            </a:r>
            <a:endParaRPr lang="en-US" sz="1050" dirty="0"/>
          </a:p>
        </p:txBody>
      </p:sp>
      <p:sp>
        <p:nvSpPr>
          <p:cNvPr id="62" name="Text 60"/>
          <p:cNvSpPr/>
          <p:nvPr/>
        </p:nvSpPr>
        <p:spPr>
          <a:xfrm>
            <a:off x="6089904" y="5705856"/>
            <a:ext cx="2103120" cy="182880"/>
          </a:xfrm>
          <a:prstGeom prst="rect">
            <a:avLst/>
          </a:prstGeom>
          <a:noFill/>
          <a:ln/>
        </p:spPr>
        <p:txBody>
          <a:bodyPr wrap="square" lIns="0" tIns="0" rIns="0" bIns="0" rtlCol="0" anchor="ctr"/>
          <a:lstStyle/>
          <a:p>
            <a:pPr algn="ctr" indent="0" marL="0">
              <a:buNone/>
            </a:pPr>
            <a:r>
              <a:rPr lang="en-US" sz="760" b="1" i="1" dirty="0">
                <a:solidFill>
                  <a:srgbClr val="FFD200"/>
                </a:solidFill>
                <a:latin typeface="Calibri" pitchFamily="34" charset="0"/>
                <a:ea typeface="Calibri" pitchFamily="34" charset="-122"/>
                <a:cs typeface="Calibri" pitchFamily="34" charset="-120"/>
              </a:rPr>
              <a:t>Automation is what all of them do</a:t>
            </a:r>
            <a:endParaRPr lang="en-US" sz="760" dirty="0"/>
          </a:p>
        </p:txBody>
      </p:sp>
      <p:sp>
        <p:nvSpPr>
          <p:cNvPr id="63" name="Shape 61"/>
          <p:cNvSpPr/>
          <p:nvPr/>
        </p:nvSpPr>
        <p:spPr>
          <a:xfrm>
            <a:off x="8705088" y="1645920"/>
            <a:ext cx="3456432" cy="45720"/>
          </a:xfrm>
          <a:prstGeom prst="rect">
            <a:avLst/>
          </a:prstGeom>
          <a:solidFill>
            <a:srgbClr val="4C9A2A"/>
          </a:solidFill>
          <a:ln/>
        </p:spPr>
      </p:sp>
      <p:sp>
        <p:nvSpPr>
          <p:cNvPr id="64" name="Shape 62"/>
          <p:cNvSpPr/>
          <p:nvPr/>
        </p:nvSpPr>
        <p:spPr>
          <a:xfrm>
            <a:off x="8705088" y="1691640"/>
            <a:ext cx="3456432" cy="1307592"/>
          </a:xfrm>
          <a:prstGeom prst="rect">
            <a:avLst/>
          </a:prstGeom>
          <a:solidFill>
            <a:srgbClr val="FFFFFF"/>
          </a:solidFill>
          <a:ln w="7620">
            <a:solidFill>
              <a:srgbClr val="D7DDE5"/>
            </a:solidFill>
            <a:prstDash val="solid"/>
          </a:ln>
        </p:spPr>
      </p:sp>
      <p:sp>
        <p:nvSpPr>
          <p:cNvPr id="65" name="Text 63"/>
          <p:cNvSpPr/>
          <p:nvPr/>
        </p:nvSpPr>
        <p:spPr>
          <a:xfrm>
            <a:off x="8833104" y="1737360"/>
            <a:ext cx="3200400" cy="128016"/>
          </a:xfrm>
          <a:prstGeom prst="rect">
            <a:avLst/>
          </a:prstGeom>
          <a:noFill/>
          <a:ln/>
        </p:spPr>
        <p:txBody>
          <a:bodyPr wrap="square" lIns="0" tIns="0" rIns="0" bIns="0" rtlCol="0" anchor="ctr"/>
          <a:lstStyle/>
          <a:p>
            <a:pPr indent="0" marL="0">
              <a:buNone/>
            </a:pPr>
            <a:r>
              <a:rPr lang="en-US" sz="700" b="1" spc="140" kern="0" dirty="0">
                <a:solidFill>
                  <a:srgbClr val="5C6773"/>
                </a:solidFill>
                <a:latin typeface="Calibri" pitchFamily="34" charset="0"/>
                <a:ea typeface="Calibri" pitchFamily="34" charset="-122"/>
                <a:cs typeface="Calibri" pitchFamily="34" charset="-120"/>
              </a:rPr>
              <a:t>POD — ZEPHYR CONTROL PLANE</a:t>
            </a:r>
            <a:endParaRPr lang="en-US" sz="700" dirty="0"/>
          </a:p>
        </p:txBody>
      </p:sp>
      <p:sp>
        <p:nvSpPr>
          <p:cNvPr id="66" name="Text 64"/>
          <p:cNvSpPr/>
          <p:nvPr/>
        </p:nvSpPr>
        <p:spPr>
          <a:xfrm>
            <a:off x="8833104" y="1883664"/>
            <a:ext cx="3200400" cy="219456"/>
          </a:xfrm>
          <a:prstGeom prst="rect">
            <a:avLst/>
          </a:prstGeom>
          <a:noFill/>
          <a:ln/>
        </p:spPr>
        <p:txBody>
          <a:bodyPr wrap="square" lIns="0" tIns="0" rIns="0" bIns="0" rtlCol="0" anchor="ctr"/>
          <a:lstStyle/>
          <a:p>
            <a:pPr indent="0" marL="0">
              <a:buNone/>
            </a:pPr>
            <a:r>
              <a:rPr lang="en-US" sz="1250" b="1" dirty="0">
                <a:solidFill>
                  <a:srgbClr val="0B2350"/>
                </a:solidFill>
                <a:latin typeface="Cambria" pitchFamily="34" charset="0"/>
                <a:ea typeface="Cambria" pitchFamily="34" charset="-122"/>
                <a:cs typeface="Cambria" pitchFamily="34" charset="-120"/>
              </a:rPr>
              <a:t>Self-serve by default</a:t>
            </a:r>
            <a:endParaRPr lang="en-US" sz="1250" dirty="0"/>
          </a:p>
        </p:txBody>
      </p:sp>
      <p:sp>
        <p:nvSpPr>
          <p:cNvPr id="67" name="Text 65"/>
          <p:cNvSpPr/>
          <p:nvPr/>
        </p:nvSpPr>
        <p:spPr>
          <a:xfrm>
            <a:off x="8869680" y="2130552"/>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Pod publishes IaC modules &amp; offerings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Self-service via control plane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Policy gates as code · controls inherited</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Evidence auto-generated</a:t>
            </a:r>
            <a:endParaRPr lang="en-US" sz="760" dirty="0"/>
          </a:p>
        </p:txBody>
      </p:sp>
      <p:sp>
        <p:nvSpPr>
          <p:cNvPr id="68" name="Shape 66"/>
          <p:cNvSpPr/>
          <p:nvPr/>
        </p:nvSpPr>
        <p:spPr>
          <a:xfrm>
            <a:off x="8705088" y="3127248"/>
            <a:ext cx="3456432" cy="45720"/>
          </a:xfrm>
          <a:prstGeom prst="rect">
            <a:avLst/>
          </a:prstGeom>
          <a:solidFill>
            <a:srgbClr val="4C9A2A"/>
          </a:solidFill>
          <a:ln/>
        </p:spPr>
      </p:sp>
      <p:sp>
        <p:nvSpPr>
          <p:cNvPr id="69" name="Shape 67"/>
          <p:cNvSpPr/>
          <p:nvPr/>
        </p:nvSpPr>
        <p:spPr>
          <a:xfrm>
            <a:off x="8705088" y="3172968"/>
            <a:ext cx="3456432" cy="1307592"/>
          </a:xfrm>
          <a:prstGeom prst="rect">
            <a:avLst/>
          </a:prstGeom>
          <a:solidFill>
            <a:srgbClr val="FFFFFF"/>
          </a:solidFill>
          <a:ln w="7620">
            <a:solidFill>
              <a:srgbClr val="D7DDE5"/>
            </a:solidFill>
            <a:prstDash val="solid"/>
          </a:ln>
        </p:spPr>
      </p:sp>
      <p:sp>
        <p:nvSpPr>
          <p:cNvPr id="70" name="Text 68"/>
          <p:cNvSpPr/>
          <p:nvPr/>
        </p:nvSpPr>
        <p:spPr>
          <a:xfrm>
            <a:off x="8833104" y="3218688"/>
            <a:ext cx="3200400" cy="128016"/>
          </a:xfrm>
          <a:prstGeom prst="rect">
            <a:avLst/>
          </a:prstGeom>
          <a:noFill/>
          <a:ln/>
        </p:spPr>
        <p:txBody>
          <a:bodyPr wrap="square" lIns="0" tIns="0" rIns="0" bIns="0" rtlCol="0" anchor="ctr"/>
          <a:lstStyle/>
          <a:p>
            <a:pPr indent="0" marL="0">
              <a:buNone/>
            </a:pPr>
            <a:r>
              <a:rPr lang="en-US" sz="700" b="1" spc="140" kern="0" dirty="0">
                <a:solidFill>
                  <a:srgbClr val="5C6773"/>
                </a:solidFill>
                <a:latin typeface="Calibri" pitchFamily="34" charset="0"/>
                <a:ea typeface="Calibri" pitchFamily="34" charset="-122"/>
                <a:cs typeface="Calibri" pitchFamily="34" charset="-120"/>
              </a:rPr>
              <a:t>POD — OPTIMIZATION</a:t>
            </a:r>
            <a:endParaRPr lang="en-US" sz="700" dirty="0"/>
          </a:p>
        </p:txBody>
      </p:sp>
      <p:sp>
        <p:nvSpPr>
          <p:cNvPr id="71" name="Text 69"/>
          <p:cNvSpPr/>
          <p:nvPr/>
        </p:nvSpPr>
        <p:spPr>
          <a:xfrm>
            <a:off x="8833104" y="3364992"/>
            <a:ext cx="3200400" cy="219456"/>
          </a:xfrm>
          <a:prstGeom prst="rect">
            <a:avLst/>
          </a:prstGeom>
          <a:noFill/>
          <a:ln/>
        </p:spPr>
        <p:txBody>
          <a:bodyPr wrap="square" lIns="0" tIns="0" rIns="0" bIns="0" rtlCol="0" anchor="ctr"/>
          <a:lstStyle/>
          <a:p>
            <a:pPr indent="0" marL="0">
              <a:buNone/>
            </a:pPr>
            <a:r>
              <a:rPr lang="en-US" sz="1250" b="1" dirty="0">
                <a:solidFill>
                  <a:srgbClr val="0B2350"/>
                </a:solidFill>
                <a:latin typeface="Cambria" pitchFamily="34" charset="0"/>
                <a:ea typeface="Cambria" pitchFamily="34" charset="-122"/>
                <a:cs typeface="Cambria" pitchFamily="34" charset="-120"/>
              </a:rPr>
              <a:t>Rightsized by default</a:t>
            </a:r>
            <a:endParaRPr lang="en-US" sz="1250" dirty="0"/>
          </a:p>
        </p:txBody>
      </p:sp>
      <p:sp>
        <p:nvSpPr>
          <p:cNvPr id="72" name="Text 70"/>
          <p:cNvSpPr/>
          <p:nvPr/>
        </p:nvSpPr>
        <p:spPr>
          <a:xfrm>
            <a:off x="8869680" y="3611880"/>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Capacity headroom visible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Rightsizing PRs in repo</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Real-time usage visibility</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Migration tooling on demand</a:t>
            </a:r>
            <a:endParaRPr lang="en-US" sz="760" dirty="0"/>
          </a:p>
        </p:txBody>
      </p:sp>
      <p:sp>
        <p:nvSpPr>
          <p:cNvPr id="73" name="Shape 71"/>
          <p:cNvSpPr/>
          <p:nvPr/>
        </p:nvSpPr>
        <p:spPr>
          <a:xfrm>
            <a:off x="8705088" y="4608576"/>
            <a:ext cx="3456432" cy="45720"/>
          </a:xfrm>
          <a:prstGeom prst="rect">
            <a:avLst/>
          </a:prstGeom>
          <a:solidFill>
            <a:srgbClr val="4C9A2A"/>
          </a:solidFill>
          <a:ln/>
        </p:spPr>
      </p:sp>
      <p:sp>
        <p:nvSpPr>
          <p:cNvPr id="74" name="Shape 72"/>
          <p:cNvSpPr/>
          <p:nvPr/>
        </p:nvSpPr>
        <p:spPr>
          <a:xfrm>
            <a:off x="8705088" y="4654296"/>
            <a:ext cx="3456432" cy="1307592"/>
          </a:xfrm>
          <a:prstGeom prst="rect">
            <a:avLst/>
          </a:prstGeom>
          <a:solidFill>
            <a:srgbClr val="FFFFFF"/>
          </a:solidFill>
          <a:ln w="7620">
            <a:solidFill>
              <a:srgbClr val="D7DDE5"/>
            </a:solidFill>
            <a:prstDash val="solid"/>
          </a:ln>
        </p:spPr>
      </p:sp>
      <p:sp>
        <p:nvSpPr>
          <p:cNvPr id="75" name="Text 73"/>
          <p:cNvSpPr/>
          <p:nvPr/>
        </p:nvSpPr>
        <p:spPr>
          <a:xfrm>
            <a:off x="8833104" y="4700016"/>
            <a:ext cx="3200400" cy="128016"/>
          </a:xfrm>
          <a:prstGeom prst="rect">
            <a:avLst/>
          </a:prstGeom>
          <a:noFill/>
          <a:ln/>
        </p:spPr>
        <p:txBody>
          <a:bodyPr wrap="square" lIns="0" tIns="0" rIns="0" bIns="0" rtlCol="0" anchor="ctr"/>
          <a:lstStyle/>
          <a:p>
            <a:pPr indent="0" marL="0">
              <a:buNone/>
            </a:pPr>
            <a:r>
              <a:rPr lang="en-US" sz="700" b="1" spc="140" kern="0" dirty="0">
                <a:solidFill>
                  <a:srgbClr val="5C6773"/>
                </a:solidFill>
                <a:latin typeface="Calibri" pitchFamily="34" charset="0"/>
                <a:ea typeface="Calibri" pitchFamily="34" charset="-122"/>
                <a:cs typeface="Calibri" pitchFamily="34" charset="-120"/>
              </a:rPr>
              <a:t>POD — INCIDENT PREVENTION</a:t>
            </a:r>
            <a:endParaRPr lang="en-US" sz="700" dirty="0"/>
          </a:p>
        </p:txBody>
      </p:sp>
      <p:sp>
        <p:nvSpPr>
          <p:cNvPr id="76" name="Text 74"/>
          <p:cNvSpPr/>
          <p:nvPr/>
        </p:nvSpPr>
        <p:spPr>
          <a:xfrm>
            <a:off x="8833104" y="4846320"/>
            <a:ext cx="3200400" cy="219456"/>
          </a:xfrm>
          <a:prstGeom prst="rect">
            <a:avLst/>
          </a:prstGeom>
          <a:noFill/>
          <a:ln/>
        </p:spPr>
        <p:txBody>
          <a:bodyPr wrap="square" lIns="0" tIns="0" rIns="0" bIns="0" rtlCol="0" anchor="ctr"/>
          <a:lstStyle/>
          <a:p>
            <a:pPr indent="0" marL="0">
              <a:buNone/>
            </a:pPr>
            <a:r>
              <a:rPr lang="en-US" sz="1250" b="1" dirty="0">
                <a:solidFill>
                  <a:srgbClr val="0B2350"/>
                </a:solidFill>
                <a:latin typeface="Cambria" pitchFamily="34" charset="0"/>
                <a:ea typeface="Cambria" pitchFamily="34" charset="-122"/>
                <a:cs typeface="Cambria" pitchFamily="34" charset="-120"/>
              </a:rPr>
              <a:t>Resilient by default</a:t>
            </a:r>
            <a:endParaRPr lang="en-US" sz="1250" dirty="0"/>
          </a:p>
        </p:txBody>
      </p:sp>
      <p:sp>
        <p:nvSpPr>
          <p:cNvPr id="77" name="Text 75"/>
          <p:cNvSpPr/>
          <p:nvPr/>
        </p:nvSpPr>
        <p:spPr>
          <a:xfrm>
            <a:off x="8869680" y="5093208"/>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Anomalies surfaced before impact</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Remediation proposed as PRs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Alert noise auto-triaged</a:t>
            </a:r>
            <a:endParaRPr lang="en-US" sz="760" dirty="0"/>
          </a:p>
        </p:txBody>
      </p:sp>
      <p:sp>
        <p:nvSpPr>
          <p:cNvPr id="78" name="Text 76"/>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CONTROL PLANE INTEGRATION</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SQL Server in the catalog</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Where the integration actually happens. The pod publishes; the Control Plane renders, gates, executes and evidences.</a:t>
            </a:r>
            <a:endParaRPr lang="en-US" sz="1200" dirty="0"/>
          </a:p>
        </p:txBody>
      </p:sp>
      <p:sp>
        <p:nvSpPr>
          <p:cNvPr id="5" name="Shape 3"/>
          <p:cNvSpPr/>
          <p:nvPr/>
        </p:nvSpPr>
        <p:spPr>
          <a:xfrm>
            <a:off x="566928" y="1792224"/>
            <a:ext cx="11027664" cy="365760"/>
          </a:xfrm>
          <a:prstGeom prst="rect">
            <a:avLst/>
          </a:prstGeom>
          <a:solidFill>
            <a:srgbClr val="0B2350"/>
          </a:solidFill>
          <a:ln/>
        </p:spPr>
      </p:sp>
      <p:sp>
        <p:nvSpPr>
          <p:cNvPr id="6" name="Text 4"/>
          <p:cNvSpPr/>
          <p:nvPr/>
        </p:nvSpPr>
        <p:spPr>
          <a:xfrm>
            <a:off x="676656" y="1883664"/>
            <a:ext cx="274320" cy="201168"/>
          </a:xfrm>
          <a:prstGeom prst="rect">
            <a:avLst/>
          </a:prstGeom>
          <a:noFill/>
          <a:ln/>
        </p:spPr>
        <p:txBody>
          <a:bodyPr wrap="square" lIns="0" tIns="0" rIns="0" bIns="0" rtlCol="0" anchor="ctr"/>
          <a:lstStyle/>
          <a:p>
            <a:pPr indent="0" marL="0">
              <a:buNone/>
            </a:pPr>
            <a:endParaRPr lang="en-US" sz="800" dirty="0"/>
          </a:p>
        </p:txBody>
      </p:sp>
      <p:sp>
        <p:nvSpPr>
          <p:cNvPr id="7" name="Text 5"/>
          <p:cNvSpPr/>
          <p:nvPr/>
        </p:nvSpPr>
        <p:spPr>
          <a:xfrm>
            <a:off x="1133856" y="1883664"/>
            <a:ext cx="182880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TOUCHPOINT</a:t>
            </a:r>
            <a:endParaRPr lang="en-US" sz="800" dirty="0"/>
          </a:p>
        </p:txBody>
      </p:sp>
      <p:sp>
        <p:nvSpPr>
          <p:cNvPr id="8" name="Text 6"/>
          <p:cNvSpPr/>
          <p:nvPr/>
        </p:nvSpPr>
        <p:spPr>
          <a:xfrm>
            <a:off x="3145536" y="1883664"/>
            <a:ext cx="457200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THE POD DOES</a:t>
            </a:r>
            <a:endParaRPr lang="en-US" sz="800" dirty="0"/>
          </a:p>
        </p:txBody>
      </p:sp>
      <p:sp>
        <p:nvSpPr>
          <p:cNvPr id="9" name="Text 7"/>
          <p:cNvSpPr/>
          <p:nvPr/>
        </p:nvSpPr>
        <p:spPr>
          <a:xfrm>
            <a:off x="7900416" y="1883664"/>
            <a:ext cx="362102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THE CONTROL PLANE DOES</a:t>
            </a:r>
            <a:endParaRPr lang="en-US" sz="800" dirty="0"/>
          </a:p>
        </p:txBody>
      </p:sp>
      <p:sp>
        <p:nvSpPr>
          <p:cNvPr id="10" name="Shape 8"/>
          <p:cNvSpPr/>
          <p:nvPr/>
        </p:nvSpPr>
        <p:spPr>
          <a:xfrm>
            <a:off x="566928" y="2176272"/>
            <a:ext cx="11027664" cy="438912"/>
          </a:xfrm>
          <a:prstGeom prst="rect">
            <a:avLst/>
          </a:prstGeom>
          <a:solidFill>
            <a:srgbClr val="F4F7FB"/>
          </a:solidFill>
          <a:ln w="5080">
            <a:solidFill>
              <a:srgbClr val="D7DDE5"/>
            </a:solidFill>
            <a:prstDash val="solid"/>
          </a:ln>
        </p:spPr>
      </p:sp>
      <p:sp>
        <p:nvSpPr>
          <p:cNvPr id="11" name="Text 9"/>
          <p:cNvSpPr/>
          <p:nvPr/>
        </p:nvSpPr>
        <p:spPr>
          <a:xfrm>
            <a:off x="676656" y="2240280"/>
            <a:ext cx="274320" cy="329184"/>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1</a:t>
            </a:r>
            <a:endParaRPr lang="en-US" sz="920" dirty="0"/>
          </a:p>
        </p:txBody>
      </p:sp>
      <p:sp>
        <p:nvSpPr>
          <p:cNvPr id="12" name="Text 10"/>
          <p:cNvSpPr/>
          <p:nvPr/>
        </p:nvSpPr>
        <p:spPr>
          <a:xfrm>
            <a:off x="1133856" y="2240280"/>
            <a:ext cx="18288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Module registry</a:t>
            </a:r>
            <a:endParaRPr lang="en-US" sz="920" dirty="0"/>
          </a:p>
        </p:txBody>
      </p:sp>
      <p:sp>
        <p:nvSpPr>
          <p:cNvPr id="13" name="Text 11"/>
          <p:cNvSpPr/>
          <p:nvPr/>
        </p:nvSpPr>
        <p:spPr>
          <a:xfrm>
            <a:off x="3145536" y="2240280"/>
            <a:ext cx="45720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Authors golden Terraform/OpenTofu + Ansible; publishes versioned modules with a declared contract</a:t>
            </a:r>
            <a:endParaRPr lang="en-US" sz="920" dirty="0"/>
          </a:p>
        </p:txBody>
      </p:sp>
      <p:sp>
        <p:nvSpPr>
          <p:cNvPr id="14" name="Text 12"/>
          <p:cNvSpPr/>
          <p:nvPr/>
        </p:nvSpPr>
        <p:spPr>
          <a:xfrm>
            <a:off x="7900416" y="2240280"/>
            <a:ext cx="3621024"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Hosts, versions, resolves dependencies</a:t>
            </a:r>
            <a:endParaRPr lang="en-US" sz="920" dirty="0"/>
          </a:p>
        </p:txBody>
      </p:sp>
      <p:sp>
        <p:nvSpPr>
          <p:cNvPr id="15" name="Shape 13"/>
          <p:cNvSpPr/>
          <p:nvPr/>
        </p:nvSpPr>
        <p:spPr>
          <a:xfrm>
            <a:off x="566928" y="2651760"/>
            <a:ext cx="11027664" cy="438912"/>
          </a:xfrm>
          <a:prstGeom prst="rect">
            <a:avLst/>
          </a:prstGeom>
          <a:solidFill>
            <a:srgbClr val="FFFFFF"/>
          </a:solidFill>
          <a:ln w="5080">
            <a:solidFill>
              <a:srgbClr val="D7DDE5"/>
            </a:solidFill>
            <a:prstDash val="solid"/>
          </a:ln>
        </p:spPr>
      </p:sp>
      <p:sp>
        <p:nvSpPr>
          <p:cNvPr id="16" name="Text 14"/>
          <p:cNvSpPr/>
          <p:nvPr/>
        </p:nvSpPr>
        <p:spPr>
          <a:xfrm>
            <a:off x="676656" y="2715768"/>
            <a:ext cx="274320" cy="329184"/>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2</a:t>
            </a:r>
            <a:endParaRPr lang="en-US" sz="920" dirty="0"/>
          </a:p>
        </p:txBody>
      </p:sp>
      <p:sp>
        <p:nvSpPr>
          <p:cNvPr id="17" name="Text 15"/>
          <p:cNvSpPr/>
          <p:nvPr/>
        </p:nvSpPr>
        <p:spPr>
          <a:xfrm>
            <a:off x="1133856" y="2715768"/>
            <a:ext cx="18288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Catalog offering</a:t>
            </a:r>
            <a:endParaRPr lang="en-US" sz="920" dirty="0"/>
          </a:p>
        </p:txBody>
      </p:sp>
      <p:sp>
        <p:nvSpPr>
          <p:cNvPr id="18" name="Text 16"/>
          <p:cNvSpPr/>
          <p:nvPr/>
        </p:nvSpPr>
        <p:spPr>
          <a:xfrm>
            <a:off x="3145536" y="2715768"/>
            <a:ext cx="45720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Defines the offering and tiers, parameters, entitlements, approvals, chargeback</a:t>
            </a:r>
            <a:endParaRPr lang="en-US" sz="920" dirty="0"/>
          </a:p>
        </p:txBody>
      </p:sp>
      <p:sp>
        <p:nvSpPr>
          <p:cNvPr id="19" name="Text 17"/>
          <p:cNvSpPr/>
          <p:nvPr/>
        </p:nvSpPr>
        <p:spPr>
          <a:xfrm>
            <a:off x="7900416" y="2715768"/>
            <a:ext cx="3621024"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Renders it in the portal as a request</a:t>
            </a:r>
            <a:endParaRPr lang="en-US" sz="920" dirty="0"/>
          </a:p>
        </p:txBody>
      </p:sp>
      <p:sp>
        <p:nvSpPr>
          <p:cNvPr id="20" name="Shape 18"/>
          <p:cNvSpPr/>
          <p:nvPr/>
        </p:nvSpPr>
        <p:spPr>
          <a:xfrm>
            <a:off x="566928" y="3127248"/>
            <a:ext cx="11027664" cy="438912"/>
          </a:xfrm>
          <a:prstGeom prst="rect">
            <a:avLst/>
          </a:prstGeom>
          <a:solidFill>
            <a:srgbClr val="F4F7FB"/>
          </a:solidFill>
          <a:ln w="5080">
            <a:solidFill>
              <a:srgbClr val="D7DDE5"/>
            </a:solidFill>
            <a:prstDash val="solid"/>
          </a:ln>
        </p:spPr>
      </p:sp>
      <p:sp>
        <p:nvSpPr>
          <p:cNvPr id="21" name="Text 19"/>
          <p:cNvSpPr/>
          <p:nvPr/>
        </p:nvSpPr>
        <p:spPr>
          <a:xfrm>
            <a:off x="676656" y="3191256"/>
            <a:ext cx="274320" cy="329184"/>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3</a:t>
            </a:r>
            <a:endParaRPr lang="en-US" sz="920" dirty="0"/>
          </a:p>
        </p:txBody>
      </p:sp>
      <p:sp>
        <p:nvSpPr>
          <p:cNvPr id="22" name="Text 20"/>
          <p:cNvSpPr/>
          <p:nvPr/>
        </p:nvSpPr>
        <p:spPr>
          <a:xfrm>
            <a:off x="1133856" y="3191256"/>
            <a:ext cx="18288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Policy engine</a:t>
            </a:r>
            <a:endParaRPr lang="en-US" sz="920" dirty="0"/>
          </a:p>
        </p:txBody>
      </p:sp>
      <p:sp>
        <p:nvSpPr>
          <p:cNvPr id="23" name="Text 21"/>
          <p:cNvSpPr/>
          <p:nvPr/>
        </p:nvSpPr>
        <p:spPr>
          <a:xfrm>
            <a:off x="3145536" y="3191256"/>
            <a:ext cx="45720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Authors SQL-specific policy-as-code: version N-1, encryption, HA tier, tagging, backup mandatory</a:t>
            </a:r>
            <a:endParaRPr lang="en-US" sz="920" dirty="0"/>
          </a:p>
        </p:txBody>
      </p:sp>
      <p:sp>
        <p:nvSpPr>
          <p:cNvPr id="24" name="Text 22"/>
          <p:cNvSpPr/>
          <p:nvPr/>
        </p:nvSpPr>
        <p:spPr>
          <a:xfrm>
            <a:off x="7900416" y="3191256"/>
            <a:ext cx="3621024"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Enforces at plan time; blocks the apply</a:t>
            </a:r>
            <a:endParaRPr lang="en-US" sz="920" dirty="0"/>
          </a:p>
        </p:txBody>
      </p:sp>
      <p:sp>
        <p:nvSpPr>
          <p:cNvPr id="25" name="Shape 23"/>
          <p:cNvSpPr/>
          <p:nvPr/>
        </p:nvSpPr>
        <p:spPr>
          <a:xfrm>
            <a:off x="566928" y="3602736"/>
            <a:ext cx="11027664" cy="438912"/>
          </a:xfrm>
          <a:prstGeom prst="rect">
            <a:avLst/>
          </a:prstGeom>
          <a:solidFill>
            <a:srgbClr val="FFFFFF"/>
          </a:solidFill>
          <a:ln w="5080">
            <a:solidFill>
              <a:srgbClr val="D7DDE5"/>
            </a:solidFill>
            <a:prstDash val="solid"/>
          </a:ln>
        </p:spPr>
      </p:sp>
      <p:sp>
        <p:nvSpPr>
          <p:cNvPr id="26" name="Text 24"/>
          <p:cNvSpPr/>
          <p:nvPr/>
        </p:nvSpPr>
        <p:spPr>
          <a:xfrm>
            <a:off x="676656" y="3666744"/>
            <a:ext cx="274320" cy="329184"/>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4</a:t>
            </a:r>
            <a:endParaRPr lang="en-US" sz="920" dirty="0"/>
          </a:p>
        </p:txBody>
      </p:sp>
      <p:sp>
        <p:nvSpPr>
          <p:cNvPr id="27" name="Text 25"/>
          <p:cNvSpPr/>
          <p:nvPr/>
        </p:nvSpPr>
        <p:spPr>
          <a:xfrm>
            <a:off x="1133856" y="3666744"/>
            <a:ext cx="18288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Day-2 lifecycle</a:t>
            </a:r>
            <a:endParaRPr lang="en-US" sz="920" dirty="0"/>
          </a:p>
        </p:txBody>
      </p:sp>
      <p:sp>
        <p:nvSpPr>
          <p:cNvPr id="28" name="Text 26"/>
          <p:cNvSpPr/>
          <p:nvPr/>
        </p:nvSpPr>
        <p:spPr>
          <a:xfrm>
            <a:off x="3145536" y="3666744"/>
            <a:ext cx="45720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Defines the actions: scale, patch, restore, refresh, decommission</a:t>
            </a:r>
            <a:endParaRPr lang="en-US" sz="920" dirty="0"/>
          </a:p>
        </p:txBody>
      </p:sp>
      <p:sp>
        <p:nvSpPr>
          <p:cNvPr id="29" name="Text 27"/>
          <p:cNvSpPr/>
          <p:nvPr/>
        </p:nvSpPr>
        <p:spPr>
          <a:xfrm>
            <a:off x="7900416" y="3666744"/>
            <a:ext cx="3621024"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Exposes as catalog actions; holds state; detects drift</a:t>
            </a:r>
            <a:endParaRPr lang="en-US" sz="920" dirty="0"/>
          </a:p>
        </p:txBody>
      </p:sp>
      <p:sp>
        <p:nvSpPr>
          <p:cNvPr id="30" name="Shape 28"/>
          <p:cNvSpPr/>
          <p:nvPr/>
        </p:nvSpPr>
        <p:spPr>
          <a:xfrm>
            <a:off x="566928" y="4078224"/>
            <a:ext cx="11027664" cy="438912"/>
          </a:xfrm>
          <a:prstGeom prst="rect">
            <a:avLst/>
          </a:prstGeom>
          <a:solidFill>
            <a:srgbClr val="F4F7FB"/>
          </a:solidFill>
          <a:ln w="5080">
            <a:solidFill>
              <a:srgbClr val="D7DDE5"/>
            </a:solidFill>
            <a:prstDash val="solid"/>
          </a:ln>
        </p:spPr>
      </p:sp>
      <p:sp>
        <p:nvSpPr>
          <p:cNvPr id="31" name="Text 29"/>
          <p:cNvSpPr/>
          <p:nvPr/>
        </p:nvSpPr>
        <p:spPr>
          <a:xfrm>
            <a:off x="676656" y="4142232"/>
            <a:ext cx="274320" cy="329184"/>
          </a:xfrm>
          <a:prstGeom prst="rect">
            <a:avLst/>
          </a:prstGeom>
          <a:noFill/>
          <a:ln/>
        </p:spPr>
        <p:txBody>
          <a:bodyPr wrap="square" lIns="0" tIns="0" rIns="0" bIns="0" rtlCol="0" anchor="ctr"/>
          <a:lstStyle/>
          <a:p>
            <a:pPr indent="0" marL="0">
              <a:lnSpc>
                <a:spcPts val="1150"/>
              </a:lnSpc>
              <a:buNone/>
            </a:pPr>
            <a:r>
              <a:rPr lang="en-US" sz="920" b="1" dirty="0">
                <a:solidFill>
                  <a:srgbClr val="0B2350"/>
                </a:solidFill>
                <a:latin typeface="Calibri" pitchFamily="34" charset="0"/>
                <a:ea typeface="Calibri" pitchFamily="34" charset="-122"/>
                <a:cs typeface="Calibri" pitchFamily="34" charset="-120"/>
              </a:rPr>
              <a:t>5</a:t>
            </a:r>
            <a:endParaRPr lang="en-US" sz="920" dirty="0"/>
          </a:p>
        </p:txBody>
      </p:sp>
      <p:sp>
        <p:nvSpPr>
          <p:cNvPr id="32" name="Text 30"/>
          <p:cNvSpPr/>
          <p:nvPr/>
        </p:nvSpPr>
        <p:spPr>
          <a:xfrm>
            <a:off x="1133856" y="4142232"/>
            <a:ext cx="18288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Evidence hooks</a:t>
            </a:r>
            <a:endParaRPr lang="en-US" sz="920" dirty="0"/>
          </a:p>
        </p:txBody>
      </p:sp>
      <p:sp>
        <p:nvSpPr>
          <p:cNvPr id="33" name="Text 31"/>
          <p:cNvSpPr/>
          <p:nvPr/>
        </p:nvSpPr>
        <p:spPr>
          <a:xfrm>
            <a:off x="3145536" y="4142232"/>
            <a:ext cx="4572000"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Nothing extra — evidence is a byproduct</a:t>
            </a:r>
            <a:endParaRPr lang="en-US" sz="920" dirty="0"/>
          </a:p>
        </p:txBody>
      </p:sp>
      <p:sp>
        <p:nvSpPr>
          <p:cNvPr id="34" name="Text 32"/>
          <p:cNvSpPr/>
          <p:nvPr/>
        </p:nvSpPr>
        <p:spPr>
          <a:xfrm>
            <a:off x="7900416" y="4142232"/>
            <a:ext cx="3621024" cy="329184"/>
          </a:xfrm>
          <a:prstGeom prst="rect">
            <a:avLst/>
          </a:prstGeom>
          <a:noFill/>
          <a:ln/>
        </p:spPr>
        <p:txBody>
          <a:bodyPr wrap="square" lIns="0" tIns="0" rIns="0" bIns="0" rtlCol="0" anchor="ctr"/>
          <a:lstStyle/>
          <a:p>
            <a:pPr indent="0" marL="0">
              <a:lnSpc>
                <a:spcPts val="1150"/>
              </a:lnSpc>
              <a:buNone/>
            </a:pPr>
            <a:r>
              <a:rPr lang="en-US" sz="920" dirty="0">
                <a:solidFill>
                  <a:srgbClr val="1E252E"/>
                </a:solidFill>
                <a:latin typeface="Calibri" pitchFamily="34" charset="0"/>
                <a:ea typeface="Calibri" pitchFamily="34" charset="-122"/>
                <a:cs typeface="Calibri" pitchFamily="34" charset="-120"/>
              </a:rPr>
              <a:t>Emits who requested, who approved, what plan, which policies passed</a:t>
            </a:r>
            <a:endParaRPr lang="en-US" sz="920" dirty="0"/>
          </a:p>
        </p:txBody>
      </p:sp>
      <p:sp>
        <p:nvSpPr>
          <p:cNvPr id="35" name="Shape 33"/>
          <p:cNvSpPr/>
          <p:nvPr/>
        </p:nvSpPr>
        <p:spPr>
          <a:xfrm>
            <a:off x="566928" y="4590288"/>
            <a:ext cx="3520440" cy="1371600"/>
          </a:xfrm>
          <a:prstGeom prst="rect">
            <a:avLst/>
          </a:prstGeom>
          <a:solidFill>
            <a:srgbClr val="F4F7FB"/>
          </a:solidFill>
          <a:ln w="7620">
            <a:solidFill>
              <a:srgbClr val="D7DDE5"/>
            </a:solidFill>
            <a:prstDash val="solid"/>
          </a:ln>
        </p:spPr>
      </p:sp>
      <p:sp>
        <p:nvSpPr>
          <p:cNvPr id="36" name="Text 34"/>
          <p:cNvSpPr/>
          <p:nvPr/>
        </p:nvSpPr>
        <p:spPr>
          <a:xfrm>
            <a:off x="731520" y="4727448"/>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TIERED, NOT GENERIC</a:t>
            </a:r>
            <a:endParaRPr lang="en-US" sz="820" dirty="0"/>
          </a:p>
        </p:txBody>
      </p:sp>
      <p:sp>
        <p:nvSpPr>
          <p:cNvPr id="37" name="Text 35"/>
          <p:cNvSpPr/>
          <p:nvPr/>
        </p:nvSpPr>
        <p:spPr>
          <a:xfrm>
            <a:off x="731520" y="4919472"/>
            <a:ext cx="3191256" cy="274320"/>
          </a:xfrm>
          <a:prstGeom prst="rect">
            <a:avLst/>
          </a:prstGeom>
          <a:noFill/>
          <a:ln/>
        </p:spPr>
        <p:txBody>
          <a:bodyPr wrap="square" lIns="0" tIns="0" rIns="0" bIns="0" rtlCol="0" anchor="ctr"/>
          <a:lstStyle/>
          <a:p>
            <a:pPr indent="0" marL="0">
              <a:buNone/>
            </a:pPr>
            <a:r>
              <a:rPr lang="en-US" sz="1150" b="1" dirty="0">
                <a:solidFill>
                  <a:srgbClr val="0B2350"/>
                </a:solidFill>
                <a:latin typeface="Cambria" pitchFamily="34" charset="0"/>
                <a:ea typeface="Cambria" pitchFamily="34" charset="-122"/>
                <a:cs typeface="Cambria" pitchFamily="34" charset="-120"/>
              </a:rPr>
              <a:t>Offerings, not one "SQL Server"</a:t>
            </a:r>
            <a:endParaRPr lang="en-US" sz="1150" dirty="0"/>
          </a:p>
        </p:txBody>
      </p:sp>
      <p:sp>
        <p:nvSpPr>
          <p:cNvPr id="38" name="Text 36"/>
          <p:cNvSpPr/>
          <p:nvPr/>
        </p:nvSpPr>
        <p:spPr>
          <a:xfrm>
            <a:off x="768096" y="5239512"/>
            <a:ext cx="3136392" cy="612648"/>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860" dirty="0">
                <a:solidFill>
                  <a:srgbClr val="1E252E"/>
                </a:solidFill>
                <a:latin typeface="Calibri" pitchFamily="34" charset="0"/>
                <a:ea typeface="Calibri" pitchFamily="34" charset="-122"/>
                <a:cs typeface="Calibri" pitchFamily="34" charset="-120"/>
              </a:rPr>
              <a:t>Standalone-Dev · HA-Prod (AG) → standard HA/DR tiers</a:t>
            </a:r>
            <a:endParaRPr lang="en-US" sz="860" dirty="0"/>
          </a:p>
          <a:p>
            <a:pPr marL="342900" indent="-342900">
              <a:lnSpc>
                <a:spcPts val="1220"/>
              </a:lnSpc>
              <a:spcAft>
                <a:spcPts val="300"/>
              </a:spcAft>
              <a:buSzPct val="100000"/>
              <a:buChar char="•"/>
            </a:pPr>
            <a:r>
              <a:rPr lang="en-US" sz="860" dirty="0">
                <a:solidFill>
                  <a:srgbClr val="1E252E"/>
                </a:solidFill>
                <a:latin typeface="Calibri" pitchFamily="34" charset="0"/>
                <a:ea typeface="Calibri" pitchFamily="34" charset="-122"/>
                <a:cs typeface="Calibri" pitchFamily="34" charset="-120"/>
              </a:rPr>
              <a:t>One generic offering invites bespoke design per request</a:t>
            </a:r>
            <a:endParaRPr lang="en-US" sz="860" dirty="0"/>
          </a:p>
        </p:txBody>
      </p:sp>
      <p:sp>
        <p:nvSpPr>
          <p:cNvPr id="39" name="Shape 37"/>
          <p:cNvSpPr/>
          <p:nvPr/>
        </p:nvSpPr>
        <p:spPr>
          <a:xfrm>
            <a:off x="4297680" y="4590288"/>
            <a:ext cx="3520440" cy="1371600"/>
          </a:xfrm>
          <a:prstGeom prst="rect">
            <a:avLst/>
          </a:prstGeom>
          <a:solidFill>
            <a:srgbClr val="F4F7FB"/>
          </a:solidFill>
          <a:ln w="7620">
            <a:solidFill>
              <a:srgbClr val="D7DDE5"/>
            </a:solidFill>
            <a:prstDash val="solid"/>
          </a:ln>
        </p:spPr>
      </p:sp>
      <p:sp>
        <p:nvSpPr>
          <p:cNvPr id="40" name="Text 38"/>
          <p:cNvSpPr/>
          <p:nvPr/>
        </p:nvSpPr>
        <p:spPr>
          <a:xfrm>
            <a:off x="4462272" y="4727448"/>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THIN SLICE FIRST</a:t>
            </a:r>
            <a:endParaRPr lang="en-US" sz="820" dirty="0"/>
          </a:p>
        </p:txBody>
      </p:sp>
      <p:sp>
        <p:nvSpPr>
          <p:cNvPr id="41" name="Text 39"/>
          <p:cNvSpPr/>
          <p:nvPr/>
        </p:nvSpPr>
        <p:spPr>
          <a:xfrm>
            <a:off x="4462272" y="4919472"/>
            <a:ext cx="3191256" cy="274320"/>
          </a:xfrm>
          <a:prstGeom prst="rect">
            <a:avLst/>
          </a:prstGeom>
          <a:noFill/>
          <a:ln/>
        </p:spPr>
        <p:txBody>
          <a:bodyPr wrap="square" lIns="0" tIns="0" rIns="0" bIns="0" rtlCol="0" anchor="ctr"/>
          <a:lstStyle/>
          <a:p>
            <a:pPr indent="0" marL="0">
              <a:buNone/>
            </a:pPr>
            <a:r>
              <a:rPr lang="en-US" sz="1150" b="1" dirty="0">
                <a:solidFill>
                  <a:srgbClr val="0B2350"/>
                </a:solidFill>
                <a:latin typeface="Cambria" pitchFamily="34" charset="0"/>
                <a:ea typeface="Cambria" pitchFamily="34" charset="-122"/>
                <a:cs typeface="Cambria" pitchFamily="34" charset="-120"/>
              </a:rPr>
              <a:t>Open the pipe, then widen it</a:t>
            </a:r>
            <a:endParaRPr lang="en-US" sz="1150" dirty="0"/>
          </a:p>
        </p:txBody>
      </p:sp>
      <p:sp>
        <p:nvSpPr>
          <p:cNvPr id="42" name="Text 40"/>
          <p:cNvSpPr/>
          <p:nvPr/>
        </p:nvSpPr>
        <p:spPr>
          <a:xfrm>
            <a:off x="4498848" y="5239512"/>
            <a:ext cx="3136392" cy="612648"/>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860" dirty="0">
                <a:solidFill>
                  <a:srgbClr val="1E252E"/>
                </a:solidFill>
                <a:latin typeface="Calibri" pitchFamily="34" charset="0"/>
                <a:ea typeface="Calibri" pitchFamily="34" charset="-122"/>
                <a:cs typeface="Calibri" pitchFamily="34" charset="-120"/>
              </a:rPr>
              <a:t>Simplest offering through all 5 touchpoints by day 30</a:t>
            </a:r>
            <a:endParaRPr lang="en-US" sz="860" dirty="0"/>
          </a:p>
          <a:p>
            <a:pPr marL="342900" indent="-342900">
              <a:lnSpc>
                <a:spcPts val="1220"/>
              </a:lnSpc>
              <a:spcAft>
                <a:spcPts val="300"/>
              </a:spcAft>
              <a:buSzPct val="100000"/>
              <a:buChar char="•"/>
            </a:pPr>
            <a:r>
              <a:rPr lang="en-US" sz="860" dirty="0">
                <a:solidFill>
                  <a:srgbClr val="1E252E"/>
                </a:solidFill>
                <a:latin typeface="Calibri" pitchFamily="34" charset="0"/>
                <a:ea typeface="Calibri" pitchFamily="34" charset="-122"/>
                <a:cs typeface="Calibri" pitchFamily="34" charset="-120"/>
              </a:rPr>
              <a:t>Riskiest integration earliest, cheapest content</a:t>
            </a:r>
            <a:endParaRPr lang="en-US" sz="860" dirty="0"/>
          </a:p>
          <a:p>
            <a:pPr marL="342900" indent="-342900">
              <a:lnSpc>
                <a:spcPts val="1220"/>
              </a:lnSpc>
              <a:spcAft>
                <a:spcPts val="300"/>
              </a:spcAft>
              <a:buSzPct val="100000"/>
              <a:buChar char="•"/>
            </a:pPr>
            <a:r>
              <a:rPr lang="en-US" sz="860" dirty="0">
                <a:solidFill>
                  <a:srgbClr val="1E252E"/>
                </a:solidFill>
                <a:latin typeface="Calibri" pitchFamily="34" charset="0"/>
                <a:ea typeface="Calibri" pitchFamily="34" charset="-122"/>
                <a:cs typeface="Calibri" pitchFamily="34" charset="-120"/>
              </a:rPr>
              <a:t>Depth after the loop closes — never before</a:t>
            </a:r>
            <a:endParaRPr lang="en-US" sz="860" dirty="0"/>
          </a:p>
        </p:txBody>
      </p:sp>
      <p:sp>
        <p:nvSpPr>
          <p:cNvPr id="43" name="Shape 41"/>
          <p:cNvSpPr/>
          <p:nvPr/>
        </p:nvSpPr>
        <p:spPr>
          <a:xfrm>
            <a:off x="8028432" y="4590288"/>
            <a:ext cx="3529584" cy="1371600"/>
          </a:xfrm>
          <a:prstGeom prst="rect">
            <a:avLst/>
          </a:prstGeom>
          <a:solidFill>
            <a:srgbClr val="0B2350"/>
          </a:solidFill>
          <a:ln w="7620">
            <a:solidFill>
              <a:srgbClr val="D7DDE5"/>
            </a:solidFill>
            <a:prstDash val="solid"/>
          </a:ln>
        </p:spPr>
      </p:sp>
      <p:sp>
        <p:nvSpPr>
          <p:cNvPr id="44" name="Text 42"/>
          <p:cNvSpPr/>
          <p:nvPr/>
        </p:nvSpPr>
        <p:spPr>
          <a:xfrm>
            <a:off x="8193024" y="4727448"/>
            <a:ext cx="3200400" cy="164592"/>
          </a:xfrm>
          <a:prstGeom prst="rect">
            <a:avLst/>
          </a:prstGeom>
          <a:noFill/>
          <a:ln/>
        </p:spPr>
        <p:txBody>
          <a:bodyPr wrap="square" lIns="0" tIns="0" rIns="0" bIns="0" rtlCol="0" anchor="ctr"/>
          <a:lstStyle/>
          <a:p>
            <a:pPr indent="0" marL="0">
              <a:buNone/>
            </a:pPr>
            <a:r>
              <a:rPr lang="en-US" sz="820" b="1" spc="150" kern="0" dirty="0">
                <a:solidFill>
                  <a:srgbClr val="FFD200"/>
                </a:solidFill>
                <a:latin typeface="Calibri" pitchFamily="34" charset="0"/>
                <a:ea typeface="Calibri" pitchFamily="34" charset="-122"/>
                <a:cs typeface="Calibri" pitchFamily="34" charset="-120"/>
              </a:rPr>
              <a:t>THE LINE WE HOLD</a:t>
            </a:r>
            <a:endParaRPr lang="en-US" sz="820" dirty="0"/>
          </a:p>
        </p:txBody>
      </p:sp>
      <p:sp>
        <p:nvSpPr>
          <p:cNvPr id="45" name="Text 43"/>
          <p:cNvSpPr/>
          <p:nvPr/>
        </p:nvSpPr>
        <p:spPr>
          <a:xfrm>
            <a:off x="8193024" y="4919472"/>
            <a:ext cx="3200400" cy="27432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The pod does not build a portal</a:t>
            </a:r>
            <a:endParaRPr lang="en-US" sz="1150" dirty="0"/>
          </a:p>
        </p:txBody>
      </p:sp>
      <p:sp>
        <p:nvSpPr>
          <p:cNvPr id="46" name="Text 44"/>
          <p:cNvSpPr/>
          <p:nvPr/>
        </p:nvSpPr>
        <p:spPr>
          <a:xfrm>
            <a:off x="8229600" y="5239512"/>
            <a:ext cx="3145536" cy="612648"/>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860" dirty="0">
                <a:solidFill>
                  <a:srgbClr val="E8EFF9"/>
                </a:solidFill>
                <a:latin typeface="Calibri" pitchFamily="34" charset="0"/>
                <a:ea typeface="Calibri" pitchFamily="34" charset="-122"/>
                <a:cs typeface="Calibri" pitchFamily="34" charset="-120"/>
              </a:rPr>
              <a:t>Name the escape hatch: % bespoke vs. paved-road is a KPI</a:t>
            </a:r>
            <a:endParaRPr lang="en-US" sz="860" dirty="0"/>
          </a:p>
          <a:p>
            <a:pPr marL="342900" indent="-342900">
              <a:lnSpc>
                <a:spcPts val="1220"/>
              </a:lnSpc>
              <a:spcAft>
                <a:spcPts val="300"/>
              </a:spcAft>
              <a:buSzPct val="100000"/>
              <a:buChar char="•"/>
            </a:pPr>
            <a:r>
              <a:rPr lang="en-US" sz="860" dirty="0">
                <a:solidFill>
                  <a:srgbClr val="E8EFF9"/>
                </a:solidFill>
                <a:latin typeface="Calibri" pitchFamily="34" charset="0"/>
                <a:ea typeface="Calibri" pitchFamily="34" charset="-122"/>
                <a:cs typeface="Calibri" pitchFamily="34" charset="-120"/>
              </a:rPr>
              <a:t>If the pod ever builds a portal, P1 has failed</a:t>
            </a:r>
            <a:endParaRPr lang="en-US" sz="860" dirty="0"/>
          </a:p>
        </p:txBody>
      </p:sp>
      <p:sp>
        <p:nvSpPr>
          <p:cNvPr id="47" name="Text 45"/>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COVERAGE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Migration — the multiplier on every goal</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Automated provisioning only ever helps instances that don't exist yet. The estate we already run is where the toil actually is.</a:t>
            </a:r>
            <a:endParaRPr lang="en-US" sz="1200" dirty="0"/>
          </a:p>
        </p:txBody>
      </p:sp>
      <p:sp>
        <p:nvSpPr>
          <p:cNvPr id="5" name="Shape 3"/>
          <p:cNvSpPr/>
          <p:nvPr/>
        </p:nvSpPr>
        <p:spPr>
          <a:xfrm>
            <a:off x="566928" y="1810512"/>
            <a:ext cx="11027664" cy="713232"/>
          </a:xfrm>
          <a:prstGeom prst="rect">
            <a:avLst/>
          </a:prstGeom>
          <a:solidFill>
            <a:srgbClr val="0B2350"/>
          </a:solidFill>
          <a:ln/>
        </p:spPr>
      </p:sp>
      <p:sp>
        <p:nvSpPr>
          <p:cNvPr id="6" name="Text 4"/>
          <p:cNvSpPr/>
          <p:nvPr/>
        </p:nvSpPr>
        <p:spPr>
          <a:xfrm>
            <a:off x="768096" y="1975104"/>
            <a:ext cx="10625328" cy="457200"/>
          </a:xfrm>
          <a:prstGeom prst="rect">
            <a:avLst/>
          </a:prstGeom>
          <a:noFill/>
          <a:ln/>
        </p:spPr>
        <p:txBody>
          <a:bodyPr wrap="square" lIns="0" tIns="0" rIns="0" bIns="0" rtlCol="0" anchor="ctr"/>
          <a:lstStyle/>
          <a:p>
            <a:pPr indent="0" marL="0">
              <a:lnSpc>
                <a:spcPts val="1360"/>
              </a:lnSpc>
              <a:buNone/>
            </a:pPr>
            <a:r>
              <a:rPr lang="en-US" sz="1060" b="1" dirty="0">
                <a:solidFill>
                  <a:srgbClr val="FFD200"/>
                </a:solidFill>
                <a:latin typeface="Calibri" pitchFamily="34" charset="0"/>
                <a:ea typeface="Calibri" pitchFamily="34" charset="-122"/>
                <a:cs typeface="Calibri" pitchFamily="34" charset="-120"/>
              </a:rPr>
              <a:t>Toil reduction  =  per-instance saving  ×  COVERAGE. </a:t>
            </a:r>
            <a:pPr indent="0" marL="0">
              <a:lnSpc>
                <a:spcPts val="1360"/>
              </a:lnSpc>
              <a:buNone/>
            </a:pPr>
            <a:r>
              <a:rPr lang="en-US" sz="1060" dirty="0">
                <a:solidFill>
                  <a:srgbClr val="E8EFF9"/>
                </a:solidFill>
                <a:latin typeface="Calibri" pitchFamily="34" charset="0"/>
                <a:ea typeface="Calibri" pitchFamily="34" charset="-122"/>
                <a:cs typeface="Calibri" pitchFamily="34" charset="-120"/>
              </a:rPr>
              <a:t>The deck so far only argues the first term. Coverage is the multiplier — and on day 1 it is zero. A golden module that carries twenty new builds while nine hundred existing instances are still patched by hand moves estate toil by noise.</a:t>
            </a:r>
            <a:endParaRPr lang="en-US" sz="1060" dirty="0"/>
          </a:p>
        </p:txBody>
      </p:sp>
      <p:sp>
        <p:nvSpPr>
          <p:cNvPr id="7" name="Shape 5"/>
          <p:cNvSpPr/>
          <p:nvPr/>
        </p:nvSpPr>
        <p:spPr>
          <a:xfrm>
            <a:off x="566928" y="2688336"/>
            <a:ext cx="3694176" cy="512064"/>
          </a:xfrm>
          <a:prstGeom prst="rect">
            <a:avLst/>
          </a:prstGeom>
          <a:solidFill>
            <a:srgbClr val="4C9A2A"/>
          </a:solidFill>
          <a:ln/>
        </p:spPr>
      </p:sp>
      <p:sp>
        <p:nvSpPr>
          <p:cNvPr id="8" name="Text 6"/>
          <p:cNvSpPr/>
          <p:nvPr/>
        </p:nvSpPr>
        <p:spPr>
          <a:xfrm>
            <a:off x="731520" y="2743200"/>
            <a:ext cx="338328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Light-touch migration</a:t>
            </a:r>
            <a:endParaRPr lang="en-US" sz="1400" dirty="0"/>
          </a:p>
        </p:txBody>
      </p:sp>
      <p:sp>
        <p:nvSpPr>
          <p:cNvPr id="9" name="Text 7"/>
          <p:cNvSpPr/>
          <p:nvPr/>
        </p:nvSpPr>
        <p:spPr>
          <a:xfrm>
            <a:off x="731520" y="2980944"/>
            <a:ext cx="3383280" cy="182880"/>
          </a:xfrm>
          <a:prstGeom prst="rect">
            <a:avLst/>
          </a:prstGeom>
          <a:noFill/>
          <a:ln/>
        </p:spPr>
        <p:txBody>
          <a:bodyPr wrap="square" lIns="0" tIns="0" rIns="0" bIns="0" rtlCol="0" anchor="ctr"/>
          <a:lstStyle/>
          <a:p>
            <a:pPr indent="0" marL="0">
              <a:buNone/>
            </a:pPr>
            <a:r>
              <a:rPr lang="en-US" sz="840" i="1" dirty="0">
                <a:solidFill>
                  <a:srgbClr val="F0F6FF"/>
                </a:solidFill>
                <a:latin typeface="Calibri" pitchFamily="34" charset="0"/>
                <a:ea typeface="Calibri" pitchFamily="34" charset="-122"/>
                <a:cs typeface="Calibri" pitchFamily="34" charset="-120"/>
              </a:rPr>
              <a:t>Bring what exists under management</a:t>
            </a:r>
            <a:endParaRPr lang="en-US" sz="840" dirty="0"/>
          </a:p>
        </p:txBody>
      </p:sp>
      <p:sp>
        <p:nvSpPr>
          <p:cNvPr id="10" name="Shape 8"/>
          <p:cNvSpPr/>
          <p:nvPr/>
        </p:nvSpPr>
        <p:spPr>
          <a:xfrm>
            <a:off x="566928" y="3200400"/>
            <a:ext cx="3694176" cy="1316736"/>
          </a:xfrm>
          <a:prstGeom prst="rect">
            <a:avLst/>
          </a:prstGeom>
          <a:solidFill>
            <a:srgbClr val="F4F7FB"/>
          </a:solidFill>
          <a:ln w="6350">
            <a:solidFill>
              <a:srgbClr val="D7DDE5"/>
            </a:solidFill>
            <a:prstDash val="solid"/>
          </a:ln>
        </p:spPr>
      </p:sp>
      <p:sp>
        <p:nvSpPr>
          <p:cNvPr id="11" name="Text 9"/>
          <p:cNvSpPr/>
          <p:nvPr/>
        </p:nvSpPr>
        <p:spPr>
          <a:xfrm>
            <a:off x="749808" y="3310128"/>
            <a:ext cx="3346704" cy="1097280"/>
          </a:xfrm>
          <a:prstGeom prst="rect">
            <a:avLst/>
          </a:prstGeom>
          <a:noFill/>
          <a:ln/>
        </p:spPr>
        <p:txBody>
          <a:bodyPr wrap="square" lIns="0" tIns="0" rIns="0" bIns="0" rtlCol="0" anchor="ctr"/>
          <a:lstStyle/>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Inventory, agent, policy evaluation — no rebuild, no outage</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Instance stays where it is; it just stops being invisible</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Cheap, scriptable, and doable at estate scale inside 90 days</a:t>
            </a:r>
            <a:endParaRPr lang="en-US" sz="900" dirty="0"/>
          </a:p>
        </p:txBody>
      </p:sp>
      <p:sp>
        <p:nvSpPr>
          <p:cNvPr id="12" name="Shape 10"/>
          <p:cNvSpPr/>
          <p:nvPr/>
        </p:nvSpPr>
        <p:spPr>
          <a:xfrm>
            <a:off x="566928" y="4517136"/>
            <a:ext cx="3694176" cy="329184"/>
          </a:xfrm>
          <a:prstGeom prst="rect">
            <a:avLst/>
          </a:prstGeom>
          <a:solidFill>
            <a:srgbClr val="0B2350"/>
          </a:solidFill>
          <a:ln/>
        </p:spPr>
      </p:sp>
      <p:sp>
        <p:nvSpPr>
          <p:cNvPr id="13" name="Text 11"/>
          <p:cNvSpPr/>
          <p:nvPr/>
        </p:nvSpPr>
        <p:spPr>
          <a:xfrm>
            <a:off x="731520" y="4581144"/>
            <a:ext cx="3383280" cy="201168"/>
          </a:xfrm>
          <a:prstGeom prst="rect">
            <a:avLst/>
          </a:prstGeom>
          <a:noFill/>
          <a:ln/>
        </p:spPr>
        <p:txBody>
          <a:bodyPr wrap="square" lIns="0" tIns="0" rIns="0" bIns="0" rtlCol="0" anchor="ctr"/>
          <a:lstStyle/>
          <a:p>
            <a:pPr indent="0" marL="0">
              <a:buNone/>
            </a:pPr>
            <a:r>
              <a:rPr lang="en-US" sz="820" b="1" spc="60" kern="0" dirty="0">
                <a:solidFill>
                  <a:srgbClr val="FFD200"/>
                </a:solidFill>
                <a:latin typeface="Calibri" pitchFamily="34" charset="0"/>
                <a:ea typeface="Calibri" pitchFamily="34" charset="-122"/>
                <a:cs typeface="Calibri" pitchFamily="34" charset="-120"/>
              </a:rPr>
              <a:t>UNLOCKS:  patch · drift · evidence · monitoring toil</a:t>
            </a:r>
            <a:endParaRPr lang="en-US" sz="820" dirty="0"/>
          </a:p>
        </p:txBody>
      </p:sp>
      <p:sp>
        <p:nvSpPr>
          <p:cNvPr id="14" name="Shape 12"/>
          <p:cNvSpPr/>
          <p:nvPr/>
        </p:nvSpPr>
        <p:spPr>
          <a:xfrm>
            <a:off x="4480560" y="2688336"/>
            <a:ext cx="3694176" cy="512064"/>
          </a:xfrm>
          <a:prstGeom prst="rect">
            <a:avLst/>
          </a:prstGeom>
          <a:solidFill>
            <a:srgbClr val="005DAA"/>
          </a:solidFill>
          <a:ln/>
        </p:spPr>
      </p:sp>
      <p:sp>
        <p:nvSpPr>
          <p:cNvPr id="15" name="Text 13"/>
          <p:cNvSpPr/>
          <p:nvPr/>
        </p:nvSpPr>
        <p:spPr>
          <a:xfrm>
            <a:off x="4645152" y="2743200"/>
            <a:ext cx="3383280" cy="25603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Full codification</a:t>
            </a:r>
            <a:endParaRPr lang="en-US" sz="1400" dirty="0"/>
          </a:p>
        </p:txBody>
      </p:sp>
      <p:sp>
        <p:nvSpPr>
          <p:cNvPr id="16" name="Text 14"/>
          <p:cNvSpPr/>
          <p:nvPr/>
        </p:nvSpPr>
        <p:spPr>
          <a:xfrm>
            <a:off x="4645152" y="2980944"/>
            <a:ext cx="3383280" cy="182880"/>
          </a:xfrm>
          <a:prstGeom prst="rect">
            <a:avLst/>
          </a:prstGeom>
          <a:noFill/>
          <a:ln/>
        </p:spPr>
        <p:txBody>
          <a:bodyPr wrap="square" lIns="0" tIns="0" rIns="0" bIns="0" rtlCol="0" anchor="ctr"/>
          <a:lstStyle/>
          <a:p>
            <a:pPr indent="0" marL="0">
              <a:buNone/>
            </a:pPr>
            <a:r>
              <a:rPr lang="en-US" sz="840" i="1" dirty="0">
                <a:solidFill>
                  <a:srgbClr val="F0F6FF"/>
                </a:solidFill>
                <a:latin typeface="Calibri" pitchFamily="34" charset="0"/>
                <a:ea typeface="Calibri" pitchFamily="34" charset="-122"/>
                <a:cs typeface="Calibri" pitchFamily="34" charset="-120"/>
              </a:rPr>
              <a:t>Rebuild onto the IaC lifecycle</a:t>
            </a:r>
            <a:endParaRPr lang="en-US" sz="840" dirty="0"/>
          </a:p>
        </p:txBody>
      </p:sp>
      <p:sp>
        <p:nvSpPr>
          <p:cNvPr id="17" name="Shape 15"/>
          <p:cNvSpPr/>
          <p:nvPr/>
        </p:nvSpPr>
        <p:spPr>
          <a:xfrm>
            <a:off x="4480560" y="3200400"/>
            <a:ext cx="3694176" cy="1316736"/>
          </a:xfrm>
          <a:prstGeom prst="rect">
            <a:avLst/>
          </a:prstGeom>
          <a:solidFill>
            <a:srgbClr val="F4F7FB"/>
          </a:solidFill>
          <a:ln w="6350">
            <a:solidFill>
              <a:srgbClr val="D7DDE5"/>
            </a:solidFill>
            <a:prstDash val="solid"/>
          </a:ln>
        </p:spPr>
      </p:sp>
      <p:sp>
        <p:nvSpPr>
          <p:cNvPr id="18" name="Text 16"/>
          <p:cNvSpPr/>
          <p:nvPr/>
        </p:nvSpPr>
        <p:spPr>
          <a:xfrm>
            <a:off x="4663440" y="3310128"/>
            <a:ext cx="3346704" cy="1097280"/>
          </a:xfrm>
          <a:prstGeom prst="rect">
            <a:avLst/>
          </a:prstGeom>
          <a:noFill/>
          <a:ln/>
        </p:spPr>
        <p:txBody>
          <a:bodyPr wrap="square" lIns="0" tIns="0" rIns="0" bIns="0" rtlCol="0" anchor="ctr"/>
          <a:lstStyle/>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Provisioned and managed end-to-end via the golden module</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State imported; the instance becomes reproducible</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Slow, disruptive, needs a change window per instance</a:t>
            </a:r>
            <a:endParaRPr lang="en-US" sz="900" dirty="0"/>
          </a:p>
        </p:txBody>
      </p:sp>
      <p:sp>
        <p:nvSpPr>
          <p:cNvPr id="19" name="Shape 17"/>
          <p:cNvSpPr/>
          <p:nvPr/>
        </p:nvSpPr>
        <p:spPr>
          <a:xfrm>
            <a:off x="4480560" y="4517136"/>
            <a:ext cx="3694176" cy="329184"/>
          </a:xfrm>
          <a:prstGeom prst="rect">
            <a:avLst/>
          </a:prstGeom>
          <a:solidFill>
            <a:srgbClr val="0B2350"/>
          </a:solidFill>
          <a:ln/>
        </p:spPr>
      </p:sp>
      <p:sp>
        <p:nvSpPr>
          <p:cNvPr id="20" name="Text 18"/>
          <p:cNvSpPr/>
          <p:nvPr/>
        </p:nvSpPr>
        <p:spPr>
          <a:xfrm>
            <a:off x="4645152" y="4581144"/>
            <a:ext cx="3383280" cy="201168"/>
          </a:xfrm>
          <a:prstGeom prst="rect">
            <a:avLst/>
          </a:prstGeom>
          <a:noFill/>
          <a:ln/>
        </p:spPr>
        <p:txBody>
          <a:bodyPr wrap="square" lIns="0" tIns="0" rIns="0" bIns="0" rtlCol="0" anchor="ctr"/>
          <a:lstStyle/>
          <a:p>
            <a:pPr indent="0" marL="0">
              <a:buNone/>
            </a:pPr>
            <a:r>
              <a:rPr lang="en-US" sz="820" b="1" spc="60" kern="0" dirty="0">
                <a:solidFill>
                  <a:srgbClr val="FFD200"/>
                </a:solidFill>
                <a:latin typeface="Calibri" pitchFamily="34" charset="0"/>
                <a:ea typeface="Calibri" pitchFamily="34" charset="-122"/>
                <a:cs typeface="Calibri" pitchFamily="34" charset="-120"/>
              </a:rPr>
              <a:t>UNLOCKS:  everything — scale, rebuild, full lifecycle</a:t>
            </a:r>
            <a:endParaRPr lang="en-US" sz="820" dirty="0"/>
          </a:p>
        </p:txBody>
      </p:sp>
      <p:sp>
        <p:nvSpPr>
          <p:cNvPr id="21" name="Shape 19"/>
          <p:cNvSpPr/>
          <p:nvPr/>
        </p:nvSpPr>
        <p:spPr>
          <a:xfrm>
            <a:off x="8394192" y="2688336"/>
            <a:ext cx="3767328" cy="2157984"/>
          </a:xfrm>
          <a:prstGeom prst="rect">
            <a:avLst/>
          </a:prstGeom>
          <a:solidFill>
            <a:srgbClr val="FFFFFF"/>
          </a:solidFill>
          <a:ln w="7620">
            <a:solidFill>
              <a:srgbClr val="D7DDE5"/>
            </a:solidFill>
            <a:prstDash val="solid"/>
          </a:ln>
        </p:spPr>
      </p:sp>
      <p:sp>
        <p:nvSpPr>
          <p:cNvPr id="22" name="Text 20"/>
          <p:cNvSpPr/>
          <p:nvPr/>
        </p:nvSpPr>
        <p:spPr>
          <a:xfrm>
            <a:off x="8558784" y="2816352"/>
            <a:ext cx="3383280" cy="182880"/>
          </a:xfrm>
          <a:prstGeom prst="rect">
            <a:avLst/>
          </a:prstGeom>
          <a:noFill/>
          <a:ln/>
        </p:spPr>
        <p:txBody>
          <a:bodyPr wrap="square" lIns="0" tIns="0" rIns="0" bIns="0" rtlCol="0" anchor="ctr"/>
          <a:lstStyle/>
          <a:p>
            <a:pPr indent="0" marL="0">
              <a:buNone/>
            </a:pPr>
            <a:r>
              <a:rPr lang="en-US" sz="850" b="1" spc="160" kern="0" dirty="0">
                <a:solidFill>
                  <a:srgbClr val="C9A227"/>
                </a:solidFill>
                <a:latin typeface="Calibri" pitchFamily="34" charset="0"/>
                <a:ea typeface="Calibri" pitchFamily="34" charset="-122"/>
                <a:cs typeface="Calibri" pitchFamily="34" charset="-120"/>
              </a:rPr>
              <a:t>THE 90-DAY PLAY</a:t>
            </a:r>
            <a:endParaRPr lang="en-US" sz="850" dirty="0"/>
          </a:p>
        </p:txBody>
      </p:sp>
      <p:sp>
        <p:nvSpPr>
          <p:cNvPr id="23" name="Text 21"/>
          <p:cNvSpPr/>
          <p:nvPr/>
        </p:nvSpPr>
        <p:spPr>
          <a:xfrm>
            <a:off x="8558784" y="3017520"/>
            <a:ext cx="3383280" cy="256032"/>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Go wide before deep</a:t>
            </a:r>
            <a:endParaRPr lang="en-US" sz="1400" dirty="0"/>
          </a:p>
        </p:txBody>
      </p:sp>
      <p:sp>
        <p:nvSpPr>
          <p:cNvPr id="24" name="Text 22"/>
          <p:cNvSpPr/>
          <p:nvPr/>
        </p:nvSpPr>
        <p:spPr>
          <a:xfrm>
            <a:off x="8595360" y="3328416"/>
            <a:ext cx="3346704" cy="1426464"/>
          </a:xfrm>
          <a:prstGeom prst="rect">
            <a:avLst/>
          </a:prstGeom>
          <a:noFill/>
          <a:ln/>
        </p:spPr>
        <p:txBody>
          <a:bodyPr wrap="square" lIns="0" tIns="0" rIns="0" bIns="0" rtlCol="0" anchor="ctr"/>
          <a:lstStyle/>
          <a:p>
            <a:pPr marL="342900" indent="-342900">
              <a:lnSpc>
                <a:spcPts val="1150"/>
              </a:lnSpc>
              <a:spcAft>
                <a:spcPts val="400"/>
              </a:spcAft>
              <a:buSzPct val="100000"/>
              <a:buChar char="•"/>
            </a:pPr>
            <a:r>
              <a:rPr lang="en-US" sz="900" dirty="0">
                <a:solidFill>
                  <a:srgbClr val="1E252E"/>
                </a:solidFill>
                <a:latin typeface="Calibri" pitchFamily="34" charset="0"/>
                <a:ea typeface="Calibri" pitchFamily="34" charset="-122"/>
                <a:cs typeface="Calibri" pitchFamily="34" charset="-120"/>
              </a:rPr>
              <a:t>Light-touch migration at scale — this is where the visible toil number comes from</a:t>
            </a:r>
            <a:endParaRPr lang="en-US" sz="900" dirty="0"/>
          </a:p>
          <a:p>
            <a:pPr marL="342900" indent="-342900">
              <a:lnSpc>
                <a:spcPts val="1150"/>
              </a:lnSpc>
              <a:spcAft>
                <a:spcPts val="400"/>
              </a:spcAft>
              <a:buSzPct val="100000"/>
              <a:buChar char="•"/>
            </a:pPr>
            <a:r>
              <a:rPr lang="en-US" sz="900" dirty="0">
                <a:solidFill>
                  <a:srgbClr val="1E252E"/>
                </a:solidFill>
                <a:latin typeface="Calibri" pitchFamily="34" charset="0"/>
                <a:ea typeface="Calibri" pitchFamily="34" charset="-122"/>
                <a:cs typeface="Calibri" pitchFamily="34" charset="-120"/>
              </a:rPr>
              <a:t>Codify new builds by default from day 45</a:t>
            </a:r>
            <a:endParaRPr lang="en-US" sz="900" dirty="0"/>
          </a:p>
          <a:p>
            <a:pPr marL="342900" indent="-342900">
              <a:lnSpc>
                <a:spcPts val="1150"/>
              </a:lnSpc>
              <a:spcAft>
                <a:spcPts val="400"/>
              </a:spcAft>
              <a:buSzPct val="100000"/>
              <a:buChar char="•"/>
            </a:pPr>
            <a:r>
              <a:rPr lang="en-US" sz="900" dirty="0">
                <a:solidFill>
                  <a:srgbClr val="1E252E"/>
                </a:solidFill>
                <a:latin typeface="Calibri" pitchFamily="34" charset="0"/>
                <a:ea typeface="Calibri" pitchFamily="34" charset="-122"/>
                <a:cs typeface="Calibri" pitchFamily="34" charset="-120"/>
              </a:rPr>
              <a:t>Codify one cohort of existing instances to learn the cost per instance</a:t>
            </a:r>
            <a:endParaRPr lang="en-US" sz="900" dirty="0"/>
          </a:p>
          <a:p>
            <a:pPr marL="342900" indent="-342900">
              <a:lnSpc>
                <a:spcPts val="1150"/>
              </a:lnSpc>
              <a:spcAft>
                <a:spcPts val="400"/>
              </a:spcAft>
              <a:buSzPct val="100000"/>
              <a:buChar char="•"/>
            </a:pPr>
            <a:r>
              <a:rPr lang="en-US" sz="900" dirty="0">
                <a:solidFill>
                  <a:srgbClr val="1E252E"/>
                </a:solidFill>
                <a:latin typeface="Calibri" pitchFamily="34" charset="0"/>
                <a:ea typeface="Calibri" pitchFamily="34" charset="-122"/>
                <a:cs typeface="Calibri" pitchFamily="34" charset="-120"/>
              </a:rPr>
              <a:t>That cost per instance is what sizes the wave-2 business case</a:t>
            </a:r>
            <a:endParaRPr lang="en-US" sz="900" dirty="0"/>
          </a:p>
        </p:txBody>
      </p:sp>
      <p:sp>
        <p:nvSpPr>
          <p:cNvPr id="25" name="Shape 23"/>
          <p:cNvSpPr/>
          <p:nvPr/>
        </p:nvSpPr>
        <p:spPr>
          <a:xfrm>
            <a:off x="566928" y="4974336"/>
            <a:ext cx="11027664" cy="969264"/>
          </a:xfrm>
          <a:prstGeom prst="rect">
            <a:avLst/>
          </a:prstGeom>
          <a:solidFill>
            <a:srgbClr val="C0392B"/>
          </a:solidFill>
          <a:ln/>
        </p:spPr>
      </p:sp>
      <p:sp>
        <p:nvSpPr>
          <p:cNvPr id="26" name="Text 24"/>
          <p:cNvSpPr/>
          <p:nvPr/>
        </p:nvSpPr>
        <p:spPr>
          <a:xfrm>
            <a:off x="786384" y="5084064"/>
            <a:ext cx="5486400" cy="182880"/>
          </a:xfrm>
          <a:prstGeom prst="rect">
            <a:avLst/>
          </a:prstGeom>
          <a:noFill/>
          <a:ln/>
        </p:spPr>
        <p:txBody>
          <a:bodyPr wrap="square" lIns="0" tIns="0" rIns="0" bIns="0" rtlCol="0" anchor="ctr"/>
          <a:lstStyle/>
          <a:p>
            <a:pPr indent="0" marL="0">
              <a:buNone/>
            </a:pPr>
            <a:r>
              <a:rPr lang="en-US" sz="850" b="1" spc="170" kern="0" dirty="0">
                <a:solidFill>
                  <a:srgbClr val="FFE8E4"/>
                </a:solidFill>
                <a:latin typeface="Calibri" pitchFamily="34" charset="0"/>
                <a:ea typeface="Calibri" pitchFamily="34" charset="-122"/>
                <a:cs typeface="Calibri" pitchFamily="34" charset="-120"/>
              </a:rPr>
              <a:t>THE CAPACITY REALITY</a:t>
            </a:r>
            <a:endParaRPr lang="en-US" sz="850" dirty="0"/>
          </a:p>
        </p:txBody>
      </p:sp>
      <p:sp>
        <p:nvSpPr>
          <p:cNvPr id="27" name="Text 25"/>
          <p:cNvSpPr/>
          <p:nvPr/>
        </p:nvSpPr>
        <p:spPr>
          <a:xfrm>
            <a:off x="786384" y="5303520"/>
            <a:ext cx="10588752" cy="548640"/>
          </a:xfrm>
          <a:prstGeom prst="rect">
            <a:avLst/>
          </a:prstGeom>
          <a:noFill/>
          <a:ln/>
        </p:spPr>
        <p:txBody>
          <a:bodyPr wrap="square" lIns="0" tIns="0" rIns="0" bIns="0" rtlCol="0" anchor="ctr"/>
          <a:lstStyle/>
          <a:p>
            <a:pPr indent="0" marL="0">
              <a:lnSpc>
                <a:spcPts val="1340"/>
              </a:lnSpc>
              <a:buNone/>
            </a:pPr>
            <a:r>
              <a:rPr lang="en-US" sz="1040" b="1" dirty="0">
                <a:solidFill>
                  <a:srgbClr val="FFFFFF"/>
                </a:solidFill>
                <a:latin typeface="Calibri" pitchFamily="34" charset="0"/>
                <a:ea typeface="Calibri" pitchFamily="34" charset="-122"/>
                <a:cs typeface="Calibri" pitchFamily="34" charset="-120"/>
              </a:rPr>
              <a:t>Migration is a third claim on the same people. </a:t>
            </a:r>
            <a:pPr indent="0" marL="0">
              <a:lnSpc>
                <a:spcPts val="1340"/>
              </a:lnSpc>
              <a:buNone/>
            </a:pPr>
            <a:r>
              <a:rPr lang="en-US" sz="1040" dirty="0">
                <a:solidFill>
                  <a:srgbClr val="FFE8E4"/>
                </a:solidFill>
                <a:latin typeface="Calibri" pitchFamily="34" charset="0"/>
                <a:ea typeface="Calibri" pitchFamily="34" charset="-122"/>
                <a:cs typeface="Calibri" pitchFamily="34" charset="-120"/>
              </a:rPr>
              <a:t>The pod is not splitting between BAU and improvement — it is splitting three ways: keep the lights on, build the road, move the estate onto it. Migration is the one that gets dropped first because it is the least urgent and the most valuable. The pod lead's call on who burns toil now includes who migrates, and the board makes all three visible.</a:t>
            </a:r>
            <a:endParaRPr lang="en-US" sz="1040" dirty="0"/>
          </a:p>
        </p:txBody>
      </p:sp>
      <p:sp>
        <p:nvSpPr>
          <p:cNvPr id="28" name="Text 26"/>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CONTRACT MECHANICS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How the placeholder actually works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Placeholders are brought in by plan, not by ticket. Because there is no allocation, the contract is measured in timeliness — did they show up when the work needed them.</a:t>
            </a:r>
            <a:endParaRPr lang="en-US" sz="1200" dirty="0"/>
          </a:p>
        </p:txBody>
      </p:sp>
      <p:sp>
        <p:nvSpPr>
          <p:cNvPr id="5" name="Shape 3"/>
          <p:cNvSpPr/>
          <p:nvPr/>
        </p:nvSpPr>
        <p:spPr>
          <a:xfrm>
            <a:off x="566928" y="1828800"/>
            <a:ext cx="3520440" cy="1920240"/>
          </a:xfrm>
          <a:prstGeom prst="rect">
            <a:avLst/>
          </a:prstGeom>
          <a:solidFill>
            <a:srgbClr val="EEF2F8"/>
          </a:solidFill>
          <a:ln w="7620">
            <a:solidFill>
              <a:srgbClr val="D7DDE5"/>
            </a:solidFill>
            <a:prstDash val="solid"/>
          </a:ln>
        </p:spPr>
      </p:sp>
      <p:sp>
        <p:nvSpPr>
          <p:cNvPr id="6" name="Text 4"/>
          <p:cNvSpPr/>
          <p:nvPr/>
        </p:nvSpPr>
        <p:spPr>
          <a:xfrm>
            <a:off x="731520"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THE TERMS</a:t>
            </a:r>
            <a:endParaRPr lang="en-US" sz="820" dirty="0"/>
          </a:p>
        </p:txBody>
      </p:sp>
      <p:sp>
        <p:nvSpPr>
          <p:cNvPr id="7" name="Text 5"/>
          <p:cNvSpPr/>
          <p:nvPr/>
        </p:nvSpPr>
        <p:spPr>
          <a:xfrm>
            <a:off x="731520"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In by plan, not by ticket</a:t>
            </a:r>
            <a:endParaRPr lang="en-US" sz="1350" dirty="0"/>
          </a:p>
        </p:txBody>
      </p:sp>
      <p:sp>
        <p:nvSpPr>
          <p:cNvPr id="8" name="Text 6"/>
          <p:cNvSpPr/>
          <p:nvPr/>
        </p:nvSpPr>
        <p:spPr>
          <a:xfrm>
            <a:off x="768096" y="2459736"/>
            <a:ext cx="3136392" cy="117957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Named individual + named backup</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Engagement window agreed at the charter, against the milestones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Standing invite to pod ceremonies while their work is live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Unplanned need: engage in 1 day, gap triaged in 2, dated in 5</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Escalation: pod lead → squad lead → program</a:t>
            </a:r>
            <a:endParaRPr lang="en-US" sz="940" dirty="0"/>
          </a:p>
        </p:txBody>
      </p:sp>
      <p:sp>
        <p:nvSpPr>
          <p:cNvPr id="9" name="Shape 7"/>
          <p:cNvSpPr/>
          <p:nvPr/>
        </p:nvSpPr>
        <p:spPr>
          <a:xfrm>
            <a:off x="4297680" y="1828800"/>
            <a:ext cx="3520440" cy="1920240"/>
          </a:xfrm>
          <a:prstGeom prst="rect">
            <a:avLst/>
          </a:prstGeom>
          <a:solidFill>
            <a:srgbClr val="FFFFFF"/>
          </a:solidFill>
          <a:ln w="7620">
            <a:solidFill>
              <a:srgbClr val="D7DDE5"/>
            </a:solidFill>
            <a:prstDash val="solid"/>
          </a:ln>
        </p:spPr>
      </p:sp>
      <p:sp>
        <p:nvSpPr>
          <p:cNvPr id="10" name="Text 8"/>
          <p:cNvSpPr/>
          <p:nvPr/>
        </p:nvSpPr>
        <p:spPr>
          <a:xfrm>
            <a:off x="4462272"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THE GAPS ARROW</a:t>
            </a:r>
            <a:endParaRPr lang="en-US" sz="820" dirty="0"/>
          </a:p>
        </p:txBody>
      </p:sp>
      <p:sp>
        <p:nvSpPr>
          <p:cNvPr id="11" name="Text 9"/>
          <p:cNvSpPr/>
          <p:nvPr/>
        </p:nvSpPr>
        <p:spPr>
          <a:xfrm>
            <a:off x="4462272"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Blocked → raise, don't route around</a:t>
            </a:r>
            <a:endParaRPr lang="en-US" sz="1350" dirty="0"/>
          </a:p>
        </p:txBody>
      </p:sp>
      <p:sp>
        <p:nvSpPr>
          <p:cNvPr id="12" name="Text 10"/>
          <p:cNvSpPr/>
          <p:nvPr/>
        </p:nvSpPr>
        <p:spPr>
          <a:xfrm>
            <a:off x="4498848" y="2459736"/>
            <a:ext cx="3136392" cy="117957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Gap lands in Zephyr's backlog, cross-linked</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Never a spreadsheet the pod maintains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Prioritized at the monthly contract review</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Owning the gap is one step from fixing it yourself</a:t>
            </a:r>
            <a:endParaRPr lang="en-US" sz="940" dirty="0"/>
          </a:p>
        </p:txBody>
      </p:sp>
      <p:sp>
        <p:nvSpPr>
          <p:cNvPr id="13" name="Shape 11"/>
          <p:cNvSpPr/>
          <p:nvPr/>
        </p:nvSpPr>
        <p:spPr>
          <a:xfrm>
            <a:off x="8028432" y="1828800"/>
            <a:ext cx="3529584" cy="1920240"/>
          </a:xfrm>
          <a:prstGeom prst="rect">
            <a:avLst/>
          </a:prstGeom>
          <a:solidFill>
            <a:srgbClr val="FFFFFF"/>
          </a:solidFill>
          <a:ln w="7620">
            <a:solidFill>
              <a:srgbClr val="D7DDE5"/>
            </a:solidFill>
            <a:prstDash val="solid"/>
          </a:ln>
        </p:spPr>
      </p:sp>
      <p:sp>
        <p:nvSpPr>
          <p:cNvPr id="14" name="Text 12"/>
          <p:cNvSpPr/>
          <p:nvPr/>
        </p:nvSpPr>
        <p:spPr>
          <a:xfrm>
            <a:off x="8193024" y="1965960"/>
            <a:ext cx="3200400"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RECIPROCAL</a:t>
            </a:r>
            <a:endParaRPr lang="en-US" sz="820" dirty="0"/>
          </a:p>
        </p:txBody>
      </p:sp>
      <p:sp>
        <p:nvSpPr>
          <p:cNvPr id="15" name="Text 13"/>
          <p:cNvSpPr/>
          <p:nvPr/>
        </p:nvSpPr>
        <p:spPr>
          <a:xfrm>
            <a:off x="8193024" y="2157984"/>
            <a:ext cx="3200400"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What the pod owes back</a:t>
            </a:r>
            <a:endParaRPr lang="en-US" sz="1350" dirty="0"/>
          </a:p>
        </p:txBody>
      </p:sp>
      <p:sp>
        <p:nvSpPr>
          <p:cNvPr id="16" name="Text 14"/>
          <p:cNvSpPr/>
          <p:nvPr/>
        </p:nvSpPr>
        <p:spPr>
          <a:xfrm>
            <a:off x="8229600" y="2459736"/>
            <a:ext cx="3145536" cy="117957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SQL Server offering pattern as a reusable artifact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template every future stateful service inherits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pod is a co-author, not a customer</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This is P3 in disguise</a:t>
            </a:r>
            <a:endParaRPr lang="en-US" sz="940" dirty="0"/>
          </a:p>
        </p:txBody>
      </p:sp>
      <p:sp>
        <p:nvSpPr>
          <p:cNvPr id="17" name="Shape 15"/>
          <p:cNvSpPr/>
          <p:nvPr/>
        </p:nvSpPr>
        <p:spPr>
          <a:xfrm>
            <a:off x="566928" y="3913632"/>
            <a:ext cx="11027664" cy="969264"/>
          </a:xfrm>
          <a:prstGeom prst="rect">
            <a:avLst/>
          </a:prstGeom>
          <a:solidFill>
            <a:srgbClr val="0B2350"/>
          </a:solidFill>
          <a:ln/>
        </p:spPr>
      </p:sp>
      <p:sp>
        <p:nvSpPr>
          <p:cNvPr id="18" name="Text 16"/>
          <p:cNvSpPr/>
          <p:nvPr/>
        </p:nvSpPr>
        <p:spPr>
          <a:xfrm>
            <a:off x="768096" y="4032504"/>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THE NO-WORKAROUND RULE — NON-NEGOTIABLE</a:t>
            </a:r>
            <a:endParaRPr lang="en-US" sz="850" dirty="0"/>
          </a:p>
        </p:txBody>
      </p:sp>
      <p:sp>
        <p:nvSpPr>
          <p:cNvPr id="19" name="Text 17"/>
          <p:cNvSpPr/>
          <p:nvPr/>
        </p:nvSpPr>
        <p:spPr>
          <a:xfrm>
            <a:off x="768096" y="4224528"/>
            <a:ext cx="10625328" cy="603504"/>
          </a:xfrm>
          <a:prstGeom prst="rect">
            <a:avLst/>
          </a:prstGeom>
          <a:noFill/>
          <a:ln/>
        </p:spPr>
        <p:txBody>
          <a:bodyPr wrap="square" lIns="0" tIns="0" rIns="0" bIns="0" rtlCol="0" anchor="ctr"/>
          <a:lstStyle/>
          <a:p>
            <a:pPr indent="0" marL="0">
              <a:lnSpc>
                <a:spcPts val="1360"/>
              </a:lnSpc>
              <a:buNone/>
            </a:pPr>
            <a:r>
              <a:rPr lang="en-US" sz="1050" b="1" dirty="0">
                <a:solidFill>
                  <a:srgbClr val="FFD200"/>
                </a:solidFill>
                <a:latin typeface="Calibri" pitchFamily="34" charset="0"/>
                <a:ea typeface="Calibri" pitchFamily="34" charset="-122"/>
                <a:cs typeface="Calibri" pitchFamily="34" charset="-120"/>
              </a:rPr>
              <a:t>If the pod is blocked by a Control Plane gap: raise the gap and stop that thread. Do not route around it. </a:t>
            </a:r>
            <a:pPr indent="0" marL="0">
              <a:lnSpc>
                <a:spcPts val="1360"/>
              </a:lnSpc>
              <a:buNone/>
            </a:pPr>
            <a:r>
              <a:rPr lang="en-US" sz="1050" dirty="0">
                <a:solidFill>
                  <a:srgbClr val="E8EFF9"/>
                </a:solidFill>
                <a:latin typeface="Calibri" pitchFamily="34" charset="0"/>
                <a:ea typeface="Calibri" pitchFamily="34" charset="-122"/>
                <a:cs typeface="Calibri" pitchFamily="34" charset="-120"/>
              </a:rPr>
              <a:t>This will feel wrong to good engineers — routing around a blocker is their instinct, and normally a virtue. Here it costs us the thing we came for: it makes the pod look fine while the seam stays broken, hides the gap the next engine would hit too, and then becomes permanent. A blocked thread with a raised gap is a good outcome, not a failure to deliver.</a:t>
            </a:r>
            <a:endParaRPr lang="en-US" sz="1050" dirty="0"/>
          </a:p>
        </p:txBody>
      </p:sp>
      <p:sp>
        <p:nvSpPr>
          <p:cNvPr id="20" name="Shape 18"/>
          <p:cNvSpPr/>
          <p:nvPr/>
        </p:nvSpPr>
        <p:spPr>
          <a:xfrm>
            <a:off x="566928" y="5029200"/>
            <a:ext cx="11027664" cy="731520"/>
          </a:xfrm>
          <a:prstGeom prst="rect">
            <a:avLst/>
          </a:prstGeom>
          <a:solidFill>
            <a:srgbClr val="EEF2F8"/>
          </a:solidFill>
          <a:ln/>
        </p:spPr>
      </p:sp>
      <p:sp>
        <p:nvSpPr>
          <p:cNvPr id="21" name="Text 19"/>
          <p:cNvSpPr/>
          <p:nvPr/>
        </p:nvSpPr>
        <p:spPr>
          <a:xfrm>
            <a:off x="768096" y="5148072"/>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THE DIAGNOSTIC — PULL-INS SHOULD DECLINE</a:t>
            </a:r>
            <a:endParaRPr lang="en-US" sz="850" dirty="0"/>
          </a:p>
        </p:txBody>
      </p:sp>
      <p:sp>
        <p:nvSpPr>
          <p:cNvPr id="22" name="Text 20"/>
          <p:cNvSpPr/>
          <p:nvPr/>
        </p:nvSpPr>
        <p:spPr>
          <a:xfrm>
            <a:off x="768096" y="5340096"/>
            <a:ext cx="10625328" cy="365760"/>
          </a:xfrm>
          <a:prstGeom prst="rect">
            <a:avLst/>
          </a:prstGeom>
          <a:noFill/>
          <a:ln/>
        </p:spPr>
        <p:txBody>
          <a:bodyPr wrap="square" lIns="0" tIns="0" rIns="0" bIns="0" rtlCol="0" anchor="ctr"/>
          <a:lstStyle/>
          <a:p>
            <a:pPr indent="0" marL="0">
              <a:lnSpc>
                <a:spcPts val="1350"/>
              </a:lnSpc>
              <a:buNone/>
            </a:pPr>
            <a:r>
              <a:rPr lang="en-US" sz="1050" dirty="0">
                <a:solidFill>
                  <a:srgbClr val="1E252E"/>
                </a:solidFill>
                <a:latin typeface="Calibri" pitchFamily="34" charset="0"/>
                <a:ea typeface="Calibri" pitchFamily="34" charset="-122"/>
                <a:cs typeface="Calibri" pitchFamily="34" charset="-120"/>
              </a:rPr>
              <a:t>Days 0-30 frequent (bootstrapping the offering shape — real and expected)  ·  days 61-90 rare.  </a:t>
            </a:r>
            <a:pPr indent="0" marL="0">
              <a:lnSpc>
                <a:spcPts val="1350"/>
              </a:lnSpc>
              <a:buNone/>
            </a:pPr>
            <a:r>
              <a:rPr lang="en-US" sz="1050" b="1" dirty="0">
                <a:solidFill>
                  <a:srgbClr val="0B2350"/>
                </a:solidFill>
                <a:latin typeface="Calibri" pitchFamily="34" charset="0"/>
                <a:ea typeface="Calibri" pitchFamily="34" charset="-122"/>
                <a:cs typeface="Calibri" pitchFamily="34" charset="-120"/>
              </a:rPr>
              <a:t>Still pulling Zephyr in weekly at day 90 → the Control Plane is a toolkit, not a product → P1 fails. That is a finding about the model, not a failure of the pod.</a:t>
            </a:r>
            <a:endParaRPr lang="en-US" sz="1050" dirty="0"/>
          </a:p>
        </p:txBody>
      </p:sp>
      <p:sp>
        <p:nvSpPr>
          <p:cNvPr id="23" name="Text 2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HOW WE OPERATE  ·  INTAKE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One board, one front door</a:t>
            </a:r>
            <a:endParaRPr lang="en-US" sz="3100" dirty="0"/>
          </a:p>
        </p:txBody>
      </p:sp>
      <p:sp>
        <p:nvSpPr>
          <p:cNvPr id="4" name="Shape 2"/>
          <p:cNvSpPr/>
          <p:nvPr/>
        </p:nvSpPr>
        <p:spPr>
          <a:xfrm>
            <a:off x="566928" y="1316736"/>
            <a:ext cx="11027664" cy="731520"/>
          </a:xfrm>
          <a:prstGeom prst="rect">
            <a:avLst/>
          </a:prstGeom>
          <a:solidFill>
            <a:srgbClr val="0B2350"/>
          </a:solidFill>
          <a:ln/>
        </p:spPr>
      </p:sp>
      <p:sp>
        <p:nvSpPr>
          <p:cNvPr id="5" name="Text 3"/>
          <p:cNvSpPr/>
          <p:nvPr/>
        </p:nvSpPr>
        <p:spPr>
          <a:xfrm>
            <a:off x="804672" y="1463040"/>
            <a:ext cx="10552176"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If work reaches the pod any other way, the pilot is unmeasurable — and unmeasurable is how a pilot fails ambiguously.</a:t>
            </a:r>
            <a:endParaRPr lang="en-US" sz="1600" dirty="0"/>
          </a:p>
        </p:txBody>
      </p:sp>
      <p:sp>
        <p:nvSpPr>
          <p:cNvPr id="6" name="Shape 4"/>
          <p:cNvSpPr/>
          <p:nvPr/>
        </p:nvSpPr>
        <p:spPr>
          <a:xfrm>
            <a:off x="566928" y="2231136"/>
            <a:ext cx="2596896" cy="365760"/>
          </a:xfrm>
          <a:prstGeom prst="rect">
            <a:avLst/>
          </a:prstGeom>
          <a:solidFill>
            <a:srgbClr val="005DAA"/>
          </a:solidFill>
          <a:ln/>
        </p:spPr>
      </p:sp>
      <p:sp>
        <p:nvSpPr>
          <p:cNvPr id="7" name="Text 5"/>
          <p:cNvSpPr/>
          <p:nvPr/>
        </p:nvSpPr>
        <p:spPr>
          <a:xfrm>
            <a:off x="566928" y="2304288"/>
            <a:ext cx="2596896" cy="219456"/>
          </a:xfrm>
          <a:prstGeom prst="rect">
            <a:avLst/>
          </a:prstGeom>
          <a:noFill/>
          <a:ln/>
        </p:spPr>
        <p:txBody>
          <a:bodyPr wrap="square" lIns="0" tIns="0" rIns="0" bIns="0" rtlCol="0" anchor="ctr"/>
          <a:lstStyle/>
          <a:p>
            <a:pPr algn="ctr" indent="0" marL="0">
              <a:buNone/>
            </a:pPr>
            <a:r>
              <a:rPr lang="en-US" sz="1000" b="1" spc="140" kern="0" dirty="0">
                <a:solidFill>
                  <a:srgbClr val="FFFFFF"/>
                </a:solidFill>
                <a:latin typeface="Calibri" pitchFamily="34" charset="0"/>
                <a:ea typeface="Calibri" pitchFamily="34" charset="-122"/>
                <a:cs typeface="Calibri" pitchFamily="34" charset="-120"/>
              </a:rPr>
              <a:t>REQUEST</a:t>
            </a:r>
            <a:endParaRPr lang="en-US" sz="1000" dirty="0"/>
          </a:p>
        </p:txBody>
      </p:sp>
      <p:sp>
        <p:nvSpPr>
          <p:cNvPr id="8" name="Shape 6"/>
          <p:cNvSpPr/>
          <p:nvPr/>
        </p:nvSpPr>
        <p:spPr>
          <a:xfrm>
            <a:off x="566928" y="2596896"/>
            <a:ext cx="2596896" cy="786384"/>
          </a:xfrm>
          <a:prstGeom prst="rect">
            <a:avLst/>
          </a:prstGeom>
          <a:solidFill>
            <a:srgbClr val="F4F7FB"/>
          </a:solidFill>
          <a:ln w="6350">
            <a:solidFill>
              <a:srgbClr val="D7DDE5"/>
            </a:solidFill>
            <a:prstDash val="solid"/>
          </a:ln>
        </p:spPr>
      </p:sp>
      <p:sp>
        <p:nvSpPr>
          <p:cNvPr id="9" name="Text 7"/>
          <p:cNvSpPr/>
          <p:nvPr/>
        </p:nvSpPr>
        <p:spPr>
          <a:xfrm>
            <a:off x="694944" y="2706624"/>
            <a:ext cx="2340864" cy="603504"/>
          </a:xfrm>
          <a:prstGeom prst="rect">
            <a:avLst/>
          </a:prstGeom>
          <a:noFill/>
          <a:ln/>
        </p:spPr>
        <p:txBody>
          <a:bodyPr wrap="square" lIns="0" tIns="0" rIns="0" bIns="0" rtlCol="0" anchor="ctr"/>
          <a:lstStyle/>
          <a:p>
            <a:pPr indent="0" marL="0">
              <a:lnSpc>
                <a:spcPts val="1200"/>
              </a:lnSpc>
              <a:buNone/>
            </a:pPr>
            <a:r>
              <a:rPr lang="en-US" sz="940" dirty="0">
                <a:solidFill>
                  <a:srgbClr val="1E252E"/>
                </a:solidFill>
                <a:latin typeface="Calibri" pitchFamily="34" charset="0"/>
                <a:ea typeface="Calibri" pitchFamily="34" charset="-122"/>
                <a:cs typeface="Calibri" pitchFamily="34" charset="-120"/>
              </a:rPr>
              <a:t>LoB, project, or internal — one intake form, one queue</a:t>
            </a:r>
            <a:endParaRPr lang="en-US" sz="940" dirty="0"/>
          </a:p>
        </p:txBody>
      </p:sp>
      <p:sp>
        <p:nvSpPr>
          <p:cNvPr id="10" name="Text 8"/>
          <p:cNvSpPr/>
          <p:nvPr/>
        </p:nvSpPr>
        <p:spPr>
          <a:xfrm>
            <a:off x="3163824" y="2871216"/>
            <a:ext cx="219456" cy="256032"/>
          </a:xfrm>
          <a:prstGeom prst="rect">
            <a:avLst/>
          </a:prstGeom>
          <a:noFill/>
          <a:ln/>
        </p:spPr>
        <p:txBody>
          <a:bodyPr wrap="square" lIns="0" tIns="0" rIns="0" bIns="0" rtlCol="0" anchor="ctr"/>
          <a:lstStyle/>
          <a:p>
            <a:pPr algn="ctr" indent="0" marL="0">
              <a:buNone/>
            </a:pPr>
            <a:r>
              <a:rPr lang="en-US" sz="1400" dirty="0">
                <a:solidFill>
                  <a:srgbClr val="9AA5B1"/>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255264" y="2231136"/>
            <a:ext cx="2596896" cy="365760"/>
          </a:xfrm>
          <a:prstGeom prst="rect">
            <a:avLst/>
          </a:prstGeom>
          <a:solidFill>
            <a:srgbClr val="1B6FC4"/>
          </a:solidFill>
          <a:ln/>
        </p:spPr>
      </p:sp>
      <p:sp>
        <p:nvSpPr>
          <p:cNvPr id="12" name="Text 10"/>
          <p:cNvSpPr/>
          <p:nvPr/>
        </p:nvSpPr>
        <p:spPr>
          <a:xfrm>
            <a:off x="3255264" y="2304288"/>
            <a:ext cx="2596896" cy="219456"/>
          </a:xfrm>
          <a:prstGeom prst="rect">
            <a:avLst/>
          </a:prstGeom>
          <a:noFill/>
          <a:ln/>
        </p:spPr>
        <p:txBody>
          <a:bodyPr wrap="square" lIns="0" tIns="0" rIns="0" bIns="0" rtlCol="0" anchor="ctr"/>
          <a:lstStyle/>
          <a:p>
            <a:pPr algn="ctr" indent="0" marL="0">
              <a:buNone/>
            </a:pPr>
            <a:r>
              <a:rPr lang="en-US" sz="1000" b="1" spc="140" kern="0" dirty="0">
                <a:solidFill>
                  <a:srgbClr val="FFFFFF"/>
                </a:solidFill>
                <a:latin typeface="Calibri" pitchFamily="34" charset="0"/>
                <a:ea typeface="Calibri" pitchFamily="34" charset="-122"/>
                <a:cs typeface="Calibri" pitchFamily="34" charset="-120"/>
              </a:rPr>
              <a:t>TRIAGE</a:t>
            </a:r>
            <a:endParaRPr lang="en-US" sz="1000" dirty="0"/>
          </a:p>
        </p:txBody>
      </p:sp>
      <p:sp>
        <p:nvSpPr>
          <p:cNvPr id="13" name="Shape 11"/>
          <p:cNvSpPr/>
          <p:nvPr/>
        </p:nvSpPr>
        <p:spPr>
          <a:xfrm>
            <a:off x="3255264" y="2596896"/>
            <a:ext cx="2596896" cy="786384"/>
          </a:xfrm>
          <a:prstGeom prst="rect">
            <a:avLst/>
          </a:prstGeom>
          <a:solidFill>
            <a:srgbClr val="F4F7FB"/>
          </a:solidFill>
          <a:ln w="6350">
            <a:solidFill>
              <a:srgbClr val="D7DDE5"/>
            </a:solidFill>
            <a:prstDash val="solid"/>
          </a:ln>
        </p:spPr>
      </p:sp>
      <p:sp>
        <p:nvSpPr>
          <p:cNvPr id="14" name="Text 12"/>
          <p:cNvSpPr/>
          <p:nvPr/>
        </p:nvSpPr>
        <p:spPr>
          <a:xfrm>
            <a:off x="3383280" y="2706624"/>
            <a:ext cx="2340864" cy="603504"/>
          </a:xfrm>
          <a:prstGeom prst="rect">
            <a:avLst/>
          </a:prstGeom>
          <a:noFill/>
          <a:ln/>
        </p:spPr>
        <p:txBody>
          <a:bodyPr wrap="square" lIns="0" tIns="0" rIns="0" bIns="0" rtlCol="0" anchor="ctr"/>
          <a:lstStyle/>
          <a:p>
            <a:pPr indent="0" marL="0">
              <a:lnSpc>
                <a:spcPts val="1200"/>
              </a:lnSpc>
              <a:buNone/>
            </a:pPr>
            <a:r>
              <a:rPr lang="en-US" sz="940" dirty="0">
                <a:solidFill>
                  <a:srgbClr val="1E252E"/>
                </a:solidFill>
                <a:latin typeface="Calibri" pitchFamily="34" charset="0"/>
                <a:ea typeface="Calibri" pitchFamily="34" charset="-122"/>
                <a:cs typeface="Calibri" pitchFamily="34" charset="-120"/>
              </a:rPr>
              <a:t>Pod lead classifies, sizes, and sequences. The pod lead can say no</a:t>
            </a:r>
            <a:endParaRPr lang="en-US" sz="940" dirty="0"/>
          </a:p>
        </p:txBody>
      </p:sp>
      <p:sp>
        <p:nvSpPr>
          <p:cNvPr id="15" name="Text 13"/>
          <p:cNvSpPr/>
          <p:nvPr/>
        </p:nvSpPr>
        <p:spPr>
          <a:xfrm>
            <a:off x="5852160" y="2871216"/>
            <a:ext cx="219456" cy="256032"/>
          </a:xfrm>
          <a:prstGeom prst="rect">
            <a:avLst/>
          </a:prstGeom>
          <a:noFill/>
          <a:ln/>
        </p:spPr>
        <p:txBody>
          <a:bodyPr wrap="square" lIns="0" tIns="0" rIns="0" bIns="0" rtlCol="0" anchor="ctr"/>
          <a:lstStyle/>
          <a:p>
            <a:pPr algn="ctr" indent="0" marL="0">
              <a:buNone/>
            </a:pPr>
            <a:r>
              <a:rPr lang="en-US" sz="1400" dirty="0">
                <a:solidFill>
                  <a:srgbClr val="9AA5B1"/>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943600" y="2231136"/>
            <a:ext cx="2596896" cy="365760"/>
          </a:xfrm>
          <a:prstGeom prst="rect">
            <a:avLst/>
          </a:prstGeom>
          <a:solidFill>
            <a:srgbClr val="FFD200"/>
          </a:solidFill>
          <a:ln/>
        </p:spPr>
      </p:sp>
      <p:sp>
        <p:nvSpPr>
          <p:cNvPr id="17" name="Text 15"/>
          <p:cNvSpPr/>
          <p:nvPr/>
        </p:nvSpPr>
        <p:spPr>
          <a:xfrm>
            <a:off x="5943600" y="2304288"/>
            <a:ext cx="2596896" cy="219456"/>
          </a:xfrm>
          <a:prstGeom prst="rect">
            <a:avLst/>
          </a:prstGeom>
          <a:noFill/>
          <a:ln/>
        </p:spPr>
        <p:txBody>
          <a:bodyPr wrap="square" lIns="0" tIns="0" rIns="0" bIns="0" rtlCol="0" anchor="ctr"/>
          <a:lstStyle/>
          <a:p>
            <a:pPr algn="ctr" indent="0" marL="0">
              <a:buNone/>
            </a:pPr>
            <a:r>
              <a:rPr lang="en-US" sz="1000" b="1" spc="140" kern="0" dirty="0">
                <a:solidFill>
                  <a:srgbClr val="0B2350"/>
                </a:solidFill>
                <a:latin typeface="Calibri" pitchFamily="34" charset="0"/>
                <a:ea typeface="Calibri" pitchFamily="34" charset="-122"/>
                <a:cs typeface="Calibri" pitchFamily="34" charset="-120"/>
              </a:rPr>
              <a:t>BOARD</a:t>
            </a:r>
            <a:endParaRPr lang="en-US" sz="1000" dirty="0"/>
          </a:p>
        </p:txBody>
      </p:sp>
      <p:sp>
        <p:nvSpPr>
          <p:cNvPr id="18" name="Shape 16"/>
          <p:cNvSpPr/>
          <p:nvPr/>
        </p:nvSpPr>
        <p:spPr>
          <a:xfrm>
            <a:off x="5943600" y="2596896"/>
            <a:ext cx="2596896" cy="786384"/>
          </a:xfrm>
          <a:prstGeom prst="rect">
            <a:avLst/>
          </a:prstGeom>
          <a:solidFill>
            <a:srgbClr val="F4F7FB"/>
          </a:solidFill>
          <a:ln w="6350">
            <a:solidFill>
              <a:srgbClr val="D7DDE5"/>
            </a:solidFill>
            <a:prstDash val="solid"/>
          </a:ln>
        </p:spPr>
      </p:sp>
      <p:sp>
        <p:nvSpPr>
          <p:cNvPr id="19" name="Text 17"/>
          <p:cNvSpPr/>
          <p:nvPr/>
        </p:nvSpPr>
        <p:spPr>
          <a:xfrm>
            <a:off x="6071616" y="2706624"/>
            <a:ext cx="2340864" cy="603504"/>
          </a:xfrm>
          <a:prstGeom prst="rect">
            <a:avLst/>
          </a:prstGeom>
          <a:noFill/>
          <a:ln/>
        </p:spPr>
        <p:txBody>
          <a:bodyPr wrap="square" lIns="0" tIns="0" rIns="0" bIns="0" rtlCol="0" anchor="ctr"/>
          <a:lstStyle/>
          <a:p>
            <a:pPr indent="0" marL="0">
              <a:lnSpc>
                <a:spcPts val="1200"/>
              </a:lnSpc>
              <a:buNone/>
            </a:pPr>
            <a:r>
              <a:rPr lang="en-US" sz="940" dirty="0">
                <a:solidFill>
                  <a:srgbClr val="1E252E"/>
                </a:solidFill>
                <a:latin typeface="Calibri" pitchFamily="34" charset="0"/>
                <a:ea typeface="Calibri" pitchFamily="34" charset="-122"/>
                <a:cs typeface="Calibri" pitchFamily="34" charset="-120"/>
              </a:rPr>
              <a:t>Tagged by work type, source, toil-vs-value, agent-eligible</a:t>
            </a:r>
            <a:endParaRPr lang="en-US" sz="940" dirty="0"/>
          </a:p>
        </p:txBody>
      </p:sp>
      <p:sp>
        <p:nvSpPr>
          <p:cNvPr id="20" name="Text 18"/>
          <p:cNvSpPr/>
          <p:nvPr/>
        </p:nvSpPr>
        <p:spPr>
          <a:xfrm>
            <a:off x="8540496" y="2871216"/>
            <a:ext cx="219456" cy="256032"/>
          </a:xfrm>
          <a:prstGeom prst="rect">
            <a:avLst/>
          </a:prstGeom>
          <a:noFill/>
          <a:ln/>
        </p:spPr>
        <p:txBody>
          <a:bodyPr wrap="square" lIns="0" tIns="0" rIns="0" bIns="0" rtlCol="0" anchor="ctr"/>
          <a:lstStyle/>
          <a:p>
            <a:pPr algn="ctr" indent="0" marL="0">
              <a:buNone/>
            </a:pPr>
            <a:r>
              <a:rPr lang="en-US" sz="1400" dirty="0">
                <a:solidFill>
                  <a:srgbClr val="9AA5B1"/>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8631936" y="2231136"/>
            <a:ext cx="2596896" cy="365760"/>
          </a:xfrm>
          <a:prstGeom prst="rect">
            <a:avLst/>
          </a:prstGeom>
          <a:solidFill>
            <a:srgbClr val="4C9A2A"/>
          </a:solidFill>
          <a:ln/>
        </p:spPr>
      </p:sp>
      <p:sp>
        <p:nvSpPr>
          <p:cNvPr id="22" name="Text 20"/>
          <p:cNvSpPr/>
          <p:nvPr/>
        </p:nvSpPr>
        <p:spPr>
          <a:xfrm>
            <a:off x="8631936" y="2304288"/>
            <a:ext cx="2596896" cy="219456"/>
          </a:xfrm>
          <a:prstGeom prst="rect">
            <a:avLst/>
          </a:prstGeom>
          <a:noFill/>
          <a:ln/>
        </p:spPr>
        <p:txBody>
          <a:bodyPr wrap="square" lIns="0" tIns="0" rIns="0" bIns="0" rtlCol="0" anchor="ctr"/>
          <a:lstStyle/>
          <a:p>
            <a:pPr algn="ctr" indent="0" marL="0">
              <a:buNone/>
            </a:pPr>
            <a:r>
              <a:rPr lang="en-US" sz="1000" b="1" spc="140" kern="0" dirty="0">
                <a:solidFill>
                  <a:srgbClr val="FFFFFF"/>
                </a:solidFill>
                <a:latin typeface="Calibri" pitchFamily="34" charset="0"/>
                <a:ea typeface="Calibri" pitchFamily="34" charset="-122"/>
                <a:cs typeface="Calibri" pitchFamily="34" charset="-120"/>
              </a:rPr>
              <a:t>DELIVERED</a:t>
            </a:r>
            <a:endParaRPr lang="en-US" sz="1000" dirty="0"/>
          </a:p>
        </p:txBody>
      </p:sp>
      <p:sp>
        <p:nvSpPr>
          <p:cNvPr id="23" name="Shape 21"/>
          <p:cNvSpPr/>
          <p:nvPr/>
        </p:nvSpPr>
        <p:spPr>
          <a:xfrm>
            <a:off x="8631936" y="2596896"/>
            <a:ext cx="2596896" cy="786384"/>
          </a:xfrm>
          <a:prstGeom prst="rect">
            <a:avLst/>
          </a:prstGeom>
          <a:solidFill>
            <a:srgbClr val="F4F7FB"/>
          </a:solidFill>
          <a:ln w="6350">
            <a:solidFill>
              <a:srgbClr val="D7DDE5"/>
            </a:solidFill>
            <a:prstDash val="solid"/>
          </a:ln>
        </p:spPr>
      </p:sp>
      <p:sp>
        <p:nvSpPr>
          <p:cNvPr id="24" name="Text 22"/>
          <p:cNvSpPr/>
          <p:nvPr/>
        </p:nvSpPr>
        <p:spPr>
          <a:xfrm>
            <a:off x="8759952" y="2706624"/>
            <a:ext cx="2340864" cy="603504"/>
          </a:xfrm>
          <a:prstGeom prst="rect">
            <a:avLst/>
          </a:prstGeom>
          <a:noFill/>
          <a:ln/>
        </p:spPr>
        <p:txBody>
          <a:bodyPr wrap="square" lIns="0" tIns="0" rIns="0" bIns="0" rtlCol="0" anchor="ctr"/>
          <a:lstStyle/>
          <a:p>
            <a:pPr indent="0" marL="0">
              <a:lnSpc>
                <a:spcPts val="1200"/>
              </a:lnSpc>
              <a:buNone/>
            </a:pPr>
            <a:r>
              <a:rPr lang="en-US" sz="940" dirty="0">
                <a:solidFill>
                  <a:srgbClr val="1E252E"/>
                </a:solidFill>
                <a:latin typeface="Calibri" pitchFamily="34" charset="0"/>
                <a:ea typeface="Calibri" pitchFamily="34" charset="-122"/>
                <a:cs typeface="Calibri" pitchFamily="34" charset="-120"/>
              </a:rPr>
              <a:t>Through the paved road wherever the paved road exists</a:t>
            </a:r>
            <a:endParaRPr lang="en-US" sz="940" dirty="0"/>
          </a:p>
        </p:txBody>
      </p:sp>
      <p:sp>
        <p:nvSpPr>
          <p:cNvPr id="25" name="Shape 23"/>
          <p:cNvSpPr/>
          <p:nvPr/>
        </p:nvSpPr>
        <p:spPr>
          <a:xfrm>
            <a:off x="566928" y="3602736"/>
            <a:ext cx="5577840" cy="2139696"/>
          </a:xfrm>
          <a:prstGeom prst="rect">
            <a:avLst/>
          </a:prstGeom>
          <a:solidFill>
            <a:srgbClr val="FFFFFF"/>
          </a:solidFill>
          <a:ln w="7620">
            <a:solidFill>
              <a:srgbClr val="D7DDE5"/>
            </a:solidFill>
            <a:prstDash val="solid"/>
          </a:ln>
        </p:spPr>
      </p:sp>
      <p:sp>
        <p:nvSpPr>
          <p:cNvPr id="26" name="Text 24"/>
          <p:cNvSpPr/>
          <p:nvPr/>
        </p:nvSpPr>
        <p:spPr>
          <a:xfrm>
            <a:off x="731520" y="3739896"/>
            <a:ext cx="52486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THE CANARY</a:t>
            </a:r>
            <a:endParaRPr lang="en-US" sz="820" dirty="0"/>
          </a:p>
        </p:txBody>
      </p:sp>
      <p:sp>
        <p:nvSpPr>
          <p:cNvPr id="27" name="Text 25"/>
          <p:cNvSpPr/>
          <p:nvPr/>
        </p:nvSpPr>
        <p:spPr>
          <a:xfrm>
            <a:off x="731520" y="3931920"/>
            <a:ext cx="5248656" cy="475488"/>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Side-channel work is the metric, not the nuisance</a:t>
            </a:r>
            <a:endParaRPr lang="en-US" sz="1300" dirty="0"/>
          </a:p>
        </p:txBody>
      </p:sp>
      <p:sp>
        <p:nvSpPr>
          <p:cNvPr id="28" name="Text 26"/>
          <p:cNvSpPr/>
          <p:nvPr/>
        </p:nvSpPr>
        <p:spPr>
          <a:xfrm>
            <a:off x="768096" y="4453128"/>
            <a:ext cx="5193792" cy="117957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 Teams DM to a DBA. A hallway ask. A favour for an old stakeholder.</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Every one of them is invisible work that never hits the board — so toil % is wrong, throughput is wrong, and the day-90 numbers are fiction</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Rising side-channel % is the leading indicator that the org is rejecting the model — so we measure it deliberately rather than police it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Baseline it before day 0: how many channels does SQL work arrive through today?</a:t>
            </a:r>
            <a:endParaRPr lang="en-US" sz="940" dirty="0"/>
          </a:p>
        </p:txBody>
      </p:sp>
      <p:sp>
        <p:nvSpPr>
          <p:cNvPr id="29" name="Shape 27"/>
          <p:cNvSpPr/>
          <p:nvPr/>
        </p:nvSpPr>
        <p:spPr>
          <a:xfrm>
            <a:off x="6382512" y="3602736"/>
            <a:ext cx="5175504" cy="2139696"/>
          </a:xfrm>
          <a:prstGeom prst="rect">
            <a:avLst/>
          </a:prstGeom>
          <a:solidFill>
            <a:srgbClr val="EEF2F8"/>
          </a:solidFill>
          <a:ln w="7620">
            <a:solidFill>
              <a:srgbClr val="D7DDE5"/>
            </a:solidFill>
            <a:prstDash val="solid"/>
          </a:ln>
        </p:spPr>
      </p:sp>
      <p:sp>
        <p:nvSpPr>
          <p:cNvPr id="30" name="Text 28"/>
          <p:cNvSpPr/>
          <p:nvPr/>
        </p:nvSpPr>
        <p:spPr>
          <a:xfrm>
            <a:off x="6547104" y="3739896"/>
            <a:ext cx="4846320"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IT TAKES TO HOLD</a:t>
            </a:r>
            <a:endParaRPr lang="en-US" sz="820" dirty="0"/>
          </a:p>
        </p:txBody>
      </p:sp>
      <p:sp>
        <p:nvSpPr>
          <p:cNvPr id="31" name="Text 29"/>
          <p:cNvSpPr/>
          <p:nvPr/>
        </p:nvSpPr>
        <p:spPr>
          <a:xfrm>
            <a:off x="6547104" y="3931920"/>
            <a:ext cx="4846320" cy="475488"/>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The front door needs teeth</a:t>
            </a:r>
            <a:endParaRPr lang="en-US" sz="1300" dirty="0"/>
          </a:p>
        </p:txBody>
      </p:sp>
      <p:sp>
        <p:nvSpPr>
          <p:cNvPr id="32" name="Text 30"/>
          <p:cNvSpPr/>
          <p:nvPr/>
        </p:nvSpPr>
        <p:spPr>
          <a:xfrm>
            <a:off x="6583680" y="4453128"/>
            <a:ext cx="4791456" cy="117957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Communicated to LoBs and stakeholders before day 15 — not assumed</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pod lead has explicit authority to redirect work to the board</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Leaders in this room have to model it: if you route around it, everyone will</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Emergencies still get in — they get in through the door, logged, and tagged</a:t>
            </a:r>
            <a:endParaRPr lang="en-US" sz="940" dirty="0"/>
          </a:p>
        </p:txBody>
      </p:sp>
      <p:sp>
        <p:nvSpPr>
          <p:cNvPr id="33" name="Text 3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HOW WE OPERATE  ·  THE BOARD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The Jira board — what has to be built</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This is a day-15 deliverable, not admin. Without it, nothing downstream can be measured.</a:t>
            </a:r>
            <a:endParaRPr lang="en-US" sz="1200" dirty="0"/>
          </a:p>
        </p:txBody>
      </p:sp>
      <p:sp>
        <p:nvSpPr>
          <p:cNvPr id="5" name="Shape 3"/>
          <p:cNvSpPr/>
          <p:nvPr/>
        </p:nvSpPr>
        <p:spPr>
          <a:xfrm>
            <a:off x="566928" y="1828800"/>
            <a:ext cx="3520440" cy="2286000"/>
          </a:xfrm>
          <a:prstGeom prst="rect">
            <a:avLst/>
          </a:prstGeom>
          <a:solidFill>
            <a:srgbClr val="F4F7FB"/>
          </a:solidFill>
          <a:ln w="7620">
            <a:solidFill>
              <a:srgbClr val="D7DDE5"/>
            </a:solidFill>
            <a:prstDash val="solid"/>
          </a:ln>
        </p:spPr>
      </p:sp>
      <p:sp>
        <p:nvSpPr>
          <p:cNvPr id="6" name="Text 4"/>
          <p:cNvSpPr/>
          <p:nvPr/>
        </p:nvSpPr>
        <p:spPr>
          <a:xfrm>
            <a:off x="731520"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WORK TYPES</a:t>
            </a:r>
            <a:endParaRPr lang="en-US" sz="820" dirty="0"/>
          </a:p>
        </p:txBody>
      </p:sp>
      <p:sp>
        <p:nvSpPr>
          <p:cNvPr id="7" name="Text 5"/>
          <p:cNvSpPr/>
          <p:nvPr/>
        </p:nvSpPr>
        <p:spPr>
          <a:xfrm>
            <a:off x="731520"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Five, no more</a:t>
            </a:r>
            <a:endParaRPr lang="en-US" sz="1350" dirty="0"/>
          </a:p>
        </p:txBody>
      </p:sp>
      <p:sp>
        <p:nvSpPr>
          <p:cNvPr id="8" name="Text 6"/>
          <p:cNvSpPr/>
          <p:nvPr/>
        </p:nvSpPr>
        <p:spPr>
          <a:xfrm>
            <a:off x="768096" y="2459736"/>
            <a:ext cx="3136392" cy="15453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Feature / enhancement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BAU request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Incident — raised by SRE into the same backlog</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Compliance / patch</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elimination — protected</a:t>
            </a:r>
            <a:endParaRPr lang="en-US" sz="940" dirty="0"/>
          </a:p>
        </p:txBody>
      </p:sp>
      <p:sp>
        <p:nvSpPr>
          <p:cNvPr id="9" name="Shape 7"/>
          <p:cNvSpPr/>
          <p:nvPr/>
        </p:nvSpPr>
        <p:spPr>
          <a:xfrm>
            <a:off x="4297680" y="1828800"/>
            <a:ext cx="3520440" cy="2286000"/>
          </a:xfrm>
          <a:prstGeom prst="rect">
            <a:avLst/>
          </a:prstGeom>
          <a:solidFill>
            <a:srgbClr val="F4F7FB"/>
          </a:solidFill>
          <a:ln w="7620">
            <a:solidFill>
              <a:srgbClr val="D7DDE5"/>
            </a:solidFill>
            <a:prstDash val="solid"/>
          </a:ln>
        </p:spPr>
      </p:sp>
      <p:sp>
        <p:nvSpPr>
          <p:cNvPr id="10" name="Text 8"/>
          <p:cNvSpPr/>
          <p:nvPr/>
        </p:nvSpPr>
        <p:spPr>
          <a:xfrm>
            <a:off x="4462272" y="1965960"/>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FIELDS</a:t>
            </a:r>
            <a:endParaRPr lang="en-US" sz="820" dirty="0"/>
          </a:p>
        </p:txBody>
      </p:sp>
      <p:sp>
        <p:nvSpPr>
          <p:cNvPr id="11" name="Text 9"/>
          <p:cNvSpPr/>
          <p:nvPr/>
        </p:nvSpPr>
        <p:spPr>
          <a:xfrm>
            <a:off x="4462272" y="2157984"/>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What makes measurement possible</a:t>
            </a:r>
            <a:endParaRPr lang="en-US" sz="1350" dirty="0"/>
          </a:p>
        </p:txBody>
      </p:sp>
      <p:sp>
        <p:nvSpPr>
          <p:cNvPr id="12" name="Text 10"/>
          <p:cNvSpPr/>
          <p:nvPr/>
        </p:nvSpPr>
        <p:spPr>
          <a:xfrm>
            <a:off x="4498848" y="2459736"/>
            <a:ext cx="3136392" cy="15453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Work type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Source / requester</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vs. value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Agent-eligible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Paved-road vs. bespoke</a:t>
            </a:r>
            <a:endParaRPr lang="en-US" sz="940" dirty="0"/>
          </a:p>
        </p:txBody>
      </p:sp>
      <p:sp>
        <p:nvSpPr>
          <p:cNvPr id="13" name="Shape 11"/>
          <p:cNvSpPr/>
          <p:nvPr/>
        </p:nvSpPr>
        <p:spPr>
          <a:xfrm>
            <a:off x="8028432" y="1828800"/>
            <a:ext cx="3529584" cy="2286000"/>
          </a:xfrm>
          <a:prstGeom prst="rect">
            <a:avLst/>
          </a:prstGeom>
          <a:solidFill>
            <a:srgbClr val="F4F7FB"/>
          </a:solidFill>
          <a:ln w="7620">
            <a:solidFill>
              <a:srgbClr val="D7DDE5"/>
            </a:solidFill>
            <a:prstDash val="solid"/>
          </a:ln>
        </p:spPr>
      </p:sp>
      <p:sp>
        <p:nvSpPr>
          <p:cNvPr id="14" name="Text 12"/>
          <p:cNvSpPr/>
          <p:nvPr/>
        </p:nvSpPr>
        <p:spPr>
          <a:xfrm>
            <a:off x="8193024" y="1965960"/>
            <a:ext cx="3200400"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DISCIPLINE</a:t>
            </a:r>
            <a:endParaRPr lang="en-US" sz="820" dirty="0"/>
          </a:p>
        </p:txBody>
      </p:sp>
      <p:sp>
        <p:nvSpPr>
          <p:cNvPr id="15" name="Text 13"/>
          <p:cNvSpPr/>
          <p:nvPr/>
        </p:nvSpPr>
        <p:spPr>
          <a:xfrm>
            <a:off x="8193024" y="2157984"/>
            <a:ext cx="3200400"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Agreed before work starts</a:t>
            </a:r>
            <a:endParaRPr lang="en-US" sz="1350" dirty="0"/>
          </a:p>
        </p:txBody>
      </p:sp>
      <p:sp>
        <p:nvSpPr>
          <p:cNvPr id="16" name="Text 14"/>
          <p:cNvSpPr/>
          <p:nvPr/>
        </p:nvSpPr>
        <p:spPr>
          <a:xfrm>
            <a:off x="8229600" y="2459736"/>
            <a:ext cx="3145536" cy="15453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Definition of Ready / Definition of Done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WIP limits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taxonomy agreed day 15 — by work type, not self-assessment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Tagging compliance is a KRI (&lt;95% fires)</a:t>
            </a:r>
            <a:endParaRPr lang="en-US" sz="940" dirty="0"/>
          </a:p>
        </p:txBody>
      </p:sp>
      <p:sp>
        <p:nvSpPr>
          <p:cNvPr id="17" name="Shape 15"/>
          <p:cNvSpPr/>
          <p:nvPr/>
        </p:nvSpPr>
        <p:spPr>
          <a:xfrm>
            <a:off x="566928" y="4279392"/>
            <a:ext cx="11027664" cy="822960"/>
          </a:xfrm>
          <a:prstGeom prst="rect">
            <a:avLst/>
          </a:prstGeom>
          <a:solidFill>
            <a:srgbClr val="0B2350"/>
          </a:solidFill>
          <a:ln/>
        </p:spPr>
      </p:sp>
      <p:sp>
        <p:nvSpPr>
          <p:cNvPr id="18" name="Text 16"/>
          <p:cNvSpPr/>
          <p:nvPr/>
        </p:nvSpPr>
        <p:spPr>
          <a:xfrm>
            <a:off x="768096" y="4398264"/>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DECISION NEEDED</a:t>
            </a:r>
            <a:endParaRPr lang="en-US" sz="850" dirty="0"/>
          </a:p>
        </p:txBody>
      </p:sp>
      <p:sp>
        <p:nvSpPr>
          <p:cNvPr id="19" name="Text 17"/>
          <p:cNvSpPr/>
          <p:nvPr/>
        </p:nvSpPr>
        <p:spPr>
          <a:xfrm>
            <a:off x="768096" y="4590288"/>
            <a:ext cx="10625328" cy="457200"/>
          </a:xfrm>
          <a:prstGeom prst="rect">
            <a:avLst/>
          </a:prstGeom>
          <a:noFill/>
          <a:ln/>
        </p:spPr>
        <p:txBody>
          <a:bodyPr wrap="square" lIns="0" tIns="0" rIns="0" bIns="0" rtlCol="0" anchor="ctr"/>
          <a:lstStyle/>
          <a:p>
            <a:pPr indent="0" marL="0">
              <a:lnSpc>
                <a:spcPts val="1400"/>
              </a:lnSpc>
              <a:buNone/>
            </a:pPr>
            <a:r>
              <a:rPr lang="en-US" sz="1100" b="1" dirty="0">
                <a:solidFill>
                  <a:srgbClr val="FFD200"/>
                </a:solidFill>
                <a:latin typeface="Calibri" pitchFamily="34" charset="0"/>
                <a:ea typeface="Calibri" pitchFamily="34" charset="-122"/>
                <a:cs typeface="Calibri" pitchFamily="34" charset="-120"/>
              </a:rPr>
              <a:t>Start clean, and snapshot the old backlog as baseline  </a:t>
            </a:r>
            <a:pPr indent="0" marL="0">
              <a:lnSpc>
                <a:spcPts val="1400"/>
              </a:lnSpc>
              <a:buNone/>
            </a:pPr>
            <a:r>
              <a:rPr lang="en-US" sz="1100" dirty="0">
                <a:solidFill>
                  <a:srgbClr val="E8EFF9"/>
                </a:solidFill>
                <a:latin typeface="Calibri" pitchFamily="34" charset="0"/>
                <a:ea typeface="Calibri" pitchFamily="34" charset="-122"/>
                <a:cs typeface="Calibri" pitchFamily="34" charset="-120"/>
              </a:rPr>
              <a:t>(recommended — migrated history pollutes flow metrics and you can never tell whether lead time improved or the queue was just re-labelled)   vs.   migrate in-flight work.</a:t>
            </a:r>
            <a:endParaRPr lang="en-US" sz="1100" dirty="0"/>
          </a:p>
        </p:txBody>
      </p:sp>
      <p:sp>
        <p:nvSpPr>
          <p:cNvPr id="20" name="Shape 18"/>
          <p:cNvSpPr/>
          <p:nvPr/>
        </p:nvSpPr>
        <p:spPr>
          <a:xfrm>
            <a:off x="566928" y="5248656"/>
            <a:ext cx="11027664" cy="512064"/>
          </a:xfrm>
          <a:prstGeom prst="rect">
            <a:avLst/>
          </a:prstGeom>
          <a:solidFill>
            <a:srgbClr val="EEF2F8"/>
          </a:solidFill>
          <a:ln/>
        </p:spPr>
      </p:sp>
      <p:sp>
        <p:nvSpPr>
          <p:cNvPr id="21" name="Text 19"/>
          <p:cNvSpPr/>
          <p:nvPr/>
        </p:nvSpPr>
        <p:spPr>
          <a:xfrm>
            <a:off x="768096" y="5376672"/>
            <a:ext cx="10625328" cy="292608"/>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"Toil elimination" as a first-class work type is the mechanism behind "anyone with cycles automates".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If it isn't on the board, it's invisible background effort — and invisible effort is the first thing BAU eats.</a:t>
            </a:r>
            <a:endParaRPr lang="en-US" sz="1100" dirty="0"/>
          </a:p>
        </p:txBody>
      </p:sp>
      <p:sp>
        <p:nvSpPr>
          <p:cNvPr id="22" name="Text 20"/>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HOW WE OPERATE  ·  THE INSTRUMENT</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Mission Control</a:t>
            </a:r>
            <a:endParaRPr lang="en-US" sz="3100" dirty="0"/>
          </a:p>
        </p:txBody>
      </p:sp>
      <p:sp>
        <p:nvSpPr>
          <p:cNvPr id="4" name="Shape 2"/>
          <p:cNvSpPr/>
          <p:nvPr/>
        </p:nvSpPr>
        <p:spPr>
          <a:xfrm>
            <a:off x="566928" y="1316736"/>
            <a:ext cx="5394960" cy="914400"/>
          </a:xfrm>
          <a:prstGeom prst="rect">
            <a:avLst/>
          </a:prstGeom>
          <a:solidFill>
            <a:srgbClr val="005DAA"/>
          </a:solidFill>
          <a:ln/>
        </p:spPr>
      </p:sp>
      <p:sp>
        <p:nvSpPr>
          <p:cNvPr id="5" name="Text 3"/>
          <p:cNvSpPr/>
          <p:nvPr/>
        </p:nvSpPr>
        <p:spPr>
          <a:xfrm>
            <a:off x="786384" y="1426464"/>
            <a:ext cx="4572000" cy="182880"/>
          </a:xfrm>
          <a:prstGeom prst="rect">
            <a:avLst/>
          </a:prstGeom>
          <a:noFill/>
          <a:ln/>
        </p:spPr>
        <p:txBody>
          <a:bodyPr wrap="square" lIns="0" tIns="0" rIns="0" bIns="0" rtlCol="0" anchor="ctr"/>
          <a:lstStyle/>
          <a:p>
            <a:pPr indent="0" marL="0">
              <a:buNone/>
            </a:pPr>
            <a:r>
              <a:rPr lang="en-US" sz="850" b="1" spc="160" kern="0" dirty="0">
                <a:solidFill>
                  <a:srgbClr val="CFE0F5"/>
                </a:solidFill>
                <a:latin typeface="Calibri" pitchFamily="34" charset="0"/>
                <a:ea typeface="Calibri" pitchFamily="34" charset="-122"/>
                <a:cs typeface="Calibri" pitchFamily="34" charset="-120"/>
              </a:rPr>
              <a:t>THE BOARD</a:t>
            </a:r>
            <a:endParaRPr lang="en-US" sz="850" dirty="0"/>
          </a:p>
        </p:txBody>
      </p:sp>
      <p:sp>
        <p:nvSpPr>
          <p:cNvPr id="6" name="Text 4"/>
          <p:cNvSpPr/>
          <p:nvPr/>
        </p:nvSpPr>
        <p:spPr>
          <a:xfrm>
            <a:off x="786384" y="1627632"/>
            <a:ext cx="4937760"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Where work lives</a:t>
            </a:r>
            <a:endParaRPr lang="en-US" sz="1700" dirty="0"/>
          </a:p>
        </p:txBody>
      </p:sp>
      <p:sp>
        <p:nvSpPr>
          <p:cNvPr id="7" name="Text 5"/>
          <p:cNvSpPr/>
          <p:nvPr/>
        </p:nvSpPr>
        <p:spPr>
          <a:xfrm>
            <a:off x="786384" y="1920240"/>
            <a:ext cx="4937760" cy="219456"/>
          </a:xfrm>
          <a:prstGeom prst="rect">
            <a:avLst/>
          </a:prstGeom>
          <a:noFill/>
          <a:ln/>
        </p:spPr>
        <p:txBody>
          <a:bodyPr wrap="square" lIns="0" tIns="0" rIns="0" bIns="0" rtlCol="0" anchor="ctr"/>
          <a:lstStyle/>
          <a:p>
            <a:pPr indent="0" marL="0">
              <a:buNone/>
            </a:pPr>
            <a:r>
              <a:rPr lang="en-US" sz="960" dirty="0">
                <a:solidFill>
                  <a:srgbClr val="CFE0F5"/>
                </a:solidFill>
                <a:latin typeface="Calibri" pitchFamily="34" charset="0"/>
                <a:ea typeface="Calibri" pitchFamily="34" charset="-122"/>
                <a:cs typeface="Calibri" pitchFamily="34" charset="-120"/>
              </a:rPr>
              <a:t>Every item, tagged. The source of truth for flow and toil.</a:t>
            </a:r>
            <a:endParaRPr lang="en-US" sz="960" dirty="0"/>
          </a:p>
        </p:txBody>
      </p:sp>
      <p:sp>
        <p:nvSpPr>
          <p:cNvPr id="8" name="Text 6"/>
          <p:cNvSpPr/>
          <p:nvPr/>
        </p:nvSpPr>
        <p:spPr>
          <a:xfrm>
            <a:off x="6053328" y="1609344"/>
            <a:ext cx="457200" cy="365760"/>
          </a:xfrm>
          <a:prstGeom prst="rect">
            <a:avLst/>
          </a:prstGeom>
          <a:noFill/>
          <a:ln/>
        </p:spPr>
        <p:txBody>
          <a:bodyPr wrap="square" lIns="0" tIns="0" rIns="0" bIns="0" rtlCol="0" anchor="ctr"/>
          <a:lstStyle/>
          <a:p>
            <a:pPr algn="ctr" indent="0" marL="0">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6601968" y="1316736"/>
            <a:ext cx="4956048" cy="914400"/>
          </a:xfrm>
          <a:prstGeom prst="rect">
            <a:avLst/>
          </a:prstGeom>
          <a:solidFill>
            <a:srgbClr val="0B2350"/>
          </a:solidFill>
          <a:ln/>
        </p:spPr>
      </p:sp>
      <p:sp>
        <p:nvSpPr>
          <p:cNvPr id="10" name="Text 8"/>
          <p:cNvSpPr/>
          <p:nvPr/>
        </p:nvSpPr>
        <p:spPr>
          <a:xfrm>
            <a:off x="6821424" y="1426464"/>
            <a:ext cx="4572000" cy="182880"/>
          </a:xfrm>
          <a:prstGeom prst="rect">
            <a:avLst/>
          </a:prstGeom>
          <a:noFill/>
          <a:ln/>
        </p:spPr>
        <p:txBody>
          <a:bodyPr wrap="square" lIns="0" tIns="0" rIns="0" bIns="0" rtlCol="0" anchor="ctr"/>
          <a:lstStyle/>
          <a:p>
            <a:pPr indent="0" marL="0">
              <a:buNone/>
            </a:pPr>
            <a:r>
              <a:rPr lang="en-US" sz="850" b="1" spc="160" kern="0" dirty="0">
                <a:solidFill>
                  <a:srgbClr val="FFD200"/>
                </a:solidFill>
                <a:latin typeface="Calibri" pitchFamily="34" charset="0"/>
                <a:ea typeface="Calibri" pitchFamily="34" charset="-122"/>
                <a:cs typeface="Calibri" pitchFamily="34" charset="-120"/>
              </a:rPr>
              <a:t>MISSION CONTROL</a:t>
            </a:r>
            <a:endParaRPr lang="en-US" sz="850" dirty="0"/>
          </a:p>
        </p:txBody>
      </p:sp>
      <p:sp>
        <p:nvSpPr>
          <p:cNvPr id="11" name="Text 9"/>
          <p:cNvSpPr/>
          <p:nvPr/>
        </p:nvSpPr>
        <p:spPr>
          <a:xfrm>
            <a:off x="6821424" y="1627632"/>
            <a:ext cx="4572000"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Where the truth about it shows up</a:t>
            </a:r>
            <a:endParaRPr lang="en-US" sz="1700" dirty="0"/>
          </a:p>
        </p:txBody>
      </p:sp>
      <p:sp>
        <p:nvSpPr>
          <p:cNvPr id="12" name="Text 10"/>
          <p:cNvSpPr/>
          <p:nvPr/>
        </p:nvSpPr>
        <p:spPr>
          <a:xfrm>
            <a:off x="6821424" y="1920240"/>
            <a:ext cx="4572000" cy="219456"/>
          </a:xfrm>
          <a:prstGeom prst="rect">
            <a:avLst/>
          </a:prstGeom>
          <a:noFill/>
          <a:ln/>
        </p:spPr>
        <p:txBody>
          <a:bodyPr wrap="square" lIns="0" tIns="0" rIns="0" bIns="0" rtlCol="0" anchor="ctr"/>
          <a:lstStyle/>
          <a:p>
            <a:pPr indent="0" marL="0">
              <a:buNone/>
            </a:pPr>
            <a:r>
              <a:rPr lang="en-US" sz="960" dirty="0">
                <a:solidFill>
                  <a:srgbClr val="AEC3E0"/>
                </a:solidFill>
                <a:latin typeface="Calibri" pitchFamily="34" charset="0"/>
                <a:ea typeface="Calibri" pitchFamily="34" charset="-122"/>
                <a:cs typeface="Calibri" pitchFamily="34" charset="-120"/>
              </a:rPr>
              <a:t>Toil reduction · incident reduction · KRI triggers.</a:t>
            </a:r>
            <a:endParaRPr lang="en-US" sz="960" dirty="0"/>
          </a:p>
        </p:txBody>
      </p:sp>
      <p:sp>
        <p:nvSpPr>
          <p:cNvPr id="13" name="Shape 11"/>
          <p:cNvSpPr/>
          <p:nvPr/>
        </p:nvSpPr>
        <p:spPr>
          <a:xfrm>
            <a:off x="566928" y="2395728"/>
            <a:ext cx="3520440" cy="1828800"/>
          </a:xfrm>
          <a:prstGeom prst="rect">
            <a:avLst/>
          </a:prstGeom>
          <a:solidFill>
            <a:srgbClr val="F4F7FB"/>
          </a:solidFill>
          <a:ln w="7620">
            <a:solidFill>
              <a:srgbClr val="D7DDE5"/>
            </a:solidFill>
            <a:prstDash val="solid"/>
          </a:ln>
        </p:spPr>
      </p:sp>
      <p:sp>
        <p:nvSpPr>
          <p:cNvPr id="14" name="Text 12"/>
          <p:cNvSpPr/>
          <p:nvPr/>
        </p:nvSpPr>
        <p:spPr>
          <a:xfrm>
            <a:off x="731520" y="2532888"/>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IT SHOWS</a:t>
            </a:r>
            <a:endParaRPr lang="en-US" sz="820" dirty="0"/>
          </a:p>
        </p:txBody>
      </p:sp>
      <p:sp>
        <p:nvSpPr>
          <p:cNvPr id="15" name="Text 13"/>
          <p:cNvSpPr/>
          <p:nvPr/>
        </p:nvSpPr>
        <p:spPr>
          <a:xfrm>
            <a:off x="731520" y="2724912"/>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The pod's scoreboard</a:t>
            </a:r>
            <a:endParaRPr lang="en-US" sz="1350" dirty="0"/>
          </a:p>
        </p:txBody>
      </p:sp>
      <p:sp>
        <p:nvSpPr>
          <p:cNvPr id="16" name="Text 14"/>
          <p:cNvSpPr/>
          <p:nvPr/>
        </p:nvSpPr>
        <p:spPr>
          <a:xfrm>
            <a:off x="768096" y="3026664"/>
            <a:ext cx="3136392"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 — the north star, by pool</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Incident reduction and MTTR trend</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Flow: lead time, throughput, WIP</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Every KRI against its trigger</a:t>
            </a:r>
            <a:endParaRPr lang="en-US" sz="940" dirty="0"/>
          </a:p>
        </p:txBody>
      </p:sp>
      <p:sp>
        <p:nvSpPr>
          <p:cNvPr id="17" name="Shape 15"/>
          <p:cNvSpPr/>
          <p:nvPr/>
        </p:nvSpPr>
        <p:spPr>
          <a:xfrm>
            <a:off x="4297680" y="2395728"/>
            <a:ext cx="3520440" cy="1828800"/>
          </a:xfrm>
          <a:prstGeom prst="rect">
            <a:avLst/>
          </a:prstGeom>
          <a:solidFill>
            <a:srgbClr val="F4F7FB"/>
          </a:solidFill>
          <a:ln w="7620">
            <a:solidFill>
              <a:srgbClr val="D7DDE5"/>
            </a:solidFill>
            <a:prstDash val="solid"/>
          </a:ln>
        </p:spPr>
      </p:sp>
      <p:sp>
        <p:nvSpPr>
          <p:cNvPr id="18" name="Text 16"/>
          <p:cNvSpPr/>
          <p:nvPr/>
        </p:nvSpPr>
        <p:spPr>
          <a:xfrm>
            <a:off x="4462272" y="2532888"/>
            <a:ext cx="319125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WHO READS IT</a:t>
            </a:r>
            <a:endParaRPr lang="en-US" sz="820" dirty="0"/>
          </a:p>
        </p:txBody>
      </p:sp>
      <p:sp>
        <p:nvSpPr>
          <p:cNvPr id="19" name="Text 17"/>
          <p:cNvSpPr/>
          <p:nvPr/>
        </p:nvSpPr>
        <p:spPr>
          <a:xfrm>
            <a:off x="4462272" y="2724912"/>
            <a:ext cx="3191256"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One view, three audiences</a:t>
            </a:r>
            <a:endParaRPr lang="en-US" sz="1350" dirty="0"/>
          </a:p>
        </p:txBody>
      </p:sp>
      <p:sp>
        <p:nvSpPr>
          <p:cNvPr id="20" name="Text 18"/>
          <p:cNvSpPr/>
          <p:nvPr/>
        </p:nvSpPr>
        <p:spPr>
          <a:xfrm>
            <a:off x="4498848" y="3026664"/>
            <a:ext cx="3136392"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pod — daily, in standup</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Contract review — monthly, with liaisons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Zephyr On-Prem Program — monthly status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30/60/90 gates run off it</a:t>
            </a:r>
            <a:endParaRPr lang="en-US" sz="940" dirty="0"/>
          </a:p>
        </p:txBody>
      </p:sp>
      <p:sp>
        <p:nvSpPr>
          <p:cNvPr id="21" name="Shape 19"/>
          <p:cNvSpPr/>
          <p:nvPr/>
        </p:nvSpPr>
        <p:spPr>
          <a:xfrm>
            <a:off x="8028432" y="2395728"/>
            <a:ext cx="3529584" cy="1828800"/>
          </a:xfrm>
          <a:prstGeom prst="rect">
            <a:avLst/>
          </a:prstGeom>
          <a:solidFill>
            <a:srgbClr val="F4F7FB"/>
          </a:solidFill>
          <a:ln w="7620">
            <a:solidFill>
              <a:srgbClr val="D7DDE5"/>
            </a:solidFill>
            <a:prstDash val="solid"/>
          </a:ln>
        </p:spPr>
      </p:sp>
      <p:sp>
        <p:nvSpPr>
          <p:cNvPr id="22" name="Text 20"/>
          <p:cNvSpPr/>
          <p:nvPr/>
        </p:nvSpPr>
        <p:spPr>
          <a:xfrm>
            <a:off x="8193024" y="2532888"/>
            <a:ext cx="3200400"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WHAT IT REPLACES</a:t>
            </a:r>
            <a:endParaRPr lang="en-US" sz="820" dirty="0"/>
          </a:p>
        </p:txBody>
      </p:sp>
      <p:sp>
        <p:nvSpPr>
          <p:cNvPr id="23" name="Text 21"/>
          <p:cNvSpPr/>
          <p:nvPr/>
        </p:nvSpPr>
        <p:spPr>
          <a:xfrm>
            <a:off x="8193024" y="2724912"/>
            <a:ext cx="3200400" cy="256032"/>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The status deck</a:t>
            </a:r>
            <a:endParaRPr lang="en-US" sz="1350" dirty="0"/>
          </a:p>
        </p:txBody>
      </p:sp>
      <p:sp>
        <p:nvSpPr>
          <p:cNvPr id="24" name="Text 22"/>
          <p:cNvSpPr/>
          <p:nvPr/>
        </p:nvSpPr>
        <p:spPr>
          <a:xfrm>
            <a:off x="8229600" y="3026664"/>
            <a:ext cx="3145536" cy="10881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exec report is a Mission Control view, not a deck</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Nobody hand-builds a weekly pack</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 toil-reduction pod generating reporting toil is its own punchline</a:t>
            </a:r>
            <a:endParaRPr lang="en-US" sz="940" dirty="0"/>
          </a:p>
        </p:txBody>
      </p:sp>
      <p:sp>
        <p:nvSpPr>
          <p:cNvPr id="25" name="Shape 23"/>
          <p:cNvSpPr/>
          <p:nvPr/>
        </p:nvSpPr>
        <p:spPr>
          <a:xfrm>
            <a:off x="566928" y="4389120"/>
            <a:ext cx="11027664" cy="1353312"/>
          </a:xfrm>
          <a:prstGeom prst="rect">
            <a:avLst/>
          </a:prstGeom>
          <a:solidFill>
            <a:srgbClr val="EEF2F8"/>
          </a:solidFill>
          <a:ln/>
        </p:spPr>
      </p:sp>
      <p:sp>
        <p:nvSpPr>
          <p:cNvPr id="26" name="Text 24"/>
          <p:cNvSpPr/>
          <p:nvPr/>
        </p:nvSpPr>
        <p:spPr>
          <a:xfrm>
            <a:off x="768096" y="4507992"/>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THE DEPENDENCY NOBODY PLANS FOR</a:t>
            </a:r>
            <a:endParaRPr lang="en-US" sz="850" dirty="0"/>
          </a:p>
        </p:txBody>
      </p:sp>
      <p:sp>
        <p:nvSpPr>
          <p:cNvPr id="27" name="Text 25"/>
          <p:cNvSpPr/>
          <p:nvPr/>
        </p:nvSpPr>
        <p:spPr>
          <a:xfrm>
            <a:off x="768096" y="4700016"/>
            <a:ext cx="10625328" cy="950976"/>
          </a:xfrm>
          <a:prstGeom prst="rect">
            <a:avLst/>
          </a:prstGeom>
          <a:noFill/>
          <a:ln/>
        </p:spPr>
        <p:txBody>
          <a:bodyPr wrap="square" lIns="0" tIns="0" rIns="0" bIns="0" rtlCol="0" anchor="ctr"/>
          <a:lstStyle/>
          <a:p>
            <a:pPr indent="0" marL="0">
              <a:lnSpc>
                <a:spcPts val="1400"/>
              </a:lnSpc>
              <a:buNone/>
            </a:pPr>
            <a:r>
              <a:rPr lang="en-US" sz="1300" b="1" dirty="0">
                <a:solidFill>
                  <a:srgbClr val="0B2350"/>
                </a:solidFill>
                <a:latin typeface="Calibri" pitchFamily="34" charset="0"/>
                <a:ea typeface="Calibri" pitchFamily="34" charset="-122"/>
                <a:cs typeface="Calibri" pitchFamily="34" charset="-120"/>
              </a:rPr>
              <a:t>Mission Control is only as honest as the board beneath it.
</a:t>
            </a:r>
            <a:pPr indent="0" marL="0">
              <a:lnSpc>
                <a:spcPts val="1400"/>
              </a:lnSpc>
              <a:buNone/>
            </a:pPr>
            <a:r>
              <a:rPr lang="en-US" sz="1050" dirty="0">
                <a:solidFill>
                  <a:srgbClr val="1E252E"/>
                </a:solidFill>
                <a:latin typeface="Calibri" pitchFamily="34" charset="0"/>
                <a:ea typeface="Calibri" pitchFamily="34" charset="-122"/>
                <a:cs typeface="Calibri" pitchFamily="34" charset="-120"/>
              </a:rPr>
              <a:t>It can only show toil reduction if every Jira item is tagged toil-vs-value. No tagging → no toil metric → no north star → no pilot. That makes board hygiene a day-15 deliverable and tagging compliance a KRI at 95%, not a nice-to-have. A dashboard with a hole in its data doesn't look broken — it looks like an answer, which is worse.</a:t>
            </a:r>
            <a:endParaRPr lang="en-US" sz="1300" dirty="0"/>
          </a:p>
        </p:txBody>
      </p:sp>
      <p:sp>
        <p:nvSpPr>
          <p:cNvPr id="28" name="Text 26"/>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HOW WE OPERATE  ·  GOVERNANCE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Operating rhythm and governance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Three tiers. No new governance apparatus — the program tier is the Zephyr On-Prem Program that already exists.</a:t>
            </a:r>
            <a:endParaRPr lang="en-US" sz="1200" dirty="0"/>
          </a:p>
        </p:txBody>
      </p:sp>
      <p:sp>
        <p:nvSpPr>
          <p:cNvPr id="5" name="Shape 3"/>
          <p:cNvSpPr/>
          <p:nvPr/>
        </p:nvSpPr>
        <p:spPr>
          <a:xfrm>
            <a:off x="566928" y="1847088"/>
            <a:ext cx="3520440" cy="475488"/>
          </a:xfrm>
          <a:prstGeom prst="rect">
            <a:avLst/>
          </a:prstGeom>
          <a:solidFill>
            <a:srgbClr val="0B2350"/>
          </a:solidFill>
          <a:ln/>
        </p:spPr>
      </p:sp>
      <p:sp>
        <p:nvSpPr>
          <p:cNvPr id="6" name="Text 4"/>
          <p:cNvSpPr/>
          <p:nvPr/>
        </p:nvSpPr>
        <p:spPr>
          <a:xfrm>
            <a:off x="713232" y="1938528"/>
            <a:ext cx="2194560" cy="219456"/>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POD</a:t>
            </a:r>
            <a:endParaRPr lang="en-US" sz="1000" dirty="0"/>
          </a:p>
        </p:txBody>
      </p:sp>
      <p:sp>
        <p:nvSpPr>
          <p:cNvPr id="7" name="Text 5"/>
          <p:cNvSpPr/>
          <p:nvPr/>
        </p:nvSpPr>
        <p:spPr>
          <a:xfrm>
            <a:off x="2578608" y="1956816"/>
            <a:ext cx="1371600" cy="201168"/>
          </a:xfrm>
          <a:prstGeom prst="rect">
            <a:avLst/>
          </a:prstGeom>
          <a:noFill/>
          <a:ln/>
        </p:spPr>
        <p:txBody>
          <a:bodyPr wrap="square" lIns="0" tIns="0" rIns="0" bIns="0" rtlCol="0" anchor="ctr"/>
          <a:lstStyle/>
          <a:p>
            <a:pPr algn="r" indent="0" marL="0">
              <a:buNone/>
            </a:pPr>
            <a:r>
              <a:rPr lang="en-US" sz="850" b="1" dirty="0">
                <a:solidFill>
                  <a:srgbClr val="CFE0F5"/>
                </a:solidFill>
                <a:latin typeface="Calibri" pitchFamily="34" charset="0"/>
                <a:ea typeface="Calibri" pitchFamily="34" charset="-122"/>
                <a:cs typeface="Calibri" pitchFamily="34" charset="-120"/>
              </a:rPr>
              <a:t>Daily → bi-weekly</a:t>
            </a:r>
            <a:endParaRPr lang="en-US" sz="850" dirty="0"/>
          </a:p>
        </p:txBody>
      </p:sp>
      <p:sp>
        <p:nvSpPr>
          <p:cNvPr id="8" name="Shape 6"/>
          <p:cNvSpPr/>
          <p:nvPr/>
        </p:nvSpPr>
        <p:spPr>
          <a:xfrm>
            <a:off x="566928" y="2322576"/>
            <a:ext cx="3520440" cy="1700784"/>
          </a:xfrm>
          <a:prstGeom prst="rect">
            <a:avLst/>
          </a:prstGeom>
          <a:solidFill>
            <a:srgbClr val="F4F7FB"/>
          </a:solidFill>
          <a:ln w="6350">
            <a:solidFill>
              <a:srgbClr val="D7DDE5"/>
            </a:solidFill>
            <a:prstDash val="solid"/>
          </a:ln>
        </p:spPr>
      </p:sp>
      <p:sp>
        <p:nvSpPr>
          <p:cNvPr id="9" name="Text 7"/>
          <p:cNvSpPr/>
          <p:nvPr/>
        </p:nvSpPr>
        <p:spPr>
          <a:xfrm>
            <a:off x="749808" y="2432304"/>
            <a:ext cx="3182112" cy="1463040"/>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Daily standup — 15 min, the board only</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Weekly backlog refinement — 45 min</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Weekly ops review — SLOs, incidents, drift</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Bi-weekly planning · demo · retro</a:t>
            </a:r>
            <a:endParaRPr lang="en-US" sz="920" dirty="0"/>
          </a:p>
        </p:txBody>
      </p:sp>
      <p:sp>
        <p:nvSpPr>
          <p:cNvPr id="10" name="Shape 8"/>
          <p:cNvSpPr/>
          <p:nvPr/>
        </p:nvSpPr>
        <p:spPr>
          <a:xfrm>
            <a:off x="566928" y="4023360"/>
            <a:ext cx="3520440" cy="329184"/>
          </a:xfrm>
          <a:prstGeom prst="rect">
            <a:avLst/>
          </a:prstGeom>
          <a:solidFill>
            <a:srgbClr val="0B2350"/>
          </a:solidFill>
          <a:ln/>
        </p:spPr>
      </p:sp>
      <p:sp>
        <p:nvSpPr>
          <p:cNvPr id="11" name="Text 9"/>
          <p:cNvSpPr/>
          <p:nvPr/>
        </p:nvSpPr>
        <p:spPr>
          <a:xfrm>
            <a:off x="713232" y="4087368"/>
            <a:ext cx="3200400" cy="201168"/>
          </a:xfrm>
          <a:prstGeom prst="rect">
            <a:avLst/>
          </a:prstGeom>
          <a:noFill/>
          <a:ln/>
        </p:spPr>
        <p:txBody>
          <a:bodyPr wrap="square" lIns="0" tIns="0" rIns="0" bIns="0" rtlCol="0" anchor="ctr"/>
          <a:lstStyle/>
          <a:p>
            <a:pPr indent="0" marL="0">
              <a:buNone/>
            </a:pPr>
            <a:r>
              <a:rPr lang="en-US" sz="900" b="1" i="1" dirty="0">
                <a:solidFill>
                  <a:srgbClr val="FFD200"/>
                </a:solidFill>
                <a:latin typeface="Calibri" pitchFamily="34" charset="0"/>
                <a:ea typeface="Calibri" pitchFamily="34" charset="-122"/>
                <a:cs typeface="Calibri" pitchFamily="34" charset="-120"/>
              </a:rPr>
              <a:t>Owns: the work</a:t>
            </a:r>
            <a:endParaRPr lang="en-US" sz="900" dirty="0"/>
          </a:p>
        </p:txBody>
      </p:sp>
      <p:sp>
        <p:nvSpPr>
          <p:cNvPr id="12" name="Shape 10"/>
          <p:cNvSpPr/>
          <p:nvPr/>
        </p:nvSpPr>
        <p:spPr>
          <a:xfrm>
            <a:off x="4297680" y="1847088"/>
            <a:ext cx="3520440" cy="475488"/>
          </a:xfrm>
          <a:prstGeom prst="rect">
            <a:avLst/>
          </a:prstGeom>
          <a:solidFill>
            <a:srgbClr val="005DAA"/>
          </a:solidFill>
          <a:ln/>
        </p:spPr>
      </p:sp>
      <p:sp>
        <p:nvSpPr>
          <p:cNvPr id="13" name="Text 11"/>
          <p:cNvSpPr/>
          <p:nvPr/>
        </p:nvSpPr>
        <p:spPr>
          <a:xfrm>
            <a:off x="4443984" y="1938528"/>
            <a:ext cx="2194560" cy="219456"/>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CONTRACT</a:t>
            </a:r>
            <a:endParaRPr lang="en-US" sz="1000" dirty="0"/>
          </a:p>
        </p:txBody>
      </p:sp>
      <p:sp>
        <p:nvSpPr>
          <p:cNvPr id="14" name="Text 12"/>
          <p:cNvSpPr/>
          <p:nvPr/>
        </p:nvSpPr>
        <p:spPr>
          <a:xfrm>
            <a:off x="6309360" y="1956816"/>
            <a:ext cx="1371600" cy="201168"/>
          </a:xfrm>
          <a:prstGeom prst="rect">
            <a:avLst/>
          </a:prstGeom>
          <a:noFill/>
          <a:ln/>
        </p:spPr>
        <p:txBody>
          <a:bodyPr wrap="square" lIns="0" tIns="0" rIns="0" bIns="0" rtlCol="0" anchor="ctr"/>
          <a:lstStyle/>
          <a:p>
            <a:pPr algn="r" indent="0" marL="0">
              <a:buNone/>
            </a:pPr>
            <a:r>
              <a:rPr lang="en-US" sz="850" b="1" dirty="0">
                <a:solidFill>
                  <a:srgbClr val="CFE0F5"/>
                </a:solidFill>
                <a:latin typeface="Calibri" pitchFamily="34" charset="0"/>
                <a:ea typeface="Calibri" pitchFamily="34" charset="-122"/>
                <a:cs typeface="Calibri" pitchFamily="34" charset="-120"/>
              </a:rPr>
              <a:t>Monthly</a:t>
            </a:r>
            <a:endParaRPr lang="en-US" sz="850" dirty="0"/>
          </a:p>
        </p:txBody>
      </p:sp>
      <p:sp>
        <p:nvSpPr>
          <p:cNvPr id="15" name="Shape 13"/>
          <p:cNvSpPr/>
          <p:nvPr/>
        </p:nvSpPr>
        <p:spPr>
          <a:xfrm>
            <a:off x="4297680" y="2322576"/>
            <a:ext cx="3520440" cy="1700784"/>
          </a:xfrm>
          <a:prstGeom prst="rect">
            <a:avLst/>
          </a:prstGeom>
          <a:solidFill>
            <a:srgbClr val="F4F7FB"/>
          </a:solidFill>
          <a:ln w="6350">
            <a:solidFill>
              <a:srgbClr val="D7DDE5"/>
            </a:solidFill>
            <a:prstDash val="solid"/>
          </a:ln>
        </p:spPr>
      </p:sp>
      <p:sp>
        <p:nvSpPr>
          <p:cNvPr id="16" name="Text 14"/>
          <p:cNvSpPr/>
          <p:nvPr/>
        </p:nvSpPr>
        <p:spPr>
          <a:xfrm>
            <a:off x="4480560" y="2432304"/>
            <a:ext cx="3182112" cy="1463040"/>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Pod ↔ Zephyr / IntOps / Capacity liaisons</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Are the contracts actually delivering?</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Gaps reviewed, prioritized, dated</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Pull-in frequency and response times reviewed</a:t>
            </a:r>
            <a:endParaRPr lang="en-US" sz="920" dirty="0"/>
          </a:p>
        </p:txBody>
      </p:sp>
      <p:sp>
        <p:nvSpPr>
          <p:cNvPr id="17" name="Shape 15"/>
          <p:cNvSpPr/>
          <p:nvPr/>
        </p:nvSpPr>
        <p:spPr>
          <a:xfrm>
            <a:off x="4297680" y="4023360"/>
            <a:ext cx="3520440" cy="329184"/>
          </a:xfrm>
          <a:prstGeom prst="rect">
            <a:avLst/>
          </a:prstGeom>
          <a:solidFill>
            <a:srgbClr val="0B2350"/>
          </a:solidFill>
          <a:ln/>
        </p:spPr>
      </p:sp>
      <p:sp>
        <p:nvSpPr>
          <p:cNvPr id="18" name="Text 16"/>
          <p:cNvSpPr/>
          <p:nvPr/>
        </p:nvSpPr>
        <p:spPr>
          <a:xfrm>
            <a:off x="4443984" y="4087368"/>
            <a:ext cx="3200400" cy="201168"/>
          </a:xfrm>
          <a:prstGeom prst="rect">
            <a:avLst/>
          </a:prstGeom>
          <a:noFill/>
          <a:ln/>
        </p:spPr>
        <p:txBody>
          <a:bodyPr wrap="square" lIns="0" tIns="0" rIns="0" bIns="0" rtlCol="0" anchor="ctr"/>
          <a:lstStyle/>
          <a:p>
            <a:pPr indent="0" marL="0">
              <a:buNone/>
            </a:pPr>
            <a:r>
              <a:rPr lang="en-US" sz="900" b="1" i="1" dirty="0">
                <a:solidFill>
                  <a:srgbClr val="FFD200"/>
                </a:solidFill>
                <a:latin typeface="Calibri" pitchFamily="34" charset="0"/>
                <a:ea typeface="Calibri" pitchFamily="34" charset="-122"/>
                <a:cs typeface="Calibri" pitchFamily="34" charset="-120"/>
              </a:rPr>
              <a:t>Owns: the seams</a:t>
            </a:r>
            <a:endParaRPr lang="en-US" sz="900" dirty="0"/>
          </a:p>
        </p:txBody>
      </p:sp>
      <p:sp>
        <p:nvSpPr>
          <p:cNvPr id="19" name="Shape 17"/>
          <p:cNvSpPr/>
          <p:nvPr/>
        </p:nvSpPr>
        <p:spPr>
          <a:xfrm>
            <a:off x="8028432" y="1847088"/>
            <a:ext cx="3520440" cy="475488"/>
          </a:xfrm>
          <a:prstGeom prst="rect">
            <a:avLst/>
          </a:prstGeom>
          <a:solidFill>
            <a:srgbClr val="4C9A2A"/>
          </a:solidFill>
          <a:ln/>
        </p:spPr>
      </p:sp>
      <p:sp>
        <p:nvSpPr>
          <p:cNvPr id="20" name="Text 18"/>
          <p:cNvSpPr/>
          <p:nvPr/>
        </p:nvSpPr>
        <p:spPr>
          <a:xfrm>
            <a:off x="8174736" y="1938528"/>
            <a:ext cx="2194560" cy="219456"/>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PROGRAM</a:t>
            </a:r>
            <a:endParaRPr lang="en-US" sz="1000" dirty="0"/>
          </a:p>
        </p:txBody>
      </p:sp>
      <p:sp>
        <p:nvSpPr>
          <p:cNvPr id="21" name="Text 19"/>
          <p:cNvSpPr/>
          <p:nvPr/>
        </p:nvSpPr>
        <p:spPr>
          <a:xfrm>
            <a:off x="10040112" y="1956816"/>
            <a:ext cx="1371600" cy="201168"/>
          </a:xfrm>
          <a:prstGeom prst="rect">
            <a:avLst/>
          </a:prstGeom>
          <a:noFill/>
          <a:ln/>
        </p:spPr>
        <p:txBody>
          <a:bodyPr wrap="square" lIns="0" tIns="0" rIns="0" bIns="0" rtlCol="0" anchor="ctr"/>
          <a:lstStyle/>
          <a:p>
            <a:pPr algn="r" indent="0" marL="0">
              <a:buNone/>
            </a:pPr>
            <a:r>
              <a:rPr lang="en-US" sz="850" b="1" dirty="0">
                <a:solidFill>
                  <a:srgbClr val="CFE0F5"/>
                </a:solidFill>
                <a:latin typeface="Calibri" pitchFamily="34" charset="0"/>
                <a:ea typeface="Calibri" pitchFamily="34" charset="-122"/>
                <a:cs typeface="Calibri" pitchFamily="34" charset="-120"/>
              </a:rPr>
              <a:t>Monthly</a:t>
            </a:r>
            <a:endParaRPr lang="en-US" sz="850" dirty="0"/>
          </a:p>
        </p:txBody>
      </p:sp>
      <p:sp>
        <p:nvSpPr>
          <p:cNvPr id="22" name="Shape 20"/>
          <p:cNvSpPr/>
          <p:nvPr/>
        </p:nvSpPr>
        <p:spPr>
          <a:xfrm>
            <a:off x="8028432" y="2322576"/>
            <a:ext cx="3520440" cy="1700784"/>
          </a:xfrm>
          <a:prstGeom prst="rect">
            <a:avLst/>
          </a:prstGeom>
          <a:solidFill>
            <a:srgbClr val="F4F7FB"/>
          </a:solidFill>
          <a:ln w="6350">
            <a:solidFill>
              <a:srgbClr val="D7DDE5"/>
            </a:solidFill>
            <a:prstDash val="solid"/>
          </a:ln>
        </p:spPr>
      </p:sp>
      <p:sp>
        <p:nvSpPr>
          <p:cNvPr id="23" name="Text 21"/>
          <p:cNvSpPr/>
          <p:nvPr/>
        </p:nvSpPr>
        <p:spPr>
          <a:xfrm>
            <a:off x="8211312" y="2432304"/>
            <a:ext cx="3182112" cy="1463040"/>
          </a:xfrm>
          <a:prstGeom prst="rect">
            <a:avLst/>
          </a:prstGeom>
          <a:noFill/>
          <a:ln/>
        </p:spPr>
        <p:txBody>
          <a:bodyPr wrap="square" lIns="0" tIns="0" rIns="0" bIns="0" rtlCol="0" anchor="ctr"/>
          <a:lstStyle/>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Zephyr On-Prem Program governance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Monthly status on the horizontal pod — standing agenda item, own RAG</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KRI escalations land here</a:t>
            </a:r>
            <a:endParaRPr lang="en-US" sz="920" dirty="0"/>
          </a:p>
          <a:p>
            <a:pPr marL="342900" indent="-342900">
              <a:lnSpc>
                <a:spcPts val="1200"/>
              </a:lnSpc>
              <a:spcAft>
                <a:spcPts val="400"/>
              </a:spcAft>
              <a:buSzPct val="100000"/>
              <a:buChar char="•"/>
            </a:pPr>
            <a:r>
              <a:rPr lang="en-US" sz="920" dirty="0">
                <a:solidFill>
                  <a:srgbClr val="1E252E"/>
                </a:solidFill>
                <a:latin typeface="Calibri" pitchFamily="34" charset="0"/>
                <a:ea typeface="Calibri" pitchFamily="34" charset="-122"/>
                <a:cs typeface="Calibri" pitchFamily="34" charset="-120"/>
              </a:rPr>
              <a:t>The 30/60/90 gates and the GO / ADJUST / STOP verdict</a:t>
            </a:r>
            <a:endParaRPr lang="en-US" sz="920" dirty="0"/>
          </a:p>
        </p:txBody>
      </p:sp>
      <p:sp>
        <p:nvSpPr>
          <p:cNvPr id="24" name="Shape 22"/>
          <p:cNvSpPr/>
          <p:nvPr/>
        </p:nvSpPr>
        <p:spPr>
          <a:xfrm>
            <a:off x="8028432" y="4023360"/>
            <a:ext cx="3520440" cy="329184"/>
          </a:xfrm>
          <a:prstGeom prst="rect">
            <a:avLst/>
          </a:prstGeom>
          <a:solidFill>
            <a:srgbClr val="0B2350"/>
          </a:solidFill>
          <a:ln/>
        </p:spPr>
      </p:sp>
      <p:sp>
        <p:nvSpPr>
          <p:cNvPr id="25" name="Text 23"/>
          <p:cNvSpPr/>
          <p:nvPr/>
        </p:nvSpPr>
        <p:spPr>
          <a:xfrm>
            <a:off x="8174736" y="4087368"/>
            <a:ext cx="3200400" cy="201168"/>
          </a:xfrm>
          <a:prstGeom prst="rect">
            <a:avLst/>
          </a:prstGeom>
          <a:noFill/>
          <a:ln/>
        </p:spPr>
        <p:txBody>
          <a:bodyPr wrap="square" lIns="0" tIns="0" rIns="0" bIns="0" rtlCol="0" anchor="ctr"/>
          <a:lstStyle/>
          <a:p>
            <a:pPr indent="0" marL="0">
              <a:buNone/>
            </a:pPr>
            <a:r>
              <a:rPr lang="en-US" sz="900" b="1" i="1" dirty="0">
                <a:solidFill>
                  <a:srgbClr val="FFD200"/>
                </a:solidFill>
                <a:latin typeface="Calibri" pitchFamily="34" charset="0"/>
                <a:ea typeface="Calibri" pitchFamily="34" charset="-122"/>
                <a:cs typeface="Calibri" pitchFamily="34" charset="-120"/>
              </a:rPr>
              <a:t>Owns: the verdict</a:t>
            </a:r>
            <a:endParaRPr lang="en-US" sz="900" dirty="0"/>
          </a:p>
        </p:txBody>
      </p:sp>
      <p:sp>
        <p:nvSpPr>
          <p:cNvPr id="26" name="Shape 24"/>
          <p:cNvSpPr/>
          <p:nvPr/>
        </p:nvSpPr>
        <p:spPr>
          <a:xfrm>
            <a:off x="566928" y="4517136"/>
            <a:ext cx="11027664" cy="566928"/>
          </a:xfrm>
          <a:prstGeom prst="rect">
            <a:avLst/>
          </a:prstGeom>
          <a:solidFill>
            <a:srgbClr val="EEF2F8"/>
          </a:solidFill>
          <a:ln/>
        </p:spPr>
      </p:sp>
      <p:sp>
        <p:nvSpPr>
          <p:cNvPr id="27" name="Text 25"/>
          <p:cNvSpPr/>
          <p:nvPr/>
        </p:nvSpPr>
        <p:spPr>
          <a:xfrm>
            <a:off x="768096" y="4645152"/>
            <a:ext cx="10625328" cy="347472"/>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One pipe, not three.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The monthly program report is the same Mission Control view the pod reads daily. If anyone starts assembling a program pack by hand, the pod has generated exactly the toil it exists to eliminate.</a:t>
            </a:r>
            <a:endParaRPr lang="en-US" sz="1100" dirty="0"/>
          </a:p>
        </p:txBody>
      </p:sp>
      <p:sp>
        <p:nvSpPr>
          <p:cNvPr id="28" name="Shape 26"/>
          <p:cNvSpPr/>
          <p:nvPr/>
        </p:nvSpPr>
        <p:spPr>
          <a:xfrm>
            <a:off x="566928" y="5193792"/>
            <a:ext cx="11027664" cy="566928"/>
          </a:xfrm>
          <a:prstGeom prst="rect">
            <a:avLst/>
          </a:prstGeom>
          <a:solidFill>
            <a:srgbClr val="0B2350"/>
          </a:solidFill>
          <a:ln/>
        </p:spPr>
      </p:sp>
      <p:sp>
        <p:nvSpPr>
          <p:cNvPr id="29" name="Text 27"/>
          <p:cNvSpPr/>
          <p:nvPr/>
        </p:nvSpPr>
        <p:spPr>
          <a:xfrm>
            <a:off x="768096" y="5321808"/>
            <a:ext cx="10625328" cy="347472"/>
          </a:xfrm>
          <a:prstGeom prst="rect">
            <a:avLst/>
          </a:prstGeom>
          <a:noFill/>
          <a:ln/>
        </p:spPr>
        <p:txBody>
          <a:bodyPr wrap="square" lIns="0" tIns="0" rIns="0" bIns="0" rtlCol="0" anchor="ctr"/>
          <a:lstStyle/>
          <a:p>
            <a:pPr indent="0" marL="0">
              <a:lnSpc>
                <a:spcPts val="1450"/>
              </a:lnSpc>
              <a:buNone/>
            </a:pPr>
            <a:r>
              <a:rPr lang="en-US" sz="1100" b="1" dirty="0">
                <a:solidFill>
                  <a:srgbClr val="FFD200"/>
                </a:solidFill>
                <a:latin typeface="Calibri" pitchFamily="34" charset="0"/>
                <a:ea typeface="Calibri" pitchFamily="34" charset="-122"/>
                <a:cs typeface="Calibri" pitchFamily="34" charset="-120"/>
              </a:rPr>
              <a:t>Why the pod doesn't own the verdict:  </a:t>
            </a:r>
            <a:pPr indent="0" marL="0">
              <a:lnSpc>
                <a:spcPts val="1450"/>
              </a:lnSpc>
              <a:buNone/>
            </a:pPr>
            <a:r>
              <a:rPr lang="en-US" sz="1100" dirty="0">
                <a:solidFill>
                  <a:srgbClr val="E8EFF9"/>
                </a:solidFill>
                <a:latin typeface="Calibri" pitchFamily="34" charset="0"/>
                <a:ea typeface="Calibri" pitchFamily="34" charset="-122"/>
                <a:cs typeface="Calibri" pitchFamily="34" charset="-120"/>
              </a:rPr>
              <a:t>a pod grading its own pilot is worthless. The verdict sits with program governance, against criteria agreed on day 0.</a:t>
            </a:r>
            <a:endParaRPr lang="en-US" sz="1100" dirty="0"/>
          </a:p>
        </p:txBody>
      </p:sp>
      <p:sp>
        <p:nvSpPr>
          <p:cNvPr id="30" name="Text 28"/>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HOW WE OPERATE  ·  CAPACITY</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Who burns the toil</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BAU always wins a fair fight against improvement work. So we don't leave the fight fair — but we don't fix the roster either.</a:t>
            </a:r>
            <a:endParaRPr lang="en-US" sz="1200" dirty="0"/>
          </a:p>
        </p:txBody>
      </p:sp>
      <p:sp>
        <p:nvSpPr>
          <p:cNvPr id="5" name="Shape 3"/>
          <p:cNvSpPr/>
          <p:nvPr/>
        </p:nvSpPr>
        <p:spPr>
          <a:xfrm>
            <a:off x="566928" y="1920240"/>
            <a:ext cx="3520440" cy="512064"/>
          </a:xfrm>
          <a:prstGeom prst="rect">
            <a:avLst/>
          </a:prstGeom>
          <a:solidFill>
            <a:srgbClr val="FFD200"/>
          </a:solidFill>
          <a:ln/>
        </p:spPr>
      </p:sp>
      <p:sp>
        <p:nvSpPr>
          <p:cNvPr id="6" name="Text 4"/>
          <p:cNvSpPr/>
          <p:nvPr/>
        </p:nvSpPr>
        <p:spPr>
          <a:xfrm>
            <a:off x="713232" y="1993392"/>
            <a:ext cx="3200400" cy="164592"/>
          </a:xfrm>
          <a:prstGeom prst="rect">
            <a:avLst/>
          </a:prstGeom>
          <a:noFill/>
          <a:ln/>
        </p:spPr>
        <p:txBody>
          <a:bodyPr wrap="square" lIns="0" tIns="0" rIns="0" bIns="0" rtlCol="0" anchor="ctr"/>
          <a:lstStyle/>
          <a:p>
            <a:pPr indent="0" marL="0">
              <a:buNone/>
            </a:pPr>
            <a:r>
              <a:rPr lang="en-US" sz="750" b="1" spc="150" kern="0" dirty="0">
                <a:solidFill>
                  <a:srgbClr val="0B2350"/>
                </a:solidFill>
                <a:latin typeface="Calibri" pitchFamily="34" charset="0"/>
                <a:ea typeface="Calibri" pitchFamily="34" charset="-122"/>
                <a:cs typeface="Calibri" pitchFamily="34" charset="-120"/>
              </a:rPr>
              <a:t>DISCRETION</a:t>
            </a:r>
            <a:endParaRPr lang="en-US" sz="750" dirty="0"/>
          </a:p>
        </p:txBody>
      </p:sp>
      <p:sp>
        <p:nvSpPr>
          <p:cNvPr id="7" name="Text 5"/>
          <p:cNvSpPr/>
          <p:nvPr/>
        </p:nvSpPr>
        <p:spPr>
          <a:xfrm>
            <a:off x="713232" y="2157984"/>
            <a:ext cx="3200400" cy="237744"/>
          </a:xfrm>
          <a:prstGeom prst="rect">
            <a:avLst/>
          </a:prstGeom>
          <a:noFill/>
          <a:ln/>
        </p:spPr>
        <p:txBody>
          <a:bodyPr wrap="square" lIns="0" tIns="0" rIns="0" bIns="0" rtlCol="0" anchor="ctr"/>
          <a:lstStyle/>
          <a:p>
            <a:pPr indent="0" marL="0">
              <a:buNone/>
            </a:pPr>
            <a:r>
              <a:rPr lang="en-US" sz="1350" b="1" dirty="0">
                <a:solidFill>
                  <a:srgbClr val="0B2350"/>
                </a:solidFill>
                <a:latin typeface="Cambria" pitchFamily="34" charset="0"/>
                <a:ea typeface="Cambria" pitchFamily="34" charset="-122"/>
                <a:cs typeface="Cambria" pitchFamily="34" charset="-120"/>
              </a:rPr>
              <a:t>The pod lead decides</a:t>
            </a:r>
            <a:endParaRPr lang="en-US" sz="1350" dirty="0"/>
          </a:p>
        </p:txBody>
      </p:sp>
      <p:sp>
        <p:nvSpPr>
          <p:cNvPr id="8" name="Shape 6"/>
          <p:cNvSpPr/>
          <p:nvPr/>
        </p:nvSpPr>
        <p:spPr>
          <a:xfrm>
            <a:off x="566928" y="2432304"/>
            <a:ext cx="3520440" cy="1828800"/>
          </a:xfrm>
          <a:prstGeom prst="rect">
            <a:avLst/>
          </a:prstGeom>
          <a:solidFill>
            <a:srgbClr val="F4F7FB"/>
          </a:solidFill>
          <a:ln w="6350">
            <a:solidFill>
              <a:srgbClr val="D7DDE5"/>
            </a:solidFill>
            <a:prstDash val="solid"/>
          </a:ln>
        </p:spPr>
      </p:sp>
      <p:sp>
        <p:nvSpPr>
          <p:cNvPr id="9" name="Text 7"/>
          <p:cNvSpPr/>
          <p:nvPr/>
        </p:nvSpPr>
        <p:spPr>
          <a:xfrm>
            <a:off x="749808" y="2560320"/>
            <a:ext cx="3182112" cy="1591056"/>
          </a:xfrm>
          <a:prstGeom prst="rect">
            <a:avLst/>
          </a:prstGeom>
          <a:noFill/>
          <a:ln/>
        </p:spPr>
        <p:txBody>
          <a:bodyPr wrap="square" lIns="0" tIns="0" rIns="0" bIns="0" rtlCol="0" anchor="ctr"/>
          <a:lstStyle/>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Who burns the toil, and when — the pod lead's call</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Opportunistic: whoever has cycles, automates</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No fixed roster split — a fixed split is an automation team with a spreadsheet</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Dynamic week to week as BAU ebbs and flows</a:t>
            </a:r>
            <a:endParaRPr lang="en-US" sz="920" dirty="0"/>
          </a:p>
        </p:txBody>
      </p:sp>
      <p:sp>
        <p:nvSpPr>
          <p:cNvPr id="10" name="Shape 8"/>
          <p:cNvSpPr/>
          <p:nvPr/>
        </p:nvSpPr>
        <p:spPr>
          <a:xfrm>
            <a:off x="4297680" y="1920240"/>
            <a:ext cx="3520440" cy="512064"/>
          </a:xfrm>
          <a:prstGeom prst="rect">
            <a:avLst/>
          </a:prstGeom>
          <a:solidFill>
            <a:srgbClr val="005DAA"/>
          </a:solidFill>
          <a:ln/>
        </p:spPr>
      </p:sp>
      <p:sp>
        <p:nvSpPr>
          <p:cNvPr id="11" name="Text 9"/>
          <p:cNvSpPr/>
          <p:nvPr/>
        </p:nvSpPr>
        <p:spPr>
          <a:xfrm>
            <a:off x="4443984" y="1993392"/>
            <a:ext cx="3200400" cy="164592"/>
          </a:xfrm>
          <a:prstGeom prst="rect">
            <a:avLst/>
          </a:prstGeom>
          <a:noFill/>
          <a:ln/>
        </p:spPr>
        <p:txBody>
          <a:bodyPr wrap="square" lIns="0" tIns="0" rIns="0" bIns="0" rtlCol="0" anchor="ctr"/>
          <a:lstStyle/>
          <a:p>
            <a:pPr indent="0" marL="0">
              <a:buNone/>
            </a:pPr>
            <a:r>
              <a:rPr lang="en-US" sz="750" b="1" spc="150" kern="0" dirty="0">
                <a:solidFill>
                  <a:srgbClr val="CFE0F5"/>
                </a:solidFill>
                <a:latin typeface="Calibri" pitchFamily="34" charset="0"/>
                <a:ea typeface="Calibri" pitchFamily="34" charset="-122"/>
                <a:cs typeface="Calibri" pitchFamily="34" charset="-120"/>
              </a:rPr>
              <a:t>VISIBILITY</a:t>
            </a:r>
            <a:endParaRPr lang="en-US" sz="750" dirty="0"/>
          </a:p>
        </p:txBody>
      </p:sp>
      <p:sp>
        <p:nvSpPr>
          <p:cNvPr id="12" name="Text 10"/>
          <p:cNvSpPr/>
          <p:nvPr/>
        </p:nvSpPr>
        <p:spPr>
          <a:xfrm>
            <a:off x="4443984" y="2157984"/>
            <a:ext cx="320040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board makes it visible</a:t>
            </a:r>
            <a:endParaRPr lang="en-US" sz="1350" dirty="0"/>
          </a:p>
        </p:txBody>
      </p:sp>
      <p:sp>
        <p:nvSpPr>
          <p:cNvPr id="13" name="Shape 11"/>
          <p:cNvSpPr/>
          <p:nvPr/>
        </p:nvSpPr>
        <p:spPr>
          <a:xfrm>
            <a:off x="4297680" y="2432304"/>
            <a:ext cx="3520440" cy="1828800"/>
          </a:xfrm>
          <a:prstGeom prst="rect">
            <a:avLst/>
          </a:prstGeom>
          <a:solidFill>
            <a:srgbClr val="F4F7FB"/>
          </a:solidFill>
          <a:ln w="6350">
            <a:solidFill>
              <a:srgbClr val="D7DDE5"/>
            </a:solidFill>
            <a:prstDash val="solid"/>
          </a:ln>
        </p:spPr>
      </p:sp>
      <p:sp>
        <p:nvSpPr>
          <p:cNvPr id="14" name="Text 12"/>
          <p:cNvSpPr/>
          <p:nvPr/>
        </p:nvSpPr>
        <p:spPr>
          <a:xfrm>
            <a:off x="4480560" y="2560320"/>
            <a:ext cx="3182112" cy="1591056"/>
          </a:xfrm>
          <a:prstGeom prst="rect">
            <a:avLst/>
          </a:prstGeom>
          <a:noFill/>
          <a:ln/>
        </p:spPr>
        <p:txBody>
          <a:bodyPr wrap="square" lIns="0" tIns="0" rIns="0" bIns="0" rtlCol="0" anchor="ctr"/>
          <a:lstStyle/>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"Toil elimination" is a first-class work type</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Protected time shows up as items, not intentions</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Toil % tracked weekly in Mission Control</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Invisible effort is the first thing BAU eats</a:t>
            </a:r>
            <a:endParaRPr lang="en-US" sz="920" dirty="0"/>
          </a:p>
        </p:txBody>
      </p:sp>
      <p:sp>
        <p:nvSpPr>
          <p:cNvPr id="15" name="Shape 13"/>
          <p:cNvSpPr/>
          <p:nvPr/>
        </p:nvSpPr>
        <p:spPr>
          <a:xfrm>
            <a:off x="8028432" y="1920240"/>
            <a:ext cx="3520440" cy="512064"/>
          </a:xfrm>
          <a:prstGeom prst="rect">
            <a:avLst/>
          </a:prstGeom>
          <a:solidFill>
            <a:srgbClr val="4C9A2A"/>
          </a:solidFill>
          <a:ln/>
        </p:spPr>
      </p:sp>
      <p:sp>
        <p:nvSpPr>
          <p:cNvPr id="16" name="Text 14"/>
          <p:cNvSpPr/>
          <p:nvPr/>
        </p:nvSpPr>
        <p:spPr>
          <a:xfrm>
            <a:off x="8174736" y="1993392"/>
            <a:ext cx="3200400" cy="164592"/>
          </a:xfrm>
          <a:prstGeom prst="rect">
            <a:avLst/>
          </a:prstGeom>
          <a:noFill/>
          <a:ln/>
        </p:spPr>
        <p:txBody>
          <a:bodyPr wrap="square" lIns="0" tIns="0" rIns="0" bIns="0" rtlCol="0" anchor="ctr"/>
          <a:lstStyle/>
          <a:p>
            <a:pPr indent="0" marL="0">
              <a:buNone/>
            </a:pPr>
            <a:r>
              <a:rPr lang="en-US" sz="750" b="1" spc="150" kern="0" dirty="0">
                <a:solidFill>
                  <a:srgbClr val="CFE0F5"/>
                </a:solidFill>
                <a:latin typeface="Calibri" pitchFamily="34" charset="0"/>
                <a:ea typeface="Calibri" pitchFamily="34" charset="-122"/>
                <a:cs typeface="Calibri" pitchFamily="34" charset="-120"/>
              </a:rPr>
              <a:t>SAFETY NET</a:t>
            </a:r>
            <a:endParaRPr lang="en-US" sz="750" dirty="0"/>
          </a:p>
        </p:txBody>
      </p:sp>
      <p:sp>
        <p:nvSpPr>
          <p:cNvPr id="17" name="Text 15"/>
          <p:cNvSpPr/>
          <p:nvPr/>
        </p:nvSpPr>
        <p:spPr>
          <a:xfrm>
            <a:off x="8174736" y="2157984"/>
            <a:ext cx="320040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KRI is the backstop</a:t>
            </a:r>
            <a:endParaRPr lang="en-US" sz="1350" dirty="0"/>
          </a:p>
        </p:txBody>
      </p:sp>
      <p:sp>
        <p:nvSpPr>
          <p:cNvPr id="18" name="Shape 16"/>
          <p:cNvSpPr/>
          <p:nvPr/>
        </p:nvSpPr>
        <p:spPr>
          <a:xfrm>
            <a:off x="8028432" y="2432304"/>
            <a:ext cx="3520440" cy="1828800"/>
          </a:xfrm>
          <a:prstGeom prst="rect">
            <a:avLst/>
          </a:prstGeom>
          <a:solidFill>
            <a:srgbClr val="F4F7FB"/>
          </a:solidFill>
          <a:ln w="6350">
            <a:solidFill>
              <a:srgbClr val="D7DDE5"/>
            </a:solidFill>
            <a:prstDash val="solid"/>
          </a:ln>
        </p:spPr>
      </p:sp>
      <p:sp>
        <p:nvSpPr>
          <p:cNvPr id="19" name="Text 17"/>
          <p:cNvSpPr/>
          <p:nvPr/>
        </p:nvSpPr>
        <p:spPr>
          <a:xfrm>
            <a:off x="8211312" y="2560320"/>
            <a:ext cx="3182112" cy="1591056"/>
          </a:xfrm>
          <a:prstGeom prst="rect">
            <a:avLst/>
          </a:prstGeom>
          <a:noFill/>
          <a:ln/>
        </p:spPr>
        <p:txBody>
          <a:bodyPr wrap="square" lIns="0" tIns="0" rIns="0" bIns="0" rtlCol="0" anchor="ctr"/>
          <a:lstStyle/>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Toil-elimination capacity below threshold for 2 consecutive weeks → KRI fires</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Escalates to Zephyr On-Prem Program governance</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Surfaces a slow BAU squeeze at day 30, not day 60</a:t>
            </a:r>
            <a:endParaRPr lang="en-US" sz="920" dirty="0"/>
          </a:p>
          <a:p>
            <a:pPr marL="342900" indent="-342900">
              <a:lnSpc>
                <a:spcPts val="1200"/>
              </a:lnSpc>
              <a:spcAft>
                <a:spcPts val="450"/>
              </a:spcAft>
              <a:buSzPct val="100000"/>
              <a:buChar char="•"/>
            </a:pPr>
            <a:r>
              <a:rPr lang="en-US" sz="920" dirty="0">
                <a:solidFill>
                  <a:srgbClr val="1E252E"/>
                </a:solidFill>
                <a:latin typeface="Calibri" pitchFamily="34" charset="0"/>
                <a:ea typeface="Calibri" pitchFamily="34" charset="-122"/>
                <a:cs typeface="Calibri" pitchFamily="34" charset="-120"/>
              </a:rPr>
              <a:t>Discretion with a tripwire — not a rule</a:t>
            </a:r>
            <a:endParaRPr lang="en-US" sz="920" dirty="0"/>
          </a:p>
        </p:txBody>
      </p:sp>
      <p:sp>
        <p:nvSpPr>
          <p:cNvPr id="20" name="Shape 18"/>
          <p:cNvSpPr/>
          <p:nvPr/>
        </p:nvSpPr>
        <p:spPr>
          <a:xfrm>
            <a:off x="566928" y="4480560"/>
            <a:ext cx="11027664" cy="1261872"/>
          </a:xfrm>
          <a:prstGeom prst="rect">
            <a:avLst/>
          </a:prstGeom>
          <a:solidFill>
            <a:srgbClr val="0B2350"/>
          </a:solidFill>
          <a:ln/>
        </p:spPr>
      </p:sp>
      <p:sp>
        <p:nvSpPr>
          <p:cNvPr id="21" name="Text 19"/>
          <p:cNvSpPr/>
          <p:nvPr/>
        </p:nvSpPr>
        <p:spPr>
          <a:xfrm>
            <a:off x="768096" y="4599432"/>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WHY NOT A FIXED RINGFENCE</a:t>
            </a:r>
            <a:endParaRPr lang="en-US" sz="850" dirty="0"/>
          </a:p>
        </p:txBody>
      </p:sp>
      <p:sp>
        <p:nvSpPr>
          <p:cNvPr id="22" name="Text 20"/>
          <p:cNvSpPr/>
          <p:nvPr/>
        </p:nvSpPr>
        <p:spPr>
          <a:xfrm>
            <a:off x="768096" y="4791456"/>
            <a:ext cx="10625328" cy="877824"/>
          </a:xfrm>
          <a:prstGeom prst="rect">
            <a:avLst/>
          </a:prstGeom>
          <a:noFill/>
          <a:ln/>
        </p:spPr>
        <p:txBody>
          <a:bodyPr wrap="square" lIns="0" tIns="0" rIns="0" bIns="0" rtlCol="0" anchor="ctr"/>
          <a:lstStyle/>
          <a:p>
            <a:pPr indent="0" marL="0">
              <a:lnSpc>
                <a:spcPts val="1380"/>
              </a:lnSpc>
              <a:buNone/>
            </a:pPr>
            <a:r>
              <a:rPr lang="en-US" sz="1050" b="1" dirty="0">
                <a:solidFill>
                  <a:srgbClr val="FFD200"/>
                </a:solidFill>
                <a:latin typeface="Calibri" pitchFamily="34" charset="0"/>
                <a:ea typeface="Calibri" pitchFamily="34" charset="-122"/>
                <a:cs typeface="Calibri" pitchFamily="34" charset="-120"/>
              </a:rPr>
              <a:t>Because ringfencing by people builds an automation team by accident, whatever we call it. </a:t>
            </a:r>
            <a:endParaRPr lang="en-US" sz="1050" dirty="0"/>
          </a:p>
          <a:p>
            <a:pPr indent="0" marL="0">
              <a:lnSpc>
                <a:spcPts val="1380"/>
              </a:lnSpc>
              <a:buNone/>
            </a:pPr>
            <a:r>
              <a:rPr lang="en-US" sz="1050" dirty="0">
                <a:solidFill>
                  <a:srgbClr val="E8EFF9"/>
                </a:solidFill>
                <a:latin typeface="Calibri" pitchFamily="34" charset="0"/>
                <a:ea typeface="Calibri" pitchFamily="34" charset="-122"/>
                <a:cs typeface="Calibri" pitchFamily="34" charset="-120"/>
              </a:rPr>
              <a:t>"These three automate, those five carry BAU" is exactly the caste system we're removing — and it puts the automation in the hands of the people who don't feel the pain. The pod lead's discretion is the only version consistent with "anyone with cycles automates". The honest risk is the mirror image: if it's everyone's job, it can become nobody's job. That's what the board and the KRI are for.</a:t>
            </a:r>
            <a:endParaRPr lang="en-US" sz="1050" dirty="0"/>
          </a:p>
        </p:txBody>
      </p:sp>
      <p:sp>
        <p:nvSpPr>
          <p:cNvPr id="23" name="Text 2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ARTIFACTS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Where all of this lives</a:t>
            </a:r>
            <a:endParaRPr lang="en-US" sz="3100" dirty="0"/>
          </a:p>
        </p:txBody>
      </p:sp>
      <p:sp>
        <p:nvSpPr>
          <p:cNvPr id="4" name="Shape 2"/>
          <p:cNvSpPr/>
          <p:nvPr/>
        </p:nvSpPr>
        <p:spPr>
          <a:xfrm>
            <a:off x="566928" y="1298448"/>
            <a:ext cx="11027664" cy="548640"/>
          </a:xfrm>
          <a:prstGeom prst="rect">
            <a:avLst/>
          </a:prstGeom>
          <a:solidFill>
            <a:srgbClr val="0B2350"/>
          </a:solidFill>
          <a:ln/>
        </p:spPr>
      </p:sp>
      <p:sp>
        <p:nvSpPr>
          <p:cNvPr id="5" name="Text 3"/>
          <p:cNvSpPr/>
          <p:nvPr/>
        </p:nvSpPr>
        <p:spPr>
          <a:xfrm>
            <a:off x="804672" y="1408176"/>
            <a:ext cx="10552176"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deck persuades.  The charter governs.  The board records.  Mission Control reports.</a:t>
            </a:r>
            <a:endParaRPr lang="en-US" sz="1600" dirty="0"/>
          </a:p>
        </p:txBody>
      </p:sp>
      <p:sp>
        <p:nvSpPr>
          <p:cNvPr id="6" name="Shape 4"/>
          <p:cNvSpPr/>
          <p:nvPr/>
        </p:nvSpPr>
        <p:spPr>
          <a:xfrm>
            <a:off x="566928" y="1975104"/>
            <a:ext cx="11027664" cy="365760"/>
          </a:xfrm>
          <a:prstGeom prst="rect">
            <a:avLst/>
          </a:prstGeom>
          <a:solidFill>
            <a:srgbClr val="0B2350"/>
          </a:solidFill>
          <a:ln/>
        </p:spPr>
      </p:sp>
      <p:sp>
        <p:nvSpPr>
          <p:cNvPr id="7" name="Text 5"/>
          <p:cNvSpPr/>
          <p:nvPr/>
        </p:nvSpPr>
        <p:spPr>
          <a:xfrm>
            <a:off x="676656" y="2066544"/>
            <a:ext cx="21031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ARTIFACT</a:t>
            </a:r>
            <a:endParaRPr lang="en-US" sz="800" dirty="0"/>
          </a:p>
        </p:txBody>
      </p:sp>
      <p:sp>
        <p:nvSpPr>
          <p:cNvPr id="8" name="Text 6"/>
          <p:cNvSpPr/>
          <p:nvPr/>
        </p:nvSpPr>
        <p:spPr>
          <a:xfrm>
            <a:off x="2962656" y="2066544"/>
            <a:ext cx="502920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HOLDS</a:t>
            </a:r>
            <a:endParaRPr lang="en-US" sz="800" dirty="0"/>
          </a:p>
        </p:txBody>
      </p:sp>
      <p:sp>
        <p:nvSpPr>
          <p:cNvPr id="9" name="Text 7"/>
          <p:cNvSpPr/>
          <p:nvPr/>
        </p:nvSpPr>
        <p:spPr>
          <a:xfrm>
            <a:off x="8174736" y="2066544"/>
            <a:ext cx="137160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OWNER</a:t>
            </a:r>
            <a:endParaRPr lang="en-US" sz="800" dirty="0"/>
          </a:p>
        </p:txBody>
      </p:sp>
      <p:sp>
        <p:nvSpPr>
          <p:cNvPr id="10" name="Text 8"/>
          <p:cNvSpPr/>
          <p:nvPr/>
        </p:nvSpPr>
        <p:spPr>
          <a:xfrm>
            <a:off x="9729216" y="2066544"/>
            <a:ext cx="179222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LIFECYCLE</a:t>
            </a:r>
            <a:endParaRPr lang="en-US" sz="800" dirty="0"/>
          </a:p>
        </p:txBody>
      </p:sp>
      <p:sp>
        <p:nvSpPr>
          <p:cNvPr id="11" name="Shape 9"/>
          <p:cNvSpPr/>
          <p:nvPr/>
        </p:nvSpPr>
        <p:spPr>
          <a:xfrm>
            <a:off x="566928" y="2359152"/>
            <a:ext cx="11027664" cy="402336"/>
          </a:xfrm>
          <a:prstGeom prst="rect">
            <a:avLst/>
          </a:prstGeom>
          <a:solidFill>
            <a:srgbClr val="F4F7FB"/>
          </a:solidFill>
          <a:ln w="5080">
            <a:solidFill>
              <a:srgbClr val="D7DDE5"/>
            </a:solidFill>
            <a:prstDash val="solid"/>
          </a:ln>
        </p:spPr>
      </p:sp>
      <p:sp>
        <p:nvSpPr>
          <p:cNvPr id="12" name="Text 10"/>
          <p:cNvSpPr/>
          <p:nvPr/>
        </p:nvSpPr>
        <p:spPr>
          <a:xfrm>
            <a:off x="676656" y="2423160"/>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Pod Charter</a:t>
            </a:r>
            <a:endParaRPr lang="en-US" sz="900" dirty="0"/>
          </a:p>
        </p:txBody>
      </p:sp>
      <p:sp>
        <p:nvSpPr>
          <p:cNvPr id="13" name="Text 11"/>
          <p:cNvSpPr/>
          <p:nvPr/>
        </p:nvSpPr>
        <p:spPr>
          <a:xfrm>
            <a:off x="2962656" y="2423160"/>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Mission · pod goals · pilot goals · non-goals · roster · named liaisons · no-workaround rule · verdict criteria</a:t>
            </a:r>
            <a:endParaRPr lang="en-US" sz="900" dirty="0"/>
          </a:p>
        </p:txBody>
      </p:sp>
      <p:sp>
        <p:nvSpPr>
          <p:cNvPr id="14" name="Text 12"/>
          <p:cNvSpPr/>
          <p:nvPr/>
        </p:nvSpPr>
        <p:spPr>
          <a:xfrm>
            <a:off x="8174736" y="2423160"/>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Lead</a:t>
            </a:r>
            <a:endParaRPr lang="en-US" sz="900" dirty="0"/>
          </a:p>
        </p:txBody>
      </p:sp>
      <p:sp>
        <p:nvSpPr>
          <p:cNvPr id="15" name="Text 13"/>
          <p:cNvSpPr/>
          <p:nvPr/>
        </p:nvSpPr>
        <p:spPr>
          <a:xfrm>
            <a:off x="9729216" y="2423160"/>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Signed day 15</a:t>
            </a:r>
            <a:endParaRPr lang="en-US" sz="900" dirty="0"/>
          </a:p>
        </p:txBody>
      </p:sp>
      <p:sp>
        <p:nvSpPr>
          <p:cNvPr id="16" name="Shape 14"/>
          <p:cNvSpPr/>
          <p:nvPr/>
        </p:nvSpPr>
        <p:spPr>
          <a:xfrm>
            <a:off x="566928" y="2798064"/>
            <a:ext cx="11027664" cy="402336"/>
          </a:xfrm>
          <a:prstGeom prst="rect">
            <a:avLst/>
          </a:prstGeom>
          <a:solidFill>
            <a:srgbClr val="FFFFFF"/>
          </a:solidFill>
          <a:ln w="5080">
            <a:solidFill>
              <a:srgbClr val="D7DDE5"/>
            </a:solidFill>
            <a:prstDash val="solid"/>
          </a:ln>
        </p:spPr>
      </p:sp>
      <p:sp>
        <p:nvSpPr>
          <p:cNvPr id="17" name="Text 15"/>
          <p:cNvSpPr/>
          <p:nvPr/>
        </p:nvSpPr>
        <p:spPr>
          <a:xfrm>
            <a:off x="676656" y="2862072"/>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Contract sheets</a:t>
            </a:r>
            <a:endParaRPr lang="en-US" sz="900" dirty="0"/>
          </a:p>
        </p:txBody>
      </p:sp>
      <p:sp>
        <p:nvSpPr>
          <p:cNvPr id="18" name="Text 16"/>
          <p:cNvSpPr/>
          <p:nvPr/>
        </p:nvSpPr>
        <p:spPr>
          <a:xfrm>
            <a:off x="2962656" y="2862072"/>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What they owe / we owe · response SLA · escalation path · standing-slot terms</a:t>
            </a:r>
            <a:endParaRPr lang="en-US" sz="900" dirty="0"/>
          </a:p>
        </p:txBody>
      </p:sp>
      <p:sp>
        <p:nvSpPr>
          <p:cNvPr id="19" name="Text 17"/>
          <p:cNvSpPr/>
          <p:nvPr/>
        </p:nvSpPr>
        <p:spPr>
          <a:xfrm>
            <a:off x="8174736" y="2862072"/>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Lead + liaison</a:t>
            </a:r>
            <a:endParaRPr lang="en-US" sz="900" dirty="0"/>
          </a:p>
        </p:txBody>
      </p:sp>
      <p:sp>
        <p:nvSpPr>
          <p:cNvPr id="20" name="Text 18"/>
          <p:cNvSpPr/>
          <p:nvPr/>
        </p:nvSpPr>
        <p:spPr>
          <a:xfrm>
            <a:off x="9729216" y="2862072"/>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Reviewed monthly</a:t>
            </a:r>
            <a:endParaRPr lang="en-US" sz="900" dirty="0"/>
          </a:p>
        </p:txBody>
      </p:sp>
      <p:sp>
        <p:nvSpPr>
          <p:cNvPr id="21" name="Shape 19"/>
          <p:cNvSpPr/>
          <p:nvPr/>
        </p:nvSpPr>
        <p:spPr>
          <a:xfrm>
            <a:off x="566928" y="3236976"/>
            <a:ext cx="11027664" cy="402336"/>
          </a:xfrm>
          <a:prstGeom prst="rect">
            <a:avLst/>
          </a:prstGeom>
          <a:solidFill>
            <a:srgbClr val="F4F7FB"/>
          </a:solidFill>
          <a:ln w="5080">
            <a:solidFill>
              <a:srgbClr val="D7DDE5"/>
            </a:solidFill>
            <a:prstDash val="solid"/>
          </a:ln>
        </p:spPr>
      </p:sp>
      <p:sp>
        <p:nvSpPr>
          <p:cNvPr id="22" name="Text 20"/>
          <p:cNvSpPr/>
          <p:nvPr/>
        </p:nvSpPr>
        <p:spPr>
          <a:xfrm>
            <a:off x="676656" y="3300984"/>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Jira board</a:t>
            </a:r>
            <a:endParaRPr lang="en-US" sz="900" dirty="0"/>
          </a:p>
        </p:txBody>
      </p:sp>
      <p:sp>
        <p:nvSpPr>
          <p:cNvPr id="23" name="Text 21"/>
          <p:cNvSpPr/>
          <p:nvPr/>
        </p:nvSpPr>
        <p:spPr>
          <a:xfrm>
            <a:off x="2962656" y="3300984"/>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The work · the toil taxonomy · the tagging</a:t>
            </a:r>
            <a:endParaRPr lang="en-US" sz="900" dirty="0"/>
          </a:p>
        </p:txBody>
      </p:sp>
      <p:sp>
        <p:nvSpPr>
          <p:cNvPr id="24" name="Text 22"/>
          <p:cNvSpPr/>
          <p:nvPr/>
        </p:nvSpPr>
        <p:spPr>
          <a:xfrm>
            <a:off x="8174736" y="3300984"/>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Lead</a:t>
            </a:r>
            <a:endParaRPr lang="en-US" sz="900" dirty="0"/>
          </a:p>
        </p:txBody>
      </p:sp>
      <p:sp>
        <p:nvSpPr>
          <p:cNvPr id="25" name="Text 23"/>
          <p:cNvSpPr/>
          <p:nvPr/>
        </p:nvSpPr>
        <p:spPr>
          <a:xfrm>
            <a:off x="9729216" y="3300984"/>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Live</a:t>
            </a:r>
            <a:endParaRPr lang="en-US" sz="900" dirty="0"/>
          </a:p>
        </p:txBody>
      </p:sp>
      <p:sp>
        <p:nvSpPr>
          <p:cNvPr id="26" name="Shape 24"/>
          <p:cNvSpPr/>
          <p:nvPr/>
        </p:nvSpPr>
        <p:spPr>
          <a:xfrm>
            <a:off x="566928" y="3675888"/>
            <a:ext cx="11027664" cy="402336"/>
          </a:xfrm>
          <a:prstGeom prst="rect">
            <a:avLst/>
          </a:prstGeom>
          <a:solidFill>
            <a:srgbClr val="FFFFFF"/>
          </a:solidFill>
          <a:ln w="5080">
            <a:solidFill>
              <a:srgbClr val="D7DDE5"/>
            </a:solidFill>
            <a:prstDash val="solid"/>
          </a:ln>
        </p:spPr>
      </p:sp>
      <p:sp>
        <p:nvSpPr>
          <p:cNvPr id="27" name="Text 25"/>
          <p:cNvSpPr/>
          <p:nvPr/>
        </p:nvSpPr>
        <p:spPr>
          <a:xfrm>
            <a:off x="676656" y="3739896"/>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Mission Control</a:t>
            </a:r>
            <a:endParaRPr lang="en-US" sz="900" dirty="0"/>
          </a:p>
        </p:txBody>
      </p:sp>
      <p:sp>
        <p:nvSpPr>
          <p:cNvPr id="28" name="Text 26"/>
          <p:cNvSpPr/>
          <p:nvPr/>
        </p:nvSpPr>
        <p:spPr>
          <a:xfrm>
            <a:off x="2962656" y="3739896"/>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KPI / KRI readout · trigger thresholds</a:t>
            </a:r>
            <a:endParaRPr lang="en-US" sz="900" dirty="0"/>
          </a:p>
        </p:txBody>
      </p:sp>
      <p:sp>
        <p:nvSpPr>
          <p:cNvPr id="29" name="Text 27"/>
          <p:cNvSpPr/>
          <p:nvPr/>
        </p:nvSpPr>
        <p:spPr>
          <a:xfrm>
            <a:off x="8174736" y="3739896"/>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Lead</a:t>
            </a:r>
            <a:endParaRPr lang="en-US" sz="900" dirty="0"/>
          </a:p>
        </p:txBody>
      </p:sp>
      <p:sp>
        <p:nvSpPr>
          <p:cNvPr id="30" name="Text 28"/>
          <p:cNvSpPr/>
          <p:nvPr/>
        </p:nvSpPr>
        <p:spPr>
          <a:xfrm>
            <a:off x="9729216" y="3739896"/>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Live</a:t>
            </a:r>
            <a:endParaRPr lang="en-US" sz="900" dirty="0"/>
          </a:p>
        </p:txBody>
      </p:sp>
      <p:sp>
        <p:nvSpPr>
          <p:cNvPr id="31" name="Shape 29"/>
          <p:cNvSpPr/>
          <p:nvPr/>
        </p:nvSpPr>
        <p:spPr>
          <a:xfrm>
            <a:off x="566928" y="4114800"/>
            <a:ext cx="11027664" cy="402336"/>
          </a:xfrm>
          <a:prstGeom prst="rect">
            <a:avLst/>
          </a:prstGeom>
          <a:solidFill>
            <a:srgbClr val="F4F7FB"/>
          </a:solidFill>
          <a:ln w="5080">
            <a:solidFill>
              <a:srgbClr val="D7DDE5"/>
            </a:solidFill>
            <a:prstDash val="solid"/>
          </a:ln>
        </p:spPr>
      </p:sp>
      <p:sp>
        <p:nvSpPr>
          <p:cNvPr id="32" name="Text 30"/>
          <p:cNvSpPr/>
          <p:nvPr/>
        </p:nvSpPr>
        <p:spPr>
          <a:xfrm>
            <a:off x="676656" y="4178808"/>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Baseline pack</a:t>
            </a:r>
            <a:endParaRPr lang="en-US" sz="900" dirty="0"/>
          </a:p>
        </p:txBody>
      </p:sp>
      <p:sp>
        <p:nvSpPr>
          <p:cNvPr id="33" name="Text 31"/>
          <p:cNvSpPr/>
          <p:nvPr/>
        </p:nvSpPr>
        <p:spPr>
          <a:xfrm>
            <a:off x="2962656" y="4178808"/>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Metric · source · method · confidence, per pool</a:t>
            </a:r>
            <a:endParaRPr lang="en-US" sz="900" dirty="0"/>
          </a:p>
        </p:txBody>
      </p:sp>
      <p:sp>
        <p:nvSpPr>
          <p:cNvPr id="34" name="Text 32"/>
          <p:cNvSpPr/>
          <p:nvPr/>
        </p:nvSpPr>
        <p:spPr>
          <a:xfrm>
            <a:off x="8174736" y="4178808"/>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 Tigers</a:t>
            </a:r>
            <a:endParaRPr lang="en-US" sz="900" dirty="0"/>
          </a:p>
        </p:txBody>
      </p:sp>
      <p:sp>
        <p:nvSpPr>
          <p:cNvPr id="35" name="Text 33"/>
          <p:cNvSpPr/>
          <p:nvPr/>
        </p:nvSpPr>
        <p:spPr>
          <a:xfrm>
            <a:off x="9729216" y="4178808"/>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Frozen day 30</a:t>
            </a:r>
            <a:endParaRPr lang="en-US" sz="900" dirty="0"/>
          </a:p>
        </p:txBody>
      </p:sp>
      <p:sp>
        <p:nvSpPr>
          <p:cNvPr id="36" name="Shape 34"/>
          <p:cNvSpPr/>
          <p:nvPr/>
        </p:nvSpPr>
        <p:spPr>
          <a:xfrm>
            <a:off x="566928" y="4553712"/>
            <a:ext cx="11027664" cy="402336"/>
          </a:xfrm>
          <a:prstGeom prst="rect">
            <a:avLst/>
          </a:prstGeom>
          <a:solidFill>
            <a:srgbClr val="FFFFFF"/>
          </a:solidFill>
          <a:ln w="5080">
            <a:solidFill>
              <a:srgbClr val="D7DDE5"/>
            </a:solidFill>
            <a:prstDash val="solid"/>
          </a:ln>
        </p:spPr>
      </p:sp>
      <p:sp>
        <p:nvSpPr>
          <p:cNvPr id="37" name="Text 35"/>
          <p:cNvSpPr/>
          <p:nvPr/>
        </p:nvSpPr>
        <p:spPr>
          <a:xfrm>
            <a:off x="676656" y="4617720"/>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Offering + module spec</a:t>
            </a:r>
            <a:endParaRPr lang="en-US" sz="900" dirty="0"/>
          </a:p>
        </p:txBody>
      </p:sp>
      <p:sp>
        <p:nvSpPr>
          <p:cNvPr id="38" name="Text 36"/>
          <p:cNvSpPr/>
          <p:nvPr/>
        </p:nvSpPr>
        <p:spPr>
          <a:xfrm>
            <a:off x="2962656" y="4617720"/>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SQL catalog offering, tiers, params, policy rules</a:t>
            </a:r>
            <a:endParaRPr lang="en-US" sz="900" dirty="0"/>
          </a:p>
        </p:txBody>
      </p:sp>
      <p:sp>
        <p:nvSpPr>
          <p:cNvPr id="39" name="Text 37"/>
          <p:cNvSpPr/>
          <p:nvPr/>
        </p:nvSpPr>
        <p:spPr>
          <a:xfrm>
            <a:off x="8174736" y="4617720"/>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(Eng)</a:t>
            </a:r>
            <a:endParaRPr lang="en-US" sz="900" dirty="0"/>
          </a:p>
        </p:txBody>
      </p:sp>
      <p:sp>
        <p:nvSpPr>
          <p:cNvPr id="40" name="Text 38"/>
          <p:cNvSpPr/>
          <p:nvPr/>
        </p:nvSpPr>
        <p:spPr>
          <a:xfrm>
            <a:off x="9729216" y="4617720"/>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 the registry</a:t>
            </a:r>
            <a:endParaRPr lang="en-US" sz="900" dirty="0"/>
          </a:p>
        </p:txBody>
      </p:sp>
      <p:sp>
        <p:nvSpPr>
          <p:cNvPr id="41" name="Shape 39"/>
          <p:cNvSpPr/>
          <p:nvPr/>
        </p:nvSpPr>
        <p:spPr>
          <a:xfrm>
            <a:off x="566928" y="4992624"/>
            <a:ext cx="11027664" cy="402336"/>
          </a:xfrm>
          <a:prstGeom prst="rect">
            <a:avLst/>
          </a:prstGeom>
          <a:solidFill>
            <a:srgbClr val="F4F7FB"/>
          </a:solidFill>
          <a:ln w="5080">
            <a:solidFill>
              <a:srgbClr val="D7DDE5"/>
            </a:solidFill>
            <a:prstDash val="solid"/>
          </a:ln>
        </p:spPr>
      </p:sp>
      <p:sp>
        <p:nvSpPr>
          <p:cNvPr id="42" name="Text 40"/>
          <p:cNvSpPr/>
          <p:nvPr/>
        </p:nvSpPr>
        <p:spPr>
          <a:xfrm>
            <a:off x="676656" y="5056632"/>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Gap log</a:t>
            </a:r>
            <a:endParaRPr lang="en-US" sz="900" dirty="0"/>
          </a:p>
        </p:txBody>
      </p:sp>
      <p:sp>
        <p:nvSpPr>
          <p:cNvPr id="43" name="Text 41"/>
          <p:cNvSpPr/>
          <p:nvPr/>
        </p:nvSpPr>
        <p:spPr>
          <a:xfrm>
            <a:off x="2962656" y="5056632"/>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Raised control-plane and IntOps gaps, with dates</a:t>
            </a:r>
            <a:endParaRPr lang="en-US" sz="900" dirty="0"/>
          </a:p>
        </p:txBody>
      </p:sp>
      <p:sp>
        <p:nvSpPr>
          <p:cNvPr id="44" name="Text 42"/>
          <p:cNvSpPr/>
          <p:nvPr/>
        </p:nvSpPr>
        <p:spPr>
          <a:xfrm>
            <a:off x="8174736" y="5056632"/>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Liaison</a:t>
            </a:r>
            <a:endParaRPr lang="en-US" sz="900" dirty="0"/>
          </a:p>
        </p:txBody>
      </p:sp>
      <p:sp>
        <p:nvSpPr>
          <p:cNvPr id="45" name="Text 43"/>
          <p:cNvSpPr/>
          <p:nvPr/>
        </p:nvSpPr>
        <p:spPr>
          <a:xfrm>
            <a:off x="9729216" y="5056632"/>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 Zephyr's backlog</a:t>
            </a:r>
            <a:endParaRPr lang="en-US" sz="900" dirty="0"/>
          </a:p>
        </p:txBody>
      </p:sp>
      <p:sp>
        <p:nvSpPr>
          <p:cNvPr id="46" name="Shape 44"/>
          <p:cNvSpPr/>
          <p:nvPr/>
        </p:nvSpPr>
        <p:spPr>
          <a:xfrm>
            <a:off x="566928" y="5431536"/>
            <a:ext cx="11027664" cy="402336"/>
          </a:xfrm>
          <a:prstGeom prst="rect">
            <a:avLst/>
          </a:prstGeom>
          <a:solidFill>
            <a:srgbClr val="FFFFFF"/>
          </a:solidFill>
          <a:ln w="5080">
            <a:solidFill>
              <a:srgbClr val="D7DDE5"/>
            </a:solidFill>
            <a:prstDash val="solid"/>
          </a:ln>
        </p:spPr>
      </p:sp>
      <p:sp>
        <p:nvSpPr>
          <p:cNvPr id="47" name="Text 45"/>
          <p:cNvSpPr/>
          <p:nvPr/>
        </p:nvSpPr>
        <p:spPr>
          <a:xfrm>
            <a:off x="676656" y="5495544"/>
            <a:ext cx="2103120" cy="292608"/>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Pattern doc</a:t>
            </a:r>
            <a:endParaRPr lang="en-US" sz="900" dirty="0"/>
          </a:p>
        </p:txBody>
      </p:sp>
      <p:sp>
        <p:nvSpPr>
          <p:cNvPr id="48" name="Text 46"/>
          <p:cNvSpPr/>
          <p:nvPr/>
        </p:nvSpPr>
        <p:spPr>
          <a:xfrm>
            <a:off x="2962656" y="5495544"/>
            <a:ext cx="50292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P3 — what engine #2 inherits</a:t>
            </a:r>
            <a:endParaRPr lang="en-US" sz="900" dirty="0"/>
          </a:p>
        </p:txBody>
      </p:sp>
      <p:sp>
        <p:nvSpPr>
          <p:cNvPr id="49" name="Text 47"/>
          <p:cNvSpPr/>
          <p:nvPr/>
        </p:nvSpPr>
        <p:spPr>
          <a:xfrm>
            <a:off x="8174736" y="5495544"/>
            <a:ext cx="1371600"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Lead</a:t>
            </a:r>
            <a:endParaRPr lang="en-US" sz="900" dirty="0"/>
          </a:p>
        </p:txBody>
      </p:sp>
      <p:sp>
        <p:nvSpPr>
          <p:cNvPr id="50" name="Text 48"/>
          <p:cNvSpPr/>
          <p:nvPr/>
        </p:nvSpPr>
        <p:spPr>
          <a:xfrm>
            <a:off x="9729216" y="5495544"/>
            <a:ext cx="1792224" cy="292608"/>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Drafted day 75</a:t>
            </a:r>
            <a:endParaRPr lang="en-US" sz="900" dirty="0"/>
          </a:p>
        </p:txBody>
      </p:sp>
      <p:sp>
        <p:nvSpPr>
          <p:cNvPr id="51" name="Shape 49"/>
          <p:cNvSpPr/>
          <p:nvPr/>
        </p:nvSpPr>
        <p:spPr>
          <a:xfrm>
            <a:off x="566928" y="5468112"/>
            <a:ext cx="11027664" cy="292608"/>
          </a:xfrm>
          <a:prstGeom prst="rect">
            <a:avLst/>
          </a:prstGeom>
          <a:solidFill>
            <a:srgbClr val="EEF2F8"/>
          </a:solidFill>
          <a:ln/>
        </p:spPr>
      </p:sp>
      <p:sp>
        <p:nvSpPr>
          <p:cNvPr id="52" name="Text 50"/>
          <p:cNvSpPr/>
          <p:nvPr/>
        </p:nvSpPr>
        <p:spPr>
          <a:xfrm>
            <a:off x="768096" y="5596128"/>
            <a:ext cx="10625328" cy="73152"/>
          </a:xfrm>
          <a:prstGeom prst="rect">
            <a:avLst/>
          </a:prstGeom>
          <a:noFill/>
          <a:ln/>
        </p:spPr>
        <p:txBody>
          <a:bodyPr wrap="square" lIns="0" tIns="0" rIns="0" bIns="0" rtlCol="0" anchor="ctr"/>
          <a:lstStyle/>
          <a:p>
            <a:pPr indent="0" marL="0">
              <a:lnSpc>
                <a:spcPts val="1450"/>
              </a:lnSpc>
              <a:buNone/>
            </a:pPr>
            <a:r>
              <a:rPr lang="en-US" sz="1000" b="1" dirty="0">
                <a:solidFill>
                  <a:srgbClr val="0B2350"/>
                </a:solidFill>
                <a:latin typeface="Calibri" pitchFamily="34" charset="0"/>
                <a:ea typeface="Calibri" pitchFamily="34" charset="-122"/>
                <a:cs typeface="Calibri" pitchFamily="34" charset="-120"/>
              </a:rPr>
              <a:t>Nothing here is a new tool. </a:t>
            </a:r>
            <a:pPr indent="0" marL="0">
              <a:lnSpc>
                <a:spcPts val="1450"/>
              </a:lnSpc>
              <a:buNone/>
            </a:pPr>
            <a:r>
              <a:rPr lang="en-US" sz="1000" dirty="0">
                <a:solidFill>
                  <a:srgbClr val="1E252E"/>
                </a:solidFill>
                <a:latin typeface="Calibri" pitchFamily="34" charset="0"/>
                <a:ea typeface="Calibri" pitchFamily="34" charset="-122"/>
                <a:cs typeface="Calibri" pitchFamily="34" charset="-120"/>
              </a:rPr>
              <a:t>Charter and contract sheets are documents; everything else is Jira, the registry, or Mission Control.</a:t>
            </a:r>
            <a:endParaRPr lang="en-US" sz="1000" dirty="0"/>
          </a:p>
        </p:txBody>
      </p:sp>
      <p:sp>
        <p:nvSpPr>
          <p:cNvPr id="53" name="Text 5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MEASUREMENT  ·  KPIS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North star, then three pools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The rule: if it can't be pulled automatically from Jira, Git, the registry, Mission Control or telemetry — it isn't on the list. Hand-collected metrics die in week three.</a:t>
            </a:r>
            <a:endParaRPr lang="en-US" sz="1200" dirty="0"/>
          </a:p>
        </p:txBody>
      </p:sp>
      <p:sp>
        <p:nvSpPr>
          <p:cNvPr id="5" name="Shape 3"/>
          <p:cNvSpPr/>
          <p:nvPr/>
        </p:nvSpPr>
        <p:spPr>
          <a:xfrm>
            <a:off x="566928" y="1828800"/>
            <a:ext cx="11027664" cy="512064"/>
          </a:xfrm>
          <a:prstGeom prst="rect">
            <a:avLst/>
          </a:prstGeom>
          <a:solidFill>
            <a:srgbClr val="FFD200"/>
          </a:solidFill>
          <a:ln/>
        </p:spPr>
      </p:sp>
      <p:sp>
        <p:nvSpPr>
          <p:cNvPr id="6" name="Text 4"/>
          <p:cNvSpPr/>
          <p:nvPr/>
        </p:nvSpPr>
        <p:spPr>
          <a:xfrm>
            <a:off x="768096" y="1920240"/>
            <a:ext cx="1463040" cy="182880"/>
          </a:xfrm>
          <a:prstGeom prst="rect">
            <a:avLst/>
          </a:prstGeom>
          <a:noFill/>
          <a:ln/>
        </p:spPr>
        <p:txBody>
          <a:bodyPr wrap="square" lIns="0" tIns="0" rIns="0" bIns="0" rtlCol="0" anchor="ctr"/>
          <a:lstStyle/>
          <a:p>
            <a:pPr indent="0" marL="0">
              <a:buNone/>
            </a:pPr>
            <a:r>
              <a:rPr lang="en-US" sz="800" b="1" spc="160" kern="0" dirty="0">
                <a:solidFill>
                  <a:srgbClr val="0B2350"/>
                </a:solidFill>
                <a:latin typeface="Calibri" pitchFamily="34" charset="0"/>
                <a:ea typeface="Calibri" pitchFamily="34" charset="-122"/>
                <a:cs typeface="Calibri" pitchFamily="34" charset="-120"/>
              </a:rPr>
              <a:t>NORTH STAR</a:t>
            </a:r>
            <a:endParaRPr lang="en-US" sz="800" dirty="0"/>
          </a:p>
        </p:txBody>
      </p:sp>
      <p:sp>
        <p:nvSpPr>
          <p:cNvPr id="7" name="Text 5"/>
          <p:cNvSpPr/>
          <p:nvPr/>
        </p:nvSpPr>
        <p:spPr>
          <a:xfrm>
            <a:off x="2304288" y="1901952"/>
            <a:ext cx="9052560" cy="274320"/>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Toil %  —  the share of pod capacity spent on manual, repetitive, automatable, reactive work</a:t>
            </a:r>
            <a:endParaRPr lang="en-US" sz="1400" dirty="0"/>
          </a:p>
        </p:txBody>
      </p:sp>
      <p:sp>
        <p:nvSpPr>
          <p:cNvPr id="8" name="Shape 6"/>
          <p:cNvSpPr/>
          <p:nvPr/>
        </p:nvSpPr>
        <p:spPr>
          <a:xfrm>
            <a:off x="566928" y="2487168"/>
            <a:ext cx="11027664" cy="365760"/>
          </a:xfrm>
          <a:prstGeom prst="rect">
            <a:avLst/>
          </a:prstGeom>
          <a:solidFill>
            <a:srgbClr val="0B2350"/>
          </a:solidFill>
          <a:ln/>
        </p:spPr>
      </p:sp>
      <p:sp>
        <p:nvSpPr>
          <p:cNvPr id="9" name="Text 7"/>
          <p:cNvSpPr/>
          <p:nvPr/>
        </p:nvSpPr>
        <p:spPr>
          <a:xfrm>
            <a:off x="676656" y="2578608"/>
            <a:ext cx="402336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KPI</a:t>
            </a:r>
            <a:endParaRPr lang="en-US" sz="800" dirty="0"/>
          </a:p>
        </p:txBody>
      </p:sp>
      <p:sp>
        <p:nvSpPr>
          <p:cNvPr id="10" name="Text 8"/>
          <p:cNvSpPr/>
          <p:nvPr/>
        </p:nvSpPr>
        <p:spPr>
          <a:xfrm>
            <a:off x="4882896" y="2578608"/>
            <a:ext cx="201168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POOL</a:t>
            </a:r>
            <a:endParaRPr lang="en-US" sz="800" dirty="0"/>
          </a:p>
        </p:txBody>
      </p:sp>
      <p:sp>
        <p:nvSpPr>
          <p:cNvPr id="11" name="Text 9"/>
          <p:cNvSpPr/>
          <p:nvPr/>
        </p:nvSpPr>
        <p:spPr>
          <a:xfrm>
            <a:off x="7077456" y="2578608"/>
            <a:ext cx="283464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SOURCE</a:t>
            </a:r>
            <a:endParaRPr lang="en-US" sz="800" dirty="0"/>
          </a:p>
        </p:txBody>
      </p:sp>
      <p:sp>
        <p:nvSpPr>
          <p:cNvPr id="12" name="Text 10"/>
          <p:cNvSpPr/>
          <p:nvPr/>
        </p:nvSpPr>
        <p:spPr>
          <a:xfrm>
            <a:off x="10094976" y="2578608"/>
            <a:ext cx="142646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BASELINE</a:t>
            </a:r>
            <a:endParaRPr lang="en-US" sz="800" dirty="0"/>
          </a:p>
        </p:txBody>
      </p:sp>
      <p:sp>
        <p:nvSpPr>
          <p:cNvPr id="13" name="Shape 11"/>
          <p:cNvSpPr/>
          <p:nvPr/>
        </p:nvSpPr>
        <p:spPr>
          <a:xfrm>
            <a:off x="566928" y="2871216"/>
            <a:ext cx="11027664" cy="384048"/>
          </a:xfrm>
          <a:prstGeom prst="rect">
            <a:avLst/>
          </a:prstGeom>
          <a:solidFill>
            <a:srgbClr val="F4F7FB"/>
          </a:solidFill>
          <a:ln w="5080">
            <a:solidFill>
              <a:srgbClr val="D7DDE5"/>
            </a:solidFill>
            <a:prstDash val="solid"/>
          </a:ln>
        </p:spPr>
      </p:sp>
      <p:sp>
        <p:nvSpPr>
          <p:cNvPr id="14" name="Text 12"/>
          <p:cNvSpPr/>
          <p:nvPr/>
        </p:nvSpPr>
        <p:spPr>
          <a:xfrm>
            <a:off x="676656" y="2935224"/>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 estate migrated — under patch/evidence automation</a:t>
            </a:r>
            <a:endParaRPr lang="en-US" sz="900" dirty="0"/>
          </a:p>
        </p:txBody>
      </p:sp>
      <p:sp>
        <p:nvSpPr>
          <p:cNvPr id="15" name="Text 13"/>
          <p:cNvSpPr/>
          <p:nvPr/>
        </p:nvSpPr>
        <p:spPr>
          <a:xfrm>
            <a:off x="4882896" y="2935224"/>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Coverage</a:t>
            </a:r>
            <a:endParaRPr lang="en-US" sz="900" dirty="0"/>
          </a:p>
        </p:txBody>
      </p:sp>
      <p:sp>
        <p:nvSpPr>
          <p:cNvPr id="16" name="Text 14"/>
          <p:cNvSpPr/>
          <p:nvPr/>
        </p:nvSpPr>
        <p:spPr>
          <a:xfrm>
            <a:off x="7077456" y="2935224"/>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Mission Control</a:t>
            </a:r>
            <a:endParaRPr lang="en-US" sz="900" dirty="0"/>
          </a:p>
        </p:txBody>
      </p:sp>
      <p:sp>
        <p:nvSpPr>
          <p:cNvPr id="17" name="Text 15"/>
          <p:cNvSpPr/>
          <p:nvPr/>
        </p:nvSpPr>
        <p:spPr>
          <a:xfrm>
            <a:off x="10094976" y="2935224"/>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18" name="Shape 16"/>
          <p:cNvSpPr/>
          <p:nvPr/>
        </p:nvSpPr>
        <p:spPr>
          <a:xfrm>
            <a:off x="566928" y="3291840"/>
            <a:ext cx="11027664" cy="384048"/>
          </a:xfrm>
          <a:prstGeom prst="rect">
            <a:avLst/>
          </a:prstGeom>
          <a:solidFill>
            <a:srgbClr val="FFFFFF"/>
          </a:solidFill>
          <a:ln w="5080">
            <a:solidFill>
              <a:srgbClr val="D7DDE5"/>
            </a:solidFill>
            <a:prstDash val="solid"/>
          </a:ln>
        </p:spPr>
      </p:sp>
      <p:sp>
        <p:nvSpPr>
          <p:cNvPr id="19" name="Text 17"/>
          <p:cNvSpPr/>
          <p:nvPr/>
        </p:nvSpPr>
        <p:spPr>
          <a:xfrm>
            <a:off x="676656" y="3355848"/>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 estate codified — full IaC lifecycle</a:t>
            </a:r>
            <a:endParaRPr lang="en-US" sz="900" dirty="0"/>
          </a:p>
        </p:txBody>
      </p:sp>
      <p:sp>
        <p:nvSpPr>
          <p:cNvPr id="20" name="Text 18"/>
          <p:cNvSpPr/>
          <p:nvPr/>
        </p:nvSpPr>
        <p:spPr>
          <a:xfrm>
            <a:off x="4882896" y="3355848"/>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Coverage</a:t>
            </a:r>
            <a:endParaRPr lang="en-US" sz="900" dirty="0"/>
          </a:p>
        </p:txBody>
      </p:sp>
      <p:sp>
        <p:nvSpPr>
          <p:cNvPr id="21" name="Text 19"/>
          <p:cNvSpPr/>
          <p:nvPr/>
        </p:nvSpPr>
        <p:spPr>
          <a:xfrm>
            <a:off x="7077456" y="3355848"/>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Zephyr registry</a:t>
            </a:r>
            <a:endParaRPr lang="en-US" sz="900" dirty="0"/>
          </a:p>
        </p:txBody>
      </p:sp>
      <p:sp>
        <p:nvSpPr>
          <p:cNvPr id="22" name="Text 20"/>
          <p:cNvSpPr/>
          <p:nvPr/>
        </p:nvSpPr>
        <p:spPr>
          <a:xfrm>
            <a:off x="10094976" y="3355848"/>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23" name="Shape 21"/>
          <p:cNvSpPr/>
          <p:nvPr/>
        </p:nvSpPr>
        <p:spPr>
          <a:xfrm>
            <a:off x="566928" y="3712464"/>
            <a:ext cx="11027664" cy="384048"/>
          </a:xfrm>
          <a:prstGeom prst="rect">
            <a:avLst/>
          </a:prstGeom>
          <a:solidFill>
            <a:srgbClr val="F4F7FB"/>
          </a:solidFill>
          <a:ln w="5080">
            <a:solidFill>
              <a:srgbClr val="D7DDE5"/>
            </a:solidFill>
            <a:prstDash val="solid"/>
          </a:ln>
        </p:spPr>
      </p:sp>
      <p:sp>
        <p:nvSpPr>
          <p:cNvPr id="24" name="Text 22"/>
          <p:cNvSpPr/>
          <p:nvPr/>
        </p:nvSpPr>
        <p:spPr>
          <a:xfrm>
            <a:off x="676656" y="3776472"/>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Provisioning lead time · self-service rate</a:t>
            </a:r>
            <a:endParaRPr lang="en-US" sz="900" dirty="0"/>
          </a:p>
        </p:txBody>
      </p:sp>
      <p:sp>
        <p:nvSpPr>
          <p:cNvPr id="25" name="Text 23"/>
          <p:cNvSpPr/>
          <p:nvPr/>
        </p:nvSpPr>
        <p:spPr>
          <a:xfrm>
            <a:off x="4882896" y="3776472"/>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Operations</a:t>
            </a:r>
            <a:endParaRPr lang="en-US" sz="900" dirty="0"/>
          </a:p>
        </p:txBody>
      </p:sp>
      <p:sp>
        <p:nvSpPr>
          <p:cNvPr id="26" name="Text 24"/>
          <p:cNvSpPr/>
          <p:nvPr/>
        </p:nvSpPr>
        <p:spPr>
          <a:xfrm>
            <a:off x="7077456" y="3776472"/>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Zephyr + Jira</a:t>
            </a:r>
            <a:endParaRPr lang="en-US" sz="900" dirty="0"/>
          </a:p>
        </p:txBody>
      </p:sp>
      <p:sp>
        <p:nvSpPr>
          <p:cNvPr id="27" name="Text 25"/>
          <p:cNvSpPr/>
          <p:nvPr/>
        </p:nvSpPr>
        <p:spPr>
          <a:xfrm>
            <a:off x="10094976" y="3776472"/>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28" name="Shape 26"/>
          <p:cNvSpPr/>
          <p:nvPr/>
        </p:nvSpPr>
        <p:spPr>
          <a:xfrm>
            <a:off x="566928" y="4133088"/>
            <a:ext cx="11027664" cy="384048"/>
          </a:xfrm>
          <a:prstGeom prst="rect">
            <a:avLst/>
          </a:prstGeom>
          <a:solidFill>
            <a:srgbClr val="FFFFFF"/>
          </a:solidFill>
          <a:ln w="5080">
            <a:solidFill>
              <a:srgbClr val="D7DDE5"/>
            </a:solidFill>
            <a:prstDash val="solid"/>
          </a:ln>
        </p:spPr>
      </p:sp>
      <p:sp>
        <p:nvSpPr>
          <p:cNvPr id="29" name="Text 27"/>
          <p:cNvSpPr/>
          <p:nvPr/>
        </p:nvSpPr>
        <p:spPr>
          <a:xfrm>
            <a:off x="676656" y="4197096"/>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Patch cycle time · SLA compliance</a:t>
            </a:r>
            <a:endParaRPr lang="en-US" sz="900" dirty="0"/>
          </a:p>
        </p:txBody>
      </p:sp>
      <p:sp>
        <p:nvSpPr>
          <p:cNvPr id="30" name="Text 28"/>
          <p:cNvSpPr/>
          <p:nvPr/>
        </p:nvSpPr>
        <p:spPr>
          <a:xfrm>
            <a:off x="4882896" y="4197096"/>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Operations</a:t>
            </a:r>
            <a:endParaRPr lang="en-US" sz="900" dirty="0"/>
          </a:p>
        </p:txBody>
      </p:sp>
      <p:sp>
        <p:nvSpPr>
          <p:cNvPr id="31" name="Text 29"/>
          <p:cNvSpPr/>
          <p:nvPr/>
        </p:nvSpPr>
        <p:spPr>
          <a:xfrm>
            <a:off x="7077456" y="4197096"/>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Zephyr Assurance</a:t>
            </a:r>
            <a:endParaRPr lang="en-US" sz="900" dirty="0"/>
          </a:p>
        </p:txBody>
      </p:sp>
      <p:sp>
        <p:nvSpPr>
          <p:cNvPr id="32" name="Text 30"/>
          <p:cNvSpPr/>
          <p:nvPr/>
        </p:nvSpPr>
        <p:spPr>
          <a:xfrm>
            <a:off x="10094976" y="4197096"/>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33" name="Shape 31"/>
          <p:cNvSpPr/>
          <p:nvPr/>
        </p:nvSpPr>
        <p:spPr>
          <a:xfrm>
            <a:off x="566928" y="4553712"/>
            <a:ext cx="11027664" cy="384048"/>
          </a:xfrm>
          <a:prstGeom prst="rect">
            <a:avLst/>
          </a:prstGeom>
          <a:solidFill>
            <a:srgbClr val="F4F7FB"/>
          </a:solidFill>
          <a:ln w="5080">
            <a:solidFill>
              <a:srgbClr val="D7DDE5"/>
            </a:solidFill>
            <a:prstDash val="solid"/>
          </a:ln>
        </p:spPr>
      </p:sp>
      <p:sp>
        <p:nvSpPr>
          <p:cNvPr id="34" name="Text 32"/>
          <p:cNvSpPr/>
          <p:nvPr/>
        </p:nvSpPr>
        <p:spPr>
          <a:xfrm>
            <a:off x="676656" y="4617720"/>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Golden module reuse count</a:t>
            </a:r>
            <a:endParaRPr lang="en-US" sz="900" dirty="0"/>
          </a:p>
        </p:txBody>
      </p:sp>
      <p:sp>
        <p:nvSpPr>
          <p:cNvPr id="35" name="Text 33"/>
          <p:cNvSpPr/>
          <p:nvPr/>
        </p:nvSpPr>
        <p:spPr>
          <a:xfrm>
            <a:off x="4882896" y="4617720"/>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Operations</a:t>
            </a:r>
            <a:endParaRPr lang="en-US" sz="900" dirty="0"/>
          </a:p>
        </p:txBody>
      </p:sp>
      <p:sp>
        <p:nvSpPr>
          <p:cNvPr id="36" name="Text 34"/>
          <p:cNvSpPr/>
          <p:nvPr/>
        </p:nvSpPr>
        <p:spPr>
          <a:xfrm>
            <a:off x="7077456" y="4617720"/>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Zephyr registry</a:t>
            </a:r>
            <a:endParaRPr lang="en-US" sz="900" dirty="0"/>
          </a:p>
        </p:txBody>
      </p:sp>
      <p:sp>
        <p:nvSpPr>
          <p:cNvPr id="37" name="Text 35"/>
          <p:cNvSpPr/>
          <p:nvPr/>
        </p:nvSpPr>
        <p:spPr>
          <a:xfrm>
            <a:off x="10094976" y="4617720"/>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t>
            </a:r>
            <a:endParaRPr lang="en-US" sz="900" dirty="0"/>
          </a:p>
        </p:txBody>
      </p:sp>
      <p:sp>
        <p:nvSpPr>
          <p:cNvPr id="38" name="Shape 36"/>
          <p:cNvSpPr/>
          <p:nvPr/>
        </p:nvSpPr>
        <p:spPr>
          <a:xfrm>
            <a:off x="566928" y="4974336"/>
            <a:ext cx="11027664" cy="384048"/>
          </a:xfrm>
          <a:prstGeom prst="rect">
            <a:avLst/>
          </a:prstGeom>
          <a:solidFill>
            <a:srgbClr val="FFFFFF"/>
          </a:solidFill>
          <a:ln w="5080">
            <a:solidFill>
              <a:srgbClr val="D7DDE5"/>
            </a:solidFill>
            <a:prstDash val="solid"/>
          </a:ln>
        </p:spPr>
      </p:sp>
      <p:sp>
        <p:nvSpPr>
          <p:cNvPr id="39" name="Text 37"/>
          <p:cNvSpPr/>
          <p:nvPr/>
        </p:nvSpPr>
        <p:spPr>
          <a:xfrm>
            <a:off x="676656" y="5038344"/>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Evidence person-hours per audit cycle</a:t>
            </a:r>
            <a:endParaRPr lang="en-US" sz="900" dirty="0"/>
          </a:p>
        </p:txBody>
      </p:sp>
      <p:sp>
        <p:nvSpPr>
          <p:cNvPr id="40" name="Text 38"/>
          <p:cNvSpPr/>
          <p:nvPr/>
        </p:nvSpPr>
        <p:spPr>
          <a:xfrm>
            <a:off x="4882896" y="5038344"/>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Compliance</a:t>
            </a:r>
            <a:endParaRPr lang="en-US" sz="900" dirty="0"/>
          </a:p>
        </p:txBody>
      </p:sp>
      <p:sp>
        <p:nvSpPr>
          <p:cNvPr id="41" name="Text 39"/>
          <p:cNvSpPr/>
          <p:nvPr/>
        </p:nvSpPr>
        <p:spPr>
          <a:xfrm>
            <a:off x="7077456" y="5038344"/>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Tigers + Jira</a:t>
            </a:r>
            <a:endParaRPr lang="en-US" sz="900" dirty="0"/>
          </a:p>
        </p:txBody>
      </p:sp>
      <p:sp>
        <p:nvSpPr>
          <p:cNvPr id="42" name="Text 40"/>
          <p:cNvSpPr/>
          <p:nvPr/>
        </p:nvSpPr>
        <p:spPr>
          <a:xfrm>
            <a:off x="10094976" y="5038344"/>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43" name="Shape 41"/>
          <p:cNvSpPr/>
          <p:nvPr/>
        </p:nvSpPr>
        <p:spPr>
          <a:xfrm>
            <a:off x="566928" y="5394960"/>
            <a:ext cx="11027664" cy="384048"/>
          </a:xfrm>
          <a:prstGeom prst="rect">
            <a:avLst/>
          </a:prstGeom>
          <a:solidFill>
            <a:srgbClr val="F4F7FB"/>
          </a:solidFill>
          <a:ln w="5080">
            <a:solidFill>
              <a:srgbClr val="D7DDE5"/>
            </a:solidFill>
            <a:prstDash val="solid"/>
          </a:ln>
        </p:spPr>
      </p:sp>
      <p:sp>
        <p:nvSpPr>
          <p:cNvPr id="44" name="Text 42"/>
          <p:cNvSpPr/>
          <p:nvPr/>
        </p:nvSpPr>
        <p:spPr>
          <a:xfrm>
            <a:off x="676656" y="5458968"/>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Evidence auto-assembly % · drift remediation time</a:t>
            </a:r>
            <a:endParaRPr lang="en-US" sz="900" dirty="0"/>
          </a:p>
        </p:txBody>
      </p:sp>
      <p:sp>
        <p:nvSpPr>
          <p:cNvPr id="45" name="Text 43"/>
          <p:cNvSpPr/>
          <p:nvPr/>
        </p:nvSpPr>
        <p:spPr>
          <a:xfrm>
            <a:off x="4882896" y="5458968"/>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Compliance</a:t>
            </a:r>
            <a:endParaRPr lang="en-US" sz="900" dirty="0"/>
          </a:p>
        </p:txBody>
      </p:sp>
      <p:sp>
        <p:nvSpPr>
          <p:cNvPr id="46" name="Text 44"/>
          <p:cNvSpPr/>
          <p:nvPr/>
        </p:nvSpPr>
        <p:spPr>
          <a:xfrm>
            <a:off x="7077456" y="5458968"/>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Zephyr Assurance</a:t>
            </a:r>
            <a:endParaRPr lang="en-US" sz="900" dirty="0"/>
          </a:p>
        </p:txBody>
      </p:sp>
      <p:sp>
        <p:nvSpPr>
          <p:cNvPr id="47" name="Text 45"/>
          <p:cNvSpPr/>
          <p:nvPr/>
        </p:nvSpPr>
        <p:spPr>
          <a:xfrm>
            <a:off x="10094976" y="5458968"/>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48" name="Shape 46"/>
          <p:cNvSpPr/>
          <p:nvPr/>
        </p:nvSpPr>
        <p:spPr>
          <a:xfrm>
            <a:off x="566928" y="5815584"/>
            <a:ext cx="11027664" cy="384048"/>
          </a:xfrm>
          <a:prstGeom prst="rect">
            <a:avLst/>
          </a:prstGeom>
          <a:solidFill>
            <a:srgbClr val="FFFFFF"/>
          </a:solidFill>
          <a:ln w="5080">
            <a:solidFill>
              <a:srgbClr val="D7DDE5"/>
            </a:solidFill>
            <a:prstDash val="solid"/>
          </a:ln>
        </p:spPr>
      </p:sp>
      <p:sp>
        <p:nvSpPr>
          <p:cNvPr id="49" name="Text 47"/>
          <p:cNvSpPr/>
          <p:nvPr/>
        </p:nvSpPr>
        <p:spPr>
          <a:xfrm>
            <a:off x="676656" y="5879592"/>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Alert-to-incident ratio (noise)</a:t>
            </a:r>
            <a:endParaRPr lang="en-US" sz="900" dirty="0"/>
          </a:p>
        </p:txBody>
      </p:sp>
      <p:sp>
        <p:nvSpPr>
          <p:cNvPr id="50" name="Text 48"/>
          <p:cNvSpPr/>
          <p:nvPr/>
        </p:nvSpPr>
        <p:spPr>
          <a:xfrm>
            <a:off x="4882896" y="5879592"/>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Incidents</a:t>
            </a:r>
            <a:endParaRPr lang="en-US" sz="900" dirty="0"/>
          </a:p>
        </p:txBody>
      </p:sp>
      <p:sp>
        <p:nvSpPr>
          <p:cNvPr id="51" name="Text 49"/>
          <p:cNvSpPr/>
          <p:nvPr/>
        </p:nvSpPr>
        <p:spPr>
          <a:xfrm>
            <a:off x="7077456" y="5879592"/>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IntOps</a:t>
            </a:r>
            <a:endParaRPr lang="en-US" sz="900" dirty="0"/>
          </a:p>
        </p:txBody>
      </p:sp>
      <p:sp>
        <p:nvSpPr>
          <p:cNvPr id="52" name="Text 50"/>
          <p:cNvSpPr/>
          <p:nvPr/>
        </p:nvSpPr>
        <p:spPr>
          <a:xfrm>
            <a:off x="10094976" y="5879592"/>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53" name="Shape 51"/>
          <p:cNvSpPr/>
          <p:nvPr/>
        </p:nvSpPr>
        <p:spPr>
          <a:xfrm>
            <a:off x="566928" y="6236208"/>
            <a:ext cx="11027664" cy="384048"/>
          </a:xfrm>
          <a:prstGeom prst="rect">
            <a:avLst/>
          </a:prstGeom>
          <a:solidFill>
            <a:srgbClr val="F4F7FB"/>
          </a:solidFill>
          <a:ln w="5080">
            <a:solidFill>
              <a:srgbClr val="D7DDE5"/>
            </a:solidFill>
            <a:prstDash val="solid"/>
          </a:ln>
        </p:spPr>
      </p:sp>
      <p:sp>
        <p:nvSpPr>
          <p:cNvPr id="54" name="Text 52"/>
          <p:cNvSpPr/>
          <p:nvPr/>
        </p:nvSpPr>
        <p:spPr>
          <a:xfrm>
            <a:off x="676656" y="6300216"/>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Incidents · MTTR · repeat-incident %</a:t>
            </a:r>
            <a:endParaRPr lang="en-US" sz="900" dirty="0"/>
          </a:p>
        </p:txBody>
      </p:sp>
      <p:sp>
        <p:nvSpPr>
          <p:cNvPr id="55" name="Text 53"/>
          <p:cNvSpPr/>
          <p:nvPr/>
        </p:nvSpPr>
        <p:spPr>
          <a:xfrm>
            <a:off x="4882896" y="6300216"/>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Incidents</a:t>
            </a:r>
            <a:endParaRPr lang="en-US" sz="900" dirty="0"/>
          </a:p>
        </p:txBody>
      </p:sp>
      <p:sp>
        <p:nvSpPr>
          <p:cNvPr id="56" name="Text 54"/>
          <p:cNvSpPr/>
          <p:nvPr/>
        </p:nvSpPr>
        <p:spPr>
          <a:xfrm>
            <a:off x="7077456" y="6300216"/>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IntOps</a:t>
            </a:r>
            <a:endParaRPr lang="en-US" sz="900" dirty="0"/>
          </a:p>
        </p:txBody>
      </p:sp>
      <p:sp>
        <p:nvSpPr>
          <p:cNvPr id="57" name="Text 55"/>
          <p:cNvSpPr/>
          <p:nvPr/>
        </p:nvSpPr>
        <p:spPr>
          <a:xfrm>
            <a:off x="10094976" y="6300216"/>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58" name="Shape 56"/>
          <p:cNvSpPr/>
          <p:nvPr/>
        </p:nvSpPr>
        <p:spPr>
          <a:xfrm>
            <a:off x="566928" y="6656832"/>
            <a:ext cx="11027664" cy="384048"/>
          </a:xfrm>
          <a:prstGeom prst="rect">
            <a:avLst/>
          </a:prstGeom>
          <a:solidFill>
            <a:srgbClr val="FFFFFF"/>
          </a:solidFill>
          <a:ln w="5080">
            <a:solidFill>
              <a:srgbClr val="D7DDE5"/>
            </a:solidFill>
            <a:prstDash val="solid"/>
          </a:ln>
        </p:spPr>
      </p:sp>
      <p:sp>
        <p:nvSpPr>
          <p:cNvPr id="59" name="Text 57"/>
          <p:cNvSpPr/>
          <p:nvPr/>
        </p:nvSpPr>
        <p:spPr>
          <a:xfrm>
            <a:off x="676656" y="6720840"/>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Agent PRs proposed / approved / rejected</a:t>
            </a:r>
            <a:endParaRPr lang="en-US" sz="900" dirty="0"/>
          </a:p>
        </p:txBody>
      </p:sp>
      <p:sp>
        <p:nvSpPr>
          <p:cNvPr id="60" name="Text 58"/>
          <p:cNvSpPr/>
          <p:nvPr/>
        </p:nvSpPr>
        <p:spPr>
          <a:xfrm>
            <a:off x="4882896" y="6720840"/>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All (P2)</a:t>
            </a:r>
            <a:endParaRPr lang="en-US" sz="900" dirty="0"/>
          </a:p>
        </p:txBody>
      </p:sp>
      <p:sp>
        <p:nvSpPr>
          <p:cNvPr id="61" name="Text 59"/>
          <p:cNvSpPr/>
          <p:nvPr/>
        </p:nvSpPr>
        <p:spPr>
          <a:xfrm>
            <a:off x="7077456" y="6720840"/>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GitHub</a:t>
            </a:r>
            <a:endParaRPr lang="en-US" sz="900" dirty="0"/>
          </a:p>
        </p:txBody>
      </p:sp>
      <p:sp>
        <p:nvSpPr>
          <p:cNvPr id="62" name="Text 60"/>
          <p:cNvSpPr/>
          <p:nvPr/>
        </p:nvSpPr>
        <p:spPr>
          <a:xfrm>
            <a:off x="10094976" y="6720840"/>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t>
            </a:r>
            <a:endParaRPr lang="en-US" sz="900" dirty="0"/>
          </a:p>
        </p:txBody>
      </p:sp>
      <p:sp>
        <p:nvSpPr>
          <p:cNvPr id="63" name="Shape 61"/>
          <p:cNvSpPr/>
          <p:nvPr/>
        </p:nvSpPr>
        <p:spPr>
          <a:xfrm>
            <a:off x="566928" y="7077456"/>
            <a:ext cx="11027664" cy="384048"/>
          </a:xfrm>
          <a:prstGeom prst="rect">
            <a:avLst/>
          </a:prstGeom>
          <a:solidFill>
            <a:srgbClr val="F4F7FB"/>
          </a:solidFill>
          <a:ln w="5080">
            <a:solidFill>
              <a:srgbClr val="D7DDE5"/>
            </a:solidFill>
            <a:prstDash val="solid"/>
          </a:ln>
        </p:spPr>
      </p:sp>
      <p:sp>
        <p:nvSpPr>
          <p:cNvPr id="64" name="Text 62"/>
          <p:cNvSpPr/>
          <p:nvPr/>
        </p:nvSpPr>
        <p:spPr>
          <a:xfrm>
            <a:off x="676656" y="7141464"/>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Zephyr pull-ins per week · response time</a:t>
            </a:r>
            <a:endParaRPr lang="en-US" sz="900" dirty="0"/>
          </a:p>
        </p:txBody>
      </p:sp>
      <p:sp>
        <p:nvSpPr>
          <p:cNvPr id="65" name="Text 63"/>
          <p:cNvSpPr/>
          <p:nvPr/>
        </p:nvSpPr>
        <p:spPr>
          <a:xfrm>
            <a:off x="4882896" y="7141464"/>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Contracts (P1)</a:t>
            </a:r>
            <a:endParaRPr lang="en-US" sz="900" dirty="0"/>
          </a:p>
        </p:txBody>
      </p:sp>
      <p:sp>
        <p:nvSpPr>
          <p:cNvPr id="66" name="Text 64"/>
          <p:cNvSpPr/>
          <p:nvPr/>
        </p:nvSpPr>
        <p:spPr>
          <a:xfrm>
            <a:off x="7077456" y="7141464"/>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Pod board</a:t>
            </a:r>
            <a:endParaRPr lang="en-US" sz="900" dirty="0"/>
          </a:p>
        </p:txBody>
      </p:sp>
      <p:sp>
        <p:nvSpPr>
          <p:cNvPr id="67" name="Text 65"/>
          <p:cNvSpPr/>
          <p:nvPr/>
        </p:nvSpPr>
        <p:spPr>
          <a:xfrm>
            <a:off x="10094976" y="7141464"/>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t>
            </a:r>
            <a:endParaRPr lang="en-US" sz="900" dirty="0"/>
          </a:p>
        </p:txBody>
      </p:sp>
      <p:sp>
        <p:nvSpPr>
          <p:cNvPr id="68" name="Shape 66"/>
          <p:cNvSpPr/>
          <p:nvPr/>
        </p:nvSpPr>
        <p:spPr>
          <a:xfrm>
            <a:off x="566928" y="7498080"/>
            <a:ext cx="11027664" cy="384048"/>
          </a:xfrm>
          <a:prstGeom prst="rect">
            <a:avLst/>
          </a:prstGeom>
          <a:solidFill>
            <a:srgbClr val="FFFFFF"/>
          </a:solidFill>
          <a:ln w="5080">
            <a:solidFill>
              <a:srgbClr val="D7DDE5"/>
            </a:solidFill>
            <a:prstDash val="solid"/>
          </a:ln>
        </p:spPr>
      </p:sp>
      <p:sp>
        <p:nvSpPr>
          <p:cNvPr id="69" name="Text 67"/>
          <p:cNvSpPr/>
          <p:nvPr/>
        </p:nvSpPr>
        <p:spPr>
          <a:xfrm>
            <a:off x="676656" y="7562088"/>
            <a:ext cx="4023360" cy="274320"/>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 work through the front door</a:t>
            </a:r>
            <a:endParaRPr lang="en-US" sz="900" dirty="0"/>
          </a:p>
        </p:txBody>
      </p:sp>
      <p:sp>
        <p:nvSpPr>
          <p:cNvPr id="70" name="Text 68"/>
          <p:cNvSpPr/>
          <p:nvPr/>
        </p:nvSpPr>
        <p:spPr>
          <a:xfrm>
            <a:off x="4882896" y="7562088"/>
            <a:ext cx="201168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Model (G4)</a:t>
            </a:r>
            <a:endParaRPr lang="en-US" sz="900" dirty="0"/>
          </a:p>
        </p:txBody>
      </p:sp>
      <p:sp>
        <p:nvSpPr>
          <p:cNvPr id="71" name="Text 69"/>
          <p:cNvSpPr/>
          <p:nvPr/>
        </p:nvSpPr>
        <p:spPr>
          <a:xfrm>
            <a:off x="7077456" y="7562088"/>
            <a:ext cx="2834640"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Jira</a:t>
            </a:r>
            <a:endParaRPr lang="en-US" sz="900" dirty="0"/>
          </a:p>
        </p:txBody>
      </p:sp>
      <p:sp>
        <p:nvSpPr>
          <p:cNvPr id="72" name="Text 70"/>
          <p:cNvSpPr/>
          <p:nvPr/>
        </p:nvSpPr>
        <p:spPr>
          <a:xfrm>
            <a:off x="10094976" y="7562088"/>
            <a:ext cx="1426464" cy="274320"/>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Required</a:t>
            </a:r>
            <a:endParaRPr lang="en-US" sz="900" dirty="0"/>
          </a:p>
        </p:txBody>
      </p:sp>
      <p:sp>
        <p:nvSpPr>
          <p:cNvPr id="73" name="Shape 71"/>
          <p:cNvSpPr/>
          <p:nvPr/>
        </p:nvSpPr>
        <p:spPr>
          <a:xfrm>
            <a:off x="566928" y="5504688"/>
            <a:ext cx="11027664" cy="274320"/>
          </a:xfrm>
          <a:prstGeom prst="rect">
            <a:avLst/>
          </a:prstGeom>
          <a:solidFill>
            <a:srgbClr val="EEF2F8"/>
          </a:solidFill>
          <a:ln/>
        </p:spPr>
      </p:sp>
      <p:sp>
        <p:nvSpPr>
          <p:cNvPr id="74" name="Text 72"/>
          <p:cNvSpPr/>
          <p:nvPr/>
        </p:nvSpPr>
        <p:spPr>
          <a:xfrm>
            <a:off x="768096" y="5632704"/>
            <a:ext cx="10625328" cy="54864"/>
          </a:xfrm>
          <a:prstGeom prst="rect">
            <a:avLst/>
          </a:prstGeom>
          <a:noFill/>
          <a:ln/>
        </p:spPr>
        <p:txBody>
          <a:bodyPr wrap="square" lIns="0" tIns="0" rIns="0" bIns="0" rtlCol="0" anchor="ctr"/>
          <a:lstStyle/>
          <a:p>
            <a:pPr indent="0" marL="0">
              <a:lnSpc>
                <a:spcPts val="1450"/>
              </a:lnSpc>
              <a:buNone/>
            </a:pPr>
            <a:r>
              <a:rPr lang="en-US" sz="960" b="1" dirty="0">
                <a:solidFill>
                  <a:srgbClr val="0B2350"/>
                </a:solidFill>
                <a:latin typeface="Calibri" pitchFamily="34" charset="0"/>
                <a:ea typeface="Calibri" pitchFamily="34" charset="-122"/>
                <a:cs typeface="Calibri" pitchFamily="34" charset="-120"/>
              </a:rPr>
              <a:t>Consumption, not production. </a:t>
            </a:r>
            <a:pPr indent="0" marL="0">
              <a:lnSpc>
                <a:spcPts val="1450"/>
              </a:lnSpc>
              <a:buNone/>
            </a:pPr>
            <a:r>
              <a:rPr lang="en-US" sz="960" dirty="0">
                <a:solidFill>
                  <a:srgbClr val="1E252E"/>
                </a:solidFill>
                <a:latin typeface="Calibri" pitchFamily="34" charset="0"/>
                <a:ea typeface="Calibri" pitchFamily="34" charset="-122"/>
                <a:cs typeface="Calibri" pitchFamily="34" charset="-120"/>
              </a:rPr>
              <a:t>"Modules published" is vanity. "Provisions through the module" is real — the model's whole claim is that things get consumed, not built twice.</a:t>
            </a:r>
            <a:endParaRPr lang="en-US" sz="960" dirty="0"/>
          </a:p>
        </p:txBody>
      </p:sp>
      <p:sp>
        <p:nvSpPr>
          <p:cNvPr id="75" name="Text 73"/>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MEASUREMENT  ·  HONESTY</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Two ways these numbers could lie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Both of these will be raised at us. Better we raise them first — a metric whose weakness we named ourselves survives scrutiny; one that gets exposed takes the whole board down with it.</a:t>
            </a:r>
            <a:endParaRPr lang="en-US" sz="1200" dirty="0"/>
          </a:p>
        </p:txBody>
      </p:sp>
      <p:sp>
        <p:nvSpPr>
          <p:cNvPr id="5" name="Shape 3"/>
          <p:cNvSpPr/>
          <p:nvPr/>
        </p:nvSpPr>
        <p:spPr>
          <a:xfrm>
            <a:off x="566928" y="1883664"/>
            <a:ext cx="5440680" cy="2286000"/>
          </a:xfrm>
          <a:prstGeom prst="rect">
            <a:avLst/>
          </a:prstGeom>
          <a:solidFill>
            <a:srgbClr val="FFFFFF"/>
          </a:solidFill>
          <a:ln w="7620">
            <a:solidFill>
              <a:srgbClr val="D7DDE5"/>
            </a:solidFill>
            <a:prstDash val="solid"/>
          </a:ln>
        </p:spPr>
      </p:sp>
      <p:sp>
        <p:nvSpPr>
          <p:cNvPr id="6" name="Text 4"/>
          <p:cNvSpPr/>
          <p:nvPr/>
        </p:nvSpPr>
        <p:spPr>
          <a:xfrm>
            <a:off x="731520" y="2020824"/>
            <a:ext cx="5111496" cy="164592"/>
          </a:xfrm>
          <a:prstGeom prst="rect">
            <a:avLst/>
          </a:prstGeom>
          <a:noFill/>
          <a:ln/>
        </p:spPr>
        <p:txBody>
          <a:bodyPr wrap="square" lIns="0" tIns="0" rIns="0" bIns="0" rtlCol="0" anchor="ctr"/>
          <a:lstStyle/>
          <a:p>
            <a:pPr indent="0" marL="0">
              <a:buNone/>
            </a:pPr>
            <a:r>
              <a:rPr lang="en-US" sz="820" b="1" spc="150" kern="0" dirty="0">
                <a:solidFill>
                  <a:srgbClr val="C0392B"/>
                </a:solidFill>
                <a:latin typeface="Calibri" pitchFamily="34" charset="0"/>
                <a:ea typeface="Calibri" pitchFamily="34" charset="-122"/>
                <a:cs typeface="Calibri" pitchFamily="34" charset="-120"/>
              </a:rPr>
              <a:t>TRAP 1</a:t>
            </a:r>
            <a:endParaRPr lang="en-US" sz="820" dirty="0"/>
          </a:p>
        </p:txBody>
      </p:sp>
      <p:sp>
        <p:nvSpPr>
          <p:cNvPr id="7" name="Text 5"/>
          <p:cNvSpPr/>
          <p:nvPr/>
        </p:nvSpPr>
        <p:spPr>
          <a:xfrm>
            <a:off x="731520" y="2212848"/>
            <a:ext cx="5111496" cy="475488"/>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Toil % is self-reported — and gameable</a:t>
            </a:r>
            <a:endParaRPr lang="en-US" sz="1400" dirty="0"/>
          </a:p>
        </p:txBody>
      </p:sp>
      <p:sp>
        <p:nvSpPr>
          <p:cNvPr id="8" name="Text 6"/>
          <p:cNvSpPr/>
          <p:nvPr/>
        </p:nvSpPr>
        <p:spPr>
          <a:xfrm>
            <a:off x="768096" y="2734056"/>
            <a:ext cx="5056632" cy="1325880"/>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The people tagging the work are the people being measured on it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Toil can "fall" 20% through reclassification alone, with nothing changing</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Fix: define toil by work type — automatable, repetitive, reactive — not by self-assessment</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Taxonomy agreed day 15, before anyone knows which way the numbers need to go</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Spot-audit a sample each month; Tigers is well placed to do it</a:t>
            </a:r>
            <a:endParaRPr lang="en-US" sz="940" dirty="0"/>
          </a:p>
        </p:txBody>
      </p:sp>
      <p:sp>
        <p:nvSpPr>
          <p:cNvPr id="9" name="Shape 7"/>
          <p:cNvSpPr/>
          <p:nvPr/>
        </p:nvSpPr>
        <p:spPr>
          <a:xfrm>
            <a:off x="6245352" y="1883664"/>
            <a:ext cx="5312664" cy="2286000"/>
          </a:xfrm>
          <a:prstGeom prst="rect">
            <a:avLst/>
          </a:prstGeom>
          <a:solidFill>
            <a:srgbClr val="FFFFFF"/>
          </a:solidFill>
          <a:ln w="7620">
            <a:solidFill>
              <a:srgbClr val="D7DDE5"/>
            </a:solidFill>
            <a:prstDash val="solid"/>
          </a:ln>
        </p:spPr>
      </p:sp>
      <p:sp>
        <p:nvSpPr>
          <p:cNvPr id="10" name="Text 8"/>
          <p:cNvSpPr/>
          <p:nvPr/>
        </p:nvSpPr>
        <p:spPr>
          <a:xfrm>
            <a:off x="6409944" y="2020824"/>
            <a:ext cx="4983480" cy="164592"/>
          </a:xfrm>
          <a:prstGeom prst="rect">
            <a:avLst/>
          </a:prstGeom>
          <a:noFill/>
          <a:ln/>
        </p:spPr>
        <p:txBody>
          <a:bodyPr wrap="square" lIns="0" tIns="0" rIns="0" bIns="0" rtlCol="0" anchor="ctr"/>
          <a:lstStyle/>
          <a:p>
            <a:pPr indent="0" marL="0">
              <a:buNone/>
            </a:pPr>
            <a:r>
              <a:rPr lang="en-US" sz="820" b="1" spc="150" kern="0" dirty="0">
                <a:solidFill>
                  <a:srgbClr val="C0392B"/>
                </a:solidFill>
                <a:latin typeface="Calibri" pitchFamily="34" charset="0"/>
                <a:ea typeface="Calibri" pitchFamily="34" charset="-122"/>
                <a:cs typeface="Calibri" pitchFamily="34" charset="-120"/>
              </a:rPr>
              <a:t>TRAP 2</a:t>
            </a:r>
            <a:endParaRPr lang="en-US" sz="820" dirty="0"/>
          </a:p>
        </p:txBody>
      </p:sp>
      <p:sp>
        <p:nvSpPr>
          <p:cNvPr id="11" name="Text 9"/>
          <p:cNvSpPr/>
          <p:nvPr/>
        </p:nvSpPr>
        <p:spPr>
          <a:xfrm>
            <a:off x="6409944" y="2212848"/>
            <a:ext cx="4983480" cy="475488"/>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Incident counts drop for reasons that aren't us</a:t>
            </a:r>
            <a:endParaRPr lang="en-US" sz="1400" dirty="0"/>
          </a:p>
        </p:txBody>
      </p:sp>
      <p:sp>
        <p:nvSpPr>
          <p:cNvPr id="12" name="Text 10"/>
          <p:cNvSpPr/>
          <p:nvPr/>
        </p:nvSpPr>
        <p:spPr>
          <a:xfrm>
            <a:off x="6446520" y="2734056"/>
            <a:ext cx="4928616" cy="1325880"/>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Change freezes, seasonality, and less delivery all reduce incidents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We could claim a win for a quiet quarter we had nothing to do with</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Fix: normalize per change and per instance, not raw counts</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Pair with repeat-incident % — far harder to fake and closer to what we actually claim</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12 months of history for the baseline, so seasonality is visible</a:t>
            </a:r>
            <a:endParaRPr lang="en-US" sz="940" dirty="0"/>
          </a:p>
        </p:txBody>
      </p:sp>
      <p:sp>
        <p:nvSpPr>
          <p:cNvPr id="13" name="Shape 11"/>
          <p:cNvSpPr/>
          <p:nvPr/>
        </p:nvSpPr>
        <p:spPr>
          <a:xfrm>
            <a:off x="566928" y="4334256"/>
            <a:ext cx="11027664" cy="713232"/>
          </a:xfrm>
          <a:prstGeom prst="rect">
            <a:avLst/>
          </a:prstGeom>
          <a:solidFill>
            <a:srgbClr val="0B2350"/>
          </a:solidFill>
          <a:ln/>
        </p:spPr>
      </p:sp>
      <p:sp>
        <p:nvSpPr>
          <p:cNvPr id="14" name="Text 12"/>
          <p:cNvSpPr/>
          <p:nvPr/>
        </p:nvSpPr>
        <p:spPr>
          <a:xfrm>
            <a:off x="768096" y="4462272"/>
            <a:ext cx="10625328" cy="493776"/>
          </a:xfrm>
          <a:prstGeom prst="rect">
            <a:avLst/>
          </a:prstGeom>
          <a:noFill/>
          <a:ln/>
        </p:spPr>
        <p:txBody>
          <a:bodyPr wrap="square" lIns="0" tIns="0" rIns="0" bIns="0" rtlCol="0" anchor="ctr"/>
          <a:lstStyle/>
          <a:p>
            <a:pPr indent="0" marL="0">
              <a:lnSpc>
                <a:spcPts val="1450"/>
              </a:lnSpc>
              <a:buNone/>
            </a:pPr>
            <a:r>
              <a:rPr lang="en-US" sz="1100" b="1" dirty="0">
                <a:solidFill>
                  <a:srgbClr val="FFD200"/>
                </a:solidFill>
                <a:latin typeface="Calibri" pitchFamily="34" charset="0"/>
                <a:ea typeface="Calibri" pitchFamily="34" charset="-122"/>
                <a:cs typeface="Calibri" pitchFamily="34" charset="-120"/>
              </a:rPr>
              <a:t>The rule underneath both:  </a:t>
            </a:r>
            <a:pPr indent="0" marL="0">
              <a:lnSpc>
                <a:spcPts val="1450"/>
              </a:lnSpc>
              <a:buNone/>
            </a:pPr>
            <a:r>
              <a:rPr lang="en-US" sz="1100" dirty="0">
                <a:solidFill>
                  <a:srgbClr val="E8EFF9"/>
                </a:solidFill>
                <a:latin typeface="Calibri" pitchFamily="34" charset="0"/>
                <a:ea typeface="Calibri" pitchFamily="34" charset="-122"/>
                <a:cs typeface="Calibri" pitchFamily="34" charset="-120"/>
              </a:rPr>
              <a:t>anything we can't baseline, we don't claim. If a number isn't recoverable, we either instrument it forward from day 15 or drop the claim entirely. A soft number sitting next to hard ones on the day-90 slide contaminates all of them.</a:t>
            </a:r>
            <a:endParaRPr lang="en-US" sz="1100" dirty="0"/>
          </a:p>
        </p:txBody>
      </p:sp>
      <p:sp>
        <p:nvSpPr>
          <p:cNvPr id="15" name="Shape 13"/>
          <p:cNvSpPr/>
          <p:nvPr/>
        </p:nvSpPr>
        <p:spPr>
          <a:xfrm>
            <a:off x="566928" y="5193792"/>
            <a:ext cx="11027664" cy="566928"/>
          </a:xfrm>
          <a:prstGeom prst="rect">
            <a:avLst/>
          </a:prstGeom>
          <a:solidFill>
            <a:srgbClr val="EEF2F8"/>
          </a:solidFill>
          <a:ln/>
        </p:spPr>
      </p:sp>
      <p:sp>
        <p:nvSpPr>
          <p:cNvPr id="16" name="Text 14"/>
          <p:cNvSpPr/>
          <p:nvPr/>
        </p:nvSpPr>
        <p:spPr>
          <a:xfrm>
            <a:off x="768096" y="5321808"/>
            <a:ext cx="10625328" cy="347472"/>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This slide is deliberately in the deck rather than the appendix.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The fastest way to lose a governance room is to present a number it can break in one question.</a:t>
            </a:r>
            <a:endParaRPr lang="en-US" sz="110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MEASUREMENT  ·  KRIS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What would kill this — and when we'd know</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A KRI without a threshold is a chart nobody acts on. Each one below has a trigger and an escalation route.</a:t>
            </a:r>
            <a:endParaRPr lang="en-US" sz="1200" dirty="0"/>
          </a:p>
        </p:txBody>
      </p:sp>
      <p:sp>
        <p:nvSpPr>
          <p:cNvPr id="5" name="Shape 3"/>
          <p:cNvSpPr/>
          <p:nvPr/>
        </p:nvSpPr>
        <p:spPr>
          <a:xfrm>
            <a:off x="566928" y="1828800"/>
            <a:ext cx="11027664" cy="365760"/>
          </a:xfrm>
          <a:prstGeom prst="rect">
            <a:avLst/>
          </a:prstGeom>
          <a:solidFill>
            <a:srgbClr val="0B2350"/>
          </a:solidFill>
          <a:ln/>
        </p:spPr>
      </p:sp>
      <p:sp>
        <p:nvSpPr>
          <p:cNvPr id="6" name="Text 4"/>
          <p:cNvSpPr/>
          <p:nvPr/>
        </p:nvSpPr>
        <p:spPr>
          <a:xfrm>
            <a:off x="676656" y="1920240"/>
            <a:ext cx="30175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RISK INDICATOR</a:t>
            </a:r>
            <a:endParaRPr lang="en-US" sz="800" dirty="0"/>
          </a:p>
        </p:txBody>
      </p:sp>
      <p:sp>
        <p:nvSpPr>
          <p:cNvPr id="7" name="Text 5"/>
          <p:cNvSpPr/>
          <p:nvPr/>
        </p:nvSpPr>
        <p:spPr>
          <a:xfrm>
            <a:off x="3877056" y="1920240"/>
            <a:ext cx="201168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TRIGGER</a:t>
            </a:r>
            <a:endParaRPr lang="en-US" sz="800" dirty="0"/>
          </a:p>
        </p:txBody>
      </p:sp>
      <p:sp>
        <p:nvSpPr>
          <p:cNvPr id="8" name="Text 6"/>
          <p:cNvSpPr/>
          <p:nvPr/>
        </p:nvSpPr>
        <p:spPr>
          <a:xfrm>
            <a:off x="6071616" y="1920240"/>
            <a:ext cx="544982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WHY IT KILLS YOU</a:t>
            </a:r>
            <a:endParaRPr lang="en-US" sz="800" dirty="0"/>
          </a:p>
        </p:txBody>
      </p:sp>
      <p:sp>
        <p:nvSpPr>
          <p:cNvPr id="9" name="Shape 7"/>
          <p:cNvSpPr/>
          <p:nvPr/>
        </p:nvSpPr>
        <p:spPr>
          <a:xfrm>
            <a:off x="566928" y="2212848"/>
            <a:ext cx="11027664" cy="420624"/>
          </a:xfrm>
          <a:prstGeom prst="rect">
            <a:avLst/>
          </a:prstGeom>
          <a:solidFill>
            <a:srgbClr val="F4F7FB"/>
          </a:solidFill>
          <a:ln w="5080">
            <a:solidFill>
              <a:srgbClr val="D7DDE5"/>
            </a:solidFill>
            <a:prstDash val="solid"/>
          </a:ln>
        </p:spPr>
      </p:sp>
      <p:sp>
        <p:nvSpPr>
          <p:cNvPr id="10" name="Text 8"/>
          <p:cNvSpPr/>
          <p:nvPr/>
        </p:nvSpPr>
        <p:spPr>
          <a:xfrm>
            <a:off x="676656" y="22768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Side-channel work %</a:t>
            </a:r>
            <a:endParaRPr lang="en-US" sz="900" dirty="0"/>
          </a:p>
        </p:txBody>
      </p:sp>
      <p:sp>
        <p:nvSpPr>
          <p:cNvPr id="11" name="Text 9"/>
          <p:cNvSpPr/>
          <p:nvPr/>
        </p:nvSpPr>
        <p:spPr>
          <a:xfrm>
            <a:off x="3877056" y="22768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&gt; 10% and rising</a:t>
            </a:r>
            <a:endParaRPr lang="en-US" sz="900" dirty="0"/>
          </a:p>
        </p:txBody>
      </p:sp>
      <p:sp>
        <p:nvSpPr>
          <p:cNvPr id="12" name="Text 10"/>
          <p:cNvSpPr/>
          <p:nvPr/>
        </p:nvSpPr>
        <p:spPr>
          <a:xfrm>
            <a:off x="6071616" y="22768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The canary — the organization is rejecting the model</a:t>
            </a:r>
            <a:endParaRPr lang="en-US" sz="900" dirty="0"/>
          </a:p>
        </p:txBody>
      </p:sp>
      <p:sp>
        <p:nvSpPr>
          <p:cNvPr id="13" name="Shape 11"/>
          <p:cNvSpPr/>
          <p:nvPr/>
        </p:nvSpPr>
        <p:spPr>
          <a:xfrm>
            <a:off x="566928" y="2670048"/>
            <a:ext cx="11027664" cy="420624"/>
          </a:xfrm>
          <a:prstGeom prst="rect">
            <a:avLst/>
          </a:prstGeom>
          <a:solidFill>
            <a:srgbClr val="FFFFFF"/>
          </a:solidFill>
          <a:ln w="5080">
            <a:solidFill>
              <a:srgbClr val="D7DDE5"/>
            </a:solidFill>
            <a:prstDash val="solid"/>
          </a:ln>
        </p:spPr>
      </p:sp>
      <p:sp>
        <p:nvSpPr>
          <p:cNvPr id="14" name="Text 12"/>
          <p:cNvSpPr/>
          <p:nvPr/>
        </p:nvSpPr>
        <p:spPr>
          <a:xfrm>
            <a:off x="676656" y="27340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BAU crowding out toil work</a:t>
            </a:r>
            <a:endParaRPr lang="en-US" sz="900" dirty="0"/>
          </a:p>
        </p:txBody>
      </p:sp>
      <p:sp>
        <p:nvSpPr>
          <p:cNvPr id="15" name="Text 13"/>
          <p:cNvSpPr/>
          <p:nvPr/>
        </p:nvSpPr>
        <p:spPr>
          <a:xfrm>
            <a:off x="3877056" y="27340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&gt; 40% unplanned</a:t>
            </a:r>
            <a:endParaRPr lang="en-US" sz="900" dirty="0"/>
          </a:p>
        </p:txBody>
      </p:sp>
      <p:sp>
        <p:nvSpPr>
          <p:cNvPr id="16" name="Text 14"/>
          <p:cNvSpPr/>
          <p:nvPr/>
        </p:nvSpPr>
        <p:spPr>
          <a:xfrm>
            <a:off x="6071616" y="27340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The classic pilot killer: pod busy, nothing shipped</a:t>
            </a:r>
            <a:endParaRPr lang="en-US" sz="900" dirty="0"/>
          </a:p>
        </p:txBody>
      </p:sp>
      <p:sp>
        <p:nvSpPr>
          <p:cNvPr id="17" name="Shape 15"/>
          <p:cNvSpPr/>
          <p:nvPr/>
        </p:nvSpPr>
        <p:spPr>
          <a:xfrm>
            <a:off x="566928" y="3127248"/>
            <a:ext cx="11027664" cy="420624"/>
          </a:xfrm>
          <a:prstGeom prst="rect">
            <a:avLst/>
          </a:prstGeom>
          <a:solidFill>
            <a:srgbClr val="F4F7FB"/>
          </a:solidFill>
          <a:ln w="5080">
            <a:solidFill>
              <a:srgbClr val="D7DDE5"/>
            </a:solidFill>
            <a:prstDash val="solid"/>
          </a:ln>
        </p:spPr>
      </p:sp>
      <p:sp>
        <p:nvSpPr>
          <p:cNvPr id="18" name="Text 16"/>
          <p:cNvSpPr/>
          <p:nvPr/>
        </p:nvSpPr>
        <p:spPr>
          <a:xfrm>
            <a:off x="676656" y="31912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Board tagging compliance</a:t>
            </a:r>
            <a:endParaRPr lang="en-US" sz="900" dirty="0"/>
          </a:p>
        </p:txBody>
      </p:sp>
      <p:sp>
        <p:nvSpPr>
          <p:cNvPr id="19" name="Text 17"/>
          <p:cNvSpPr/>
          <p:nvPr/>
        </p:nvSpPr>
        <p:spPr>
          <a:xfrm>
            <a:off x="3877056" y="31912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&lt; 95%</a:t>
            </a:r>
            <a:endParaRPr lang="en-US" sz="900" dirty="0"/>
          </a:p>
        </p:txBody>
      </p:sp>
      <p:sp>
        <p:nvSpPr>
          <p:cNvPr id="20" name="Text 18"/>
          <p:cNvSpPr/>
          <p:nvPr/>
        </p:nvSpPr>
        <p:spPr>
          <a:xfrm>
            <a:off x="6071616" y="31912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Mission Control goes blind; the north star evaporates</a:t>
            </a:r>
            <a:endParaRPr lang="en-US" sz="900" dirty="0"/>
          </a:p>
        </p:txBody>
      </p:sp>
      <p:sp>
        <p:nvSpPr>
          <p:cNvPr id="21" name="Shape 19"/>
          <p:cNvSpPr/>
          <p:nvPr/>
        </p:nvSpPr>
        <p:spPr>
          <a:xfrm>
            <a:off x="566928" y="3584448"/>
            <a:ext cx="11027664" cy="420624"/>
          </a:xfrm>
          <a:prstGeom prst="rect">
            <a:avLst/>
          </a:prstGeom>
          <a:solidFill>
            <a:srgbClr val="FFFFFF"/>
          </a:solidFill>
          <a:ln w="5080">
            <a:solidFill>
              <a:srgbClr val="D7DDE5"/>
            </a:solidFill>
            <a:prstDash val="solid"/>
          </a:ln>
        </p:spPr>
      </p:sp>
      <p:sp>
        <p:nvSpPr>
          <p:cNvPr id="22" name="Text 20"/>
          <p:cNvSpPr/>
          <p:nvPr/>
        </p:nvSpPr>
        <p:spPr>
          <a:xfrm>
            <a:off x="676656" y="36484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Blocked on a horizontal</a:t>
            </a:r>
            <a:endParaRPr lang="en-US" sz="900" dirty="0"/>
          </a:p>
        </p:txBody>
      </p:sp>
      <p:sp>
        <p:nvSpPr>
          <p:cNvPr id="23" name="Text 21"/>
          <p:cNvSpPr/>
          <p:nvPr/>
        </p:nvSpPr>
        <p:spPr>
          <a:xfrm>
            <a:off x="3877056" y="36484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any item &gt; 5 days</a:t>
            </a:r>
            <a:endParaRPr lang="en-US" sz="900" dirty="0"/>
          </a:p>
        </p:txBody>
      </p:sp>
      <p:sp>
        <p:nvSpPr>
          <p:cNvPr id="24" name="Text 22"/>
          <p:cNvSpPr/>
          <p:nvPr/>
        </p:nvSpPr>
        <p:spPr>
          <a:xfrm>
            <a:off x="6071616" y="36484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The contracts are gates after all — P1 failing at the seam</a:t>
            </a:r>
            <a:endParaRPr lang="en-US" sz="900" dirty="0"/>
          </a:p>
        </p:txBody>
      </p:sp>
      <p:sp>
        <p:nvSpPr>
          <p:cNvPr id="25" name="Shape 23"/>
          <p:cNvSpPr/>
          <p:nvPr/>
        </p:nvSpPr>
        <p:spPr>
          <a:xfrm>
            <a:off x="566928" y="4041648"/>
            <a:ext cx="11027664" cy="420624"/>
          </a:xfrm>
          <a:prstGeom prst="rect">
            <a:avLst/>
          </a:prstGeom>
          <a:solidFill>
            <a:srgbClr val="F4F7FB"/>
          </a:solidFill>
          <a:ln w="5080">
            <a:solidFill>
              <a:srgbClr val="D7DDE5"/>
            </a:solidFill>
            <a:prstDash val="solid"/>
          </a:ln>
        </p:spPr>
      </p:sp>
      <p:sp>
        <p:nvSpPr>
          <p:cNvPr id="26" name="Text 24"/>
          <p:cNvSpPr/>
          <p:nvPr/>
        </p:nvSpPr>
        <p:spPr>
          <a:xfrm>
            <a:off x="676656" y="41056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Agent PR rejection rate</a:t>
            </a:r>
            <a:endParaRPr lang="en-US" sz="900" dirty="0"/>
          </a:p>
        </p:txBody>
      </p:sp>
      <p:sp>
        <p:nvSpPr>
          <p:cNvPr id="27" name="Text 25"/>
          <p:cNvSpPr/>
          <p:nvPr/>
        </p:nvSpPr>
        <p:spPr>
          <a:xfrm>
            <a:off x="3877056" y="41056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&gt; 40%  or  &lt; 5%</a:t>
            </a:r>
            <a:endParaRPr lang="en-US" sz="900" dirty="0"/>
          </a:p>
        </p:txBody>
      </p:sp>
      <p:sp>
        <p:nvSpPr>
          <p:cNvPr id="28" name="Text 26"/>
          <p:cNvSpPr/>
          <p:nvPr/>
        </p:nvSpPr>
        <p:spPr>
          <a:xfrm>
            <a:off x="6071616" y="41056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High = noise. Low = rubber-stamping — an E-23 problem, not a win</a:t>
            </a:r>
            <a:endParaRPr lang="en-US" sz="900" dirty="0"/>
          </a:p>
        </p:txBody>
      </p:sp>
      <p:sp>
        <p:nvSpPr>
          <p:cNvPr id="29" name="Shape 27"/>
          <p:cNvSpPr/>
          <p:nvPr/>
        </p:nvSpPr>
        <p:spPr>
          <a:xfrm>
            <a:off x="566928" y="4498848"/>
            <a:ext cx="11027664" cy="420624"/>
          </a:xfrm>
          <a:prstGeom prst="rect">
            <a:avLst/>
          </a:prstGeom>
          <a:solidFill>
            <a:srgbClr val="FFFFFF"/>
          </a:solidFill>
          <a:ln w="5080">
            <a:solidFill>
              <a:srgbClr val="D7DDE5"/>
            </a:solidFill>
            <a:prstDash val="solid"/>
          </a:ln>
        </p:spPr>
      </p:sp>
      <p:sp>
        <p:nvSpPr>
          <p:cNvPr id="30" name="Text 28"/>
          <p:cNvSpPr/>
          <p:nvPr/>
        </p:nvSpPr>
        <p:spPr>
          <a:xfrm>
            <a:off x="676656" y="45628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Baseline / CMDB confidence</a:t>
            </a:r>
            <a:endParaRPr lang="en-US" sz="900" dirty="0"/>
          </a:p>
        </p:txBody>
      </p:sp>
      <p:sp>
        <p:nvSpPr>
          <p:cNvPr id="31" name="Text 29"/>
          <p:cNvSpPr/>
          <p:nvPr/>
        </p:nvSpPr>
        <p:spPr>
          <a:xfrm>
            <a:off x="3877056" y="45628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&lt; 90%</a:t>
            </a:r>
            <a:endParaRPr lang="en-US" sz="900" dirty="0"/>
          </a:p>
        </p:txBody>
      </p:sp>
      <p:sp>
        <p:nvSpPr>
          <p:cNvPr id="32" name="Text 30"/>
          <p:cNvSpPr/>
          <p:nvPr/>
        </p:nvSpPr>
        <p:spPr>
          <a:xfrm>
            <a:off x="6071616" y="45628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If the baseline is wrong, every downstream number is wrong</a:t>
            </a:r>
            <a:endParaRPr lang="en-US" sz="900" dirty="0"/>
          </a:p>
        </p:txBody>
      </p:sp>
      <p:sp>
        <p:nvSpPr>
          <p:cNvPr id="33" name="Shape 31"/>
          <p:cNvSpPr/>
          <p:nvPr/>
        </p:nvSpPr>
        <p:spPr>
          <a:xfrm>
            <a:off x="566928" y="4956048"/>
            <a:ext cx="11027664" cy="420624"/>
          </a:xfrm>
          <a:prstGeom prst="rect">
            <a:avLst/>
          </a:prstGeom>
          <a:solidFill>
            <a:srgbClr val="F4F7FB"/>
          </a:solidFill>
          <a:ln w="5080">
            <a:solidFill>
              <a:srgbClr val="D7DDE5"/>
            </a:solidFill>
            <a:prstDash val="solid"/>
          </a:ln>
        </p:spPr>
      </p:sp>
      <p:sp>
        <p:nvSpPr>
          <p:cNvPr id="34" name="Text 32"/>
          <p:cNvSpPr/>
          <p:nvPr/>
        </p:nvSpPr>
        <p:spPr>
          <a:xfrm>
            <a:off x="676656" y="50200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Change fail rate</a:t>
            </a:r>
            <a:endParaRPr lang="en-US" sz="900" dirty="0"/>
          </a:p>
        </p:txBody>
      </p:sp>
      <p:sp>
        <p:nvSpPr>
          <p:cNvPr id="35" name="Text 33"/>
          <p:cNvSpPr/>
          <p:nvPr/>
        </p:nvSpPr>
        <p:spPr>
          <a:xfrm>
            <a:off x="3877056" y="50200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rising vs. baseline</a:t>
            </a:r>
            <a:endParaRPr lang="en-US" sz="900" dirty="0"/>
          </a:p>
        </p:txBody>
      </p:sp>
      <p:sp>
        <p:nvSpPr>
          <p:cNvPr id="36" name="Text 34"/>
          <p:cNvSpPr/>
          <p:nvPr/>
        </p:nvSpPr>
        <p:spPr>
          <a:xfrm>
            <a:off x="6071616" y="50200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We're going faster by being reckless</a:t>
            </a:r>
            <a:endParaRPr lang="en-US" sz="900" dirty="0"/>
          </a:p>
        </p:txBody>
      </p:sp>
      <p:sp>
        <p:nvSpPr>
          <p:cNvPr id="37" name="Shape 35"/>
          <p:cNvSpPr/>
          <p:nvPr/>
        </p:nvSpPr>
        <p:spPr>
          <a:xfrm>
            <a:off x="566928" y="5413248"/>
            <a:ext cx="11027664" cy="420624"/>
          </a:xfrm>
          <a:prstGeom prst="rect">
            <a:avLst/>
          </a:prstGeom>
          <a:solidFill>
            <a:srgbClr val="FFFFFF"/>
          </a:solidFill>
          <a:ln w="5080">
            <a:solidFill>
              <a:srgbClr val="D7DDE5"/>
            </a:solidFill>
            <a:prstDash val="solid"/>
          </a:ln>
        </p:spPr>
      </p:sp>
      <p:sp>
        <p:nvSpPr>
          <p:cNvPr id="38" name="Text 36"/>
          <p:cNvSpPr/>
          <p:nvPr/>
        </p:nvSpPr>
        <p:spPr>
          <a:xfrm>
            <a:off x="676656" y="5477256"/>
            <a:ext cx="3017520" cy="310896"/>
          </a:xfrm>
          <a:prstGeom prst="rect">
            <a:avLst/>
          </a:prstGeom>
          <a:noFill/>
          <a:ln/>
        </p:spPr>
        <p:txBody>
          <a:bodyPr wrap="square" lIns="0" tIns="0" rIns="0" bIns="0" rtlCol="0" anchor="ctr"/>
          <a:lstStyle/>
          <a:p>
            <a:pPr indent="0" marL="0">
              <a:lnSpc>
                <a:spcPts val="1150"/>
              </a:lnSpc>
              <a:buNone/>
            </a:pPr>
            <a:r>
              <a:rPr lang="en-US" sz="900" b="1" dirty="0">
                <a:solidFill>
                  <a:srgbClr val="0B2350"/>
                </a:solidFill>
                <a:latin typeface="Calibri" pitchFamily="34" charset="0"/>
                <a:ea typeface="Calibri" pitchFamily="34" charset="-122"/>
                <a:cs typeface="Calibri" pitchFamily="34" charset="-120"/>
              </a:rPr>
              <a:t>Regrettable attrition</a:t>
            </a:r>
            <a:endParaRPr lang="en-US" sz="900" dirty="0"/>
          </a:p>
        </p:txBody>
      </p:sp>
      <p:sp>
        <p:nvSpPr>
          <p:cNvPr id="39" name="Text 37"/>
          <p:cNvSpPr/>
          <p:nvPr/>
        </p:nvSpPr>
        <p:spPr>
          <a:xfrm>
            <a:off x="3877056" y="5477256"/>
            <a:ext cx="2011680"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any</a:t>
            </a:r>
            <a:endParaRPr lang="en-US" sz="900" dirty="0"/>
          </a:p>
        </p:txBody>
      </p:sp>
      <p:sp>
        <p:nvSpPr>
          <p:cNvPr id="40" name="Text 38"/>
          <p:cNvSpPr/>
          <p:nvPr/>
        </p:nvSpPr>
        <p:spPr>
          <a:xfrm>
            <a:off x="6071616" y="5477256"/>
            <a:ext cx="5449824" cy="310896"/>
          </a:xfrm>
          <a:prstGeom prst="rect">
            <a:avLst/>
          </a:prstGeom>
          <a:noFill/>
          <a:ln/>
        </p:spPr>
        <p:txBody>
          <a:bodyPr wrap="square" lIns="0" tIns="0" rIns="0" bIns="0" rtlCol="0" anchor="ctr"/>
          <a:lstStyle/>
          <a:p>
            <a:pPr indent="0" marL="0">
              <a:lnSpc>
                <a:spcPts val="1150"/>
              </a:lnSpc>
              <a:buNone/>
            </a:pPr>
            <a:r>
              <a:rPr lang="en-US" sz="900" dirty="0">
                <a:solidFill>
                  <a:srgbClr val="1E252E"/>
                </a:solidFill>
                <a:latin typeface="Calibri" pitchFamily="34" charset="0"/>
                <a:ea typeface="Calibri" pitchFamily="34" charset="-122"/>
                <a:cs typeface="Calibri" pitchFamily="34" charset="-120"/>
              </a:rPr>
              <a:t>People vote with their feet before they vote in a survey</a:t>
            </a:r>
            <a:endParaRPr lang="en-US" sz="900" dirty="0"/>
          </a:p>
        </p:txBody>
      </p:sp>
      <p:sp>
        <p:nvSpPr>
          <p:cNvPr id="41" name="Shape 39"/>
          <p:cNvSpPr/>
          <p:nvPr/>
        </p:nvSpPr>
        <p:spPr>
          <a:xfrm>
            <a:off x="566928" y="5486400"/>
            <a:ext cx="11027664" cy="365760"/>
          </a:xfrm>
          <a:prstGeom prst="rect">
            <a:avLst/>
          </a:prstGeom>
          <a:solidFill>
            <a:srgbClr val="0B2350"/>
          </a:solidFill>
          <a:ln/>
        </p:spPr>
      </p:sp>
      <p:sp>
        <p:nvSpPr>
          <p:cNvPr id="42" name="Text 40"/>
          <p:cNvSpPr/>
          <p:nvPr/>
        </p:nvSpPr>
        <p:spPr>
          <a:xfrm>
            <a:off x="768096" y="5614416"/>
            <a:ext cx="10625328" cy="146304"/>
          </a:xfrm>
          <a:prstGeom prst="rect">
            <a:avLst/>
          </a:prstGeom>
          <a:noFill/>
          <a:ln/>
        </p:spPr>
        <p:txBody>
          <a:bodyPr wrap="square" lIns="0" tIns="0" rIns="0" bIns="0" rtlCol="0" anchor="ctr"/>
          <a:lstStyle/>
          <a:p>
            <a:pPr indent="0" marL="0">
              <a:lnSpc>
                <a:spcPts val="1450"/>
              </a:lnSpc>
              <a:buNone/>
            </a:pPr>
            <a:r>
              <a:rPr lang="en-US" sz="1000" b="1" dirty="0">
                <a:solidFill>
                  <a:srgbClr val="FFD200"/>
                </a:solidFill>
                <a:latin typeface="Calibri" pitchFamily="34" charset="0"/>
                <a:ea typeface="Calibri" pitchFamily="34" charset="-122"/>
                <a:cs typeface="Calibri" pitchFamily="34" charset="-120"/>
              </a:rPr>
              <a:t>The rejection floor deserves the attention:  </a:t>
            </a:r>
            <a:pPr indent="0" marL="0">
              <a:lnSpc>
                <a:spcPts val="1450"/>
              </a:lnSpc>
              <a:buNone/>
            </a:pPr>
            <a:r>
              <a:rPr lang="en-US" sz="1000" dirty="0">
                <a:solidFill>
                  <a:srgbClr val="E8EFF9"/>
                </a:solidFill>
                <a:latin typeface="Calibri" pitchFamily="34" charset="0"/>
                <a:ea typeface="Calibri" pitchFamily="34" charset="-122"/>
                <a:cs typeface="Calibri" pitchFamily="34" charset="-120"/>
              </a:rPr>
              <a:t>a suspiciously low reject rate doesn't mean the agents are brilliant — it means humans stopped reading. Tigers owns this KRI, from inside the pod. That is the single best argument for Risk &amp; Compliance sitting in the pod rather than reviewing it from outside.</a:t>
            </a:r>
            <a:endParaRPr lang="en-US" sz="1000" dirty="0"/>
          </a:p>
        </p:txBody>
      </p:sp>
      <p:sp>
        <p:nvSpPr>
          <p:cNvPr id="43" name="Text 41"/>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MEASUREMENT  ·  BASELINES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The baseline — captured and frozen by day 30</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Provenance matters as much as the number. Every line declares whether it's system-derived, sampled, or recalled.</a:t>
            </a:r>
            <a:endParaRPr lang="en-US" sz="1200" dirty="0"/>
          </a:p>
        </p:txBody>
      </p:sp>
      <p:sp>
        <p:nvSpPr>
          <p:cNvPr id="5" name="Shape 3"/>
          <p:cNvSpPr/>
          <p:nvPr/>
        </p:nvSpPr>
        <p:spPr>
          <a:xfrm>
            <a:off x="566928" y="1773936"/>
            <a:ext cx="11027664" cy="365760"/>
          </a:xfrm>
          <a:prstGeom prst="rect">
            <a:avLst/>
          </a:prstGeom>
          <a:solidFill>
            <a:srgbClr val="0B2350"/>
          </a:solidFill>
          <a:ln/>
        </p:spPr>
      </p:sp>
      <p:sp>
        <p:nvSpPr>
          <p:cNvPr id="6" name="Text 4"/>
          <p:cNvSpPr/>
          <p:nvPr/>
        </p:nvSpPr>
        <p:spPr>
          <a:xfrm>
            <a:off x="676656" y="1865376"/>
            <a:ext cx="137160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POOL</a:t>
            </a:r>
            <a:endParaRPr lang="en-US" sz="800" dirty="0"/>
          </a:p>
        </p:txBody>
      </p:sp>
      <p:sp>
        <p:nvSpPr>
          <p:cNvPr id="7" name="Text 5"/>
          <p:cNvSpPr/>
          <p:nvPr/>
        </p:nvSpPr>
        <p:spPr>
          <a:xfrm>
            <a:off x="2231136" y="1865376"/>
            <a:ext cx="39319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WHAT WE CAPTURE</a:t>
            </a:r>
            <a:endParaRPr lang="en-US" sz="800" dirty="0"/>
          </a:p>
        </p:txBody>
      </p:sp>
      <p:sp>
        <p:nvSpPr>
          <p:cNvPr id="8" name="Text 6"/>
          <p:cNvSpPr/>
          <p:nvPr/>
        </p:nvSpPr>
        <p:spPr>
          <a:xfrm>
            <a:off x="6345936" y="1865376"/>
            <a:ext cx="21031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SOURCE</a:t>
            </a:r>
            <a:endParaRPr lang="en-US" sz="800" dirty="0"/>
          </a:p>
        </p:txBody>
      </p:sp>
      <p:sp>
        <p:nvSpPr>
          <p:cNvPr id="9" name="Text 7"/>
          <p:cNvSpPr/>
          <p:nvPr/>
        </p:nvSpPr>
        <p:spPr>
          <a:xfrm>
            <a:off x="8631936" y="1865376"/>
            <a:ext cx="1645920"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METHOD</a:t>
            </a:r>
            <a:endParaRPr lang="en-US" sz="800" dirty="0"/>
          </a:p>
        </p:txBody>
      </p:sp>
      <p:sp>
        <p:nvSpPr>
          <p:cNvPr id="10" name="Text 8"/>
          <p:cNvSpPr/>
          <p:nvPr/>
        </p:nvSpPr>
        <p:spPr>
          <a:xfrm>
            <a:off x="10460736" y="1865376"/>
            <a:ext cx="1060704" cy="201168"/>
          </a:xfrm>
          <a:prstGeom prst="rect">
            <a:avLst/>
          </a:prstGeom>
          <a:noFill/>
          <a:ln/>
        </p:spPr>
        <p:txBody>
          <a:bodyPr wrap="square" lIns="0" tIns="0" rIns="0" bIns="0" rtlCol="0" anchor="ctr"/>
          <a:lstStyle/>
          <a:p>
            <a:pPr indent="0" marL="0">
              <a:buNone/>
            </a:pPr>
            <a:r>
              <a:rPr lang="en-US" sz="800" b="1" spc="110" kern="0" dirty="0">
                <a:solidFill>
                  <a:srgbClr val="FFFFFF"/>
                </a:solidFill>
                <a:latin typeface="Calibri" pitchFamily="34" charset="0"/>
                <a:ea typeface="Calibri" pitchFamily="34" charset="-122"/>
                <a:cs typeface="Calibri" pitchFamily="34" charset="-120"/>
              </a:rPr>
              <a:t>CONFIDENCE</a:t>
            </a:r>
            <a:endParaRPr lang="en-US" sz="800" dirty="0"/>
          </a:p>
        </p:txBody>
      </p:sp>
      <p:sp>
        <p:nvSpPr>
          <p:cNvPr id="11" name="Shape 9"/>
          <p:cNvSpPr/>
          <p:nvPr/>
        </p:nvSpPr>
        <p:spPr>
          <a:xfrm>
            <a:off x="566928" y="2157984"/>
            <a:ext cx="11027664" cy="365760"/>
          </a:xfrm>
          <a:prstGeom prst="rect">
            <a:avLst/>
          </a:prstGeom>
          <a:solidFill>
            <a:srgbClr val="F4F7FB"/>
          </a:solidFill>
          <a:ln w="5080">
            <a:solidFill>
              <a:srgbClr val="D7DDE5"/>
            </a:solidFill>
            <a:prstDash val="solid"/>
          </a:ln>
        </p:spPr>
      </p:sp>
      <p:sp>
        <p:nvSpPr>
          <p:cNvPr id="12" name="Text 10"/>
          <p:cNvSpPr/>
          <p:nvPr/>
        </p:nvSpPr>
        <p:spPr>
          <a:xfrm>
            <a:off x="676656" y="2221992"/>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Estate</a:t>
            </a:r>
            <a:endParaRPr lang="en-US" sz="880" dirty="0"/>
          </a:p>
        </p:txBody>
      </p:sp>
      <p:sp>
        <p:nvSpPr>
          <p:cNvPr id="13" name="Text 11"/>
          <p:cNvSpPr/>
          <p:nvPr/>
        </p:nvSpPr>
        <p:spPr>
          <a:xfrm>
            <a:off x="2231136" y="2221992"/>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Instances by version, edition, env, LoB, criticality · allocated vs. used · orphans · licence position</a:t>
            </a:r>
            <a:endParaRPr lang="en-US" sz="880" dirty="0"/>
          </a:p>
        </p:txBody>
      </p:sp>
      <p:sp>
        <p:nvSpPr>
          <p:cNvPr id="14" name="Text 12"/>
          <p:cNvSpPr/>
          <p:nvPr/>
        </p:nvSpPr>
        <p:spPr>
          <a:xfrm>
            <a:off x="6345936" y="2221992"/>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CMDB + discovery</a:t>
            </a:r>
            <a:endParaRPr lang="en-US" sz="880" dirty="0"/>
          </a:p>
        </p:txBody>
      </p:sp>
      <p:sp>
        <p:nvSpPr>
          <p:cNvPr id="15" name="Text 13"/>
          <p:cNvSpPr/>
          <p:nvPr/>
        </p:nvSpPr>
        <p:spPr>
          <a:xfrm>
            <a:off x="8631936" y="2221992"/>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16" name="Text 14"/>
          <p:cNvSpPr/>
          <p:nvPr/>
        </p:nvSpPr>
        <p:spPr>
          <a:xfrm>
            <a:off x="10460736" y="2221992"/>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17" name="Shape 15"/>
          <p:cNvSpPr/>
          <p:nvPr/>
        </p:nvSpPr>
        <p:spPr>
          <a:xfrm>
            <a:off x="566928" y="2560320"/>
            <a:ext cx="11027664" cy="365760"/>
          </a:xfrm>
          <a:prstGeom prst="rect">
            <a:avLst/>
          </a:prstGeom>
          <a:solidFill>
            <a:srgbClr val="FFFFFF"/>
          </a:solidFill>
          <a:ln w="5080">
            <a:solidFill>
              <a:srgbClr val="D7DDE5"/>
            </a:solidFill>
            <a:prstDash val="solid"/>
          </a:ln>
        </p:spPr>
      </p:sp>
      <p:sp>
        <p:nvSpPr>
          <p:cNvPr id="18" name="Text 16"/>
          <p:cNvSpPr/>
          <p:nvPr/>
        </p:nvSpPr>
        <p:spPr>
          <a:xfrm>
            <a:off x="676656" y="2624328"/>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Estate</a:t>
            </a:r>
            <a:endParaRPr lang="en-US" sz="880" dirty="0"/>
          </a:p>
        </p:txBody>
      </p:sp>
      <p:sp>
        <p:nvSpPr>
          <p:cNvPr id="19" name="Text 17"/>
          <p:cNvSpPr/>
          <p:nvPr/>
        </p:nvSpPr>
        <p:spPr>
          <a:xfrm>
            <a:off x="2231136" y="2624328"/>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CMDB-vs-discovery delta — a baseline metric in its own right</a:t>
            </a:r>
            <a:endParaRPr lang="en-US" sz="880" dirty="0"/>
          </a:p>
        </p:txBody>
      </p:sp>
      <p:sp>
        <p:nvSpPr>
          <p:cNvPr id="20" name="Text 18"/>
          <p:cNvSpPr/>
          <p:nvPr/>
        </p:nvSpPr>
        <p:spPr>
          <a:xfrm>
            <a:off x="6345936" y="2624328"/>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Both</a:t>
            </a:r>
            <a:endParaRPr lang="en-US" sz="880" dirty="0"/>
          </a:p>
        </p:txBody>
      </p:sp>
      <p:sp>
        <p:nvSpPr>
          <p:cNvPr id="21" name="Text 19"/>
          <p:cNvSpPr/>
          <p:nvPr/>
        </p:nvSpPr>
        <p:spPr>
          <a:xfrm>
            <a:off x="8631936" y="2624328"/>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22" name="Text 20"/>
          <p:cNvSpPr/>
          <p:nvPr/>
        </p:nvSpPr>
        <p:spPr>
          <a:xfrm>
            <a:off x="10460736" y="2624328"/>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23" name="Shape 21"/>
          <p:cNvSpPr/>
          <p:nvPr/>
        </p:nvSpPr>
        <p:spPr>
          <a:xfrm>
            <a:off x="566928" y="2962656"/>
            <a:ext cx="11027664" cy="365760"/>
          </a:xfrm>
          <a:prstGeom prst="rect">
            <a:avLst/>
          </a:prstGeom>
          <a:solidFill>
            <a:srgbClr val="F4F7FB"/>
          </a:solidFill>
          <a:ln w="5080">
            <a:solidFill>
              <a:srgbClr val="D7DDE5"/>
            </a:solidFill>
            <a:prstDash val="solid"/>
          </a:ln>
        </p:spPr>
      </p:sp>
      <p:sp>
        <p:nvSpPr>
          <p:cNvPr id="24" name="Text 22"/>
          <p:cNvSpPr/>
          <p:nvPr/>
        </p:nvSpPr>
        <p:spPr>
          <a:xfrm>
            <a:off x="676656" y="3026664"/>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Operations</a:t>
            </a:r>
            <a:endParaRPr lang="en-US" sz="880" dirty="0"/>
          </a:p>
        </p:txBody>
      </p:sp>
      <p:sp>
        <p:nvSpPr>
          <p:cNvPr id="25" name="Text 23"/>
          <p:cNvSpPr/>
          <p:nvPr/>
        </p:nvSpPr>
        <p:spPr>
          <a:xfrm>
            <a:off x="2231136" y="3026664"/>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Provisioning lead time + touch hours, hand-offs, teams involved</a:t>
            </a:r>
            <a:endParaRPr lang="en-US" sz="880" dirty="0"/>
          </a:p>
        </p:txBody>
      </p:sp>
      <p:sp>
        <p:nvSpPr>
          <p:cNvPr id="26" name="Text 24"/>
          <p:cNvSpPr/>
          <p:nvPr/>
        </p:nvSpPr>
        <p:spPr>
          <a:xfrm>
            <a:off x="6345936" y="3026664"/>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ServiceNow / Jira</a:t>
            </a:r>
            <a:endParaRPr lang="en-US" sz="880" dirty="0"/>
          </a:p>
        </p:txBody>
      </p:sp>
      <p:sp>
        <p:nvSpPr>
          <p:cNvPr id="27" name="Text 25"/>
          <p:cNvSpPr/>
          <p:nvPr/>
        </p:nvSpPr>
        <p:spPr>
          <a:xfrm>
            <a:off x="8631936" y="3026664"/>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Sample last 20-30</a:t>
            </a:r>
            <a:endParaRPr lang="en-US" sz="880" dirty="0"/>
          </a:p>
        </p:txBody>
      </p:sp>
      <p:sp>
        <p:nvSpPr>
          <p:cNvPr id="28" name="Text 26"/>
          <p:cNvSpPr/>
          <p:nvPr/>
        </p:nvSpPr>
        <p:spPr>
          <a:xfrm>
            <a:off x="10460736" y="3026664"/>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Medium</a:t>
            </a:r>
            <a:endParaRPr lang="en-US" sz="880" dirty="0"/>
          </a:p>
        </p:txBody>
      </p:sp>
      <p:sp>
        <p:nvSpPr>
          <p:cNvPr id="29" name="Shape 27"/>
          <p:cNvSpPr/>
          <p:nvPr/>
        </p:nvSpPr>
        <p:spPr>
          <a:xfrm>
            <a:off x="566928" y="3364992"/>
            <a:ext cx="11027664" cy="365760"/>
          </a:xfrm>
          <a:prstGeom prst="rect">
            <a:avLst/>
          </a:prstGeom>
          <a:solidFill>
            <a:srgbClr val="FFFFFF"/>
          </a:solidFill>
          <a:ln w="5080">
            <a:solidFill>
              <a:srgbClr val="D7DDE5"/>
            </a:solidFill>
            <a:prstDash val="solid"/>
          </a:ln>
        </p:spPr>
      </p:sp>
      <p:sp>
        <p:nvSpPr>
          <p:cNvPr id="30" name="Text 28"/>
          <p:cNvSpPr/>
          <p:nvPr/>
        </p:nvSpPr>
        <p:spPr>
          <a:xfrm>
            <a:off x="676656" y="3429000"/>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Operations</a:t>
            </a:r>
            <a:endParaRPr lang="en-US" sz="880" dirty="0"/>
          </a:p>
        </p:txBody>
      </p:sp>
      <p:sp>
        <p:nvSpPr>
          <p:cNvPr id="31" name="Text 29"/>
          <p:cNvSpPr/>
          <p:nvPr/>
        </p:nvSpPr>
        <p:spPr>
          <a:xfrm>
            <a:off x="2231136" y="3429000"/>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Patch cycle time, hours per cycle, SLA %, deferrals, rollback rate</a:t>
            </a:r>
            <a:endParaRPr lang="en-US" sz="880" dirty="0"/>
          </a:p>
        </p:txBody>
      </p:sp>
      <p:sp>
        <p:nvSpPr>
          <p:cNvPr id="32" name="Text 30"/>
          <p:cNvSpPr/>
          <p:nvPr/>
        </p:nvSpPr>
        <p:spPr>
          <a:xfrm>
            <a:off x="6345936" y="3429000"/>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33" name="Text 31"/>
          <p:cNvSpPr/>
          <p:nvPr/>
        </p:nvSpPr>
        <p:spPr>
          <a:xfrm>
            <a:off x="8631936" y="3429000"/>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34" name="Text 32"/>
          <p:cNvSpPr/>
          <p:nvPr/>
        </p:nvSpPr>
        <p:spPr>
          <a:xfrm>
            <a:off x="10460736" y="3429000"/>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35" name="Shape 33"/>
          <p:cNvSpPr/>
          <p:nvPr/>
        </p:nvSpPr>
        <p:spPr>
          <a:xfrm>
            <a:off x="566928" y="3767328"/>
            <a:ext cx="11027664" cy="365760"/>
          </a:xfrm>
          <a:prstGeom prst="rect">
            <a:avLst/>
          </a:prstGeom>
          <a:solidFill>
            <a:srgbClr val="F4F7FB"/>
          </a:solidFill>
          <a:ln w="5080">
            <a:solidFill>
              <a:srgbClr val="D7DDE5"/>
            </a:solidFill>
            <a:prstDash val="solid"/>
          </a:ln>
        </p:spPr>
      </p:sp>
      <p:sp>
        <p:nvSpPr>
          <p:cNvPr id="36" name="Text 34"/>
          <p:cNvSpPr/>
          <p:nvPr/>
        </p:nvSpPr>
        <p:spPr>
          <a:xfrm>
            <a:off x="676656" y="3831336"/>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Operations</a:t>
            </a:r>
            <a:endParaRPr lang="en-US" sz="880" dirty="0"/>
          </a:p>
        </p:txBody>
      </p:sp>
      <p:sp>
        <p:nvSpPr>
          <p:cNvPr id="37" name="Text 35"/>
          <p:cNvSpPr/>
          <p:nvPr/>
        </p:nvSpPr>
        <p:spPr>
          <a:xfrm>
            <a:off x="2231136" y="3831336"/>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Restores and dev refreshes — volume + hours</a:t>
            </a:r>
            <a:endParaRPr lang="en-US" sz="880" dirty="0"/>
          </a:p>
        </p:txBody>
      </p:sp>
      <p:sp>
        <p:nvSpPr>
          <p:cNvPr id="38" name="Text 36"/>
          <p:cNvSpPr/>
          <p:nvPr/>
        </p:nvSpPr>
        <p:spPr>
          <a:xfrm>
            <a:off x="6345936" y="3831336"/>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Ticket history</a:t>
            </a:r>
            <a:endParaRPr lang="en-US" sz="880" dirty="0"/>
          </a:p>
        </p:txBody>
      </p:sp>
      <p:sp>
        <p:nvSpPr>
          <p:cNvPr id="39" name="Text 37"/>
          <p:cNvSpPr/>
          <p:nvPr/>
        </p:nvSpPr>
        <p:spPr>
          <a:xfrm>
            <a:off x="8631936" y="3831336"/>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Sample</a:t>
            </a:r>
            <a:endParaRPr lang="en-US" sz="880" dirty="0"/>
          </a:p>
        </p:txBody>
      </p:sp>
      <p:sp>
        <p:nvSpPr>
          <p:cNvPr id="40" name="Text 38"/>
          <p:cNvSpPr/>
          <p:nvPr/>
        </p:nvSpPr>
        <p:spPr>
          <a:xfrm>
            <a:off x="10460736" y="3831336"/>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Medium</a:t>
            </a:r>
            <a:endParaRPr lang="en-US" sz="880" dirty="0"/>
          </a:p>
        </p:txBody>
      </p:sp>
      <p:sp>
        <p:nvSpPr>
          <p:cNvPr id="41" name="Shape 39"/>
          <p:cNvSpPr/>
          <p:nvPr/>
        </p:nvSpPr>
        <p:spPr>
          <a:xfrm>
            <a:off x="566928" y="4169664"/>
            <a:ext cx="11027664" cy="365760"/>
          </a:xfrm>
          <a:prstGeom prst="rect">
            <a:avLst/>
          </a:prstGeom>
          <a:solidFill>
            <a:srgbClr val="FFFFFF"/>
          </a:solidFill>
          <a:ln w="5080">
            <a:solidFill>
              <a:srgbClr val="D7DDE5"/>
            </a:solidFill>
            <a:prstDash val="solid"/>
          </a:ln>
        </p:spPr>
      </p:sp>
      <p:sp>
        <p:nvSpPr>
          <p:cNvPr id="42" name="Text 40"/>
          <p:cNvSpPr/>
          <p:nvPr/>
        </p:nvSpPr>
        <p:spPr>
          <a:xfrm>
            <a:off x="676656" y="4233672"/>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Compliance</a:t>
            </a:r>
            <a:endParaRPr lang="en-US" sz="880" dirty="0"/>
          </a:p>
        </p:txBody>
      </p:sp>
      <p:sp>
        <p:nvSpPr>
          <p:cNvPr id="43" name="Text 41"/>
          <p:cNvSpPr/>
          <p:nvPr/>
        </p:nvSpPr>
        <p:spPr>
          <a:xfrm>
            <a:off x="2231136" y="4233672"/>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Evidence person-hours per audit cycle · artifacts per cycle · findings</a:t>
            </a:r>
            <a:endParaRPr lang="en-US" sz="880" dirty="0"/>
          </a:p>
        </p:txBody>
      </p:sp>
      <p:sp>
        <p:nvSpPr>
          <p:cNvPr id="44" name="Text 42"/>
          <p:cNvSpPr/>
          <p:nvPr/>
        </p:nvSpPr>
        <p:spPr>
          <a:xfrm>
            <a:off x="6345936" y="4233672"/>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Tigers</a:t>
            </a:r>
            <a:endParaRPr lang="en-US" sz="880" dirty="0"/>
          </a:p>
        </p:txBody>
      </p:sp>
      <p:sp>
        <p:nvSpPr>
          <p:cNvPr id="45" name="Text 43"/>
          <p:cNvSpPr/>
          <p:nvPr/>
        </p:nvSpPr>
        <p:spPr>
          <a:xfrm>
            <a:off x="8631936" y="4233672"/>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Recalled</a:t>
            </a:r>
            <a:endParaRPr lang="en-US" sz="880" dirty="0"/>
          </a:p>
        </p:txBody>
      </p:sp>
      <p:sp>
        <p:nvSpPr>
          <p:cNvPr id="46" name="Text 44"/>
          <p:cNvSpPr/>
          <p:nvPr/>
        </p:nvSpPr>
        <p:spPr>
          <a:xfrm>
            <a:off x="10460736" y="4233672"/>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Low</a:t>
            </a:r>
            <a:endParaRPr lang="en-US" sz="880" dirty="0"/>
          </a:p>
        </p:txBody>
      </p:sp>
      <p:sp>
        <p:nvSpPr>
          <p:cNvPr id="47" name="Shape 45"/>
          <p:cNvSpPr/>
          <p:nvPr/>
        </p:nvSpPr>
        <p:spPr>
          <a:xfrm>
            <a:off x="566928" y="4572000"/>
            <a:ext cx="11027664" cy="365760"/>
          </a:xfrm>
          <a:prstGeom prst="rect">
            <a:avLst/>
          </a:prstGeom>
          <a:solidFill>
            <a:srgbClr val="F4F7FB"/>
          </a:solidFill>
          <a:ln w="5080">
            <a:solidFill>
              <a:srgbClr val="D7DDE5"/>
            </a:solidFill>
            <a:prstDash val="solid"/>
          </a:ln>
        </p:spPr>
      </p:sp>
      <p:sp>
        <p:nvSpPr>
          <p:cNvPr id="48" name="Text 46"/>
          <p:cNvSpPr/>
          <p:nvPr/>
        </p:nvSpPr>
        <p:spPr>
          <a:xfrm>
            <a:off x="676656" y="4636008"/>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Compliance</a:t>
            </a:r>
            <a:endParaRPr lang="en-US" sz="880" dirty="0"/>
          </a:p>
        </p:txBody>
      </p:sp>
      <p:sp>
        <p:nvSpPr>
          <p:cNvPr id="49" name="Text 47"/>
          <p:cNvSpPr/>
          <p:nvPr/>
        </p:nvSpPr>
        <p:spPr>
          <a:xfrm>
            <a:off x="2231136" y="4636008"/>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Drift findings + time to remediate · open exceptions + aging</a:t>
            </a:r>
            <a:endParaRPr lang="en-US" sz="880" dirty="0"/>
          </a:p>
        </p:txBody>
      </p:sp>
      <p:sp>
        <p:nvSpPr>
          <p:cNvPr id="50" name="Text 48"/>
          <p:cNvSpPr/>
          <p:nvPr/>
        </p:nvSpPr>
        <p:spPr>
          <a:xfrm>
            <a:off x="6345936" y="4636008"/>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51" name="Text 49"/>
          <p:cNvSpPr/>
          <p:nvPr/>
        </p:nvSpPr>
        <p:spPr>
          <a:xfrm>
            <a:off x="8631936" y="4636008"/>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52" name="Text 50"/>
          <p:cNvSpPr/>
          <p:nvPr/>
        </p:nvSpPr>
        <p:spPr>
          <a:xfrm>
            <a:off x="10460736" y="4636008"/>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53" name="Shape 51"/>
          <p:cNvSpPr/>
          <p:nvPr/>
        </p:nvSpPr>
        <p:spPr>
          <a:xfrm>
            <a:off x="566928" y="4974336"/>
            <a:ext cx="11027664" cy="365760"/>
          </a:xfrm>
          <a:prstGeom prst="rect">
            <a:avLst/>
          </a:prstGeom>
          <a:solidFill>
            <a:srgbClr val="FFFFFF"/>
          </a:solidFill>
          <a:ln w="5080">
            <a:solidFill>
              <a:srgbClr val="D7DDE5"/>
            </a:solidFill>
            <a:prstDash val="solid"/>
          </a:ln>
        </p:spPr>
      </p:sp>
      <p:sp>
        <p:nvSpPr>
          <p:cNvPr id="54" name="Text 52"/>
          <p:cNvSpPr/>
          <p:nvPr/>
        </p:nvSpPr>
        <p:spPr>
          <a:xfrm>
            <a:off x="676656" y="5038344"/>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Incidents</a:t>
            </a:r>
            <a:endParaRPr lang="en-US" sz="880" dirty="0"/>
          </a:p>
        </p:txBody>
      </p:sp>
      <p:sp>
        <p:nvSpPr>
          <p:cNvPr id="55" name="Text 53"/>
          <p:cNvSpPr/>
          <p:nvPr/>
        </p:nvSpPr>
        <p:spPr>
          <a:xfrm>
            <a:off x="2231136" y="5038344"/>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Incidents by severity over 12 months · MTTR · repeat-incident %</a:t>
            </a:r>
            <a:endParaRPr lang="en-US" sz="880" dirty="0"/>
          </a:p>
        </p:txBody>
      </p:sp>
      <p:sp>
        <p:nvSpPr>
          <p:cNvPr id="56" name="Text 54"/>
          <p:cNvSpPr/>
          <p:nvPr/>
        </p:nvSpPr>
        <p:spPr>
          <a:xfrm>
            <a:off x="6345936" y="5038344"/>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57" name="Text 55"/>
          <p:cNvSpPr/>
          <p:nvPr/>
        </p:nvSpPr>
        <p:spPr>
          <a:xfrm>
            <a:off x="8631936" y="5038344"/>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58" name="Text 56"/>
          <p:cNvSpPr/>
          <p:nvPr/>
        </p:nvSpPr>
        <p:spPr>
          <a:xfrm>
            <a:off x="10460736" y="5038344"/>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59" name="Shape 57"/>
          <p:cNvSpPr/>
          <p:nvPr/>
        </p:nvSpPr>
        <p:spPr>
          <a:xfrm>
            <a:off x="566928" y="5376672"/>
            <a:ext cx="11027664" cy="365760"/>
          </a:xfrm>
          <a:prstGeom prst="rect">
            <a:avLst/>
          </a:prstGeom>
          <a:solidFill>
            <a:srgbClr val="F4F7FB"/>
          </a:solidFill>
          <a:ln w="5080">
            <a:solidFill>
              <a:srgbClr val="D7DDE5"/>
            </a:solidFill>
            <a:prstDash val="solid"/>
          </a:ln>
        </p:spPr>
      </p:sp>
      <p:sp>
        <p:nvSpPr>
          <p:cNvPr id="60" name="Text 58"/>
          <p:cNvSpPr/>
          <p:nvPr/>
        </p:nvSpPr>
        <p:spPr>
          <a:xfrm>
            <a:off x="676656" y="5440680"/>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Incidents</a:t>
            </a:r>
            <a:endParaRPr lang="en-US" sz="880" dirty="0"/>
          </a:p>
        </p:txBody>
      </p:sp>
      <p:sp>
        <p:nvSpPr>
          <p:cNvPr id="61" name="Text 59"/>
          <p:cNvSpPr/>
          <p:nvPr/>
        </p:nvSpPr>
        <p:spPr>
          <a:xfrm>
            <a:off x="2231136" y="5440680"/>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Alert volume · alert-to-incident ratio · after-hours pages per engineer</a:t>
            </a:r>
            <a:endParaRPr lang="en-US" sz="880" dirty="0"/>
          </a:p>
        </p:txBody>
      </p:sp>
      <p:sp>
        <p:nvSpPr>
          <p:cNvPr id="62" name="Text 60"/>
          <p:cNvSpPr/>
          <p:nvPr/>
        </p:nvSpPr>
        <p:spPr>
          <a:xfrm>
            <a:off x="6345936" y="5440680"/>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63" name="Text 61"/>
          <p:cNvSpPr/>
          <p:nvPr/>
        </p:nvSpPr>
        <p:spPr>
          <a:xfrm>
            <a:off x="8631936" y="5440680"/>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System</a:t>
            </a:r>
            <a:endParaRPr lang="en-US" sz="880" dirty="0"/>
          </a:p>
        </p:txBody>
      </p:sp>
      <p:sp>
        <p:nvSpPr>
          <p:cNvPr id="64" name="Text 62"/>
          <p:cNvSpPr/>
          <p:nvPr/>
        </p:nvSpPr>
        <p:spPr>
          <a:xfrm>
            <a:off x="10460736" y="5440680"/>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High</a:t>
            </a:r>
            <a:endParaRPr lang="en-US" sz="880" dirty="0"/>
          </a:p>
        </p:txBody>
      </p:sp>
      <p:sp>
        <p:nvSpPr>
          <p:cNvPr id="65" name="Shape 63"/>
          <p:cNvSpPr/>
          <p:nvPr/>
        </p:nvSpPr>
        <p:spPr>
          <a:xfrm>
            <a:off x="566928" y="5779008"/>
            <a:ext cx="11027664" cy="365760"/>
          </a:xfrm>
          <a:prstGeom prst="rect">
            <a:avLst/>
          </a:prstGeom>
          <a:solidFill>
            <a:srgbClr val="FFFFFF"/>
          </a:solidFill>
          <a:ln w="5080">
            <a:solidFill>
              <a:srgbClr val="D7DDE5"/>
            </a:solidFill>
            <a:prstDash val="solid"/>
          </a:ln>
        </p:spPr>
      </p:sp>
      <p:sp>
        <p:nvSpPr>
          <p:cNvPr id="66" name="Text 64"/>
          <p:cNvSpPr/>
          <p:nvPr/>
        </p:nvSpPr>
        <p:spPr>
          <a:xfrm>
            <a:off x="676656" y="5843016"/>
            <a:ext cx="1371600" cy="256032"/>
          </a:xfrm>
          <a:prstGeom prst="rect">
            <a:avLst/>
          </a:prstGeom>
          <a:noFill/>
          <a:ln/>
        </p:spPr>
        <p:txBody>
          <a:bodyPr wrap="square" lIns="0" tIns="0" rIns="0" bIns="0" rtlCol="0" anchor="ctr"/>
          <a:lstStyle/>
          <a:p>
            <a:pPr indent="0" marL="0">
              <a:lnSpc>
                <a:spcPts val="1150"/>
              </a:lnSpc>
              <a:buNone/>
            </a:pPr>
            <a:r>
              <a:rPr lang="en-US" sz="880" b="1" dirty="0">
                <a:solidFill>
                  <a:srgbClr val="0B2350"/>
                </a:solidFill>
                <a:latin typeface="Calibri" pitchFamily="34" charset="0"/>
                <a:ea typeface="Calibri" pitchFamily="34" charset="-122"/>
                <a:cs typeface="Calibri" pitchFamily="34" charset="-120"/>
              </a:rPr>
              <a:t>Model</a:t>
            </a:r>
            <a:endParaRPr lang="en-US" sz="880" dirty="0"/>
          </a:p>
        </p:txBody>
      </p:sp>
      <p:sp>
        <p:nvSpPr>
          <p:cNvPr id="67" name="Text 65"/>
          <p:cNvSpPr/>
          <p:nvPr/>
        </p:nvSpPr>
        <p:spPr>
          <a:xfrm>
            <a:off x="2231136" y="5843016"/>
            <a:ext cx="3931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How many channels SQL work arrives through today</a:t>
            </a:r>
            <a:endParaRPr lang="en-US" sz="880" dirty="0"/>
          </a:p>
        </p:txBody>
      </p:sp>
      <p:sp>
        <p:nvSpPr>
          <p:cNvPr id="68" name="Text 66"/>
          <p:cNvSpPr/>
          <p:nvPr/>
        </p:nvSpPr>
        <p:spPr>
          <a:xfrm>
            <a:off x="6345936" y="5843016"/>
            <a:ext cx="21031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Survey</a:t>
            </a:r>
            <a:endParaRPr lang="en-US" sz="880" dirty="0"/>
          </a:p>
        </p:txBody>
      </p:sp>
      <p:sp>
        <p:nvSpPr>
          <p:cNvPr id="69" name="Text 67"/>
          <p:cNvSpPr/>
          <p:nvPr/>
        </p:nvSpPr>
        <p:spPr>
          <a:xfrm>
            <a:off x="8631936" y="5843016"/>
            <a:ext cx="1645920"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Sample</a:t>
            </a:r>
            <a:endParaRPr lang="en-US" sz="880" dirty="0"/>
          </a:p>
        </p:txBody>
      </p:sp>
      <p:sp>
        <p:nvSpPr>
          <p:cNvPr id="70" name="Text 68"/>
          <p:cNvSpPr/>
          <p:nvPr/>
        </p:nvSpPr>
        <p:spPr>
          <a:xfrm>
            <a:off x="10460736" y="5843016"/>
            <a:ext cx="1060704" cy="256032"/>
          </a:xfrm>
          <a:prstGeom prst="rect">
            <a:avLst/>
          </a:prstGeom>
          <a:noFill/>
          <a:ln/>
        </p:spPr>
        <p:txBody>
          <a:bodyPr wrap="square" lIns="0" tIns="0" rIns="0" bIns="0" rtlCol="0" anchor="ctr"/>
          <a:lstStyle/>
          <a:p>
            <a:pPr indent="0" marL="0">
              <a:lnSpc>
                <a:spcPts val="1150"/>
              </a:lnSpc>
              <a:buNone/>
            </a:pPr>
            <a:r>
              <a:rPr lang="en-US" sz="880" dirty="0">
                <a:solidFill>
                  <a:srgbClr val="1E252E"/>
                </a:solidFill>
                <a:latin typeface="Calibri" pitchFamily="34" charset="0"/>
                <a:ea typeface="Calibri" pitchFamily="34" charset="-122"/>
                <a:cs typeface="Calibri" pitchFamily="34" charset="-120"/>
              </a:rPr>
              <a:t>Low</a:t>
            </a:r>
            <a:endParaRPr lang="en-US" sz="880" dirty="0"/>
          </a:p>
        </p:txBody>
      </p:sp>
      <p:sp>
        <p:nvSpPr>
          <p:cNvPr id="71" name="Text 69"/>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MEASUREMENT  ·  BASELINES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Two traps in the baseline itself</a:t>
            </a:r>
            <a:endParaRPr lang="en-US" sz="3100" dirty="0"/>
          </a:p>
        </p:txBody>
      </p:sp>
      <p:sp>
        <p:nvSpPr>
          <p:cNvPr id="4" name="Shape 2"/>
          <p:cNvSpPr/>
          <p:nvPr/>
        </p:nvSpPr>
        <p:spPr>
          <a:xfrm>
            <a:off x="566928" y="1371600"/>
            <a:ext cx="5440680" cy="2011680"/>
          </a:xfrm>
          <a:prstGeom prst="rect">
            <a:avLst/>
          </a:prstGeom>
          <a:solidFill>
            <a:srgbClr val="FFFFFF"/>
          </a:solidFill>
          <a:ln w="7620">
            <a:solidFill>
              <a:srgbClr val="D7DDE5"/>
            </a:solidFill>
            <a:prstDash val="solid"/>
          </a:ln>
        </p:spPr>
      </p:sp>
      <p:sp>
        <p:nvSpPr>
          <p:cNvPr id="5" name="Text 3"/>
          <p:cNvSpPr/>
          <p:nvPr/>
        </p:nvSpPr>
        <p:spPr>
          <a:xfrm>
            <a:off x="731520" y="1508760"/>
            <a:ext cx="5111496" cy="164592"/>
          </a:xfrm>
          <a:prstGeom prst="rect">
            <a:avLst/>
          </a:prstGeom>
          <a:noFill/>
          <a:ln/>
        </p:spPr>
        <p:txBody>
          <a:bodyPr wrap="square" lIns="0" tIns="0" rIns="0" bIns="0" rtlCol="0" anchor="ctr"/>
          <a:lstStyle/>
          <a:p>
            <a:pPr indent="0" marL="0">
              <a:buNone/>
            </a:pPr>
            <a:r>
              <a:rPr lang="en-US" sz="820" b="1" spc="150" kern="0" dirty="0">
                <a:solidFill>
                  <a:srgbClr val="E8A33D"/>
                </a:solidFill>
                <a:latin typeface="Calibri" pitchFamily="34" charset="0"/>
                <a:ea typeface="Calibri" pitchFamily="34" charset="-122"/>
                <a:cs typeface="Calibri" pitchFamily="34" charset="-120"/>
              </a:rPr>
              <a:t>TRAP 1</a:t>
            </a:r>
            <a:endParaRPr lang="en-US" sz="820" dirty="0"/>
          </a:p>
        </p:txBody>
      </p:sp>
      <p:sp>
        <p:nvSpPr>
          <p:cNvPr id="6" name="Text 4"/>
          <p:cNvSpPr/>
          <p:nvPr/>
        </p:nvSpPr>
        <p:spPr>
          <a:xfrm>
            <a:off x="731520" y="1700784"/>
            <a:ext cx="5111496" cy="310896"/>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Sample, don't census</a:t>
            </a:r>
            <a:endParaRPr lang="en-US" sz="1400" dirty="0"/>
          </a:p>
        </p:txBody>
      </p:sp>
      <p:sp>
        <p:nvSpPr>
          <p:cNvPr id="7" name="Text 5"/>
          <p:cNvSpPr/>
          <p:nvPr/>
        </p:nvSpPr>
        <p:spPr>
          <a:xfrm>
            <a:off x="768096" y="2057400"/>
            <a:ext cx="505663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20-30 provisioning requests, not all of them</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A perfect baseline is no baseline — it eats the pilot it was meant to measure</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Timebox to day 30. Freeze it. Sign it. Move on</a:t>
            </a:r>
            <a:endParaRPr lang="en-US" sz="940" dirty="0"/>
          </a:p>
          <a:p>
            <a:pPr marL="342900" indent="-342900">
              <a:lnSpc>
                <a:spcPts val="1220"/>
              </a:lnSpc>
              <a:spcAft>
                <a:spcPts val="300"/>
              </a:spcAft>
              <a:buSzPct val="100000"/>
              <a:buChar char="•"/>
            </a:pPr>
            <a:r>
              <a:rPr lang="en-US" sz="940" dirty="0">
                <a:solidFill>
                  <a:srgbClr val="1E252E"/>
                </a:solidFill>
                <a:latin typeface="Calibri" pitchFamily="34" charset="0"/>
                <a:ea typeface="Calibri" pitchFamily="34" charset="-122"/>
                <a:cs typeface="Calibri" pitchFamily="34" charset="-120"/>
              </a:rPr>
              <a:t>Disputed numbers are a finding (that's D1), not a reason to keep counting</a:t>
            </a:r>
            <a:endParaRPr lang="en-US" sz="940" dirty="0"/>
          </a:p>
        </p:txBody>
      </p:sp>
      <p:sp>
        <p:nvSpPr>
          <p:cNvPr id="8" name="Shape 6"/>
          <p:cNvSpPr/>
          <p:nvPr/>
        </p:nvSpPr>
        <p:spPr>
          <a:xfrm>
            <a:off x="6245352" y="1371600"/>
            <a:ext cx="5312664" cy="2011680"/>
          </a:xfrm>
          <a:prstGeom prst="rect">
            <a:avLst/>
          </a:prstGeom>
          <a:solidFill>
            <a:srgbClr val="0B2350"/>
          </a:solidFill>
          <a:ln w="7620">
            <a:solidFill>
              <a:srgbClr val="D7DDE5"/>
            </a:solidFill>
            <a:prstDash val="solid"/>
          </a:ln>
        </p:spPr>
      </p:sp>
      <p:sp>
        <p:nvSpPr>
          <p:cNvPr id="9" name="Text 7"/>
          <p:cNvSpPr/>
          <p:nvPr/>
        </p:nvSpPr>
        <p:spPr>
          <a:xfrm>
            <a:off x="6409944" y="1508760"/>
            <a:ext cx="4983480" cy="164592"/>
          </a:xfrm>
          <a:prstGeom prst="rect">
            <a:avLst/>
          </a:prstGeom>
          <a:noFill/>
          <a:ln/>
        </p:spPr>
        <p:txBody>
          <a:bodyPr wrap="square" lIns="0" tIns="0" rIns="0" bIns="0" rtlCol="0" anchor="ctr"/>
          <a:lstStyle/>
          <a:p>
            <a:pPr indent="0" marL="0">
              <a:buNone/>
            </a:pPr>
            <a:r>
              <a:rPr lang="en-US" sz="820" b="1" spc="150" kern="0" dirty="0">
                <a:solidFill>
                  <a:srgbClr val="FFD200"/>
                </a:solidFill>
                <a:latin typeface="Calibri" pitchFamily="34" charset="0"/>
                <a:ea typeface="Calibri" pitchFamily="34" charset="-122"/>
                <a:cs typeface="Calibri" pitchFamily="34" charset="-120"/>
              </a:rPr>
              <a:t>TRAP 2 — THE BIG ONE</a:t>
            </a:r>
            <a:endParaRPr lang="en-US" sz="820" dirty="0"/>
          </a:p>
        </p:txBody>
      </p:sp>
      <p:sp>
        <p:nvSpPr>
          <p:cNvPr id="10" name="Text 8"/>
          <p:cNvSpPr/>
          <p:nvPr/>
        </p:nvSpPr>
        <p:spPr>
          <a:xfrm>
            <a:off x="6409944" y="1700784"/>
            <a:ext cx="4983480"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The audit-calendar trap</a:t>
            </a:r>
            <a:endParaRPr lang="en-US" sz="1400" dirty="0"/>
          </a:p>
        </p:txBody>
      </p:sp>
      <p:sp>
        <p:nvSpPr>
          <p:cNvPr id="11" name="Text 9"/>
          <p:cNvSpPr/>
          <p:nvPr/>
        </p:nvSpPr>
        <p:spPr>
          <a:xfrm>
            <a:off x="6446520" y="2057400"/>
            <a:ext cx="4928616"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40" dirty="0">
                <a:solidFill>
                  <a:srgbClr val="E8EFF9"/>
                </a:solidFill>
                <a:latin typeface="Calibri" pitchFamily="34" charset="0"/>
                <a:ea typeface="Calibri" pitchFamily="34" charset="-122"/>
                <a:cs typeface="Calibri" pitchFamily="34" charset="-120"/>
              </a:rPr>
              <a:t>G2 is measured in evidence hours per audit cycle</a:t>
            </a:r>
            <a:endParaRPr lang="en-US" sz="940" dirty="0"/>
          </a:p>
          <a:p>
            <a:pPr marL="342900" indent="-342900">
              <a:lnSpc>
                <a:spcPts val="1220"/>
              </a:lnSpc>
              <a:spcAft>
                <a:spcPts val="300"/>
              </a:spcAft>
              <a:buSzPct val="100000"/>
              <a:buChar char="•"/>
            </a:pPr>
            <a:r>
              <a:rPr lang="en-US" sz="940" dirty="0">
                <a:solidFill>
                  <a:srgbClr val="E8EFF9"/>
                </a:solidFill>
                <a:latin typeface="Calibri" pitchFamily="34" charset="0"/>
                <a:ea typeface="Calibri" pitchFamily="34" charset="-122"/>
                <a:cs typeface="Calibri" pitchFamily="34" charset="-120"/>
              </a:rPr>
              <a:t>If there is no audit cycle inside the 90 days, we can't show compliance toil falling — run the evidence drill instead</a:t>
            </a:r>
            <a:endParaRPr lang="en-US" sz="940" dirty="0"/>
          </a:p>
          <a:p>
            <a:pPr marL="342900" indent="-342900">
              <a:lnSpc>
                <a:spcPts val="1220"/>
              </a:lnSpc>
              <a:spcAft>
                <a:spcPts val="300"/>
              </a:spcAft>
              <a:buSzPct val="100000"/>
              <a:buChar char="•"/>
            </a:pPr>
            <a:r>
              <a:rPr lang="en-US" sz="940" dirty="0">
                <a:solidFill>
                  <a:srgbClr val="E8EFF9"/>
                </a:solidFill>
                <a:latin typeface="Calibri" pitchFamily="34" charset="0"/>
                <a:ea typeface="Calibri" pitchFamily="34" charset="-122"/>
                <a:cs typeface="Calibri" pitchFamily="34" charset="-120"/>
              </a:rPr>
              <a:t>Check the calendar now, not at day 60</a:t>
            </a:r>
            <a:endParaRPr lang="en-US" sz="940" dirty="0"/>
          </a:p>
        </p:txBody>
      </p:sp>
      <p:sp>
        <p:nvSpPr>
          <p:cNvPr id="12" name="Shape 10"/>
          <p:cNvSpPr/>
          <p:nvPr/>
        </p:nvSpPr>
        <p:spPr>
          <a:xfrm>
            <a:off x="566928" y="3566160"/>
            <a:ext cx="11027664" cy="1371600"/>
          </a:xfrm>
          <a:prstGeom prst="rect">
            <a:avLst/>
          </a:prstGeom>
          <a:solidFill>
            <a:srgbClr val="EEF2F8"/>
          </a:solidFill>
          <a:ln/>
        </p:spPr>
      </p:sp>
      <p:sp>
        <p:nvSpPr>
          <p:cNvPr id="13" name="Text 11"/>
          <p:cNvSpPr/>
          <p:nvPr/>
        </p:nvSpPr>
        <p:spPr>
          <a:xfrm>
            <a:off x="768096" y="3685032"/>
            <a:ext cx="7315200" cy="182880"/>
          </a:xfrm>
          <a:prstGeom prst="rect">
            <a:avLst/>
          </a:prstGeom>
          <a:noFill/>
          <a:ln/>
        </p:spPr>
        <p:txBody>
          <a:bodyPr wrap="square" lIns="0" tIns="0" rIns="0" bIns="0" rtlCol="0" anchor="ctr"/>
          <a:lstStyle/>
          <a:p>
            <a:pPr indent="0" marL="0">
              <a:buNone/>
            </a:pPr>
            <a:r>
              <a:rPr lang="en-US" sz="850" b="1" spc="170" kern="0" dirty="0">
                <a:solidFill>
                  <a:srgbClr val="C9A227"/>
                </a:solidFill>
                <a:latin typeface="Calibri" pitchFamily="34" charset="0"/>
                <a:ea typeface="Calibri" pitchFamily="34" charset="-122"/>
                <a:cs typeface="Calibri" pitchFamily="34" charset="-120"/>
              </a:rPr>
              <a:t>THE FIX — AN EVIDENCE DRILL</a:t>
            </a:r>
            <a:endParaRPr lang="en-US" sz="850" dirty="0"/>
          </a:p>
        </p:txBody>
      </p:sp>
      <p:sp>
        <p:nvSpPr>
          <p:cNvPr id="14" name="Text 12"/>
          <p:cNvSpPr/>
          <p:nvPr/>
        </p:nvSpPr>
        <p:spPr>
          <a:xfrm>
            <a:off x="768096" y="3895344"/>
            <a:ext cx="10625328" cy="969264"/>
          </a:xfrm>
          <a:prstGeom prst="rect">
            <a:avLst/>
          </a:prstGeom>
          <a:noFill/>
          <a:ln/>
        </p:spPr>
        <p:txBody>
          <a:bodyPr wrap="square" lIns="0" tIns="0" rIns="0" bIns="0" rtlCol="0" anchor="ctr"/>
          <a:lstStyle/>
          <a:p>
            <a:pPr indent="0" marL="0">
              <a:lnSpc>
                <a:spcPts val="1400"/>
              </a:lnSpc>
              <a:buNone/>
            </a:pPr>
            <a:r>
              <a:rPr lang="en-US" sz="1250" b="1" dirty="0">
                <a:solidFill>
                  <a:srgbClr val="0B2350"/>
                </a:solidFill>
                <a:latin typeface="Calibri" pitchFamily="34" charset="0"/>
                <a:ea typeface="Calibri" pitchFamily="34" charset="-122"/>
                <a:cs typeface="Calibri" pitchFamily="34" charset="-120"/>
              </a:rPr>
              <a:t>A timed, simulated evidence request at day 30 and again at day 85 — same scope both times.
</a:t>
            </a:r>
            <a:pPr indent="0" marL="0">
              <a:lnSpc>
                <a:spcPts val="1400"/>
              </a:lnSpc>
              <a:buNone/>
            </a:pPr>
            <a:r>
              <a:rPr lang="en-US" sz="1050" dirty="0">
                <a:solidFill>
                  <a:srgbClr val="1E252E"/>
                </a:solidFill>
                <a:latin typeface="Calibri" pitchFamily="34" charset="0"/>
                <a:ea typeface="Calibri" pitchFamily="34" charset="-122"/>
                <a:cs typeface="Calibri" pitchFamily="34" charset="-120"/>
              </a:rPr>
              <a:t>Clean before-and-after, independent of the audit calendar, and honestly more rigorous than a real cycle because the scope is controlled rather than whatever the auditor happened to ask for this year. Tigers runs it — they're in the pod, which is what makes this cheap. Consider the same mechanism for provisioning if request volume in the window is too low to sample meaningfully.</a:t>
            </a:r>
            <a:endParaRPr lang="en-US" sz="1250" dirty="0"/>
          </a:p>
        </p:txBody>
      </p:sp>
      <p:sp>
        <p:nvSpPr>
          <p:cNvPr id="15" name="Shape 13"/>
          <p:cNvSpPr/>
          <p:nvPr/>
        </p:nvSpPr>
        <p:spPr>
          <a:xfrm>
            <a:off x="566928" y="5084064"/>
            <a:ext cx="11027664" cy="676656"/>
          </a:xfrm>
          <a:prstGeom prst="rect">
            <a:avLst/>
          </a:prstGeom>
          <a:solidFill>
            <a:srgbClr val="0B2350"/>
          </a:solidFill>
          <a:ln/>
        </p:spPr>
      </p:sp>
      <p:sp>
        <p:nvSpPr>
          <p:cNvPr id="16" name="Text 14"/>
          <p:cNvSpPr/>
          <p:nvPr/>
        </p:nvSpPr>
        <p:spPr>
          <a:xfrm>
            <a:off x="768096" y="5212080"/>
            <a:ext cx="10625328" cy="457200"/>
          </a:xfrm>
          <a:prstGeom prst="rect">
            <a:avLst/>
          </a:prstGeom>
          <a:noFill/>
          <a:ln/>
        </p:spPr>
        <p:txBody>
          <a:bodyPr wrap="square" lIns="0" tIns="0" rIns="0" bIns="0" rtlCol="0" anchor="ctr"/>
          <a:lstStyle/>
          <a:p>
            <a:pPr indent="0" marL="0">
              <a:lnSpc>
                <a:spcPts val="1450"/>
              </a:lnSpc>
              <a:buNone/>
            </a:pPr>
            <a:r>
              <a:rPr lang="en-US" sz="1100" b="1" dirty="0">
                <a:solidFill>
                  <a:srgbClr val="FFD200"/>
                </a:solidFill>
                <a:latin typeface="Calibri" pitchFamily="34" charset="0"/>
                <a:ea typeface="Calibri" pitchFamily="34" charset="-122"/>
                <a:cs typeface="Calibri" pitchFamily="34" charset="-120"/>
              </a:rPr>
              <a:t>Why this slide exists:  </a:t>
            </a:r>
            <a:pPr indent="0" marL="0">
              <a:lnSpc>
                <a:spcPts val="1450"/>
              </a:lnSpc>
              <a:buNone/>
            </a:pPr>
            <a:r>
              <a:rPr lang="en-US" sz="1100" dirty="0">
                <a:solidFill>
                  <a:srgbClr val="E8EFF9"/>
                </a:solidFill>
                <a:latin typeface="Calibri" pitchFamily="34" charset="0"/>
                <a:ea typeface="Calibri" pitchFamily="34" charset="-122"/>
                <a:cs typeface="Calibri" pitchFamily="34" charset="-120"/>
              </a:rPr>
              <a:t>the baseline is the only part of this pilot that cannot be redone later. Everything else can be adjusted at day 60. Get this wrong and the day-90 conversation is about methodology instead of outcomes — which is how a pilot fails ambiguously.</a:t>
            </a:r>
            <a:endParaRPr lang="en-US" sz="110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THE 90 DAYS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Milestones — every gate has a tell</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Each gate states what must be true. If it isn't true, we adjust — that's the point of having gates rather than a launch date.</a:t>
            </a:r>
            <a:endParaRPr lang="en-US" sz="1200" dirty="0"/>
          </a:p>
        </p:txBody>
      </p:sp>
      <p:sp>
        <p:nvSpPr>
          <p:cNvPr id="5" name="Shape 3"/>
          <p:cNvSpPr/>
          <p:nvPr/>
        </p:nvSpPr>
        <p:spPr>
          <a:xfrm>
            <a:off x="566928" y="1828800"/>
            <a:ext cx="2073859" cy="512064"/>
          </a:xfrm>
          <a:prstGeom prst="rect">
            <a:avLst/>
          </a:prstGeom>
          <a:solidFill>
            <a:srgbClr val="FFD200"/>
          </a:solidFill>
          <a:ln/>
        </p:spPr>
      </p:sp>
      <p:sp>
        <p:nvSpPr>
          <p:cNvPr id="6" name="Text 4"/>
          <p:cNvSpPr/>
          <p:nvPr/>
        </p:nvSpPr>
        <p:spPr>
          <a:xfrm>
            <a:off x="694944" y="1901952"/>
            <a:ext cx="1817827" cy="182880"/>
          </a:xfrm>
          <a:prstGeom prst="rect">
            <a:avLst/>
          </a:prstGeom>
          <a:noFill/>
          <a:ln/>
        </p:spPr>
        <p:txBody>
          <a:bodyPr wrap="square" lIns="0" tIns="0" rIns="0" bIns="0" rtlCol="0" anchor="ctr"/>
          <a:lstStyle/>
          <a:p>
            <a:pPr indent="0" marL="0">
              <a:buNone/>
            </a:pPr>
            <a:r>
              <a:rPr lang="en-US" sz="800" b="1" spc="150" kern="0" dirty="0">
                <a:solidFill>
                  <a:srgbClr val="0B2350"/>
                </a:solidFill>
                <a:latin typeface="Calibri" pitchFamily="34" charset="0"/>
                <a:ea typeface="Calibri" pitchFamily="34" charset="-122"/>
                <a:cs typeface="Calibri" pitchFamily="34" charset="-120"/>
              </a:rPr>
              <a:t>DAY 15</a:t>
            </a:r>
            <a:endParaRPr lang="en-US" sz="800" dirty="0"/>
          </a:p>
        </p:txBody>
      </p:sp>
      <p:sp>
        <p:nvSpPr>
          <p:cNvPr id="7" name="Text 5"/>
          <p:cNvSpPr/>
          <p:nvPr/>
        </p:nvSpPr>
        <p:spPr>
          <a:xfrm>
            <a:off x="694944" y="2066544"/>
            <a:ext cx="1817827" cy="237744"/>
          </a:xfrm>
          <a:prstGeom prst="rect">
            <a:avLst/>
          </a:prstGeom>
          <a:noFill/>
          <a:ln/>
        </p:spPr>
        <p:txBody>
          <a:bodyPr wrap="square" lIns="0" tIns="0" rIns="0" bIns="0" rtlCol="0" anchor="ctr"/>
          <a:lstStyle/>
          <a:p>
            <a:pPr indent="0" marL="0">
              <a:buNone/>
            </a:pPr>
            <a:r>
              <a:rPr lang="en-US" sz="1300" b="1" dirty="0">
                <a:solidFill>
                  <a:srgbClr val="0B2350"/>
                </a:solidFill>
                <a:latin typeface="Cambria" pitchFamily="34" charset="0"/>
                <a:ea typeface="Cambria" pitchFamily="34" charset="-122"/>
                <a:cs typeface="Cambria" pitchFamily="34" charset="-120"/>
              </a:rPr>
              <a:t>Stand up</a:t>
            </a:r>
            <a:endParaRPr lang="en-US" sz="1300" dirty="0"/>
          </a:p>
        </p:txBody>
      </p:sp>
      <p:sp>
        <p:nvSpPr>
          <p:cNvPr id="8" name="Shape 6"/>
          <p:cNvSpPr/>
          <p:nvPr/>
        </p:nvSpPr>
        <p:spPr>
          <a:xfrm>
            <a:off x="566928" y="2340864"/>
            <a:ext cx="2073859" cy="1920240"/>
          </a:xfrm>
          <a:prstGeom prst="rect">
            <a:avLst/>
          </a:prstGeom>
          <a:solidFill>
            <a:srgbClr val="F4F7FB"/>
          </a:solidFill>
          <a:ln w="6350">
            <a:solidFill>
              <a:srgbClr val="D7DDE5"/>
            </a:solidFill>
            <a:prstDash val="solid"/>
          </a:ln>
        </p:spPr>
      </p:sp>
      <p:sp>
        <p:nvSpPr>
          <p:cNvPr id="9" name="Text 7"/>
          <p:cNvSpPr/>
          <p:nvPr/>
        </p:nvSpPr>
        <p:spPr>
          <a:xfrm>
            <a:off x="694944" y="2432304"/>
            <a:ext cx="1817827" cy="146304"/>
          </a:xfrm>
          <a:prstGeom prst="rect">
            <a:avLst/>
          </a:prstGeom>
          <a:noFill/>
          <a:ln/>
        </p:spPr>
        <p:txBody>
          <a:bodyPr wrap="square" lIns="0" tIns="0" rIns="0" bIns="0" rtlCol="0" anchor="ctr"/>
          <a:lstStyle/>
          <a:p>
            <a:pPr indent="0" marL="0">
              <a:buNone/>
            </a:pPr>
            <a:r>
              <a:rPr lang="en-US" sz="680" b="1" spc="120" kern="0" dirty="0">
                <a:solidFill>
                  <a:srgbClr val="5C6773"/>
                </a:solidFill>
                <a:latin typeface="Calibri" pitchFamily="34" charset="0"/>
                <a:ea typeface="Calibri" pitchFamily="34" charset="-122"/>
                <a:cs typeface="Calibri" pitchFamily="34" charset="-120"/>
              </a:rPr>
              <a:t>MUST BE TRUE</a:t>
            </a:r>
            <a:endParaRPr lang="en-US" sz="680" dirty="0"/>
          </a:p>
        </p:txBody>
      </p:sp>
      <p:sp>
        <p:nvSpPr>
          <p:cNvPr id="10" name="Text 8"/>
          <p:cNvSpPr/>
          <p:nvPr/>
        </p:nvSpPr>
        <p:spPr>
          <a:xfrm>
            <a:off x="713232" y="2596896"/>
            <a:ext cx="1799539" cy="1572768"/>
          </a:xfrm>
          <a:prstGeom prst="rect">
            <a:avLst/>
          </a:prstGeom>
          <a:noFill/>
          <a:ln/>
        </p:spPr>
        <p:txBody>
          <a:bodyPr wrap="square" lIns="0" tIns="0" rIns="0" bIns="0" rtlCol="0" anchor="ctr"/>
          <a:lstStyle/>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Pod chartered; lead named with authority to say no</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Core named, allocations confirmed in writing</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Liaisons named as individuals + backups</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Board live; front door closed and communicated</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Toil taxonomy agreed</a:t>
            </a:r>
            <a:endParaRPr lang="en-US" sz="820" dirty="0"/>
          </a:p>
        </p:txBody>
      </p:sp>
      <p:sp>
        <p:nvSpPr>
          <p:cNvPr id="11" name="Shape 9"/>
          <p:cNvSpPr/>
          <p:nvPr/>
        </p:nvSpPr>
        <p:spPr>
          <a:xfrm>
            <a:off x="566928" y="4261104"/>
            <a:ext cx="2073859" cy="658368"/>
          </a:xfrm>
          <a:prstGeom prst="rect">
            <a:avLst/>
          </a:prstGeom>
          <a:solidFill>
            <a:srgbClr val="0B2350"/>
          </a:solidFill>
          <a:ln/>
        </p:spPr>
      </p:sp>
      <p:sp>
        <p:nvSpPr>
          <p:cNvPr id="12" name="Text 10"/>
          <p:cNvSpPr/>
          <p:nvPr/>
        </p:nvSpPr>
        <p:spPr>
          <a:xfrm>
            <a:off x="694944" y="4352544"/>
            <a:ext cx="1817827" cy="493776"/>
          </a:xfrm>
          <a:prstGeom prst="rect">
            <a:avLst/>
          </a:prstGeom>
          <a:noFill/>
          <a:ln/>
        </p:spPr>
        <p:txBody>
          <a:bodyPr wrap="square" lIns="0" tIns="0" rIns="0" bIns="0" rtlCol="0" anchor="ctr"/>
          <a:lstStyle/>
          <a:p>
            <a:pPr indent="0" marL="0">
              <a:lnSpc>
                <a:spcPts val="960"/>
              </a:lnSpc>
              <a:buNone/>
            </a:pPr>
            <a:r>
              <a:rPr lang="en-US" sz="760" i="1" dirty="0">
                <a:solidFill>
                  <a:srgbClr val="FFD200"/>
                </a:solidFill>
                <a:latin typeface="Calibri" pitchFamily="34" charset="0"/>
                <a:ea typeface="Calibri" pitchFamily="34" charset="-122"/>
                <a:cs typeface="Calibri" pitchFamily="34" charset="-120"/>
              </a:rPr>
              <a:t>Can't name everyone → the model has already told us something</a:t>
            </a:r>
            <a:endParaRPr lang="en-US" sz="760" dirty="0"/>
          </a:p>
        </p:txBody>
      </p:sp>
      <p:sp>
        <p:nvSpPr>
          <p:cNvPr id="13" name="Shape 11"/>
          <p:cNvSpPr/>
          <p:nvPr/>
        </p:nvSpPr>
        <p:spPr>
          <a:xfrm>
            <a:off x="2713939" y="1828800"/>
            <a:ext cx="2073859" cy="512064"/>
          </a:xfrm>
          <a:prstGeom prst="rect">
            <a:avLst/>
          </a:prstGeom>
          <a:solidFill>
            <a:srgbClr val="005DAA"/>
          </a:solidFill>
          <a:ln/>
        </p:spPr>
      </p:sp>
      <p:sp>
        <p:nvSpPr>
          <p:cNvPr id="14" name="Text 12"/>
          <p:cNvSpPr/>
          <p:nvPr/>
        </p:nvSpPr>
        <p:spPr>
          <a:xfrm>
            <a:off x="2841955" y="1901952"/>
            <a:ext cx="1817827" cy="182880"/>
          </a:xfrm>
          <a:prstGeom prst="rect">
            <a:avLst/>
          </a:prstGeom>
          <a:noFill/>
          <a:ln/>
        </p:spPr>
        <p:txBody>
          <a:bodyPr wrap="square" lIns="0" tIns="0" rIns="0" bIns="0" rtlCol="0" anchor="ctr"/>
          <a:lstStyle/>
          <a:p>
            <a:pPr indent="0" marL="0">
              <a:buNone/>
            </a:pPr>
            <a:r>
              <a:rPr lang="en-US" sz="800" b="1" spc="150" kern="0" dirty="0">
                <a:solidFill>
                  <a:srgbClr val="FFFFFF"/>
                </a:solidFill>
                <a:latin typeface="Calibri" pitchFamily="34" charset="0"/>
                <a:ea typeface="Calibri" pitchFamily="34" charset="-122"/>
                <a:cs typeface="Calibri" pitchFamily="34" charset="-120"/>
              </a:rPr>
              <a:t>DAY 30</a:t>
            </a:r>
            <a:endParaRPr lang="en-US" sz="800" dirty="0"/>
          </a:p>
        </p:txBody>
      </p:sp>
      <p:sp>
        <p:nvSpPr>
          <p:cNvPr id="15" name="Text 13"/>
          <p:cNvSpPr/>
          <p:nvPr/>
        </p:nvSpPr>
        <p:spPr>
          <a:xfrm>
            <a:off x="2841955" y="2066544"/>
            <a:ext cx="1817827" cy="23774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Baseline &amp; first loop</a:t>
            </a:r>
            <a:endParaRPr lang="en-US" sz="1300" dirty="0"/>
          </a:p>
        </p:txBody>
      </p:sp>
      <p:sp>
        <p:nvSpPr>
          <p:cNvPr id="16" name="Shape 14"/>
          <p:cNvSpPr/>
          <p:nvPr/>
        </p:nvSpPr>
        <p:spPr>
          <a:xfrm>
            <a:off x="2713939" y="2340864"/>
            <a:ext cx="2073859" cy="1920240"/>
          </a:xfrm>
          <a:prstGeom prst="rect">
            <a:avLst/>
          </a:prstGeom>
          <a:solidFill>
            <a:srgbClr val="F4F7FB"/>
          </a:solidFill>
          <a:ln w="6350">
            <a:solidFill>
              <a:srgbClr val="D7DDE5"/>
            </a:solidFill>
            <a:prstDash val="solid"/>
          </a:ln>
        </p:spPr>
      </p:sp>
      <p:sp>
        <p:nvSpPr>
          <p:cNvPr id="17" name="Text 15"/>
          <p:cNvSpPr/>
          <p:nvPr/>
        </p:nvSpPr>
        <p:spPr>
          <a:xfrm>
            <a:off x="2841955" y="2432304"/>
            <a:ext cx="1817827" cy="146304"/>
          </a:xfrm>
          <a:prstGeom prst="rect">
            <a:avLst/>
          </a:prstGeom>
          <a:noFill/>
          <a:ln/>
        </p:spPr>
        <p:txBody>
          <a:bodyPr wrap="square" lIns="0" tIns="0" rIns="0" bIns="0" rtlCol="0" anchor="ctr"/>
          <a:lstStyle/>
          <a:p>
            <a:pPr indent="0" marL="0">
              <a:buNone/>
            </a:pPr>
            <a:r>
              <a:rPr lang="en-US" sz="680" b="1" spc="120" kern="0" dirty="0">
                <a:solidFill>
                  <a:srgbClr val="5C6773"/>
                </a:solidFill>
                <a:latin typeface="Calibri" pitchFamily="34" charset="0"/>
                <a:ea typeface="Calibri" pitchFamily="34" charset="-122"/>
                <a:cs typeface="Calibri" pitchFamily="34" charset="-120"/>
              </a:rPr>
              <a:t>MUST BE TRUE</a:t>
            </a:r>
            <a:endParaRPr lang="en-US" sz="680" dirty="0"/>
          </a:p>
        </p:txBody>
      </p:sp>
      <p:sp>
        <p:nvSpPr>
          <p:cNvPr id="18" name="Text 16"/>
          <p:cNvSpPr/>
          <p:nvPr/>
        </p:nvSpPr>
        <p:spPr>
          <a:xfrm>
            <a:off x="2860243" y="2596896"/>
            <a:ext cx="1799539" cy="1572768"/>
          </a:xfrm>
          <a:prstGeom prst="rect">
            <a:avLst/>
          </a:prstGeom>
          <a:noFill/>
          <a:ln/>
        </p:spPr>
        <p:txBody>
          <a:bodyPr wrap="square" lIns="0" tIns="0" rIns="0" bIns="0" rtlCol="0" anchor="ctr"/>
          <a:lstStyle/>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Baseline captured, frozen and signed</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Metrics flowing automatically — no hand-collection</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Thin-slice offering live in the catalog</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One real request fulfilled end-to-end</a:t>
            </a:r>
            <a:endParaRPr lang="en-US" sz="820" dirty="0"/>
          </a:p>
        </p:txBody>
      </p:sp>
      <p:sp>
        <p:nvSpPr>
          <p:cNvPr id="19" name="Shape 17"/>
          <p:cNvSpPr/>
          <p:nvPr/>
        </p:nvSpPr>
        <p:spPr>
          <a:xfrm>
            <a:off x="2713939" y="4261104"/>
            <a:ext cx="2073859" cy="658368"/>
          </a:xfrm>
          <a:prstGeom prst="rect">
            <a:avLst/>
          </a:prstGeom>
          <a:solidFill>
            <a:srgbClr val="0B2350"/>
          </a:solidFill>
          <a:ln/>
        </p:spPr>
      </p:sp>
      <p:sp>
        <p:nvSpPr>
          <p:cNvPr id="20" name="Text 18"/>
          <p:cNvSpPr/>
          <p:nvPr/>
        </p:nvSpPr>
        <p:spPr>
          <a:xfrm>
            <a:off x="2841955" y="4352544"/>
            <a:ext cx="1817827" cy="493776"/>
          </a:xfrm>
          <a:prstGeom prst="rect">
            <a:avLst/>
          </a:prstGeom>
          <a:noFill/>
          <a:ln/>
        </p:spPr>
        <p:txBody>
          <a:bodyPr wrap="square" lIns="0" tIns="0" rIns="0" bIns="0" rtlCol="0" anchor="ctr"/>
          <a:lstStyle/>
          <a:p>
            <a:pPr indent="0" marL="0">
              <a:lnSpc>
                <a:spcPts val="960"/>
              </a:lnSpc>
              <a:buNone/>
            </a:pPr>
            <a:r>
              <a:rPr lang="en-US" sz="760" i="1" dirty="0">
                <a:solidFill>
                  <a:srgbClr val="FFD200"/>
                </a:solidFill>
                <a:latin typeface="Calibri" pitchFamily="34" charset="0"/>
                <a:ea typeface="Calibri" pitchFamily="34" charset="-122"/>
                <a:cs typeface="Calibri" pitchFamily="34" charset="-120"/>
              </a:rPr>
              <a:t>Still hand-collecting → day 90 proves nothing</a:t>
            </a:r>
            <a:endParaRPr lang="en-US" sz="760" dirty="0"/>
          </a:p>
        </p:txBody>
      </p:sp>
      <p:sp>
        <p:nvSpPr>
          <p:cNvPr id="21" name="Shape 19"/>
          <p:cNvSpPr/>
          <p:nvPr/>
        </p:nvSpPr>
        <p:spPr>
          <a:xfrm>
            <a:off x="4860950" y="1828800"/>
            <a:ext cx="2073859" cy="512064"/>
          </a:xfrm>
          <a:prstGeom prst="rect">
            <a:avLst/>
          </a:prstGeom>
          <a:solidFill>
            <a:srgbClr val="1B6FC4"/>
          </a:solidFill>
          <a:ln/>
        </p:spPr>
      </p:sp>
      <p:sp>
        <p:nvSpPr>
          <p:cNvPr id="22" name="Text 20"/>
          <p:cNvSpPr/>
          <p:nvPr/>
        </p:nvSpPr>
        <p:spPr>
          <a:xfrm>
            <a:off x="4988966" y="1901952"/>
            <a:ext cx="1817827" cy="182880"/>
          </a:xfrm>
          <a:prstGeom prst="rect">
            <a:avLst/>
          </a:prstGeom>
          <a:noFill/>
          <a:ln/>
        </p:spPr>
        <p:txBody>
          <a:bodyPr wrap="square" lIns="0" tIns="0" rIns="0" bIns="0" rtlCol="0" anchor="ctr"/>
          <a:lstStyle/>
          <a:p>
            <a:pPr indent="0" marL="0">
              <a:buNone/>
            </a:pPr>
            <a:r>
              <a:rPr lang="en-US" sz="800" b="1" spc="150" kern="0" dirty="0">
                <a:solidFill>
                  <a:srgbClr val="FFFFFF"/>
                </a:solidFill>
                <a:latin typeface="Calibri" pitchFamily="34" charset="0"/>
                <a:ea typeface="Calibri" pitchFamily="34" charset="-122"/>
                <a:cs typeface="Calibri" pitchFamily="34" charset="-120"/>
              </a:rPr>
              <a:t>DAY 45</a:t>
            </a:r>
            <a:endParaRPr lang="en-US" sz="800" dirty="0"/>
          </a:p>
        </p:txBody>
      </p:sp>
      <p:sp>
        <p:nvSpPr>
          <p:cNvPr id="23" name="Text 21"/>
          <p:cNvSpPr/>
          <p:nvPr/>
        </p:nvSpPr>
        <p:spPr>
          <a:xfrm>
            <a:off x="4988966" y="2066544"/>
            <a:ext cx="1817827" cy="23774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Paved road real</a:t>
            </a:r>
            <a:endParaRPr lang="en-US" sz="1300" dirty="0"/>
          </a:p>
        </p:txBody>
      </p:sp>
      <p:sp>
        <p:nvSpPr>
          <p:cNvPr id="24" name="Shape 22"/>
          <p:cNvSpPr/>
          <p:nvPr/>
        </p:nvSpPr>
        <p:spPr>
          <a:xfrm>
            <a:off x="4860950" y="2340864"/>
            <a:ext cx="2073859" cy="1920240"/>
          </a:xfrm>
          <a:prstGeom prst="rect">
            <a:avLst/>
          </a:prstGeom>
          <a:solidFill>
            <a:srgbClr val="F4F7FB"/>
          </a:solidFill>
          <a:ln w="6350">
            <a:solidFill>
              <a:srgbClr val="D7DDE5"/>
            </a:solidFill>
            <a:prstDash val="solid"/>
          </a:ln>
        </p:spPr>
      </p:sp>
      <p:sp>
        <p:nvSpPr>
          <p:cNvPr id="25" name="Text 23"/>
          <p:cNvSpPr/>
          <p:nvPr/>
        </p:nvSpPr>
        <p:spPr>
          <a:xfrm>
            <a:off x="4988966" y="2432304"/>
            <a:ext cx="1817827" cy="146304"/>
          </a:xfrm>
          <a:prstGeom prst="rect">
            <a:avLst/>
          </a:prstGeom>
          <a:noFill/>
          <a:ln/>
        </p:spPr>
        <p:txBody>
          <a:bodyPr wrap="square" lIns="0" tIns="0" rIns="0" bIns="0" rtlCol="0" anchor="ctr"/>
          <a:lstStyle/>
          <a:p>
            <a:pPr indent="0" marL="0">
              <a:buNone/>
            </a:pPr>
            <a:r>
              <a:rPr lang="en-US" sz="680" b="1" spc="120" kern="0" dirty="0">
                <a:solidFill>
                  <a:srgbClr val="5C6773"/>
                </a:solidFill>
                <a:latin typeface="Calibri" pitchFamily="34" charset="0"/>
                <a:ea typeface="Calibri" pitchFamily="34" charset="-122"/>
                <a:cs typeface="Calibri" pitchFamily="34" charset="-120"/>
              </a:rPr>
              <a:t>MUST BE TRUE</a:t>
            </a:r>
            <a:endParaRPr lang="en-US" sz="680" dirty="0"/>
          </a:p>
        </p:txBody>
      </p:sp>
      <p:sp>
        <p:nvSpPr>
          <p:cNvPr id="26" name="Text 24"/>
          <p:cNvSpPr/>
          <p:nvPr/>
        </p:nvSpPr>
        <p:spPr>
          <a:xfrm>
            <a:off x="5007254" y="2596896"/>
            <a:ext cx="1799539" cy="1572768"/>
          </a:xfrm>
          <a:prstGeom prst="rect">
            <a:avLst/>
          </a:prstGeom>
          <a:noFill/>
          <a:ln/>
        </p:spPr>
        <p:txBody>
          <a:bodyPr wrap="square" lIns="0" tIns="0" rIns="0" bIns="0" rtlCol="0" anchor="ctr"/>
          <a:lstStyle/>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Golden module live in the registry</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First real provision with no human touching the build</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Migration underway — first cohort under management</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Patch agent proposing PRs in non-prod</a:t>
            </a:r>
            <a:endParaRPr lang="en-US" sz="820" dirty="0"/>
          </a:p>
        </p:txBody>
      </p:sp>
      <p:sp>
        <p:nvSpPr>
          <p:cNvPr id="27" name="Shape 25"/>
          <p:cNvSpPr/>
          <p:nvPr/>
        </p:nvSpPr>
        <p:spPr>
          <a:xfrm>
            <a:off x="4860950" y="4261104"/>
            <a:ext cx="2073859" cy="658368"/>
          </a:xfrm>
          <a:prstGeom prst="rect">
            <a:avLst/>
          </a:prstGeom>
          <a:solidFill>
            <a:srgbClr val="0B2350"/>
          </a:solidFill>
          <a:ln/>
        </p:spPr>
      </p:sp>
      <p:sp>
        <p:nvSpPr>
          <p:cNvPr id="28" name="Text 26"/>
          <p:cNvSpPr/>
          <p:nvPr/>
        </p:nvSpPr>
        <p:spPr>
          <a:xfrm>
            <a:off x="4988966" y="4352544"/>
            <a:ext cx="1817827" cy="493776"/>
          </a:xfrm>
          <a:prstGeom prst="rect">
            <a:avLst/>
          </a:prstGeom>
          <a:noFill/>
          <a:ln/>
        </p:spPr>
        <p:txBody>
          <a:bodyPr wrap="square" lIns="0" tIns="0" rIns="0" bIns="0" rtlCol="0" anchor="ctr"/>
          <a:lstStyle/>
          <a:p>
            <a:pPr indent="0" marL="0">
              <a:lnSpc>
                <a:spcPts val="960"/>
              </a:lnSpc>
              <a:buNone/>
            </a:pPr>
            <a:r>
              <a:rPr lang="en-US" sz="760" i="1" dirty="0">
                <a:solidFill>
                  <a:srgbClr val="FFD200"/>
                </a:solidFill>
                <a:latin typeface="Calibri" pitchFamily="34" charset="0"/>
                <a:ea typeface="Calibri" pitchFamily="34" charset="-122"/>
                <a:cs typeface="Calibri" pitchFamily="34" charset="-120"/>
              </a:rPr>
              <a:t>Module works but coverage flat → we built a road with no traffic</a:t>
            </a:r>
            <a:endParaRPr lang="en-US" sz="760" dirty="0"/>
          </a:p>
        </p:txBody>
      </p:sp>
      <p:sp>
        <p:nvSpPr>
          <p:cNvPr id="29" name="Shape 27"/>
          <p:cNvSpPr/>
          <p:nvPr/>
        </p:nvSpPr>
        <p:spPr>
          <a:xfrm>
            <a:off x="7007962" y="1828800"/>
            <a:ext cx="2073859" cy="512064"/>
          </a:xfrm>
          <a:prstGeom prst="rect">
            <a:avLst/>
          </a:prstGeom>
          <a:solidFill>
            <a:srgbClr val="C0392B"/>
          </a:solidFill>
          <a:ln/>
        </p:spPr>
      </p:sp>
      <p:sp>
        <p:nvSpPr>
          <p:cNvPr id="30" name="Text 28"/>
          <p:cNvSpPr/>
          <p:nvPr/>
        </p:nvSpPr>
        <p:spPr>
          <a:xfrm>
            <a:off x="7135978" y="1901952"/>
            <a:ext cx="1817827" cy="182880"/>
          </a:xfrm>
          <a:prstGeom prst="rect">
            <a:avLst/>
          </a:prstGeom>
          <a:noFill/>
          <a:ln/>
        </p:spPr>
        <p:txBody>
          <a:bodyPr wrap="square" lIns="0" tIns="0" rIns="0" bIns="0" rtlCol="0" anchor="ctr"/>
          <a:lstStyle/>
          <a:p>
            <a:pPr indent="0" marL="0">
              <a:buNone/>
            </a:pPr>
            <a:r>
              <a:rPr lang="en-US" sz="800" b="1" spc="150" kern="0" dirty="0">
                <a:solidFill>
                  <a:srgbClr val="FFFFFF"/>
                </a:solidFill>
                <a:latin typeface="Calibri" pitchFamily="34" charset="0"/>
                <a:ea typeface="Calibri" pitchFamily="34" charset="-122"/>
                <a:cs typeface="Calibri" pitchFamily="34" charset="-120"/>
              </a:rPr>
              <a:t>DAY 60</a:t>
            </a:r>
            <a:endParaRPr lang="en-US" sz="800" dirty="0"/>
          </a:p>
        </p:txBody>
      </p:sp>
      <p:sp>
        <p:nvSpPr>
          <p:cNvPr id="31" name="Text 29"/>
          <p:cNvSpPr/>
          <p:nvPr/>
        </p:nvSpPr>
        <p:spPr>
          <a:xfrm>
            <a:off x="7135978" y="2066544"/>
            <a:ext cx="1817827" cy="23774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The decision gate</a:t>
            </a:r>
            <a:endParaRPr lang="en-US" sz="1300" dirty="0"/>
          </a:p>
        </p:txBody>
      </p:sp>
      <p:sp>
        <p:nvSpPr>
          <p:cNvPr id="32" name="Shape 30"/>
          <p:cNvSpPr/>
          <p:nvPr/>
        </p:nvSpPr>
        <p:spPr>
          <a:xfrm>
            <a:off x="7007962" y="2340864"/>
            <a:ext cx="2073859" cy="1920240"/>
          </a:xfrm>
          <a:prstGeom prst="rect">
            <a:avLst/>
          </a:prstGeom>
          <a:solidFill>
            <a:srgbClr val="F4F7FB"/>
          </a:solidFill>
          <a:ln w="6350">
            <a:solidFill>
              <a:srgbClr val="D7DDE5"/>
            </a:solidFill>
            <a:prstDash val="solid"/>
          </a:ln>
        </p:spPr>
      </p:sp>
      <p:sp>
        <p:nvSpPr>
          <p:cNvPr id="33" name="Text 31"/>
          <p:cNvSpPr/>
          <p:nvPr/>
        </p:nvSpPr>
        <p:spPr>
          <a:xfrm>
            <a:off x="7135978" y="2432304"/>
            <a:ext cx="1817827" cy="146304"/>
          </a:xfrm>
          <a:prstGeom prst="rect">
            <a:avLst/>
          </a:prstGeom>
          <a:noFill/>
          <a:ln/>
        </p:spPr>
        <p:txBody>
          <a:bodyPr wrap="square" lIns="0" tIns="0" rIns="0" bIns="0" rtlCol="0" anchor="ctr"/>
          <a:lstStyle/>
          <a:p>
            <a:pPr indent="0" marL="0">
              <a:buNone/>
            </a:pPr>
            <a:r>
              <a:rPr lang="en-US" sz="680" b="1" spc="120" kern="0" dirty="0">
                <a:solidFill>
                  <a:srgbClr val="5C6773"/>
                </a:solidFill>
                <a:latin typeface="Calibri" pitchFamily="34" charset="0"/>
                <a:ea typeface="Calibri" pitchFamily="34" charset="-122"/>
                <a:cs typeface="Calibri" pitchFamily="34" charset="-120"/>
              </a:rPr>
              <a:t>MUST BE TRUE</a:t>
            </a:r>
            <a:endParaRPr lang="en-US" sz="680" dirty="0"/>
          </a:p>
        </p:txBody>
      </p:sp>
      <p:sp>
        <p:nvSpPr>
          <p:cNvPr id="34" name="Text 32"/>
          <p:cNvSpPr/>
          <p:nvPr/>
        </p:nvSpPr>
        <p:spPr>
          <a:xfrm>
            <a:off x="7154266" y="2596896"/>
            <a:ext cx="1799539" cy="1572768"/>
          </a:xfrm>
          <a:prstGeom prst="rect">
            <a:avLst/>
          </a:prstGeom>
          <a:noFill/>
          <a:ln/>
        </p:spPr>
        <p:txBody>
          <a:bodyPr wrap="square" lIns="0" tIns="0" rIns="0" bIns="0" rtlCol="0" anchor="ctr"/>
          <a:lstStyle/>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Migration at scale — coverage is the number to watch</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All three pools trending</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Agent approve/reject rates meaningful</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Mission Control is the readout</a:t>
            </a:r>
            <a:endParaRPr lang="en-US" sz="820" dirty="0"/>
          </a:p>
        </p:txBody>
      </p:sp>
      <p:sp>
        <p:nvSpPr>
          <p:cNvPr id="35" name="Shape 33"/>
          <p:cNvSpPr/>
          <p:nvPr/>
        </p:nvSpPr>
        <p:spPr>
          <a:xfrm>
            <a:off x="7007962" y="4261104"/>
            <a:ext cx="2073859" cy="658368"/>
          </a:xfrm>
          <a:prstGeom prst="rect">
            <a:avLst/>
          </a:prstGeom>
          <a:solidFill>
            <a:srgbClr val="0B2350"/>
          </a:solidFill>
          <a:ln/>
        </p:spPr>
      </p:sp>
      <p:sp>
        <p:nvSpPr>
          <p:cNvPr id="36" name="Text 34"/>
          <p:cNvSpPr/>
          <p:nvPr/>
        </p:nvSpPr>
        <p:spPr>
          <a:xfrm>
            <a:off x="7135978" y="4352544"/>
            <a:ext cx="1817827" cy="493776"/>
          </a:xfrm>
          <a:prstGeom prst="rect">
            <a:avLst/>
          </a:prstGeom>
          <a:noFill/>
          <a:ln/>
        </p:spPr>
        <p:txBody>
          <a:bodyPr wrap="square" lIns="0" tIns="0" rIns="0" bIns="0" rtlCol="0" anchor="ctr"/>
          <a:lstStyle/>
          <a:p>
            <a:pPr indent="0" marL="0">
              <a:lnSpc>
                <a:spcPts val="960"/>
              </a:lnSpc>
              <a:buNone/>
            </a:pPr>
            <a:r>
              <a:rPr lang="en-US" sz="760" i="1" dirty="0">
                <a:solidFill>
                  <a:srgbClr val="FFD200"/>
                </a:solidFill>
                <a:latin typeface="Calibri" pitchFamily="34" charset="0"/>
                <a:ea typeface="Calibri" pitchFamily="34" charset="-122"/>
                <a:cs typeface="Calibri" pitchFamily="34" charset="-120"/>
              </a:rPr>
              <a:t>GO / ADJUST call for the final 30 days</a:t>
            </a:r>
            <a:endParaRPr lang="en-US" sz="760" dirty="0"/>
          </a:p>
        </p:txBody>
      </p:sp>
      <p:sp>
        <p:nvSpPr>
          <p:cNvPr id="37" name="Shape 35"/>
          <p:cNvSpPr/>
          <p:nvPr/>
        </p:nvSpPr>
        <p:spPr>
          <a:xfrm>
            <a:off x="9154973" y="1828800"/>
            <a:ext cx="2073859" cy="512064"/>
          </a:xfrm>
          <a:prstGeom prst="rect">
            <a:avLst/>
          </a:prstGeom>
          <a:solidFill>
            <a:srgbClr val="4C9A2A"/>
          </a:solidFill>
          <a:ln/>
        </p:spPr>
      </p:sp>
      <p:sp>
        <p:nvSpPr>
          <p:cNvPr id="38" name="Text 36"/>
          <p:cNvSpPr/>
          <p:nvPr/>
        </p:nvSpPr>
        <p:spPr>
          <a:xfrm>
            <a:off x="9282989" y="1901952"/>
            <a:ext cx="1817827" cy="182880"/>
          </a:xfrm>
          <a:prstGeom prst="rect">
            <a:avLst/>
          </a:prstGeom>
          <a:noFill/>
          <a:ln/>
        </p:spPr>
        <p:txBody>
          <a:bodyPr wrap="square" lIns="0" tIns="0" rIns="0" bIns="0" rtlCol="0" anchor="ctr"/>
          <a:lstStyle/>
          <a:p>
            <a:pPr indent="0" marL="0">
              <a:buNone/>
            </a:pPr>
            <a:r>
              <a:rPr lang="en-US" sz="800" b="1" spc="150" kern="0" dirty="0">
                <a:solidFill>
                  <a:srgbClr val="FFFFFF"/>
                </a:solidFill>
                <a:latin typeface="Calibri" pitchFamily="34" charset="0"/>
                <a:ea typeface="Calibri" pitchFamily="34" charset="-122"/>
                <a:cs typeface="Calibri" pitchFamily="34" charset="-120"/>
              </a:rPr>
              <a:t>DAY 90</a:t>
            </a:r>
            <a:endParaRPr lang="en-US" sz="800" dirty="0"/>
          </a:p>
        </p:txBody>
      </p:sp>
      <p:sp>
        <p:nvSpPr>
          <p:cNvPr id="39" name="Text 37"/>
          <p:cNvSpPr/>
          <p:nvPr/>
        </p:nvSpPr>
        <p:spPr>
          <a:xfrm>
            <a:off x="9282989" y="2066544"/>
            <a:ext cx="1817827" cy="23774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Readout</a:t>
            </a:r>
            <a:endParaRPr lang="en-US" sz="1300" dirty="0"/>
          </a:p>
        </p:txBody>
      </p:sp>
      <p:sp>
        <p:nvSpPr>
          <p:cNvPr id="40" name="Shape 38"/>
          <p:cNvSpPr/>
          <p:nvPr/>
        </p:nvSpPr>
        <p:spPr>
          <a:xfrm>
            <a:off x="9154973" y="2340864"/>
            <a:ext cx="2073859" cy="1920240"/>
          </a:xfrm>
          <a:prstGeom prst="rect">
            <a:avLst/>
          </a:prstGeom>
          <a:solidFill>
            <a:srgbClr val="F4F7FB"/>
          </a:solidFill>
          <a:ln w="6350">
            <a:solidFill>
              <a:srgbClr val="D7DDE5"/>
            </a:solidFill>
            <a:prstDash val="solid"/>
          </a:ln>
        </p:spPr>
      </p:sp>
      <p:sp>
        <p:nvSpPr>
          <p:cNvPr id="41" name="Text 39"/>
          <p:cNvSpPr/>
          <p:nvPr/>
        </p:nvSpPr>
        <p:spPr>
          <a:xfrm>
            <a:off x="9282989" y="2432304"/>
            <a:ext cx="1817827" cy="146304"/>
          </a:xfrm>
          <a:prstGeom prst="rect">
            <a:avLst/>
          </a:prstGeom>
          <a:noFill/>
          <a:ln/>
        </p:spPr>
        <p:txBody>
          <a:bodyPr wrap="square" lIns="0" tIns="0" rIns="0" bIns="0" rtlCol="0" anchor="ctr"/>
          <a:lstStyle/>
          <a:p>
            <a:pPr indent="0" marL="0">
              <a:buNone/>
            </a:pPr>
            <a:r>
              <a:rPr lang="en-US" sz="680" b="1" spc="120" kern="0" dirty="0">
                <a:solidFill>
                  <a:srgbClr val="5C6773"/>
                </a:solidFill>
                <a:latin typeface="Calibri" pitchFamily="34" charset="0"/>
                <a:ea typeface="Calibri" pitchFamily="34" charset="-122"/>
                <a:cs typeface="Calibri" pitchFamily="34" charset="-120"/>
              </a:rPr>
              <a:t>MUST BE TRUE</a:t>
            </a:r>
            <a:endParaRPr lang="en-US" sz="680" dirty="0"/>
          </a:p>
        </p:txBody>
      </p:sp>
      <p:sp>
        <p:nvSpPr>
          <p:cNvPr id="42" name="Text 40"/>
          <p:cNvSpPr/>
          <p:nvPr/>
        </p:nvSpPr>
        <p:spPr>
          <a:xfrm>
            <a:off x="9301277" y="2596896"/>
            <a:ext cx="1799539" cy="1572768"/>
          </a:xfrm>
          <a:prstGeom prst="rect">
            <a:avLst/>
          </a:prstGeom>
          <a:noFill/>
          <a:ln/>
        </p:spPr>
        <p:txBody>
          <a:bodyPr wrap="square" lIns="0" tIns="0" rIns="0" bIns="0" rtlCol="0" anchor="ctr"/>
          <a:lstStyle/>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Evidence against every goal</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The pattern doc</a:t>
            </a:r>
            <a:endParaRPr lang="en-US" sz="820" dirty="0"/>
          </a:p>
          <a:p>
            <a:pPr marL="342900" indent="-342900">
              <a:lnSpc>
                <a:spcPts val="1040"/>
              </a:lnSpc>
              <a:spcAft>
                <a:spcPts val="300"/>
              </a:spcAft>
              <a:buSzPct val="100000"/>
              <a:buChar char="•"/>
            </a:pPr>
            <a:r>
              <a:rPr lang="en-US" sz="820" dirty="0">
                <a:solidFill>
                  <a:srgbClr val="1E252E"/>
                </a:solidFill>
                <a:latin typeface="Calibri" pitchFamily="34" charset="0"/>
                <a:ea typeface="Calibri" pitchFamily="34" charset="-122"/>
                <a:cs typeface="Calibri" pitchFamily="34" charset="-120"/>
              </a:rPr>
              <a:t>Verdict at program governance</a:t>
            </a:r>
            <a:endParaRPr lang="en-US" sz="820" dirty="0"/>
          </a:p>
        </p:txBody>
      </p:sp>
      <p:sp>
        <p:nvSpPr>
          <p:cNvPr id="43" name="Shape 41"/>
          <p:cNvSpPr/>
          <p:nvPr/>
        </p:nvSpPr>
        <p:spPr>
          <a:xfrm>
            <a:off x="9154973" y="4261104"/>
            <a:ext cx="2073859" cy="658368"/>
          </a:xfrm>
          <a:prstGeom prst="rect">
            <a:avLst/>
          </a:prstGeom>
          <a:solidFill>
            <a:srgbClr val="0B2350"/>
          </a:solidFill>
          <a:ln/>
        </p:spPr>
      </p:sp>
      <p:sp>
        <p:nvSpPr>
          <p:cNvPr id="44" name="Text 42"/>
          <p:cNvSpPr/>
          <p:nvPr/>
        </p:nvSpPr>
        <p:spPr>
          <a:xfrm>
            <a:off x="9282989" y="4352544"/>
            <a:ext cx="1817827" cy="493776"/>
          </a:xfrm>
          <a:prstGeom prst="rect">
            <a:avLst/>
          </a:prstGeom>
          <a:noFill/>
          <a:ln/>
        </p:spPr>
        <p:txBody>
          <a:bodyPr wrap="square" lIns="0" tIns="0" rIns="0" bIns="0" rtlCol="0" anchor="ctr"/>
          <a:lstStyle/>
          <a:p>
            <a:pPr indent="0" marL="0">
              <a:lnSpc>
                <a:spcPts val="960"/>
              </a:lnSpc>
              <a:buNone/>
            </a:pPr>
            <a:r>
              <a:rPr lang="en-US" sz="760" i="1" dirty="0">
                <a:solidFill>
                  <a:srgbClr val="FFD200"/>
                </a:solidFill>
                <a:latin typeface="Calibri" pitchFamily="34" charset="0"/>
                <a:ea typeface="Calibri" pitchFamily="34" charset="-122"/>
                <a:cs typeface="Calibri" pitchFamily="34" charset="-120"/>
              </a:rPr>
              <a:t>GO / ADJUST / STOP</a:t>
            </a:r>
            <a:endParaRPr lang="en-US" sz="760" dirty="0"/>
          </a:p>
        </p:txBody>
      </p:sp>
      <p:sp>
        <p:nvSpPr>
          <p:cNvPr id="45" name="Shape 43"/>
          <p:cNvSpPr/>
          <p:nvPr/>
        </p:nvSpPr>
        <p:spPr>
          <a:xfrm>
            <a:off x="566928" y="5084064"/>
            <a:ext cx="11027664" cy="676656"/>
          </a:xfrm>
          <a:prstGeom prst="rect">
            <a:avLst/>
          </a:prstGeom>
          <a:solidFill>
            <a:srgbClr val="EEF2F8"/>
          </a:solidFill>
          <a:ln/>
        </p:spPr>
      </p:sp>
      <p:sp>
        <p:nvSpPr>
          <p:cNvPr id="46" name="Text 44"/>
          <p:cNvSpPr/>
          <p:nvPr/>
        </p:nvSpPr>
        <p:spPr>
          <a:xfrm>
            <a:off x="768096" y="5212080"/>
            <a:ext cx="10625328" cy="457200"/>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Day 90 is the readout. Day 60 is the decision.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If we wait until day 90 to discover a problem, we have no time to do anything about it. Day 60 is where a month still remains to change the answer. (Day 75, soft: freeze scope and start the pattern doc — one written in the last 48 hours is a fiction.)</a:t>
            </a:r>
            <a:endParaRPr lang="en-US" sz="1100" dirty="0"/>
          </a:p>
        </p:txBody>
      </p:sp>
      <p:sp>
        <p:nvSpPr>
          <p:cNvPr id="47" name="Text 45"/>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THE 90 DAYS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What we put on the table at day 90</a:t>
            </a:r>
            <a:endParaRPr lang="en-US" sz="3100" dirty="0"/>
          </a:p>
        </p:txBody>
      </p:sp>
      <p:sp>
        <p:nvSpPr>
          <p:cNvPr id="4" name="Shape 2"/>
          <p:cNvSpPr/>
          <p:nvPr/>
        </p:nvSpPr>
        <p:spPr>
          <a:xfrm>
            <a:off x="566928" y="1371600"/>
            <a:ext cx="7223760" cy="3712464"/>
          </a:xfrm>
          <a:prstGeom prst="rect">
            <a:avLst/>
          </a:prstGeom>
          <a:solidFill>
            <a:srgbClr val="FFFFFF"/>
          </a:solidFill>
          <a:ln w="7620">
            <a:solidFill>
              <a:srgbClr val="D7DDE5"/>
            </a:solidFill>
            <a:prstDash val="solid"/>
          </a:ln>
        </p:spPr>
      </p:sp>
      <p:sp>
        <p:nvSpPr>
          <p:cNvPr id="5" name="Text 3"/>
          <p:cNvSpPr/>
          <p:nvPr/>
        </p:nvSpPr>
        <p:spPr>
          <a:xfrm>
            <a:off x="731520" y="1508760"/>
            <a:ext cx="6894576" cy="164592"/>
          </a:xfrm>
          <a:prstGeom prst="rect">
            <a:avLst/>
          </a:prstGeom>
          <a:noFill/>
          <a:ln/>
        </p:spPr>
        <p:txBody>
          <a:bodyPr wrap="square" lIns="0" tIns="0" rIns="0" bIns="0" rtlCol="0" anchor="ctr"/>
          <a:lstStyle/>
          <a:p>
            <a:pPr indent="0" marL="0">
              <a:buNone/>
            </a:pPr>
            <a:r>
              <a:rPr lang="en-US" sz="820" b="1" spc="150" kern="0" dirty="0">
                <a:solidFill>
                  <a:srgbClr val="C9A227"/>
                </a:solidFill>
                <a:latin typeface="Calibri" pitchFamily="34" charset="0"/>
                <a:ea typeface="Calibri" pitchFamily="34" charset="-122"/>
                <a:cs typeface="Calibri" pitchFamily="34" charset="-120"/>
              </a:rPr>
              <a:t>THE EVIDENCE</a:t>
            </a:r>
            <a:endParaRPr lang="en-US" sz="820" dirty="0"/>
          </a:p>
        </p:txBody>
      </p:sp>
      <p:sp>
        <p:nvSpPr>
          <p:cNvPr id="6" name="Text 4"/>
          <p:cNvSpPr/>
          <p:nvPr/>
        </p:nvSpPr>
        <p:spPr>
          <a:xfrm>
            <a:off x="731520" y="1700784"/>
            <a:ext cx="6894576" cy="310896"/>
          </a:xfrm>
          <a:prstGeom prst="rect">
            <a:avLst/>
          </a:prstGeom>
          <a:noFill/>
          <a:ln/>
        </p:spPr>
        <p:txBody>
          <a:bodyPr wrap="square" lIns="0" tIns="0" rIns="0" bIns="0" rtlCol="0" anchor="ctr"/>
          <a:lstStyle/>
          <a:p>
            <a:pPr indent="0" marL="0">
              <a:buNone/>
            </a:pPr>
            <a:r>
              <a:rPr lang="en-US" sz="1400" b="1" dirty="0">
                <a:solidFill>
                  <a:srgbClr val="0B2350"/>
                </a:solidFill>
                <a:latin typeface="Cambria" pitchFamily="34" charset="0"/>
                <a:ea typeface="Cambria" pitchFamily="34" charset="-122"/>
                <a:cs typeface="Cambria" pitchFamily="34" charset="-120"/>
              </a:rPr>
              <a:t>Against every goal, from the instrument — not a narrative</a:t>
            </a:r>
            <a:endParaRPr lang="en-US" sz="1400" dirty="0"/>
          </a:p>
        </p:txBody>
      </p:sp>
      <p:sp>
        <p:nvSpPr>
          <p:cNvPr id="7" name="Text 5"/>
          <p:cNvSpPr/>
          <p:nvPr/>
        </p:nvSpPr>
        <p:spPr>
          <a:xfrm>
            <a:off x="768096" y="2057400"/>
            <a:ext cx="6839712" cy="2916936"/>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Toil % vs. baseline — broken out per pool, so ops, compliance and incidents stand or fall separately</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 of the estate migrated onto the automated pattern — the multiplier on every other number</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Provisioning lead time and self-service rate vs. baseline  (G1)</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Evidence person-hours per audit cycle — or the day-30 vs. day-85 drill  (G2)</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Alert-to-incident ratio, repeat-incident %, MTTR  (G3)</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 work through the front door · side-channel trend  (G4)</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Golden module reuse count — provisions through it, not modules published  (P1)</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Zephyr pull-ins per week — the taper, or the absence of one  (P1)</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Agent PRs proposed / approved / rejected, with the rejection rate in both directions  (P2)</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The pattern doc — what engine #2 inherits  (P3)</a:t>
            </a:r>
            <a:endParaRPr lang="en-US" sz="1000" dirty="0"/>
          </a:p>
          <a:p>
            <a:pPr marL="342900" indent="-342900">
              <a:lnSpc>
                <a:spcPts val="1220"/>
              </a:lnSpc>
              <a:spcAft>
                <a:spcPts val="300"/>
              </a:spcAft>
              <a:buSzPct val="100000"/>
              <a:buChar char="•"/>
            </a:pPr>
            <a:r>
              <a:rPr lang="en-US" sz="1000" dirty="0">
                <a:solidFill>
                  <a:srgbClr val="1E252E"/>
                </a:solidFill>
                <a:latin typeface="Calibri" pitchFamily="34" charset="0"/>
                <a:ea typeface="Calibri" pitchFamily="34" charset="-122"/>
                <a:cs typeface="Calibri" pitchFamily="34" charset="-120"/>
              </a:rPr>
              <a:t>Squad health and retention</a:t>
            </a:r>
            <a:endParaRPr lang="en-US" sz="1000" dirty="0"/>
          </a:p>
        </p:txBody>
      </p:sp>
      <p:sp>
        <p:nvSpPr>
          <p:cNvPr id="8" name="Shape 6"/>
          <p:cNvSpPr/>
          <p:nvPr/>
        </p:nvSpPr>
        <p:spPr>
          <a:xfrm>
            <a:off x="8028432" y="1371600"/>
            <a:ext cx="3529584" cy="3712464"/>
          </a:xfrm>
          <a:prstGeom prst="rect">
            <a:avLst/>
          </a:prstGeom>
          <a:solidFill>
            <a:srgbClr val="0B2350"/>
          </a:solidFill>
          <a:ln w="7620">
            <a:solidFill>
              <a:srgbClr val="D7DDE5"/>
            </a:solidFill>
            <a:prstDash val="solid"/>
          </a:ln>
        </p:spPr>
      </p:sp>
      <p:sp>
        <p:nvSpPr>
          <p:cNvPr id="9" name="Text 7"/>
          <p:cNvSpPr/>
          <p:nvPr/>
        </p:nvSpPr>
        <p:spPr>
          <a:xfrm>
            <a:off x="8193024" y="1508760"/>
            <a:ext cx="3200400" cy="164592"/>
          </a:xfrm>
          <a:prstGeom prst="rect">
            <a:avLst/>
          </a:prstGeom>
          <a:noFill/>
          <a:ln/>
        </p:spPr>
        <p:txBody>
          <a:bodyPr wrap="square" lIns="0" tIns="0" rIns="0" bIns="0" rtlCol="0" anchor="ctr"/>
          <a:lstStyle/>
          <a:p>
            <a:pPr indent="0" marL="0">
              <a:buNone/>
            </a:pPr>
            <a:r>
              <a:rPr lang="en-US" sz="820" b="1" spc="150" kern="0" dirty="0">
                <a:solidFill>
                  <a:srgbClr val="FFD200"/>
                </a:solidFill>
                <a:latin typeface="Calibri" pitchFamily="34" charset="0"/>
                <a:ea typeface="Calibri" pitchFamily="34" charset="-122"/>
                <a:cs typeface="Calibri" pitchFamily="34" charset="-120"/>
              </a:rPr>
              <a:t>NOT PROMISED</a:t>
            </a:r>
            <a:endParaRPr lang="en-US" sz="820" dirty="0"/>
          </a:p>
        </p:txBody>
      </p:sp>
      <p:sp>
        <p:nvSpPr>
          <p:cNvPr id="10" name="Text 8"/>
          <p:cNvSpPr/>
          <p:nvPr/>
        </p:nvSpPr>
        <p:spPr>
          <a:xfrm>
            <a:off x="8193024" y="1700784"/>
            <a:ext cx="3200400"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What we said on day 0 we would not show</a:t>
            </a:r>
            <a:endParaRPr lang="en-US" sz="1300" dirty="0"/>
          </a:p>
        </p:txBody>
      </p:sp>
      <p:sp>
        <p:nvSpPr>
          <p:cNvPr id="11" name="Text 9"/>
          <p:cNvSpPr/>
          <p:nvPr/>
        </p:nvSpPr>
        <p:spPr>
          <a:xfrm>
            <a:off x="8229600" y="2258568"/>
            <a:ext cx="3145536" cy="2715768"/>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60" dirty="0">
                <a:solidFill>
                  <a:srgbClr val="E8EFF9"/>
                </a:solidFill>
                <a:latin typeface="Calibri" pitchFamily="34" charset="0"/>
                <a:ea typeface="Calibri" pitchFamily="34" charset="-122"/>
                <a:cs typeface="Calibri" pitchFamily="34" charset="-120"/>
              </a:rPr>
              <a:t>Estate-wide cost savings</a:t>
            </a:r>
            <a:endParaRPr lang="en-US" sz="960" dirty="0"/>
          </a:p>
          <a:p>
            <a:pPr marL="342900" indent="-342900">
              <a:lnSpc>
                <a:spcPts val="1220"/>
              </a:lnSpc>
              <a:spcAft>
                <a:spcPts val="300"/>
              </a:spcAft>
              <a:buSzPct val="100000"/>
              <a:buChar char="•"/>
            </a:pPr>
            <a:r>
              <a:rPr lang="en-US" sz="960" dirty="0">
                <a:solidFill>
                  <a:srgbClr val="E8EFF9"/>
                </a:solidFill>
                <a:latin typeface="Calibri" pitchFamily="34" charset="0"/>
                <a:ea typeface="Calibri" pitchFamily="34" charset="-122"/>
                <a:cs typeface="Calibri" pitchFamily="34" charset="-120"/>
              </a:rPr>
              <a:t>Headcount impact</a:t>
            </a:r>
            <a:endParaRPr lang="en-US" sz="960" dirty="0"/>
          </a:p>
          <a:p>
            <a:pPr marL="342900" indent="-342900">
              <a:lnSpc>
                <a:spcPts val="1220"/>
              </a:lnSpc>
              <a:spcAft>
                <a:spcPts val="300"/>
              </a:spcAft>
              <a:buSzPct val="100000"/>
              <a:buChar char="•"/>
            </a:pPr>
            <a:r>
              <a:rPr lang="en-US" sz="960" dirty="0">
                <a:solidFill>
                  <a:srgbClr val="E8EFF9"/>
                </a:solidFill>
                <a:latin typeface="Calibri" pitchFamily="34" charset="0"/>
                <a:ea typeface="Calibri" pitchFamily="34" charset="-122"/>
                <a:cs typeface="Calibri" pitchFamily="34" charset="-120"/>
              </a:rPr>
              <a:t>Migrations complete</a:t>
            </a:r>
            <a:endParaRPr lang="en-US" sz="960" dirty="0"/>
          </a:p>
          <a:p>
            <a:pPr marL="342900" indent="-342900">
              <a:lnSpc>
                <a:spcPts val="1220"/>
              </a:lnSpc>
              <a:spcAft>
                <a:spcPts val="300"/>
              </a:spcAft>
              <a:buSzPct val="100000"/>
              <a:buChar char="•"/>
            </a:pPr>
            <a:r>
              <a:rPr lang="en-US" sz="960" dirty="0">
                <a:solidFill>
                  <a:srgbClr val="E8EFF9"/>
                </a:solidFill>
                <a:latin typeface="Calibri" pitchFamily="34" charset="0"/>
                <a:ea typeface="Calibri" pitchFamily="34" charset="-122"/>
                <a:cs typeface="Calibri" pitchFamily="34" charset="-120"/>
              </a:rPr>
              <a:t>Other engines onboarded</a:t>
            </a:r>
            <a:endParaRPr lang="en-US" sz="960" dirty="0"/>
          </a:p>
          <a:p>
            <a:pPr marL="342900" indent="-342900">
              <a:lnSpc>
                <a:spcPts val="1220"/>
              </a:lnSpc>
              <a:spcAft>
                <a:spcPts val="300"/>
              </a:spcAft>
              <a:buSzPct val="100000"/>
              <a:buChar char="•"/>
            </a:pPr>
            <a:r>
              <a:rPr lang="en-US" sz="960" dirty="0">
                <a:solidFill>
                  <a:srgbClr val="E8EFF9"/>
                </a:solidFill>
                <a:latin typeface="Calibri" pitchFamily="34" charset="0"/>
                <a:ea typeface="Calibri" pitchFamily="34" charset="-122"/>
                <a:cs typeface="Calibri" pitchFamily="34" charset="-120"/>
              </a:rPr>
              <a:t>Outcome metrics at full maturity — those need 2-3 quarters of signal, not 90 days</a:t>
            </a:r>
            <a:endParaRPr lang="en-US" sz="960" dirty="0"/>
          </a:p>
        </p:txBody>
      </p:sp>
      <p:sp>
        <p:nvSpPr>
          <p:cNvPr id="12" name="Shape 10"/>
          <p:cNvSpPr/>
          <p:nvPr/>
        </p:nvSpPr>
        <p:spPr>
          <a:xfrm>
            <a:off x="566928" y="5230368"/>
            <a:ext cx="11027664" cy="530352"/>
          </a:xfrm>
          <a:prstGeom prst="rect">
            <a:avLst/>
          </a:prstGeom>
          <a:solidFill>
            <a:srgbClr val="EEF2F8"/>
          </a:solidFill>
          <a:ln/>
        </p:spPr>
      </p:sp>
      <p:sp>
        <p:nvSpPr>
          <p:cNvPr id="13" name="Text 11"/>
          <p:cNvSpPr/>
          <p:nvPr/>
        </p:nvSpPr>
        <p:spPr>
          <a:xfrm>
            <a:off x="768096" y="5358384"/>
            <a:ext cx="10625328" cy="310896"/>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Saying this up front is what makes the rest credible.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If we promise outcome metrics at day 90, we fail on arithmetic rather than on merit — and the model takes the blame for a calendar.</a:t>
            </a:r>
            <a:endParaRPr lang="en-US" sz="1100" dirty="0"/>
          </a:p>
        </p:txBody>
      </p:sp>
      <p:sp>
        <p:nvSpPr>
          <p:cNvPr id="14" name="Text 12"/>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THE 90 DAYS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GO · ADJUST · STOP</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indent="0" marL="0">
              <a:lnSpc>
                <a:spcPts val="1600"/>
              </a:lnSpc>
              <a:buNone/>
            </a:pPr>
            <a:r>
              <a:rPr lang="en-US" sz="1200" i="1" dirty="0">
                <a:solidFill>
                  <a:srgbClr val="5C6773"/>
                </a:solidFill>
                <a:latin typeface="Calibri" pitchFamily="34" charset="0"/>
                <a:ea typeface="Calibri" pitchFamily="34" charset="-122"/>
                <a:cs typeface="Calibri" pitchFamily="34" charset="-120"/>
              </a:rPr>
              <a:t>Criteria agreed today, not argued at day 90. The verdict sits with Zephyr On-Prem Program governance.</a:t>
            </a:r>
            <a:endParaRPr lang="en-US" sz="1200" dirty="0"/>
          </a:p>
        </p:txBody>
      </p:sp>
      <p:sp>
        <p:nvSpPr>
          <p:cNvPr id="5" name="Shape 3"/>
          <p:cNvSpPr/>
          <p:nvPr/>
        </p:nvSpPr>
        <p:spPr>
          <a:xfrm>
            <a:off x="566928" y="1828800"/>
            <a:ext cx="3520440" cy="548640"/>
          </a:xfrm>
          <a:prstGeom prst="rect">
            <a:avLst/>
          </a:prstGeom>
          <a:solidFill>
            <a:srgbClr val="4C9A2A"/>
          </a:solidFill>
          <a:ln/>
        </p:spPr>
      </p:sp>
      <p:sp>
        <p:nvSpPr>
          <p:cNvPr id="6" name="Text 4"/>
          <p:cNvSpPr/>
          <p:nvPr/>
        </p:nvSpPr>
        <p:spPr>
          <a:xfrm>
            <a:off x="713232" y="1920240"/>
            <a:ext cx="3200400" cy="34747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GO</a:t>
            </a:r>
            <a:endParaRPr lang="en-US" sz="2200" dirty="0"/>
          </a:p>
        </p:txBody>
      </p:sp>
      <p:sp>
        <p:nvSpPr>
          <p:cNvPr id="7" name="Shape 5"/>
          <p:cNvSpPr/>
          <p:nvPr/>
        </p:nvSpPr>
        <p:spPr>
          <a:xfrm>
            <a:off x="566928" y="2377440"/>
            <a:ext cx="3520440" cy="1737360"/>
          </a:xfrm>
          <a:prstGeom prst="rect">
            <a:avLst/>
          </a:prstGeom>
          <a:solidFill>
            <a:srgbClr val="F4F7FB"/>
          </a:solidFill>
          <a:ln w="6350">
            <a:solidFill>
              <a:srgbClr val="D7DDE5"/>
            </a:solidFill>
            <a:prstDash val="solid"/>
          </a:ln>
        </p:spPr>
      </p:sp>
      <p:sp>
        <p:nvSpPr>
          <p:cNvPr id="8" name="Text 6"/>
          <p:cNvSpPr/>
          <p:nvPr/>
        </p:nvSpPr>
        <p:spPr>
          <a:xfrm>
            <a:off x="713232" y="2487168"/>
            <a:ext cx="3200400" cy="365760"/>
          </a:xfrm>
          <a:prstGeom prst="rect">
            <a:avLst/>
          </a:prstGeom>
          <a:noFill/>
          <a:ln/>
        </p:spPr>
        <p:txBody>
          <a:bodyPr wrap="square" lIns="0" tIns="0" rIns="0" bIns="0" rtlCol="0" anchor="ctr"/>
          <a:lstStyle/>
          <a:p>
            <a:pPr indent="0" marL="0">
              <a:lnSpc>
                <a:spcPts val="1500"/>
              </a:lnSpc>
              <a:buNone/>
            </a:pPr>
            <a:r>
              <a:rPr lang="en-US" sz="1200" b="1" dirty="0">
                <a:solidFill>
                  <a:srgbClr val="0B2350"/>
                </a:solidFill>
                <a:latin typeface="Cambria" pitchFamily="34" charset="0"/>
                <a:ea typeface="Cambria" pitchFamily="34" charset="-122"/>
                <a:cs typeface="Cambria" pitchFamily="34" charset="-120"/>
              </a:rPr>
              <a:t>The model worked and the pattern is repeatable</a:t>
            </a:r>
            <a:endParaRPr lang="en-US" sz="1200" dirty="0"/>
          </a:p>
        </p:txBody>
      </p:sp>
      <p:sp>
        <p:nvSpPr>
          <p:cNvPr id="9" name="Text 7"/>
          <p:cNvSpPr/>
          <p:nvPr/>
        </p:nvSpPr>
        <p:spPr>
          <a:xfrm>
            <a:off x="749808" y="2889504"/>
            <a:ext cx="3182112" cy="1133856"/>
          </a:xfrm>
          <a:prstGeom prst="rect">
            <a:avLst/>
          </a:prstGeom>
          <a:noFill/>
          <a:ln/>
        </p:spPr>
        <p:txBody>
          <a:bodyPr wrap="square" lIns="0" tIns="0" rIns="0" bIns="0" rtlCol="0" anchor="ctr"/>
          <a:lstStyle/>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Toil down materially across at least two pools</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Contracts held — pull-ins tapered, no shadow rebuilds</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Pattern doc is usable by another team</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 Charter engine #2</a:t>
            </a:r>
            <a:endParaRPr lang="en-US" sz="900" dirty="0"/>
          </a:p>
        </p:txBody>
      </p:sp>
      <p:sp>
        <p:nvSpPr>
          <p:cNvPr id="10" name="Shape 8"/>
          <p:cNvSpPr/>
          <p:nvPr/>
        </p:nvSpPr>
        <p:spPr>
          <a:xfrm>
            <a:off x="4297680" y="1828800"/>
            <a:ext cx="3520440" cy="548640"/>
          </a:xfrm>
          <a:prstGeom prst="rect">
            <a:avLst/>
          </a:prstGeom>
          <a:solidFill>
            <a:srgbClr val="E8A33D"/>
          </a:solidFill>
          <a:ln/>
        </p:spPr>
      </p:sp>
      <p:sp>
        <p:nvSpPr>
          <p:cNvPr id="11" name="Text 9"/>
          <p:cNvSpPr/>
          <p:nvPr/>
        </p:nvSpPr>
        <p:spPr>
          <a:xfrm>
            <a:off x="4443984" y="1920240"/>
            <a:ext cx="3200400" cy="347472"/>
          </a:xfrm>
          <a:prstGeom prst="rect">
            <a:avLst/>
          </a:prstGeom>
          <a:noFill/>
          <a:ln/>
        </p:spPr>
        <p:txBody>
          <a:bodyPr wrap="square" lIns="0" tIns="0" rIns="0" bIns="0" rtlCol="0" anchor="ctr"/>
          <a:lstStyle/>
          <a:p>
            <a:pPr indent="0" marL="0">
              <a:buNone/>
            </a:pPr>
            <a:r>
              <a:rPr lang="en-US" sz="2200" b="1" dirty="0">
                <a:solidFill>
                  <a:srgbClr val="0B2350"/>
                </a:solidFill>
                <a:latin typeface="Cambria" pitchFamily="34" charset="0"/>
                <a:ea typeface="Cambria" pitchFamily="34" charset="-122"/>
                <a:cs typeface="Cambria" pitchFamily="34" charset="-120"/>
              </a:rPr>
              <a:t>ADJUST</a:t>
            </a:r>
            <a:endParaRPr lang="en-US" sz="2200" dirty="0"/>
          </a:p>
        </p:txBody>
      </p:sp>
      <p:sp>
        <p:nvSpPr>
          <p:cNvPr id="12" name="Shape 10"/>
          <p:cNvSpPr/>
          <p:nvPr/>
        </p:nvSpPr>
        <p:spPr>
          <a:xfrm>
            <a:off x="4297680" y="2377440"/>
            <a:ext cx="3520440" cy="1737360"/>
          </a:xfrm>
          <a:prstGeom prst="rect">
            <a:avLst/>
          </a:prstGeom>
          <a:solidFill>
            <a:srgbClr val="F4F7FB"/>
          </a:solidFill>
          <a:ln w="6350">
            <a:solidFill>
              <a:srgbClr val="D7DDE5"/>
            </a:solidFill>
            <a:prstDash val="solid"/>
          </a:ln>
        </p:spPr>
      </p:sp>
      <p:sp>
        <p:nvSpPr>
          <p:cNvPr id="13" name="Text 11"/>
          <p:cNvSpPr/>
          <p:nvPr/>
        </p:nvSpPr>
        <p:spPr>
          <a:xfrm>
            <a:off x="4443984" y="2487168"/>
            <a:ext cx="3200400" cy="365760"/>
          </a:xfrm>
          <a:prstGeom prst="rect">
            <a:avLst/>
          </a:prstGeom>
          <a:noFill/>
          <a:ln/>
        </p:spPr>
        <p:txBody>
          <a:bodyPr wrap="square" lIns="0" tIns="0" rIns="0" bIns="0" rtlCol="0" anchor="ctr"/>
          <a:lstStyle/>
          <a:p>
            <a:pPr indent="0" marL="0">
              <a:lnSpc>
                <a:spcPts val="1500"/>
              </a:lnSpc>
              <a:buNone/>
            </a:pPr>
            <a:r>
              <a:rPr lang="en-US" sz="1200" b="1" dirty="0">
                <a:solidFill>
                  <a:srgbClr val="0B2350"/>
                </a:solidFill>
                <a:latin typeface="Cambria" pitchFamily="34" charset="0"/>
                <a:ea typeface="Cambria" pitchFamily="34" charset="-122"/>
                <a:cs typeface="Cambria" pitchFamily="34" charset="-120"/>
              </a:rPr>
              <a:t>The model works — our execution was wrong</a:t>
            </a:r>
            <a:endParaRPr lang="en-US" sz="1200" dirty="0"/>
          </a:p>
        </p:txBody>
      </p:sp>
      <p:sp>
        <p:nvSpPr>
          <p:cNvPr id="14" name="Text 12"/>
          <p:cNvSpPr/>
          <p:nvPr/>
        </p:nvSpPr>
        <p:spPr>
          <a:xfrm>
            <a:off x="4480560" y="2889504"/>
            <a:ext cx="3182112" cy="1133856"/>
          </a:xfrm>
          <a:prstGeom prst="rect">
            <a:avLst/>
          </a:prstGeom>
          <a:noFill/>
          <a:ln/>
        </p:spPr>
        <p:txBody>
          <a:bodyPr wrap="square" lIns="0" tIns="0" rIns="0" bIns="0" rtlCol="0" anchor="ctr"/>
          <a:lstStyle/>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Under-resourced, BAU crowding, liaisons unnamed or unresponsive, baseline weak</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The structure is sound; the conditions weren't</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 Fix and re-run. This is not a model failure</a:t>
            </a:r>
            <a:endParaRPr lang="en-US" sz="900" dirty="0"/>
          </a:p>
        </p:txBody>
      </p:sp>
      <p:sp>
        <p:nvSpPr>
          <p:cNvPr id="15" name="Shape 13"/>
          <p:cNvSpPr/>
          <p:nvPr/>
        </p:nvSpPr>
        <p:spPr>
          <a:xfrm>
            <a:off x="8028432" y="1828800"/>
            <a:ext cx="3520440" cy="548640"/>
          </a:xfrm>
          <a:prstGeom prst="rect">
            <a:avLst/>
          </a:prstGeom>
          <a:solidFill>
            <a:srgbClr val="C0392B"/>
          </a:solidFill>
          <a:ln/>
        </p:spPr>
      </p:sp>
      <p:sp>
        <p:nvSpPr>
          <p:cNvPr id="16" name="Text 14"/>
          <p:cNvSpPr/>
          <p:nvPr/>
        </p:nvSpPr>
        <p:spPr>
          <a:xfrm>
            <a:off x="8174736" y="1920240"/>
            <a:ext cx="3200400" cy="34747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STOP</a:t>
            </a:r>
            <a:endParaRPr lang="en-US" sz="2200" dirty="0"/>
          </a:p>
        </p:txBody>
      </p:sp>
      <p:sp>
        <p:nvSpPr>
          <p:cNvPr id="17" name="Shape 15"/>
          <p:cNvSpPr/>
          <p:nvPr/>
        </p:nvSpPr>
        <p:spPr>
          <a:xfrm>
            <a:off x="8028432" y="2377440"/>
            <a:ext cx="3520440" cy="1737360"/>
          </a:xfrm>
          <a:prstGeom prst="rect">
            <a:avLst/>
          </a:prstGeom>
          <a:solidFill>
            <a:srgbClr val="F4F7FB"/>
          </a:solidFill>
          <a:ln w="6350">
            <a:solidFill>
              <a:srgbClr val="D7DDE5"/>
            </a:solidFill>
            <a:prstDash val="solid"/>
          </a:ln>
        </p:spPr>
      </p:sp>
      <p:sp>
        <p:nvSpPr>
          <p:cNvPr id="18" name="Text 16"/>
          <p:cNvSpPr/>
          <p:nvPr/>
        </p:nvSpPr>
        <p:spPr>
          <a:xfrm>
            <a:off x="8174736" y="2487168"/>
            <a:ext cx="3200400" cy="365760"/>
          </a:xfrm>
          <a:prstGeom prst="rect">
            <a:avLst/>
          </a:prstGeom>
          <a:noFill/>
          <a:ln/>
        </p:spPr>
        <p:txBody>
          <a:bodyPr wrap="square" lIns="0" tIns="0" rIns="0" bIns="0" rtlCol="0" anchor="ctr"/>
          <a:lstStyle/>
          <a:p>
            <a:pPr indent="0" marL="0">
              <a:lnSpc>
                <a:spcPts val="1500"/>
              </a:lnSpc>
              <a:buNone/>
            </a:pPr>
            <a:r>
              <a:rPr lang="en-US" sz="1200" b="1" dirty="0">
                <a:solidFill>
                  <a:srgbClr val="0B2350"/>
                </a:solidFill>
                <a:latin typeface="Cambria" pitchFamily="34" charset="0"/>
                <a:ea typeface="Cambria" pitchFamily="34" charset="-122"/>
                <a:cs typeface="Cambria" pitchFamily="34" charset="-120"/>
              </a:rPr>
              <a:t>The structure genuinely doesn't fit the work</a:t>
            </a:r>
            <a:endParaRPr lang="en-US" sz="1200" dirty="0"/>
          </a:p>
        </p:txBody>
      </p:sp>
      <p:sp>
        <p:nvSpPr>
          <p:cNvPr id="19" name="Text 17"/>
          <p:cNvSpPr/>
          <p:nvPr/>
        </p:nvSpPr>
        <p:spPr>
          <a:xfrm>
            <a:off x="8211312" y="2889504"/>
            <a:ext cx="3182112" cy="1133856"/>
          </a:xfrm>
          <a:prstGeom prst="rect">
            <a:avLst/>
          </a:prstGeom>
          <a:noFill/>
          <a:ln/>
        </p:spPr>
        <p:txBody>
          <a:bodyPr wrap="square" lIns="0" tIns="0" rIns="0" bIns="0" rtlCol="0" anchor="ctr"/>
          <a:lstStyle/>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Pod ownership didn't hold even when properly resourced</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Contracts couldn't be made to work as products</a:t>
            </a:r>
            <a:endParaRPr lang="en-US" sz="900" dirty="0"/>
          </a:p>
          <a:p>
            <a:pPr marL="342900" indent="-342900">
              <a:lnSpc>
                <a:spcPts val="1150"/>
              </a:lnSpc>
              <a:spcAft>
                <a:spcPts val="350"/>
              </a:spcAft>
              <a:buSzPct val="100000"/>
              <a:buChar char="•"/>
            </a:pPr>
            <a:r>
              <a:rPr lang="en-US" sz="900" dirty="0">
                <a:solidFill>
                  <a:srgbClr val="1E252E"/>
                </a:solidFill>
                <a:latin typeface="Calibri" pitchFamily="34" charset="0"/>
                <a:ea typeface="Calibri" pitchFamily="34" charset="-122"/>
                <a:cs typeface="Calibri" pitchFamily="34" charset="-120"/>
              </a:rPr>
              <a:t>→ A real signal. Redesign rather than repeat</a:t>
            </a:r>
            <a:endParaRPr lang="en-US" sz="900" dirty="0"/>
          </a:p>
        </p:txBody>
      </p:sp>
      <p:sp>
        <p:nvSpPr>
          <p:cNvPr id="20" name="Shape 18"/>
          <p:cNvSpPr/>
          <p:nvPr/>
        </p:nvSpPr>
        <p:spPr>
          <a:xfrm>
            <a:off x="566928" y="4334256"/>
            <a:ext cx="11027664" cy="786384"/>
          </a:xfrm>
          <a:prstGeom prst="rect">
            <a:avLst/>
          </a:prstGeom>
          <a:solidFill>
            <a:srgbClr val="0B2350"/>
          </a:solidFill>
          <a:ln/>
        </p:spPr>
      </p:sp>
      <p:sp>
        <p:nvSpPr>
          <p:cNvPr id="21" name="Text 19"/>
          <p:cNvSpPr/>
          <p:nvPr/>
        </p:nvSpPr>
        <p:spPr>
          <a:xfrm>
            <a:off x="768096" y="4453128"/>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MODEL FAILURE VS. EXECUTION FAILURE</a:t>
            </a:r>
            <a:endParaRPr lang="en-US" sz="850" dirty="0"/>
          </a:p>
        </p:txBody>
      </p:sp>
      <p:sp>
        <p:nvSpPr>
          <p:cNvPr id="22" name="Text 20"/>
          <p:cNvSpPr/>
          <p:nvPr/>
        </p:nvSpPr>
        <p:spPr>
          <a:xfrm>
            <a:off x="768096" y="4645152"/>
            <a:ext cx="10625328" cy="457200"/>
          </a:xfrm>
          <a:prstGeom prst="rect">
            <a:avLst/>
          </a:prstGeom>
          <a:noFill/>
          <a:ln/>
        </p:spPr>
        <p:txBody>
          <a:bodyPr wrap="square" lIns="0" tIns="0" rIns="0" bIns="0" rtlCol="0" anchor="ctr"/>
          <a:lstStyle/>
          <a:p>
            <a:pPr indent="0" marL="0">
              <a:lnSpc>
                <a:spcPts val="1360"/>
              </a:lnSpc>
              <a:buNone/>
            </a:pPr>
            <a:r>
              <a:rPr lang="en-US" sz="1050" b="1" dirty="0">
                <a:solidFill>
                  <a:srgbClr val="FFD200"/>
                </a:solidFill>
                <a:latin typeface="Calibri" pitchFamily="34" charset="0"/>
                <a:ea typeface="Calibri" pitchFamily="34" charset="-122"/>
                <a:cs typeface="Calibri" pitchFamily="34" charset="-120"/>
              </a:rPr>
              <a:t>Most pilots that "fail" are ADJUST wearing a STOP costume. </a:t>
            </a:r>
            <a:pPr indent="0" marL="0">
              <a:lnSpc>
                <a:spcPts val="1360"/>
              </a:lnSpc>
              <a:buNone/>
            </a:pPr>
            <a:r>
              <a:rPr lang="en-US" sz="1050" dirty="0">
                <a:solidFill>
                  <a:srgbClr val="E8EFF9"/>
                </a:solidFill>
                <a:latin typeface="Calibri" pitchFamily="34" charset="0"/>
                <a:ea typeface="Calibri" pitchFamily="34" charset="-122"/>
                <a:cs typeface="Calibri" pitchFamily="34" charset="-120"/>
              </a:rPr>
              <a:t>Separating the two is the single most protective thing in this deck — and the reason the criteria have to be pre-committed is that the body holding the verdict is also accountable for the dependency most likely to sink the pilot. The dated gap log is what makes "the model works, the platform needs another quarter" a finding rather than a blame conversation.</a:t>
            </a:r>
            <a:endParaRPr lang="en-US" sz="1050" dirty="0"/>
          </a:p>
        </p:txBody>
      </p:sp>
      <p:sp>
        <p:nvSpPr>
          <p:cNvPr id="23" name="Shape 21"/>
          <p:cNvSpPr/>
          <p:nvPr/>
        </p:nvSpPr>
        <p:spPr>
          <a:xfrm>
            <a:off x="566928" y="5266944"/>
            <a:ext cx="11027664" cy="493776"/>
          </a:xfrm>
          <a:prstGeom prst="rect">
            <a:avLst/>
          </a:prstGeom>
          <a:solidFill>
            <a:srgbClr val="EEF2F8"/>
          </a:solidFill>
          <a:ln/>
        </p:spPr>
      </p:sp>
      <p:sp>
        <p:nvSpPr>
          <p:cNvPr id="24" name="Text 22"/>
          <p:cNvSpPr/>
          <p:nvPr/>
        </p:nvSpPr>
        <p:spPr>
          <a:xfrm>
            <a:off x="768096" y="5394960"/>
            <a:ext cx="10625328" cy="274320"/>
          </a:xfrm>
          <a:prstGeom prst="rect">
            <a:avLst/>
          </a:prstGeom>
          <a:noFill/>
          <a:ln/>
        </p:spPr>
        <p:txBody>
          <a:bodyPr wrap="square" lIns="0" tIns="0" rIns="0" bIns="0" rtlCol="0" anchor="ctr"/>
          <a:lstStyle/>
          <a:p>
            <a:pPr indent="0" marL="0">
              <a:lnSpc>
                <a:spcPts val="1450"/>
              </a:lnSpc>
              <a:buNone/>
            </a:pPr>
            <a:r>
              <a:rPr lang="en-US" sz="1100" b="1" dirty="0">
                <a:solidFill>
                  <a:srgbClr val="0B2350"/>
                </a:solidFill>
                <a:latin typeface="Calibri" pitchFamily="34" charset="0"/>
                <a:ea typeface="Calibri" pitchFamily="34" charset="-122"/>
                <a:cs typeface="Calibri" pitchFamily="34" charset="-120"/>
              </a:rPr>
              <a:t>The real risk isn't failing — it's failing ambiguously. </a:t>
            </a:r>
            <a:pPr indent="0" marL="0">
              <a:lnSpc>
                <a:spcPts val="1450"/>
              </a:lnSpc>
              <a:buNone/>
            </a:pPr>
            <a:r>
              <a:rPr lang="en-US" sz="1100" dirty="0">
                <a:solidFill>
                  <a:srgbClr val="1E252E"/>
                </a:solidFill>
                <a:latin typeface="Calibri" pitchFamily="34" charset="0"/>
                <a:ea typeface="Calibri" pitchFamily="34" charset="-122"/>
                <a:cs typeface="Calibri" pitchFamily="34" charset="-120"/>
              </a:rPr>
              <a:t>Ambiguity gets filled by whoever had the strongest prior, and the loudest voice in the room wins a question the evidence should have answered.</a:t>
            </a:r>
            <a:endParaRPr lang="en-US" sz="1100" dirty="0"/>
          </a:p>
        </p:txBody>
      </p:sp>
      <p:sp>
        <p:nvSpPr>
          <p:cNvPr id="25" name="Text 23"/>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260" kern="0" dirty="0">
                <a:solidFill>
                  <a:srgbClr val="5C6773"/>
                </a:solidFill>
                <a:latin typeface="Calibri" pitchFamily="34" charset="0"/>
                <a:ea typeface="Calibri" pitchFamily="34" charset="-122"/>
                <a:cs typeface="Calibri" pitchFamily="34" charset="-120"/>
              </a:rPr>
              <a:t>RISKS AND THE ASK</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100" b="1" dirty="0">
                <a:solidFill>
                  <a:srgbClr val="0B2350"/>
                </a:solidFill>
                <a:latin typeface="Cambria" pitchFamily="34" charset="0"/>
                <a:ea typeface="Cambria" pitchFamily="34" charset="-122"/>
                <a:cs typeface="Cambria" pitchFamily="34" charset="-120"/>
              </a:rPr>
              <a:t>What could go wrong — and what we need</a:t>
            </a:r>
            <a:endParaRPr lang="en-US" sz="3100" dirty="0"/>
          </a:p>
        </p:txBody>
      </p:sp>
      <p:sp>
        <p:nvSpPr>
          <p:cNvPr id="4" name="Shape 2"/>
          <p:cNvSpPr/>
          <p:nvPr/>
        </p:nvSpPr>
        <p:spPr>
          <a:xfrm>
            <a:off x="566928" y="1316736"/>
            <a:ext cx="11027664" cy="969264"/>
          </a:xfrm>
          <a:prstGeom prst="rect">
            <a:avLst/>
          </a:prstGeom>
          <a:solidFill>
            <a:srgbClr val="0B2350"/>
          </a:solidFill>
          <a:ln/>
        </p:spPr>
      </p:sp>
      <p:sp>
        <p:nvSpPr>
          <p:cNvPr id="5" name="Text 3"/>
          <p:cNvSpPr/>
          <p:nvPr/>
        </p:nvSpPr>
        <p:spPr>
          <a:xfrm>
            <a:off x="786384" y="1426464"/>
            <a:ext cx="7315200" cy="182880"/>
          </a:xfrm>
          <a:prstGeom prst="rect">
            <a:avLst/>
          </a:prstGeom>
          <a:noFill/>
          <a:ln/>
        </p:spPr>
        <p:txBody>
          <a:bodyPr wrap="square" lIns="0" tIns="0" rIns="0" bIns="0" rtlCol="0" anchor="ctr"/>
          <a:lstStyle/>
          <a:p>
            <a:pPr indent="0" marL="0">
              <a:buNone/>
            </a:pPr>
            <a:r>
              <a:rPr lang="en-US" sz="850" b="1" spc="170" kern="0" dirty="0">
                <a:solidFill>
                  <a:srgbClr val="FFD200"/>
                </a:solidFill>
                <a:latin typeface="Calibri" pitchFamily="34" charset="0"/>
                <a:ea typeface="Calibri" pitchFamily="34" charset="-122"/>
                <a:cs typeface="Calibri" pitchFamily="34" charset="-120"/>
              </a:rPr>
              <a:t>THE CRITICAL PATH  —  DAY 15</a:t>
            </a:r>
            <a:endParaRPr lang="en-US" sz="850" dirty="0"/>
          </a:p>
        </p:txBody>
      </p:sp>
      <p:sp>
        <p:nvSpPr>
          <p:cNvPr id="6" name="Text 4"/>
          <p:cNvSpPr/>
          <p:nvPr/>
        </p:nvSpPr>
        <p:spPr>
          <a:xfrm>
            <a:off x="786384" y="1645920"/>
            <a:ext cx="10588752" cy="548640"/>
          </a:xfrm>
          <a:prstGeom prst="rect">
            <a:avLst/>
          </a:prstGeom>
          <a:noFill/>
          <a:ln/>
        </p:spPr>
        <p:txBody>
          <a:bodyPr wrap="square" lIns="0" tIns="0" rIns="0" bIns="0" rtlCol="0" anchor="ctr"/>
          <a:lstStyle/>
          <a:p>
            <a:pPr indent="0" marL="0">
              <a:lnSpc>
                <a:spcPts val="1400"/>
              </a:lnSpc>
              <a:buNone/>
            </a:pPr>
            <a:r>
              <a:rPr lang="en-US" sz="1080" b="1" dirty="0">
                <a:solidFill>
                  <a:srgbClr val="FFFFFF"/>
                </a:solidFill>
                <a:latin typeface="Calibri" pitchFamily="34" charset="0"/>
                <a:ea typeface="Calibri" pitchFamily="34" charset="-122"/>
                <a:cs typeface="Calibri" pitchFamily="34" charset="-120"/>
              </a:rPr>
              <a:t>Liaisons named as individuals, board live with the toil taxonomy agreed, front door closed. </a:t>
            </a:r>
            <a:pPr indent="0" marL="0">
              <a:lnSpc>
                <a:spcPts val="1400"/>
              </a:lnSpc>
              <a:buNone/>
            </a:pPr>
            <a:r>
              <a:rPr lang="en-US" sz="1080" dirty="0">
                <a:solidFill>
                  <a:srgbClr val="AEC3E0"/>
                </a:solidFill>
                <a:latin typeface="Calibri" pitchFamily="34" charset="0"/>
                <a:ea typeface="Calibri" pitchFamily="34" charset="-122"/>
                <a:cs typeface="Calibri" pitchFamily="34" charset="-120"/>
              </a:rPr>
              <a:t>None of it is glamorous and all of it is load-bearing: no names means the contracts are queues, no tagging means Mission Control is blind, and no front door means the flow numbers are fiction. Day 15 slipping doesn't delay day 90 — it makes day 90 unprovable.</a:t>
            </a:r>
            <a:endParaRPr lang="en-US" sz="1080" dirty="0"/>
          </a:p>
        </p:txBody>
      </p:sp>
      <p:sp>
        <p:nvSpPr>
          <p:cNvPr id="7" name="Shape 5"/>
          <p:cNvSpPr/>
          <p:nvPr/>
        </p:nvSpPr>
        <p:spPr>
          <a:xfrm>
            <a:off x="566928" y="2414016"/>
            <a:ext cx="5632704" cy="859536"/>
          </a:xfrm>
          <a:prstGeom prst="rect">
            <a:avLst/>
          </a:prstGeom>
          <a:solidFill>
            <a:srgbClr val="F4F7FB"/>
          </a:solidFill>
          <a:ln w="6350">
            <a:solidFill>
              <a:srgbClr val="D7DDE5"/>
            </a:solidFill>
            <a:prstDash val="solid"/>
          </a:ln>
        </p:spPr>
      </p:sp>
      <p:sp>
        <p:nvSpPr>
          <p:cNvPr id="8" name="Shape 6"/>
          <p:cNvSpPr/>
          <p:nvPr/>
        </p:nvSpPr>
        <p:spPr>
          <a:xfrm>
            <a:off x="566928" y="2414016"/>
            <a:ext cx="45720" cy="859536"/>
          </a:xfrm>
          <a:prstGeom prst="rect">
            <a:avLst/>
          </a:prstGeom>
          <a:solidFill>
            <a:srgbClr val="C0392B"/>
          </a:solidFill>
          <a:ln/>
        </p:spPr>
      </p:sp>
      <p:sp>
        <p:nvSpPr>
          <p:cNvPr id="9" name="Text 7"/>
          <p:cNvSpPr/>
          <p:nvPr/>
        </p:nvSpPr>
        <p:spPr>
          <a:xfrm>
            <a:off x="749808" y="2487168"/>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Control plane gaps surface late</a:t>
            </a:r>
            <a:endParaRPr lang="en-US" sz="1200" dirty="0"/>
          </a:p>
        </p:txBody>
      </p:sp>
      <p:sp>
        <p:nvSpPr>
          <p:cNvPr id="10" name="Text 8"/>
          <p:cNvSpPr/>
          <p:nvPr/>
        </p:nvSpPr>
        <p:spPr>
          <a:xfrm>
            <a:off x="749808" y="2697480"/>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Blocks the pod mid-pilot; the contract stalls</a:t>
            </a:r>
            <a:endParaRPr lang="en-US" sz="900" dirty="0"/>
          </a:p>
        </p:txBody>
      </p:sp>
      <p:sp>
        <p:nvSpPr>
          <p:cNvPr id="11" name="Text 9"/>
          <p:cNvSpPr/>
          <p:nvPr/>
        </p:nvSpPr>
        <p:spPr>
          <a:xfrm>
            <a:off x="749808" y="2926080"/>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Gaps raised not routed around; triaged in 2 days, dated in 5</a:t>
            </a:r>
            <a:endParaRPr lang="en-US" sz="900" dirty="0"/>
          </a:p>
        </p:txBody>
      </p:sp>
      <p:sp>
        <p:nvSpPr>
          <p:cNvPr id="12" name="Shape 10"/>
          <p:cNvSpPr/>
          <p:nvPr/>
        </p:nvSpPr>
        <p:spPr>
          <a:xfrm>
            <a:off x="6419088" y="2414016"/>
            <a:ext cx="5632704" cy="859536"/>
          </a:xfrm>
          <a:prstGeom prst="rect">
            <a:avLst/>
          </a:prstGeom>
          <a:solidFill>
            <a:srgbClr val="FFFFFF"/>
          </a:solidFill>
          <a:ln w="6350">
            <a:solidFill>
              <a:srgbClr val="D7DDE5"/>
            </a:solidFill>
            <a:prstDash val="solid"/>
          </a:ln>
        </p:spPr>
      </p:sp>
      <p:sp>
        <p:nvSpPr>
          <p:cNvPr id="13" name="Shape 11"/>
          <p:cNvSpPr/>
          <p:nvPr/>
        </p:nvSpPr>
        <p:spPr>
          <a:xfrm>
            <a:off x="6419088" y="2414016"/>
            <a:ext cx="45720" cy="859536"/>
          </a:xfrm>
          <a:prstGeom prst="rect">
            <a:avLst/>
          </a:prstGeom>
          <a:solidFill>
            <a:srgbClr val="C0392B"/>
          </a:solidFill>
          <a:ln/>
        </p:spPr>
      </p:sp>
      <p:sp>
        <p:nvSpPr>
          <p:cNvPr id="14" name="Text 12"/>
          <p:cNvSpPr/>
          <p:nvPr/>
        </p:nvSpPr>
        <p:spPr>
          <a:xfrm>
            <a:off x="6601968" y="2487168"/>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BAU crowds out the toil work</a:t>
            </a:r>
            <a:endParaRPr lang="en-US" sz="1200" dirty="0"/>
          </a:p>
        </p:txBody>
      </p:sp>
      <p:sp>
        <p:nvSpPr>
          <p:cNvPr id="15" name="Text 13"/>
          <p:cNvSpPr/>
          <p:nvPr/>
        </p:nvSpPr>
        <p:spPr>
          <a:xfrm>
            <a:off x="6601968" y="2697480"/>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Pod busy, nothing shipped, day 45 gate slips</a:t>
            </a:r>
            <a:endParaRPr lang="en-US" sz="900" dirty="0"/>
          </a:p>
        </p:txBody>
      </p:sp>
      <p:sp>
        <p:nvSpPr>
          <p:cNvPr id="16" name="Text 14"/>
          <p:cNvSpPr/>
          <p:nvPr/>
        </p:nvSpPr>
        <p:spPr>
          <a:xfrm>
            <a:off x="6601968" y="2926080"/>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Board visibility + KRI escalating to program</a:t>
            </a:r>
            <a:endParaRPr lang="en-US" sz="900" dirty="0"/>
          </a:p>
        </p:txBody>
      </p:sp>
      <p:sp>
        <p:nvSpPr>
          <p:cNvPr id="17" name="Shape 15"/>
          <p:cNvSpPr/>
          <p:nvPr/>
        </p:nvSpPr>
        <p:spPr>
          <a:xfrm>
            <a:off x="566928" y="3383280"/>
            <a:ext cx="5632704" cy="859536"/>
          </a:xfrm>
          <a:prstGeom prst="rect">
            <a:avLst/>
          </a:prstGeom>
          <a:solidFill>
            <a:srgbClr val="F4F7FB"/>
          </a:solidFill>
          <a:ln w="6350">
            <a:solidFill>
              <a:srgbClr val="D7DDE5"/>
            </a:solidFill>
            <a:prstDash val="solid"/>
          </a:ln>
        </p:spPr>
      </p:sp>
      <p:sp>
        <p:nvSpPr>
          <p:cNvPr id="18" name="Shape 16"/>
          <p:cNvSpPr/>
          <p:nvPr/>
        </p:nvSpPr>
        <p:spPr>
          <a:xfrm>
            <a:off x="566928" y="3383280"/>
            <a:ext cx="45720" cy="859536"/>
          </a:xfrm>
          <a:prstGeom prst="rect">
            <a:avLst/>
          </a:prstGeom>
          <a:solidFill>
            <a:srgbClr val="C0392B"/>
          </a:solidFill>
          <a:ln/>
        </p:spPr>
      </p:sp>
      <p:sp>
        <p:nvSpPr>
          <p:cNvPr id="19" name="Text 17"/>
          <p:cNvSpPr/>
          <p:nvPr/>
        </p:nvSpPr>
        <p:spPr>
          <a:xfrm>
            <a:off x="749808" y="3456432"/>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Liaisons never actually named</a:t>
            </a:r>
            <a:endParaRPr lang="en-US" sz="1200" dirty="0"/>
          </a:p>
        </p:txBody>
      </p:sp>
      <p:sp>
        <p:nvSpPr>
          <p:cNvPr id="20" name="Text 18"/>
          <p:cNvSpPr/>
          <p:nvPr/>
        </p:nvSpPr>
        <p:spPr>
          <a:xfrm>
            <a:off x="749808" y="3666744"/>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The contract is a queue in disguise</a:t>
            </a:r>
            <a:endParaRPr lang="en-US" sz="900" dirty="0"/>
          </a:p>
        </p:txBody>
      </p:sp>
      <p:sp>
        <p:nvSpPr>
          <p:cNvPr id="21" name="Text 19"/>
          <p:cNvSpPr/>
          <p:nvPr/>
        </p:nvSpPr>
        <p:spPr>
          <a:xfrm>
            <a:off x="749808" y="3895344"/>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Named individual + backup by day 15, or escalate</a:t>
            </a:r>
            <a:endParaRPr lang="en-US" sz="900" dirty="0"/>
          </a:p>
        </p:txBody>
      </p:sp>
      <p:sp>
        <p:nvSpPr>
          <p:cNvPr id="22" name="Shape 20"/>
          <p:cNvSpPr/>
          <p:nvPr/>
        </p:nvSpPr>
        <p:spPr>
          <a:xfrm>
            <a:off x="6419088" y="3383280"/>
            <a:ext cx="5632704" cy="859536"/>
          </a:xfrm>
          <a:prstGeom prst="rect">
            <a:avLst/>
          </a:prstGeom>
          <a:solidFill>
            <a:srgbClr val="FFFFFF"/>
          </a:solidFill>
          <a:ln w="6350">
            <a:solidFill>
              <a:srgbClr val="D7DDE5"/>
            </a:solidFill>
            <a:prstDash val="solid"/>
          </a:ln>
        </p:spPr>
      </p:sp>
      <p:sp>
        <p:nvSpPr>
          <p:cNvPr id="23" name="Shape 21"/>
          <p:cNvSpPr/>
          <p:nvPr/>
        </p:nvSpPr>
        <p:spPr>
          <a:xfrm>
            <a:off x="6419088" y="3383280"/>
            <a:ext cx="45720" cy="859536"/>
          </a:xfrm>
          <a:prstGeom prst="rect">
            <a:avLst/>
          </a:prstGeom>
          <a:solidFill>
            <a:srgbClr val="C0392B"/>
          </a:solidFill>
          <a:ln/>
        </p:spPr>
      </p:sp>
      <p:sp>
        <p:nvSpPr>
          <p:cNvPr id="24" name="Text 22"/>
          <p:cNvSpPr/>
          <p:nvPr/>
        </p:nvSpPr>
        <p:spPr>
          <a:xfrm>
            <a:off x="6601968" y="3456432"/>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Baseline quality</a:t>
            </a:r>
            <a:endParaRPr lang="en-US" sz="1200" dirty="0"/>
          </a:p>
        </p:txBody>
      </p:sp>
      <p:sp>
        <p:nvSpPr>
          <p:cNvPr id="25" name="Text 23"/>
          <p:cNvSpPr/>
          <p:nvPr/>
        </p:nvSpPr>
        <p:spPr>
          <a:xfrm>
            <a:off x="6601968" y="3666744"/>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Wrong baseline → every downstream number wrong</a:t>
            </a:r>
            <a:endParaRPr lang="en-US" sz="900" dirty="0"/>
          </a:p>
        </p:txBody>
      </p:sp>
      <p:sp>
        <p:nvSpPr>
          <p:cNvPr id="26" name="Text 24"/>
          <p:cNvSpPr/>
          <p:nvPr/>
        </p:nvSpPr>
        <p:spPr>
          <a:xfrm>
            <a:off x="6601968" y="3895344"/>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Freeze and sign at day 30; CMDB delta is itself a finding</a:t>
            </a:r>
            <a:endParaRPr lang="en-US" sz="900" dirty="0"/>
          </a:p>
        </p:txBody>
      </p:sp>
      <p:sp>
        <p:nvSpPr>
          <p:cNvPr id="27" name="Shape 25"/>
          <p:cNvSpPr/>
          <p:nvPr/>
        </p:nvSpPr>
        <p:spPr>
          <a:xfrm>
            <a:off x="566928" y="4352544"/>
            <a:ext cx="5632704" cy="859536"/>
          </a:xfrm>
          <a:prstGeom prst="rect">
            <a:avLst/>
          </a:prstGeom>
          <a:solidFill>
            <a:srgbClr val="F4F7FB"/>
          </a:solidFill>
          <a:ln w="6350">
            <a:solidFill>
              <a:srgbClr val="D7DDE5"/>
            </a:solidFill>
            <a:prstDash val="solid"/>
          </a:ln>
        </p:spPr>
      </p:sp>
      <p:sp>
        <p:nvSpPr>
          <p:cNvPr id="28" name="Shape 26"/>
          <p:cNvSpPr/>
          <p:nvPr/>
        </p:nvSpPr>
        <p:spPr>
          <a:xfrm>
            <a:off x="566928" y="4352544"/>
            <a:ext cx="45720" cy="859536"/>
          </a:xfrm>
          <a:prstGeom prst="rect">
            <a:avLst/>
          </a:prstGeom>
          <a:solidFill>
            <a:srgbClr val="C0392B"/>
          </a:solidFill>
          <a:ln/>
        </p:spPr>
      </p:sp>
      <p:sp>
        <p:nvSpPr>
          <p:cNvPr id="29" name="Text 27"/>
          <p:cNvSpPr/>
          <p:nvPr/>
        </p:nvSpPr>
        <p:spPr>
          <a:xfrm>
            <a:off x="749808" y="4425696"/>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Rubber-stamping the agents</a:t>
            </a:r>
            <a:endParaRPr lang="en-US" sz="1200" dirty="0"/>
          </a:p>
        </p:txBody>
      </p:sp>
      <p:sp>
        <p:nvSpPr>
          <p:cNvPr id="30" name="Text 28"/>
          <p:cNvSpPr/>
          <p:nvPr/>
        </p:nvSpPr>
        <p:spPr>
          <a:xfrm>
            <a:off x="749808" y="4636008"/>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E-23 exposure dressed as efficiency</a:t>
            </a:r>
            <a:endParaRPr lang="en-US" sz="900" dirty="0"/>
          </a:p>
        </p:txBody>
      </p:sp>
      <p:sp>
        <p:nvSpPr>
          <p:cNvPr id="31" name="Text 29"/>
          <p:cNvSpPr/>
          <p:nvPr/>
        </p:nvSpPr>
        <p:spPr>
          <a:xfrm>
            <a:off x="749808" y="4864608"/>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Rejection-rate floor as a KRI, owned by Tigers</a:t>
            </a:r>
            <a:endParaRPr lang="en-US" sz="900" dirty="0"/>
          </a:p>
        </p:txBody>
      </p:sp>
      <p:sp>
        <p:nvSpPr>
          <p:cNvPr id="32" name="Shape 30"/>
          <p:cNvSpPr/>
          <p:nvPr/>
        </p:nvSpPr>
        <p:spPr>
          <a:xfrm>
            <a:off x="6419088" y="4352544"/>
            <a:ext cx="5632704" cy="859536"/>
          </a:xfrm>
          <a:prstGeom prst="rect">
            <a:avLst/>
          </a:prstGeom>
          <a:solidFill>
            <a:srgbClr val="FFFFFF"/>
          </a:solidFill>
          <a:ln w="6350">
            <a:solidFill>
              <a:srgbClr val="D7DDE5"/>
            </a:solidFill>
            <a:prstDash val="solid"/>
          </a:ln>
        </p:spPr>
      </p:sp>
      <p:sp>
        <p:nvSpPr>
          <p:cNvPr id="33" name="Shape 31"/>
          <p:cNvSpPr/>
          <p:nvPr/>
        </p:nvSpPr>
        <p:spPr>
          <a:xfrm>
            <a:off x="6419088" y="4352544"/>
            <a:ext cx="45720" cy="859536"/>
          </a:xfrm>
          <a:prstGeom prst="rect">
            <a:avLst/>
          </a:prstGeom>
          <a:solidFill>
            <a:srgbClr val="C0392B"/>
          </a:solidFill>
          <a:ln/>
        </p:spPr>
      </p:sp>
      <p:sp>
        <p:nvSpPr>
          <p:cNvPr id="34" name="Text 32"/>
          <p:cNvSpPr/>
          <p:nvPr/>
        </p:nvSpPr>
        <p:spPr>
          <a:xfrm>
            <a:off x="6601968" y="4425696"/>
            <a:ext cx="5303520" cy="201168"/>
          </a:xfrm>
          <a:prstGeom prst="rect">
            <a:avLst/>
          </a:prstGeom>
          <a:noFill/>
          <a:ln/>
        </p:spPr>
        <p:txBody>
          <a:bodyPr wrap="square" lIns="0" tIns="0" rIns="0" bIns="0" rtlCol="0" anchor="ctr"/>
          <a:lstStyle/>
          <a:p>
            <a:pPr indent="0" marL="0">
              <a:buNone/>
            </a:pPr>
            <a:r>
              <a:rPr lang="en-US" sz="1200" b="1" dirty="0">
                <a:solidFill>
                  <a:srgbClr val="0B2350"/>
                </a:solidFill>
                <a:latin typeface="Cambria" pitchFamily="34" charset="0"/>
                <a:ea typeface="Cambria" pitchFamily="34" charset="-122"/>
                <a:cs typeface="Cambria" pitchFamily="34" charset="-120"/>
              </a:rPr>
              <a:t>Diffusion of the toil work</a:t>
            </a:r>
            <a:endParaRPr lang="en-US" sz="1200" dirty="0"/>
          </a:p>
        </p:txBody>
      </p:sp>
      <p:sp>
        <p:nvSpPr>
          <p:cNvPr id="35" name="Text 33"/>
          <p:cNvSpPr/>
          <p:nvPr/>
        </p:nvSpPr>
        <p:spPr>
          <a:xfrm>
            <a:off x="6601968" y="4636008"/>
            <a:ext cx="5303520" cy="201168"/>
          </a:xfrm>
          <a:prstGeom prst="rect">
            <a:avLst/>
          </a:prstGeom>
          <a:noFill/>
          <a:ln/>
        </p:spPr>
        <p:txBody>
          <a:bodyPr wrap="square" lIns="0" tIns="0" rIns="0" bIns="0" rtlCol="0" anchor="ctr"/>
          <a:lstStyle/>
          <a:p>
            <a:pPr indent="0" marL="0">
              <a:buNone/>
            </a:pPr>
            <a:r>
              <a:rPr lang="en-US" sz="900" dirty="0">
                <a:solidFill>
                  <a:srgbClr val="5C6773"/>
                </a:solidFill>
                <a:latin typeface="Calibri" pitchFamily="34" charset="0"/>
                <a:ea typeface="Calibri" pitchFamily="34" charset="-122"/>
                <a:cs typeface="Calibri" pitchFamily="34" charset="-120"/>
              </a:rPr>
              <a:t>"Anyone can automate" becomes nobody did</a:t>
            </a:r>
            <a:endParaRPr lang="en-US" sz="900" dirty="0"/>
          </a:p>
        </p:txBody>
      </p:sp>
      <p:sp>
        <p:nvSpPr>
          <p:cNvPr id="36" name="Text 34"/>
          <p:cNvSpPr/>
          <p:nvPr/>
        </p:nvSpPr>
        <p:spPr>
          <a:xfrm>
            <a:off x="6601968" y="4864608"/>
            <a:ext cx="5303520" cy="274320"/>
          </a:xfrm>
          <a:prstGeom prst="rect">
            <a:avLst/>
          </a:prstGeom>
          <a:noFill/>
          <a:ln/>
        </p:spPr>
        <p:txBody>
          <a:bodyPr wrap="square" lIns="0" tIns="0" rIns="0" bIns="0" rtlCol="0" anchor="ctr"/>
          <a:lstStyle/>
          <a:p>
            <a:pPr indent="0" marL="0">
              <a:buNone/>
            </a:pPr>
            <a:r>
              <a:rPr lang="en-US" sz="900" b="1" dirty="0">
                <a:solidFill>
                  <a:srgbClr val="4C9A2A"/>
                </a:solidFill>
                <a:latin typeface="Calibri" pitchFamily="34" charset="0"/>
                <a:ea typeface="Calibri" pitchFamily="34" charset="-122"/>
                <a:cs typeface="Calibri" pitchFamily="34" charset="-120"/>
              </a:rPr>
              <a:t>Mitigation:  </a:t>
            </a:r>
            <a:pPr indent="0" marL="0">
              <a:buNone/>
            </a:pPr>
            <a:r>
              <a:rPr lang="en-US" sz="900" dirty="0">
                <a:solidFill>
                  <a:srgbClr val="1E252E"/>
                </a:solidFill>
                <a:latin typeface="Calibri" pitchFamily="34" charset="0"/>
                <a:ea typeface="Calibri" pitchFamily="34" charset="-122"/>
                <a:cs typeface="Calibri" pitchFamily="34" charset="-120"/>
              </a:rPr>
              <a:t>First-class work type on the board; pod lead protects it</a:t>
            </a:r>
            <a:endParaRPr lang="en-US" sz="900" dirty="0"/>
          </a:p>
        </p:txBody>
      </p:sp>
      <p:sp>
        <p:nvSpPr>
          <p:cNvPr id="37" name="Shape 35"/>
          <p:cNvSpPr/>
          <p:nvPr/>
        </p:nvSpPr>
        <p:spPr>
          <a:xfrm>
            <a:off x="566928" y="5431536"/>
            <a:ext cx="11027664" cy="603504"/>
          </a:xfrm>
          <a:prstGeom prst="rect">
            <a:avLst/>
          </a:prstGeom>
          <a:solidFill>
            <a:srgbClr val="FFD200"/>
          </a:solidFill>
          <a:ln/>
        </p:spPr>
      </p:sp>
      <p:sp>
        <p:nvSpPr>
          <p:cNvPr id="38" name="Text 36"/>
          <p:cNvSpPr/>
          <p:nvPr/>
        </p:nvSpPr>
        <p:spPr>
          <a:xfrm>
            <a:off x="786384" y="5577840"/>
            <a:ext cx="10588752" cy="329184"/>
          </a:xfrm>
          <a:prstGeom prst="rect">
            <a:avLst/>
          </a:prstGeom>
          <a:noFill/>
          <a:ln/>
        </p:spPr>
        <p:txBody>
          <a:bodyPr wrap="square" lIns="0" tIns="0" rIns="0" bIns="0" rtlCol="0" anchor="ctr"/>
          <a:lstStyle/>
          <a:p>
            <a:pPr indent="0" marL="0">
              <a:buNone/>
            </a:pPr>
            <a:r>
              <a:rPr lang="en-US" sz="1200" b="1" spc="140" kern="0" dirty="0">
                <a:solidFill>
                  <a:srgbClr val="0B2350"/>
                </a:solidFill>
                <a:latin typeface="Calibri" pitchFamily="34" charset="0"/>
                <a:ea typeface="Calibri" pitchFamily="34" charset="-122"/>
                <a:cs typeface="Calibri" pitchFamily="34" charset="-120"/>
              </a:rPr>
              <a:t>THE ASK:   </a:t>
            </a:r>
            <a:pPr indent="0" marL="0">
              <a:buNone/>
            </a:pPr>
            <a:r>
              <a:rPr lang="en-US" sz="1200" b="1" dirty="0">
                <a:solidFill>
                  <a:srgbClr val="0B2350"/>
                </a:solidFill>
                <a:latin typeface="Calibri" pitchFamily="34" charset="0"/>
                <a:ea typeface="Calibri" pitchFamily="34" charset="-122"/>
                <a:cs typeface="Calibri" pitchFamily="34" charset="-120"/>
              </a:rPr>
              <a:t>1. Name the liaisons by day 15 — individuals, with backups     2. Back the pod lead's call on who burns toil     3. Agree the GO / ADJUST / STOP criteria — today</a:t>
            </a:r>
            <a:endParaRPr lang="en-US" sz="1200" dirty="0"/>
          </a:p>
        </p:txBody>
      </p:sp>
      <p:sp>
        <p:nvSpPr>
          <p:cNvPr id="39" name="Text 37"/>
          <p:cNvSpPr/>
          <p:nvPr/>
        </p:nvSpPr>
        <p:spPr>
          <a:xfrm>
            <a:off x="566928" y="6473952"/>
            <a:ext cx="6583680" cy="219456"/>
          </a:xfrm>
          <a:prstGeom prst="rect">
            <a:avLst/>
          </a:prstGeom>
          <a:noFill/>
          <a:ln/>
        </p:spPr>
        <p:txBody>
          <a:bodyPr wrap="square" lIns="0" tIns="0" rIns="0" bIns="0" rtlCol="0" anchor="ctr"/>
          <a:lstStyle/>
          <a:p>
            <a:pPr indent="0" marL="0">
              <a:buNone/>
            </a:pPr>
            <a:r>
              <a:rPr lang="en-US" sz="900" dirty="0">
                <a:solidFill>
                  <a:srgbClr val="9AA5B1"/>
                </a:solidFill>
                <a:latin typeface="Calibri" pitchFamily="34" charset="0"/>
                <a:ea typeface="Calibri" pitchFamily="34" charset="-122"/>
                <a:cs typeface="Calibri" pitchFamily="34" charset="-120"/>
              </a:rPr>
              <a:t>SQL Server Pod  |  Zephyr On-Prem Program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 Pod — Operating Model &amp; 90-Day Pilot</dc:title>
  <dc:subject>PptxGenJS Presentation</dc:subject>
  <dc:creator>Technology Infrastructure</dc:creator>
  <cp:lastModifiedBy>Technology Infrastructure</cp:lastModifiedBy>
  <cp:revision>1</cp:revision>
  <dcterms:created xsi:type="dcterms:W3CDTF">2026-07-17T21:34:24Z</dcterms:created>
  <dcterms:modified xsi:type="dcterms:W3CDTF">2026-07-17T21:34:24Z</dcterms:modified>
</cp:coreProperties>
</file>